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sldIdLst>
    <p:sldId id="256" r:id="rId3"/>
    <p:sldId id="321" r:id="rId4"/>
    <p:sldId id="322" r:id="rId5"/>
    <p:sldId id="257" r:id="rId6"/>
    <p:sldId id="260" r:id="rId7"/>
    <p:sldId id="312" r:id="rId8"/>
    <p:sldId id="313" r:id="rId9"/>
    <p:sldId id="258" r:id="rId10"/>
    <p:sldId id="259" r:id="rId11"/>
    <p:sldId id="261" r:id="rId12"/>
    <p:sldId id="323" r:id="rId13"/>
    <p:sldId id="324" r:id="rId14"/>
    <p:sldId id="325" r:id="rId15"/>
    <p:sldId id="262" r:id="rId16"/>
    <p:sldId id="326" r:id="rId17"/>
    <p:sldId id="263" r:id="rId18"/>
    <p:sldId id="327" r:id="rId19"/>
    <p:sldId id="316" r:id="rId20"/>
    <p:sldId id="265" r:id="rId21"/>
    <p:sldId id="314" r:id="rId22"/>
    <p:sldId id="266" r:id="rId23"/>
    <p:sldId id="267" r:id="rId24"/>
    <p:sldId id="315" r:id="rId25"/>
    <p:sldId id="268" r:id="rId26"/>
    <p:sldId id="269" r:id="rId27"/>
    <p:sldId id="392" r:id="rId28"/>
    <p:sldId id="270" r:id="rId29"/>
    <p:sldId id="271" r:id="rId30"/>
    <p:sldId id="272" r:id="rId31"/>
    <p:sldId id="273" r:id="rId32"/>
    <p:sldId id="391" r:id="rId33"/>
    <p:sldId id="274" r:id="rId34"/>
    <p:sldId id="275" r:id="rId35"/>
    <p:sldId id="317" r:id="rId36"/>
    <p:sldId id="276" r:id="rId37"/>
    <p:sldId id="318" r:id="rId38"/>
    <p:sldId id="441" r:id="rId39"/>
    <p:sldId id="277" r:id="rId40"/>
    <p:sldId id="278" r:id="rId41"/>
    <p:sldId id="279" r:id="rId42"/>
    <p:sldId id="320" r:id="rId43"/>
    <p:sldId id="280" r:id="rId44"/>
    <p:sldId id="319" r:id="rId45"/>
    <p:sldId id="281" r:id="rId46"/>
    <p:sldId id="282" r:id="rId47"/>
    <p:sldId id="283" r:id="rId48"/>
    <p:sldId id="284" r:id="rId49"/>
    <p:sldId id="285" r:id="rId50"/>
    <p:sldId id="286" r:id="rId51"/>
    <p:sldId id="439"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 id="300" r:id="rId66"/>
    <p:sldId id="302" r:id="rId67"/>
    <p:sldId id="303" r:id="rId68"/>
    <p:sldId id="304" r:id="rId69"/>
    <p:sldId id="305" r:id="rId70"/>
    <p:sldId id="301" r:id="rId71"/>
    <p:sldId id="306" r:id="rId72"/>
    <p:sldId id="307" r:id="rId73"/>
    <p:sldId id="308" r:id="rId74"/>
    <p:sldId id="309" r:id="rId75"/>
    <p:sldId id="310" r:id="rId76"/>
    <p:sldId id="440" r:id="rId7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1292a54-89ce-4ad3-b81c-565e30f10b44}">
          <p14:sldIdLst>
            <p14:sldId id="256"/>
            <p14:sldId id="321"/>
            <p14:sldId id="322"/>
            <p14:sldId id="257"/>
            <p14:sldId id="260"/>
            <p14:sldId id="312"/>
            <p14:sldId id="313"/>
            <p14:sldId id="258"/>
            <p14:sldId id="259"/>
            <p14:sldId id="261"/>
            <p14:sldId id="323"/>
            <p14:sldId id="324"/>
            <p14:sldId id="325"/>
            <p14:sldId id="262"/>
            <p14:sldId id="326"/>
            <p14:sldId id="263"/>
            <p14:sldId id="327"/>
            <p14:sldId id="316"/>
            <p14:sldId id="265"/>
            <p14:sldId id="314"/>
            <p14:sldId id="266"/>
            <p14:sldId id="267"/>
            <p14:sldId id="315"/>
            <p14:sldId id="268"/>
          </p14:sldIdLst>
        </p14:section>
        <p14:section name="无标题节" id="{8085b2b7-a6fd-47f3-85c1-31003af63ae7}">
          <p14:sldIdLst>
            <p14:sldId id="269"/>
            <p14:sldId id="392"/>
            <p14:sldId id="270"/>
            <p14:sldId id="271"/>
            <p14:sldId id="272"/>
            <p14:sldId id="273"/>
            <p14:sldId id="391"/>
            <p14:sldId id="274"/>
            <p14:sldId id="275"/>
            <p14:sldId id="317"/>
            <p14:sldId id="276"/>
            <p14:sldId id="318"/>
            <p14:sldId id="441"/>
            <p14:sldId id="277"/>
            <p14:sldId id="278"/>
            <p14:sldId id="279"/>
            <p14:sldId id="320"/>
            <p14:sldId id="280"/>
            <p14:sldId id="319"/>
            <p14:sldId id="281"/>
            <p14:sldId id="282"/>
            <p14:sldId id="283"/>
            <p14:sldId id="284"/>
            <p14:sldId id="285"/>
            <p14:sldId id="286"/>
            <p14:sldId id="439"/>
            <p14:sldId id="287"/>
            <p14:sldId id="288"/>
            <p14:sldId id="289"/>
            <p14:sldId id="290"/>
            <p14:sldId id="291"/>
            <p14:sldId id="292"/>
            <p14:sldId id="293"/>
            <p14:sldId id="294"/>
            <p14:sldId id="295"/>
            <p14:sldId id="296"/>
            <p14:sldId id="297"/>
            <p14:sldId id="298"/>
            <p14:sldId id="299"/>
            <p14:sldId id="300"/>
            <p14:sldId id="302"/>
            <p14:sldId id="303"/>
            <p14:sldId id="304"/>
            <p14:sldId id="305"/>
            <p14:sldId id="301"/>
            <p14:sldId id="306"/>
            <p14:sldId id="307"/>
            <p14:sldId id="308"/>
            <p14:sldId id="309"/>
            <p14:sldId id="310"/>
            <p14:sldId id="440"/>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yang" initials="c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6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1" Type="http://schemas.openxmlformats.org/officeDocument/2006/relationships/commentAuthors" Target="commentAuthors.xml"/><Relationship Id="rId80" Type="http://schemas.openxmlformats.org/officeDocument/2006/relationships/tableStyles" Target="tableStyles.xml"/><Relationship Id="rId8" Type="http://schemas.openxmlformats.org/officeDocument/2006/relationships/slide" Target="slides/slide6.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36.e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image" Target="../media/image5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9" Type="http://schemas.openxmlformats.org/officeDocument/2006/relationships/image" Target="../media/image10.wmf"/><Relationship Id="rId8" Type="http://schemas.openxmlformats.org/officeDocument/2006/relationships/oleObject" Target="../embeddings/oleObject6.bin"/><Relationship Id="rId7" Type="http://schemas.openxmlformats.org/officeDocument/2006/relationships/oleObject" Target="../embeddings/oleObject5.bin"/><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wmf"/><Relationship Id="rId15" Type="http://schemas.openxmlformats.org/officeDocument/2006/relationships/vmlDrawing" Target="../drawings/vmlDrawing2.vml"/><Relationship Id="rId14" Type="http://schemas.openxmlformats.org/officeDocument/2006/relationships/slideLayout" Target="../slideLayouts/slideLayout2.xml"/><Relationship Id="rId13" Type="http://schemas.openxmlformats.org/officeDocument/2006/relationships/image" Target="../media/image12.wmf"/><Relationship Id="rId12" Type="http://schemas.openxmlformats.org/officeDocument/2006/relationships/oleObject" Target="../embeddings/oleObject8.bin"/><Relationship Id="rId11" Type="http://schemas.openxmlformats.org/officeDocument/2006/relationships/image" Target="../media/image11.wmf"/><Relationship Id="rId10" Type="http://schemas.openxmlformats.org/officeDocument/2006/relationships/oleObject" Target="../embeddings/oleObject7.bin"/><Relationship Id="rId1"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6.emf"/><Relationship Id="rId2" Type="http://schemas.openxmlformats.org/officeDocument/2006/relationships/image" Target="../media/image15.wmf"/><Relationship Id="rId1"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9" Type="http://schemas.openxmlformats.org/officeDocument/2006/relationships/image" Target="../media/image21.emf"/><Relationship Id="rId8" Type="http://schemas.openxmlformats.org/officeDocument/2006/relationships/image" Target="../media/image20.wmf"/><Relationship Id="rId7" Type="http://schemas.openxmlformats.org/officeDocument/2006/relationships/oleObject" Target="../embeddings/oleObject14.bin"/><Relationship Id="rId6" Type="http://schemas.openxmlformats.org/officeDocument/2006/relationships/image" Target="../media/image19.wmf"/><Relationship Id="rId5" Type="http://schemas.openxmlformats.org/officeDocument/2006/relationships/oleObject" Target="../embeddings/oleObject13.bin"/><Relationship Id="rId4" Type="http://schemas.openxmlformats.org/officeDocument/2006/relationships/image" Target="../media/image18.wmf"/><Relationship Id="rId3" Type="http://schemas.openxmlformats.org/officeDocument/2006/relationships/oleObject" Target="../embeddings/oleObject12.bin"/><Relationship Id="rId2" Type="http://schemas.openxmlformats.org/officeDocument/2006/relationships/image" Target="../media/image17.wmf"/><Relationship Id="rId11" Type="http://schemas.openxmlformats.org/officeDocument/2006/relationships/vmlDrawing" Target="../drawings/vmlDrawing5.vml"/><Relationship Id="rId10" Type="http://schemas.openxmlformats.org/officeDocument/2006/relationships/slideLayout" Target="../slideLayouts/slideLayout2.xml"/><Relationship Id="rId1" Type="http://schemas.openxmlformats.org/officeDocument/2006/relationships/oleObject" Target="../embeddings/oleObject1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tags" Target="../tags/tag1.xml"/><Relationship Id="rId6" Type="http://schemas.openxmlformats.org/officeDocument/2006/relationships/image" Target="../media/image25.wmf"/><Relationship Id="rId5" Type="http://schemas.openxmlformats.org/officeDocument/2006/relationships/oleObject" Target="../embeddings/oleObject17.bin"/><Relationship Id="rId4" Type="http://schemas.openxmlformats.org/officeDocument/2006/relationships/image" Target="../media/image24.wmf"/><Relationship Id="rId3" Type="http://schemas.openxmlformats.org/officeDocument/2006/relationships/oleObject" Target="../embeddings/oleObject16.bin"/><Relationship Id="rId2" Type="http://schemas.openxmlformats.org/officeDocument/2006/relationships/image" Target="../media/image23.wmf"/><Relationship Id="rId1" Type="http://schemas.openxmlformats.org/officeDocument/2006/relationships/oleObject" Target="../embeddings/oleObject15.bin"/></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tags" Target="../tags/tag2.xml"/><Relationship Id="rId4" Type="http://schemas.openxmlformats.org/officeDocument/2006/relationships/image" Target="../media/image27.wmf"/><Relationship Id="rId3" Type="http://schemas.openxmlformats.org/officeDocument/2006/relationships/oleObject" Target="../embeddings/oleObject19.bin"/><Relationship Id="rId2" Type="http://schemas.openxmlformats.org/officeDocument/2006/relationships/image" Target="../media/image26.wmf"/><Relationship Id="rId1" Type="http://schemas.openxmlformats.org/officeDocument/2006/relationships/oleObject" Target="../embeddings/oleObject18.bin"/></Relationships>
</file>

<file path=ppt/slides/_rels/slide37.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31.wmf"/><Relationship Id="rId7" Type="http://schemas.openxmlformats.org/officeDocument/2006/relationships/oleObject" Target="../embeddings/oleObject23.bin"/><Relationship Id="rId6" Type="http://schemas.openxmlformats.org/officeDocument/2006/relationships/image" Target="../media/image30.wmf"/><Relationship Id="rId5" Type="http://schemas.openxmlformats.org/officeDocument/2006/relationships/oleObject" Target="../embeddings/oleObject22.bin"/><Relationship Id="rId4" Type="http://schemas.openxmlformats.org/officeDocument/2006/relationships/image" Target="../media/image29.wmf"/><Relationship Id="rId3" Type="http://schemas.openxmlformats.org/officeDocument/2006/relationships/oleObject" Target="../embeddings/oleObject21.bin"/><Relationship Id="rId2" Type="http://schemas.openxmlformats.org/officeDocument/2006/relationships/image" Target="../media/image28.wmf"/><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tags" Target="../tags/tag4.xml"/><Relationship Id="rId1" Type="http://schemas.openxmlformats.org/officeDocument/2006/relationships/oleObject" Target="../embeddings/oleObject20.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35.wmf"/><Relationship Id="rId7" Type="http://schemas.openxmlformats.org/officeDocument/2006/relationships/oleObject" Target="../embeddings/oleObject27.bin"/><Relationship Id="rId6" Type="http://schemas.openxmlformats.org/officeDocument/2006/relationships/image" Target="../media/image34.wmf"/><Relationship Id="rId5" Type="http://schemas.openxmlformats.org/officeDocument/2006/relationships/oleObject" Target="../embeddings/oleObject26.bin"/><Relationship Id="rId4" Type="http://schemas.openxmlformats.org/officeDocument/2006/relationships/image" Target="../media/image33.wmf"/><Relationship Id="rId3" Type="http://schemas.openxmlformats.org/officeDocument/2006/relationships/oleObject" Target="../embeddings/oleObject25.bin"/><Relationship Id="rId2" Type="http://schemas.openxmlformats.org/officeDocument/2006/relationships/image" Target="../media/image32.wmf"/><Relationship Id="rId12" Type="http://schemas.openxmlformats.org/officeDocument/2006/relationships/vmlDrawing" Target="../drawings/vmlDrawing9.vml"/><Relationship Id="rId11" Type="http://schemas.openxmlformats.org/officeDocument/2006/relationships/slideLayout" Target="../slideLayouts/slideLayout2.xml"/><Relationship Id="rId10" Type="http://schemas.openxmlformats.org/officeDocument/2006/relationships/image" Target="../media/image36.emf"/><Relationship Id="rId1" Type="http://schemas.openxmlformats.org/officeDocument/2006/relationships/oleObject" Target="../embeddings/oleObject24.bin"/></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42.emf"/><Relationship Id="rId2" Type="http://schemas.openxmlformats.org/officeDocument/2006/relationships/image" Target="../media/image41.wmf"/><Relationship Id="rId1" Type="http://schemas.openxmlformats.org/officeDocument/2006/relationships/oleObject" Target="../embeddings/oleObject29.bin"/></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30.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oleObject" Target="../embeddings/oleObject33.bin"/><Relationship Id="rId4" Type="http://schemas.openxmlformats.org/officeDocument/2006/relationships/image" Target="../media/image45.wmf"/><Relationship Id="rId3" Type="http://schemas.openxmlformats.org/officeDocument/2006/relationships/oleObject" Target="../embeddings/oleObject32.bin"/><Relationship Id="rId2" Type="http://schemas.openxmlformats.org/officeDocument/2006/relationships/image" Target="../media/image44.wmf"/><Relationship Id="rId1" Type="http://schemas.openxmlformats.org/officeDocument/2006/relationships/oleObject" Target="../embeddings/oleObject31.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7.emf"/><Relationship Id="rId1" Type="http://schemas.openxmlformats.org/officeDocument/2006/relationships/oleObject" Target="../embeddings/oleObject34.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48.emf"/><Relationship Id="rId1" Type="http://schemas.openxmlformats.org/officeDocument/2006/relationships/oleObject" Target="../embeddings/oleObject35.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50.emf"/><Relationship Id="rId1" Type="http://schemas.openxmlformats.org/officeDocument/2006/relationships/oleObject" Target="../embeddings/oleObject36.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51.wmf"/><Relationship Id="rId1" Type="http://schemas.openxmlformats.org/officeDocument/2006/relationships/oleObject" Target="../embeddings/oleObject37.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5.wmf"/><Relationship Id="rId7" Type="http://schemas.openxmlformats.org/officeDocument/2006/relationships/oleObject" Target="../embeddings/oleObject41.bin"/><Relationship Id="rId6" Type="http://schemas.openxmlformats.org/officeDocument/2006/relationships/image" Target="../media/image54.wmf"/><Relationship Id="rId5" Type="http://schemas.openxmlformats.org/officeDocument/2006/relationships/oleObject" Target="../embeddings/oleObject40.bin"/><Relationship Id="rId4" Type="http://schemas.openxmlformats.org/officeDocument/2006/relationships/image" Target="../media/image53.wmf"/><Relationship Id="rId3" Type="http://schemas.openxmlformats.org/officeDocument/2006/relationships/oleObject" Target="../embeddings/oleObject39.bin"/><Relationship Id="rId2" Type="http://schemas.openxmlformats.org/officeDocument/2006/relationships/image" Target="../media/image52.wmf"/><Relationship Id="rId10" Type="http://schemas.openxmlformats.org/officeDocument/2006/relationships/vmlDrawing" Target="../drawings/vmlDrawing17.vml"/><Relationship Id="rId1" Type="http://schemas.openxmlformats.org/officeDocument/2006/relationships/oleObject" Target="../embeddings/oleObject38.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56.wmf"/><Relationship Id="rId1" Type="http://schemas.openxmlformats.org/officeDocument/2006/relationships/oleObject" Target="../embeddings/oleObject42.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57.emf"/><Relationship Id="rId1" Type="http://schemas.openxmlformats.org/officeDocument/2006/relationships/oleObject" Target="../embeddings/oleObject43.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58.emf"/><Relationship Id="rId1" Type="http://schemas.openxmlformats.org/officeDocument/2006/relationships/oleObject" Target="../embeddings/oleObject44.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2.xml"/><Relationship Id="rId3" Type="http://schemas.openxmlformats.org/officeDocument/2006/relationships/oleObject" Target="../embeddings/oleObject46.bin"/><Relationship Id="rId2" Type="http://schemas.openxmlformats.org/officeDocument/2006/relationships/image" Target="../media/image59.emf"/><Relationship Id="rId1" Type="http://schemas.openxmlformats.org/officeDocument/2006/relationships/oleObject" Target="../embeddings/oleObject45.bin"/></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2.xml"/><Relationship Id="rId4" Type="http://schemas.openxmlformats.org/officeDocument/2006/relationships/image" Target="../media/image60.emf"/><Relationship Id="rId3" Type="http://schemas.openxmlformats.org/officeDocument/2006/relationships/oleObject" Target="../embeddings/oleObject48.bin"/><Relationship Id="rId2" Type="http://schemas.openxmlformats.org/officeDocument/2006/relationships/image" Target="../media/image59.emf"/><Relationship Id="rId1" Type="http://schemas.openxmlformats.org/officeDocument/2006/relationships/oleObject" Target="../embeddings/oleObject47.bin"/></Relationships>
</file>

<file path=ppt/slides/_rels/slide68.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2.xml"/><Relationship Id="rId3" Type="http://schemas.openxmlformats.org/officeDocument/2006/relationships/oleObject" Target="../embeddings/oleObject50.bin"/><Relationship Id="rId2" Type="http://schemas.openxmlformats.org/officeDocument/2006/relationships/image" Target="../media/image61.emf"/><Relationship Id="rId1" Type="http://schemas.openxmlformats.org/officeDocument/2006/relationships/oleObject" Target="../embeddings/oleObject49.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336550" y="733926"/>
            <a:ext cx="8915399" cy="2262781"/>
          </a:xfrm>
        </p:spPr>
        <p:txBody>
          <a:bodyPr/>
          <a:lstStyle/>
          <a:p>
            <a:r>
              <a:rPr lang="zh-CN" altLang="zh-CN" dirty="0">
                <a:latin typeface="楷体" panose="02010609060101010101" pitchFamily="49" charset="-122"/>
                <a:ea typeface="楷体" panose="02010609060101010101" pitchFamily="49" charset="-122"/>
              </a:rPr>
              <a:t>第</a:t>
            </a:r>
            <a:r>
              <a:rPr lang="en-US" altLang="zh-CN" dirty="0">
                <a:latin typeface="楷体" panose="02010609060101010101" pitchFamily="49" charset="-122"/>
                <a:ea typeface="楷体" panose="02010609060101010101" pitchFamily="49" charset="-122"/>
              </a:rPr>
              <a:t>4</a:t>
            </a:r>
            <a:r>
              <a:rPr lang="zh-CN" altLang="zh-CN" dirty="0">
                <a:latin typeface="楷体" panose="02010609060101010101" pitchFamily="49" charset="-122"/>
                <a:ea typeface="楷体" panose="02010609060101010101" pitchFamily="49" charset="-122"/>
              </a:rPr>
              <a:t>章</a:t>
            </a:r>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决策树分类算法</a:t>
            </a:r>
            <a:endParaRPr lang="zh-CN" altLang="en-US" b="1"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7896860" y="536575"/>
            <a:ext cx="3373755" cy="6000750"/>
          </a:xfrm>
          <a:prstGeom prst="rect">
            <a:avLst/>
          </a:prstGeom>
          <a:noFill/>
        </p:spPr>
        <p:txBody>
          <a:bodyPr wrap="square" rtlCol="0">
            <a:spAutoFit/>
          </a:bodyPr>
          <a:p>
            <a:r>
              <a:rPr lang="zh-CN" altLang="en-US" sz="3200" b="1"/>
              <a:t>分类知识：</a:t>
            </a:r>
            <a:endParaRPr lang="zh-CN" altLang="en-US" sz="3200" b="1"/>
          </a:p>
          <a:p>
            <a:endParaRPr lang="zh-CN" altLang="en-US" sz="3200"/>
          </a:p>
          <a:p>
            <a:r>
              <a:rPr lang="zh-CN" altLang="en-US" sz="3200"/>
              <a:t>若顾客可分为</a:t>
            </a:r>
            <a:r>
              <a:rPr lang="en-US" altLang="zh-CN" sz="3200"/>
              <a:t>“</a:t>
            </a:r>
            <a:r>
              <a:rPr lang="zh-CN" altLang="en-US" sz="3200"/>
              <a:t>买计算机</a:t>
            </a:r>
            <a:r>
              <a:rPr lang="en-US" altLang="zh-CN" sz="3200"/>
              <a:t>”</a:t>
            </a:r>
            <a:r>
              <a:rPr lang="zh-CN" altLang="en-US" sz="3200"/>
              <a:t>和</a:t>
            </a:r>
            <a:r>
              <a:rPr lang="en-US" altLang="zh-CN" sz="3200"/>
              <a:t>“</a:t>
            </a:r>
            <a:r>
              <a:rPr lang="zh-CN" altLang="en-US" sz="3200"/>
              <a:t>不买计算机</a:t>
            </a:r>
            <a:r>
              <a:rPr lang="en-US" altLang="zh-CN" sz="3200"/>
              <a:t>”</a:t>
            </a:r>
            <a:r>
              <a:rPr lang="zh-CN" altLang="en-US" sz="3200"/>
              <a:t>两类，我们需要</a:t>
            </a:r>
            <a:r>
              <a:rPr lang="zh-CN" altLang="en-US" sz="3200" b="1">
                <a:solidFill>
                  <a:srgbClr val="C00000"/>
                </a:solidFill>
              </a:rPr>
              <a:t>分类知识</a:t>
            </a:r>
            <a:r>
              <a:rPr lang="zh-CN" altLang="en-US" sz="3200" b="1">
                <a:solidFill>
                  <a:schemeClr val="tx1"/>
                </a:solidFill>
              </a:rPr>
              <a:t>来回答这样一个</a:t>
            </a:r>
            <a:r>
              <a:rPr lang="zh-CN" altLang="en-US" sz="3200"/>
              <a:t>问题：对于某位新顾客，给定年龄、收入等属性的前提下，</a:t>
            </a:r>
            <a:r>
              <a:rPr lang="zh-CN" altLang="en-US" sz="3200"/>
              <a:t>他更可能属于哪类？</a:t>
            </a:r>
            <a:endParaRPr lang="zh-CN" altLang="en-US" sz="3200"/>
          </a:p>
        </p:txBody>
      </p:sp>
      <p:grpSp>
        <p:nvGrpSpPr>
          <p:cNvPr id="9" name="组合 8"/>
          <p:cNvGrpSpPr/>
          <p:nvPr/>
        </p:nvGrpSpPr>
        <p:grpSpPr>
          <a:xfrm>
            <a:off x="1799590" y="429260"/>
            <a:ext cx="5535930" cy="6107430"/>
            <a:chOff x="2834" y="676"/>
            <a:chExt cx="8718" cy="9618"/>
          </a:xfrm>
        </p:grpSpPr>
        <p:pic>
          <p:nvPicPr>
            <p:cNvPr id="6" name="图片 5"/>
            <p:cNvPicPr>
              <a:picLocks noChangeAspect="1"/>
            </p:cNvPicPr>
            <p:nvPr/>
          </p:nvPicPr>
          <p:blipFill>
            <a:blip r:embed="rId1"/>
            <a:srcRect l="8352" t="31818" r="64461" b="14847"/>
            <a:stretch>
              <a:fillRect/>
            </a:stretch>
          </p:blipFill>
          <p:spPr>
            <a:xfrm>
              <a:off x="2834" y="676"/>
              <a:ext cx="8718" cy="9619"/>
            </a:xfrm>
            <a:prstGeom prst="rect">
              <a:avLst/>
            </a:prstGeom>
          </p:spPr>
        </p:pic>
        <p:pic>
          <p:nvPicPr>
            <p:cNvPr id="8" name="图片 7"/>
            <p:cNvPicPr>
              <a:picLocks noChangeAspect="1"/>
            </p:cNvPicPr>
            <p:nvPr/>
          </p:nvPicPr>
          <p:blipFill>
            <a:blip r:embed="rId1"/>
            <a:srcRect l="26552" t="77834" r="65294" b="19344"/>
            <a:stretch>
              <a:fillRect/>
            </a:stretch>
          </p:blipFill>
          <p:spPr>
            <a:xfrm>
              <a:off x="8717" y="9532"/>
              <a:ext cx="2615" cy="50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3600" b="1"/>
              <a:t>分类知识有多种表现形式，本章我们要学习的就是其中之一：决策树</a:t>
            </a:r>
            <a:endParaRPr lang="zh-CN" altLang="en-US" sz="36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687332"/>
          </a:xfrm>
        </p:spPr>
        <p:txBody>
          <a:bodyPr/>
          <a:lstStyle/>
          <a:p>
            <a:r>
              <a:rPr lang="en-US" altLang="zh-CN" dirty="0">
                <a:latin typeface="楷体" panose="02010609060101010101" pitchFamily="49" charset="-122"/>
                <a:ea typeface="楷体" panose="02010609060101010101" pitchFamily="49" charset="-122"/>
              </a:rPr>
              <a:t>4.1</a:t>
            </a:r>
            <a:r>
              <a:rPr lang="zh-CN" altLang="zh-CN" dirty="0">
                <a:latin typeface="楷体" panose="02010609060101010101" pitchFamily="49" charset="-122"/>
                <a:ea typeface="楷体" panose="02010609060101010101" pitchFamily="49" charset="-122"/>
              </a:rPr>
              <a:t>基本概念</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589212" y="2153652"/>
            <a:ext cx="8915400" cy="3757569"/>
          </a:xfrm>
        </p:spPr>
        <p:txBody>
          <a:bodyPr>
            <a:normAutofit fontScale="90000" lnSpcReduction="20000"/>
          </a:bodyPr>
          <a:lstStyle/>
          <a:p>
            <a:r>
              <a:rPr lang="zh-CN" altLang="en-US" sz="3200" dirty="0">
                <a:latin typeface="楷体" panose="02010609060101010101" pitchFamily="49" charset="-122"/>
                <a:ea typeface="楷体" panose="02010609060101010101" pitchFamily="49" charset="-122"/>
              </a:rPr>
              <a:t>从数据中生成分类器的一个特别有效的方法是生成一棵</a:t>
            </a:r>
            <a:r>
              <a:rPr lang="zh-CN" altLang="en-US" sz="3200" b="1" dirty="0">
                <a:solidFill>
                  <a:srgbClr val="C00000"/>
                </a:solidFill>
                <a:latin typeface="楷体" panose="02010609060101010101" pitchFamily="49" charset="-122"/>
                <a:ea typeface="楷体" panose="02010609060101010101" pitchFamily="49" charset="-122"/>
              </a:rPr>
              <a:t>决策树（</a:t>
            </a:r>
            <a:r>
              <a:rPr lang="en-US" altLang="zh-CN" sz="3200" b="1" dirty="0">
                <a:solidFill>
                  <a:srgbClr val="C00000"/>
                </a:solidFill>
                <a:latin typeface="楷体" panose="02010609060101010101" pitchFamily="49" charset="-122"/>
                <a:ea typeface="楷体" panose="02010609060101010101" pitchFamily="49" charset="-122"/>
              </a:rPr>
              <a:t>Decision Tree</a:t>
            </a:r>
            <a:r>
              <a:rPr lang="zh-CN" altLang="en-US" sz="3200" b="1" dirty="0">
                <a:solidFill>
                  <a:srgbClr val="C00000"/>
                </a:solidFill>
                <a:latin typeface="楷体" panose="02010609060101010101" pitchFamily="49" charset="-122"/>
                <a:ea typeface="楷体" panose="02010609060101010101" pitchFamily="49" charset="-122"/>
              </a:rPr>
              <a:t>）</a:t>
            </a:r>
            <a:r>
              <a:rPr lang="zh-CN" altLang="en-US" sz="3200" dirty="0">
                <a:latin typeface="楷体" panose="02010609060101010101" pitchFamily="49" charset="-122"/>
                <a:ea typeface="楷体" panose="02010609060101010101" pitchFamily="49" charset="-122"/>
              </a:rPr>
              <a:t>。决策树表示方法是应用最广泛的逻辑方法之一，它从一组无次序、无规则的事例中推理出决策树表示形式的分类规则。决策树分类方法采用自顶向下的递归方式，在决策树的内部节点进行属性值的比较，根据不同的属性值判断从该节点向下的分支，在决策树的叶节点得到结论。所以，从决策树的根到叶节点的一条路径就对应着一条合取规则，整棵决策树就对应着一组析取表达式规则。</a:t>
            </a:r>
            <a:endParaRPr lang="en-US" altLang="zh-CN" sz="3200"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a:p>
            <a:pPr marL="0" indent="0">
              <a:buNone/>
            </a:pPr>
            <a:endParaRPr lang="en-US" altLang="zh-CN" dirty="0">
              <a:latin typeface="楷体" panose="02010609060101010101" pitchFamily="49" charset="-122"/>
              <a:ea typeface="楷体" panose="02010609060101010101" pitchFamily="49" charset="-122"/>
            </a:endParaRPr>
          </a:p>
          <a:p>
            <a:pPr marL="0" indent="0">
              <a:buNone/>
            </a:pPr>
            <a:endParaRPr lang="zh-CN" altLang="zh-CN"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p:txBody>
      </p:sp>
      <p:sp>
        <p:nvSpPr>
          <p:cNvPr id="5" name="内容占位符 8"/>
          <p:cNvSpPr txBox="1"/>
          <p:nvPr/>
        </p:nvSpPr>
        <p:spPr>
          <a:xfrm>
            <a:off x="2589212" y="1479884"/>
            <a:ext cx="3943935" cy="51735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zh-CN" sz="2800" b="1" dirty="0">
                <a:latin typeface="楷体" panose="02010609060101010101" pitchFamily="49" charset="-122"/>
                <a:ea typeface="楷体" panose="02010609060101010101" pitchFamily="49" charset="-122"/>
                <a:cs typeface="Times New Roman" panose="02020603050405020304" pitchFamily="18" charset="0"/>
              </a:rPr>
              <a:t>4.1.1</a:t>
            </a:r>
            <a:r>
              <a:rPr lang="zh-CN" altLang="zh-CN" sz="2800" b="1" dirty="0">
                <a:latin typeface="楷体" panose="02010609060101010101" pitchFamily="49" charset="-122"/>
                <a:ea typeface="楷体" panose="02010609060101010101" pitchFamily="49" charset="-122"/>
                <a:cs typeface="Times New Roman" panose="02020603050405020304" pitchFamily="18" charset="0"/>
              </a:rPr>
              <a:t>决策树分类算法</a:t>
            </a:r>
            <a:endParaRPr lang="zh-CN" altLang="en-US" sz="2800" b="1" dirty="0">
              <a:latin typeface="楷体" panose="02010609060101010101" pitchFamily="49" charset="-122"/>
              <a:ea typeface="楷体" panose="02010609060101010101" pitchFamily="49" charset="-122"/>
            </a:endParaRPr>
          </a:p>
          <a:p>
            <a:endParaRPr lang="zh-CN" altLang="en-US" sz="2800" b="1" dirty="0">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11655" y="419100"/>
            <a:ext cx="9160510" cy="2816860"/>
          </a:xfrm>
        </p:spPr>
        <p:txBody>
          <a:bodyPr>
            <a:noAutofit/>
          </a:bodyPr>
          <a:lstStyle/>
          <a:p>
            <a:r>
              <a:rPr lang="zh-CN" altLang="en-US" sz="2800" dirty="0">
                <a:latin typeface="楷体" panose="02010609060101010101" pitchFamily="49" charset="-122"/>
                <a:ea typeface="楷体" panose="02010609060101010101" pitchFamily="49" charset="-122"/>
              </a:rPr>
              <a:t>决策树是一个类似于流程图的树结构，其中每个内部节点表示在一个属性上的测试，每个分支代表一个测试输出，而每个树叶节点代表类或类分布，树的最顶层节点是根节点。一棵典型的决策树如图所示，它表示概念</a:t>
            </a:r>
            <a:r>
              <a:rPr lang="en-US" altLang="zh-CN" sz="2800" dirty="0" err="1">
                <a:latin typeface="楷体" panose="02010609060101010101" pitchFamily="49" charset="-122"/>
                <a:ea typeface="楷体" panose="02010609060101010101" pitchFamily="49" charset="-122"/>
              </a:rPr>
              <a:t>buy_computer</a:t>
            </a:r>
            <a:r>
              <a:rPr lang="zh-CN" altLang="en-US" sz="2800" dirty="0">
                <a:latin typeface="楷体" panose="02010609060101010101" pitchFamily="49" charset="-122"/>
                <a:ea typeface="楷体" panose="02010609060101010101" pitchFamily="49" charset="-122"/>
              </a:rPr>
              <a:t>，预测顾客是否可能购买计算机。</a:t>
            </a:r>
            <a:r>
              <a:rPr lang="zh-CN" altLang="en-US" sz="2000" dirty="0">
                <a:latin typeface="楷体" panose="02010609060101010101" pitchFamily="49" charset="-122"/>
                <a:ea typeface="楷体" panose="02010609060101010101" pitchFamily="49" charset="-122"/>
              </a:rPr>
              <a:t>                                                                         </a:t>
            </a:r>
            <a:endParaRPr lang="en-US" altLang="zh-CN" sz="20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a:p>
            <a:pPr marL="0" indent="0">
              <a:buNone/>
            </a:pPr>
            <a:endParaRPr lang="en-US" altLang="zh-CN" sz="2000" dirty="0">
              <a:latin typeface="楷体" panose="02010609060101010101" pitchFamily="49" charset="-122"/>
              <a:ea typeface="楷体" panose="02010609060101010101" pitchFamily="49" charset="-122"/>
            </a:endParaRPr>
          </a:p>
          <a:p>
            <a:pPr marL="0" indent="0">
              <a:buNone/>
            </a:pPr>
            <a:endParaRPr lang="zh-CN" altLang="zh-CN" sz="2000" dirty="0">
              <a:latin typeface="楷体" panose="02010609060101010101" pitchFamily="49" charset="-122"/>
              <a:ea typeface="楷体" panose="02010609060101010101" pitchFamily="49" charset="-122"/>
            </a:endParaRPr>
          </a:p>
          <a:p>
            <a:pPr marL="0" indent="0">
              <a:buNone/>
            </a:pPr>
            <a:endParaRPr lang="zh-CN" altLang="zh-CN" sz="2000" dirty="0">
              <a:latin typeface="楷体" panose="02010609060101010101" pitchFamily="49" charset="-122"/>
              <a:ea typeface="楷体" panose="02010609060101010101" pitchFamily="49" charset="-122"/>
            </a:endParaRPr>
          </a:p>
        </p:txBody>
      </p:sp>
      <p:sp>
        <p:nvSpPr>
          <p:cNvPr id="9" name="内容占位符 2"/>
          <p:cNvSpPr txBox="1"/>
          <p:nvPr/>
        </p:nvSpPr>
        <p:spPr>
          <a:xfrm>
            <a:off x="2204202" y="5662863"/>
            <a:ext cx="8915400" cy="9705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0" indent="0">
              <a:buFont typeface="Wingdings 3" panose="05040102010807070707" charset="2"/>
              <a:buNone/>
            </a:pPr>
            <a:endParaRPr lang="zh-CN" altLang="zh-CN">
              <a:latin typeface="楷体" panose="02010609060101010101" pitchFamily="49" charset="-122"/>
              <a:ea typeface="楷体" panose="02010609060101010101" pitchFamily="49" charset="-122"/>
            </a:endParaRPr>
          </a:p>
          <a:p>
            <a:pPr marL="0" indent="0">
              <a:buFont typeface="Wingdings 3" panose="05040102010807070707" charset="2"/>
              <a:buNone/>
            </a:pPr>
            <a:endParaRPr lang="zh-CN" altLang="en-US" dirty="0">
              <a:latin typeface="楷体" panose="02010609060101010101" pitchFamily="49" charset="-122"/>
              <a:ea typeface="楷体" panose="02010609060101010101" pitchFamily="49" charset="-122"/>
            </a:endParaRPr>
          </a:p>
        </p:txBody>
      </p:sp>
      <p:pic>
        <p:nvPicPr>
          <p:cNvPr id="2" name="图片 1" descr="ASHK0R%`A$NHKGXW7L]W7CF"/>
          <p:cNvPicPr>
            <a:picLocks noChangeAspect="1"/>
          </p:cNvPicPr>
          <p:nvPr/>
        </p:nvPicPr>
        <p:blipFill>
          <a:blip r:embed="rId1"/>
          <a:stretch>
            <a:fillRect/>
          </a:stretch>
        </p:blipFill>
        <p:spPr>
          <a:xfrm>
            <a:off x="2705100" y="2596515"/>
            <a:ext cx="5234940" cy="4036695"/>
          </a:xfrm>
          <a:prstGeom prst="rect">
            <a:avLst/>
          </a:prstGeom>
        </p:spPr>
      </p:pic>
      <p:sp>
        <p:nvSpPr>
          <p:cNvPr id="4" name="文本框 3"/>
          <p:cNvSpPr txBox="1"/>
          <p:nvPr/>
        </p:nvSpPr>
        <p:spPr>
          <a:xfrm>
            <a:off x="8381365" y="2888615"/>
            <a:ext cx="3147695" cy="3969385"/>
          </a:xfrm>
          <a:prstGeom prst="rect">
            <a:avLst/>
          </a:prstGeom>
          <a:noFill/>
        </p:spPr>
        <p:txBody>
          <a:bodyPr wrap="square" rtlCol="0">
            <a:spAutoFit/>
          </a:bodyPr>
          <a:p>
            <a:r>
              <a:rPr lang="zh-CN" altLang="en-US" sz="2800" b="1" dirty="0">
                <a:latin typeface="楷体" panose="02010609060101010101" pitchFamily="49" charset="-122"/>
                <a:ea typeface="楷体" panose="02010609060101010101" pitchFamily="49" charset="-122"/>
                <a:sym typeface="+mn-ea"/>
              </a:rPr>
              <a:t>内部节点用矩形表示，而树叶节点用椭圆表示，为了对未知的样本分类，样本的属性值在决策树上测试。决策树从根到叶节点的一条路径就对应着一条合取规则。 </a:t>
            </a:r>
            <a:r>
              <a:rPr lang="zh-CN" altLang="en-US" dirty="0">
                <a:latin typeface="楷体" panose="02010609060101010101" pitchFamily="49" charset="-122"/>
                <a:ea typeface="楷体" panose="02010609060101010101" pitchFamily="49" charset="-122"/>
                <a:sym typeface="+mn-ea"/>
              </a:rPr>
              <a:t>   </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89212" y="1539875"/>
            <a:ext cx="8915400" cy="3777622"/>
          </a:xfrm>
        </p:spPr>
        <p:txBody>
          <a:bodyPr/>
          <a:p>
            <a:r>
              <a:rPr lang="zh-CN" altLang="zh-CN" sz="3200" dirty="0">
                <a:latin typeface="楷体" panose="02010609060101010101" pitchFamily="49" charset="-122"/>
                <a:ea typeface="楷体" panose="02010609060101010101" pitchFamily="49" charset="-122"/>
                <a:sym typeface="+mn-ea"/>
              </a:rPr>
              <a:t>基于决策树的分类方法的一个最大的优点就是它在学习过程中不需要使用者了解很多背景知识，这同时也是它的最大缺点，只要训练样本能够用</a:t>
            </a:r>
            <a:r>
              <a:rPr lang="zh-CN" altLang="zh-CN" sz="3200" b="1" dirty="0">
                <a:solidFill>
                  <a:srgbClr val="C00000"/>
                </a:solidFill>
                <a:latin typeface="楷体" panose="02010609060101010101" pitchFamily="49" charset="-122"/>
                <a:ea typeface="楷体" panose="02010609060101010101" pitchFamily="49" charset="-122"/>
                <a:sym typeface="+mn-ea"/>
              </a:rPr>
              <a:t>属性</a:t>
            </a:r>
            <a:r>
              <a:rPr lang="en-US" altLang="zh-CN" sz="3200" b="1" dirty="0">
                <a:solidFill>
                  <a:srgbClr val="C00000"/>
                </a:solidFill>
                <a:latin typeface="楷体" panose="02010609060101010101" pitchFamily="49" charset="-122"/>
                <a:ea typeface="楷体" panose="02010609060101010101" pitchFamily="49" charset="-122"/>
                <a:sym typeface="+mn-ea"/>
              </a:rPr>
              <a:t>-</a:t>
            </a:r>
            <a:r>
              <a:rPr lang="zh-CN" altLang="zh-CN" sz="3200" b="1" dirty="0">
                <a:solidFill>
                  <a:srgbClr val="C00000"/>
                </a:solidFill>
                <a:latin typeface="楷体" panose="02010609060101010101" pitchFamily="49" charset="-122"/>
                <a:ea typeface="楷体" panose="02010609060101010101" pitchFamily="49" charset="-122"/>
                <a:sym typeface="+mn-ea"/>
              </a:rPr>
              <a:t>结论式</a:t>
            </a:r>
            <a:r>
              <a:rPr lang="zh-CN" altLang="zh-CN" sz="3200" dirty="0">
                <a:latin typeface="楷体" panose="02010609060101010101" pitchFamily="49" charset="-122"/>
                <a:ea typeface="楷体" panose="02010609060101010101" pitchFamily="49" charset="-122"/>
                <a:sym typeface="+mn-ea"/>
              </a:rPr>
              <a:t>表示出来，就能使用该算法来学习</a:t>
            </a:r>
            <a:r>
              <a:rPr lang="zh-CN" altLang="en-US" sz="3200" dirty="0">
                <a:latin typeface="楷体" panose="02010609060101010101" pitchFamily="49" charset="-122"/>
                <a:ea typeface="楷体" panose="02010609060101010101" pitchFamily="49" charset="-122"/>
                <a:sym typeface="+mn-ea"/>
              </a:rPr>
              <a:t>。               </a:t>
            </a:r>
            <a:r>
              <a:rPr lang="zh-CN" altLang="en-US" dirty="0">
                <a:latin typeface="楷体" panose="02010609060101010101" pitchFamily="49" charset="-122"/>
                <a:ea typeface="楷体" panose="02010609060101010101" pitchFamily="49" charset="-122"/>
                <a:sym typeface="+mn-ea"/>
              </a:rPr>
              <a:t>                                                              </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txBox="1"/>
          <p:nvPr/>
        </p:nvSpPr>
        <p:spPr>
          <a:xfrm>
            <a:off x="1892300" y="629285"/>
            <a:ext cx="8915400" cy="30937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900">
                <a:latin typeface="楷体" panose="02010609060101010101" pitchFamily="49" charset="-122"/>
                <a:ea typeface="楷体" panose="02010609060101010101" pitchFamily="49" charset="-122"/>
              </a:rPr>
              <a:t>决策树是应用非常广泛的分类方法，目前有多种决策树方法，例如</a:t>
            </a:r>
            <a:r>
              <a:rPr lang="en-US" altLang="zh-CN" sz="2900">
                <a:latin typeface="楷体" panose="02010609060101010101" pitchFamily="49" charset="-122"/>
                <a:ea typeface="楷体" panose="02010609060101010101" pitchFamily="49" charset="-122"/>
              </a:rPr>
              <a:t>ID3</a:t>
            </a:r>
            <a:r>
              <a:rPr lang="zh-CN" altLang="zh-CN" sz="2900">
                <a:latin typeface="楷体" panose="02010609060101010101" pitchFamily="49" charset="-122"/>
                <a:ea typeface="楷体" panose="02010609060101010101" pitchFamily="49" charset="-122"/>
              </a:rPr>
              <a:t>、</a:t>
            </a:r>
            <a:r>
              <a:rPr lang="en-US" altLang="zh-CN" sz="2900">
                <a:latin typeface="楷体" panose="02010609060101010101" pitchFamily="49" charset="-122"/>
                <a:ea typeface="楷体" panose="02010609060101010101" pitchFamily="49" charset="-122"/>
              </a:rPr>
              <a:t>CN2</a:t>
            </a:r>
            <a:r>
              <a:rPr lang="zh-CN" altLang="zh-CN" sz="2900">
                <a:latin typeface="楷体" panose="02010609060101010101" pitchFamily="49" charset="-122"/>
                <a:ea typeface="楷体" panose="02010609060101010101" pitchFamily="49" charset="-122"/>
              </a:rPr>
              <a:t>、</a:t>
            </a:r>
            <a:r>
              <a:rPr lang="en-US" altLang="zh-CN" sz="2900">
                <a:latin typeface="楷体" panose="02010609060101010101" pitchFamily="49" charset="-122"/>
                <a:ea typeface="楷体" panose="02010609060101010101" pitchFamily="49" charset="-122"/>
              </a:rPr>
              <a:t>SLIQ</a:t>
            </a:r>
            <a:r>
              <a:rPr lang="zh-CN" altLang="zh-CN" sz="2900">
                <a:latin typeface="楷体" panose="02010609060101010101" pitchFamily="49" charset="-122"/>
                <a:ea typeface="楷体" panose="02010609060101010101" pitchFamily="49" charset="-122"/>
              </a:rPr>
              <a:t>、</a:t>
            </a:r>
            <a:r>
              <a:rPr lang="en-US" altLang="zh-CN" sz="2900">
                <a:latin typeface="楷体" panose="02010609060101010101" pitchFamily="49" charset="-122"/>
                <a:ea typeface="楷体" panose="02010609060101010101" pitchFamily="49" charset="-122"/>
              </a:rPr>
              <a:t>SPRINT</a:t>
            </a:r>
            <a:r>
              <a:rPr lang="zh-CN" altLang="zh-CN" sz="2900">
                <a:latin typeface="楷体" panose="02010609060101010101" pitchFamily="49" charset="-122"/>
                <a:ea typeface="楷体" panose="02010609060101010101" pitchFamily="49" charset="-122"/>
              </a:rPr>
              <a:t>等，下面先介绍决策树分类的基本核心思想，然后再详细介绍</a:t>
            </a:r>
            <a:r>
              <a:rPr lang="en-US" altLang="zh-CN" sz="2900">
                <a:latin typeface="楷体" panose="02010609060101010101" pitchFamily="49" charset="-122"/>
                <a:ea typeface="楷体" panose="02010609060101010101" pitchFamily="49" charset="-122"/>
              </a:rPr>
              <a:t>ID3</a:t>
            </a:r>
            <a:r>
              <a:rPr lang="zh-CN" altLang="zh-CN" sz="2900">
                <a:latin typeface="楷体" panose="02010609060101010101" pitchFamily="49" charset="-122"/>
                <a:ea typeface="楷体" panose="02010609060101010101" pitchFamily="49" charset="-122"/>
              </a:rPr>
              <a:t>和</a:t>
            </a:r>
            <a:r>
              <a:rPr lang="en-US" altLang="zh-CN" sz="2900">
                <a:latin typeface="楷体" panose="02010609060101010101" pitchFamily="49" charset="-122"/>
                <a:ea typeface="楷体" panose="02010609060101010101" pitchFamily="49" charset="-122"/>
              </a:rPr>
              <a:t>C4.5</a:t>
            </a:r>
            <a:r>
              <a:rPr lang="zh-CN" altLang="zh-CN" sz="2900">
                <a:latin typeface="楷体" panose="02010609060101010101" pitchFamily="49" charset="-122"/>
                <a:ea typeface="楷体" panose="02010609060101010101" pitchFamily="49" charset="-122"/>
              </a:rPr>
              <a:t>决策树方法。</a:t>
            </a:r>
            <a:endParaRPr lang="zh-CN" altLang="zh-CN" sz="2900">
              <a:latin typeface="楷体" panose="02010609060101010101" pitchFamily="49" charset="-122"/>
              <a:ea typeface="楷体" panose="02010609060101010101" pitchFamily="49" charset="-122"/>
            </a:endParaRPr>
          </a:p>
          <a:p>
            <a:pPr marL="0" indent="0">
              <a:buFont typeface="Wingdings 3" panose="05040102010807070707" charset="2"/>
              <a:buNone/>
            </a:pPr>
            <a:endParaRPr lang="zh-CN" altLang="zh-CN">
              <a:latin typeface="楷体" panose="02010609060101010101" pitchFamily="49" charset="-122"/>
              <a:ea typeface="楷体" panose="02010609060101010101" pitchFamily="49" charset="-122"/>
            </a:endParaRPr>
          </a:p>
          <a:p>
            <a:pPr marL="0" indent="0">
              <a:buFont typeface="Wingdings 3" panose="05040102010807070707" charset="2"/>
              <a:buNone/>
            </a:pP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8"/>
          <p:cNvSpPr>
            <a:spLocks noGrp="1"/>
          </p:cNvSpPr>
          <p:nvPr>
            <p:ph idx="1"/>
          </p:nvPr>
        </p:nvSpPr>
        <p:spPr>
          <a:xfrm>
            <a:off x="1840865" y="1635760"/>
            <a:ext cx="9639935" cy="680085"/>
          </a:xfrm>
        </p:spPr>
        <p:txBody>
          <a:bodyPr>
            <a:noAutofit/>
          </a:bodyPr>
          <a:lstStyle/>
          <a:p>
            <a:r>
              <a:rPr lang="zh-CN" altLang="en-US" sz="2800" dirty="0">
                <a:latin typeface="楷体" panose="02010609060101010101" pitchFamily="49" charset="-122"/>
                <a:ea typeface="楷体" panose="02010609060101010101" pitchFamily="49" charset="-122"/>
                <a:cs typeface="Times New Roman" panose="02020603050405020304" pitchFamily="18" charset="0"/>
              </a:rPr>
              <a:t>决策树分类算法通常分为两个步骤：</a:t>
            </a:r>
            <a:r>
              <a:rPr lang="zh-CN" altLang="en-US" sz="28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决策树生成和决策树修剪。</a:t>
            </a:r>
            <a:endParaRPr lang="zh-CN" altLang="en-US" sz="2800"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0" name="标题 1"/>
          <p:cNvSpPr>
            <a:spLocks noGrp="1"/>
          </p:cNvSpPr>
          <p:nvPr>
            <p:ph type="title"/>
          </p:nvPr>
        </p:nvSpPr>
        <p:spPr>
          <a:xfrm>
            <a:off x="1840832" y="654788"/>
            <a:ext cx="8911687" cy="687332"/>
          </a:xfrm>
        </p:spPr>
        <p:txBody>
          <a:bodyPr/>
          <a:lstStyle/>
          <a:p>
            <a:r>
              <a:rPr lang="en-US" altLang="zh-CN" b="1" dirty="0">
                <a:latin typeface="楷体" panose="02010609060101010101" pitchFamily="49" charset="-122"/>
                <a:ea typeface="楷体" panose="02010609060101010101" pitchFamily="49" charset="-122"/>
              </a:rPr>
              <a:t>4.1.2</a:t>
            </a:r>
            <a:r>
              <a:rPr lang="zh-CN" altLang="zh-CN" b="1" dirty="0">
                <a:latin typeface="楷体" panose="02010609060101010101" pitchFamily="49" charset="-122"/>
                <a:ea typeface="楷体" panose="02010609060101010101" pitchFamily="49" charset="-122"/>
              </a:rPr>
              <a:t>决策</a:t>
            </a:r>
            <a:r>
              <a:rPr lang="zh-CN" altLang="zh-CN" dirty="0">
                <a:latin typeface="楷体" panose="02010609060101010101" pitchFamily="49" charset="-122"/>
                <a:ea typeface="楷体" panose="02010609060101010101" pitchFamily="49" charset="-122"/>
              </a:rPr>
              <a:t>树基本</a:t>
            </a:r>
            <a:r>
              <a:rPr lang="zh-CN" altLang="zh-CN" b="1" dirty="0">
                <a:latin typeface="楷体" panose="02010609060101010101" pitchFamily="49" charset="-122"/>
                <a:ea typeface="楷体" panose="02010609060101010101" pitchFamily="49" charset="-122"/>
              </a:rPr>
              <a:t>算法概述</a:t>
            </a:r>
            <a:endParaRPr lang="zh-CN" altLang="zh-CN" b="1" dirty="0">
              <a:latin typeface="楷体" panose="02010609060101010101" pitchFamily="49" charset="-122"/>
              <a:ea typeface="楷体" panose="02010609060101010101" pitchFamily="49" charset="-122"/>
            </a:endParaRPr>
          </a:p>
        </p:txBody>
      </p:sp>
      <p:sp>
        <p:nvSpPr>
          <p:cNvPr id="11" name="内容占位符 8"/>
          <p:cNvSpPr txBox="1"/>
          <p:nvPr/>
        </p:nvSpPr>
        <p:spPr>
          <a:xfrm>
            <a:off x="1840865" y="2741930"/>
            <a:ext cx="9413240" cy="364744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en-US" sz="2800" dirty="0">
                <a:latin typeface="楷体" panose="02010609060101010101" pitchFamily="49" charset="-122"/>
                <a:ea typeface="楷体" panose="02010609060101010101" pitchFamily="49" charset="-122"/>
                <a:cs typeface="Times New Roman" panose="02020603050405020304" pitchFamily="18" charset="0"/>
              </a:rPr>
              <a:t>决策树生成算法</a:t>
            </a:r>
            <a:endParaRPr lang="en-US" altLang="zh-CN" sz="280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zh-CN" sz="2800" dirty="0">
                <a:latin typeface="楷体" panose="02010609060101010101" pitchFamily="49" charset="-122"/>
                <a:ea typeface="楷体" panose="02010609060101010101" pitchFamily="49" charset="-122"/>
              </a:rPr>
              <a:t>决策树生成算法的输入参数是一组带有类别标记的样本，输出是构造一颗决策树，该树可以是一棵二叉树或多叉树。二叉树的内部结点（非叶子结点）一般表示为一个逻辑判断，如形式为（</a:t>
            </a:r>
            <a:r>
              <a:rPr lang="en-US" altLang="zh-CN" sz="2800" dirty="0">
                <a:latin typeface="楷体" panose="02010609060101010101" pitchFamily="49" charset="-122"/>
                <a:ea typeface="楷体" panose="02010609060101010101" pitchFamily="49" charset="-122"/>
              </a:rPr>
              <a:t>a</a:t>
            </a:r>
            <a:r>
              <a:rPr lang="en-US" altLang="zh-CN" sz="2800" baseline="-25000" dirty="0">
                <a:latin typeface="楷体" panose="02010609060101010101" pitchFamily="49" charset="-122"/>
                <a:ea typeface="楷体" panose="02010609060101010101" pitchFamily="49" charset="-122"/>
              </a:rPr>
              <a:t>i</a:t>
            </a:r>
            <a:r>
              <a:rPr lang="en-US" altLang="zh-CN" sz="2800" dirty="0">
                <a:latin typeface="楷体" panose="02010609060101010101" pitchFamily="49" charset="-122"/>
                <a:ea typeface="楷体" panose="02010609060101010101" pitchFamily="49" charset="-122"/>
              </a:rPr>
              <a:t>=v</a:t>
            </a:r>
            <a:r>
              <a:rPr lang="en-US" altLang="zh-CN" sz="2800" baseline="-25000" dirty="0">
                <a:latin typeface="楷体" panose="02010609060101010101" pitchFamily="49" charset="-122"/>
                <a:ea typeface="楷体" panose="02010609060101010101" pitchFamily="49" charset="-122"/>
              </a:rPr>
              <a:t>i</a:t>
            </a:r>
            <a:r>
              <a:rPr lang="zh-CN" altLang="zh-CN" sz="2800" dirty="0">
                <a:latin typeface="楷体" panose="02010609060101010101" pitchFamily="49" charset="-122"/>
                <a:ea typeface="楷体" panose="02010609060101010101" pitchFamily="49" charset="-122"/>
              </a:rPr>
              <a:t>）的逻辑判断，其中</a:t>
            </a:r>
            <a:r>
              <a:rPr lang="en-US" altLang="zh-CN" sz="2800" dirty="0">
                <a:latin typeface="楷体" panose="02010609060101010101" pitchFamily="49" charset="-122"/>
                <a:ea typeface="楷体" panose="02010609060101010101" pitchFamily="49" charset="-122"/>
              </a:rPr>
              <a:t>a</a:t>
            </a:r>
            <a:r>
              <a:rPr lang="en-US" altLang="zh-CN" sz="2800" baseline="-25000" dirty="0">
                <a:latin typeface="楷体" panose="02010609060101010101" pitchFamily="49" charset="-122"/>
                <a:ea typeface="楷体" panose="02010609060101010101" pitchFamily="49" charset="-122"/>
              </a:rPr>
              <a:t>i</a:t>
            </a:r>
            <a:r>
              <a:rPr lang="zh-CN" altLang="zh-CN" sz="2800" dirty="0">
                <a:latin typeface="楷体" panose="02010609060101010101" pitchFamily="49" charset="-122"/>
                <a:ea typeface="楷体" panose="02010609060101010101" pitchFamily="49" charset="-122"/>
              </a:rPr>
              <a:t>是属性，</a:t>
            </a:r>
            <a:r>
              <a:rPr lang="en-US" altLang="zh-CN" sz="2800" dirty="0">
                <a:latin typeface="楷体" panose="02010609060101010101" pitchFamily="49" charset="-122"/>
                <a:ea typeface="楷体" panose="02010609060101010101" pitchFamily="49" charset="-122"/>
              </a:rPr>
              <a:t>v</a:t>
            </a:r>
            <a:r>
              <a:rPr lang="en-US" altLang="zh-CN" sz="2800" baseline="-25000" dirty="0">
                <a:latin typeface="楷体" panose="02010609060101010101" pitchFamily="49" charset="-122"/>
                <a:ea typeface="楷体" panose="02010609060101010101" pitchFamily="49" charset="-122"/>
              </a:rPr>
              <a:t>i</a:t>
            </a:r>
            <a:r>
              <a:rPr lang="zh-CN" altLang="zh-CN" sz="2800" dirty="0">
                <a:latin typeface="楷体" panose="02010609060101010101" pitchFamily="49" charset="-122"/>
                <a:ea typeface="楷体" panose="02010609060101010101" pitchFamily="49" charset="-122"/>
              </a:rPr>
              <a:t>是该属性的属性值，树的边是逻辑判断的分支结果。多叉树的内部结点是属性，边是该属性的所有取值。树的叶子结点都是类别标记。构造决策树的方法是采用自上而下的</a:t>
            </a:r>
            <a:r>
              <a:rPr lang="zh-CN" altLang="zh-CN" sz="2800" b="1" dirty="0">
                <a:solidFill>
                  <a:srgbClr val="C00000"/>
                </a:solidFill>
                <a:latin typeface="楷体" panose="02010609060101010101" pitchFamily="49" charset="-122"/>
                <a:ea typeface="楷体" panose="02010609060101010101" pitchFamily="49" charset="-122"/>
              </a:rPr>
              <a:t>递归</a:t>
            </a:r>
            <a:r>
              <a:rPr lang="zh-CN" altLang="zh-CN" sz="2800" dirty="0">
                <a:latin typeface="楷体" panose="02010609060101010101" pitchFamily="49" charset="-122"/>
                <a:ea typeface="楷体" panose="02010609060101010101" pitchFamily="49" charset="-122"/>
              </a:rPr>
              <a:t>方法，其思路如算法</a:t>
            </a:r>
            <a:r>
              <a:rPr lang="en-US" altLang="zh-CN" sz="2800" dirty="0">
                <a:latin typeface="楷体" panose="02010609060101010101" pitchFamily="49" charset="-122"/>
                <a:ea typeface="楷体" panose="02010609060101010101" pitchFamily="49" charset="-122"/>
              </a:rPr>
              <a:t>4.1</a:t>
            </a:r>
            <a:r>
              <a:rPr lang="zh-CN" altLang="zh-CN" sz="2800" dirty="0">
                <a:latin typeface="楷体" panose="02010609060101010101" pitchFamily="49" charset="-122"/>
                <a:ea typeface="楷体" panose="02010609060101010101" pitchFamily="49" charset="-122"/>
              </a:rPr>
              <a:t>所示。</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44625" y="542290"/>
            <a:ext cx="9798685" cy="6200775"/>
          </a:xfrm>
        </p:spPr>
        <p:txBody>
          <a:bodyPr>
            <a:normAutofit fontScale="90000" lnSpcReduction="10000"/>
          </a:bodyPr>
          <a:lstStyle/>
          <a:p>
            <a:r>
              <a:rPr lang="zh-CN" altLang="zh-CN" sz="2000" b="1" dirty="0">
                <a:latin typeface="楷体" panose="02010609060101010101" pitchFamily="49" charset="-122"/>
                <a:ea typeface="楷体" panose="02010609060101010101" pitchFamily="49" charset="-122"/>
              </a:rPr>
              <a:t>算法</a:t>
            </a:r>
            <a:r>
              <a:rPr lang="en-US" altLang="zh-CN" sz="2000" b="1" dirty="0">
                <a:latin typeface="楷体" panose="02010609060101010101" pitchFamily="49" charset="-122"/>
                <a:ea typeface="楷体" panose="02010609060101010101" pitchFamily="49" charset="-122"/>
              </a:rPr>
              <a:t>4.1  </a:t>
            </a:r>
            <a:r>
              <a:rPr lang="en-US" altLang="zh-CN" sz="2000" b="1" dirty="0" err="1">
                <a:latin typeface="楷体" panose="02010609060101010101" pitchFamily="49" charset="-122"/>
                <a:ea typeface="楷体" panose="02010609060101010101" pitchFamily="49" charset="-122"/>
              </a:rPr>
              <a:t>Generate_decision_tree</a:t>
            </a:r>
            <a:r>
              <a:rPr lang="zh-CN" altLang="zh-CN" sz="2000" b="1" dirty="0">
                <a:latin typeface="楷体" panose="02010609060101010101" pitchFamily="49" charset="-122"/>
                <a:ea typeface="楷体" panose="02010609060101010101" pitchFamily="49" charset="-122"/>
              </a:rPr>
              <a:t>（决策树生成算法）</a:t>
            </a:r>
            <a:endParaRPr lang="zh-CN" altLang="zh-CN" sz="2000" dirty="0">
              <a:latin typeface="楷体" panose="02010609060101010101" pitchFamily="49" charset="-122"/>
              <a:ea typeface="楷体" panose="02010609060101010101" pitchFamily="49" charset="-122"/>
            </a:endParaRPr>
          </a:p>
          <a:p>
            <a:r>
              <a:rPr lang="zh-CN" altLang="zh-CN" sz="2200" dirty="0">
                <a:latin typeface="楷体" panose="02010609060101010101" pitchFamily="49" charset="-122"/>
                <a:ea typeface="楷体" panose="02010609060101010101" pitchFamily="49" charset="-122"/>
              </a:rPr>
              <a:t>输入：训练样本</a:t>
            </a:r>
            <a:r>
              <a:rPr lang="en-US" altLang="zh-CN" sz="2200" dirty="0">
                <a:latin typeface="楷体" panose="02010609060101010101" pitchFamily="49" charset="-122"/>
                <a:ea typeface="楷体" panose="02010609060101010101" pitchFamily="49" charset="-122"/>
              </a:rPr>
              <a:t>samples</a:t>
            </a:r>
            <a:r>
              <a:rPr lang="zh-CN" altLang="zh-CN" sz="2200" dirty="0">
                <a:latin typeface="楷体" panose="02010609060101010101" pitchFamily="49" charset="-122"/>
                <a:ea typeface="楷体" panose="02010609060101010101" pitchFamily="49" charset="-122"/>
              </a:rPr>
              <a:t>，由离散值属性表示；候选属性的集合</a:t>
            </a:r>
            <a:r>
              <a:rPr lang="en-US" altLang="zh-CN" sz="2200" dirty="0" err="1">
                <a:latin typeface="楷体" panose="02010609060101010101" pitchFamily="49" charset="-122"/>
                <a:ea typeface="楷体" panose="02010609060101010101" pitchFamily="49" charset="-122"/>
              </a:rPr>
              <a:t>attribute_list</a:t>
            </a:r>
            <a:r>
              <a:rPr lang="zh-CN" altLang="zh-CN" sz="2200" dirty="0">
                <a:latin typeface="楷体" panose="02010609060101010101" pitchFamily="49" charset="-122"/>
                <a:ea typeface="楷体" panose="02010609060101010101" pitchFamily="49" charset="-122"/>
              </a:rPr>
              <a:t>。</a:t>
            </a:r>
            <a:endParaRPr lang="zh-CN" altLang="zh-CN" sz="2200" dirty="0">
              <a:latin typeface="楷体" panose="02010609060101010101" pitchFamily="49" charset="-122"/>
              <a:ea typeface="楷体" panose="02010609060101010101" pitchFamily="49" charset="-122"/>
            </a:endParaRPr>
          </a:p>
          <a:p>
            <a:r>
              <a:rPr lang="zh-CN" altLang="zh-CN" sz="2200" dirty="0">
                <a:latin typeface="楷体" panose="02010609060101010101" pitchFamily="49" charset="-122"/>
                <a:ea typeface="楷体" panose="02010609060101010101" pitchFamily="49" charset="-122"/>
              </a:rPr>
              <a:t>输出：一棵决策树（由给定的训练数据产生一棵决策树）。</a:t>
            </a:r>
            <a:endParaRPr lang="zh-CN" altLang="zh-CN" sz="22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(1)</a:t>
            </a:r>
            <a:r>
              <a:rPr lang="zh-CN" altLang="zh-CN" sz="2400" dirty="0">
                <a:latin typeface="楷体" panose="02010609060101010101" pitchFamily="49" charset="-122"/>
                <a:ea typeface="楷体" panose="02010609060101010101" pitchFamily="49" charset="-122"/>
              </a:rPr>
              <a:t>创建结点</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如果</a:t>
            </a:r>
            <a:r>
              <a:rPr lang="en-US" altLang="zh-CN" sz="2400" dirty="0">
                <a:latin typeface="楷体" panose="02010609060101010101" pitchFamily="49" charset="-122"/>
                <a:ea typeface="楷体" panose="02010609060101010101" pitchFamily="49" charset="-122"/>
              </a:rPr>
              <a:t>samples</a:t>
            </a:r>
            <a:r>
              <a:rPr lang="zh-CN" altLang="zh-CN" sz="2400" dirty="0">
                <a:latin typeface="楷体" panose="02010609060101010101" pitchFamily="49" charset="-122"/>
                <a:ea typeface="楷体" panose="02010609060101010101" pitchFamily="49" charset="-122"/>
              </a:rPr>
              <a:t>都在同一个类</a:t>
            </a:r>
            <a:r>
              <a:rPr lang="en-US" altLang="zh-CN" sz="2400" dirty="0">
                <a:latin typeface="楷体" panose="02010609060101010101" pitchFamily="49" charset="-122"/>
                <a:ea typeface="楷体" panose="02010609060101010101" pitchFamily="49" charset="-122"/>
              </a:rPr>
              <a:t>C </a:t>
            </a:r>
            <a:r>
              <a:rPr lang="zh-CN" altLang="zh-CN" sz="2400" dirty="0">
                <a:latin typeface="楷体" panose="02010609060101010101" pitchFamily="49" charset="-122"/>
                <a:ea typeface="楷体" panose="02010609060101010101" pitchFamily="49" charset="-122"/>
              </a:rPr>
              <a:t>则返回</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作为叶结点，以类</a:t>
            </a:r>
            <a:r>
              <a:rPr lang="en-US" altLang="zh-CN" sz="2400" dirty="0">
                <a:latin typeface="楷体" panose="02010609060101010101" pitchFamily="49" charset="-122"/>
                <a:ea typeface="楷体" panose="02010609060101010101" pitchFamily="49" charset="-122"/>
              </a:rPr>
              <a:t>C</a:t>
            </a:r>
            <a:r>
              <a:rPr lang="zh-CN" altLang="zh-CN" sz="2400" dirty="0">
                <a:latin typeface="楷体" panose="02010609060101010101" pitchFamily="49" charset="-122"/>
                <a:ea typeface="楷体" panose="02010609060101010101" pitchFamily="49" charset="-122"/>
              </a:rPr>
              <a:t>标记，程序结束；</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如果</a:t>
            </a:r>
            <a:r>
              <a:rPr lang="en-US" altLang="zh-CN" sz="2400" dirty="0" err="1">
                <a:latin typeface="楷体" panose="02010609060101010101" pitchFamily="49" charset="-122"/>
                <a:ea typeface="楷体" panose="02010609060101010101" pitchFamily="49" charset="-122"/>
              </a:rPr>
              <a:t>attribute_list</a:t>
            </a:r>
            <a:r>
              <a:rPr lang="zh-CN" altLang="zh-CN" sz="2400" dirty="0">
                <a:latin typeface="楷体" panose="02010609060101010101" pitchFamily="49" charset="-122"/>
                <a:ea typeface="楷体" panose="02010609060101010101" pitchFamily="49" charset="-122"/>
              </a:rPr>
              <a:t>为空，则返回</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作为叶结点，标记为</a:t>
            </a:r>
            <a:r>
              <a:rPr lang="en-US" altLang="zh-CN" sz="2400" dirty="0">
                <a:latin typeface="楷体" panose="02010609060101010101" pitchFamily="49" charset="-122"/>
                <a:ea typeface="楷体" panose="02010609060101010101" pitchFamily="49" charset="-122"/>
              </a:rPr>
              <a:t>samples</a:t>
            </a:r>
            <a:r>
              <a:rPr lang="zh-CN" altLang="zh-CN" sz="2400" dirty="0">
                <a:latin typeface="楷体" panose="02010609060101010101" pitchFamily="49" charset="-122"/>
                <a:ea typeface="楷体" panose="02010609060101010101" pitchFamily="49" charset="-122"/>
              </a:rPr>
              <a:t>中最普通的类，程序结束； </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(4)</a:t>
            </a:r>
            <a:r>
              <a:rPr lang="zh-CN" altLang="zh-CN" sz="2400" b="1" dirty="0">
                <a:solidFill>
                  <a:srgbClr val="C00000"/>
                </a:solidFill>
                <a:latin typeface="楷体" panose="02010609060101010101" pitchFamily="49" charset="-122"/>
                <a:ea typeface="楷体" panose="02010609060101010101" pitchFamily="49" charset="-122"/>
              </a:rPr>
              <a:t>选择</a:t>
            </a:r>
            <a:r>
              <a:rPr lang="en-US" altLang="zh-CN" sz="2400" b="1" dirty="0" err="1">
                <a:solidFill>
                  <a:srgbClr val="C00000"/>
                </a:solidFill>
                <a:latin typeface="楷体" panose="02010609060101010101" pitchFamily="49" charset="-122"/>
                <a:ea typeface="楷体" panose="02010609060101010101" pitchFamily="49" charset="-122"/>
              </a:rPr>
              <a:t>attribute_list</a:t>
            </a:r>
            <a:r>
              <a:rPr lang="zh-CN" altLang="zh-CN" sz="2400" b="1" dirty="0">
                <a:solidFill>
                  <a:srgbClr val="C00000"/>
                </a:solidFill>
                <a:latin typeface="楷体" panose="02010609060101010101" pitchFamily="49" charset="-122"/>
                <a:ea typeface="楷体" panose="02010609060101010101" pitchFamily="49" charset="-122"/>
              </a:rPr>
              <a:t>中具有最高信息增益的属性</a:t>
            </a:r>
            <a:r>
              <a:rPr lang="en-US" altLang="zh-CN" sz="2400" b="1" dirty="0" err="1">
                <a:solidFill>
                  <a:srgbClr val="C00000"/>
                </a:solidFill>
                <a:latin typeface="楷体" panose="02010609060101010101" pitchFamily="49" charset="-122"/>
                <a:ea typeface="楷体" panose="02010609060101010101" pitchFamily="49" charset="-122"/>
              </a:rPr>
              <a:t>test_attribute</a:t>
            </a:r>
            <a:r>
              <a:rPr lang="zh-CN" altLang="zh-CN" sz="2400" b="1" dirty="0">
                <a:solidFill>
                  <a:srgbClr val="C00000"/>
                </a:solidFill>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(5)</a:t>
            </a:r>
            <a:r>
              <a:rPr lang="zh-CN" altLang="zh-CN" sz="2400" dirty="0">
                <a:latin typeface="楷体" panose="02010609060101010101" pitchFamily="49" charset="-122"/>
                <a:ea typeface="楷体" panose="02010609060101010101" pitchFamily="49" charset="-122"/>
              </a:rPr>
              <a:t>标记结点</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为</a:t>
            </a:r>
            <a:r>
              <a:rPr lang="en-US" altLang="zh-CN" sz="2400" dirty="0" err="1">
                <a:latin typeface="楷体" panose="02010609060101010101" pitchFamily="49" charset="-122"/>
                <a:ea typeface="楷体" panose="02010609060101010101" pitchFamily="49" charset="-122"/>
              </a:rPr>
              <a:t>test_attribute</a:t>
            </a:r>
            <a:r>
              <a:rPr lang="zh-CN" altLang="zh-CN"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(6)</a:t>
            </a:r>
            <a:r>
              <a:rPr lang="zh-CN" altLang="zh-CN" sz="2400" dirty="0">
                <a:latin typeface="楷体" panose="02010609060101010101" pitchFamily="49" charset="-122"/>
                <a:ea typeface="楷体" panose="02010609060101010101" pitchFamily="49" charset="-122"/>
              </a:rPr>
              <a:t>对于</a:t>
            </a:r>
            <a:r>
              <a:rPr lang="en-US" altLang="zh-CN" sz="2400" dirty="0" err="1">
                <a:latin typeface="楷体" panose="02010609060101010101" pitchFamily="49" charset="-122"/>
                <a:ea typeface="楷体" panose="02010609060101010101" pitchFamily="49" charset="-122"/>
              </a:rPr>
              <a:t>test_attribute</a:t>
            </a:r>
            <a:r>
              <a:rPr lang="zh-CN" altLang="zh-CN" sz="2400" dirty="0">
                <a:latin typeface="楷体" panose="02010609060101010101" pitchFamily="49" charset="-122"/>
                <a:ea typeface="楷体" panose="02010609060101010101" pitchFamily="49" charset="-122"/>
              </a:rPr>
              <a:t>中的每一个已知值</a:t>
            </a:r>
            <a:r>
              <a:rPr lang="en-US" altLang="zh-CN" sz="2400" dirty="0">
                <a:latin typeface="楷体" panose="02010609060101010101" pitchFamily="49" charset="-122"/>
                <a:ea typeface="楷体" panose="02010609060101010101" pitchFamily="49" charset="-122"/>
              </a:rPr>
              <a:t>a</a:t>
            </a:r>
            <a:r>
              <a:rPr lang="en-US" altLang="zh-CN" sz="2400" baseline="-25000" dirty="0">
                <a:latin typeface="楷体" panose="02010609060101010101" pitchFamily="49" charset="-122"/>
                <a:ea typeface="楷体" panose="02010609060101010101" pitchFamily="49" charset="-122"/>
              </a:rPr>
              <a:t>i</a:t>
            </a:r>
            <a:r>
              <a:rPr lang="zh-CN" altLang="zh-CN" sz="2400" dirty="0">
                <a:latin typeface="楷体" panose="02010609060101010101" pitchFamily="49" charset="-122"/>
                <a:ea typeface="楷体" panose="02010609060101010101" pitchFamily="49" charset="-122"/>
              </a:rPr>
              <a:t>，由结点</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生长出一个条件为</a:t>
            </a:r>
            <a:r>
              <a:rPr lang="en-US" altLang="zh-CN" sz="2400" dirty="0" err="1">
                <a:latin typeface="楷体" panose="02010609060101010101" pitchFamily="49" charset="-122"/>
                <a:ea typeface="楷体" panose="02010609060101010101" pitchFamily="49" charset="-122"/>
              </a:rPr>
              <a:t>test_attribute</a:t>
            </a:r>
            <a:r>
              <a:rPr lang="en-US" altLang="zh-CN" sz="2400" dirty="0">
                <a:latin typeface="楷体" panose="02010609060101010101" pitchFamily="49" charset="-122"/>
                <a:ea typeface="楷体" panose="02010609060101010101" pitchFamily="49" charset="-122"/>
              </a:rPr>
              <a:t>=a</a:t>
            </a:r>
            <a:r>
              <a:rPr lang="en-US" altLang="zh-CN" sz="2400" baseline="-25000" dirty="0">
                <a:latin typeface="楷体" panose="02010609060101010101" pitchFamily="49" charset="-122"/>
                <a:ea typeface="楷体" panose="02010609060101010101" pitchFamily="49" charset="-122"/>
              </a:rPr>
              <a:t>i</a:t>
            </a:r>
            <a:r>
              <a:rPr lang="zh-CN" altLang="zh-CN" sz="2400" dirty="0">
                <a:latin typeface="楷体" panose="02010609060101010101" pitchFamily="49" charset="-122"/>
                <a:ea typeface="楷体" panose="02010609060101010101" pitchFamily="49" charset="-122"/>
              </a:rPr>
              <a:t>的分枝；</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(7)</a:t>
            </a:r>
            <a:r>
              <a:rPr lang="zh-CN" altLang="zh-CN" sz="2400" dirty="0">
                <a:latin typeface="楷体" panose="02010609060101010101" pitchFamily="49" charset="-122"/>
                <a:ea typeface="楷体" panose="02010609060101010101" pitchFamily="49" charset="-122"/>
              </a:rPr>
              <a:t>设</a:t>
            </a:r>
            <a:r>
              <a:rPr lang="en-US" altLang="zh-CN" sz="2400" dirty="0" err="1">
                <a:latin typeface="楷体" panose="02010609060101010101" pitchFamily="49" charset="-122"/>
                <a:ea typeface="楷体" panose="02010609060101010101" pitchFamily="49" charset="-122"/>
              </a:rPr>
              <a:t>s</a:t>
            </a:r>
            <a:r>
              <a:rPr lang="en-US" altLang="zh-CN" sz="2400" baseline="-25000" dirty="0" err="1">
                <a:latin typeface="楷体" panose="02010609060101010101" pitchFamily="49" charset="-122"/>
                <a:ea typeface="楷体" panose="02010609060101010101" pitchFamily="49" charset="-122"/>
              </a:rPr>
              <a:t>i</a:t>
            </a:r>
            <a:r>
              <a:rPr lang="zh-CN" altLang="zh-CN" sz="2400" dirty="0">
                <a:latin typeface="楷体" panose="02010609060101010101" pitchFamily="49" charset="-122"/>
                <a:ea typeface="楷体" panose="02010609060101010101" pitchFamily="49" charset="-122"/>
              </a:rPr>
              <a:t>是</a:t>
            </a:r>
            <a:r>
              <a:rPr lang="en-US" altLang="zh-CN" sz="2400" dirty="0">
                <a:latin typeface="楷体" panose="02010609060101010101" pitchFamily="49" charset="-122"/>
                <a:ea typeface="楷体" panose="02010609060101010101" pitchFamily="49" charset="-122"/>
              </a:rPr>
              <a:t>samples</a:t>
            </a:r>
            <a:r>
              <a:rPr lang="zh-CN" altLang="zh-CN" sz="2400" dirty="0">
                <a:latin typeface="楷体" panose="02010609060101010101" pitchFamily="49" charset="-122"/>
                <a:ea typeface="楷体" panose="02010609060101010101" pitchFamily="49" charset="-122"/>
              </a:rPr>
              <a:t>中</a:t>
            </a:r>
            <a:r>
              <a:rPr lang="en-US" altLang="zh-CN" sz="2400" dirty="0" err="1">
                <a:latin typeface="楷体" panose="02010609060101010101" pitchFamily="49" charset="-122"/>
                <a:ea typeface="楷体" panose="02010609060101010101" pitchFamily="49" charset="-122"/>
              </a:rPr>
              <a:t>test_attribute</a:t>
            </a:r>
            <a:r>
              <a:rPr lang="en-US" altLang="zh-CN" sz="2400" dirty="0">
                <a:latin typeface="楷体" panose="02010609060101010101" pitchFamily="49" charset="-122"/>
                <a:ea typeface="楷体" panose="02010609060101010101" pitchFamily="49" charset="-122"/>
              </a:rPr>
              <a:t>=a</a:t>
            </a:r>
            <a:r>
              <a:rPr lang="en-US" altLang="zh-CN" sz="2400" baseline="-25000" dirty="0">
                <a:latin typeface="楷体" panose="02010609060101010101" pitchFamily="49" charset="-122"/>
                <a:ea typeface="楷体" panose="02010609060101010101" pitchFamily="49" charset="-122"/>
              </a:rPr>
              <a:t>i</a:t>
            </a:r>
            <a:r>
              <a:rPr lang="zh-CN" altLang="zh-CN" sz="2400" dirty="0">
                <a:latin typeface="楷体" panose="02010609060101010101" pitchFamily="49" charset="-122"/>
                <a:ea typeface="楷体" panose="02010609060101010101" pitchFamily="49" charset="-122"/>
              </a:rPr>
              <a:t>的样本的集合，如果</a:t>
            </a:r>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s</a:t>
            </a:r>
            <a:r>
              <a:rPr lang="en-US" altLang="zh-CN" sz="2400" baseline="-25000" dirty="0" err="1">
                <a:latin typeface="楷体" panose="02010609060101010101" pitchFamily="49" charset="-122"/>
                <a:ea typeface="楷体" panose="02010609060101010101" pitchFamily="49" charset="-122"/>
              </a:rPr>
              <a:t>i</a:t>
            </a:r>
            <a:r>
              <a:rPr lang="zh-CN" altLang="zh-CN" sz="2400" dirty="0">
                <a:latin typeface="楷体" panose="02010609060101010101" pitchFamily="49" charset="-122"/>
                <a:ea typeface="楷体" panose="02010609060101010101" pitchFamily="49" charset="-122"/>
              </a:rPr>
              <a:t>为空则加上一个树叶，标记为</a:t>
            </a:r>
            <a:r>
              <a:rPr lang="en-US" altLang="zh-CN" sz="2400" dirty="0">
                <a:latin typeface="楷体" panose="02010609060101010101" pitchFamily="49" charset="-122"/>
                <a:ea typeface="楷体" panose="02010609060101010101" pitchFamily="49" charset="-122"/>
              </a:rPr>
              <a:t>samples</a:t>
            </a:r>
            <a:r>
              <a:rPr lang="zh-CN" altLang="zh-CN" sz="2400" dirty="0">
                <a:latin typeface="楷体" panose="02010609060101010101" pitchFamily="49" charset="-122"/>
                <a:ea typeface="楷体" panose="02010609060101010101" pitchFamily="49" charset="-122"/>
              </a:rPr>
              <a:t>中最普通的类，否则加上一个由</a:t>
            </a:r>
            <a:r>
              <a:rPr lang="en-US" altLang="zh-CN" sz="2400" b="1" dirty="0" err="1">
                <a:solidFill>
                  <a:srgbClr val="C00000"/>
                </a:solidFill>
                <a:latin typeface="楷体" panose="02010609060101010101" pitchFamily="49" charset="-122"/>
                <a:ea typeface="楷体" panose="02010609060101010101" pitchFamily="49" charset="-122"/>
              </a:rPr>
              <a:t>Generate_decision_tree</a:t>
            </a:r>
            <a:r>
              <a:rPr lang="zh-CN" altLang="zh-CN" sz="2400" b="1" dirty="0">
                <a:solidFill>
                  <a:srgbClr val="C00000"/>
                </a:solidFill>
                <a:latin typeface="楷体" panose="02010609060101010101" pitchFamily="49" charset="-122"/>
                <a:ea typeface="楷体" panose="02010609060101010101" pitchFamily="49" charset="-122"/>
              </a:rPr>
              <a:t>（</a:t>
            </a:r>
            <a:r>
              <a:rPr lang="en-US" altLang="zh-CN" sz="2400" b="1" dirty="0" err="1">
                <a:solidFill>
                  <a:srgbClr val="C00000"/>
                </a:solidFill>
                <a:latin typeface="楷体" panose="02010609060101010101" pitchFamily="49" charset="-122"/>
                <a:ea typeface="楷体" panose="02010609060101010101" pitchFamily="49" charset="-122"/>
              </a:rPr>
              <a:t>s</a:t>
            </a:r>
            <a:r>
              <a:rPr lang="en-US" altLang="zh-CN" sz="2400" b="1" baseline="-25000" dirty="0" err="1">
                <a:solidFill>
                  <a:srgbClr val="C00000"/>
                </a:solidFill>
                <a:latin typeface="楷体" panose="02010609060101010101" pitchFamily="49" charset="-122"/>
                <a:ea typeface="楷体" panose="02010609060101010101" pitchFamily="49" charset="-122"/>
              </a:rPr>
              <a:t>i</a:t>
            </a:r>
            <a:r>
              <a:rPr lang="zh-CN" altLang="zh-CN" sz="2400" b="1" dirty="0">
                <a:solidFill>
                  <a:srgbClr val="C00000"/>
                </a:solidFill>
                <a:latin typeface="楷体" panose="02010609060101010101" pitchFamily="49" charset="-122"/>
                <a:ea typeface="楷体" panose="02010609060101010101" pitchFamily="49" charset="-122"/>
              </a:rPr>
              <a:t>，</a:t>
            </a:r>
            <a:r>
              <a:rPr lang="en-US" altLang="zh-CN" sz="2400" b="1" dirty="0" err="1">
                <a:solidFill>
                  <a:srgbClr val="C00000"/>
                </a:solidFill>
                <a:latin typeface="楷体" panose="02010609060101010101" pitchFamily="49" charset="-122"/>
                <a:ea typeface="楷体" panose="02010609060101010101" pitchFamily="49" charset="-122"/>
              </a:rPr>
              <a:t>attribute_list-test_attribute</a:t>
            </a:r>
            <a:r>
              <a:rPr lang="zh-CN" altLang="zh-CN" sz="2400" b="1" dirty="0">
                <a:solidFill>
                  <a:srgbClr val="C00000"/>
                </a:solidFill>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返回的结点。</a:t>
            </a:r>
            <a:endParaRPr lang="zh-CN" altLang="zh-CN" sz="2400" dirty="0">
              <a:latin typeface="楷体" panose="02010609060101010101" pitchFamily="49" charset="-122"/>
              <a:ea typeface="楷体" panose="02010609060101010101" pitchFamily="49" charset="-122"/>
            </a:endParaRPr>
          </a:p>
          <a:p>
            <a:pPr marL="0" indent="0">
              <a:buNone/>
            </a:pPr>
            <a:endParaRPr lang="zh-CN" altLang="zh-CN" sz="2000" dirty="0">
              <a:latin typeface="楷体" panose="02010609060101010101" pitchFamily="49" charset="-122"/>
              <a:ea typeface="楷体" panose="02010609060101010101" pitchFamily="49" charset="-122"/>
            </a:endParaRPr>
          </a:p>
          <a:p>
            <a:pPr marL="0" indent="0">
              <a:buNone/>
            </a:pPr>
            <a:endParaRPr lang="zh-CN" altLang="zh-CN" sz="2000" dirty="0">
              <a:latin typeface="楷体" panose="02010609060101010101" pitchFamily="49" charset="-122"/>
              <a:ea typeface="楷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91285" y="618490"/>
            <a:ext cx="10306050" cy="5361940"/>
          </a:xfrm>
        </p:spPr>
        <p:txBody>
          <a:bodyPr>
            <a:normAutofit lnSpcReduction="20000"/>
          </a:bodyPr>
          <a:lstStyle/>
          <a:p>
            <a:r>
              <a:rPr lang="zh-CN" altLang="zh-CN" sz="2400" dirty="0">
                <a:latin typeface="楷体" panose="02010609060101010101" pitchFamily="49" charset="-122"/>
                <a:ea typeface="楷体" panose="02010609060101010101" pitchFamily="49" charset="-122"/>
              </a:rPr>
              <a:t>以代表训练样本的单个结点开始构建树（对应算法</a:t>
            </a:r>
            <a:r>
              <a:rPr lang="en-US" altLang="zh-CN" sz="2400" dirty="0">
                <a:latin typeface="楷体" panose="02010609060101010101" pitchFamily="49" charset="-122"/>
                <a:ea typeface="楷体" panose="02010609060101010101" pitchFamily="49" charset="-122"/>
              </a:rPr>
              <a:t>4.1</a:t>
            </a:r>
            <a:r>
              <a:rPr lang="zh-CN" altLang="zh-CN" sz="2400" dirty="0">
                <a:latin typeface="楷体" panose="02010609060101010101" pitchFamily="49" charset="-122"/>
                <a:ea typeface="楷体" panose="02010609060101010101" pitchFamily="49" charset="-122"/>
              </a:rPr>
              <a:t>的步骤（</a:t>
            </a:r>
            <a:r>
              <a:rPr lang="en-US" altLang="zh-CN" sz="2400" dirty="0">
                <a:latin typeface="楷体" panose="02010609060101010101" pitchFamily="49" charset="-122"/>
                <a:ea typeface="楷体" panose="02010609060101010101" pitchFamily="49" charset="-122"/>
              </a:rPr>
              <a:t>1</a:t>
            </a:r>
            <a:r>
              <a:rPr lang="zh-CN" altLang="zh-CN" sz="2400" dirty="0">
                <a:latin typeface="楷体" panose="02010609060101010101" pitchFamily="49" charset="-122"/>
                <a:ea typeface="楷体" panose="02010609060101010101" pitchFamily="49" charset="-122"/>
              </a:rPr>
              <a:t>））；如果样本都在同一个类，则该结点成为树叶，并使用该类标记（步骤（</a:t>
            </a: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）），否则，算法使用称为信息增益的度量作为启发信息，选择能够最好地将样本分类的属性（步骤（</a:t>
            </a:r>
            <a:r>
              <a:rPr lang="en-US" altLang="zh-CN" sz="2400" dirty="0">
                <a:latin typeface="楷体" panose="02010609060101010101" pitchFamily="49" charset="-122"/>
                <a:ea typeface="楷体" panose="02010609060101010101" pitchFamily="49" charset="-122"/>
              </a:rPr>
              <a:t>4</a:t>
            </a:r>
            <a:r>
              <a:rPr lang="zh-CN" altLang="zh-CN" sz="2400" dirty="0">
                <a:latin typeface="楷体" panose="02010609060101010101" pitchFamily="49" charset="-122"/>
                <a:ea typeface="楷体" panose="02010609060101010101" pitchFamily="49" charset="-122"/>
              </a:rPr>
              <a:t>）），该属性成为该结点的“测试”或“判定”属性（步骤（</a:t>
            </a:r>
            <a:r>
              <a:rPr lang="en-US" altLang="zh-CN" sz="2400" dirty="0">
                <a:latin typeface="楷体" panose="02010609060101010101" pitchFamily="49" charset="-122"/>
                <a:ea typeface="楷体" panose="02010609060101010101" pitchFamily="49" charset="-122"/>
              </a:rPr>
              <a:t>5</a:t>
            </a:r>
            <a:r>
              <a:rPr lang="zh-CN" altLang="zh-CN" sz="2400" dirty="0">
                <a:latin typeface="楷体" panose="02010609060101010101" pitchFamily="49" charset="-122"/>
                <a:ea typeface="楷体" panose="02010609060101010101" pitchFamily="49" charset="-122"/>
              </a:rPr>
              <a:t>））。值得注意的是，在这类算法中，所有的属性都是取离散值的，如果是连续值的属性必须离散化。对测试属性的每个已知的值，创建一个分支，并据此划分样本（步骤（</a:t>
            </a:r>
            <a:r>
              <a:rPr lang="en-US" altLang="zh-CN" sz="2400" dirty="0">
                <a:latin typeface="楷体" panose="02010609060101010101" pitchFamily="49" charset="-122"/>
                <a:ea typeface="楷体" panose="02010609060101010101" pitchFamily="49" charset="-122"/>
              </a:rPr>
              <a:t>6</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7</a:t>
            </a:r>
            <a:r>
              <a:rPr lang="zh-CN" altLang="zh-CN" sz="2400" dirty="0">
                <a:latin typeface="楷体" panose="02010609060101010101" pitchFamily="49" charset="-122"/>
                <a:ea typeface="楷体" panose="02010609060101010101" pitchFamily="49" charset="-122"/>
              </a:rPr>
              <a:t>））。算法使用同样的过程，递归地形成每个划分上的样本决策树，一旦一个属性出现在一个结点上，就不必考虑该结点的任何后代（步骤（</a:t>
            </a:r>
            <a:r>
              <a:rPr lang="en-US" altLang="zh-CN" sz="2400" dirty="0">
                <a:latin typeface="楷体" panose="02010609060101010101" pitchFamily="49" charset="-122"/>
                <a:ea typeface="楷体" panose="02010609060101010101" pitchFamily="49" charset="-122"/>
              </a:rPr>
              <a:t>7</a:t>
            </a:r>
            <a:r>
              <a:rPr lang="zh-CN" altLang="zh-CN" sz="2400" dirty="0">
                <a:latin typeface="楷体" panose="02010609060101010101" pitchFamily="49" charset="-122"/>
                <a:ea typeface="楷体" panose="02010609060101010101" pitchFamily="49" charset="-122"/>
              </a:rPr>
              <a:t>）），递归划分步骤，当下列条件之一成立时停止。</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(1)</a:t>
            </a:r>
            <a:r>
              <a:rPr lang="zh-CN" altLang="zh-CN" sz="2400" dirty="0">
                <a:latin typeface="楷体" panose="02010609060101010101" pitchFamily="49" charset="-122"/>
                <a:ea typeface="楷体" panose="02010609060101010101" pitchFamily="49" charset="-122"/>
              </a:rPr>
              <a:t>给定结点的所有样本属于同一类（步骤（</a:t>
            </a: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没有剩余属性可以用来进一步划分样本，采用多数表决（步骤（</a:t>
            </a: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））。这涉及将给定的结点转换成树叶，并用</a:t>
            </a:r>
            <a:r>
              <a:rPr lang="en-US" altLang="zh-CN" sz="2400" dirty="0">
                <a:latin typeface="楷体" panose="02010609060101010101" pitchFamily="49" charset="-122"/>
                <a:ea typeface="楷体" panose="02010609060101010101" pitchFamily="49" charset="-122"/>
              </a:rPr>
              <a:t>samples</a:t>
            </a:r>
            <a:r>
              <a:rPr lang="zh-CN" altLang="zh-CN" sz="2400" dirty="0">
                <a:latin typeface="楷体" panose="02010609060101010101" pitchFamily="49" charset="-122"/>
                <a:ea typeface="楷体" panose="02010609060101010101" pitchFamily="49" charset="-122"/>
              </a:rPr>
              <a:t>中的多数所在的类别标记它，另一种方式是可以存放结点样本的分布。</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分支</a:t>
            </a:r>
            <a:r>
              <a:rPr lang="en-US" altLang="zh-CN" sz="2400" dirty="0" err="1">
                <a:latin typeface="楷体" panose="02010609060101010101" pitchFamily="49" charset="-122"/>
                <a:ea typeface="楷体" panose="02010609060101010101" pitchFamily="49" charset="-122"/>
              </a:rPr>
              <a:t>test_attribute</a:t>
            </a:r>
            <a:r>
              <a:rPr lang="en-US" altLang="zh-CN" sz="2400" dirty="0">
                <a:latin typeface="楷体" panose="02010609060101010101" pitchFamily="49" charset="-122"/>
                <a:ea typeface="楷体" panose="02010609060101010101" pitchFamily="49" charset="-122"/>
              </a:rPr>
              <a:t>=a</a:t>
            </a:r>
            <a:r>
              <a:rPr lang="en-US" altLang="zh-CN" sz="2400" baseline="-25000" dirty="0">
                <a:latin typeface="楷体" panose="02010609060101010101" pitchFamily="49" charset="-122"/>
                <a:ea typeface="楷体" panose="02010609060101010101" pitchFamily="49" charset="-122"/>
              </a:rPr>
              <a:t>i</a:t>
            </a:r>
            <a:r>
              <a:rPr lang="zh-CN" altLang="zh-CN" sz="2400" dirty="0">
                <a:latin typeface="楷体" panose="02010609060101010101" pitchFamily="49" charset="-122"/>
                <a:ea typeface="楷体" panose="02010609060101010101" pitchFamily="49" charset="-122"/>
              </a:rPr>
              <a:t>没有样本。在这种情况下，以</a:t>
            </a:r>
            <a:r>
              <a:rPr lang="en-US" altLang="zh-CN" sz="2400" dirty="0">
                <a:latin typeface="楷体" panose="02010609060101010101" pitchFamily="49" charset="-122"/>
                <a:ea typeface="楷体" panose="02010609060101010101" pitchFamily="49" charset="-122"/>
              </a:rPr>
              <a:t>samples</a:t>
            </a:r>
            <a:r>
              <a:rPr lang="zh-CN" altLang="zh-CN" sz="2400" dirty="0">
                <a:latin typeface="楷体" panose="02010609060101010101" pitchFamily="49" charset="-122"/>
                <a:ea typeface="楷体" panose="02010609060101010101" pitchFamily="49" charset="-122"/>
              </a:rPr>
              <a:t>中的多数类创建一个树叶（步骤（</a:t>
            </a:r>
            <a:r>
              <a:rPr lang="en-US" altLang="zh-CN" sz="2400" dirty="0">
                <a:latin typeface="楷体" panose="02010609060101010101" pitchFamily="49" charset="-122"/>
                <a:ea typeface="楷体" panose="02010609060101010101" pitchFamily="49" charset="-122"/>
              </a:rPr>
              <a:t>7</a:t>
            </a:r>
            <a:r>
              <a:rPr lang="zh-CN" altLang="zh-CN"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marL="0" indent="0">
              <a:buNone/>
            </a:pPr>
            <a:endParaRPr lang="zh-CN" altLang="zh-CN"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0" name="组合 59"/>
          <p:cNvGrpSpPr/>
          <p:nvPr/>
        </p:nvGrpSpPr>
        <p:grpSpPr>
          <a:xfrm>
            <a:off x="398780" y="361950"/>
            <a:ext cx="5120005" cy="6132830"/>
            <a:chOff x="2834" y="676"/>
            <a:chExt cx="8718" cy="9618"/>
          </a:xfrm>
        </p:grpSpPr>
        <p:pic>
          <p:nvPicPr>
            <p:cNvPr id="61" name="图片 60"/>
            <p:cNvPicPr>
              <a:picLocks noChangeAspect="1"/>
            </p:cNvPicPr>
            <p:nvPr/>
          </p:nvPicPr>
          <p:blipFill>
            <a:blip r:embed="rId1"/>
            <a:srcRect l="8352" t="31818" r="64461" b="14847"/>
            <a:stretch>
              <a:fillRect/>
            </a:stretch>
          </p:blipFill>
          <p:spPr>
            <a:xfrm>
              <a:off x="2834" y="676"/>
              <a:ext cx="8718" cy="9619"/>
            </a:xfrm>
            <a:prstGeom prst="rect">
              <a:avLst/>
            </a:prstGeom>
          </p:spPr>
        </p:pic>
        <p:pic>
          <p:nvPicPr>
            <p:cNvPr id="62" name="图片 61"/>
            <p:cNvPicPr>
              <a:picLocks noChangeAspect="1"/>
            </p:cNvPicPr>
            <p:nvPr/>
          </p:nvPicPr>
          <p:blipFill>
            <a:blip r:embed="rId1"/>
            <a:srcRect l="26552" t="77834" r="65294" b="19344"/>
            <a:stretch>
              <a:fillRect/>
            </a:stretch>
          </p:blipFill>
          <p:spPr>
            <a:xfrm>
              <a:off x="8717" y="9532"/>
              <a:ext cx="2615" cy="509"/>
            </a:xfrm>
            <a:prstGeom prst="rect">
              <a:avLst/>
            </a:prstGeom>
          </p:spPr>
        </p:pic>
      </p:grpSp>
      <p:sp>
        <p:nvSpPr>
          <p:cNvPr id="5" name="矩形 4"/>
          <p:cNvSpPr/>
          <p:nvPr/>
        </p:nvSpPr>
        <p:spPr>
          <a:xfrm>
            <a:off x="6029325" y="708025"/>
            <a:ext cx="1068070" cy="44196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a:t>
            </a:r>
            <a:endParaRPr lang="zh-CN" altLang="en-US"/>
          </a:p>
        </p:txBody>
      </p:sp>
      <p:sp>
        <p:nvSpPr>
          <p:cNvPr id="12" name="右箭头 11"/>
          <p:cNvSpPr/>
          <p:nvPr/>
        </p:nvSpPr>
        <p:spPr>
          <a:xfrm>
            <a:off x="7659370" y="1125855"/>
            <a:ext cx="1271905" cy="237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7733665" y="370840"/>
            <a:ext cx="1088390" cy="1476375"/>
          </a:xfrm>
          <a:prstGeom prst="rect">
            <a:avLst/>
          </a:prstGeom>
          <a:noFill/>
        </p:spPr>
        <p:txBody>
          <a:bodyPr wrap="square" rtlCol="0">
            <a:spAutoFit/>
          </a:bodyPr>
          <a:p>
            <a:r>
              <a:rPr lang="zh-CN" altLang="en-US"/>
              <a:t>并非所有样本同类，</a:t>
            </a:r>
            <a:endParaRPr lang="zh-CN" altLang="en-US"/>
          </a:p>
          <a:p>
            <a:r>
              <a:rPr lang="zh-CN" altLang="en-US"/>
              <a:t>选择</a:t>
            </a:r>
            <a:r>
              <a:rPr lang="en-US" altLang="zh-CN"/>
              <a:t>“</a:t>
            </a:r>
            <a:r>
              <a:rPr lang="zh-CN" altLang="en-US"/>
              <a:t>年龄</a:t>
            </a:r>
            <a:r>
              <a:rPr lang="en-US" altLang="zh-CN"/>
              <a:t>”</a:t>
            </a:r>
            <a:r>
              <a:rPr lang="zh-CN" altLang="en-US"/>
              <a:t>属性</a:t>
            </a:r>
            <a:endParaRPr lang="zh-CN" altLang="en-US"/>
          </a:p>
        </p:txBody>
      </p:sp>
      <p:grpSp>
        <p:nvGrpSpPr>
          <p:cNvPr id="56" name="组合 55"/>
          <p:cNvGrpSpPr/>
          <p:nvPr/>
        </p:nvGrpSpPr>
        <p:grpSpPr>
          <a:xfrm>
            <a:off x="8618855" y="708025"/>
            <a:ext cx="3590925" cy="2202180"/>
            <a:chOff x="13573" y="1115"/>
            <a:chExt cx="5655" cy="3468"/>
          </a:xfrm>
        </p:grpSpPr>
        <p:sp>
          <p:nvSpPr>
            <p:cNvPr id="4" name="矩形 3"/>
            <p:cNvSpPr/>
            <p:nvPr/>
          </p:nvSpPr>
          <p:spPr>
            <a:xfrm>
              <a:off x="15526" y="1115"/>
              <a:ext cx="2038" cy="729"/>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年龄</a:t>
              </a:r>
              <a:endParaRPr lang="zh-CN" altLang="en-US"/>
            </a:p>
          </p:txBody>
        </p:sp>
        <p:sp>
          <p:nvSpPr>
            <p:cNvPr id="9" name="矩形 8"/>
            <p:cNvSpPr/>
            <p:nvPr/>
          </p:nvSpPr>
          <p:spPr>
            <a:xfrm>
              <a:off x="14320" y="2639"/>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青</a:t>
              </a:r>
              <a:endParaRPr lang="zh-CN" altLang="en-US"/>
            </a:p>
          </p:txBody>
        </p:sp>
        <p:sp>
          <p:nvSpPr>
            <p:cNvPr id="11" name="矩形 10"/>
            <p:cNvSpPr/>
            <p:nvPr/>
          </p:nvSpPr>
          <p:spPr>
            <a:xfrm>
              <a:off x="17791" y="2639"/>
              <a:ext cx="1206" cy="796"/>
            </a:xfrm>
            <a:prstGeom prst="rect">
              <a:avLst/>
            </a:prstGeom>
            <a:ln>
              <a:solidFill>
                <a:srgbClr val="000000">
                  <a:alpha val="0"/>
                </a:srgbClr>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14" name="直接连接符 13"/>
            <p:cNvCxnSpPr>
              <a:stCxn id="4" idx="2"/>
              <a:endCxn id="9" idx="0"/>
            </p:cNvCxnSpPr>
            <p:nvPr/>
          </p:nvCxnSpPr>
          <p:spPr>
            <a:xfrm flipH="1">
              <a:off x="14923" y="1844"/>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4" idx="2"/>
              <a:endCxn id="10" idx="0"/>
            </p:cNvCxnSpPr>
            <p:nvPr/>
          </p:nvCxnSpPr>
          <p:spPr>
            <a:xfrm>
              <a:off x="16545" y="1844"/>
              <a:ext cx="120"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endCxn id="11" idx="0"/>
            </p:cNvCxnSpPr>
            <p:nvPr/>
          </p:nvCxnSpPr>
          <p:spPr>
            <a:xfrm>
              <a:off x="16629" y="1841"/>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3573" y="3234"/>
              <a:ext cx="1664" cy="1016"/>
            </a:xfrm>
            <a:prstGeom prst="rect">
              <a:avLst/>
            </a:prstGeom>
            <a:noFill/>
          </p:spPr>
          <p:txBody>
            <a:bodyPr wrap="square" rtlCol="0">
              <a:spAutoFit/>
            </a:bodyPr>
            <a:p>
              <a:r>
                <a:rPr lang="zh-CN" altLang="en-US"/>
                <a:t>买：</a:t>
              </a:r>
              <a:r>
                <a:rPr lang="en-US" altLang="zh-CN"/>
                <a:t>2</a:t>
              </a:r>
              <a:endParaRPr lang="en-US" altLang="zh-CN"/>
            </a:p>
            <a:p>
              <a:r>
                <a:rPr lang="zh-CN" altLang="en-US"/>
                <a:t>不买：</a:t>
              </a:r>
              <a:r>
                <a:rPr lang="en-US" altLang="zh-CN"/>
                <a:t>3</a:t>
              </a:r>
              <a:endParaRPr lang="en-US" altLang="zh-CN"/>
            </a:p>
          </p:txBody>
        </p:sp>
        <p:sp>
          <p:nvSpPr>
            <p:cNvPr id="25" name="文本框 24"/>
            <p:cNvSpPr txBox="1"/>
            <p:nvPr/>
          </p:nvSpPr>
          <p:spPr>
            <a:xfrm>
              <a:off x="15833" y="3435"/>
              <a:ext cx="1664" cy="1016"/>
            </a:xfrm>
            <a:prstGeom prst="rect">
              <a:avLst/>
            </a:prstGeom>
            <a:noFill/>
          </p:spPr>
          <p:txBody>
            <a:bodyPr wrap="square" rtlCol="0">
              <a:spAutoFit/>
            </a:bodyPr>
            <a:p>
              <a:r>
                <a:rPr lang="zh-CN" altLang="en-US"/>
                <a:t>买：</a:t>
              </a:r>
              <a:r>
                <a:rPr lang="en-US" altLang="zh-CN"/>
                <a:t>4</a:t>
              </a:r>
              <a:endParaRPr lang="en-US" altLang="zh-CN"/>
            </a:p>
            <a:p>
              <a:r>
                <a:rPr lang="zh-CN" altLang="en-US"/>
                <a:t>不买：</a:t>
              </a:r>
              <a:r>
                <a:rPr lang="en-US" altLang="zh-CN"/>
                <a:t>0</a:t>
              </a:r>
              <a:endParaRPr lang="en-US" altLang="zh-CN"/>
            </a:p>
          </p:txBody>
        </p:sp>
        <p:sp>
          <p:nvSpPr>
            <p:cNvPr id="33" name="文本框 32"/>
            <p:cNvSpPr txBox="1"/>
            <p:nvPr/>
          </p:nvSpPr>
          <p:spPr>
            <a:xfrm>
              <a:off x="17564" y="3567"/>
              <a:ext cx="1664" cy="1016"/>
            </a:xfrm>
            <a:prstGeom prst="rect">
              <a:avLst/>
            </a:prstGeom>
            <a:noFill/>
          </p:spPr>
          <p:txBody>
            <a:bodyPr wrap="square" rtlCol="0">
              <a:spAutoFit/>
            </a:bodyPr>
            <a:p>
              <a:r>
                <a:rPr lang="zh-CN" altLang="en-US"/>
                <a:t>买：</a:t>
              </a:r>
              <a:r>
                <a:rPr lang="en-US" altLang="zh-CN"/>
                <a:t>3</a:t>
              </a:r>
              <a:endParaRPr lang="en-US" altLang="zh-CN"/>
            </a:p>
            <a:p>
              <a:r>
                <a:rPr lang="zh-CN" altLang="en-US"/>
                <a:t>不买：</a:t>
              </a:r>
              <a:r>
                <a:rPr lang="en-US" altLang="zh-CN"/>
                <a:t>3</a:t>
              </a:r>
              <a:endParaRPr lang="en-US" altLang="zh-CN"/>
            </a:p>
          </p:txBody>
        </p:sp>
        <p:sp>
          <p:nvSpPr>
            <p:cNvPr id="35" name="矩形 34"/>
            <p:cNvSpPr/>
            <p:nvPr/>
          </p:nvSpPr>
          <p:spPr>
            <a:xfrm>
              <a:off x="16002" y="2639"/>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grpSp>
      <p:grpSp>
        <p:nvGrpSpPr>
          <p:cNvPr id="57" name="组合 56"/>
          <p:cNvGrpSpPr/>
          <p:nvPr/>
        </p:nvGrpSpPr>
        <p:grpSpPr>
          <a:xfrm>
            <a:off x="5713095" y="2080895"/>
            <a:ext cx="2969895" cy="3029585"/>
            <a:chOff x="8997" y="3277"/>
            <a:chExt cx="4677" cy="4771"/>
          </a:xfrm>
        </p:grpSpPr>
        <p:sp>
          <p:nvSpPr>
            <p:cNvPr id="26" name="矩形 25"/>
            <p:cNvSpPr/>
            <p:nvPr/>
          </p:nvSpPr>
          <p:spPr>
            <a:xfrm>
              <a:off x="10203" y="5728"/>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27" name="矩形 26"/>
            <p:cNvSpPr/>
            <p:nvPr/>
          </p:nvSpPr>
          <p:spPr>
            <a:xfrm>
              <a:off x="8997" y="7252"/>
              <a:ext cx="1206" cy="7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学生</a:t>
              </a:r>
              <a:endParaRPr lang="zh-CN" altLang="en-US"/>
            </a:p>
          </p:txBody>
        </p:sp>
        <p:sp>
          <p:nvSpPr>
            <p:cNvPr id="28" name="矩形 27"/>
            <p:cNvSpPr/>
            <p:nvPr/>
          </p:nvSpPr>
          <p:spPr>
            <a:xfrm>
              <a:off x="10619" y="7252"/>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29" name="矩形 28"/>
            <p:cNvSpPr/>
            <p:nvPr/>
          </p:nvSpPr>
          <p:spPr>
            <a:xfrm>
              <a:off x="12468" y="7252"/>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30" name="直接连接符 29"/>
            <p:cNvCxnSpPr>
              <a:stCxn id="26" idx="2"/>
              <a:endCxn id="27" idx="0"/>
            </p:cNvCxnSpPr>
            <p:nvPr/>
          </p:nvCxnSpPr>
          <p:spPr>
            <a:xfrm flipH="1">
              <a:off x="9600" y="6457"/>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6" idx="2"/>
              <a:endCxn id="28" idx="0"/>
            </p:cNvCxnSpPr>
            <p:nvPr/>
          </p:nvCxnSpPr>
          <p:spPr>
            <a:xfrm>
              <a:off x="11222" y="6457"/>
              <a:ext cx="0"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9" idx="0"/>
            </p:cNvCxnSpPr>
            <p:nvPr/>
          </p:nvCxnSpPr>
          <p:spPr>
            <a:xfrm>
              <a:off x="11306" y="6454"/>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37" name="左箭头 36"/>
            <p:cNvSpPr/>
            <p:nvPr/>
          </p:nvSpPr>
          <p:spPr>
            <a:xfrm rot="19800000">
              <a:off x="10778" y="4324"/>
              <a:ext cx="2598" cy="20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文本框 38"/>
            <p:cNvSpPr txBox="1"/>
            <p:nvPr/>
          </p:nvSpPr>
          <p:spPr>
            <a:xfrm>
              <a:off x="9156" y="3277"/>
              <a:ext cx="1867" cy="3197"/>
            </a:xfrm>
            <a:prstGeom prst="rect">
              <a:avLst/>
            </a:prstGeom>
            <a:noFill/>
          </p:spPr>
          <p:txBody>
            <a:bodyPr wrap="square" rtlCol="0">
              <a:spAutoFit/>
            </a:bodyPr>
            <a:p>
              <a:r>
                <a:rPr lang="zh-CN" altLang="en-US"/>
                <a:t>对</a:t>
              </a:r>
              <a:r>
                <a:rPr lang="en-US" altLang="zh-CN"/>
                <a:t>“</a:t>
              </a:r>
              <a:r>
                <a:rPr lang="zh-CN" altLang="en-US"/>
                <a:t>青</a:t>
              </a:r>
              <a:r>
                <a:rPr lang="en-US" altLang="zh-CN"/>
                <a:t>”</a:t>
              </a:r>
              <a:r>
                <a:rPr lang="zh-CN" altLang="en-US"/>
                <a:t>分支递归调用算法。并非所有样本同类，</a:t>
              </a:r>
              <a:r>
                <a:rPr lang="zh-CN" altLang="en-US"/>
                <a:t>选择属性</a:t>
              </a:r>
              <a:r>
                <a:rPr lang="en-US" altLang="zh-CN"/>
                <a:t>“</a:t>
              </a:r>
              <a:r>
                <a:rPr lang="zh-CN" altLang="en-US"/>
                <a:t>学生</a:t>
              </a:r>
              <a:r>
                <a:rPr lang="en-US" altLang="zh-CN"/>
                <a:t>”</a:t>
              </a:r>
              <a:endParaRPr lang="en-US" altLang="zh-CN"/>
            </a:p>
          </p:txBody>
        </p:sp>
        <p:sp>
          <p:nvSpPr>
            <p:cNvPr id="40" name="文本框 39"/>
            <p:cNvSpPr txBox="1"/>
            <p:nvPr/>
          </p:nvSpPr>
          <p:spPr>
            <a:xfrm>
              <a:off x="9334" y="6543"/>
              <a:ext cx="662" cy="580"/>
            </a:xfrm>
            <a:prstGeom prst="rect">
              <a:avLst/>
            </a:prstGeom>
            <a:noFill/>
          </p:spPr>
          <p:txBody>
            <a:bodyPr wrap="square" rtlCol="0">
              <a:spAutoFit/>
            </a:bodyPr>
            <a:p>
              <a:r>
                <a:rPr lang="zh-CN" altLang="en-US"/>
                <a:t>青</a:t>
              </a:r>
              <a:endParaRPr lang="zh-CN" altLang="en-US"/>
            </a:p>
          </p:txBody>
        </p:sp>
      </p:grpSp>
      <p:grpSp>
        <p:nvGrpSpPr>
          <p:cNvPr id="58" name="组合 57"/>
          <p:cNvGrpSpPr/>
          <p:nvPr/>
        </p:nvGrpSpPr>
        <p:grpSpPr>
          <a:xfrm>
            <a:off x="7716520" y="3615690"/>
            <a:ext cx="4568190" cy="3046095"/>
            <a:chOff x="12152" y="5694"/>
            <a:chExt cx="7194" cy="4797"/>
          </a:xfrm>
        </p:grpSpPr>
        <p:sp>
          <p:nvSpPr>
            <p:cNvPr id="41" name="矩形 40"/>
            <p:cNvSpPr/>
            <p:nvPr/>
          </p:nvSpPr>
          <p:spPr>
            <a:xfrm>
              <a:off x="15875" y="5694"/>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42" name="矩形 41"/>
            <p:cNvSpPr/>
            <p:nvPr/>
          </p:nvSpPr>
          <p:spPr>
            <a:xfrm>
              <a:off x="14669" y="7218"/>
              <a:ext cx="1206" cy="7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学生</a:t>
              </a:r>
              <a:endParaRPr lang="zh-CN" altLang="en-US"/>
            </a:p>
          </p:txBody>
        </p:sp>
        <p:sp>
          <p:nvSpPr>
            <p:cNvPr id="43" name="矩形 42"/>
            <p:cNvSpPr/>
            <p:nvPr/>
          </p:nvSpPr>
          <p:spPr>
            <a:xfrm>
              <a:off x="16291" y="7218"/>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44" name="矩形 43"/>
            <p:cNvSpPr/>
            <p:nvPr/>
          </p:nvSpPr>
          <p:spPr>
            <a:xfrm>
              <a:off x="18140" y="7218"/>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45" name="直接连接符 44"/>
            <p:cNvCxnSpPr>
              <a:stCxn id="41" idx="2"/>
              <a:endCxn id="42" idx="0"/>
            </p:cNvCxnSpPr>
            <p:nvPr/>
          </p:nvCxnSpPr>
          <p:spPr>
            <a:xfrm flipH="1">
              <a:off x="15272" y="6423"/>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1" idx="2"/>
              <a:endCxn id="43" idx="0"/>
            </p:cNvCxnSpPr>
            <p:nvPr/>
          </p:nvCxnSpPr>
          <p:spPr>
            <a:xfrm>
              <a:off x="16894" y="6423"/>
              <a:ext cx="0"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44" idx="0"/>
            </p:cNvCxnSpPr>
            <p:nvPr/>
          </p:nvCxnSpPr>
          <p:spPr>
            <a:xfrm>
              <a:off x="16978" y="6420"/>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5006" y="6509"/>
              <a:ext cx="662" cy="580"/>
            </a:xfrm>
            <a:prstGeom prst="rect">
              <a:avLst/>
            </a:prstGeom>
            <a:noFill/>
          </p:spPr>
          <p:txBody>
            <a:bodyPr wrap="square" rtlCol="0">
              <a:spAutoFit/>
            </a:bodyPr>
            <a:p>
              <a:r>
                <a:rPr lang="zh-CN" altLang="en-US"/>
                <a:t>青</a:t>
              </a:r>
              <a:endParaRPr lang="zh-CN" altLang="en-US"/>
            </a:p>
          </p:txBody>
        </p:sp>
        <p:cxnSp>
          <p:nvCxnSpPr>
            <p:cNvPr id="49" name="直接连接符 48"/>
            <p:cNvCxnSpPr/>
            <p:nvPr/>
          </p:nvCxnSpPr>
          <p:spPr>
            <a:xfrm flipH="1">
              <a:off x="13833" y="8054"/>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4902" y="8071"/>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3071" y="8679"/>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52" name="矩形 51"/>
            <p:cNvSpPr/>
            <p:nvPr/>
          </p:nvSpPr>
          <p:spPr>
            <a:xfrm>
              <a:off x="15006" y="8679"/>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53" name="文本框 52"/>
            <p:cNvSpPr txBox="1"/>
            <p:nvPr/>
          </p:nvSpPr>
          <p:spPr>
            <a:xfrm>
              <a:off x="12152" y="9226"/>
              <a:ext cx="1630" cy="1016"/>
            </a:xfrm>
            <a:prstGeom prst="rect">
              <a:avLst/>
            </a:prstGeom>
            <a:noFill/>
          </p:spPr>
          <p:txBody>
            <a:bodyPr wrap="square" rtlCol="0">
              <a:spAutoFit/>
            </a:bodyPr>
            <a:p>
              <a:r>
                <a:rPr lang="zh-CN" altLang="en-US"/>
                <a:t>买：</a:t>
              </a:r>
              <a:r>
                <a:rPr lang="en-US" altLang="zh-CN"/>
                <a:t>0</a:t>
              </a:r>
              <a:endParaRPr lang="en-US" altLang="zh-CN"/>
            </a:p>
            <a:p>
              <a:r>
                <a:rPr lang="zh-CN" altLang="en-US"/>
                <a:t>不买：</a:t>
              </a:r>
              <a:r>
                <a:rPr lang="en-US" altLang="zh-CN"/>
                <a:t>3</a:t>
              </a:r>
              <a:endParaRPr lang="en-US" altLang="zh-CN"/>
            </a:p>
          </p:txBody>
        </p:sp>
        <p:sp>
          <p:nvSpPr>
            <p:cNvPr id="54" name="文本框 53"/>
            <p:cNvSpPr txBox="1"/>
            <p:nvPr/>
          </p:nvSpPr>
          <p:spPr>
            <a:xfrm>
              <a:off x="14999" y="9475"/>
              <a:ext cx="1630" cy="1016"/>
            </a:xfrm>
            <a:prstGeom prst="rect">
              <a:avLst/>
            </a:prstGeom>
            <a:noFill/>
          </p:spPr>
          <p:txBody>
            <a:bodyPr wrap="square" rtlCol="0">
              <a:spAutoFit/>
            </a:bodyPr>
            <a:p>
              <a:r>
                <a:rPr lang="zh-CN" altLang="en-US"/>
                <a:t>买：</a:t>
              </a:r>
              <a:r>
                <a:rPr lang="en-US" altLang="zh-CN"/>
                <a:t>2</a:t>
              </a:r>
              <a:endParaRPr lang="en-US" altLang="zh-CN"/>
            </a:p>
            <a:p>
              <a:r>
                <a:rPr lang="zh-CN" altLang="en-US"/>
                <a:t>不买：</a:t>
              </a:r>
              <a:r>
                <a:rPr lang="en-US" altLang="zh-CN"/>
                <a:t>0</a:t>
              </a:r>
              <a:endParaRPr lang="en-US" altLang="zh-CN"/>
            </a:p>
          </p:txBody>
        </p:sp>
        <p:sp>
          <p:nvSpPr>
            <p:cNvPr id="55" name="右箭头 54"/>
            <p:cNvSpPr/>
            <p:nvPr/>
          </p:nvSpPr>
          <p:spPr>
            <a:xfrm>
              <a:off x="12763" y="5932"/>
              <a:ext cx="2377" cy="3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linds(horizont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blinds(horizontal)">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blinds(horizontal)">
                                      <p:cBhvr>
                                        <p:cTn id="1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 name="组合 21"/>
          <p:cNvGrpSpPr/>
          <p:nvPr/>
        </p:nvGrpSpPr>
        <p:grpSpPr>
          <a:xfrm>
            <a:off x="734060" y="151765"/>
            <a:ext cx="5029200" cy="3362325"/>
            <a:chOff x="1156" y="239"/>
            <a:chExt cx="7920" cy="5295"/>
          </a:xfrm>
        </p:grpSpPr>
        <p:sp>
          <p:nvSpPr>
            <p:cNvPr id="41" name="矩形 40"/>
            <p:cNvSpPr/>
            <p:nvPr/>
          </p:nvSpPr>
          <p:spPr>
            <a:xfrm>
              <a:off x="5605" y="737"/>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42" name="矩形 41"/>
            <p:cNvSpPr/>
            <p:nvPr/>
          </p:nvSpPr>
          <p:spPr>
            <a:xfrm>
              <a:off x="4399" y="2261"/>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43" name="矩形 42"/>
            <p:cNvSpPr/>
            <p:nvPr/>
          </p:nvSpPr>
          <p:spPr>
            <a:xfrm>
              <a:off x="6021" y="2261"/>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44" name="矩形 43"/>
            <p:cNvSpPr/>
            <p:nvPr/>
          </p:nvSpPr>
          <p:spPr>
            <a:xfrm>
              <a:off x="7870" y="2261"/>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45" name="直接连接符 44"/>
            <p:cNvCxnSpPr>
              <a:stCxn id="41" idx="2"/>
              <a:endCxn id="42" idx="0"/>
            </p:cNvCxnSpPr>
            <p:nvPr/>
          </p:nvCxnSpPr>
          <p:spPr>
            <a:xfrm flipH="1">
              <a:off x="5002" y="1466"/>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1" idx="2"/>
              <a:endCxn id="43" idx="0"/>
            </p:cNvCxnSpPr>
            <p:nvPr/>
          </p:nvCxnSpPr>
          <p:spPr>
            <a:xfrm>
              <a:off x="6624" y="1466"/>
              <a:ext cx="0"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44" idx="0"/>
            </p:cNvCxnSpPr>
            <p:nvPr/>
          </p:nvCxnSpPr>
          <p:spPr>
            <a:xfrm>
              <a:off x="6708" y="1463"/>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4736" y="1552"/>
              <a:ext cx="662" cy="580"/>
            </a:xfrm>
            <a:prstGeom prst="rect">
              <a:avLst/>
            </a:prstGeom>
            <a:noFill/>
          </p:spPr>
          <p:txBody>
            <a:bodyPr wrap="square" rtlCol="0">
              <a:spAutoFit/>
            </a:bodyPr>
            <a:p>
              <a:r>
                <a:rPr lang="zh-CN" altLang="en-US"/>
                <a:t>青</a:t>
              </a:r>
              <a:endParaRPr lang="zh-CN" altLang="en-US"/>
            </a:p>
          </p:txBody>
        </p:sp>
        <p:cxnSp>
          <p:nvCxnSpPr>
            <p:cNvPr id="49" name="直接连接符 48"/>
            <p:cNvCxnSpPr/>
            <p:nvPr/>
          </p:nvCxnSpPr>
          <p:spPr>
            <a:xfrm flipH="1">
              <a:off x="3563" y="3097"/>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4632" y="3114"/>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2835" y="3057"/>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52" name="矩形 51"/>
            <p:cNvSpPr/>
            <p:nvPr/>
          </p:nvSpPr>
          <p:spPr>
            <a:xfrm>
              <a:off x="4736" y="3722"/>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53" name="文本框 52"/>
            <p:cNvSpPr txBox="1"/>
            <p:nvPr/>
          </p:nvSpPr>
          <p:spPr>
            <a:xfrm>
              <a:off x="1205" y="2381"/>
              <a:ext cx="1630" cy="1016"/>
            </a:xfrm>
            <a:prstGeom prst="rect">
              <a:avLst/>
            </a:prstGeom>
            <a:noFill/>
          </p:spPr>
          <p:txBody>
            <a:bodyPr wrap="square" rtlCol="0">
              <a:spAutoFit/>
            </a:bodyPr>
            <a:p>
              <a:r>
                <a:rPr lang="zh-CN" altLang="en-US" b="1"/>
                <a:t>买：</a:t>
              </a:r>
              <a:r>
                <a:rPr lang="en-US" altLang="zh-CN" b="1"/>
                <a:t>0</a:t>
              </a:r>
              <a:endParaRPr lang="en-US" altLang="zh-CN" b="1"/>
            </a:p>
            <a:p>
              <a:r>
                <a:rPr lang="zh-CN" altLang="en-US" b="1"/>
                <a:t>不买：</a:t>
              </a:r>
              <a:r>
                <a:rPr lang="en-US" altLang="zh-CN" b="1"/>
                <a:t>3</a:t>
              </a:r>
              <a:endParaRPr lang="en-US" altLang="zh-CN" b="1"/>
            </a:p>
          </p:txBody>
        </p:sp>
        <p:sp>
          <p:nvSpPr>
            <p:cNvPr id="54" name="文本框 53"/>
            <p:cNvSpPr txBox="1"/>
            <p:nvPr/>
          </p:nvSpPr>
          <p:spPr>
            <a:xfrm>
              <a:off x="4729" y="4518"/>
              <a:ext cx="1630" cy="1016"/>
            </a:xfrm>
            <a:prstGeom prst="rect">
              <a:avLst/>
            </a:prstGeom>
            <a:noFill/>
          </p:spPr>
          <p:txBody>
            <a:bodyPr wrap="square" rtlCol="0">
              <a:spAutoFit/>
            </a:bodyPr>
            <a:p>
              <a:r>
                <a:rPr lang="zh-CN" altLang="en-US"/>
                <a:t>买：</a:t>
              </a:r>
              <a:r>
                <a:rPr lang="en-US" altLang="zh-CN"/>
                <a:t>2</a:t>
              </a:r>
              <a:endParaRPr lang="en-US" altLang="zh-CN"/>
            </a:p>
            <a:p>
              <a:r>
                <a:rPr lang="zh-CN" altLang="en-US"/>
                <a:t>不买：</a:t>
              </a:r>
              <a:r>
                <a:rPr lang="en-US" altLang="zh-CN"/>
                <a:t>0</a:t>
              </a:r>
              <a:endParaRPr lang="en-US" altLang="zh-CN"/>
            </a:p>
          </p:txBody>
        </p:sp>
        <p:sp>
          <p:nvSpPr>
            <p:cNvPr id="4" name="文本框 3"/>
            <p:cNvSpPr txBox="1"/>
            <p:nvPr/>
          </p:nvSpPr>
          <p:spPr>
            <a:xfrm>
              <a:off x="1156" y="239"/>
              <a:ext cx="3243" cy="1452"/>
            </a:xfrm>
            <a:prstGeom prst="rect">
              <a:avLst/>
            </a:prstGeom>
            <a:solidFill>
              <a:schemeClr val="accent2">
                <a:lumMod val="20000"/>
                <a:lumOff val="80000"/>
              </a:schemeClr>
            </a:solidFill>
          </p:spPr>
          <p:txBody>
            <a:bodyPr wrap="square" rtlCol="0">
              <a:spAutoFit/>
            </a:bodyPr>
            <a:p>
              <a:r>
                <a:rPr lang="zh-CN" altLang="en-US" b="1"/>
                <a:t>对否分支递归调用算法，发现此时全样本都属于</a:t>
              </a:r>
              <a:r>
                <a:rPr lang="en-US" altLang="zh-CN" b="1"/>
                <a:t>“</a:t>
              </a:r>
              <a:r>
                <a:rPr lang="zh-CN" altLang="en-US" b="1"/>
                <a:t>不买</a:t>
              </a:r>
              <a:r>
                <a:rPr lang="en-US" altLang="zh-CN" b="1"/>
                <a:t>”</a:t>
              </a:r>
              <a:endParaRPr lang="en-US" altLang="zh-CN" b="1"/>
            </a:p>
          </p:txBody>
        </p:sp>
        <p:sp>
          <p:nvSpPr>
            <p:cNvPr id="5" name="椭圆 4"/>
            <p:cNvSpPr/>
            <p:nvPr/>
          </p:nvSpPr>
          <p:spPr>
            <a:xfrm>
              <a:off x="2425" y="3963"/>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grpSp>
      <p:grpSp>
        <p:nvGrpSpPr>
          <p:cNvPr id="56" name="组合 55"/>
          <p:cNvGrpSpPr/>
          <p:nvPr/>
        </p:nvGrpSpPr>
        <p:grpSpPr>
          <a:xfrm>
            <a:off x="6038850" y="69850"/>
            <a:ext cx="5984875" cy="3674110"/>
            <a:chOff x="9493" y="579"/>
            <a:chExt cx="9425" cy="5786"/>
          </a:xfrm>
        </p:grpSpPr>
        <p:grpSp>
          <p:nvGrpSpPr>
            <p:cNvPr id="40" name="组合 39"/>
            <p:cNvGrpSpPr/>
            <p:nvPr/>
          </p:nvGrpSpPr>
          <p:grpSpPr>
            <a:xfrm>
              <a:off x="10998" y="579"/>
              <a:ext cx="7920" cy="5787"/>
              <a:chOff x="10998" y="579"/>
              <a:chExt cx="7920" cy="5787"/>
            </a:xfrm>
          </p:grpSpPr>
          <p:sp>
            <p:nvSpPr>
              <p:cNvPr id="6" name="矩形 5"/>
              <p:cNvSpPr/>
              <p:nvPr/>
            </p:nvSpPr>
            <p:spPr>
              <a:xfrm>
                <a:off x="15447" y="1077"/>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7" name="矩形 6"/>
              <p:cNvSpPr/>
              <p:nvPr/>
            </p:nvSpPr>
            <p:spPr>
              <a:xfrm>
                <a:off x="14241" y="2601"/>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8" name="矩形 7"/>
              <p:cNvSpPr/>
              <p:nvPr/>
            </p:nvSpPr>
            <p:spPr>
              <a:xfrm>
                <a:off x="15863" y="2601"/>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9" name="矩形 8"/>
              <p:cNvSpPr/>
              <p:nvPr/>
            </p:nvSpPr>
            <p:spPr>
              <a:xfrm>
                <a:off x="17712" y="2601"/>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10" name="直接连接符 9"/>
              <p:cNvCxnSpPr>
                <a:stCxn id="6" idx="2"/>
                <a:endCxn id="7" idx="0"/>
              </p:cNvCxnSpPr>
              <p:nvPr/>
            </p:nvCxnSpPr>
            <p:spPr>
              <a:xfrm flipH="1">
                <a:off x="14844" y="1806"/>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2"/>
                <a:endCxn id="8" idx="0"/>
              </p:cNvCxnSpPr>
              <p:nvPr/>
            </p:nvCxnSpPr>
            <p:spPr>
              <a:xfrm>
                <a:off x="16466" y="1806"/>
                <a:ext cx="0"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9" idx="0"/>
              </p:cNvCxnSpPr>
              <p:nvPr/>
            </p:nvCxnSpPr>
            <p:spPr>
              <a:xfrm>
                <a:off x="16550" y="1803"/>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4578" y="1892"/>
                <a:ext cx="662" cy="580"/>
              </a:xfrm>
              <a:prstGeom prst="rect">
                <a:avLst/>
              </a:prstGeom>
              <a:noFill/>
            </p:spPr>
            <p:txBody>
              <a:bodyPr wrap="square" rtlCol="0">
                <a:spAutoFit/>
              </a:bodyPr>
              <a:p>
                <a:r>
                  <a:rPr lang="zh-CN" altLang="en-US"/>
                  <a:t>青</a:t>
                </a:r>
                <a:endParaRPr lang="zh-CN" altLang="en-US"/>
              </a:p>
            </p:txBody>
          </p:sp>
          <p:cxnSp>
            <p:nvCxnSpPr>
              <p:cNvPr id="14" name="直接连接符 13"/>
              <p:cNvCxnSpPr/>
              <p:nvPr/>
            </p:nvCxnSpPr>
            <p:spPr>
              <a:xfrm flipH="1">
                <a:off x="13405" y="3437"/>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4474" y="3454"/>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677" y="3397"/>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17" name="矩形 16"/>
              <p:cNvSpPr/>
              <p:nvPr/>
            </p:nvSpPr>
            <p:spPr>
              <a:xfrm>
                <a:off x="14898" y="3722"/>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19" name="文本框 18"/>
              <p:cNvSpPr txBox="1"/>
              <p:nvPr/>
            </p:nvSpPr>
            <p:spPr>
              <a:xfrm>
                <a:off x="14474" y="5350"/>
                <a:ext cx="1630" cy="1016"/>
              </a:xfrm>
              <a:prstGeom prst="rect">
                <a:avLst/>
              </a:prstGeom>
              <a:noFill/>
            </p:spPr>
            <p:txBody>
              <a:bodyPr wrap="square" rtlCol="0">
                <a:spAutoFit/>
              </a:bodyPr>
              <a:p>
                <a:r>
                  <a:rPr lang="zh-CN" altLang="en-US" b="1"/>
                  <a:t>买：</a:t>
                </a:r>
                <a:r>
                  <a:rPr lang="en-US" altLang="zh-CN" b="1"/>
                  <a:t>2</a:t>
                </a:r>
                <a:endParaRPr lang="en-US" altLang="zh-CN" b="1"/>
              </a:p>
              <a:p>
                <a:r>
                  <a:rPr lang="zh-CN" altLang="en-US" b="1"/>
                  <a:t>不买：</a:t>
                </a:r>
                <a:r>
                  <a:rPr lang="en-US" altLang="zh-CN" b="1"/>
                  <a:t>0</a:t>
                </a:r>
                <a:endParaRPr lang="en-US" altLang="zh-CN" b="1"/>
              </a:p>
            </p:txBody>
          </p:sp>
          <p:sp>
            <p:nvSpPr>
              <p:cNvPr id="20" name="文本框 19"/>
              <p:cNvSpPr txBox="1"/>
              <p:nvPr/>
            </p:nvSpPr>
            <p:spPr>
              <a:xfrm>
                <a:off x="10998" y="579"/>
                <a:ext cx="3243" cy="1452"/>
              </a:xfrm>
              <a:prstGeom prst="rect">
                <a:avLst/>
              </a:prstGeom>
              <a:solidFill>
                <a:schemeClr val="accent2">
                  <a:lumMod val="20000"/>
                  <a:lumOff val="80000"/>
                </a:schemeClr>
              </a:solidFill>
            </p:spPr>
            <p:txBody>
              <a:bodyPr wrap="square" rtlCol="0">
                <a:spAutoFit/>
              </a:bodyPr>
              <a:p>
                <a:r>
                  <a:rPr lang="zh-CN" altLang="en-US" b="1"/>
                  <a:t>对是</a:t>
                </a:r>
                <a:r>
                  <a:rPr lang="zh-CN" altLang="en-US" b="1"/>
                  <a:t>分支递归调用算法，发现此时全样本都属于</a:t>
                </a:r>
                <a:r>
                  <a:rPr lang="en-US" altLang="zh-CN" b="1"/>
                  <a:t>“</a:t>
                </a:r>
                <a:r>
                  <a:rPr lang="zh-CN" altLang="en-US" b="1"/>
                  <a:t>买</a:t>
                </a:r>
                <a:r>
                  <a:rPr lang="en-US" altLang="zh-CN" b="1"/>
                  <a:t>”</a:t>
                </a:r>
                <a:endParaRPr lang="en-US" altLang="zh-CN" b="1"/>
              </a:p>
            </p:txBody>
          </p:sp>
          <p:sp>
            <p:nvSpPr>
              <p:cNvPr id="21" name="椭圆 20"/>
              <p:cNvSpPr/>
              <p:nvPr/>
            </p:nvSpPr>
            <p:spPr>
              <a:xfrm>
                <a:off x="12267" y="4303"/>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23" name="椭圆 22"/>
              <p:cNvSpPr/>
              <p:nvPr/>
            </p:nvSpPr>
            <p:spPr>
              <a:xfrm>
                <a:off x="14578" y="4303"/>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grpSp>
        <p:sp>
          <p:nvSpPr>
            <p:cNvPr id="55" name="右箭头 54"/>
            <p:cNvSpPr/>
            <p:nvPr/>
          </p:nvSpPr>
          <p:spPr>
            <a:xfrm>
              <a:off x="9493" y="2673"/>
              <a:ext cx="1596" cy="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6" name="组合 75"/>
          <p:cNvGrpSpPr/>
          <p:nvPr/>
        </p:nvGrpSpPr>
        <p:grpSpPr>
          <a:xfrm>
            <a:off x="920750" y="3696335"/>
            <a:ext cx="5029200" cy="2957830"/>
            <a:chOff x="1450" y="5821"/>
            <a:chExt cx="7920" cy="4658"/>
          </a:xfrm>
        </p:grpSpPr>
        <p:sp>
          <p:nvSpPr>
            <p:cNvPr id="24" name="矩形 23"/>
            <p:cNvSpPr/>
            <p:nvPr/>
          </p:nvSpPr>
          <p:spPr>
            <a:xfrm>
              <a:off x="5899" y="6319"/>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25" name="矩形 24"/>
            <p:cNvSpPr/>
            <p:nvPr/>
          </p:nvSpPr>
          <p:spPr>
            <a:xfrm>
              <a:off x="4693" y="7843"/>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26" name="矩形 25"/>
            <p:cNvSpPr/>
            <p:nvPr/>
          </p:nvSpPr>
          <p:spPr>
            <a:xfrm>
              <a:off x="6710" y="7273"/>
              <a:ext cx="1290" cy="854"/>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27" name="矩形 26"/>
            <p:cNvSpPr/>
            <p:nvPr/>
          </p:nvSpPr>
          <p:spPr>
            <a:xfrm>
              <a:off x="8164" y="7843"/>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28" name="直接连接符 27"/>
            <p:cNvCxnSpPr>
              <a:stCxn id="24" idx="2"/>
              <a:endCxn id="25" idx="0"/>
            </p:cNvCxnSpPr>
            <p:nvPr/>
          </p:nvCxnSpPr>
          <p:spPr>
            <a:xfrm flipH="1">
              <a:off x="5296" y="7048"/>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6960" y="7026"/>
              <a:ext cx="4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27" idx="0"/>
            </p:cNvCxnSpPr>
            <p:nvPr/>
          </p:nvCxnSpPr>
          <p:spPr>
            <a:xfrm>
              <a:off x="7002" y="7045"/>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030" y="7134"/>
              <a:ext cx="662" cy="580"/>
            </a:xfrm>
            <a:prstGeom prst="rect">
              <a:avLst/>
            </a:prstGeom>
            <a:noFill/>
          </p:spPr>
          <p:txBody>
            <a:bodyPr wrap="square" rtlCol="0">
              <a:spAutoFit/>
            </a:bodyPr>
            <a:p>
              <a:r>
                <a:rPr lang="zh-CN" altLang="en-US"/>
                <a:t>青</a:t>
              </a:r>
              <a:endParaRPr lang="zh-CN" altLang="en-US"/>
            </a:p>
          </p:txBody>
        </p:sp>
        <p:cxnSp>
          <p:nvCxnSpPr>
            <p:cNvPr id="32" name="直接连接符 31"/>
            <p:cNvCxnSpPr/>
            <p:nvPr/>
          </p:nvCxnSpPr>
          <p:spPr>
            <a:xfrm flipH="1">
              <a:off x="3857" y="8679"/>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926" y="8696"/>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3129" y="8639"/>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35" name="矩形 34"/>
            <p:cNvSpPr/>
            <p:nvPr/>
          </p:nvSpPr>
          <p:spPr>
            <a:xfrm>
              <a:off x="5350" y="8964"/>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37" name="文本框 36"/>
            <p:cNvSpPr txBox="1"/>
            <p:nvPr/>
          </p:nvSpPr>
          <p:spPr>
            <a:xfrm>
              <a:off x="1450" y="5821"/>
              <a:ext cx="3243" cy="1452"/>
            </a:xfrm>
            <a:prstGeom prst="rect">
              <a:avLst/>
            </a:prstGeom>
            <a:solidFill>
              <a:schemeClr val="accent2">
                <a:lumMod val="20000"/>
                <a:lumOff val="80000"/>
              </a:schemeClr>
            </a:solidFill>
          </p:spPr>
          <p:txBody>
            <a:bodyPr wrap="square" rtlCol="0">
              <a:spAutoFit/>
            </a:bodyPr>
            <a:p>
              <a:r>
                <a:rPr lang="zh-CN" altLang="en-US" b="1"/>
                <a:t>对中</a:t>
              </a:r>
              <a:r>
                <a:rPr lang="zh-CN" altLang="en-US" b="1"/>
                <a:t>分支递归调用算法，发现此时全样本都属于</a:t>
              </a:r>
              <a:r>
                <a:rPr lang="en-US" altLang="zh-CN" b="1"/>
                <a:t>“</a:t>
              </a:r>
              <a:r>
                <a:rPr lang="zh-CN" altLang="en-US" b="1"/>
                <a:t>买</a:t>
              </a:r>
              <a:r>
                <a:rPr lang="en-US" altLang="zh-CN" b="1"/>
                <a:t>”</a:t>
              </a:r>
              <a:endParaRPr lang="en-US" altLang="zh-CN" b="1"/>
            </a:p>
          </p:txBody>
        </p:sp>
        <p:sp>
          <p:nvSpPr>
            <p:cNvPr id="38" name="椭圆 37"/>
            <p:cNvSpPr/>
            <p:nvPr/>
          </p:nvSpPr>
          <p:spPr>
            <a:xfrm>
              <a:off x="2719" y="9545"/>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39" name="椭圆 38"/>
            <p:cNvSpPr/>
            <p:nvPr/>
          </p:nvSpPr>
          <p:spPr>
            <a:xfrm>
              <a:off x="5030" y="9545"/>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57" name="文本框 56"/>
            <p:cNvSpPr txBox="1"/>
            <p:nvPr/>
          </p:nvSpPr>
          <p:spPr>
            <a:xfrm>
              <a:off x="6874" y="8854"/>
              <a:ext cx="2136" cy="1016"/>
            </a:xfrm>
            <a:prstGeom prst="rect">
              <a:avLst/>
            </a:prstGeom>
            <a:noFill/>
          </p:spPr>
          <p:txBody>
            <a:bodyPr wrap="square" rtlCol="0">
              <a:spAutoFit/>
            </a:bodyPr>
            <a:p>
              <a:r>
                <a:rPr lang="zh-CN" altLang="en-US" b="1"/>
                <a:t>买：</a:t>
              </a:r>
              <a:r>
                <a:rPr lang="en-US" altLang="zh-CN" b="1"/>
                <a:t>4</a:t>
              </a:r>
              <a:endParaRPr lang="en-US" altLang="zh-CN" b="1"/>
            </a:p>
            <a:p>
              <a:r>
                <a:rPr lang="zh-CN" altLang="en-US" b="1"/>
                <a:t>不买：</a:t>
              </a:r>
              <a:r>
                <a:rPr lang="en-US" altLang="zh-CN" b="1"/>
                <a:t>0</a:t>
              </a:r>
              <a:endParaRPr lang="en-US" altLang="zh-CN" b="1"/>
            </a:p>
          </p:txBody>
        </p:sp>
        <p:sp>
          <p:nvSpPr>
            <p:cNvPr id="58" name="椭圆 57"/>
            <p:cNvSpPr/>
            <p:nvPr/>
          </p:nvSpPr>
          <p:spPr>
            <a:xfrm>
              <a:off x="6078" y="7920"/>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grpSp>
      <p:grpSp>
        <p:nvGrpSpPr>
          <p:cNvPr id="78" name="组合 77"/>
          <p:cNvGrpSpPr/>
          <p:nvPr/>
        </p:nvGrpSpPr>
        <p:grpSpPr>
          <a:xfrm>
            <a:off x="6264910" y="3514090"/>
            <a:ext cx="5097780" cy="2957830"/>
            <a:chOff x="9745" y="5563"/>
            <a:chExt cx="8028" cy="4658"/>
          </a:xfrm>
        </p:grpSpPr>
        <p:sp>
          <p:nvSpPr>
            <p:cNvPr id="59" name="矩形 58"/>
            <p:cNvSpPr/>
            <p:nvPr/>
          </p:nvSpPr>
          <p:spPr>
            <a:xfrm>
              <a:off x="14194" y="6061"/>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60" name="矩形 59"/>
            <p:cNvSpPr/>
            <p:nvPr/>
          </p:nvSpPr>
          <p:spPr>
            <a:xfrm>
              <a:off x="12988" y="7585"/>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61" name="矩形 60"/>
            <p:cNvSpPr/>
            <p:nvPr/>
          </p:nvSpPr>
          <p:spPr>
            <a:xfrm>
              <a:off x="15005" y="7015"/>
              <a:ext cx="1290" cy="854"/>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62" name="矩形 61"/>
            <p:cNvSpPr/>
            <p:nvPr/>
          </p:nvSpPr>
          <p:spPr>
            <a:xfrm>
              <a:off x="16567" y="6477"/>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63" name="直接连接符 62"/>
            <p:cNvCxnSpPr>
              <a:stCxn id="59" idx="2"/>
              <a:endCxn id="60" idx="0"/>
            </p:cNvCxnSpPr>
            <p:nvPr/>
          </p:nvCxnSpPr>
          <p:spPr>
            <a:xfrm flipH="1">
              <a:off x="13591" y="6790"/>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15255" y="6768"/>
              <a:ext cx="4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5321" y="6765"/>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3325" y="6876"/>
              <a:ext cx="662" cy="580"/>
            </a:xfrm>
            <a:prstGeom prst="rect">
              <a:avLst/>
            </a:prstGeom>
            <a:noFill/>
          </p:spPr>
          <p:txBody>
            <a:bodyPr wrap="square" rtlCol="0">
              <a:spAutoFit/>
            </a:bodyPr>
            <a:p>
              <a:r>
                <a:rPr lang="zh-CN" altLang="en-US"/>
                <a:t>青</a:t>
              </a:r>
              <a:endParaRPr lang="zh-CN" altLang="en-US"/>
            </a:p>
          </p:txBody>
        </p:sp>
        <p:cxnSp>
          <p:nvCxnSpPr>
            <p:cNvPr id="67" name="直接连接符 66"/>
            <p:cNvCxnSpPr/>
            <p:nvPr/>
          </p:nvCxnSpPr>
          <p:spPr>
            <a:xfrm flipH="1">
              <a:off x="12152" y="8421"/>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13221" y="8438"/>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11424" y="8381"/>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70" name="矩形 69"/>
            <p:cNvSpPr/>
            <p:nvPr/>
          </p:nvSpPr>
          <p:spPr>
            <a:xfrm>
              <a:off x="13645" y="8706"/>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71" name="文本框 70"/>
            <p:cNvSpPr txBox="1"/>
            <p:nvPr/>
          </p:nvSpPr>
          <p:spPr>
            <a:xfrm>
              <a:off x="9745" y="5563"/>
              <a:ext cx="3243" cy="1888"/>
            </a:xfrm>
            <a:prstGeom prst="rect">
              <a:avLst/>
            </a:prstGeom>
            <a:solidFill>
              <a:schemeClr val="accent2">
                <a:lumMod val="20000"/>
                <a:lumOff val="80000"/>
              </a:schemeClr>
            </a:solidFill>
          </p:spPr>
          <p:txBody>
            <a:bodyPr wrap="square" rtlCol="0">
              <a:spAutoFit/>
            </a:bodyPr>
            <a:p>
              <a:r>
                <a:rPr lang="zh-CN" altLang="en-US" b="1"/>
                <a:t>对老分支递归调用算法，样本不全属于同类，选择属性</a:t>
              </a:r>
              <a:r>
                <a:rPr lang="en-US" altLang="zh-CN" b="1"/>
                <a:t>“</a:t>
              </a:r>
              <a:r>
                <a:rPr lang="zh-CN" altLang="en-US" b="1"/>
                <a:t>信誉</a:t>
              </a:r>
              <a:r>
                <a:rPr lang="en-US" altLang="zh-CN" b="1"/>
                <a:t>”</a:t>
              </a:r>
              <a:endParaRPr lang="en-US" altLang="zh-CN" b="1"/>
            </a:p>
          </p:txBody>
        </p:sp>
        <p:sp>
          <p:nvSpPr>
            <p:cNvPr id="72" name="椭圆 71"/>
            <p:cNvSpPr/>
            <p:nvPr/>
          </p:nvSpPr>
          <p:spPr>
            <a:xfrm>
              <a:off x="11014" y="9287"/>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73" name="椭圆 72"/>
            <p:cNvSpPr/>
            <p:nvPr/>
          </p:nvSpPr>
          <p:spPr>
            <a:xfrm>
              <a:off x="13325" y="9287"/>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74" name="文本框 73"/>
            <p:cNvSpPr txBox="1"/>
            <p:nvPr/>
          </p:nvSpPr>
          <p:spPr>
            <a:xfrm>
              <a:off x="15169" y="8596"/>
              <a:ext cx="2136" cy="1016"/>
            </a:xfrm>
            <a:prstGeom prst="rect">
              <a:avLst/>
            </a:prstGeom>
            <a:noFill/>
          </p:spPr>
          <p:txBody>
            <a:bodyPr wrap="square" rtlCol="0">
              <a:spAutoFit/>
            </a:bodyPr>
            <a:p>
              <a:r>
                <a:rPr lang="zh-CN" altLang="en-US" b="1"/>
                <a:t>买：</a:t>
              </a:r>
              <a:r>
                <a:rPr lang="en-US" altLang="zh-CN" b="1"/>
                <a:t>4</a:t>
              </a:r>
              <a:endParaRPr lang="en-US" altLang="zh-CN" b="1"/>
            </a:p>
            <a:p>
              <a:r>
                <a:rPr lang="zh-CN" altLang="en-US" b="1"/>
                <a:t>不买：</a:t>
              </a:r>
              <a:r>
                <a:rPr lang="en-US" altLang="zh-CN" b="1"/>
                <a:t>0</a:t>
              </a:r>
              <a:endParaRPr lang="en-US" altLang="zh-CN" b="1"/>
            </a:p>
          </p:txBody>
        </p:sp>
        <p:sp>
          <p:nvSpPr>
            <p:cNvPr id="75" name="椭圆 74"/>
            <p:cNvSpPr/>
            <p:nvPr/>
          </p:nvSpPr>
          <p:spPr>
            <a:xfrm>
              <a:off x="14373" y="7662"/>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77" name="矩形 76"/>
            <p:cNvSpPr/>
            <p:nvPr/>
          </p:nvSpPr>
          <p:spPr>
            <a:xfrm>
              <a:off x="16567" y="7585"/>
              <a:ext cx="1206" cy="7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信誉</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linds(horizont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blinds(horizontal)">
                                      <p:cBhvr>
                                        <p:cTn id="12" dur="500"/>
                                        <p:tgtEl>
                                          <p:spTgt spid="7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blinds(horizontal)">
                                      <p:cBhvr>
                                        <p:cTn id="1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 name="组合 28"/>
          <p:cNvGrpSpPr/>
          <p:nvPr/>
        </p:nvGrpSpPr>
        <p:grpSpPr>
          <a:xfrm>
            <a:off x="506095" y="287655"/>
            <a:ext cx="5933440" cy="2957830"/>
            <a:chOff x="1238" y="554"/>
            <a:chExt cx="9344" cy="4658"/>
          </a:xfrm>
        </p:grpSpPr>
        <p:sp>
          <p:nvSpPr>
            <p:cNvPr id="59" name="矩形 58"/>
            <p:cNvSpPr/>
            <p:nvPr/>
          </p:nvSpPr>
          <p:spPr>
            <a:xfrm>
              <a:off x="5687" y="1052"/>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60" name="矩形 59"/>
            <p:cNvSpPr/>
            <p:nvPr/>
          </p:nvSpPr>
          <p:spPr>
            <a:xfrm>
              <a:off x="4481" y="2576"/>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61" name="矩形 60"/>
            <p:cNvSpPr/>
            <p:nvPr/>
          </p:nvSpPr>
          <p:spPr>
            <a:xfrm>
              <a:off x="6498" y="2006"/>
              <a:ext cx="1290" cy="854"/>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62" name="矩形 61"/>
            <p:cNvSpPr/>
            <p:nvPr/>
          </p:nvSpPr>
          <p:spPr>
            <a:xfrm>
              <a:off x="8060" y="1468"/>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63" name="直接连接符 62"/>
            <p:cNvCxnSpPr>
              <a:stCxn id="59" idx="2"/>
              <a:endCxn id="60" idx="0"/>
            </p:cNvCxnSpPr>
            <p:nvPr/>
          </p:nvCxnSpPr>
          <p:spPr>
            <a:xfrm flipH="1">
              <a:off x="5084" y="1781"/>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6748" y="1759"/>
              <a:ext cx="4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6814" y="1756"/>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4818" y="1867"/>
              <a:ext cx="662" cy="580"/>
            </a:xfrm>
            <a:prstGeom prst="rect">
              <a:avLst/>
            </a:prstGeom>
            <a:noFill/>
          </p:spPr>
          <p:txBody>
            <a:bodyPr wrap="square" rtlCol="0">
              <a:spAutoFit/>
            </a:bodyPr>
            <a:p>
              <a:r>
                <a:rPr lang="zh-CN" altLang="en-US"/>
                <a:t>青</a:t>
              </a:r>
              <a:endParaRPr lang="zh-CN" altLang="en-US"/>
            </a:p>
          </p:txBody>
        </p:sp>
        <p:cxnSp>
          <p:nvCxnSpPr>
            <p:cNvPr id="67" name="直接连接符 66"/>
            <p:cNvCxnSpPr/>
            <p:nvPr/>
          </p:nvCxnSpPr>
          <p:spPr>
            <a:xfrm flipH="1">
              <a:off x="3645" y="3412"/>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4681" y="3387"/>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2917" y="3372"/>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70" name="矩形 69"/>
            <p:cNvSpPr/>
            <p:nvPr/>
          </p:nvSpPr>
          <p:spPr>
            <a:xfrm>
              <a:off x="5138" y="3697"/>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71" name="文本框 70"/>
            <p:cNvSpPr txBox="1"/>
            <p:nvPr/>
          </p:nvSpPr>
          <p:spPr>
            <a:xfrm>
              <a:off x="1238" y="554"/>
              <a:ext cx="3243" cy="1016"/>
            </a:xfrm>
            <a:prstGeom prst="rect">
              <a:avLst/>
            </a:prstGeom>
            <a:solidFill>
              <a:schemeClr val="accent2">
                <a:lumMod val="20000"/>
                <a:lumOff val="80000"/>
              </a:schemeClr>
            </a:solidFill>
          </p:spPr>
          <p:txBody>
            <a:bodyPr wrap="square" rtlCol="0">
              <a:spAutoFit/>
            </a:bodyPr>
            <a:p>
              <a:r>
                <a:rPr lang="zh-CN" altLang="en-US" b="1"/>
                <a:t>属性</a:t>
              </a:r>
              <a:r>
                <a:rPr lang="en-US" altLang="zh-CN" b="1"/>
                <a:t>“</a:t>
              </a:r>
              <a:r>
                <a:rPr lang="zh-CN" altLang="en-US" b="1"/>
                <a:t>信誉</a:t>
              </a:r>
              <a:r>
                <a:rPr lang="en-US" altLang="zh-CN" b="1"/>
                <a:t>”</a:t>
              </a:r>
              <a:r>
                <a:rPr lang="zh-CN" altLang="en-US" b="1"/>
                <a:t>有两条分支</a:t>
              </a:r>
              <a:endParaRPr lang="zh-CN" altLang="en-US" b="1"/>
            </a:p>
          </p:txBody>
        </p:sp>
        <p:sp>
          <p:nvSpPr>
            <p:cNvPr id="72" name="椭圆 71"/>
            <p:cNvSpPr/>
            <p:nvPr/>
          </p:nvSpPr>
          <p:spPr>
            <a:xfrm>
              <a:off x="2507" y="4278"/>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73" name="椭圆 72"/>
            <p:cNvSpPr/>
            <p:nvPr/>
          </p:nvSpPr>
          <p:spPr>
            <a:xfrm>
              <a:off x="4818" y="4278"/>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75" name="椭圆 74"/>
            <p:cNvSpPr/>
            <p:nvPr/>
          </p:nvSpPr>
          <p:spPr>
            <a:xfrm>
              <a:off x="5866" y="2653"/>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77" name="矩形 76"/>
            <p:cNvSpPr/>
            <p:nvPr/>
          </p:nvSpPr>
          <p:spPr>
            <a:xfrm>
              <a:off x="8060" y="2576"/>
              <a:ext cx="1206" cy="7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信誉</a:t>
              </a:r>
              <a:endParaRPr lang="zh-CN" altLang="en-US"/>
            </a:p>
          </p:txBody>
        </p:sp>
        <p:sp>
          <p:nvSpPr>
            <p:cNvPr id="4" name="矩形 3"/>
            <p:cNvSpPr/>
            <p:nvPr/>
          </p:nvSpPr>
          <p:spPr>
            <a:xfrm>
              <a:off x="7546" y="3896"/>
              <a:ext cx="1206" cy="796"/>
            </a:xfrm>
            <a:prstGeom prst="rect">
              <a:avLst/>
            </a:prstGeom>
            <a:ln>
              <a:solidFill>
                <a:srgbClr val="000000">
                  <a:alpha val="0"/>
                </a:srgbClr>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优</a:t>
              </a:r>
              <a:endParaRPr lang="zh-CN" altLang="en-US"/>
            </a:p>
          </p:txBody>
        </p:sp>
        <p:sp>
          <p:nvSpPr>
            <p:cNvPr id="5" name="矩形 4"/>
            <p:cNvSpPr/>
            <p:nvPr/>
          </p:nvSpPr>
          <p:spPr>
            <a:xfrm>
              <a:off x="9376" y="3709"/>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良</a:t>
              </a:r>
              <a:endParaRPr lang="zh-CN" altLang="en-US"/>
            </a:p>
          </p:txBody>
        </p:sp>
        <p:cxnSp>
          <p:nvCxnSpPr>
            <p:cNvPr id="6" name="直接连接符 5"/>
            <p:cNvCxnSpPr>
              <a:stCxn id="77" idx="2"/>
            </p:cNvCxnSpPr>
            <p:nvPr/>
          </p:nvCxnSpPr>
          <p:spPr>
            <a:xfrm flipH="1">
              <a:off x="7516" y="3372"/>
              <a:ext cx="1147" cy="11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8857" y="3436"/>
              <a:ext cx="798" cy="98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5871845" y="194945"/>
            <a:ext cx="5933440" cy="3829050"/>
            <a:chOff x="9247" y="307"/>
            <a:chExt cx="9344" cy="6030"/>
          </a:xfrm>
        </p:grpSpPr>
        <p:sp>
          <p:nvSpPr>
            <p:cNvPr id="74" name="文本框 73"/>
            <p:cNvSpPr txBox="1"/>
            <p:nvPr/>
          </p:nvSpPr>
          <p:spPr>
            <a:xfrm>
              <a:off x="14625" y="5321"/>
              <a:ext cx="2136" cy="1016"/>
            </a:xfrm>
            <a:prstGeom prst="rect">
              <a:avLst/>
            </a:prstGeom>
            <a:noFill/>
          </p:spPr>
          <p:txBody>
            <a:bodyPr wrap="square" rtlCol="0">
              <a:spAutoFit/>
            </a:bodyPr>
            <a:p>
              <a:r>
                <a:rPr lang="zh-CN" altLang="en-US" b="1"/>
                <a:t>买：</a:t>
              </a:r>
              <a:r>
                <a:rPr lang="en-US" altLang="zh-CN" b="1"/>
                <a:t>0</a:t>
              </a:r>
              <a:endParaRPr lang="en-US" altLang="zh-CN" b="1"/>
            </a:p>
            <a:p>
              <a:r>
                <a:rPr lang="zh-CN" altLang="en-US" b="1"/>
                <a:t>不买：</a:t>
              </a:r>
              <a:r>
                <a:rPr lang="en-US" altLang="zh-CN" b="1"/>
                <a:t>3</a:t>
              </a:r>
              <a:endParaRPr lang="en-US" altLang="zh-CN" b="1"/>
            </a:p>
          </p:txBody>
        </p:sp>
        <p:sp>
          <p:nvSpPr>
            <p:cNvPr id="8" name="矩形 7"/>
            <p:cNvSpPr/>
            <p:nvPr/>
          </p:nvSpPr>
          <p:spPr>
            <a:xfrm>
              <a:off x="13696" y="805"/>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9" name="矩形 8"/>
            <p:cNvSpPr/>
            <p:nvPr/>
          </p:nvSpPr>
          <p:spPr>
            <a:xfrm>
              <a:off x="12490" y="2329"/>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10" name="矩形 9"/>
            <p:cNvSpPr/>
            <p:nvPr/>
          </p:nvSpPr>
          <p:spPr>
            <a:xfrm>
              <a:off x="14507" y="1759"/>
              <a:ext cx="1290" cy="854"/>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11" name="矩形 10"/>
            <p:cNvSpPr/>
            <p:nvPr/>
          </p:nvSpPr>
          <p:spPr>
            <a:xfrm>
              <a:off x="16069" y="1221"/>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12" name="直接连接符 11"/>
            <p:cNvCxnSpPr>
              <a:stCxn id="8" idx="2"/>
              <a:endCxn id="9" idx="0"/>
            </p:cNvCxnSpPr>
            <p:nvPr/>
          </p:nvCxnSpPr>
          <p:spPr>
            <a:xfrm flipH="1">
              <a:off x="13093" y="1534"/>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14757" y="1512"/>
              <a:ext cx="4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4823" y="1509"/>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2827" y="1620"/>
              <a:ext cx="662" cy="580"/>
            </a:xfrm>
            <a:prstGeom prst="rect">
              <a:avLst/>
            </a:prstGeom>
            <a:noFill/>
          </p:spPr>
          <p:txBody>
            <a:bodyPr wrap="square" rtlCol="0">
              <a:spAutoFit/>
            </a:bodyPr>
            <a:p>
              <a:r>
                <a:rPr lang="zh-CN" altLang="en-US"/>
                <a:t>青</a:t>
              </a:r>
              <a:endParaRPr lang="zh-CN" altLang="en-US"/>
            </a:p>
          </p:txBody>
        </p:sp>
        <p:cxnSp>
          <p:nvCxnSpPr>
            <p:cNvPr id="16" name="直接连接符 15"/>
            <p:cNvCxnSpPr/>
            <p:nvPr/>
          </p:nvCxnSpPr>
          <p:spPr>
            <a:xfrm flipH="1">
              <a:off x="11654" y="3165"/>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690" y="3140"/>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0926" y="3125"/>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19" name="矩形 18"/>
            <p:cNvSpPr/>
            <p:nvPr/>
          </p:nvSpPr>
          <p:spPr>
            <a:xfrm>
              <a:off x="13147" y="3450"/>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20" name="文本框 19"/>
            <p:cNvSpPr txBox="1"/>
            <p:nvPr/>
          </p:nvSpPr>
          <p:spPr>
            <a:xfrm>
              <a:off x="9247" y="307"/>
              <a:ext cx="3243" cy="1452"/>
            </a:xfrm>
            <a:prstGeom prst="rect">
              <a:avLst/>
            </a:prstGeom>
            <a:solidFill>
              <a:schemeClr val="accent2">
                <a:lumMod val="20000"/>
                <a:lumOff val="80000"/>
              </a:schemeClr>
            </a:solidFill>
          </p:spPr>
          <p:txBody>
            <a:bodyPr wrap="square" rtlCol="0">
              <a:spAutoFit/>
            </a:bodyPr>
            <a:p>
              <a:r>
                <a:rPr lang="zh-CN" altLang="en-US" b="1"/>
                <a:t>对优分支递归调用算法，发现样本都属于</a:t>
              </a:r>
              <a:r>
                <a:rPr lang="en-US" altLang="zh-CN" b="1"/>
                <a:t>“</a:t>
              </a:r>
              <a:r>
                <a:rPr lang="zh-CN" altLang="en-US" b="1"/>
                <a:t>不买</a:t>
              </a:r>
              <a:r>
                <a:rPr lang="en-US" altLang="zh-CN" b="1"/>
                <a:t>”</a:t>
              </a:r>
              <a:endParaRPr lang="en-US" altLang="zh-CN" b="1"/>
            </a:p>
          </p:txBody>
        </p:sp>
        <p:sp>
          <p:nvSpPr>
            <p:cNvPr id="21" name="椭圆 20"/>
            <p:cNvSpPr/>
            <p:nvPr/>
          </p:nvSpPr>
          <p:spPr>
            <a:xfrm>
              <a:off x="10516" y="4031"/>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22" name="椭圆 21"/>
            <p:cNvSpPr/>
            <p:nvPr/>
          </p:nvSpPr>
          <p:spPr>
            <a:xfrm>
              <a:off x="12827" y="4031"/>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23" name="椭圆 22"/>
            <p:cNvSpPr/>
            <p:nvPr/>
          </p:nvSpPr>
          <p:spPr>
            <a:xfrm>
              <a:off x="13875" y="2406"/>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24" name="矩形 23"/>
            <p:cNvSpPr/>
            <p:nvPr/>
          </p:nvSpPr>
          <p:spPr>
            <a:xfrm>
              <a:off x="16069" y="2329"/>
              <a:ext cx="1206" cy="7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信誉</a:t>
              </a:r>
              <a:endParaRPr lang="zh-CN" altLang="en-US"/>
            </a:p>
          </p:txBody>
        </p:sp>
        <p:sp>
          <p:nvSpPr>
            <p:cNvPr id="25" name="矩形 24"/>
            <p:cNvSpPr/>
            <p:nvPr/>
          </p:nvSpPr>
          <p:spPr>
            <a:xfrm>
              <a:off x="15555" y="3649"/>
              <a:ext cx="1206" cy="796"/>
            </a:xfrm>
            <a:prstGeom prst="rect">
              <a:avLst/>
            </a:prstGeom>
            <a:ln>
              <a:solidFill>
                <a:srgbClr val="000000">
                  <a:alpha val="0"/>
                </a:srgbClr>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优</a:t>
              </a:r>
              <a:endParaRPr lang="zh-CN" altLang="en-US"/>
            </a:p>
          </p:txBody>
        </p:sp>
        <p:sp>
          <p:nvSpPr>
            <p:cNvPr id="26" name="矩形 25"/>
            <p:cNvSpPr/>
            <p:nvPr/>
          </p:nvSpPr>
          <p:spPr>
            <a:xfrm>
              <a:off x="17385" y="3462"/>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良</a:t>
              </a:r>
              <a:endParaRPr lang="zh-CN" altLang="en-US"/>
            </a:p>
          </p:txBody>
        </p:sp>
        <p:cxnSp>
          <p:nvCxnSpPr>
            <p:cNvPr id="27" name="直接连接符 26"/>
            <p:cNvCxnSpPr>
              <a:stCxn id="24" idx="2"/>
            </p:cNvCxnSpPr>
            <p:nvPr/>
          </p:nvCxnSpPr>
          <p:spPr>
            <a:xfrm flipH="1">
              <a:off x="15525" y="3125"/>
              <a:ext cx="1147" cy="11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6866" y="3189"/>
              <a:ext cx="798" cy="985"/>
            </a:xfrm>
            <a:prstGeom prst="line">
              <a:avLst/>
            </a:prstGeom>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14715" y="4258"/>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grpSp>
      <p:grpSp>
        <p:nvGrpSpPr>
          <p:cNvPr id="56" name="组合 55"/>
          <p:cNvGrpSpPr/>
          <p:nvPr/>
        </p:nvGrpSpPr>
        <p:grpSpPr>
          <a:xfrm>
            <a:off x="631825" y="3319145"/>
            <a:ext cx="7426325" cy="3538855"/>
            <a:chOff x="995" y="5227"/>
            <a:chExt cx="11695" cy="5573"/>
          </a:xfrm>
        </p:grpSpPr>
        <p:sp>
          <p:nvSpPr>
            <p:cNvPr id="31" name="文本框 30"/>
            <p:cNvSpPr txBox="1"/>
            <p:nvPr/>
          </p:nvSpPr>
          <p:spPr>
            <a:xfrm>
              <a:off x="10554" y="9784"/>
              <a:ext cx="2136" cy="1016"/>
            </a:xfrm>
            <a:prstGeom prst="rect">
              <a:avLst/>
            </a:prstGeom>
            <a:noFill/>
          </p:spPr>
          <p:txBody>
            <a:bodyPr wrap="square" rtlCol="0">
              <a:spAutoFit/>
            </a:bodyPr>
            <a:p>
              <a:r>
                <a:rPr lang="zh-CN" altLang="en-US" b="1"/>
                <a:t>买：</a:t>
              </a:r>
              <a:r>
                <a:rPr lang="en-US" altLang="zh-CN" b="1"/>
                <a:t>3</a:t>
              </a:r>
              <a:endParaRPr lang="en-US" altLang="zh-CN" b="1"/>
            </a:p>
            <a:p>
              <a:r>
                <a:rPr lang="zh-CN" altLang="en-US" b="1"/>
                <a:t>不买：</a:t>
              </a:r>
              <a:r>
                <a:rPr lang="en-US" altLang="zh-CN" b="1"/>
                <a:t>0</a:t>
              </a:r>
              <a:endParaRPr lang="en-US" altLang="zh-CN" b="1"/>
            </a:p>
          </p:txBody>
        </p:sp>
        <p:sp>
          <p:nvSpPr>
            <p:cNvPr id="32" name="矩形 31"/>
            <p:cNvSpPr/>
            <p:nvPr/>
          </p:nvSpPr>
          <p:spPr>
            <a:xfrm>
              <a:off x="5444" y="5725"/>
              <a:ext cx="2038" cy="72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年龄</a:t>
              </a:r>
              <a:endParaRPr lang="zh-CN" altLang="en-US"/>
            </a:p>
          </p:txBody>
        </p:sp>
        <p:sp>
          <p:nvSpPr>
            <p:cNvPr id="33" name="矩形 32"/>
            <p:cNvSpPr/>
            <p:nvPr/>
          </p:nvSpPr>
          <p:spPr>
            <a:xfrm>
              <a:off x="4238" y="7249"/>
              <a:ext cx="1206" cy="79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学生</a:t>
              </a:r>
              <a:endParaRPr lang="zh-CN" altLang="en-US"/>
            </a:p>
          </p:txBody>
        </p:sp>
        <p:sp>
          <p:nvSpPr>
            <p:cNvPr id="34" name="矩形 33"/>
            <p:cNvSpPr/>
            <p:nvPr/>
          </p:nvSpPr>
          <p:spPr>
            <a:xfrm>
              <a:off x="6255" y="6679"/>
              <a:ext cx="1290" cy="854"/>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中</a:t>
              </a:r>
              <a:endParaRPr lang="zh-CN" altLang="en-US"/>
            </a:p>
          </p:txBody>
        </p:sp>
        <p:sp>
          <p:nvSpPr>
            <p:cNvPr id="35" name="矩形 34"/>
            <p:cNvSpPr/>
            <p:nvPr/>
          </p:nvSpPr>
          <p:spPr>
            <a:xfrm>
              <a:off x="7817" y="6141"/>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老</a:t>
              </a:r>
              <a:endParaRPr lang="zh-CN" altLang="en-US"/>
            </a:p>
          </p:txBody>
        </p:sp>
        <p:cxnSp>
          <p:nvCxnSpPr>
            <p:cNvPr id="36" name="直接连接符 35"/>
            <p:cNvCxnSpPr>
              <a:stCxn id="32" idx="2"/>
              <a:endCxn id="33" idx="0"/>
            </p:cNvCxnSpPr>
            <p:nvPr/>
          </p:nvCxnSpPr>
          <p:spPr>
            <a:xfrm flipH="1">
              <a:off x="4841" y="6454"/>
              <a:ext cx="162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505" y="6432"/>
              <a:ext cx="42"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571" y="6429"/>
              <a:ext cx="1765" cy="798"/>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575" y="6540"/>
              <a:ext cx="662" cy="580"/>
            </a:xfrm>
            <a:prstGeom prst="rect">
              <a:avLst/>
            </a:prstGeom>
            <a:noFill/>
          </p:spPr>
          <p:txBody>
            <a:bodyPr wrap="square" rtlCol="0">
              <a:spAutoFit/>
            </a:bodyPr>
            <a:p>
              <a:r>
                <a:rPr lang="zh-CN" altLang="en-US"/>
                <a:t>青</a:t>
              </a:r>
              <a:endParaRPr lang="zh-CN" altLang="en-US"/>
            </a:p>
          </p:txBody>
        </p:sp>
        <p:cxnSp>
          <p:nvCxnSpPr>
            <p:cNvPr id="40" name="直接连接符 39"/>
            <p:cNvCxnSpPr/>
            <p:nvPr/>
          </p:nvCxnSpPr>
          <p:spPr>
            <a:xfrm flipH="1">
              <a:off x="3402" y="8085"/>
              <a:ext cx="916" cy="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438" y="8060"/>
              <a:ext cx="662" cy="781"/>
            </a:xfrm>
            <a:prstGeom prst="line">
              <a:avLst/>
            </a:prstGeom>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2674" y="8045"/>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否</a:t>
              </a:r>
              <a:endParaRPr lang="zh-CN" altLang="en-US"/>
            </a:p>
          </p:txBody>
        </p:sp>
        <p:sp>
          <p:nvSpPr>
            <p:cNvPr id="43" name="矩形 42"/>
            <p:cNvSpPr/>
            <p:nvPr/>
          </p:nvSpPr>
          <p:spPr>
            <a:xfrm>
              <a:off x="4895" y="8370"/>
              <a:ext cx="1206" cy="796"/>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a:t>是</a:t>
              </a:r>
              <a:endParaRPr lang="zh-CN" altLang="en-US"/>
            </a:p>
          </p:txBody>
        </p:sp>
        <p:sp>
          <p:nvSpPr>
            <p:cNvPr id="44" name="文本框 43"/>
            <p:cNvSpPr txBox="1"/>
            <p:nvPr/>
          </p:nvSpPr>
          <p:spPr>
            <a:xfrm>
              <a:off x="995" y="5227"/>
              <a:ext cx="3243" cy="1452"/>
            </a:xfrm>
            <a:prstGeom prst="rect">
              <a:avLst/>
            </a:prstGeom>
            <a:solidFill>
              <a:schemeClr val="accent2">
                <a:lumMod val="20000"/>
                <a:lumOff val="80000"/>
              </a:schemeClr>
            </a:solidFill>
          </p:spPr>
          <p:txBody>
            <a:bodyPr wrap="square" rtlCol="0">
              <a:spAutoFit/>
            </a:bodyPr>
            <a:p>
              <a:r>
                <a:rPr lang="zh-CN" altLang="en-US" b="1"/>
                <a:t>对良</a:t>
              </a:r>
              <a:r>
                <a:rPr lang="zh-CN" altLang="en-US" b="1"/>
                <a:t>分支递归调用算法，发现样本都属于</a:t>
              </a:r>
              <a:r>
                <a:rPr lang="en-US" altLang="zh-CN" b="1"/>
                <a:t>“</a:t>
              </a:r>
              <a:r>
                <a:rPr lang="zh-CN" altLang="en-US" b="1"/>
                <a:t>买</a:t>
              </a:r>
              <a:r>
                <a:rPr lang="en-US" altLang="zh-CN" b="1"/>
                <a:t>”</a:t>
              </a:r>
              <a:endParaRPr lang="en-US" altLang="zh-CN" b="1"/>
            </a:p>
          </p:txBody>
        </p:sp>
        <p:sp>
          <p:nvSpPr>
            <p:cNvPr id="45" name="椭圆 44"/>
            <p:cNvSpPr/>
            <p:nvPr/>
          </p:nvSpPr>
          <p:spPr>
            <a:xfrm>
              <a:off x="2264" y="8951"/>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46" name="椭圆 45"/>
            <p:cNvSpPr/>
            <p:nvPr/>
          </p:nvSpPr>
          <p:spPr>
            <a:xfrm>
              <a:off x="4575" y="8951"/>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47" name="椭圆 46"/>
            <p:cNvSpPr/>
            <p:nvPr/>
          </p:nvSpPr>
          <p:spPr>
            <a:xfrm>
              <a:off x="5623" y="7326"/>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sp>
          <p:nvSpPr>
            <p:cNvPr id="48" name="矩形 47"/>
            <p:cNvSpPr/>
            <p:nvPr/>
          </p:nvSpPr>
          <p:spPr>
            <a:xfrm>
              <a:off x="7817" y="7249"/>
              <a:ext cx="1206" cy="7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a:t>信誉</a:t>
              </a:r>
              <a:endParaRPr lang="zh-CN" altLang="en-US"/>
            </a:p>
          </p:txBody>
        </p:sp>
        <p:sp>
          <p:nvSpPr>
            <p:cNvPr id="49" name="矩形 48"/>
            <p:cNvSpPr/>
            <p:nvPr/>
          </p:nvSpPr>
          <p:spPr>
            <a:xfrm>
              <a:off x="7303" y="8569"/>
              <a:ext cx="1206" cy="796"/>
            </a:xfrm>
            <a:prstGeom prst="rect">
              <a:avLst/>
            </a:prstGeom>
            <a:ln>
              <a:solidFill>
                <a:srgbClr val="000000">
                  <a:alpha val="0"/>
                </a:srgbClr>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优</a:t>
              </a:r>
              <a:endParaRPr lang="zh-CN" altLang="en-US"/>
            </a:p>
          </p:txBody>
        </p:sp>
        <p:sp>
          <p:nvSpPr>
            <p:cNvPr id="50" name="矩形 49"/>
            <p:cNvSpPr/>
            <p:nvPr/>
          </p:nvSpPr>
          <p:spPr>
            <a:xfrm>
              <a:off x="9133" y="8382"/>
              <a:ext cx="1206" cy="7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a:t>良</a:t>
              </a:r>
              <a:endParaRPr lang="zh-CN" altLang="en-US"/>
            </a:p>
          </p:txBody>
        </p:sp>
        <p:cxnSp>
          <p:nvCxnSpPr>
            <p:cNvPr id="51" name="直接连接符 50"/>
            <p:cNvCxnSpPr>
              <a:stCxn id="48" idx="2"/>
            </p:cNvCxnSpPr>
            <p:nvPr/>
          </p:nvCxnSpPr>
          <p:spPr>
            <a:xfrm flipH="1">
              <a:off x="7273" y="8045"/>
              <a:ext cx="1147" cy="11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8614" y="8109"/>
              <a:ext cx="798" cy="985"/>
            </a:xfrm>
            <a:prstGeom prst="line">
              <a:avLst/>
            </a:prstGeom>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6463" y="9178"/>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不买</a:t>
              </a:r>
              <a:endParaRPr lang="zh-CN" altLang="en-US"/>
            </a:p>
          </p:txBody>
        </p:sp>
        <p:sp>
          <p:nvSpPr>
            <p:cNvPr id="54" name="椭圆 53"/>
            <p:cNvSpPr/>
            <p:nvPr/>
          </p:nvSpPr>
          <p:spPr>
            <a:xfrm>
              <a:off x="8614" y="9178"/>
              <a:ext cx="1680" cy="934"/>
            </a:xfrm>
            <a:prstGeom prst="ellips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买</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blinds(horizontal)">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blinds(horizontal)">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15110" y="889635"/>
            <a:ext cx="8915400" cy="4307205"/>
          </a:xfrm>
        </p:spPr>
        <p:txBody>
          <a:bodyPr>
            <a:noAutofit/>
          </a:bodyPr>
          <a:lstStyle/>
          <a:p>
            <a:r>
              <a:rPr lang="zh-CN" altLang="zh-CN" sz="3200" dirty="0">
                <a:latin typeface="楷体" panose="02010609060101010101" pitchFamily="49" charset="-122"/>
                <a:ea typeface="楷体" panose="02010609060101010101" pitchFamily="49" charset="-122"/>
              </a:rPr>
              <a:t>构造好的决策树的关键在于</a:t>
            </a:r>
            <a:r>
              <a:rPr lang="zh-CN" altLang="zh-CN" sz="3200" b="1" dirty="0">
                <a:solidFill>
                  <a:srgbClr val="C00000"/>
                </a:solidFill>
                <a:latin typeface="楷体" panose="02010609060101010101" pitchFamily="49" charset="-122"/>
                <a:ea typeface="楷体" panose="02010609060101010101" pitchFamily="49" charset="-122"/>
              </a:rPr>
              <a:t>如何选择好的逻辑判断或属性</a:t>
            </a:r>
            <a:r>
              <a:rPr lang="zh-CN" altLang="zh-CN" sz="3200" dirty="0">
                <a:latin typeface="楷体" panose="02010609060101010101" pitchFamily="49" charset="-122"/>
                <a:ea typeface="楷体" panose="02010609060101010101" pitchFamily="49" charset="-122"/>
              </a:rPr>
              <a:t>。对于同样一组样本，可以有很多决策树符合这组样本。研究结果表明，一般情况下，树越小则树的预测能力越强。要构造尽可能小的决策树，关键在于选择合适的产生分支的属性。</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38985" y="1163320"/>
            <a:ext cx="9260205" cy="4977765"/>
          </a:xfrm>
        </p:spPr>
        <p:txBody>
          <a:bodyPr>
            <a:noAutofit/>
          </a:bodyPr>
          <a:p>
            <a:r>
              <a:rPr lang="zh-CN" altLang="zh-CN" sz="2800" dirty="0">
                <a:latin typeface="楷体" panose="02010609060101010101" pitchFamily="49" charset="-122"/>
                <a:ea typeface="楷体" panose="02010609060101010101" pitchFamily="49" charset="-122"/>
                <a:sym typeface="+mn-ea"/>
              </a:rPr>
              <a:t>由于构造最小的树是</a:t>
            </a:r>
            <a:r>
              <a:rPr lang="en-US" altLang="zh-CN" sz="2800" b="1" dirty="0">
                <a:solidFill>
                  <a:srgbClr val="C00000"/>
                </a:solidFill>
                <a:latin typeface="楷体" panose="02010609060101010101" pitchFamily="49" charset="-122"/>
                <a:ea typeface="楷体" panose="02010609060101010101" pitchFamily="49" charset="-122"/>
                <a:sym typeface="+mn-ea"/>
              </a:rPr>
              <a:t>NP-</a:t>
            </a:r>
            <a:r>
              <a:rPr lang="zh-CN" altLang="zh-CN" sz="2800" b="1" dirty="0">
                <a:solidFill>
                  <a:srgbClr val="C00000"/>
                </a:solidFill>
                <a:latin typeface="楷体" panose="02010609060101010101" pitchFamily="49" charset="-122"/>
                <a:ea typeface="楷体" panose="02010609060101010101" pitchFamily="49" charset="-122"/>
                <a:sym typeface="+mn-ea"/>
              </a:rPr>
              <a:t>难问题</a:t>
            </a:r>
            <a:r>
              <a:rPr lang="zh-CN" altLang="zh-CN" sz="2800" dirty="0">
                <a:latin typeface="楷体" panose="02010609060101010101" pitchFamily="49" charset="-122"/>
                <a:ea typeface="楷体" panose="02010609060101010101" pitchFamily="49" charset="-122"/>
                <a:sym typeface="+mn-ea"/>
              </a:rPr>
              <a:t>，因此只能采用启发式策略来进行</a:t>
            </a:r>
            <a:r>
              <a:rPr lang="zh-CN" altLang="zh-CN" sz="2800" b="1" dirty="0">
                <a:solidFill>
                  <a:srgbClr val="C00000"/>
                </a:solidFill>
                <a:latin typeface="楷体" panose="02010609060101010101" pitchFamily="49" charset="-122"/>
                <a:ea typeface="楷体" panose="02010609060101010101" pitchFamily="49" charset="-122"/>
                <a:sym typeface="+mn-ea"/>
              </a:rPr>
              <a:t>属性选择</a:t>
            </a:r>
            <a:r>
              <a:rPr lang="zh-CN" altLang="zh-CN" sz="2800" dirty="0">
                <a:latin typeface="楷体" panose="02010609060101010101" pitchFamily="49" charset="-122"/>
                <a:ea typeface="楷体" panose="02010609060101010101" pitchFamily="49" charset="-122"/>
                <a:sym typeface="+mn-ea"/>
              </a:rPr>
              <a:t>。</a:t>
            </a:r>
            <a:r>
              <a:rPr lang="zh-CN" altLang="zh-CN" sz="2800" dirty="0">
                <a:solidFill>
                  <a:schemeClr val="tx1"/>
                </a:solidFill>
                <a:latin typeface="楷体" panose="02010609060101010101" pitchFamily="49" charset="-122"/>
                <a:ea typeface="楷体" panose="02010609060101010101" pitchFamily="49" charset="-122"/>
                <a:sym typeface="+mn-ea"/>
              </a:rPr>
              <a:t>属性选择</a:t>
            </a:r>
            <a:r>
              <a:rPr lang="zh-CN" altLang="zh-CN" sz="2800" dirty="0">
                <a:latin typeface="楷体" panose="02010609060101010101" pitchFamily="49" charset="-122"/>
                <a:ea typeface="楷体" panose="02010609060101010101" pitchFamily="49" charset="-122"/>
                <a:sym typeface="+mn-ea"/>
              </a:rPr>
              <a:t>依赖于对各种样本子集的不纯度（</a:t>
            </a:r>
            <a:r>
              <a:rPr lang="en-US" altLang="zh-CN" sz="2800" dirty="0">
                <a:latin typeface="楷体" panose="02010609060101010101" pitchFamily="49" charset="-122"/>
                <a:ea typeface="楷体" panose="02010609060101010101" pitchFamily="49" charset="-122"/>
                <a:sym typeface="+mn-ea"/>
              </a:rPr>
              <a:t>Impurity</a:t>
            </a:r>
            <a:r>
              <a:rPr lang="zh-CN" altLang="zh-CN" sz="2800" dirty="0">
                <a:latin typeface="楷体" panose="02010609060101010101" pitchFamily="49" charset="-122"/>
                <a:ea typeface="楷体" panose="02010609060101010101" pitchFamily="49" charset="-122"/>
                <a:sym typeface="+mn-ea"/>
              </a:rPr>
              <a:t>）度量方法。</a:t>
            </a:r>
            <a:endParaRPr lang="zh-CN" altLang="zh-CN" sz="2800" dirty="0">
              <a:latin typeface="楷体" panose="02010609060101010101" pitchFamily="49" charset="-122"/>
              <a:ea typeface="楷体" panose="02010609060101010101" pitchFamily="49" charset="-122"/>
              <a:sym typeface="+mn-ea"/>
            </a:endParaRPr>
          </a:p>
          <a:p>
            <a:r>
              <a:rPr lang="zh-CN" altLang="zh-CN" sz="2800" dirty="0">
                <a:latin typeface="楷体" panose="02010609060101010101" pitchFamily="49" charset="-122"/>
                <a:ea typeface="楷体" panose="02010609060101010101" pitchFamily="49" charset="-122"/>
                <a:sym typeface="+mn-ea"/>
              </a:rPr>
              <a:t>不纯度度量方法包括信息增益（</a:t>
            </a:r>
            <a:r>
              <a:rPr lang="en-US" altLang="zh-CN" sz="2800" dirty="0">
                <a:latin typeface="楷体" panose="02010609060101010101" pitchFamily="49" charset="-122"/>
                <a:ea typeface="楷体" panose="02010609060101010101" pitchFamily="49" charset="-122"/>
                <a:sym typeface="+mn-ea"/>
              </a:rPr>
              <a:t>Information Gain</a:t>
            </a:r>
            <a:r>
              <a:rPr lang="zh-CN" altLang="zh-CN" sz="2800" dirty="0">
                <a:latin typeface="楷体" panose="02010609060101010101" pitchFamily="49" charset="-122"/>
                <a:ea typeface="楷体" panose="02010609060101010101" pitchFamily="49" charset="-122"/>
                <a:sym typeface="+mn-ea"/>
              </a:rPr>
              <a:t>）、信息增益比（</a:t>
            </a:r>
            <a:r>
              <a:rPr lang="en-US" altLang="zh-CN" sz="2800" dirty="0">
                <a:latin typeface="楷体" panose="02010609060101010101" pitchFamily="49" charset="-122"/>
                <a:ea typeface="楷体" panose="02010609060101010101" pitchFamily="49" charset="-122"/>
                <a:sym typeface="+mn-ea"/>
              </a:rPr>
              <a:t>Gain Ratio</a:t>
            </a:r>
            <a:r>
              <a:rPr lang="zh-CN" altLang="zh-CN"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Gini-index</a:t>
            </a:r>
            <a:r>
              <a:rPr lang="zh-CN" altLang="zh-CN" sz="2800" dirty="0">
                <a:latin typeface="楷体" panose="02010609060101010101" pitchFamily="49" charset="-122"/>
                <a:ea typeface="楷体" panose="02010609060101010101" pitchFamily="49" charset="-122"/>
                <a:sym typeface="+mn-ea"/>
              </a:rPr>
              <a:t>、距离度量（</a:t>
            </a:r>
            <a:r>
              <a:rPr lang="en-US" altLang="zh-CN" sz="2800" dirty="0">
                <a:latin typeface="楷体" panose="02010609060101010101" pitchFamily="49" charset="-122"/>
                <a:ea typeface="楷体" panose="02010609060101010101" pitchFamily="49" charset="-122"/>
                <a:sym typeface="+mn-ea"/>
              </a:rPr>
              <a:t>Distance Measure</a:t>
            </a:r>
            <a:r>
              <a:rPr lang="zh-CN" altLang="zh-CN"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J-measure</a:t>
            </a:r>
            <a:r>
              <a:rPr lang="zh-CN" altLang="zh-CN"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G</a:t>
            </a:r>
            <a:r>
              <a:rPr lang="zh-CN" altLang="zh-CN" sz="2800" dirty="0">
                <a:latin typeface="楷体" panose="02010609060101010101" pitchFamily="49" charset="-122"/>
                <a:ea typeface="楷体" panose="02010609060101010101" pitchFamily="49" charset="-122"/>
                <a:sym typeface="+mn-ea"/>
              </a:rPr>
              <a:t>统计、</a:t>
            </a:r>
            <a:r>
              <a:rPr lang="en-US" altLang="zh-CN" sz="2800" dirty="0">
                <a:latin typeface="楷体" panose="02010609060101010101" pitchFamily="49" charset="-122"/>
                <a:ea typeface="楷体" panose="02010609060101010101" pitchFamily="49" charset="-122"/>
                <a:sym typeface="+mn-ea"/>
              </a:rPr>
              <a:t>x</a:t>
            </a:r>
            <a:r>
              <a:rPr lang="en-US" altLang="zh-CN" sz="2800" baseline="30000" dirty="0">
                <a:latin typeface="楷体" panose="02010609060101010101" pitchFamily="49" charset="-122"/>
                <a:ea typeface="楷体" panose="02010609060101010101" pitchFamily="49" charset="-122"/>
                <a:sym typeface="+mn-ea"/>
              </a:rPr>
              <a:t>2</a:t>
            </a:r>
            <a:r>
              <a:rPr lang="zh-CN" altLang="zh-CN" sz="2800" dirty="0">
                <a:latin typeface="楷体" panose="02010609060101010101" pitchFamily="49" charset="-122"/>
                <a:ea typeface="楷体" panose="02010609060101010101" pitchFamily="49" charset="-122"/>
                <a:sym typeface="+mn-ea"/>
              </a:rPr>
              <a:t>统计、证据权重（</a:t>
            </a:r>
            <a:r>
              <a:rPr lang="en-US" altLang="zh-CN" sz="2800" dirty="0">
                <a:latin typeface="楷体" panose="02010609060101010101" pitchFamily="49" charset="-122"/>
                <a:ea typeface="楷体" panose="02010609060101010101" pitchFamily="49" charset="-122"/>
                <a:sym typeface="+mn-ea"/>
              </a:rPr>
              <a:t>Weight of Evidence</a:t>
            </a:r>
            <a:r>
              <a:rPr lang="zh-CN" altLang="zh-CN" sz="2800" dirty="0">
                <a:latin typeface="楷体" panose="02010609060101010101" pitchFamily="49" charset="-122"/>
                <a:ea typeface="楷体" panose="02010609060101010101" pitchFamily="49" charset="-122"/>
                <a:sym typeface="+mn-ea"/>
              </a:rPr>
              <a:t>）、最小描述长度（</a:t>
            </a:r>
            <a:r>
              <a:rPr lang="en-US" altLang="zh-CN" sz="2800" dirty="0">
                <a:latin typeface="楷体" panose="02010609060101010101" pitchFamily="49" charset="-122"/>
                <a:ea typeface="楷体" panose="02010609060101010101" pitchFamily="49" charset="-122"/>
                <a:sym typeface="+mn-ea"/>
              </a:rPr>
              <a:t>MLP</a:t>
            </a:r>
            <a:r>
              <a:rPr lang="zh-CN" altLang="zh-CN" sz="2800" dirty="0">
                <a:latin typeface="楷体" panose="02010609060101010101" pitchFamily="49" charset="-122"/>
                <a:ea typeface="楷体" panose="02010609060101010101" pitchFamily="49" charset="-122"/>
                <a:sym typeface="+mn-ea"/>
              </a:rPr>
              <a:t>）、正交法（</a:t>
            </a:r>
            <a:r>
              <a:rPr lang="en-US" altLang="zh-CN" sz="2800" dirty="0" err="1">
                <a:latin typeface="楷体" panose="02010609060101010101" pitchFamily="49" charset="-122"/>
                <a:ea typeface="楷体" panose="02010609060101010101" pitchFamily="49" charset="-122"/>
                <a:sym typeface="+mn-ea"/>
              </a:rPr>
              <a:t>Ortogonality</a:t>
            </a:r>
            <a:r>
              <a:rPr lang="en-US" altLang="zh-CN" sz="2800" dirty="0">
                <a:latin typeface="楷体" panose="02010609060101010101" pitchFamily="49" charset="-122"/>
                <a:ea typeface="楷体" panose="02010609060101010101" pitchFamily="49" charset="-122"/>
                <a:sym typeface="+mn-ea"/>
              </a:rPr>
              <a:t> Measure</a:t>
            </a:r>
            <a:r>
              <a:rPr lang="zh-CN" altLang="zh-CN" sz="2800" dirty="0">
                <a:latin typeface="楷体" panose="02010609060101010101" pitchFamily="49" charset="-122"/>
                <a:ea typeface="楷体" panose="02010609060101010101" pitchFamily="49" charset="-122"/>
                <a:sym typeface="+mn-ea"/>
              </a:rPr>
              <a:t>）、相关度（</a:t>
            </a:r>
            <a:r>
              <a:rPr lang="en-US" altLang="zh-CN" sz="2800" dirty="0">
                <a:latin typeface="楷体" panose="02010609060101010101" pitchFamily="49" charset="-122"/>
                <a:ea typeface="楷体" panose="02010609060101010101" pitchFamily="49" charset="-122"/>
                <a:sym typeface="+mn-ea"/>
              </a:rPr>
              <a:t>Relevance</a:t>
            </a:r>
            <a:r>
              <a:rPr lang="zh-CN" altLang="zh-CN" sz="2800" dirty="0">
                <a:latin typeface="楷体" panose="02010609060101010101" pitchFamily="49" charset="-122"/>
                <a:ea typeface="楷体" panose="02010609060101010101" pitchFamily="49" charset="-122"/>
                <a:sym typeface="+mn-ea"/>
              </a:rPr>
              <a:t>）和</a:t>
            </a:r>
            <a:r>
              <a:rPr lang="en-US" altLang="zh-CN" sz="2800" dirty="0">
                <a:latin typeface="楷体" panose="02010609060101010101" pitchFamily="49" charset="-122"/>
                <a:ea typeface="楷体" panose="02010609060101010101" pitchFamily="49" charset="-122"/>
                <a:sym typeface="+mn-ea"/>
              </a:rPr>
              <a:t>Relief</a:t>
            </a:r>
            <a:r>
              <a:rPr lang="zh-CN" altLang="zh-CN" sz="2800" dirty="0">
                <a:latin typeface="楷体" panose="02010609060101010101" pitchFamily="49" charset="-122"/>
                <a:ea typeface="楷体" panose="02010609060101010101" pitchFamily="49" charset="-122"/>
                <a:sym typeface="+mn-ea"/>
              </a:rPr>
              <a:t>等。不同的度量有不同的效果，特别是对于多值属性，选择合适的度量方法对于结果的影响是很大的。</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03070" y="431165"/>
            <a:ext cx="9605010" cy="4471035"/>
          </a:xfrm>
        </p:spPr>
        <p:txBody>
          <a:bodyPr>
            <a:noAutofit/>
          </a:bodyPr>
          <a:lstStyle/>
          <a:p>
            <a:r>
              <a:rPr lang="en-US" altLang="zh-CN" sz="2800" dirty="0">
                <a:latin typeface="楷体" panose="02010609060101010101" pitchFamily="49" charset="-122"/>
                <a:ea typeface="楷体" panose="02010609060101010101" pitchFamily="49" charset="-122"/>
              </a:rPr>
              <a:t>2.</a:t>
            </a:r>
            <a:r>
              <a:rPr lang="zh-CN" altLang="zh-CN" sz="2800" dirty="0">
                <a:latin typeface="楷体" panose="02010609060101010101" pitchFamily="49" charset="-122"/>
                <a:ea typeface="楷体" panose="02010609060101010101" pitchFamily="49" charset="-122"/>
              </a:rPr>
              <a:t>决策树修改算法</a:t>
            </a:r>
            <a:endParaRPr lang="zh-CN" altLang="zh-CN" sz="2800" dirty="0">
              <a:latin typeface="楷体" panose="02010609060101010101" pitchFamily="49" charset="-122"/>
              <a:ea typeface="楷体" panose="02010609060101010101" pitchFamily="49" charset="-122"/>
            </a:endParaRPr>
          </a:p>
          <a:p>
            <a:pPr marL="0" indent="0">
              <a:buNone/>
            </a:pPr>
            <a:r>
              <a:rPr lang="zh-CN" altLang="zh-CN" sz="2800" dirty="0">
                <a:latin typeface="楷体" panose="02010609060101010101" pitchFamily="49" charset="-122"/>
                <a:ea typeface="楷体" panose="02010609060101010101" pitchFamily="49" charset="-122"/>
              </a:rPr>
              <a:t>现实的世界的数据一般不可能是完美的，可能某些属性字段上缺值（</a:t>
            </a:r>
            <a:r>
              <a:rPr lang="en-US" altLang="zh-CN" sz="2800" dirty="0">
                <a:latin typeface="楷体" panose="02010609060101010101" pitchFamily="49" charset="-122"/>
                <a:ea typeface="楷体" panose="02010609060101010101" pitchFamily="49" charset="-122"/>
              </a:rPr>
              <a:t>Missing Values</a:t>
            </a:r>
            <a:r>
              <a:rPr lang="zh-CN" altLang="zh-CN" sz="2800" dirty="0">
                <a:latin typeface="楷体" panose="02010609060101010101" pitchFamily="49" charset="-122"/>
                <a:ea typeface="楷体" panose="02010609060101010101" pitchFamily="49" charset="-122"/>
              </a:rPr>
              <a:t>），可能缺少必须的数据而造成数据不完整，也可能数据是不准确、含有噪声甚至是错误的，在此主要讨论噪声问题。基本的决策树构造法没有考虑噪声，因此生成的决策树完全与训练样本拟合，在有噪声情况下，完全拟合将导致过分拟合（</a:t>
            </a:r>
            <a:r>
              <a:rPr lang="en-US" altLang="zh-CN" sz="2800" dirty="0">
                <a:latin typeface="楷体" panose="02010609060101010101" pitchFamily="49" charset="-122"/>
                <a:ea typeface="楷体" panose="02010609060101010101" pitchFamily="49" charset="-122"/>
              </a:rPr>
              <a:t>Overfitting</a:t>
            </a:r>
            <a:r>
              <a:rPr lang="zh-CN" altLang="zh-CN" sz="2800" dirty="0">
                <a:latin typeface="楷体" panose="02010609060101010101" pitchFamily="49" charset="-122"/>
                <a:ea typeface="楷体" panose="02010609060101010101" pitchFamily="49" charset="-122"/>
              </a:rPr>
              <a:t>），即分类模型对训练数据的完全拟合反而使分类模型对现实数据的分类预测性能降低。剪枝是一种克服噪声的基本技术，同时它也能使树得到简化而变得更容易理解，有两种基本的剪枝策略：</a:t>
            </a:r>
            <a:endParaRPr lang="zh-CN" altLang="zh-CN" sz="2800" dirty="0">
              <a:latin typeface="楷体" panose="02010609060101010101" pitchFamily="49" charset="-122"/>
              <a:ea typeface="楷体" panose="02010609060101010101" pitchFamily="49" charset="-122"/>
            </a:endParaRPr>
          </a:p>
          <a:p>
            <a:pPr marL="400050" lvl="1" indent="0">
              <a:buNone/>
            </a:pP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78012" y="1616075"/>
            <a:ext cx="8915400" cy="3777622"/>
          </a:xfrm>
        </p:spPr>
        <p:txBody>
          <a:bodyPr>
            <a:noAutofit/>
          </a:bodyPr>
          <a:p>
            <a:pPr marL="400050" lvl="1" indent="0">
              <a:buNone/>
            </a:pPr>
            <a:r>
              <a:rPr lang="zh-CN" altLang="zh-CN"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1</a:t>
            </a:r>
            <a:r>
              <a:rPr lang="zh-CN" altLang="zh-CN" sz="2800" dirty="0">
                <a:latin typeface="楷体" panose="02010609060101010101" pitchFamily="49" charset="-122"/>
                <a:ea typeface="楷体" panose="02010609060101010101" pitchFamily="49" charset="-122"/>
                <a:sym typeface="+mn-ea"/>
              </a:rPr>
              <a:t>）预先剪枝（</a:t>
            </a:r>
            <a:r>
              <a:rPr lang="en-US" altLang="zh-CN" sz="2800" dirty="0">
                <a:latin typeface="楷体" panose="02010609060101010101" pitchFamily="49" charset="-122"/>
                <a:ea typeface="楷体" panose="02010609060101010101" pitchFamily="49" charset="-122"/>
                <a:sym typeface="+mn-ea"/>
              </a:rPr>
              <a:t>Pre-Pruning</a:t>
            </a:r>
            <a:r>
              <a:rPr lang="zh-CN" altLang="zh-CN" sz="2800" dirty="0">
                <a:latin typeface="楷体" panose="02010609060101010101" pitchFamily="49" charset="-122"/>
                <a:ea typeface="楷体" panose="02010609060101010101" pitchFamily="49" charset="-122"/>
                <a:sym typeface="+mn-ea"/>
              </a:rPr>
              <a:t>）：在生成树的同时决定是继续对不纯的训练子集进行划分还是停止。</a:t>
            </a:r>
            <a:endParaRPr lang="zh-CN" altLang="zh-CN" sz="2800" dirty="0">
              <a:latin typeface="楷体" panose="02010609060101010101" pitchFamily="49" charset="-122"/>
              <a:ea typeface="楷体" panose="02010609060101010101" pitchFamily="49" charset="-122"/>
            </a:endParaRPr>
          </a:p>
          <a:p>
            <a:pPr marL="400050" lvl="1" indent="0">
              <a:buNone/>
            </a:pPr>
            <a:r>
              <a:rPr lang="zh-CN" altLang="zh-CN"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2</a:t>
            </a:r>
            <a:r>
              <a:rPr lang="zh-CN" altLang="zh-CN" sz="2800" dirty="0">
                <a:latin typeface="楷体" panose="02010609060101010101" pitchFamily="49" charset="-122"/>
                <a:ea typeface="楷体" panose="02010609060101010101" pitchFamily="49" charset="-122"/>
                <a:sym typeface="+mn-ea"/>
              </a:rPr>
              <a:t>）后剪枝（</a:t>
            </a:r>
            <a:r>
              <a:rPr lang="en-US" altLang="zh-CN" sz="2800" dirty="0">
                <a:latin typeface="楷体" panose="02010609060101010101" pitchFamily="49" charset="-122"/>
                <a:ea typeface="楷体" panose="02010609060101010101" pitchFamily="49" charset="-122"/>
                <a:sym typeface="+mn-ea"/>
              </a:rPr>
              <a:t>Post-pruning</a:t>
            </a:r>
            <a:r>
              <a:rPr lang="zh-CN" altLang="zh-CN" sz="2800" dirty="0">
                <a:latin typeface="楷体" panose="02010609060101010101" pitchFamily="49" charset="-122"/>
                <a:ea typeface="楷体" panose="02010609060101010101" pitchFamily="49" charset="-122"/>
                <a:sym typeface="+mn-ea"/>
              </a:rPr>
              <a:t>）：一种拟合</a:t>
            </a:r>
            <a:r>
              <a:rPr lang="en-US" altLang="zh-CN" sz="2800" dirty="0">
                <a:latin typeface="楷体" panose="02010609060101010101" pitchFamily="49" charset="-122"/>
                <a:ea typeface="楷体" panose="02010609060101010101" pitchFamily="49" charset="-122"/>
                <a:sym typeface="+mn-ea"/>
              </a:rPr>
              <a:t>-</a:t>
            </a:r>
            <a:r>
              <a:rPr lang="zh-CN" altLang="zh-CN" sz="2800" dirty="0">
                <a:latin typeface="楷体" panose="02010609060101010101" pitchFamily="49" charset="-122"/>
                <a:ea typeface="楷体" panose="02010609060101010101" pitchFamily="49" charset="-122"/>
                <a:sym typeface="+mn-ea"/>
              </a:rPr>
              <a:t>化简（</a:t>
            </a:r>
            <a:r>
              <a:rPr lang="en-US" altLang="zh-CN" sz="2800" dirty="0">
                <a:latin typeface="楷体" panose="02010609060101010101" pitchFamily="49" charset="-122"/>
                <a:ea typeface="楷体" panose="02010609060101010101" pitchFamily="49" charset="-122"/>
                <a:sym typeface="+mn-ea"/>
              </a:rPr>
              <a:t>Fitting-and-simplifying</a:t>
            </a:r>
            <a:r>
              <a:rPr lang="zh-CN" altLang="zh-CN" sz="2800" dirty="0">
                <a:latin typeface="楷体" panose="02010609060101010101" pitchFamily="49" charset="-122"/>
                <a:ea typeface="楷体" panose="02010609060101010101" pitchFamily="49" charset="-122"/>
                <a:sym typeface="+mn-ea"/>
              </a:rPr>
              <a:t>）的两阶段方法。首先生成与训练数据完全拟合的一棵决策树，然后从树的叶子开始剪枝，逐步向根的方向剪。剪枝时要用到一个测试数据集合（</a:t>
            </a:r>
            <a:r>
              <a:rPr lang="en-US" altLang="zh-CN" sz="2800" dirty="0">
                <a:latin typeface="楷体" panose="02010609060101010101" pitchFamily="49" charset="-122"/>
                <a:ea typeface="楷体" panose="02010609060101010101" pitchFamily="49" charset="-122"/>
                <a:sym typeface="+mn-ea"/>
              </a:rPr>
              <a:t>Tuning Set</a:t>
            </a:r>
            <a:r>
              <a:rPr lang="zh-CN" altLang="zh-CN" sz="2800" dirty="0">
                <a:latin typeface="楷体" panose="02010609060101010101" pitchFamily="49" charset="-122"/>
                <a:ea typeface="楷体" panose="02010609060101010101" pitchFamily="49" charset="-122"/>
                <a:sym typeface="+mn-ea"/>
              </a:rPr>
              <a:t>或</a:t>
            </a:r>
            <a:r>
              <a:rPr lang="en-US" altLang="zh-CN" sz="2800" dirty="0">
                <a:latin typeface="楷体" panose="02010609060101010101" pitchFamily="49" charset="-122"/>
                <a:ea typeface="楷体" panose="02010609060101010101" pitchFamily="49" charset="-122"/>
                <a:sym typeface="+mn-ea"/>
              </a:rPr>
              <a:t>Adjusting Set</a:t>
            </a:r>
            <a:r>
              <a:rPr lang="zh-CN" altLang="zh-CN" sz="2800" dirty="0">
                <a:latin typeface="楷体" panose="02010609060101010101" pitchFamily="49" charset="-122"/>
                <a:ea typeface="楷体" panose="02010609060101010101" pitchFamily="49" charset="-122"/>
                <a:sym typeface="+mn-ea"/>
              </a:rPr>
              <a:t>），如果存在某个叶子剪去后测试集上的准确度或其他测试度不降低，则剪去该叶子；否则停止</a:t>
            </a:r>
            <a:r>
              <a:rPr lang="zh-CN" altLang="zh-CN" sz="2800" dirty="0">
                <a:sym typeface="+mn-ea"/>
              </a:rPr>
              <a:t>。</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8"/>
          <p:cNvSpPr txBox="1"/>
          <p:nvPr/>
        </p:nvSpPr>
        <p:spPr>
          <a:xfrm>
            <a:off x="1713230" y="946150"/>
            <a:ext cx="9023985" cy="495554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800" dirty="0">
                <a:latin typeface="楷体" panose="02010609060101010101" pitchFamily="49" charset="-122"/>
                <a:ea typeface="楷体" panose="02010609060101010101" pitchFamily="49" charset="-122"/>
              </a:rPr>
              <a:t>理论上讲，后剪枝好于预先剪枝，但计算复杂度大。剪枝过程中一般要涉及一些统计参数或阈值（如停机阈值）。值得注意的是，剪枝并不是对所有的数据集都好，就像是小决策树并不是最好（具有最大的预测率）的决策树一样。从某种意义上讲，剪枝也是一种偏向（</a:t>
            </a:r>
            <a:r>
              <a:rPr lang="en-US" altLang="zh-CN" sz="2800" dirty="0">
                <a:latin typeface="楷体" panose="02010609060101010101" pitchFamily="49" charset="-122"/>
                <a:ea typeface="楷体" panose="02010609060101010101" pitchFamily="49" charset="-122"/>
              </a:rPr>
              <a:t>Bias</a:t>
            </a:r>
            <a:r>
              <a:rPr lang="zh-CN" altLang="zh-CN" sz="2800" dirty="0">
                <a:latin typeface="楷体" panose="02010609060101010101" pitchFamily="49" charset="-122"/>
                <a:ea typeface="楷体" panose="02010609060101010101" pitchFamily="49" charset="-122"/>
              </a:rPr>
              <a:t>），对有些数据效果好而对另外一些数据则效果差。</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8"/>
          <p:cNvSpPr>
            <a:spLocks noGrp="1"/>
          </p:cNvSpPr>
          <p:nvPr>
            <p:ph idx="1"/>
          </p:nvPr>
        </p:nvSpPr>
        <p:spPr>
          <a:xfrm>
            <a:off x="1840830" y="1341799"/>
            <a:ext cx="8163307" cy="511113"/>
          </a:xfrm>
        </p:spPr>
        <p:txBody>
          <a:bodyPr>
            <a:noAutofit/>
          </a:bodyPr>
          <a:lstStyle/>
          <a:p>
            <a:r>
              <a:rPr lang="en-US" altLang="zh-CN" sz="2800" b="1" dirty="0">
                <a:latin typeface="楷体" panose="02010609060101010101" pitchFamily="49" charset="-122"/>
                <a:ea typeface="楷体" panose="02010609060101010101" pitchFamily="49" charset="-122"/>
              </a:rPr>
              <a:t>4.2.1 ID3</a:t>
            </a:r>
            <a:r>
              <a:rPr lang="zh-CN" altLang="zh-CN" sz="2800" b="1" dirty="0">
                <a:latin typeface="楷体" panose="02010609060101010101" pitchFamily="49" charset="-122"/>
                <a:ea typeface="楷体" panose="02010609060101010101" pitchFamily="49" charset="-122"/>
              </a:rPr>
              <a:t>算法原理</a:t>
            </a:r>
            <a:endParaRPr lang="zh-CN" altLang="zh-CN" sz="2800" b="1" dirty="0">
              <a:latin typeface="楷体" panose="02010609060101010101" pitchFamily="49" charset="-122"/>
              <a:ea typeface="楷体" panose="02010609060101010101" pitchFamily="49" charset="-122"/>
            </a:endParaRPr>
          </a:p>
        </p:txBody>
      </p:sp>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4.2</a:t>
            </a:r>
            <a:r>
              <a:rPr lang="zh-CN" altLang="zh-CN" dirty="0">
                <a:latin typeface="楷体" panose="02010609060101010101" pitchFamily="49" charset="-122"/>
                <a:ea typeface="楷体" panose="02010609060101010101" pitchFamily="49" charset="-122"/>
              </a:rPr>
              <a:t>决策树分类算法</a:t>
            </a:r>
            <a:r>
              <a:rPr lang="en-US" altLang="zh-CN" dirty="0">
                <a:latin typeface="楷体" panose="02010609060101010101" pitchFamily="49" charset="-122"/>
                <a:ea typeface="楷体" panose="02010609060101010101" pitchFamily="49" charset="-122"/>
              </a:rPr>
              <a:t>-ID3</a:t>
            </a:r>
            <a:r>
              <a:rPr lang="zh-CN" altLang="zh-CN" dirty="0">
                <a:latin typeface="楷体" panose="02010609060101010101" pitchFamily="49" charset="-122"/>
                <a:ea typeface="楷体" panose="02010609060101010101" pitchFamily="49" charset="-122"/>
              </a:rPr>
              <a:t>算法原理</a:t>
            </a:r>
            <a:endParaRPr lang="zh-CN" altLang="zh-CN" b="1" dirty="0">
              <a:latin typeface="楷体" panose="02010609060101010101" pitchFamily="49" charset="-122"/>
              <a:ea typeface="楷体" panose="02010609060101010101" pitchFamily="49" charset="-122"/>
            </a:endParaRPr>
          </a:p>
        </p:txBody>
      </p:sp>
      <p:sp>
        <p:nvSpPr>
          <p:cNvPr id="11" name="内容占位符 8"/>
          <p:cNvSpPr txBox="1"/>
          <p:nvPr/>
        </p:nvSpPr>
        <p:spPr>
          <a:xfrm>
            <a:off x="1840865" y="2038985"/>
            <a:ext cx="9198610" cy="4244975"/>
          </a:xfrm>
          <a:prstGeom prst="rect">
            <a:avLst/>
          </a:prstGeom>
        </p:spPr>
        <p:txBody>
          <a:bodyPr vert="horz" lIns="91440" tIns="45720" rIns="91440" bIns="45720" rtlCol="0"/>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3200" dirty="0">
                <a:latin typeface="楷体" panose="02010609060101010101" pitchFamily="49" charset="-122"/>
                <a:ea typeface="楷体" panose="02010609060101010101" pitchFamily="49" charset="-122"/>
              </a:rPr>
              <a:t>基本决策树构造算法是一个贪心算法，它采用自顶向下递归的方法构造决策树，著名的决策树算法</a:t>
            </a:r>
            <a:r>
              <a:rPr lang="en-US" altLang="zh-CN" sz="3200" dirty="0">
                <a:latin typeface="楷体" panose="02010609060101010101" pitchFamily="49" charset="-122"/>
                <a:ea typeface="楷体" panose="02010609060101010101" pitchFamily="49" charset="-122"/>
              </a:rPr>
              <a:t>ID3</a:t>
            </a:r>
            <a:r>
              <a:rPr lang="zh-CN" altLang="zh-CN" sz="3200" dirty="0">
                <a:latin typeface="楷体" panose="02010609060101010101" pitchFamily="49" charset="-122"/>
                <a:ea typeface="楷体" panose="02010609060101010101" pitchFamily="49" charset="-122"/>
              </a:rPr>
              <a:t>算法的基本策略如下。</a:t>
            </a:r>
            <a:endParaRPr lang="zh-CN" altLang="zh-CN" sz="3200" dirty="0">
              <a:latin typeface="楷体" panose="02010609060101010101" pitchFamily="49" charset="-122"/>
              <a:ea typeface="楷体" panose="02010609060101010101" pitchFamily="49" charset="-122"/>
            </a:endParaRPr>
          </a:p>
          <a:p>
            <a:pPr marL="0" indent="0">
              <a:buNone/>
            </a:pPr>
            <a:endParaRPr lang="zh-CN" altLang="zh-CN" sz="3200" dirty="0">
              <a:latin typeface="楷体" panose="02010609060101010101" pitchFamily="49" charset="-122"/>
              <a:ea typeface="楷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22500" y="710565"/>
            <a:ext cx="8915400" cy="5113655"/>
          </a:xfrm>
        </p:spPr>
        <p:txBody>
          <a:bodyPr>
            <a:noAutofit/>
          </a:bodyPr>
          <a:p>
            <a:pPr marL="0" indent="0">
              <a:buNone/>
            </a:pPr>
            <a:r>
              <a:rPr lang="zh-CN" altLang="zh-CN" sz="2400" b="1" dirty="0">
                <a:latin typeface="楷体" panose="02010609060101010101" pitchFamily="49" charset="-122"/>
                <a:ea typeface="楷体" panose="02010609060101010101" pitchFamily="49" charset="-122"/>
                <a:sym typeface="+mn-ea"/>
              </a:rPr>
              <a:t>（</a:t>
            </a:r>
            <a:r>
              <a:rPr lang="en-US" altLang="zh-CN" sz="2400" b="1" dirty="0">
                <a:latin typeface="楷体" panose="02010609060101010101" pitchFamily="49" charset="-122"/>
                <a:ea typeface="楷体" panose="02010609060101010101" pitchFamily="49" charset="-122"/>
                <a:sym typeface="+mn-ea"/>
              </a:rPr>
              <a:t>1</a:t>
            </a:r>
            <a:r>
              <a:rPr lang="zh-CN" altLang="zh-CN" sz="2400" b="1" dirty="0">
                <a:latin typeface="楷体" panose="02010609060101010101" pitchFamily="49" charset="-122"/>
                <a:ea typeface="楷体" panose="02010609060101010101" pitchFamily="49" charset="-122"/>
                <a:sym typeface="+mn-ea"/>
              </a:rPr>
              <a:t>）树以代表训练样本的单个节点开始；</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sym typeface="+mn-ea"/>
              </a:rPr>
              <a:t>（</a:t>
            </a:r>
            <a:r>
              <a:rPr lang="en-US" altLang="zh-CN" sz="2400" b="1" dirty="0">
                <a:latin typeface="楷体" panose="02010609060101010101" pitchFamily="49" charset="-122"/>
                <a:ea typeface="楷体" panose="02010609060101010101" pitchFamily="49" charset="-122"/>
                <a:sym typeface="+mn-ea"/>
              </a:rPr>
              <a:t>2</a:t>
            </a:r>
            <a:r>
              <a:rPr lang="zh-CN" altLang="zh-CN" sz="2400" b="1" dirty="0">
                <a:latin typeface="楷体" panose="02010609060101010101" pitchFamily="49" charset="-122"/>
                <a:ea typeface="楷体" panose="02010609060101010101" pitchFamily="49" charset="-122"/>
                <a:sym typeface="+mn-ea"/>
              </a:rPr>
              <a:t>）如果样本都在同一个类中，则这个节点成为树叶结点并标记为该类别；</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sym typeface="+mn-ea"/>
              </a:rPr>
              <a:t>（</a:t>
            </a:r>
            <a:r>
              <a:rPr lang="en-US" altLang="zh-CN" sz="2400" b="1" dirty="0">
                <a:latin typeface="楷体" panose="02010609060101010101" pitchFamily="49" charset="-122"/>
                <a:ea typeface="楷体" panose="02010609060101010101" pitchFamily="49" charset="-122"/>
                <a:sym typeface="+mn-ea"/>
              </a:rPr>
              <a:t>3</a:t>
            </a:r>
            <a:r>
              <a:rPr lang="zh-CN" altLang="zh-CN" sz="2400" b="1" dirty="0">
                <a:latin typeface="楷体" panose="02010609060101010101" pitchFamily="49" charset="-122"/>
                <a:ea typeface="楷体" panose="02010609060101010101" pitchFamily="49" charset="-122"/>
                <a:sym typeface="+mn-ea"/>
              </a:rPr>
              <a:t>）否则算法使用信息熵（称为信息增益）作为启发知识来帮助选择合适的将样本分类的属性，以便将样本集划分为若干子集，该属性就是相应节点的“测试”或“判定”属性，同时所有属性应当是离散值。</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sym typeface="+mn-ea"/>
              </a:rPr>
              <a:t>（</a:t>
            </a:r>
            <a:r>
              <a:rPr lang="en-US" altLang="zh-CN" sz="2400" b="1" dirty="0">
                <a:latin typeface="楷体" panose="02010609060101010101" pitchFamily="49" charset="-122"/>
                <a:ea typeface="楷体" panose="02010609060101010101" pitchFamily="49" charset="-122"/>
                <a:sym typeface="+mn-ea"/>
              </a:rPr>
              <a:t>4</a:t>
            </a:r>
            <a:r>
              <a:rPr lang="zh-CN" altLang="zh-CN" sz="2400" b="1" dirty="0">
                <a:latin typeface="楷体" panose="02010609060101010101" pitchFamily="49" charset="-122"/>
                <a:ea typeface="楷体" panose="02010609060101010101" pitchFamily="49" charset="-122"/>
                <a:sym typeface="+mn-ea"/>
              </a:rPr>
              <a:t>）对测试属性的每个已知的离散值创建一个分支，并据此划分样本；</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sym typeface="+mn-ea"/>
              </a:rPr>
              <a:t>（</a:t>
            </a:r>
            <a:r>
              <a:rPr lang="en-US" altLang="zh-CN" sz="2400" b="1" dirty="0">
                <a:latin typeface="楷体" panose="02010609060101010101" pitchFamily="49" charset="-122"/>
                <a:ea typeface="楷体" panose="02010609060101010101" pitchFamily="49" charset="-122"/>
                <a:sym typeface="+mn-ea"/>
              </a:rPr>
              <a:t>5</a:t>
            </a:r>
            <a:r>
              <a:rPr lang="zh-CN" altLang="zh-CN" sz="2400" b="1" dirty="0">
                <a:latin typeface="楷体" panose="02010609060101010101" pitchFamily="49" charset="-122"/>
                <a:ea typeface="楷体" panose="02010609060101010101" pitchFamily="49" charset="-122"/>
                <a:sym typeface="+mn-ea"/>
              </a:rPr>
              <a:t>）算法使用类似的方法，递归地形成每个划分上的样本决策树，一个属性一旦出现在某个结点上，那么它就不能再出现在该结点之后所产生的子树结点中；</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sym typeface="+mn-ea"/>
              </a:rPr>
              <a:t>（</a:t>
            </a:r>
            <a:r>
              <a:rPr lang="en-US" altLang="zh-CN" sz="2400" b="1" dirty="0">
                <a:latin typeface="楷体" panose="02010609060101010101" pitchFamily="49" charset="-122"/>
                <a:ea typeface="楷体" panose="02010609060101010101" pitchFamily="49" charset="-122"/>
                <a:sym typeface="+mn-ea"/>
              </a:rPr>
              <a:t>6</a:t>
            </a:r>
            <a:r>
              <a:rPr lang="zh-CN" altLang="zh-CN" sz="2400" b="1" dirty="0">
                <a:latin typeface="楷体" panose="02010609060101010101" pitchFamily="49" charset="-122"/>
                <a:ea typeface="楷体" panose="02010609060101010101" pitchFamily="49" charset="-122"/>
                <a:sym typeface="+mn-ea"/>
              </a:rPr>
              <a:t>）整个递归过程在下列条件之一成立时停止。</a:t>
            </a:r>
            <a:endParaRPr lang="zh-CN" altLang="zh-CN" sz="2400" b="1" dirty="0">
              <a:latin typeface="楷体" panose="02010609060101010101" pitchFamily="49" charset="-122"/>
              <a:ea typeface="楷体" panose="02010609060101010101" pitchFamily="49" charset="-122"/>
            </a:endParaRPr>
          </a:p>
          <a:p>
            <a:pPr marL="0" indent="0">
              <a:buNone/>
            </a:pPr>
            <a:endParaRPr lang="zh-CN" altLang="zh-CN" sz="2400" b="1" dirty="0">
              <a:latin typeface="楷体" panose="02010609060101010101" pitchFamily="49" charset="-122"/>
              <a:ea typeface="楷体" panose="02010609060101010101" pitchFamily="49" charset="-122"/>
            </a:endParaRPr>
          </a:p>
          <a:p>
            <a:endParaRPr lang="zh-CN" altLang="zh-CN" sz="2400" b="1" dirty="0">
              <a:latin typeface="楷体" panose="02010609060101010101" pitchFamily="49" charset="-122"/>
              <a:ea typeface="楷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8"/>
          <p:cNvSpPr txBox="1"/>
          <p:nvPr/>
        </p:nvSpPr>
        <p:spPr>
          <a:xfrm>
            <a:off x="1628775" y="929005"/>
            <a:ext cx="9683115" cy="463359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zh-CN" sz="2800" dirty="0">
                <a:latin typeface="楷体" panose="02010609060101010101" pitchFamily="49" charset="-122"/>
                <a:ea typeface="楷体" panose="02010609060101010101" pitchFamily="49" charset="-122"/>
                <a:sym typeface="Symbol" panose="05050102010706020507" pitchFamily="18" charset="2"/>
              </a:rPr>
              <a:t></a:t>
            </a:r>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给定结点的所有样本属于同一类；</a:t>
            </a:r>
            <a:endParaRPr lang="zh-CN"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sym typeface="Symbol" panose="05050102010706020507" pitchFamily="18" charset="2"/>
              </a:rPr>
              <a:t></a:t>
            </a:r>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没有剩余属性可以用来进一步划分样本，这时候该结点作为树叶，并用剩余样本中所出现最多的类型作为叶子结点的类型；</a:t>
            </a:r>
            <a:endParaRPr lang="zh-CN"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sym typeface="Symbol" panose="05050102010706020507" pitchFamily="18" charset="2"/>
              </a:rPr>
              <a:t></a:t>
            </a:r>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某一分枝没有样本，在这种情况下以训练样本集中占多数的类创建一个树叶。</a:t>
            </a:r>
            <a:endParaRPr lang="zh-CN"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ID3</a:t>
            </a:r>
            <a:r>
              <a:rPr lang="zh-CN" altLang="zh-CN" sz="2800" dirty="0">
                <a:latin typeface="楷体" panose="02010609060101010101" pitchFamily="49" charset="-122"/>
                <a:ea typeface="楷体" panose="02010609060101010101" pitchFamily="49" charset="-122"/>
              </a:rPr>
              <a:t>算法的核心是在决策树各级结点上选择属性时，</a:t>
            </a:r>
            <a:r>
              <a:rPr lang="zh-CN" altLang="zh-CN" sz="2800" b="1" dirty="0">
                <a:solidFill>
                  <a:schemeClr val="accent1"/>
                </a:solidFill>
                <a:latin typeface="楷体" panose="02010609060101010101" pitchFamily="49" charset="-122"/>
                <a:ea typeface="楷体" panose="02010609060101010101" pitchFamily="49" charset="-122"/>
              </a:rPr>
              <a:t>用信息增益作为属性的选择标准</a:t>
            </a:r>
            <a:r>
              <a:rPr lang="zh-CN" altLang="zh-CN" sz="2800" dirty="0">
                <a:latin typeface="楷体" panose="02010609060101010101" pitchFamily="49" charset="-122"/>
                <a:ea typeface="楷体" panose="02010609060101010101" pitchFamily="49" charset="-122"/>
              </a:rPr>
              <a:t>，以使得在每一个非结点进行测试时，能获得关于被测试记录最大的类别信息。</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8"/>
          <p:cNvSpPr>
            <a:spLocks noGrp="1"/>
          </p:cNvSpPr>
          <p:nvPr>
            <p:ph idx="1"/>
          </p:nvPr>
        </p:nvSpPr>
        <p:spPr>
          <a:xfrm>
            <a:off x="1840865" y="1592580"/>
            <a:ext cx="9714865" cy="1157605"/>
          </a:xfrm>
        </p:spPr>
        <p:txBody>
          <a:bodyPr>
            <a:noAutofit/>
          </a:bodyPr>
          <a:lstStyle/>
          <a:p>
            <a:r>
              <a:rPr lang="zh-CN" altLang="zh-CN" sz="2800" dirty="0">
                <a:latin typeface="楷体" panose="02010609060101010101" pitchFamily="49" charset="-122"/>
                <a:ea typeface="楷体" panose="02010609060101010101" pitchFamily="49" charset="-122"/>
              </a:rPr>
              <a:t>为了寻找对样本进行分类的最优方法，我们要做的工作就是使对一个样本分类时需要问的问题最少（即</a:t>
            </a:r>
            <a:r>
              <a:rPr lang="zh-CN" altLang="zh-CN" sz="2800" b="1" dirty="0">
                <a:solidFill>
                  <a:schemeClr val="accent1"/>
                </a:solidFill>
                <a:latin typeface="楷体" panose="02010609060101010101" pitchFamily="49" charset="-122"/>
                <a:ea typeface="楷体" panose="02010609060101010101" pitchFamily="49" charset="-122"/>
              </a:rPr>
              <a:t>树的深度最小</a:t>
            </a:r>
            <a:r>
              <a:rPr lang="zh-CN" altLang="zh-CN" sz="2800" dirty="0">
                <a:latin typeface="楷体" panose="02010609060101010101" pitchFamily="49" charset="-122"/>
                <a:ea typeface="楷体" panose="02010609060101010101" pitchFamily="49" charset="-122"/>
              </a:rPr>
              <a:t>）</a:t>
            </a:r>
            <a:r>
              <a:rPr lang="zh-CN" altLang="zh-CN" sz="2800" b="1" i="1"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因此，我们需要某种函数来衡量哪些问题将提供最为平衡的划分，信息增益就是这样的函数之一。</a:t>
            </a:r>
            <a:endParaRPr lang="zh-CN" altLang="zh-CN" sz="2800" dirty="0">
              <a:latin typeface="楷体" panose="02010609060101010101" pitchFamily="49" charset="-122"/>
              <a:ea typeface="楷体" panose="02010609060101010101" pitchFamily="49" charset="-122"/>
            </a:endParaRPr>
          </a:p>
        </p:txBody>
      </p:sp>
      <p:sp>
        <p:nvSpPr>
          <p:cNvPr id="10" name="标题 1"/>
          <p:cNvSpPr>
            <a:spLocks noGrp="1"/>
          </p:cNvSpPr>
          <p:nvPr>
            <p:ph type="title"/>
          </p:nvPr>
        </p:nvSpPr>
        <p:spPr>
          <a:xfrm>
            <a:off x="1840832" y="654788"/>
            <a:ext cx="8911687" cy="687332"/>
          </a:xfrm>
        </p:spPr>
        <p:txBody>
          <a:bodyPr/>
          <a:lstStyle/>
          <a:p>
            <a:r>
              <a:rPr lang="en-US" altLang="zh-CN" b="1" dirty="0">
                <a:latin typeface="楷体" panose="02010609060101010101" pitchFamily="49" charset="-122"/>
                <a:ea typeface="楷体" panose="02010609060101010101" pitchFamily="49" charset="-122"/>
              </a:rPr>
              <a:t>4.2.2</a:t>
            </a:r>
            <a:r>
              <a:rPr lang="zh-CN" altLang="zh-CN" b="1" dirty="0">
                <a:latin typeface="楷体" panose="02010609060101010101" pitchFamily="49" charset="-122"/>
                <a:ea typeface="楷体" panose="02010609060101010101" pitchFamily="49" charset="-122"/>
              </a:rPr>
              <a:t>熵和信息增益</a:t>
            </a:r>
            <a:endParaRPr lang="zh-CN" altLang="zh-CN" b="1" dirty="0">
              <a:latin typeface="楷体" panose="02010609060101010101" pitchFamily="49" charset="-122"/>
              <a:ea typeface="楷体" panose="02010609060101010101" pitchFamily="49" charset="-122"/>
            </a:endParaRPr>
          </a:p>
        </p:txBody>
      </p:sp>
      <p:sp>
        <p:nvSpPr>
          <p:cNvPr id="28" name="Rectangle 21"/>
          <p:cNvSpPr>
            <a:spLocks noChangeArrowheads="1"/>
          </p:cNvSpPr>
          <p:nvPr/>
        </p:nvSpPr>
        <p:spPr bwMode="auto">
          <a:xfrm>
            <a:off x="173516" y="957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6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 name="文本框 1"/>
          <p:cNvSpPr txBox="1"/>
          <p:nvPr/>
        </p:nvSpPr>
        <p:spPr>
          <a:xfrm>
            <a:off x="2532380" y="4116705"/>
            <a:ext cx="8564245" cy="521970"/>
          </a:xfrm>
          <a:prstGeom prst="rect">
            <a:avLst/>
          </a:prstGeom>
          <a:noFill/>
        </p:spPr>
        <p:txBody>
          <a:bodyPr wrap="square" rtlCol="0">
            <a:spAutoFit/>
          </a:bodyPr>
          <a:p>
            <a:r>
              <a:rPr lang="zh-CN" altLang="en-US" sz="2800" b="1">
                <a:solidFill>
                  <a:schemeClr val="accent1"/>
                </a:solidFill>
              </a:rPr>
              <a:t>理解信息增益，首先需要引入信息熵的概念</a:t>
            </a:r>
            <a:endParaRPr lang="zh-CN" altLang="en-US" sz="2800" b="1">
              <a:solidFill>
                <a:schemeClr val="accen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内容占位符 8"/>
          <p:cNvSpPr txBox="1"/>
          <p:nvPr/>
        </p:nvSpPr>
        <p:spPr>
          <a:xfrm>
            <a:off x="1905635" y="947420"/>
            <a:ext cx="8830945" cy="117856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en-US" sz="2800" dirty="0">
                <a:latin typeface="楷体" panose="02010609060101010101" pitchFamily="49" charset="-122"/>
                <a:ea typeface="楷体" panose="02010609060101010101" pitchFamily="49" charset="-122"/>
              </a:rPr>
              <a:t>设</a:t>
            </a:r>
            <a:r>
              <a:rPr lang="en-US" altLang="zh-CN" sz="2800" dirty="0">
                <a:latin typeface="楷体" panose="02010609060101010101" pitchFamily="49" charset="-122"/>
                <a:ea typeface="楷体" panose="02010609060101010101" pitchFamily="49" charset="-122"/>
              </a:rPr>
              <a:t>S</a:t>
            </a:r>
            <a:r>
              <a:rPr lang="zh-CN" altLang="en-US" sz="2800" dirty="0">
                <a:latin typeface="楷体" panose="02010609060101010101" pitchFamily="49" charset="-122"/>
                <a:ea typeface="楷体" panose="02010609060101010101" pitchFamily="49" charset="-122"/>
              </a:rPr>
              <a:t>是训练样本集，它包括</a:t>
            </a:r>
            <a:r>
              <a:rPr lang="en-US" altLang="zh-CN" sz="2800" dirty="0">
                <a:latin typeface="楷体" panose="02010609060101010101" pitchFamily="49" charset="-122"/>
                <a:ea typeface="楷体" panose="02010609060101010101" pitchFamily="49" charset="-122"/>
              </a:rPr>
              <a:t>n</a:t>
            </a:r>
            <a:r>
              <a:rPr lang="zh-CN" altLang="en-US" sz="2800" dirty="0">
                <a:latin typeface="楷体" panose="02010609060101010101" pitchFamily="49" charset="-122"/>
                <a:ea typeface="楷体" panose="02010609060101010101" pitchFamily="49" charset="-122"/>
              </a:rPr>
              <a:t>个类别的样本，那么</a:t>
            </a:r>
            <a:r>
              <a:rPr lang="en-US" altLang="zh-CN" sz="2800" dirty="0">
                <a:latin typeface="楷体" panose="02010609060101010101" pitchFamily="49" charset="-122"/>
                <a:ea typeface="楷体" panose="02010609060101010101" pitchFamily="49" charset="-122"/>
              </a:rPr>
              <a:t>S</a:t>
            </a:r>
            <a:r>
              <a:rPr lang="zh-CN" altLang="en-US" sz="2800" dirty="0">
                <a:latin typeface="楷体" panose="02010609060101010101" pitchFamily="49" charset="-122"/>
                <a:ea typeface="楷体" panose="02010609060101010101" pitchFamily="49" charset="-122"/>
              </a:rPr>
              <a:t>的熵（</a:t>
            </a:r>
            <a:r>
              <a:rPr lang="en-US" altLang="zh-CN" sz="2800" dirty="0">
                <a:latin typeface="楷体" panose="02010609060101010101" pitchFamily="49" charset="-122"/>
                <a:ea typeface="楷体" panose="02010609060101010101" pitchFamily="49" charset="-122"/>
              </a:rPr>
              <a:t>entropy</a:t>
            </a:r>
            <a:r>
              <a:rPr lang="zh-CN" altLang="en-US" sz="2800" dirty="0">
                <a:latin typeface="楷体" panose="02010609060101010101" pitchFamily="49" charset="-122"/>
                <a:ea typeface="楷体" panose="02010609060101010101" pitchFamily="49" charset="-122"/>
              </a:rPr>
              <a:t>）或者期望信息为 </a:t>
            </a:r>
            <a:endParaRPr lang="en-US" altLang="zh-CN" sz="2800" dirty="0">
              <a:latin typeface="楷体" panose="02010609060101010101" pitchFamily="49" charset="-122"/>
              <a:ea typeface="楷体" panose="02010609060101010101" pitchFamily="49" charset="-122"/>
            </a:endParaRPr>
          </a:p>
          <a:p>
            <a:pPr marL="0" indent="0">
              <a:buNone/>
            </a:pPr>
            <a:endParaRPr lang="en-US" altLang="zh-CN" sz="2800" dirty="0">
              <a:latin typeface="楷体" panose="02010609060101010101" pitchFamily="49" charset="-122"/>
              <a:ea typeface="楷体" panose="02010609060101010101" pitchFamily="49" charset="-122"/>
            </a:endParaRPr>
          </a:p>
        </p:txBody>
      </p:sp>
      <p:graphicFrame>
        <p:nvGraphicFramePr>
          <p:cNvPr id="27" name="对象 26"/>
          <p:cNvGraphicFramePr>
            <a:graphicFrameLocks noChangeAspect="1"/>
          </p:cNvGraphicFramePr>
          <p:nvPr/>
        </p:nvGraphicFramePr>
        <p:xfrm>
          <a:off x="3808730" y="2125980"/>
          <a:ext cx="3146425" cy="801370"/>
        </p:xfrm>
        <a:graphic>
          <a:graphicData uri="http://schemas.openxmlformats.org/presentationml/2006/ole">
            <mc:AlternateContent xmlns:mc="http://schemas.openxmlformats.org/markup-compatibility/2006">
              <mc:Choice xmlns:v="urn:schemas-microsoft-com:vml" Requires="v">
                <p:oleObj spid="_x0000_s3148" name="" r:id="rId1" imgW="1663700" imgH="431800" progId="Equation.DSMT4">
                  <p:embed/>
                </p:oleObj>
              </mc:Choice>
              <mc:Fallback>
                <p:oleObj name="" r:id="rId1" imgW="1663700" imgH="431800" progId="Equation.DSMT4">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8730" y="2125980"/>
                        <a:ext cx="3146425" cy="801370"/>
                      </a:xfrm>
                      <a:prstGeom prst="rect">
                        <a:avLst/>
                      </a:prstGeom>
                      <a:noFill/>
                    </p:spPr>
                  </p:pic>
                </p:oleObj>
              </mc:Fallback>
            </mc:AlternateContent>
          </a:graphicData>
        </a:graphic>
      </p:graphicFrame>
      <p:pic>
        <p:nvPicPr>
          <p:cNvPr id="76" name="图片 75"/>
          <p:cNvPicPr>
            <a:picLocks noChangeAspect="1"/>
          </p:cNvPicPr>
          <p:nvPr/>
        </p:nvPicPr>
        <p:blipFill>
          <a:blip r:embed="rId3"/>
          <a:stretch>
            <a:fillRect/>
          </a:stretch>
        </p:blipFill>
        <p:spPr>
          <a:xfrm>
            <a:off x="1575435" y="2787650"/>
            <a:ext cx="10247630" cy="36569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8"/>
          <p:cNvSpPr txBox="1"/>
          <p:nvPr/>
        </p:nvSpPr>
        <p:spPr>
          <a:xfrm>
            <a:off x="1564005" y="799465"/>
            <a:ext cx="9586595" cy="51720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en-US" sz="2800" dirty="0">
                <a:latin typeface="楷体" panose="02010609060101010101" pitchFamily="49" charset="-122"/>
                <a:ea typeface="楷体" panose="02010609060101010101" pitchFamily="49" charset="-122"/>
                <a:sym typeface="Symbol" panose="05050102010706020507" pitchFamily="18" charset="2"/>
              </a:rPr>
              <a:t>可见，</a:t>
            </a:r>
            <a:r>
              <a:rPr lang="zh-CN" altLang="en-US" sz="2800" b="1" dirty="0">
                <a:solidFill>
                  <a:schemeClr val="accent1"/>
                </a:solidFill>
                <a:latin typeface="楷体" panose="02010609060101010101" pitchFamily="49" charset="-122"/>
                <a:ea typeface="楷体" panose="02010609060101010101" pitchFamily="49" charset="-122"/>
                <a:sym typeface="Symbol" panose="05050102010706020507" pitchFamily="18" charset="2"/>
              </a:rPr>
              <a:t>样本的概率分布越均衡，它的信息量（熵）就越大</a:t>
            </a:r>
            <a:r>
              <a:rPr lang="zh-CN" altLang="en-US" sz="2800" dirty="0">
                <a:latin typeface="楷体" panose="02010609060101010101" pitchFamily="49" charset="-122"/>
                <a:ea typeface="楷体" panose="02010609060101010101" pitchFamily="49" charset="-122"/>
                <a:sym typeface="Symbol" panose="05050102010706020507" pitchFamily="18" charset="2"/>
              </a:rPr>
              <a:t>，</a:t>
            </a:r>
            <a:r>
              <a:rPr lang="zh-CN" altLang="en-US" sz="2800" b="1" dirty="0">
                <a:solidFill>
                  <a:schemeClr val="accent1"/>
                </a:solidFill>
                <a:latin typeface="楷体" panose="02010609060101010101" pitchFamily="49" charset="-122"/>
                <a:ea typeface="楷体" panose="02010609060101010101" pitchFamily="49" charset="-122"/>
                <a:sym typeface="Symbol" panose="05050102010706020507" pitchFamily="18" charset="2"/>
              </a:rPr>
              <a:t>样本集的混杂程度也越高</a:t>
            </a:r>
            <a:r>
              <a:rPr lang="zh-CN" altLang="en-US" sz="2800" dirty="0">
                <a:latin typeface="楷体" panose="02010609060101010101" pitchFamily="49" charset="-122"/>
                <a:ea typeface="楷体" panose="02010609060101010101" pitchFamily="49" charset="-122"/>
                <a:sym typeface="Symbol" panose="05050102010706020507" pitchFamily="18" charset="2"/>
              </a:rPr>
              <a:t>。因此，熵可以作为训练集的</a:t>
            </a:r>
            <a:r>
              <a:rPr lang="zh-CN" altLang="en-US" sz="2800" b="1" dirty="0">
                <a:solidFill>
                  <a:schemeClr val="accent1"/>
                </a:solidFill>
                <a:latin typeface="楷体" panose="02010609060101010101" pitchFamily="49" charset="-122"/>
                <a:ea typeface="楷体" panose="02010609060101010101" pitchFamily="49" charset="-122"/>
                <a:sym typeface="Symbol" panose="05050102010706020507" pitchFamily="18" charset="2"/>
              </a:rPr>
              <a:t>不纯度（</a:t>
            </a:r>
            <a:r>
              <a:rPr lang="en-US" altLang="zh-CN" sz="2800" b="1" dirty="0">
                <a:solidFill>
                  <a:schemeClr val="accent1"/>
                </a:solidFill>
                <a:latin typeface="楷体" panose="02010609060101010101" pitchFamily="49" charset="-122"/>
                <a:ea typeface="楷体" panose="02010609060101010101" pitchFamily="49" charset="-122"/>
                <a:sym typeface="Symbol" panose="05050102010706020507" pitchFamily="18" charset="2"/>
              </a:rPr>
              <a:t>impurity</a:t>
            </a:r>
            <a:r>
              <a:rPr lang="zh-CN" altLang="en-US" sz="2800" b="1" dirty="0">
                <a:solidFill>
                  <a:schemeClr val="accent1"/>
                </a:solidFill>
                <a:latin typeface="楷体" panose="02010609060101010101" pitchFamily="49" charset="-122"/>
                <a:ea typeface="楷体" panose="02010609060101010101" pitchFamily="49" charset="-122"/>
                <a:sym typeface="Symbol" panose="05050102010706020507" pitchFamily="18" charset="2"/>
              </a:rPr>
              <a:t>）</a:t>
            </a:r>
            <a:r>
              <a:rPr lang="zh-CN" altLang="en-US" sz="2800" dirty="0">
                <a:latin typeface="楷体" panose="02010609060101010101" pitchFamily="49" charset="-122"/>
                <a:ea typeface="楷体" panose="02010609060101010101" pitchFamily="49" charset="-122"/>
                <a:sym typeface="Symbol" panose="05050102010706020507" pitchFamily="18" charset="2"/>
              </a:rPr>
              <a:t>的一个度量，熵越大，不纯度就越高。这样，决策树的分支原则就是使划分后的样本的子集越纯越好，即它们的熵越小越好。</a:t>
            </a:r>
            <a:endParaRPr lang="zh-CN" altLang="en-US" sz="2800" dirty="0">
              <a:latin typeface="楷体" panose="02010609060101010101" pitchFamily="49" charset="-122"/>
              <a:ea typeface="楷体" panose="02010609060101010101" pitchFamily="49" charset="-122"/>
              <a:sym typeface="Symbol" panose="05050102010706020507" pitchFamily="18" charset="2"/>
            </a:endParaRPr>
          </a:p>
          <a:p>
            <a:pPr marL="0" indent="0">
              <a:buNone/>
            </a:pPr>
            <a:endParaRPr lang="zh-CN" altLang="en-US" sz="2800" dirty="0">
              <a:latin typeface="楷体" panose="02010609060101010101" pitchFamily="49" charset="-122"/>
              <a:ea typeface="楷体" panose="02010609060101010101" pitchFamily="49" charset="-122"/>
              <a:sym typeface="Symbol" panose="05050102010706020507" pitchFamily="18" charset="2"/>
            </a:endParaRPr>
          </a:p>
        </p:txBody>
      </p:sp>
      <p:sp>
        <p:nvSpPr>
          <p:cNvPr id="26" name="Rectangle 24"/>
          <p:cNvSpPr>
            <a:spLocks noChangeArrowheads="1"/>
          </p:cNvSpPr>
          <p:nvPr/>
        </p:nvSpPr>
        <p:spPr bwMode="auto">
          <a:xfrm>
            <a:off x="2322095" y="519251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1755775" y="3295015"/>
            <a:ext cx="9203690" cy="2676525"/>
          </a:xfrm>
          <a:prstGeom prst="rect">
            <a:avLst/>
          </a:prstGeom>
          <a:solidFill>
            <a:schemeClr val="accent2">
              <a:lumMod val="20000"/>
              <a:lumOff val="80000"/>
            </a:schemeClr>
          </a:solidFill>
        </p:spPr>
        <p:txBody>
          <a:bodyPr wrap="square" rtlCol="0">
            <a:spAutoFit/>
          </a:bodyPr>
          <a:p>
            <a:r>
              <a:rPr lang="zh-CN" altLang="en-US" sz="2400" b="1" dirty="0">
                <a:latin typeface="楷体" panose="02010609060101010101" pitchFamily="49" charset="-122"/>
                <a:ea typeface="楷体" panose="02010609060101010101" pitchFamily="49" charset="-122"/>
                <a:sym typeface="Symbol" panose="05050102010706020507" pitchFamily="18" charset="2"/>
              </a:rPr>
              <a:t>从直观上，在没有任何信息的情况下，如果要猜测一个样本的类别，我们会倾向于指定该样本以</a:t>
            </a:r>
            <a:r>
              <a:rPr lang="en-US" altLang="zh-CN" sz="2400" b="1" dirty="0">
                <a:latin typeface="楷体" panose="02010609060101010101" pitchFamily="49" charset="-122"/>
                <a:ea typeface="楷体" panose="02010609060101010101" pitchFamily="49" charset="-122"/>
                <a:sym typeface="Symbol" panose="05050102010706020507" pitchFamily="18" charset="2"/>
              </a:rPr>
              <a:t>0.5</a:t>
            </a:r>
            <a:r>
              <a:rPr lang="zh-CN" altLang="en-US" sz="2400" b="1" dirty="0">
                <a:latin typeface="楷体" panose="02010609060101010101" pitchFamily="49" charset="-122"/>
                <a:ea typeface="楷体" panose="02010609060101010101" pitchFamily="49" charset="-122"/>
                <a:sym typeface="Symbol" panose="05050102010706020507" pitchFamily="18" charset="2"/>
              </a:rPr>
              <a:t>的概率属于类别</a:t>
            </a:r>
            <a:r>
              <a:rPr lang="en-US" altLang="zh-CN" sz="2400" b="1" dirty="0">
                <a:latin typeface="楷体" panose="02010609060101010101" pitchFamily="49" charset="-122"/>
                <a:ea typeface="楷体" panose="02010609060101010101" pitchFamily="49" charset="-122"/>
                <a:sym typeface="Symbol" panose="05050102010706020507" pitchFamily="18" charset="2"/>
              </a:rPr>
              <a:t>C1</a:t>
            </a:r>
            <a:r>
              <a:rPr lang="zh-CN" altLang="en-US" sz="2400" b="1" dirty="0">
                <a:latin typeface="楷体" panose="02010609060101010101" pitchFamily="49" charset="-122"/>
                <a:ea typeface="楷体" panose="02010609060101010101" pitchFamily="49" charset="-122"/>
                <a:sym typeface="Symbol" panose="05050102010706020507" pitchFamily="18" charset="2"/>
              </a:rPr>
              <a:t>，并以同样的</a:t>
            </a:r>
            <a:r>
              <a:rPr lang="en-US" altLang="zh-CN" sz="2400" b="1" dirty="0">
                <a:latin typeface="楷体" panose="02010609060101010101" pitchFamily="49" charset="-122"/>
                <a:ea typeface="楷体" panose="02010609060101010101" pitchFamily="49" charset="-122"/>
                <a:sym typeface="Symbol" panose="05050102010706020507" pitchFamily="18" charset="2"/>
              </a:rPr>
              <a:t>0.5</a:t>
            </a:r>
            <a:r>
              <a:rPr lang="zh-CN" altLang="en-US" sz="2400" b="1" dirty="0">
                <a:latin typeface="楷体" panose="02010609060101010101" pitchFamily="49" charset="-122"/>
                <a:ea typeface="楷体" panose="02010609060101010101" pitchFamily="49" charset="-122"/>
                <a:sym typeface="Symbol" panose="05050102010706020507" pitchFamily="18" charset="2"/>
              </a:rPr>
              <a:t>概率属于类别</a:t>
            </a:r>
            <a:r>
              <a:rPr lang="en-US" altLang="zh-CN" sz="2400" b="1" dirty="0">
                <a:latin typeface="楷体" panose="02010609060101010101" pitchFamily="49" charset="-122"/>
                <a:ea typeface="楷体" panose="02010609060101010101" pitchFamily="49" charset="-122"/>
                <a:sym typeface="Symbol" panose="05050102010706020507" pitchFamily="18" charset="2"/>
              </a:rPr>
              <a:t>C2</a:t>
            </a:r>
            <a:r>
              <a:rPr lang="zh-CN" altLang="en-US" sz="2400" b="1" dirty="0">
                <a:latin typeface="楷体" panose="02010609060101010101" pitchFamily="49" charset="-122"/>
                <a:ea typeface="楷体" panose="02010609060101010101" pitchFamily="49" charset="-122"/>
                <a:sym typeface="Symbol" panose="05050102010706020507" pitchFamily="18" charset="2"/>
              </a:rPr>
              <a:t>，也就是说，在没有反对信息存在的情况下，我们会假设先验概率相等，此时的熵为</a:t>
            </a:r>
            <a:r>
              <a:rPr lang="en-US" altLang="zh-CN" sz="2400" b="1" dirty="0">
                <a:latin typeface="楷体" panose="02010609060101010101" pitchFamily="49" charset="-122"/>
                <a:ea typeface="楷体" panose="02010609060101010101" pitchFamily="49" charset="-122"/>
                <a:sym typeface="Symbol" panose="05050102010706020507" pitchFamily="18" charset="2"/>
              </a:rPr>
              <a:t>1</a:t>
            </a:r>
            <a:r>
              <a:rPr lang="zh-CN" altLang="en-US" sz="2400" b="1" dirty="0">
                <a:latin typeface="楷体" panose="02010609060101010101" pitchFamily="49" charset="-122"/>
                <a:ea typeface="楷体" panose="02010609060101010101" pitchFamily="49" charset="-122"/>
                <a:sym typeface="Symbol" panose="05050102010706020507" pitchFamily="18" charset="2"/>
              </a:rPr>
              <a:t>。但是，当我们已知</a:t>
            </a:r>
            <a:r>
              <a:rPr lang="en-US" altLang="zh-CN" sz="2400" b="1" dirty="0">
                <a:latin typeface="楷体" panose="02010609060101010101" pitchFamily="49" charset="-122"/>
                <a:ea typeface="楷体" panose="02010609060101010101" pitchFamily="49" charset="-122"/>
                <a:sym typeface="Symbol" panose="05050102010706020507" pitchFamily="18" charset="2"/>
              </a:rPr>
              <a:t>C1</a:t>
            </a:r>
            <a:r>
              <a:rPr lang="zh-CN" altLang="en-US" sz="2400" b="1" dirty="0">
                <a:latin typeface="楷体" panose="02010609060101010101" pitchFamily="49" charset="-122"/>
                <a:ea typeface="楷体" panose="02010609060101010101" pitchFamily="49" charset="-122"/>
                <a:sym typeface="Symbol" panose="05050102010706020507" pitchFamily="18" charset="2"/>
              </a:rPr>
              <a:t>的样本数占</a:t>
            </a:r>
            <a:r>
              <a:rPr lang="en-US" altLang="zh-CN" sz="2400" b="1" dirty="0">
                <a:latin typeface="楷体" panose="02010609060101010101" pitchFamily="49" charset="-122"/>
                <a:ea typeface="楷体" panose="02010609060101010101" pitchFamily="49" charset="-122"/>
                <a:sym typeface="Symbol" panose="05050102010706020507" pitchFamily="18" charset="2"/>
              </a:rPr>
              <a:t>67%</a:t>
            </a:r>
            <a:r>
              <a:rPr lang="zh-CN" altLang="en-US" sz="2400" b="1" dirty="0">
                <a:latin typeface="楷体" panose="02010609060101010101" pitchFamily="49" charset="-122"/>
                <a:ea typeface="楷体" panose="02010609060101010101" pitchFamily="49" charset="-122"/>
                <a:sym typeface="Symbol" panose="05050102010706020507" pitchFamily="18" charset="2"/>
              </a:rPr>
              <a:t>，</a:t>
            </a:r>
            <a:r>
              <a:rPr lang="en-US" altLang="zh-CN" sz="2400" b="1" dirty="0">
                <a:latin typeface="楷体" panose="02010609060101010101" pitchFamily="49" charset="-122"/>
                <a:ea typeface="楷体" panose="02010609060101010101" pitchFamily="49" charset="-122"/>
                <a:sym typeface="Symbol" panose="05050102010706020507" pitchFamily="18" charset="2"/>
              </a:rPr>
              <a:t>C2</a:t>
            </a:r>
            <a:r>
              <a:rPr lang="zh-CN" altLang="en-US" sz="2400" b="1" dirty="0">
                <a:latin typeface="楷体" panose="02010609060101010101" pitchFamily="49" charset="-122"/>
                <a:ea typeface="楷体" panose="02010609060101010101" pitchFamily="49" charset="-122"/>
                <a:sym typeface="Symbol" panose="05050102010706020507" pitchFamily="18" charset="2"/>
              </a:rPr>
              <a:t>的样本数占</a:t>
            </a:r>
            <a:r>
              <a:rPr lang="en-US" altLang="zh-CN" sz="2400" b="1" dirty="0">
                <a:latin typeface="楷体" panose="02010609060101010101" pitchFamily="49" charset="-122"/>
                <a:ea typeface="楷体" panose="02010609060101010101" pitchFamily="49" charset="-122"/>
                <a:sym typeface="Symbol" panose="05050102010706020507" pitchFamily="18" charset="2"/>
              </a:rPr>
              <a:t>33%</a:t>
            </a:r>
            <a:r>
              <a:rPr lang="zh-CN" altLang="en-US" sz="2400" b="1" dirty="0">
                <a:latin typeface="楷体" panose="02010609060101010101" pitchFamily="49" charset="-122"/>
                <a:ea typeface="楷体" panose="02010609060101010101" pitchFamily="49" charset="-122"/>
                <a:sym typeface="Symbol" panose="05050102010706020507" pitchFamily="18" charset="2"/>
              </a:rPr>
              <a:t>时，熵变为</a:t>
            </a:r>
            <a:r>
              <a:rPr lang="en-US" altLang="zh-CN" sz="2400" b="1" dirty="0">
                <a:latin typeface="楷体" panose="02010609060101010101" pitchFamily="49" charset="-122"/>
                <a:ea typeface="楷体" panose="02010609060101010101" pitchFamily="49" charset="-122"/>
                <a:sym typeface="Symbol" panose="05050102010706020507" pitchFamily="18" charset="2"/>
              </a:rPr>
              <a:t>0.92</a:t>
            </a:r>
            <a:r>
              <a:rPr lang="zh-CN" altLang="en-US" sz="2400" b="1" dirty="0">
                <a:latin typeface="楷体" panose="02010609060101010101" pitchFamily="49" charset="-122"/>
                <a:ea typeface="楷体" panose="02010609060101010101" pitchFamily="49" charset="-122"/>
                <a:sym typeface="Symbol" panose="05050102010706020507" pitchFamily="18" charset="2"/>
              </a:rPr>
              <a:t>，也就是说，由于已知信息的增加，信息熵减少了</a:t>
            </a:r>
            <a:r>
              <a:rPr lang="en-US" altLang="zh-CN" sz="2400" b="1" dirty="0">
                <a:latin typeface="楷体" panose="02010609060101010101" pitchFamily="49" charset="-122"/>
                <a:ea typeface="楷体" panose="02010609060101010101" pitchFamily="49" charset="-122"/>
                <a:sym typeface="Symbol" panose="05050102010706020507" pitchFamily="18" charset="2"/>
              </a:rPr>
              <a:t>0.08</a:t>
            </a:r>
            <a:r>
              <a:rPr lang="zh-CN" altLang="en-US" sz="2400" b="1" dirty="0">
                <a:latin typeface="楷体" panose="02010609060101010101" pitchFamily="49" charset="-122"/>
                <a:ea typeface="楷体" panose="02010609060101010101" pitchFamily="49" charset="-122"/>
                <a:sym typeface="Symbol" panose="05050102010706020507" pitchFamily="18" charset="2"/>
              </a:rPr>
              <a:t>比特</a:t>
            </a:r>
            <a:r>
              <a:rPr lang="zh-CN" altLang="en-US" sz="2400" b="1" dirty="0">
                <a:latin typeface="楷体" panose="02010609060101010101" pitchFamily="49" charset="-122"/>
                <a:ea typeface="楷体" panose="02010609060101010101" pitchFamily="49" charset="-122"/>
                <a:sym typeface="Symbol" panose="05050102010706020507" pitchFamily="18" charset="2"/>
              </a:rPr>
              <a:t>。</a:t>
            </a:r>
            <a:endParaRPr lang="zh-CN" altLang="en-US" sz="2400" b="1" dirty="0">
              <a:latin typeface="楷体" panose="02010609060101010101" pitchFamily="49" charset="-122"/>
              <a:ea typeface="楷体" panose="02010609060101010101" pitchFamily="49" charset="-122"/>
              <a:sym typeface="Symbol" panose="05050102010706020507" pitchFamily="18" charset="2"/>
            </a:endParaRPr>
          </a:p>
          <a:p>
            <a:endParaRPr lang="zh-CN" altLang="en-US" sz="2400" b="1" dirty="0">
              <a:latin typeface="楷体" panose="02010609060101010101" pitchFamily="49" charset="-122"/>
              <a:ea typeface="楷体" panose="02010609060101010101" pitchFamily="49" charset="-122"/>
              <a:sym typeface="Symbol" panose="05050102010706020507" pitchFamily="18" charset="2"/>
            </a:endParaRPr>
          </a:p>
        </p:txBody>
      </p:sp>
      <p:sp>
        <p:nvSpPr>
          <p:cNvPr id="5" name="文本框 4"/>
          <p:cNvSpPr txBox="1"/>
          <p:nvPr/>
        </p:nvSpPr>
        <p:spPr>
          <a:xfrm>
            <a:off x="2322195" y="5782945"/>
            <a:ext cx="8555990" cy="460375"/>
          </a:xfrm>
          <a:prstGeom prst="rect">
            <a:avLst/>
          </a:prstGeom>
          <a:noFill/>
        </p:spPr>
        <p:txBody>
          <a:bodyPr wrap="square" rtlCol="0">
            <a:spAutoFit/>
          </a:bodyPr>
          <a:p>
            <a:r>
              <a:rPr lang="zh-CN" altLang="en-US" sz="2400" b="1">
                <a:solidFill>
                  <a:schemeClr val="accent1"/>
                </a:solidFill>
              </a:rPr>
              <a:t>信息熵越大，不确定性越高；信息熵越小，不确定性越小</a:t>
            </a:r>
            <a:endParaRPr lang="zh-CN" altLang="en-US" sz="2400" b="1">
              <a:solidFill>
                <a:schemeClr val="accen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0" name="图片 19"/>
          <p:cNvPicPr/>
          <p:nvPr/>
        </p:nvPicPr>
        <p:blipFill>
          <a:blip r:embed="rId1" cstate="print"/>
          <a:srcRect/>
          <a:stretch>
            <a:fillRect/>
          </a:stretch>
        </p:blipFill>
        <p:spPr bwMode="auto">
          <a:xfrm>
            <a:off x="3129280" y="2785110"/>
            <a:ext cx="5428615" cy="3907790"/>
          </a:xfrm>
          <a:prstGeom prst="rect">
            <a:avLst/>
          </a:prstGeom>
          <a:noFill/>
          <a:ln w="9525">
            <a:noFill/>
            <a:miter lim="800000"/>
            <a:headEnd/>
            <a:tailEnd/>
          </a:ln>
        </p:spPr>
      </p:pic>
      <p:pic>
        <p:nvPicPr>
          <p:cNvPr id="34" name="图片 33"/>
          <p:cNvPicPr>
            <a:picLocks noChangeAspect="1"/>
          </p:cNvPicPr>
          <p:nvPr/>
        </p:nvPicPr>
        <p:blipFill>
          <a:blip r:embed="rId2"/>
          <a:stretch>
            <a:fillRect/>
          </a:stretch>
        </p:blipFill>
        <p:spPr>
          <a:xfrm>
            <a:off x="1485900" y="393065"/>
            <a:ext cx="10160635" cy="22917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olidFill>
                  <a:schemeClr val="accent1"/>
                </a:solidFill>
                <a:sym typeface="+mn-ea"/>
              </a:rPr>
              <a:t>信息增益</a:t>
            </a:r>
            <a:endParaRPr lang="zh-CN" altLang="en-US"/>
          </a:p>
        </p:txBody>
      </p:sp>
      <p:sp>
        <p:nvSpPr>
          <p:cNvPr id="3" name="内容占位符 2"/>
          <p:cNvSpPr>
            <a:spLocks noGrp="1"/>
          </p:cNvSpPr>
          <p:nvPr>
            <p:ph idx="1"/>
          </p:nvPr>
        </p:nvSpPr>
        <p:spPr>
          <a:xfrm>
            <a:off x="2166302" y="1540510"/>
            <a:ext cx="8915400" cy="3777622"/>
          </a:xfrm>
        </p:spPr>
        <p:txBody>
          <a:bodyPr/>
          <a:p>
            <a:r>
              <a:rPr lang="zh-CN" altLang="en-US" sz="2800" b="1"/>
              <a:t>如果我们认为一个属性</a:t>
            </a:r>
            <a:r>
              <a:rPr lang="en-US" altLang="zh-CN" sz="2800" b="1"/>
              <a:t>A</a:t>
            </a:r>
            <a:r>
              <a:rPr lang="zh-CN" altLang="en-US" sz="2800" b="1"/>
              <a:t>的值与随机变量的值有关，那么，知道这个属性的值可能会使得随机变量的不确定性变小。</a:t>
            </a:r>
            <a:endParaRPr lang="zh-CN" altLang="en-US" sz="2800" b="1"/>
          </a:p>
          <a:p>
            <a:endParaRPr lang="zh-CN" altLang="en-US" sz="2800" b="1"/>
          </a:p>
          <a:p>
            <a:r>
              <a:rPr lang="zh-CN" altLang="en-US" sz="2800" b="1"/>
              <a:t>例如，知道</a:t>
            </a:r>
            <a:r>
              <a:rPr lang="en-US" altLang="zh-CN" sz="2800" b="1"/>
              <a:t>“</a:t>
            </a:r>
            <a:r>
              <a:rPr lang="zh-CN" altLang="en-US" sz="2800" b="1"/>
              <a:t>期中考试是否及格</a:t>
            </a:r>
            <a:r>
              <a:rPr lang="en-US" altLang="zh-CN" sz="2800" b="1"/>
              <a:t>”</a:t>
            </a:r>
            <a:r>
              <a:rPr lang="zh-CN" altLang="en-US" sz="2800" b="1"/>
              <a:t>，可能会使得</a:t>
            </a:r>
            <a:r>
              <a:rPr lang="en-US" altLang="zh-CN" sz="2800" b="1"/>
              <a:t>“</a:t>
            </a:r>
            <a:r>
              <a:rPr lang="zh-CN" altLang="en-US" sz="2800" b="1"/>
              <a:t>期末考试是否及格</a:t>
            </a:r>
            <a:r>
              <a:rPr lang="en-US" altLang="zh-CN" sz="2800" b="1"/>
              <a:t>”</a:t>
            </a:r>
            <a:r>
              <a:rPr lang="zh-CN" altLang="en-US" sz="2800" b="1"/>
              <a:t>的不确定性变小，即熵减少，即产生了</a:t>
            </a:r>
            <a:r>
              <a:rPr lang="zh-CN" altLang="en-US" sz="2800" b="1">
                <a:solidFill>
                  <a:schemeClr val="accent1"/>
                </a:solidFill>
              </a:rPr>
              <a:t>信息增益</a:t>
            </a:r>
            <a:r>
              <a:rPr lang="zh-CN" altLang="en-US" sz="2800" b="1"/>
              <a:t>。</a:t>
            </a:r>
            <a:endParaRPr lang="zh-CN" altLang="en-US" sz="28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8"/>
          <p:cNvSpPr txBox="1"/>
          <p:nvPr/>
        </p:nvSpPr>
        <p:spPr>
          <a:xfrm>
            <a:off x="1751965" y="2983865"/>
            <a:ext cx="9212580" cy="871855"/>
          </a:xfrm>
          <a:prstGeom prst="rect">
            <a:avLst/>
          </a:prstGeom>
        </p:spPr>
        <p:txBody>
          <a:bodyPr vert="horz" lIns="91440" tIns="45720" rIns="91440" bIns="45720" rtlCol="0"/>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en-US" sz="2000" dirty="0">
                <a:latin typeface="楷体" panose="02010609060101010101" pitchFamily="49" charset="-122"/>
                <a:ea typeface="楷体" panose="02010609060101010101" pitchFamily="49" charset="-122"/>
              </a:rPr>
              <a:t>其中， 表示根据属性</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划分的</a:t>
            </a:r>
            <a:r>
              <a:rPr lang="en-US" altLang="zh-CN" sz="2000" dirty="0">
                <a:latin typeface="楷体" panose="02010609060101010101" pitchFamily="49" charset="-122"/>
                <a:ea typeface="楷体" panose="02010609060101010101" pitchFamily="49" charset="-122"/>
              </a:rPr>
              <a:t>S</a:t>
            </a:r>
            <a:r>
              <a:rPr lang="zh-CN" altLang="en-US" sz="2000" dirty="0">
                <a:latin typeface="楷体" panose="02010609060101010101" pitchFamily="49" charset="-122"/>
                <a:ea typeface="楷体" panose="02010609060101010101" pitchFamily="49" charset="-122"/>
              </a:rPr>
              <a:t>的第</a:t>
            </a:r>
            <a:r>
              <a:rPr lang="en-US" altLang="zh-CN" sz="2000" dirty="0" err="1">
                <a:latin typeface="楷体" panose="02010609060101010101" pitchFamily="49" charset="-122"/>
                <a:ea typeface="楷体" panose="02010609060101010101" pitchFamily="49" charset="-122"/>
              </a:rPr>
              <a:t>i</a:t>
            </a:r>
            <a:r>
              <a:rPr lang="zh-CN" altLang="en-US" sz="2000" dirty="0">
                <a:latin typeface="楷体" panose="02010609060101010101" pitchFamily="49" charset="-122"/>
                <a:ea typeface="楷体" panose="02010609060101010101" pitchFamily="49" charset="-122"/>
              </a:rPr>
              <a:t>个子集，  和   分别表示 和 中的样本数目。信息增益用来衡量熵的期望减少值，因此，使用属性</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对</a:t>
            </a:r>
            <a:r>
              <a:rPr lang="en-US" altLang="zh-CN" sz="2000" dirty="0">
                <a:latin typeface="楷体" panose="02010609060101010101" pitchFamily="49" charset="-122"/>
                <a:ea typeface="楷体" panose="02010609060101010101" pitchFamily="49" charset="-122"/>
              </a:rPr>
              <a:t>S</a:t>
            </a:r>
            <a:r>
              <a:rPr lang="zh-CN" altLang="en-US" sz="2000" dirty="0">
                <a:latin typeface="楷体" panose="02010609060101010101" pitchFamily="49" charset="-122"/>
                <a:ea typeface="楷体" panose="02010609060101010101" pitchFamily="49" charset="-122"/>
              </a:rPr>
              <a:t>进行划分获得的信息增益为</a:t>
            </a:r>
            <a:endParaRPr lang="zh-CN" altLang="en-US" sz="2000" dirty="0">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3344779" y="2155961"/>
            <a:ext cx="1698503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3754755" y="1955165"/>
          <a:ext cx="3628390" cy="852170"/>
        </p:xfrm>
        <a:graphic>
          <a:graphicData uri="http://schemas.openxmlformats.org/presentationml/2006/ole">
            <mc:AlternateContent xmlns:mc="http://schemas.openxmlformats.org/markup-compatibility/2006">
              <mc:Choice xmlns:v="urn:schemas-microsoft-com:vml" Requires="v">
                <p:oleObj spid="_x0000_s11375" name="" r:id="rId1" imgW="1981200" imgH="469900" progId="Equation.DSMT4">
                  <p:embed/>
                </p:oleObj>
              </mc:Choice>
              <mc:Fallback>
                <p:oleObj name="" r:id="rId1" imgW="1981200" imgH="4699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4755" y="1955165"/>
                        <a:ext cx="3628390" cy="852170"/>
                      </a:xfrm>
                      <a:prstGeom prst="rect">
                        <a:avLst/>
                      </a:prstGeom>
                      <a:noFill/>
                    </p:spPr>
                  </p:pic>
                </p:oleObj>
              </mc:Fallback>
            </mc:AlternateContent>
          </a:graphicData>
        </a:graphic>
      </p:graphicFrame>
      <p:sp>
        <p:nvSpPr>
          <p:cNvPr id="19" name="内容占位符 8"/>
          <p:cNvSpPr txBox="1"/>
          <p:nvPr/>
        </p:nvSpPr>
        <p:spPr>
          <a:xfrm>
            <a:off x="1708785" y="1170940"/>
            <a:ext cx="9014460" cy="78422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400" dirty="0">
                <a:latin typeface="楷体" panose="02010609060101010101" pitchFamily="49" charset="-122"/>
                <a:ea typeface="楷体" panose="02010609060101010101" pitchFamily="49" charset="-122"/>
              </a:rPr>
              <a:t>设属性</a:t>
            </a:r>
            <a:r>
              <a:rPr lang="en-US" altLang="zh-CN" sz="2400" dirty="0">
                <a:latin typeface="楷体" panose="02010609060101010101" pitchFamily="49" charset="-122"/>
                <a:ea typeface="楷体" panose="02010609060101010101" pitchFamily="49" charset="-122"/>
              </a:rPr>
              <a:t>A</a:t>
            </a:r>
            <a:r>
              <a:rPr lang="zh-CN" altLang="zh-CN" sz="2400" dirty="0">
                <a:latin typeface="楷体" panose="02010609060101010101" pitchFamily="49" charset="-122"/>
                <a:ea typeface="楷体" panose="02010609060101010101" pitchFamily="49" charset="-122"/>
              </a:rPr>
              <a:t>将</a:t>
            </a:r>
            <a:r>
              <a:rPr lang="en-US" altLang="zh-CN" sz="2400" dirty="0">
                <a:latin typeface="楷体" panose="02010609060101010101" pitchFamily="49" charset="-122"/>
                <a:ea typeface="楷体" panose="02010609060101010101" pitchFamily="49" charset="-122"/>
              </a:rPr>
              <a:t>S</a:t>
            </a:r>
            <a:r>
              <a:rPr lang="zh-CN" altLang="zh-CN" sz="2400" dirty="0">
                <a:latin typeface="楷体" panose="02010609060101010101" pitchFamily="49" charset="-122"/>
                <a:ea typeface="楷体" panose="02010609060101010101" pitchFamily="49" charset="-122"/>
              </a:rPr>
              <a:t>划分成</a:t>
            </a:r>
            <a:r>
              <a:rPr lang="en-US" altLang="zh-CN" sz="2400" dirty="0">
                <a:latin typeface="楷体" panose="02010609060101010101" pitchFamily="49" charset="-122"/>
                <a:ea typeface="楷体" panose="02010609060101010101" pitchFamily="49" charset="-122"/>
              </a:rPr>
              <a:t>m</a:t>
            </a:r>
            <a:r>
              <a:rPr lang="zh-CN" altLang="zh-CN" sz="2400" dirty="0">
                <a:latin typeface="楷体" panose="02010609060101010101" pitchFamily="49" charset="-122"/>
                <a:ea typeface="楷体" panose="02010609060101010101" pitchFamily="49" charset="-122"/>
              </a:rPr>
              <a:t>份</a:t>
            </a: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，根据</a:t>
            </a:r>
            <a:r>
              <a:rPr lang="en-US" altLang="zh-CN" sz="2400" dirty="0">
                <a:latin typeface="楷体" panose="02010609060101010101" pitchFamily="49" charset="-122"/>
                <a:ea typeface="楷体" panose="02010609060101010101" pitchFamily="49" charset="-122"/>
              </a:rPr>
              <a:t>A</a:t>
            </a:r>
            <a:r>
              <a:rPr lang="zh-CN" altLang="zh-CN" sz="2400" dirty="0">
                <a:latin typeface="楷体" panose="02010609060101010101" pitchFamily="49" charset="-122"/>
                <a:ea typeface="楷体" panose="02010609060101010101" pitchFamily="49" charset="-122"/>
              </a:rPr>
              <a:t>划分的子集的熵或期望信息由下式给出</a:t>
            </a:r>
            <a:endParaRPr lang="zh-CN" altLang="zh-CN" sz="2400" dirty="0">
              <a:latin typeface="楷体" panose="02010609060101010101" pitchFamily="49" charset="-122"/>
              <a:ea typeface="楷体" panose="02010609060101010101" pitchFamily="49" charset="-122"/>
            </a:endParaRPr>
          </a:p>
        </p:txBody>
      </p:sp>
      <p:graphicFrame>
        <p:nvGraphicFramePr>
          <p:cNvPr id="25" name="对象 24"/>
          <p:cNvGraphicFramePr>
            <a:graphicFrameLocks noChangeAspect="1"/>
          </p:cNvGraphicFramePr>
          <p:nvPr/>
        </p:nvGraphicFramePr>
        <p:xfrm>
          <a:off x="3185795" y="3855720"/>
          <a:ext cx="4912360" cy="417830"/>
        </p:xfrm>
        <a:graphic>
          <a:graphicData uri="http://schemas.openxmlformats.org/presentationml/2006/ole">
            <mc:AlternateContent xmlns:mc="http://schemas.openxmlformats.org/markup-compatibility/2006">
              <mc:Choice xmlns:v="urn:schemas-microsoft-com:vml" Requires="v">
                <p:oleObj spid="_x0000_s11376" name="" r:id="rId3" imgW="2387600" imgH="203200" progId="Equation.DSMT4">
                  <p:embed/>
                </p:oleObj>
              </mc:Choice>
              <mc:Fallback>
                <p:oleObj name="" r:id="rId3" imgW="2387600" imgH="2032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5795" y="3855720"/>
                        <a:ext cx="4912360" cy="417830"/>
                      </a:xfrm>
                      <a:prstGeom prst="rect">
                        <a:avLst/>
                      </a:prstGeom>
                      <a:noFill/>
                    </p:spPr>
                  </p:pic>
                </p:oleObj>
              </mc:Fallback>
            </mc:AlternateContent>
          </a:graphicData>
        </a:graphic>
      </p:graphicFrame>
      <p:sp>
        <p:nvSpPr>
          <p:cNvPr id="26" name="Rectangle 23"/>
          <p:cNvSpPr>
            <a:spLocks noChangeArrowheads="1"/>
          </p:cNvSpPr>
          <p:nvPr/>
        </p:nvSpPr>
        <p:spPr bwMode="auto">
          <a:xfrm>
            <a:off x="1716505" y="44516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7" name="对象 26"/>
          <p:cNvGraphicFramePr>
            <a:graphicFrameLocks noChangeAspect="1"/>
          </p:cNvGraphicFramePr>
          <p:nvPr/>
        </p:nvGraphicFramePr>
        <p:xfrm>
          <a:off x="1716505" y="4469818"/>
          <a:ext cx="882649" cy="325437"/>
        </p:xfrm>
        <a:graphic>
          <a:graphicData uri="http://schemas.openxmlformats.org/presentationml/2006/ole">
            <mc:AlternateContent xmlns:mc="http://schemas.openxmlformats.org/markup-compatibility/2006">
              <mc:Choice xmlns:v="urn:schemas-microsoft-com:vml" Requires="v">
                <p:oleObj spid="_x0000_s11377" name="" r:id="rId5" imgW="635000" imgH="203200" progId="Equation.DSMT4">
                  <p:embed/>
                </p:oleObj>
              </mc:Choice>
              <mc:Fallback>
                <p:oleObj name="" r:id="rId5" imgW="635000" imgH="203200"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6505" y="4469818"/>
                        <a:ext cx="882649" cy="325437"/>
                      </a:xfrm>
                      <a:prstGeom prst="rect">
                        <a:avLst/>
                      </a:prstGeom>
                      <a:noFill/>
                    </p:spPr>
                  </p:pic>
                </p:oleObj>
              </mc:Fallback>
            </mc:AlternateContent>
          </a:graphicData>
        </a:graphic>
      </p:graphicFrame>
      <p:sp>
        <p:nvSpPr>
          <p:cNvPr id="28" name="矩形 27"/>
          <p:cNvSpPr/>
          <p:nvPr/>
        </p:nvSpPr>
        <p:spPr>
          <a:xfrm>
            <a:off x="1588770" y="4451985"/>
            <a:ext cx="9577705" cy="193802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       是指</a:t>
            </a:r>
            <a:r>
              <a:rPr lang="zh-CN" altLang="en-US" sz="2400" b="1" dirty="0">
                <a:solidFill>
                  <a:schemeClr val="accent1"/>
                </a:solidFill>
                <a:latin typeface="楷体" panose="02010609060101010101" pitchFamily="49" charset="-122"/>
                <a:ea typeface="楷体" panose="02010609060101010101" pitchFamily="49" charset="-122"/>
              </a:rPr>
              <a:t>因为知道属性</a:t>
            </a:r>
            <a:r>
              <a:rPr lang="en-US" altLang="zh-CN" sz="2400" b="1" dirty="0">
                <a:solidFill>
                  <a:schemeClr val="accent1"/>
                </a:solidFill>
                <a:latin typeface="楷体" panose="02010609060101010101" pitchFamily="49" charset="-122"/>
                <a:ea typeface="楷体" panose="02010609060101010101" pitchFamily="49" charset="-122"/>
              </a:rPr>
              <a:t>A</a:t>
            </a:r>
            <a:r>
              <a:rPr lang="zh-CN" altLang="en-US" sz="2400" b="1" dirty="0">
                <a:solidFill>
                  <a:schemeClr val="accent1"/>
                </a:solidFill>
                <a:latin typeface="楷体" panose="02010609060101010101" pitchFamily="49" charset="-122"/>
                <a:ea typeface="楷体" panose="02010609060101010101" pitchFamily="49" charset="-122"/>
              </a:rPr>
              <a:t>的值后导致的熵的期望压缩</a:t>
            </a:r>
            <a:r>
              <a:rPr lang="zh-CN" altLang="en-US" sz="2400" dirty="0">
                <a:latin typeface="楷体" panose="02010609060101010101" pitchFamily="49" charset="-122"/>
                <a:ea typeface="楷体" panose="02010609060101010101" pitchFamily="49" charset="-122"/>
              </a:rPr>
              <a:t>。       越大，说明选择测试属性</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对分类提供的信息越多。因为熵越小代表节点越纯，按照信息增益的定义，信息增益越大，熵的减小量也越大，节点就趋向于更纯。因此，可以对每个属性按照它们的信息增益大小排序，获得最大信息增益的属性被选择为分支属性。</a:t>
            </a:r>
            <a:endParaRPr lang="zh-CN" altLang="en-US" sz="2400" dirty="0">
              <a:latin typeface="楷体" panose="02010609060101010101" pitchFamily="49" charset="-122"/>
              <a:ea typeface="楷体" panose="02010609060101010101" pitchFamily="49" charset="-122"/>
            </a:endParaRPr>
          </a:p>
        </p:txBody>
      </p:sp>
      <p:graphicFrame>
        <p:nvGraphicFramePr>
          <p:cNvPr id="30" name="对象 29"/>
          <p:cNvGraphicFramePr>
            <a:graphicFrameLocks noChangeAspect="1"/>
          </p:cNvGraphicFramePr>
          <p:nvPr/>
        </p:nvGraphicFramePr>
        <p:xfrm>
          <a:off x="9211412" y="4469818"/>
          <a:ext cx="882649" cy="325437"/>
        </p:xfrm>
        <a:graphic>
          <a:graphicData uri="http://schemas.openxmlformats.org/presentationml/2006/ole">
            <mc:AlternateContent xmlns:mc="http://schemas.openxmlformats.org/markup-compatibility/2006">
              <mc:Choice xmlns:v="urn:schemas-microsoft-com:vml" Requires="v">
                <p:oleObj spid="_x0000_s11378" name="" r:id="rId7" imgW="635000" imgH="203200" progId="Equation.DSMT4">
                  <p:embed/>
                </p:oleObj>
              </mc:Choice>
              <mc:Fallback>
                <p:oleObj name="" r:id="rId7" imgW="635000" imgH="203200" progId="Equation.DSMT4">
                  <p:embed/>
                  <p:pic>
                    <p:nvPicPr>
                      <p:cNvPr id="0" name="对象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11412" y="4469818"/>
                        <a:ext cx="882649" cy="325437"/>
                      </a:xfrm>
                      <a:prstGeom prst="rect">
                        <a:avLst/>
                      </a:prstGeom>
                      <a:noFill/>
                    </p:spPr>
                  </p:pic>
                </p:oleObj>
              </mc:Fallback>
            </mc:AlternateContent>
          </a:graphicData>
        </a:graphic>
      </p:graphicFrame>
      <p:sp>
        <p:nvSpPr>
          <p:cNvPr id="31" name="Rectangle 29"/>
          <p:cNvSpPr>
            <a:spLocks noChangeArrowheads="1"/>
          </p:cNvSpPr>
          <p:nvPr/>
        </p:nvSpPr>
        <p:spPr bwMode="auto">
          <a:xfrm>
            <a:off x="3344780" y="801988"/>
            <a:ext cx="2071090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2" name="对象 31"/>
          <p:cNvGraphicFramePr>
            <a:graphicFrameLocks noChangeAspect="1"/>
          </p:cNvGraphicFramePr>
          <p:nvPr/>
        </p:nvGraphicFramePr>
        <p:xfrm>
          <a:off x="7225003" y="2983814"/>
          <a:ext cx="312821" cy="254000"/>
        </p:xfrm>
        <a:graphic>
          <a:graphicData uri="http://schemas.openxmlformats.org/presentationml/2006/ole">
            <mc:AlternateContent xmlns:mc="http://schemas.openxmlformats.org/markup-compatibility/2006">
              <mc:Choice xmlns:v="urn:schemas-microsoft-com:vml" Requires="v">
                <p:oleObj spid="_x0000_s11379" name="" r:id="rId8" imgW="190500" imgH="254000" progId="Equation.DSMT4">
                  <p:embed/>
                </p:oleObj>
              </mc:Choice>
              <mc:Fallback>
                <p:oleObj name="" r:id="rId8" imgW="190500" imgH="254000"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25003" y="2983814"/>
                        <a:ext cx="312821" cy="254000"/>
                      </a:xfrm>
                      <a:prstGeom prst="rect">
                        <a:avLst/>
                      </a:prstGeom>
                      <a:noFill/>
                    </p:spPr>
                  </p:pic>
                </p:oleObj>
              </mc:Fallback>
            </mc:AlternateContent>
          </a:graphicData>
        </a:graphic>
      </p:graphicFrame>
      <p:graphicFrame>
        <p:nvGraphicFramePr>
          <p:cNvPr id="34" name="对象 33"/>
          <p:cNvGraphicFramePr>
            <a:graphicFrameLocks noChangeAspect="1"/>
          </p:cNvGraphicFramePr>
          <p:nvPr/>
        </p:nvGraphicFramePr>
        <p:xfrm>
          <a:off x="7827277" y="2992344"/>
          <a:ext cx="324069" cy="254000"/>
        </p:xfrm>
        <a:graphic>
          <a:graphicData uri="http://schemas.openxmlformats.org/presentationml/2006/ole">
            <mc:AlternateContent xmlns:mc="http://schemas.openxmlformats.org/markup-compatibility/2006">
              <mc:Choice xmlns:v="urn:schemas-microsoft-com:vml" Requires="v">
                <p:oleObj spid="_x0000_s11380" name="" r:id="rId10" imgW="215900" imgH="254000" progId="Equation.DSMT4">
                  <p:embed/>
                </p:oleObj>
              </mc:Choice>
              <mc:Fallback>
                <p:oleObj name="" r:id="rId10" imgW="215900" imgH="254000" progId="Equation.DSMT4">
                  <p:embed/>
                  <p:pic>
                    <p:nvPicPr>
                      <p:cNvPr id="0"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27277" y="2992344"/>
                        <a:ext cx="324069" cy="254000"/>
                      </a:xfrm>
                      <a:prstGeom prst="rect">
                        <a:avLst/>
                      </a:prstGeom>
                      <a:noFill/>
                    </p:spPr>
                  </p:pic>
                </p:oleObj>
              </mc:Fallback>
            </mc:AlternateContent>
          </a:graphicData>
        </a:graphic>
      </p:graphicFrame>
      <p:graphicFrame>
        <p:nvGraphicFramePr>
          <p:cNvPr id="36" name="对象 35"/>
          <p:cNvGraphicFramePr>
            <a:graphicFrameLocks noChangeAspect="1"/>
          </p:cNvGraphicFramePr>
          <p:nvPr/>
        </p:nvGraphicFramePr>
        <p:xfrm>
          <a:off x="2839819" y="3008648"/>
          <a:ext cx="132349" cy="237351"/>
        </p:xfrm>
        <a:graphic>
          <a:graphicData uri="http://schemas.openxmlformats.org/presentationml/2006/ole">
            <mc:AlternateContent xmlns:mc="http://schemas.openxmlformats.org/markup-compatibility/2006">
              <mc:Choice xmlns:v="urn:schemas-microsoft-com:vml" Requires="v">
                <p:oleObj spid="_x0000_s11381" name="" r:id="rId12" imgW="152400" imgH="228600" progId="Equation.DSMT4">
                  <p:embed/>
                </p:oleObj>
              </mc:Choice>
              <mc:Fallback>
                <p:oleObj name="" r:id="rId12" imgW="152400" imgH="228600" progId="Equation.DSMT4">
                  <p:embed/>
                  <p:pic>
                    <p:nvPicPr>
                      <p:cNvPr id="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39819" y="3008648"/>
                        <a:ext cx="132349" cy="237351"/>
                      </a:xfrm>
                      <a:prstGeom prst="rect">
                        <a:avLst/>
                      </a:prstGeom>
                      <a:noFill/>
                    </p:spPr>
                  </p:pic>
                </p:oleObj>
              </mc:Fallback>
            </mc:AlternateContent>
          </a:graphicData>
        </a:graphic>
      </p:graphicFrame>
      <p:sp>
        <p:nvSpPr>
          <p:cNvPr id="5" name="文本框 4"/>
          <p:cNvSpPr txBox="1"/>
          <p:nvPr/>
        </p:nvSpPr>
        <p:spPr>
          <a:xfrm>
            <a:off x="1839595" y="321945"/>
            <a:ext cx="4949190" cy="583565"/>
          </a:xfrm>
          <a:prstGeom prst="rect">
            <a:avLst/>
          </a:prstGeom>
          <a:noFill/>
        </p:spPr>
        <p:txBody>
          <a:bodyPr wrap="square" rtlCol="0">
            <a:spAutoFit/>
          </a:bodyPr>
          <a:p>
            <a:r>
              <a:rPr lang="zh-CN" altLang="en-US" sz="3200" b="1">
                <a:solidFill>
                  <a:schemeClr val="accent1"/>
                </a:solidFill>
              </a:rPr>
              <a:t>信息增益</a:t>
            </a:r>
            <a:endParaRPr lang="zh-CN" altLang="en-US" sz="3200" b="1">
              <a:solidFill>
                <a:schemeClr val="accen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8"/>
          <p:cNvSpPr txBox="1"/>
          <p:nvPr/>
        </p:nvSpPr>
        <p:spPr>
          <a:xfrm>
            <a:off x="1564105" y="1629389"/>
            <a:ext cx="8163307" cy="359922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0" indent="0">
              <a:buNone/>
            </a:pPr>
            <a:endParaRPr lang="zh-CN" altLang="zh-CN" dirty="0">
              <a:latin typeface="楷体" panose="02010609060101010101" pitchFamily="49" charset="-122"/>
              <a:ea typeface="楷体" panose="02010609060101010101" pitchFamily="49" charset="-122"/>
            </a:endParaRPr>
          </a:p>
        </p:txBody>
      </p:sp>
      <p:pic>
        <p:nvPicPr>
          <p:cNvPr id="8" name="图片 7"/>
          <p:cNvPicPr>
            <a:picLocks noChangeAspect="1"/>
          </p:cNvPicPr>
          <p:nvPr/>
        </p:nvPicPr>
        <p:blipFill>
          <a:blip r:embed="rId1"/>
          <a:stretch>
            <a:fillRect/>
          </a:stretch>
        </p:blipFill>
        <p:spPr>
          <a:xfrm>
            <a:off x="1564005" y="728345"/>
            <a:ext cx="9232265" cy="5218430"/>
          </a:xfrm>
          <a:prstGeom prst="rect">
            <a:avLst/>
          </a:prstGeom>
        </p:spPr>
      </p:pic>
      <p:sp>
        <p:nvSpPr>
          <p:cNvPr id="2" name="矩形 1"/>
          <p:cNvSpPr/>
          <p:nvPr/>
        </p:nvSpPr>
        <p:spPr>
          <a:xfrm>
            <a:off x="8811260" y="527050"/>
            <a:ext cx="2317115" cy="5621020"/>
          </a:xfrm>
          <a:prstGeom prst="rect">
            <a:avLst/>
          </a:prstGeom>
          <a:noFill/>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8"/>
          <p:cNvSpPr txBox="1"/>
          <p:nvPr/>
        </p:nvSpPr>
        <p:spPr>
          <a:xfrm>
            <a:off x="1494790" y="914400"/>
            <a:ext cx="8896350" cy="94488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800" dirty="0">
                <a:latin typeface="楷体" panose="02010609060101010101" pitchFamily="49" charset="-122"/>
                <a:ea typeface="楷体" panose="02010609060101010101" pitchFamily="49" charset="-122"/>
              </a:rPr>
              <a:t>在</a:t>
            </a:r>
            <a:r>
              <a:rPr lang="zh-CN" altLang="en-US" sz="2800" dirty="0">
                <a:latin typeface="楷体" panose="02010609060101010101" pitchFamily="49" charset="-122"/>
                <a:ea typeface="楷体" panose="02010609060101010101" pitchFamily="49" charset="-122"/>
              </a:rPr>
              <a:t>上表</a:t>
            </a:r>
            <a:r>
              <a:rPr lang="zh-CN" altLang="zh-CN" sz="2800" dirty="0">
                <a:latin typeface="楷体" panose="02010609060101010101" pitchFamily="49" charset="-122"/>
                <a:ea typeface="楷体" panose="02010609060101010101" pitchFamily="49" charset="-122"/>
              </a:rPr>
              <a:t>的训练样本中，属于类</a:t>
            </a:r>
            <a:r>
              <a:rPr lang="en-US" altLang="zh-CN" sz="2800" dirty="0">
                <a:latin typeface="楷体" panose="02010609060101010101" pitchFamily="49" charset="-122"/>
                <a:ea typeface="楷体" panose="02010609060101010101" pitchFamily="49" charset="-122"/>
              </a:rPr>
              <a:t>yes</a:t>
            </a:r>
            <a:r>
              <a:rPr lang="zh-CN" altLang="zh-CN" sz="2800" dirty="0">
                <a:latin typeface="楷体" panose="02010609060101010101" pitchFamily="49" charset="-122"/>
                <a:ea typeface="楷体" panose="02010609060101010101" pitchFamily="49" charset="-122"/>
              </a:rPr>
              <a:t>的样本有</a:t>
            </a:r>
            <a:r>
              <a:rPr lang="en-US" altLang="zh-CN" sz="2800" dirty="0">
                <a:latin typeface="楷体" panose="02010609060101010101" pitchFamily="49" charset="-122"/>
                <a:ea typeface="楷体" panose="02010609060101010101" pitchFamily="49" charset="-122"/>
              </a:rPr>
              <a:t>9</a:t>
            </a:r>
            <a:r>
              <a:rPr lang="zh-CN" altLang="zh-CN" sz="2800" dirty="0">
                <a:latin typeface="楷体" panose="02010609060101010101" pitchFamily="49" charset="-122"/>
                <a:ea typeface="楷体" panose="02010609060101010101" pitchFamily="49" charset="-122"/>
              </a:rPr>
              <a:t>个，属于类</a:t>
            </a:r>
            <a:r>
              <a:rPr lang="en-US" altLang="zh-CN" sz="2800" dirty="0">
                <a:latin typeface="楷体" panose="02010609060101010101" pitchFamily="49" charset="-122"/>
                <a:ea typeface="楷体" panose="02010609060101010101" pitchFamily="49" charset="-122"/>
              </a:rPr>
              <a:t>no</a:t>
            </a:r>
            <a:r>
              <a:rPr lang="zh-CN" altLang="zh-CN" sz="2800" dirty="0">
                <a:latin typeface="楷体" panose="02010609060101010101" pitchFamily="49" charset="-122"/>
                <a:ea typeface="楷体" panose="02010609060101010101" pitchFamily="49" charset="-122"/>
              </a:rPr>
              <a:t>的样本有</a:t>
            </a:r>
            <a:r>
              <a:rPr lang="en-US" altLang="zh-CN" sz="2800" dirty="0">
                <a:latin typeface="楷体" panose="02010609060101010101" pitchFamily="49" charset="-122"/>
                <a:ea typeface="楷体" panose="02010609060101010101" pitchFamily="49" charset="-122"/>
              </a:rPr>
              <a:t>5</a:t>
            </a:r>
            <a:r>
              <a:rPr lang="zh-CN" altLang="zh-CN" sz="2800" dirty="0">
                <a:latin typeface="楷体" panose="02010609060101010101" pitchFamily="49" charset="-122"/>
                <a:ea typeface="楷体" panose="02010609060101010101" pitchFamily="49" charset="-122"/>
              </a:rPr>
              <a:t>个，于是，对给定样本分类所需的期望信息为</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p:txBody>
      </p:sp>
      <p:graphicFrame>
        <p:nvGraphicFramePr>
          <p:cNvPr id="3" name="对象 2"/>
          <p:cNvGraphicFramePr>
            <a:graphicFrameLocks noChangeAspect="1"/>
          </p:cNvGraphicFramePr>
          <p:nvPr/>
        </p:nvGraphicFramePr>
        <p:xfrm>
          <a:off x="2773045" y="2052955"/>
          <a:ext cx="5878830" cy="847725"/>
        </p:xfrm>
        <a:graphic>
          <a:graphicData uri="http://schemas.openxmlformats.org/presentationml/2006/ole">
            <mc:AlternateContent xmlns:mc="http://schemas.openxmlformats.org/markup-compatibility/2006">
              <mc:Choice xmlns:v="urn:schemas-microsoft-com:vml" Requires="v">
                <p:oleObj spid="_x0000_s13327" name="" r:id="rId1" imgW="2730500" imgH="393700" progId="Equation.DSMT4">
                  <p:embed/>
                </p:oleObj>
              </mc:Choice>
              <mc:Fallback>
                <p:oleObj name="" r:id="rId1" imgW="2730500"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3045" y="2052955"/>
                        <a:ext cx="5878830" cy="847725"/>
                      </a:xfrm>
                      <a:prstGeom prst="rect">
                        <a:avLst/>
                      </a:prstGeom>
                      <a:noFill/>
                    </p:spPr>
                  </p:pic>
                </p:oleObj>
              </mc:Fallback>
            </mc:AlternateContent>
          </a:graphicData>
        </a:graphic>
      </p:graphicFrame>
      <p:sp>
        <p:nvSpPr>
          <p:cNvPr id="8" name="内容占位符 8"/>
          <p:cNvSpPr txBox="1"/>
          <p:nvPr/>
        </p:nvSpPr>
        <p:spPr>
          <a:xfrm>
            <a:off x="1419860" y="3058160"/>
            <a:ext cx="8766175" cy="1665605"/>
          </a:xfrm>
          <a:prstGeom prst="rect">
            <a:avLst/>
          </a:prstGeom>
        </p:spPr>
        <p:txBody>
          <a:bodyPr vert="horz" lIns="91440" tIns="45720" rIns="91440" bIns="45720" rtlCol="0">
            <a:normAutofit lnSpcReduction="20000"/>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400" dirty="0">
                <a:latin typeface="楷体" panose="02010609060101010101" pitchFamily="49" charset="-122"/>
                <a:ea typeface="楷体" panose="02010609060101010101" pitchFamily="49" charset="-122"/>
              </a:rPr>
              <a:t>熵值</a:t>
            </a:r>
            <a:r>
              <a:rPr lang="en-US" altLang="zh-CN" sz="2400" dirty="0">
                <a:latin typeface="楷体" panose="02010609060101010101" pitchFamily="49" charset="-122"/>
                <a:ea typeface="楷体" panose="02010609060101010101" pitchFamily="49" charset="-122"/>
              </a:rPr>
              <a:t>0.940</a:t>
            </a:r>
            <a:r>
              <a:rPr lang="zh-CN" altLang="zh-CN" sz="2400" dirty="0">
                <a:latin typeface="楷体" panose="02010609060101010101" pitchFamily="49" charset="-122"/>
                <a:ea typeface="楷体" panose="02010609060101010101" pitchFamily="49" charset="-122"/>
              </a:rPr>
              <a:t>反映了对样本集合</a:t>
            </a:r>
            <a:r>
              <a:rPr lang="en-US" altLang="zh-CN" sz="2400" dirty="0">
                <a:latin typeface="楷体" panose="02010609060101010101" pitchFamily="49" charset="-122"/>
                <a:ea typeface="楷体" panose="02010609060101010101" pitchFamily="49" charset="-122"/>
              </a:rPr>
              <a:t>S</a:t>
            </a:r>
            <a:r>
              <a:rPr lang="zh-CN" altLang="zh-CN" sz="2400" dirty="0">
                <a:latin typeface="楷体" panose="02010609060101010101" pitchFamily="49" charset="-122"/>
                <a:ea typeface="楷体" panose="02010609060101010101" pitchFamily="49" charset="-122"/>
              </a:rPr>
              <a:t>分类的不确定性，也是对样本分类的期望信息。熵值越小，划分的纯度越高，对样本分类的不确定性越低</a:t>
            </a: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。一个属性的信息增益，就是用这个属性对样本分类而导致的熵的期望值下降。因此，</a:t>
            </a:r>
            <a:r>
              <a:rPr lang="en-US" altLang="zh-CN" sz="2400" dirty="0">
                <a:latin typeface="楷体" panose="02010609060101010101" pitchFamily="49" charset="-122"/>
                <a:ea typeface="楷体" panose="02010609060101010101" pitchFamily="49" charset="-122"/>
              </a:rPr>
              <a:t>ID3</a:t>
            </a:r>
            <a:r>
              <a:rPr lang="zh-CN" altLang="zh-CN" sz="2400" dirty="0">
                <a:latin typeface="楷体" panose="02010609060101010101" pitchFamily="49" charset="-122"/>
                <a:ea typeface="楷体" panose="02010609060101010101" pitchFamily="49" charset="-122"/>
              </a:rPr>
              <a:t>算法在每一个节点选择取得最大信息增益的属性。</a:t>
            </a:r>
            <a:endParaRPr lang="zh-CN" altLang="zh-CN" sz="2400" dirty="0">
              <a:latin typeface="楷体" panose="02010609060101010101" pitchFamily="49" charset="-122"/>
              <a:ea typeface="楷体" panose="02010609060101010101" pitchFamily="49" charset="-122"/>
            </a:endParaRPr>
          </a:p>
          <a:p>
            <a:endParaRPr lang="zh-CN" altLang="zh-CN" sz="2400" dirty="0">
              <a:latin typeface="楷体" panose="02010609060101010101" pitchFamily="49" charset="-122"/>
              <a:ea typeface="楷体" panose="02010609060101010101" pitchFamily="49" charset="-122"/>
            </a:endParaRPr>
          </a:p>
          <a:p>
            <a:pPr marL="0" indent="0">
              <a:buNone/>
            </a:pPr>
            <a:endParaRPr lang="zh-CN" altLang="zh-CN" sz="2400" dirty="0">
              <a:latin typeface="楷体" panose="02010609060101010101" pitchFamily="49" charset="-122"/>
              <a:ea typeface="楷体" panose="02010609060101010101" pitchFamily="49" charset="-122"/>
            </a:endParaRPr>
          </a:p>
        </p:txBody>
      </p:sp>
      <p:sp>
        <p:nvSpPr>
          <p:cNvPr id="9" name="内容占位符 8"/>
          <p:cNvSpPr txBox="1"/>
          <p:nvPr/>
        </p:nvSpPr>
        <p:spPr>
          <a:xfrm>
            <a:off x="1419860" y="4723765"/>
            <a:ext cx="9327515" cy="156400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800" dirty="0">
                <a:latin typeface="楷体" panose="02010609060101010101" pitchFamily="49" charset="-122"/>
                <a:ea typeface="楷体" panose="02010609060101010101" pitchFamily="49" charset="-122"/>
              </a:rPr>
              <a:t>下面我们分别对属性</a:t>
            </a:r>
            <a:r>
              <a:rPr lang="en-US" altLang="zh-CN" sz="2800" dirty="0">
                <a:latin typeface="楷体" panose="02010609060101010101" pitchFamily="49" charset="-122"/>
                <a:ea typeface="楷体" panose="02010609060101010101" pitchFamily="49" charset="-122"/>
              </a:rPr>
              <a:t>outlook</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temperature</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humidity</a:t>
            </a:r>
            <a:r>
              <a:rPr lang="zh-CN" altLang="zh-CN" sz="2800" dirty="0">
                <a:latin typeface="楷体" panose="02010609060101010101" pitchFamily="49" charset="-122"/>
                <a:ea typeface="楷体" panose="02010609060101010101" pitchFamily="49" charset="-122"/>
              </a:rPr>
              <a:t>和</a:t>
            </a:r>
            <a:r>
              <a:rPr lang="en-US" altLang="zh-CN" sz="2800" dirty="0">
                <a:latin typeface="楷体" panose="02010609060101010101" pitchFamily="49" charset="-122"/>
                <a:ea typeface="楷体" panose="02010609060101010101" pitchFamily="49" charset="-122"/>
              </a:rPr>
              <a:t>windy</a:t>
            </a:r>
            <a:r>
              <a:rPr lang="zh-CN" altLang="zh-CN" sz="2800" dirty="0">
                <a:latin typeface="楷体" panose="02010609060101010101" pitchFamily="49" charset="-122"/>
                <a:ea typeface="楷体" panose="02010609060101010101" pitchFamily="49" charset="-122"/>
              </a:rPr>
              <a:t>计算根据这些属性对训练样本进行划分得到的信息增益。</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0" y="4090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2870835" y="3607435"/>
          <a:ext cx="6127750" cy="871220"/>
        </p:xfrm>
        <a:graphic>
          <a:graphicData uri="http://schemas.openxmlformats.org/presentationml/2006/ole">
            <mc:AlternateContent xmlns:mc="http://schemas.openxmlformats.org/markup-compatibility/2006">
              <mc:Choice xmlns:v="urn:schemas-microsoft-com:vml" Requires="v">
                <p:oleObj spid="_x0000_s14403" name="" r:id="rId1" imgW="2768600" imgH="393700" progId="Equation.DSMT4">
                  <p:embed/>
                </p:oleObj>
              </mc:Choice>
              <mc:Fallback>
                <p:oleObj name="" r:id="rId1" imgW="2768600"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835" y="3607435"/>
                        <a:ext cx="6127750" cy="871220"/>
                      </a:xfrm>
                      <a:prstGeom prst="rect">
                        <a:avLst/>
                      </a:prstGeom>
                      <a:noFill/>
                    </p:spPr>
                  </p:pic>
                </p:oleObj>
              </mc:Fallback>
            </mc:AlternateContent>
          </a:graphicData>
        </a:graphic>
      </p:graphicFrame>
      <p:pic>
        <p:nvPicPr>
          <p:cNvPr id="12" name="图片 11"/>
          <p:cNvPicPr>
            <a:picLocks noChangeAspect="1"/>
          </p:cNvPicPr>
          <p:nvPr/>
        </p:nvPicPr>
        <p:blipFill>
          <a:blip r:embed="rId3"/>
          <a:stretch>
            <a:fillRect/>
          </a:stretch>
        </p:blipFill>
        <p:spPr>
          <a:xfrm>
            <a:off x="1155065" y="1342390"/>
            <a:ext cx="10948670" cy="1833245"/>
          </a:xfrm>
          <a:prstGeom prst="rect">
            <a:avLst/>
          </a:prstGeom>
        </p:spPr>
      </p:pic>
      <p:sp>
        <p:nvSpPr>
          <p:cNvPr id="16" name="Rectangle 6"/>
          <p:cNvSpPr>
            <a:spLocks noChangeArrowheads="1"/>
          </p:cNvSpPr>
          <p:nvPr/>
        </p:nvSpPr>
        <p:spPr bwMode="auto">
          <a:xfrm flipV="1">
            <a:off x="1155031" y="384664"/>
            <a:ext cx="175565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8" name="Rectangle 8"/>
          <p:cNvSpPr>
            <a:spLocks noChangeArrowheads="1"/>
          </p:cNvSpPr>
          <p:nvPr/>
        </p:nvSpPr>
        <p:spPr bwMode="auto">
          <a:xfrm flipV="1">
            <a:off x="3031956" y="3561858"/>
            <a:ext cx="1263997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08484" y="26097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0" y="4090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8"/>
          <p:cNvSpPr txBox="1"/>
          <p:nvPr/>
        </p:nvSpPr>
        <p:spPr>
          <a:xfrm>
            <a:off x="1708484" y="430658"/>
            <a:ext cx="9866364" cy="88521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en-US" sz="2400" dirty="0">
                <a:latin typeface="楷体" panose="02010609060101010101" pitchFamily="49" charset="-122"/>
                <a:ea typeface="楷体" panose="02010609060101010101" pitchFamily="49" charset="-122"/>
              </a:rPr>
              <a:t>同理，可以计算出      和    的熵分别为</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0.971</a:t>
            </a:r>
            <a:r>
              <a:rPr lang="zh-CN" altLang="en-US" sz="2400" dirty="0">
                <a:latin typeface="楷体" panose="02010609060101010101" pitchFamily="49" charset="-122"/>
                <a:ea typeface="楷体" panose="02010609060101010101" pitchFamily="49" charset="-122"/>
              </a:rPr>
              <a:t>，因此，使用属性</a:t>
            </a:r>
            <a:r>
              <a:rPr lang="en-US" altLang="zh-CN" sz="2400" dirty="0">
                <a:latin typeface="楷体" panose="02010609060101010101" pitchFamily="49" charset="-122"/>
                <a:ea typeface="楷体" panose="02010609060101010101" pitchFamily="49" charset="-122"/>
              </a:rPr>
              <a:t>outlook</a:t>
            </a:r>
            <a:endParaRPr lang="en-US" altLang="zh-CN"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划分</a:t>
            </a:r>
            <a:r>
              <a:rPr lang="en-US" altLang="zh-CN" sz="2400" dirty="0">
                <a:latin typeface="楷体" panose="02010609060101010101" pitchFamily="49" charset="-122"/>
                <a:ea typeface="楷体" panose="02010609060101010101" pitchFamily="49" charset="-122"/>
              </a:rPr>
              <a:t>S</a:t>
            </a:r>
            <a:r>
              <a:rPr lang="zh-CN" altLang="en-US" sz="2400" dirty="0">
                <a:latin typeface="楷体" panose="02010609060101010101" pitchFamily="49" charset="-122"/>
                <a:ea typeface="楷体" panose="02010609060101010101" pitchFamily="49" charset="-122"/>
              </a:rPr>
              <a:t>的期望信息为</a:t>
            </a:r>
            <a:endParaRPr lang="zh-CN" altLang="en-US" sz="2400" dirty="0">
              <a:latin typeface="楷体" panose="02010609060101010101" pitchFamily="49" charset="-122"/>
              <a:ea typeface="楷体" panose="02010609060101010101" pitchFamily="49" charset="-122"/>
            </a:endParaRPr>
          </a:p>
          <a:p>
            <a:pPr marL="0" indent="0">
              <a:buNone/>
            </a:pPr>
            <a:endParaRPr lang="zh-CN" altLang="en-US" sz="2400" b="1" dirty="0">
              <a:latin typeface="楷体" panose="02010609060101010101" pitchFamily="49" charset="-122"/>
              <a:ea typeface="楷体" panose="02010609060101010101" pitchFamily="49" charset="-122"/>
            </a:endParaRPr>
          </a:p>
        </p:txBody>
      </p:sp>
      <p:graphicFrame>
        <p:nvGraphicFramePr>
          <p:cNvPr id="15" name="对象 14"/>
          <p:cNvGraphicFramePr>
            <a:graphicFrameLocks noChangeAspect="1"/>
          </p:cNvGraphicFramePr>
          <p:nvPr/>
        </p:nvGraphicFramePr>
        <p:xfrm>
          <a:off x="4653714" y="430281"/>
          <a:ext cx="718833" cy="362106"/>
        </p:xfrm>
        <a:graphic>
          <a:graphicData uri="http://schemas.openxmlformats.org/presentationml/2006/ole">
            <mc:AlternateContent xmlns:mc="http://schemas.openxmlformats.org/markup-compatibility/2006">
              <mc:Choice xmlns:v="urn:schemas-microsoft-com:vml" Requires="v">
                <p:oleObj spid="_x0000_s14404" name="" r:id="rId1" imgW="431800" imgH="228600" progId="Equation.DSMT4">
                  <p:embed/>
                </p:oleObj>
              </mc:Choice>
              <mc:Fallback>
                <p:oleObj name="" r:id="rId1" imgW="431800" imgH="228600" progId="Equation.DSMT4">
                  <p:embed/>
                  <p:pic>
                    <p:nvPicPr>
                      <p:cNvPr id="0" name="对象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3714" y="430281"/>
                        <a:ext cx="718833" cy="362106"/>
                      </a:xfrm>
                      <a:prstGeom prst="rect">
                        <a:avLst/>
                      </a:prstGeom>
                      <a:noFill/>
                    </p:spPr>
                  </p:pic>
                </p:oleObj>
              </mc:Fallback>
            </mc:AlternateContent>
          </a:graphicData>
        </a:graphic>
      </p:graphicFrame>
      <p:sp>
        <p:nvSpPr>
          <p:cNvPr id="16" name="Rectangle 6"/>
          <p:cNvSpPr>
            <a:spLocks noChangeArrowheads="1"/>
          </p:cNvSpPr>
          <p:nvPr/>
        </p:nvSpPr>
        <p:spPr bwMode="auto">
          <a:xfrm flipV="1">
            <a:off x="1155031" y="384664"/>
            <a:ext cx="175565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7" name="对象 16"/>
          <p:cNvGraphicFramePr>
            <a:graphicFrameLocks noChangeAspect="1"/>
          </p:cNvGraphicFramePr>
          <p:nvPr/>
        </p:nvGraphicFramePr>
        <p:xfrm>
          <a:off x="5867647" y="453754"/>
          <a:ext cx="457201" cy="338329"/>
        </p:xfrm>
        <a:graphic>
          <a:graphicData uri="http://schemas.openxmlformats.org/presentationml/2006/ole">
            <mc:AlternateContent xmlns:mc="http://schemas.openxmlformats.org/markup-compatibility/2006">
              <mc:Choice xmlns:v="urn:schemas-microsoft-com:vml" Requires="v">
                <p:oleObj spid="_x0000_s14405" name="" r:id="rId3" imgW="317500" imgH="241300" progId="Equation.DSMT4">
                  <p:embed/>
                </p:oleObj>
              </mc:Choice>
              <mc:Fallback>
                <p:oleObj name="" r:id="rId3" imgW="317500" imgH="2413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647" y="453754"/>
                        <a:ext cx="457201" cy="338329"/>
                      </a:xfrm>
                      <a:prstGeom prst="rect">
                        <a:avLst/>
                      </a:prstGeom>
                      <a:noFill/>
                    </p:spPr>
                  </p:pic>
                </p:oleObj>
              </mc:Fallback>
            </mc:AlternateContent>
          </a:graphicData>
        </a:graphic>
      </p:graphicFrame>
      <p:sp>
        <p:nvSpPr>
          <p:cNvPr id="18" name="Rectangle 8"/>
          <p:cNvSpPr>
            <a:spLocks noChangeArrowheads="1"/>
          </p:cNvSpPr>
          <p:nvPr/>
        </p:nvSpPr>
        <p:spPr bwMode="auto">
          <a:xfrm flipV="1">
            <a:off x="3031956" y="3561858"/>
            <a:ext cx="1263997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9" name="对象 18"/>
          <p:cNvGraphicFramePr>
            <a:graphicFrameLocks noChangeAspect="1"/>
          </p:cNvGraphicFramePr>
          <p:nvPr/>
        </p:nvGraphicFramePr>
        <p:xfrm>
          <a:off x="3032125" y="1771015"/>
          <a:ext cx="7882255" cy="838835"/>
        </p:xfrm>
        <a:graphic>
          <a:graphicData uri="http://schemas.openxmlformats.org/presentationml/2006/ole">
            <mc:AlternateContent xmlns:mc="http://schemas.openxmlformats.org/markup-compatibility/2006">
              <mc:Choice xmlns:v="urn:schemas-microsoft-com:vml" Requires="v">
                <p:oleObj spid="_x0000_s14406" name="" r:id="rId5" imgW="3695700" imgH="393700" progId="Equation.DSMT4">
                  <p:embed/>
                </p:oleObj>
              </mc:Choice>
              <mc:Fallback>
                <p:oleObj name="" r:id="rId5" imgW="3695700" imgH="3937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2125" y="1771015"/>
                        <a:ext cx="7882255" cy="838835"/>
                      </a:xfrm>
                      <a:prstGeom prst="rect">
                        <a:avLst/>
                      </a:prstGeom>
                      <a:noFill/>
                    </p:spPr>
                  </p:pic>
                </p:oleObj>
              </mc:Fallback>
            </mc:AlternateContent>
          </a:graphicData>
        </a:graphic>
      </p:graphicFrame>
      <p:sp>
        <p:nvSpPr>
          <p:cNvPr id="20" name="矩形 19"/>
          <p:cNvSpPr/>
          <p:nvPr/>
        </p:nvSpPr>
        <p:spPr>
          <a:xfrm>
            <a:off x="1931670" y="2674620"/>
            <a:ext cx="3254375" cy="398780"/>
          </a:xfrm>
          <a:prstGeom prst="rect">
            <a:avLst/>
          </a:prstGeom>
        </p:spPr>
        <p:txBody>
          <a:bodyPr wrap="square">
            <a:spAutoFit/>
          </a:bodyPr>
          <a:lstStyle/>
          <a:p>
            <a:pPr algn="just">
              <a:spcAft>
                <a:spcPts val="0"/>
              </a:spcAft>
            </a:pPr>
            <a:r>
              <a:rPr lang="en-US" altLang="zh-CN" sz="2000" kern="100" dirty="0">
                <a:latin typeface="楷体" panose="02010609060101010101" pitchFamily="49" charset="-122"/>
                <a:ea typeface="楷体" panose="02010609060101010101" pitchFamily="49" charset="-122"/>
              </a:rPr>
              <a:t>outlook</a:t>
            </a:r>
            <a:r>
              <a:rPr lang="zh-CN" altLang="zh-CN" sz="2000" kern="100" dirty="0">
                <a:latin typeface="楷体" panose="02010609060101010101" pitchFamily="49" charset="-122"/>
                <a:ea typeface="楷体" panose="02010609060101010101" pitchFamily="49" charset="-122"/>
              </a:rPr>
              <a:t>的信息增益为</a:t>
            </a:r>
            <a:endParaRPr lang="zh-CN" altLang="zh-CN" sz="2000" kern="100" dirty="0">
              <a:latin typeface="楷体" panose="02010609060101010101" pitchFamily="49" charset="-122"/>
              <a:ea typeface="楷体" panose="02010609060101010101" pitchFamily="49" charset="-122"/>
            </a:endParaRPr>
          </a:p>
        </p:txBody>
      </p:sp>
      <p:graphicFrame>
        <p:nvGraphicFramePr>
          <p:cNvPr id="25" name="对象 24"/>
          <p:cNvGraphicFramePr>
            <a:graphicFrameLocks noChangeAspect="1"/>
          </p:cNvGraphicFramePr>
          <p:nvPr/>
        </p:nvGraphicFramePr>
        <p:xfrm>
          <a:off x="3177540" y="3228975"/>
          <a:ext cx="6685915" cy="541655"/>
        </p:xfrm>
        <a:graphic>
          <a:graphicData uri="http://schemas.openxmlformats.org/presentationml/2006/ole">
            <mc:AlternateContent xmlns:mc="http://schemas.openxmlformats.org/markup-compatibility/2006">
              <mc:Choice xmlns:v="urn:schemas-microsoft-com:vml" Requires="v">
                <p:oleObj spid="_x0000_s14407" name="" r:id="rId7" imgW="2451100" imgH="203200" progId="Equation.DSMT4">
                  <p:embed/>
                </p:oleObj>
              </mc:Choice>
              <mc:Fallback>
                <p:oleObj name="" r:id="rId7" imgW="2451100" imgH="203200" progId="Equation.DSMT4">
                  <p:embed/>
                  <p:pic>
                    <p:nvPicPr>
                      <p:cNvPr id="0" name="对象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77540" y="3228975"/>
                        <a:ext cx="6685915" cy="541655"/>
                      </a:xfrm>
                      <a:prstGeom prst="rect">
                        <a:avLst/>
                      </a:prstGeom>
                      <a:noFill/>
                    </p:spPr>
                  </p:pic>
                </p:oleObj>
              </mc:Fallback>
            </mc:AlternateContent>
          </a:graphicData>
        </a:graphic>
      </p:graphicFrame>
      <p:pic>
        <p:nvPicPr>
          <p:cNvPr id="26" name="图片 25"/>
          <p:cNvPicPr>
            <a:picLocks noChangeAspect="1"/>
          </p:cNvPicPr>
          <p:nvPr/>
        </p:nvPicPr>
        <p:blipFill>
          <a:blip r:embed="rId9"/>
          <a:stretch>
            <a:fillRect/>
          </a:stretch>
        </p:blipFill>
        <p:spPr>
          <a:xfrm>
            <a:off x="866775" y="3770630"/>
            <a:ext cx="11307445" cy="162433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840830" y="1592624"/>
            <a:ext cx="8163307" cy="485515"/>
          </a:xfrm>
        </p:spPr>
        <p:txBody>
          <a:bodyPr>
            <a:normAutofit/>
          </a:bodyPr>
          <a:lstStyle/>
          <a:p>
            <a:r>
              <a:rPr lang="en-US" altLang="zh-CN" sz="2400" b="1" dirty="0"/>
              <a:t>ID3</a:t>
            </a:r>
            <a:r>
              <a:rPr lang="zh-CN" altLang="zh-CN" sz="2400" b="1" dirty="0"/>
              <a:t>算法</a:t>
            </a:r>
            <a:endParaRPr lang="zh-CN" altLang="zh-CN" sz="2400" b="1" dirty="0"/>
          </a:p>
        </p:txBody>
      </p:sp>
      <p:sp>
        <p:nvSpPr>
          <p:cNvPr id="10" name="标题 1"/>
          <p:cNvSpPr>
            <a:spLocks noGrp="1"/>
          </p:cNvSpPr>
          <p:nvPr>
            <p:ph type="title"/>
          </p:nvPr>
        </p:nvSpPr>
        <p:spPr>
          <a:xfrm>
            <a:off x="1840832" y="654788"/>
            <a:ext cx="8911687" cy="687332"/>
          </a:xfrm>
        </p:spPr>
        <p:txBody>
          <a:bodyPr/>
          <a:lstStyle/>
          <a:p>
            <a:r>
              <a:rPr lang="en-US" altLang="zh-CN" b="1" dirty="0">
                <a:latin typeface="楷体" panose="02010609060101010101" pitchFamily="49" charset="-122"/>
                <a:ea typeface="楷体" panose="02010609060101010101" pitchFamily="49" charset="-122"/>
              </a:rPr>
              <a:t>4</a:t>
            </a:r>
            <a:r>
              <a:rPr lang="en-US" altLang="zh-CN" dirty="0">
                <a:latin typeface="楷体" panose="02010609060101010101" pitchFamily="49" charset="-122"/>
                <a:ea typeface="楷体" panose="02010609060101010101" pitchFamily="49" charset="-122"/>
              </a:rPr>
              <a:t>.2.3 ID3</a:t>
            </a:r>
            <a:r>
              <a:rPr lang="zh-CN" altLang="zh-CN" dirty="0">
                <a:latin typeface="楷体" panose="02010609060101010101" pitchFamily="49" charset="-122"/>
                <a:ea typeface="楷体" panose="02010609060101010101" pitchFamily="49" charset="-122"/>
              </a:rPr>
              <a:t>算法</a:t>
            </a:r>
            <a:endParaRPr lang="zh-CN" altLang="zh-CN" b="1" dirty="0">
              <a:latin typeface="楷体" panose="02010609060101010101" pitchFamily="49" charset="-122"/>
              <a:ea typeface="楷体" panose="02010609060101010101" pitchFamily="49" charset="-122"/>
            </a:endParaRPr>
          </a:p>
        </p:txBody>
      </p:sp>
      <p:sp>
        <p:nvSpPr>
          <p:cNvPr id="2" name="矩形 1"/>
          <p:cNvSpPr/>
          <p:nvPr/>
        </p:nvSpPr>
        <p:spPr>
          <a:xfrm>
            <a:off x="1840865" y="2200275"/>
            <a:ext cx="9294495" cy="4154170"/>
          </a:xfrm>
          <a:prstGeom prst="rect">
            <a:avLst/>
          </a:prstGeom>
        </p:spPr>
        <p:txBody>
          <a:bodyPr wrap="square">
            <a:spAutoFit/>
          </a:bodyPr>
          <a:lstStyle/>
          <a:p>
            <a:pPr algn="just">
              <a:spcAft>
                <a:spcPts val="0"/>
              </a:spcAft>
            </a:pPr>
            <a:r>
              <a:rPr lang="en-US" altLang="zh-CN" sz="2400" kern="100" dirty="0">
                <a:latin typeface="楷体" panose="02010609060101010101" pitchFamily="49" charset="-122"/>
                <a:ea typeface="楷体" panose="02010609060101010101" pitchFamily="49" charset="-122"/>
              </a:rPr>
              <a:t>(1) </a:t>
            </a:r>
            <a:r>
              <a:rPr lang="zh-CN" altLang="zh-CN" sz="2400" kern="100" dirty="0">
                <a:latin typeface="楷体" panose="02010609060101010101" pitchFamily="49" charset="-122"/>
                <a:ea typeface="楷体" panose="02010609060101010101" pitchFamily="49" charset="-122"/>
              </a:rPr>
              <a:t>初始化决策树</a:t>
            </a:r>
            <a:r>
              <a:rPr lang="en-US" altLang="zh-CN" sz="2400" kern="100" dirty="0">
                <a:latin typeface="楷体" panose="02010609060101010101" pitchFamily="49" charset="-122"/>
                <a:ea typeface="楷体" panose="02010609060101010101" pitchFamily="49" charset="-122"/>
              </a:rPr>
              <a:t>T</a:t>
            </a:r>
            <a:r>
              <a:rPr lang="zh-CN" altLang="zh-CN" sz="2400" kern="100" dirty="0">
                <a:latin typeface="楷体" panose="02010609060101010101" pitchFamily="49" charset="-122"/>
                <a:ea typeface="楷体" panose="02010609060101010101" pitchFamily="49" charset="-122"/>
              </a:rPr>
              <a:t>，使其只包含一个树根结点</a:t>
            </a:r>
            <a:r>
              <a:rPr lang="en-US" altLang="zh-CN" sz="2400" kern="100" dirty="0">
                <a:latin typeface="楷体" panose="02010609060101010101" pitchFamily="49" charset="-122"/>
                <a:ea typeface="楷体" panose="02010609060101010101" pitchFamily="49" charset="-122"/>
              </a:rPr>
              <a:t>(X,Q)</a:t>
            </a:r>
            <a:r>
              <a:rPr lang="zh-CN" altLang="zh-CN" sz="2400" kern="100" dirty="0">
                <a:latin typeface="楷体" panose="02010609060101010101" pitchFamily="49" charset="-122"/>
                <a:ea typeface="楷体" panose="02010609060101010101" pitchFamily="49" charset="-122"/>
              </a:rPr>
              <a:t>，其中</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是全体样本集，</a:t>
            </a:r>
            <a:r>
              <a:rPr lang="en-US" altLang="zh-CN" sz="2400" kern="100" dirty="0">
                <a:latin typeface="楷体" panose="02010609060101010101" pitchFamily="49" charset="-122"/>
                <a:ea typeface="楷体" panose="02010609060101010101" pitchFamily="49" charset="-122"/>
              </a:rPr>
              <a:t>Q</a:t>
            </a:r>
            <a:r>
              <a:rPr lang="zh-CN" altLang="zh-CN" sz="2400" kern="100" dirty="0">
                <a:latin typeface="楷体" panose="02010609060101010101" pitchFamily="49" charset="-122"/>
                <a:ea typeface="楷体" panose="02010609060101010101" pitchFamily="49" charset="-122"/>
              </a:rPr>
              <a:t>为全体属性集。 </a:t>
            </a:r>
            <a:endParaRPr lang="zh-CN" altLang="zh-CN" sz="2400" kern="100" dirty="0">
              <a:latin typeface="楷体" panose="02010609060101010101" pitchFamily="49" charset="-122"/>
              <a:ea typeface="楷体" panose="02010609060101010101" pitchFamily="49" charset="-122"/>
            </a:endParaRPr>
          </a:p>
          <a:p>
            <a:pPr algn="just">
              <a:spcAft>
                <a:spcPts val="0"/>
              </a:spcAft>
            </a:pPr>
            <a:r>
              <a:rPr lang="en-US" altLang="zh-CN" sz="2400" kern="100" dirty="0">
                <a:latin typeface="楷体" panose="02010609060101010101" pitchFamily="49" charset="-122"/>
                <a:ea typeface="楷体" panose="02010609060101010101" pitchFamily="49" charset="-122"/>
              </a:rPr>
              <a:t>(2) if(T</a:t>
            </a:r>
            <a:r>
              <a:rPr lang="zh-CN" altLang="zh-CN" sz="2400" kern="100" dirty="0">
                <a:latin typeface="楷体" panose="02010609060101010101" pitchFamily="49" charset="-122"/>
                <a:ea typeface="楷体" panose="02010609060101010101" pitchFamily="49" charset="-122"/>
              </a:rPr>
              <a:t>中所有叶节点</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,Q</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a:t>
            </a:r>
            <a:r>
              <a:rPr lang="zh-CN" altLang="zh-CN" sz="2400" kern="100" dirty="0">
                <a:latin typeface="楷体" panose="02010609060101010101" pitchFamily="49" charset="-122"/>
                <a:ea typeface="楷体" panose="02010609060101010101" pitchFamily="49" charset="-122"/>
              </a:rPr>
              <a:t>都满足</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属于同一类或</a:t>
            </a:r>
            <a:r>
              <a:rPr lang="en-US" altLang="zh-CN" sz="2400" kern="100" dirty="0">
                <a:latin typeface="楷体" panose="02010609060101010101" pitchFamily="49" charset="-122"/>
                <a:ea typeface="楷体" panose="02010609060101010101" pitchFamily="49" charset="-122"/>
              </a:rPr>
              <a:t>Q</a:t>
            </a:r>
            <a:r>
              <a:rPr lang="zh-CN" altLang="zh-CN" sz="2400" kern="100" dirty="0">
                <a:latin typeface="楷体" panose="02010609060101010101" pitchFamily="49" charset="-122"/>
                <a:ea typeface="楷体" panose="02010609060101010101" pitchFamily="49" charset="-122"/>
              </a:rPr>
              <a:t>’为空</a:t>
            </a:r>
            <a:r>
              <a:rPr lang="en-US" altLang="zh-CN" sz="2400" kern="100" dirty="0">
                <a:latin typeface="楷体" panose="02010609060101010101" pitchFamily="49" charset="-122"/>
                <a:ea typeface="楷体" panose="02010609060101010101" pitchFamily="49" charset="-122"/>
              </a:rPr>
              <a:t>) then </a:t>
            </a:r>
            <a:r>
              <a:rPr lang="zh-CN" altLang="zh-CN" sz="2400" kern="100" dirty="0">
                <a:latin typeface="楷体" panose="02010609060101010101" pitchFamily="49" charset="-122"/>
                <a:ea typeface="楷体" panose="02010609060101010101" pitchFamily="49" charset="-122"/>
              </a:rPr>
              <a:t>算法停止； </a:t>
            </a:r>
            <a:endParaRPr lang="zh-CN" altLang="zh-CN" sz="2400" kern="100" dirty="0">
              <a:latin typeface="楷体" panose="02010609060101010101" pitchFamily="49" charset="-122"/>
              <a:ea typeface="楷体" panose="02010609060101010101" pitchFamily="49" charset="-122"/>
            </a:endParaRPr>
          </a:p>
          <a:p>
            <a:pPr algn="just">
              <a:spcAft>
                <a:spcPts val="0"/>
              </a:spcAft>
            </a:pPr>
            <a:r>
              <a:rPr lang="en-US" altLang="zh-CN" sz="2400" kern="100" dirty="0">
                <a:latin typeface="楷体" panose="02010609060101010101" pitchFamily="49" charset="-122"/>
                <a:ea typeface="楷体" panose="02010609060101010101" pitchFamily="49" charset="-122"/>
              </a:rPr>
              <a:t>(3) else { </a:t>
            </a:r>
            <a:r>
              <a:rPr lang="zh-CN" altLang="zh-CN" sz="2400" kern="100" dirty="0">
                <a:latin typeface="楷体" panose="02010609060101010101" pitchFamily="49" charset="-122"/>
                <a:ea typeface="楷体" panose="02010609060101010101" pitchFamily="49" charset="-122"/>
              </a:rPr>
              <a:t>任取一个不具有</a:t>
            </a:r>
            <a:r>
              <a:rPr lang="en-US" altLang="zh-CN" sz="2400" kern="100" dirty="0">
                <a:latin typeface="楷体" panose="02010609060101010101" pitchFamily="49" charset="-122"/>
                <a:ea typeface="楷体" panose="02010609060101010101" pitchFamily="49" charset="-122"/>
              </a:rPr>
              <a:t>(2)</a:t>
            </a:r>
            <a:r>
              <a:rPr lang="zh-CN" altLang="zh-CN" sz="2400" kern="100" dirty="0">
                <a:latin typeface="楷体" panose="02010609060101010101" pitchFamily="49" charset="-122"/>
                <a:ea typeface="楷体" panose="02010609060101010101" pitchFamily="49" charset="-122"/>
              </a:rPr>
              <a:t>中所述状态的叶节点</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,Q</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a:t>
            </a:r>
            <a:r>
              <a:rPr lang="zh-CN" altLang="zh-CN" sz="2400" kern="100" dirty="0">
                <a:latin typeface="楷体" panose="02010609060101010101" pitchFamily="49" charset="-122"/>
                <a:ea typeface="楷体" panose="02010609060101010101" pitchFamily="49" charset="-122"/>
              </a:rPr>
              <a:t>；</a:t>
            </a:r>
            <a:endParaRPr lang="zh-CN" altLang="zh-CN" sz="2400" kern="100" dirty="0">
              <a:latin typeface="楷体" panose="02010609060101010101" pitchFamily="49" charset="-122"/>
              <a:ea typeface="楷体" panose="02010609060101010101" pitchFamily="49" charset="-122"/>
            </a:endParaRPr>
          </a:p>
          <a:p>
            <a:pPr algn="just">
              <a:spcAft>
                <a:spcPts val="0"/>
              </a:spcAft>
            </a:pPr>
            <a:r>
              <a:rPr lang="en-US" altLang="zh-CN" sz="2400" kern="100" dirty="0">
                <a:latin typeface="楷体" panose="02010609060101010101" pitchFamily="49" charset="-122"/>
                <a:ea typeface="楷体" panose="02010609060101010101" pitchFamily="49" charset="-122"/>
              </a:rPr>
              <a:t>(4) for each Q</a:t>
            </a:r>
            <a:r>
              <a:rPr lang="zh-CN" altLang="zh-CN" sz="2400" kern="100" dirty="0">
                <a:latin typeface="楷体" panose="02010609060101010101" pitchFamily="49" charset="-122"/>
                <a:ea typeface="楷体" panose="02010609060101010101" pitchFamily="49" charset="-122"/>
              </a:rPr>
              <a:t>’中的属性</a:t>
            </a:r>
            <a:r>
              <a:rPr lang="en-US" altLang="zh-CN" sz="2400" kern="100" dirty="0">
                <a:latin typeface="楷体" panose="02010609060101010101" pitchFamily="49" charset="-122"/>
                <a:ea typeface="楷体" panose="02010609060101010101" pitchFamily="49" charset="-122"/>
              </a:rPr>
              <a:t>A  do </a:t>
            </a:r>
            <a:r>
              <a:rPr lang="zh-CN" altLang="zh-CN" sz="2400" kern="100" dirty="0">
                <a:latin typeface="楷体" panose="02010609060101010101" pitchFamily="49" charset="-122"/>
                <a:ea typeface="楷体" panose="02010609060101010101" pitchFamily="49" charset="-122"/>
              </a:rPr>
              <a:t>计算信息增益</a:t>
            </a:r>
            <a:r>
              <a:rPr lang="en-US" altLang="zh-CN" sz="2400" kern="100" dirty="0">
                <a:latin typeface="楷体" panose="02010609060101010101" pitchFamily="49" charset="-122"/>
                <a:ea typeface="楷体" panose="02010609060101010101" pitchFamily="49" charset="-122"/>
              </a:rPr>
              <a:t>gain(A,X</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  </a:t>
            </a:r>
            <a:endParaRPr lang="zh-CN" altLang="zh-CN" sz="2400" kern="100" dirty="0">
              <a:latin typeface="楷体" panose="02010609060101010101" pitchFamily="49" charset="-122"/>
              <a:ea typeface="楷体" panose="02010609060101010101" pitchFamily="49" charset="-122"/>
            </a:endParaRPr>
          </a:p>
          <a:p>
            <a:pPr algn="just">
              <a:spcAft>
                <a:spcPts val="0"/>
              </a:spcAft>
            </a:pPr>
            <a:r>
              <a:rPr lang="en-US" altLang="zh-CN" sz="2400" kern="100" dirty="0">
                <a:latin typeface="楷体" panose="02010609060101010101" pitchFamily="49" charset="-122"/>
                <a:ea typeface="楷体" panose="02010609060101010101" pitchFamily="49" charset="-122"/>
              </a:rPr>
              <a:t>(5) </a:t>
            </a:r>
            <a:r>
              <a:rPr lang="zh-CN" altLang="zh-CN" sz="2400" kern="100" dirty="0">
                <a:latin typeface="楷体" panose="02010609060101010101" pitchFamily="49" charset="-122"/>
                <a:ea typeface="楷体" panose="02010609060101010101" pitchFamily="49" charset="-122"/>
              </a:rPr>
              <a:t>选择具有最高信息增益的属性</a:t>
            </a:r>
            <a:r>
              <a:rPr lang="en-US" altLang="zh-CN" sz="2400" kern="100" dirty="0">
                <a:latin typeface="楷体" panose="02010609060101010101" pitchFamily="49" charset="-122"/>
                <a:ea typeface="楷体" panose="02010609060101010101" pitchFamily="49" charset="-122"/>
              </a:rPr>
              <a:t>B</a:t>
            </a:r>
            <a:r>
              <a:rPr lang="zh-CN" altLang="zh-CN" sz="2400" kern="100" dirty="0">
                <a:latin typeface="楷体" panose="02010609060101010101" pitchFamily="49" charset="-122"/>
                <a:ea typeface="楷体" panose="02010609060101010101" pitchFamily="49" charset="-122"/>
              </a:rPr>
              <a:t>作为节点</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,Q</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a:t>
            </a:r>
            <a:r>
              <a:rPr lang="zh-CN" altLang="zh-CN" sz="2400" kern="100" dirty="0">
                <a:latin typeface="楷体" panose="02010609060101010101" pitchFamily="49" charset="-122"/>
                <a:ea typeface="楷体" panose="02010609060101010101" pitchFamily="49" charset="-122"/>
              </a:rPr>
              <a:t>的测试属性； </a:t>
            </a:r>
            <a:endParaRPr lang="zh-CN" altLang="zh-CN" sz="2400" kern="100" dirty="0">
              <a:latin typeface="楷体" panose="02010609060101010101" pitchFamily="49" charset="-122"/>
              <a:ea typeface="楷体" panose="02010609060101010101" pitchFamily="49" charset="-122"/>
            </a:endParaRPr>
          </a:p>
          <a:p>
            <a:pPr algn="just">
              <a:spcAft>
                <a:spcPts val="0"/>
              </a:spcAft>
            </a:pPr>
            <a:r>
              <a:rPr lang="en-US" altLang="zh-CN" sz="2400" kern="100" dirty="0">
                <a:latin typeface="楷体" panose="02010609060101010101" pitchFamily="49" charset="-122"/>
                <a:ea typeface="楷体" panose="02010609060101010101" pitchFamily="49" charset="-122"/>
              </a:rPr>
              <a:t>(6) for each B</a:t>
            </a:r>
            <a:r>
              <a:rPr lang="zh-CN" altLang="zh-CN" sz="2400" kern="100" dirty="0">
                <a:latin typeface="楷体" panose="02010609060101010101" pitchFamily="49" charset="-122"/>
                <a:ea typeface="楷体" panose="02010609060101010101" pitchFamily="49" charset="-122"/>
              </a:rPr>
              <a:t>的取值</a:t>
            </a:r>
            <a:r>
              <a:rPr lang="en-US" altLang="zh-CN" sz="2400" kern="100" dirty="0">
                <a:latin typeface="楷体" panose="02010609060101010101" pitchFamily="49" charset="-122"/>
                <a:ea typeface="楷体" panose="02010609060101010101" pitchFamily="49" charset="-122"/>
              </a:rPr>
              <a:t>b</a:t>
            </a:r>
            <a:r>
              <a:rPr lang="en-US" altLang="zh-CN" sz="2400" kern="100" baseline="-25000" dirty="0">
                <a:latin typeface="楷体" panose="02010609060101010101" pitchFamily="49" charset="-122"/>
                <a:ea typeface="楷体" panose="02010609060101010101" pitchFamily="49" charset="-122"/>
              </a:rPr>
              <a:t>i</a:t>
            </a:r>
            <a:r>
              <a:rPr lang="en-US" altLang="zh-CN" sz="2400" kern="100" dirty="0">
                <a:latin typeface="楷体" panose="02010609060101010101" pitchFamily="49" charset="-122"/>
                <a:ea typeface="楷体" panose="02010609060101010101" pitchFamily="49" charset="-122"/>
              </a:rPr>
              <a:t> do</a:t>
            </a:r>
            <a:r>
              <a:rPr lang="zh-CN" altLang="zh-CN" sz="2400" kern="100" dirty="0">
                <a:latin typeface="楷体" panose="02010609060101010101" pitchFamily="49" charset="-122"/>
                <a:ea typeface="楷体" panose="02010609060101010101" pitchFamily="49" charset="-122"/>
              </a:rPr>
              <a:t>从该节点</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 Q</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a:t>
            </a:r>
            <a:r>
              <a:rPr lang="zh-CN" altLang="zh-CN" sz="2400" kern="100" dirty="0">
                <a:latin typeface="楷体" panose="02010609060101010101" pitchFamily="49" charset="-122"/>
                <a:ea typeface="楷体" panose="02010609060101010101" pitchFamily="49" charset="-122"/>
              </a:rPr>
              <a:t>伸出分支，代表测试输出</a:t>
            </a:r>
            <a:r>
              <a:rPr lang="en-US" altLang="zh-CN" sz="2400" kern="100" dirty="0">
                <a:latin typeface="楷体" panose="02010609060101010101" pitchFamily="49" charset="-122"/>
                <a:ea typeface="楷体" panose="02010609060101010101" pitchFamily="49" charset="-122"/>
              </a:rPr>
              <a:t>B=b</a:t>
            </a:r>
            <a:r>
              <a:rPr lang="en-US" altLang="zh-CN" sz="2400" kern="100" baseline="-25000" dirty="0">
                <a:latin typeface="楷体" panose="02010609060101010101" pitchFamily="49" charset="-122"/>
                <a:ea typeface="楷体" panose="02010609060101010101" pitchFamily="49" charset="-122"/>
              </a:rPr>
              <a:t>i</a:t>
            </a:r>
            <a:r>
              <a:rPr lang="zh-CN" altLang="zh-CN" sz="2400" kern="100" dirty="0">
                <a:latin typeface="楷体" panose="02010609060101010101" pitchFamily="49" charset="-122"/>
                <a:ea typeface="楷体" panose="02010609060101010101" pitchFamily="49" charset="-122"/>
              </a:rPr>
              <a:t>；求得</a:t>
            </a:r>
            <a:r>
              <a:rPr lang="en-US" altLang="zh-CN" sz="2400" kern="100" dirty="0">
                <a:latin typeface="楷体" panose="02010609060101010101" pitchFamily="49" charset="-122"/>
                <a:ea typeface="楷体" panose="02010609060101010101" pitchFamily="49" charset="-122"/>
              </a:rPr>
              <a:t>X</a:t>
            </a:r>
            <a:r>
              <a:rPr lang="zh-CN" altLang="zh-CN" sz="2400" kern="100" dirty="0">
                <a:latin typeface="楷体" panose="02010609060101010101" pitchFamily="49" charset="-122"/>
                <a:ea typeface="楷体" panose="02010609060101010101" pitchFamily="49" charset="-122"/>
              </a:rPr>
              <a:t>中</a:t>
            </a:r>
            <a:r>
              <a:rPr lang="en-US" altLang="zh-CN" sz="2400" kern="100" dirty="0">
                <a:latin typeface="楷体" panose="02010609060101010101" pitchFamily="49" charset="-122"/>
                <a:ea typeface="楷体" panose="02010609060101010101" pitchFamily="49" charset="-122"/>
              </a:rPr>
              <a:t>B</a:t>
            </a:r>
            <a:r>
              <a:rPr lang="zh-CN" altLang="zh-CN" sz="2400" kern="100" dirty="0">
                <a:latin typeface="楷体" panose="02010609060101010101" pitchFamily="49" charset="-122"/>
                <a:ea typeface="楷体" panose="02010609060101010101" pitchFamily="49" charset="-122"/>
              </a:rPr>
              <a:t>值等于</a:t>
            </a:r>
            <a:r>
              <a:rPr lang="en-US" altLang="zh-CN" sz="2400" kern="100" dirty="0">
                <a:latin typeface="楷体" panose="02010609060101010101" pitchFamily="49" charset="-122"/>
                <a:ea typeface="楷体" panose="02010609060101010101" pitchFamily="49" charset="-122"/>
              </a:rPr>
              <a:t>b</a:t>
            </a:r>
            <a:r>
              <a:rPr lang="en-US" altLang="zh-CN" sz="2400" kern="100" baseline="-25000" dirty="0">
                <a:latin typeface="楷体" panose="02010609060101010101" pitchFamily="49" charset="-122"/>
                <a:ea typeface="楷体" panose="02010609060101010101" pitchFamily="49" charset="-122"/>
              </a:rPr>
              <a:t>i</a:t>
            </a:r>
            <a:r>
              <a:rPr lang="zh-CN" altLang="zh-CN" sz="2400" kern="100" dirty="0">
                <a:latin typeface="楷体" panose="02010609060101010101" pitchFamily="49" charset="-122"/>
                <a:ea typeface="楷体" panose="02010609060101010101" pitchFamily="49" charset="-122"/>
              </a:rPr>
              <a:t>的子集</a:t>
            </a:r>
            <a:r>
              <a:rPr lang="en-US" altLang="zh-CN" sz="2400" kern="100" dirty="0">
                <a:latin typeface="楷体" panose="02010609060101010101" pitchFamily="49" charset="-122"/>
                <a:ea typeface="楷体" panose="02010609060101010101" pitchFamily="49" charset="-122"/>
              </a:rPr>
              <a:t>X</a:t>
            </a:r>
            <a:r>
              <a:rPr lang="en-US" altLang="zh-CN" sz="2400" kern="100" baseline="-25000" dirty="0">
                <a:latin typeface="楷体" panose="02010609060101010101" pitchFamily="49" charset="-122"/>
                <a:ea typeface="楷体" panose="02010609060101010101" pitchFamily="49" charset="-122"/>
              </a:rPr>
              <a:t>i</a:t>
            </a:r>
            <a:r>
              <a:rPr lang="zh-CN" altLang="zh-CN" sz="2400" kern="100" dirty="0">
                <a:latin typeface="楷体" panose="02010609060101010101" pitchFamily="49" charset="-122"/>
                <a:ea typeface="楷体" panose="02010609060101010101" pitchFamily="49" charset="-122"/>
              </a:rPr>
              <a:t>，并生成相应的叶节点</a:t>
            </a:r>
            <a:r>
              <a:rPr lang="en-US" altLang="zh-CN" sz="2400" kern="100" dirty="0">
                <a:latin typeface="楷体" panose="02010609060101010101" pitchFamily="49" charset="-122"/>
                <a:ea typeface="楷体" panose="02010609060101010101" pitchFamily="49" charset="-122"/>
              </a:rPr>
              <a:t>(X</a:t>
            </a:r>
            <a:r>
              <a:rPr lang="en-US" altLang="zh-CN" sz="2400" kern="100" baseline="-25000" dirty="0">
                <a:latin typeface="楷体" panose="02010609060101010101" pitchFamily="49" charset="-122"/>
                <a:ea typeface="楷体" panose="02010609060101010101" pitchFamily="49" charset="-122"/>
              </a:rPr>
              <a:t>i</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,Q</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-{B})</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 </a:t>
            </a:r>
            <a:endParaRPr lang="zh-CN" altLang="zh-CN" sz="2400" kern="100" dirty="0">
              <a:latin typeface="楷体" panose="02010609060101010101" pitchFamily="49" charset="-122"/>
              <a:ea typeface="楷体" panose="02010609060101010101" pitchFamily="49" charset="-122"/>
            </a:endParaRPr>
          </a:p>
          <a:p>
            <a:pPr algn="just">
              <a:spcAft>
                <a:spcPts val="0"/>
              </a:spcAft>
            </a:pPr>
            <a:r>
              <a:rPr lang="en-US" altLang="zh-CN" sz="2400" kern="100" dirty="0">
                <a:latin typeface="楷体" panose="02010609060101010101" pitchFamily="49" charset="-122"/>
                <a:ea typeface="楷体" panose="02010609060101010101" pitchFamily="49" charset="-122"/>
              </a:rPr>
              <a:t>(7) </a:t>
            </a:r>
            <a:r>
              <a:rPr lang="zh-CN" altLang="zh-CN" sz="2400" kern="100" dirty="0">
                <a:latin typeface="楷体" panose="02010609060101010101" pitchFamily="49" charset="-122"/>
                <a:ea typeface="楷体" panose="02010609060101010101" pitchFamily="49" charset="-122"/>
              </a:rPr>
              <a:t>转</a:t>
            </a:r>
            <a:r>
              <a:rPr lang="en-US" altLang="zh-CN" sz="2400" kern="100" dirty="0">
                <a:latin typeface="楷体" panose="02010609060101010101" pitchFamily="49" charset="-122"/>
                <a:ea typeface="楷体" panose="02010609060101010101" pitchFamily="49" charset="-122"/>
              </a:rPr>
              <a:t>(2)</a:t>
            </a:r>
            <a:r>
              <a:rPr lang="zh-CN" altLang="zh-CN" sz="2400" kern="100" dirty="0">
                <a:latin typeface="楷体" panose="02010609060101010101" pitchFamily="49" charset="-122"/>
                <a:ea typeface="楷体" panose="02010609060101010101" pitchFamily="49" charset="-122"/>
              </a:rPr>
              <a:t>；</a:t>
            </a:r>
            <a:r>
              <a:rPr lang="en-US" altLang="zh-CN" sz="2400" kern="100" dirty="0">
                <a:latin typeface="楷体" panose="02010609060101010101" pitchFamily="49" charset="-122"/>
                <a:ea typeface="楷体" panose="02010609060101010101" pitchFamily="49" charset="-122"/>
              </a:rPr>
              <a:t>}</a:t>
            </a:r>
            <a:endParaRPr lang="en-US" altLang="zh-CN" sz="2400" kern="100" dirty="0">
              <a:latin typeface="楷体" panose="02010609060101010101" pitchFamily="49" charset="-122"/>
              <a:ea typeface="楷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840828" y="1291872"/>
            <a:ext cx="8163307" cy="485515"/>
          </a:xfrm>
        </p:spPr>
        <p:txBody>
          <a:bodyPr>
            <a:noAutofit/>
          </a:bodyPr>
          <a:lstStyle/>
          <a:p>
            <a:r>
              <a:rPr lang="zh-CN" altLang="zh-CN" sz="2800" dirty="0">
                <a:latin typeface="楷体" panose="02010609060101010101" pitchFamily="49" charset="-122"/>
                <a:ea typeface="楷体" panose="02010609060101010101" pitchFamily="49" charset="-122"/>
              </a:rPr>
              <a:t>实例</a:t>
            </a:r>
            <a:r>
              <a:rPr lang="en-US" altLang="zh-CN" sz="2800" dirty="0">
                <a:latin typeface="楷体" panose="02010609060101010101" pitchFamily="49" charset="-122"/>
                <a:ea typeface="楷体" panose="02010609060101010101" pitchFamily="49" charset="-122"/>
              </a:rPr>
              <a:t>1</a:t>
            </a:r>
            <a:endParaRPr lang="en-US" altLang="zh-CN" sz="2800" dirty="0">
              <a:latin typeface="楷体" panose="02010609060101010101" pitchFamily="49" charset="-122"/>
              <a:ea typeface="楷体" panose="02010609060101010101" pitchFamily="49" charset="-122"/>
            </a:endParaRPr>
          </a:p>
        </p:txBody>
      </p:sp>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4.3 ID3</a:t>
            </a:r>
            <a:r>
              <a:rPr lang="zh-CN" altLang="zh-CN" dirty="0">
                <a:latin typeface="楷体" panose="02010609060101010101" pitchFamily="49" charset="-122"/>
                <a:ea typeface="楷体" panose="02010609060101010101" pitchFamily="49" charset="-122"/>
              </a:rPr>
              <a:t>算法实例分析</a:t>
            </a:r>
            <a:endParaRPr lang="zh-CN" altLang="zh-CN" b="1" dirty="0">
              <a:latin typeface="楷体" panose="02010609060101010101" pitchFamily="49" charset="-122"/>
              <a:ea typeface="楷体" panose="02010609060101010101" pitchFamily="49" charset="-122"/>
            </a:endParaRPr>
          </a:p>
        </p:txBody>
      </p:sp>
      <p:sp>
        <p:nvSpPr>
          <p:cNvPr id="2" name="矩形 1"/>
          <p:cNvSpPr/>
          <p:nvPr/>
        </p:nvSpPr>
        <p:spPr>
          <a:xfrm>
            <a:off x="1840865" y="1906270"/>
            <a:ext cx="8756015" cy="1814830"/>
          </a:xfrm>
          <a:prstGeom prst="rect">
            <a:avLst/>
          </a:prstGeom>
        </p:spPr>
        <p:txBody>
          <a:bodyPr wrap="square">
            <a:spAutoFit/>
          </a:bodyPr>
          <a:lstStyle/>
          <a:p>
            <a:pPr algn="just">
              <a:spcAft>
                <a:spcPts val="0"/>
              </a:spcAft>
            </a:pPr>
            <a:r>
              <a:rPr lang="zh-CN" altLang="en-US" sz="2800" dirty="0">
                <a:latin typeface="楷体" panose="02010609060101010101" pitchFamily="49" charset="-122"/>
                <a:ea typeface="楷体" panose="02010609060101010101" pitchFamily="49" charset="-122"/>
              </a:rPr>
              <a:t>下</a:t>
            </a:r>
            <a:r>
              <a:rPr lang="zh-CN" altLang="zh-CN" sz="2800" dirty="0">
                <a:latin typeface="楷体" panose="02010609060101010101" pitchFamily="49" charset="-122"/>
                <a:ea typeface="楷体" panose="02010609060101010101" pitchFamily="49" charset="-122"/>
              </a:rPr>
              <a:t>表给出了一个可能带有噪音的数据集合。它有四个属性：</a:t>
            </a:r>
            <a:r>
              <a:rPr lang="en-US" altLang="zh-CN" sz="2800" dirty="0">
                <a:latin typeface="楷体" panose="02010609060101010101" pitchFamily="49" charset="-122"/>
                <a:ea typeface="楷体" panose="02010609060101010101" pitchFamily="49" charset="-122"/>
              </a:rPr>
              <a:t>Outlook</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Temperature</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Humidity</a:t>
            </a:r>
            <a:r>
              <a:rPr lang="zh-CN" altLang="zh-CN" sz="2800" dirty="0">
                <a:latin typeface="楷体" panose="02010609060101010101" pitchFamily="49" charset="-122"/>
                <a:ea typeface="楷体" panose="02010609060101010101" pitchFamily="49" charset="-122"/>
              </a:rPr>
              <a:t>和</a:t>
            </a:r>
            <a:r>
              <a:rPr lang="en-US" altLang="zh-CN" sz="2800" dirty="0">
                <a:latin typeface="楷体" panose="02010609060101010101" pitchFamily="49" charset="-122"/>
                <a:ea typeface="楷体" panose="02010609060101010101" pitchFamily="49" charset="-122"/>
              </a:rPr>
              <a:t>Windy</a:t>
            </a:r>
            <a:r>
              <a:rPr lang="zh-CN" altLang="zh-CN" sz="2800" dirty="0">
                <a:latin typeface="楷体" panose="02010609060101010101" pitchFamily="49" charset="-122"/>
                <a:ea typeface="楷体" panose="02010609060101010101" pitchFamily="49" charset="-122"/>
              </a:rPr>
              <a:t>。它们分别为</a:t>
            </a:r>
            <a:r>
              <a:rPr lang="en-US" altLang="zh-CN" sz="2800" dirty="0">
                <a:latin typeface="楷体" panose="02010609060101010101" pitchFamily="49" charset="-122"/>
                <a:ea typeface="楷体" panose="02010609060101010101" pitchFamily="49" charset="-122"/>
              </a:rPr>
              <a:t>No</a:t>
            </a:r>
            <a:r>
              <a:rPr lang="zh-CN" altLang="zh-CN" sz="2800" dirty="0">
                <a:latin typeface="楷体" panose="02010609060101010101" pitchFamily="49" charset="-122"/>
                <a:ea typeface="楷体" panose="02010609060101010101" pitchFamily="49" charset="-122"/>
              </a:rPr>
              <a:t>和</a:t>
            </a:r>
            <a:r>
              <a:rPr lang="en-US" altLang="zh-CN" sz="2800" dirty="0">
                <a:latin typeface="楷体" panose="02010609060101010101" pitchFamily="49" charset="-122"/>
                <a:ea typeface="楷体" panose="02010609060101010101" pitchFamily="49" charset="-122"/>
              </a:rPr>
              <a:t>Yes</a:t>
            </a:r>
            <a:r>
              <a:rPr lang="zh-CN" altLang="zh-CN" sz="2800" dirty="0">
                <a:latin typeface="楷体" panose="02010609060101010101" pitchFamily="49" charset="-122"/>
                <a:ea typeface="楷体" panose="02010609060101010101" pitchFamily="49" charset="-122"/>
              </a:rPr>
              <a:t>两类。通过</a:t>
            </a:r>
            <a:r>
              <a:rPr lang="en-US" altLang="zh-CN" sz="2800" dirty="0">
                <a:latin typeface="楷体" panose="02010609060101010101" pitchFamily="49" charset="-122"/>
                <a:ea typeface="楷体" panose="02010609060101010101" pitchFamily="49" charset="-122"/>
              </a:rPr>
              <a:t>ID3</a:t>
            </a:r>
            <a:r>
              <a:rPr lang="zh-CN" altLang="zh-CN" sz="2800" dirty="0">
                <a:latin typeface="楷体" panose="02010609060101010101" pitchFamily="49" charset="-122"/>
                <a:ea typeface="楷体" panose="02010609060101010101" pitchFamily="49" charset="-122"/>
              </a:rPr>
              <a:t>算法构造决策树将数据进行分类。</a:t>
            </a:r>
            <a:endParaRPr lang="zh-CN" altLang="zh-CN" sz="2800" kern="100" dirty="0">
              <a:latin typeface="楷体" panose="02010609060101010101" pitchFamily="49" charset="-122"/>
              <a:ea typeface="楷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2571750" y="0"/>
            <a:ext cx="7188835" cy="67919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94485" y="628015"/>
            <a:ext cx="8475980" cy="829945"/>
          </a:xfrm>
          <a:prstGeom prst="rect">
            <a:avLst/>
          </a:prstGeom>
        </p:spPr>
        <p:txBody>
          <a:bodyPr wrap="square">
            <a:spAutoFit/>
          </a:bodyPr>
          <a:lstStyle/>
          <a:p>
            <a:r>
              <a:rPr lang="zh-CN" altLang="zh-CN" sz="2400" dirty="0">
                <a:latin typeface="楷体" panose="02010609060101010101" pitchFamily="49" charset="-122"/>
                <a:ea typeface="楷体" panose="02010609060101010101" pitchFamily="49" charset="-122"/>
              </a:rPr>
              <a:t>因为初始时刻属于</a:t>
            </a:r>
            <a:r>
              <a:rPr lang="en-US" altLang="zh-CN" sz="2400" dirty="0">
                <a:latin typeface="楷体" panose="02010609060101010101" pitchFamily="49" charset="-122"/>
                <a:ea typeface="楷体" panose="02010609060101010101" pitchFamily="49" charset="-122"/>
              </a:rPr>
              <a:t>Y</a:t>
            </a:r>
            <a:r>
              <a:rPr lang="zh-CN" altLang="zh-CN" sz="2400" dirty="0">
                <a:latin typeface="楷体" panose="02010609060101010101" pitchFamily="49" charset="-122"/>
                <a:ea typeface="楷体" panose="02010609060101010101" pitchFamily="49" charset="-122"/>
              </a:rPr>
              <a:t>类和</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类的实例个数均为</a:t>
            </a:r>
            <a:r>
              <a:rPr lang="en-US" altLang="zh-CN" sz="2400" dirty="0">
                <a:latin typeface="楷体" panose="02010609060101010101" pitchFamily="49" charset="-122"/>
                <a:ea typeface="楷体" panose="02010609060101010101" pitchFamily="49" charset="-122"/>
              </a:rPr>
              <a:t>12</a:t>
            </a:r>
            <a:r>
              <a:rPr lang="zh-CN" altLang="zh-CN" sz="2400" dirty="0">
                <a:latin typeface="楷体" panose="02010609060101010101" pitchFamily="49" charset="-122"/>
                <a:ea typeface="楷体" panose="02010609060101010101" pitchFamily="49" charset="-122"/>
              </a:rPr>
              <a:t>个，所以初始时刻的熵值为</a:t>
            </a:r>
            <a:endParaRPr lang="zh-CN" altLang="zh-CN" sz="2400" dirty="0">
              <a:latin typeface="楷体" panose="02010609060101010101" pitchFamily="49" charset="-122"/>
              <a:ea typeface="楷体" panose="02010609060101010101" pitchFamily="49" charset="-122"/>
            </a:endParaRPr>
          </a:p>
        </p:txBody>
      </p:sp>
      <p:graphicFrame>
        <p:nvGraphicFramePr>
          <p:cNvPr id="8" name="对象 7"/>
          <p:cNvGraphicFramePr>
            <a:graphicFrameLocks noChangeAspect="1"/>
          </p:cNvGraphicFramePr>
          <p:nvPr/>
        </p:nvGraphicFramePr>
        <p:xfrm>
          <a:off x="3385820" y="1314450"/>
          <a:ext cx="4283075" cy="790575"/>
        </p:xfrm>
        <a:graphic>
          <a:graphicData uri="http://schemas.openxmlformats.org/presentationml/2006/ole">
            <mc:AlternateContent xmlns:mc="http://schemas.openxmlformats.org/markup-compatibility/2006">
              <mc:Choice xmlns:v="urn:schemas-microsoft-com:vml" Requires="v">
                <p:oleObj spid="_x0000_s15435" name="" r:id="rId1" imgW="2133600" imgH="393700" progId="Equation.DSMT4">
                  <p:embed/>
                </p:oleObj>
              </mc:Choice>
              <mc:Fallback>
                <p:oleObj name="" r:id="rId1" imgW="2133600"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5820" y="1314450"/>
                        <a:ext cx="4283075" cy="790575"/>
                      </a:xfrm>
                      <a:prstGeom prst="rect">
                        <a:avLst/>
                      </a:prstGeom>
                      <a:noFill/>
                    </p:spPr>
                  </p:pic>
                </p:oleObj>
              </mc:Fallback>
            </mc:AlternateContent>
          </a:graphicData>
        </a:graphic>
      </p:graphicFrame>
      <p:sp>
        <p:nvSpPr>
          <p:cNvPr id="15" name="矩形 14"/>
          <p:cNvSpPr/>
          <p:nvPr/>
        </p:nvSpPr>
        <p:spPr>
          <a:xfrm>
            <a:off x="1594683" y="2287911"/>
            <a:ext cx="7664118" cy="46037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如果选取</a:t>
            </a:r>
            <a:r>
              <a:rPr lang="en-US" altLang="zh-CN" sz="2400" dirty="0">
                <a:latin typeface="楷体" panose="02010609060101010101" pitchFamily="49" charset="-122"/>
                <a:ea typeface="楷体" panose="02010609060101010101" pitchFamily="49" charset="-122"/>
              </a:rPr>
              <a:t>Outlook</a:t>
            </a:r>
            <a:r>
              <a:rPr lang="zh-CN" altLang="en-US" sz="2400" dirty="0">
                <a:latin typeface="楷体" panose="02010609060101010101" pitchFamily="49" charset="-122"/>
                <a:ea typeface="楷体" panose="02010609060101010101" pitchFamily="49" charset="-122"/>
              </a:rPr>
              <a:t>属性作为测试属性，此时的条件熵为</a:t>
            </a:r>
            <a:endParaRPr lang="zh-CN" altLang="en-US" sz="2400" dirty="0">
              <a:latin typeface="楷体" panose="02010609060101010101" pitchFamily="49" charset="-122"/>
              <a:ea typeface="楷体" panose="02010609060101010101" pitchFamily="49" charset="-122"/>
            </a:endParaRPr>
          </a:p>
        </p:txBody>
      </p:sp>
      <p:graphicFrame>
        <p:nvGraphicFramePr>
          <p:cNvPr id="16" name="对象 15"/>
          <p:cNvGraphicFramePr>
            <a:graphicFrameLocks noChangeAspect="1"/>
          </p:cNvGraphicFramePr>
          <p:nvPr/>
        </p:nvGraphicFramePr>
        <p:xfrm>
          <a:off x="2235835" y="2748280"/>
          <a:ext cx="9634855" cy="973455"/>
        </p:xfrm>
        <a:graphic>
          <a:graphicData uri="http://schemas.openxmlformats.org/presentationml/2006/ole">
            <mc:AlternateContent xmlns:mc="http://schemas.openxmlformats.org/markup-compatibility/2006">
              <mc:Choice xmlns:v="urn:schemas-microsoft-com:vml" Requires="v">
                <p:oleObj spid="_x0000_s15436" name="" r:id="rId3" imgW="3898900" imgH="393700" progId="Equation.DSMT4">
                  <p:embed/>
                </p:oleObj>
              </mc:Choice>
              <mc:Fallback>
                <p:oleObj name="" r:id="rId3" imgW="3898900" imgH="3937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5835" y="2748280"/>
                        <a:ext cx="9634855" cy="973455"/>
                      </a:xfrm>
                      <a:prstGeom prst="rect">
                        <a:avLst/>
                      </a:prstGeom>
                      <a:noFill/>
                    </p:spPr>
                  </p:pic>
                </p:oleObj>
              </mc:Fallback>
            </mc:AlternateContent>
          </a:graphicData>
        </a:graphic>
      </p:graphicFrame>
      <p:graphicFrame>
        <p:nvGraphicFramePr>
          <p:cNvPr id="17" name="对象 16"/>
          <p:cNvGraphicFramePr>
            <a:graphicFrameLocks noChangeAspect="1"/>
          </p:cNvGraphicFramePr>
          <p:nvPr/>
        </p:nvGraphicFramePr>
        <p:xfrm>
          <a:off x="4554220" y="3772535"/>
          <a:ext cx="3465195" cy="902970"/>
        </p:xfrm>
        <a:graphic>
          <a:graphicData uri="http://schemas.openxmlformats.org/presentationml/2006/ole">
            <mc:AlternateContent xmlns:mc="http://schemas.openxmlformats.org/markup-compatibility/2006">
              <mc:Choice xmlns:v="urn:schemas-microsoft-com:vml" Requires="v">
                <p:oleObj spid="_x0000_s15437" name="" r:id="rId5" imgW="1511300" imgH="393700" progId="Equation.DSMT4">
                  <p:embed/>
                </p:oleObj>
              </mc:Choice>
              <mc:Fallback>
                <p:oleObj name="" r:id="rId5" imgW="1511300" imgH="3937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4220" y="3772535"/>
                        <a:ext cx="3465195" cy="902970"/>
                      </a:xfrm>
                      <a:prstGeom prst="rect">
                        <a:avLst/>
                      </a:prstGeom>
                      <a:noFill/>
                    </p:spPr>
                  </p:pic>
                </p:oleObj>
              </mc:Fallback>
            </mc:AlternateContent>
          </a:graphicData>
        </a:graphic>
      </p:graphicFrame>
      <p:sp>
        <p:nvSpPr>
          <p:cNvPr id="18" name="Rectangle 9"/>
          <p:cNvSpPr>
            <a:spLocks noChangeArrowheads="1"/>
          </p:cNvSpPr>
          <p:nvPr/>
        </p:nvSpPr>
        <p:spPr bwMode="auto">
          <a:xfrm>
            <a:off x="1876927" y="202184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3" name="Rectangle 14"/>
          <p:cNvSpPr>
            <a:spLocks noChangeArrowheads="1"/>
          </p:cNvSpPr>
          <p:nvPr/>
        </p:nvSpPr>
        <p:spPr bwMode="auto">
          <a:xfrm>
            <a:off x="2313003" y="21966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Rectangle 16"/>
          <p:cNvSpPr>
            <a:spLocks noChangeArrowheads="1"/>
          </p:cNvSpPr>
          <p:nvPr/>
        </p:nvSpPr>
        <p:spPr bwMode="auto">
          <a:xfrm>
            <a:off x="2728761" y="5497779"/>
            <a:ext cx="1292695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31" name="Rectangle 18"/>
          <p:cNvSpPr>
            <a:spLocks noChangeArrowheads="1"/>
          </p:cNvSpPr>
          <p:nvPr/>
        </p:nvSpPr>
        <p:spPr bwMode="auto">
          <a:xfrm flipV="1">
            <a:off x="7339263" y="5700444"/>
            <a:ext cx="1632110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33" name="Rectangle 27"/>
          <p:cNvSpPr>
            <a:spLocks noChangeArrowheads="1"/>
          </p:cNvSpPr>
          <p:nvPr/>
        </p:nvSpPr>
        <p:spPr bwMode="auto">
          <a:xfrm>
            <a:off x="2523941" y="55992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5" name="Rectangle 29"/>
          <p:cNvSpPr>
            <a:spLocks noChangeArrowheads="1"/>
          </p:cNvSpPr>
          <p:nvPr/>
        </p:nvSpPr>
        <p:spPr bwMode="auto">
          <a:xfrm>
            <a:off x="3895161" y="62195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p:nvPr>
            <p:custDataLst>
              <p:tags r:id="rId7"/>
            </p:custDataLst>
          </p:nvPr>
        </p:nvGraphicFramePr>
        <p:xfrm>
          <a:off x="1957705" y="4863465"/>
          <a:ext cx="8532495" cy="1143000"/>
        </p:xfrm>
        <a:graphic>
          <a:graphicData uri="http://schemas.openxmlformats.org/drawingml/2006/table">
            <a:tbl>
              <a:tblPr firstRow="1" bandRow="1">
                <a:tableStyleId>{5C22544A-7EE6-4342-B048-85BDC9FD1C3A}</a:tableStyleId>
              </a:tblPr>
              <a:tblGrid>
                <a:gridCol w="2844165"/>
                <a:gridCol w="2844165"/>
                <a:gridCol w="2844165"/>
              </a:tblGrid>
              <a:tr h="381000">
                <a:tc>
                  <a:txBody>
                    <a:bodyPr/>
                    <a:p>
                      <a:pPr>
                        <a:buNone/>
                      </a:pPr>
                      <a:r>
                        <a:rPr lang="en-US" altLang="zh-CN" sz="2400" b="1"/>
                        <a:t>Overcast</a:t>
                      </a:r>
                      <a:endParaRPr lang="en-US" altLang="zh-CN" sz="2400" b="1"/>
                    </a:p>
                  </a:txBody>
                  <a:tcPr/>
                </a:tc>
                <a:tc>
                  <a:txBody>
                    <a:bodyPr/>
                    <a:p>
                      <a:pPr>
                        <a:buNone/>
                      </a:pPr>
                      <a:r>
                        <a:rPr lang="en-US" altLang="zh-CN" sz="2400" b="1"/>
                        <a:t>Rain</a:t>
                      </a:r>
                      <a:endParaRPr lang="en-US" altLang="zh-CN" sz="2400" b="1"/>
                    </a:p>
                  </a:txBody>
                  <a:tcPr/>
                </a:tc>
                <a:tc>
                  <a:txBody>
                    <a:bodyPr/>
                    <a:p>
                      <a:pPr>
                        <a:buNone/>
                      </a:pPr>
                      <a:r>
                        <a:rPr lang="en-US" altLang="zh-CN" sz="2400" b="1"/>
                        <a:t>Sunny</a:t>
                      </a:r>
                      <a:endParaRPr lang="en-US" altLang="zh-CN" sz="2400" b="1"/>
                    </a:p>
                  </a:txBody>
                  <a:tcPr/>
                </a:tc>
              </a:tr>
              <a:tr h="457200">
                <a:tc>
                  <a:txBody>
                    <a:bodyPr/>
                    <a:p>
                      <a:pPr>
                        <a:buNone/>
                      </a:pPr>
                      <a:r>
                        <a:rPr lang="en-US" altLang="zh-CN" sz="2400" b="1"/>
                        <a:t>9</a:t>
                      </a:r>
                      <a:endParaRPr lang="en-US" altLang="zh-CN" sz="2400" b="1"/>
                    </a:p>
                  </a:txBody>
                  <a:tcPr/>
                </a:tc>
                <a:tc>
                  <a:txBody>
                    <a:bodyPr/>
                    <a:p>
                      <a:pPr>
                        <a:buNone/>
                      </a:pPr>
                      <a:r>
                        <a:rPr lang="en-US" altLang="zh-CN" sz="2400" b="1"/>
                        <a:t>8</a:t>
                      </a:r>
                      <a:endParaRPr lang="en-US" altLang="zh-CN" sz="2400" b="1"/>
                    </a:p>
                  </a:txBody>
                  <a:tcPr/>
                </a:tc>
                <a:tc>
                  <a:txBody>
                    <a:bodyPr/>
                    <a:p>
                      <a:pPr>
                        <a:buNone/>
                      </a:pPr>
                      <a:r>
                        <a:rPr lang="en-US" altLang="zh-CN" sz="2400" b="1"/>
                        <a:t>7</a:t>
                      </a:r>
                      <a:endParaRPr lang="en-US" altLang="zh-CN" sz="2400" b="1"/>
                    </a:p>
                  </a:txBody>
                  <a:tcPr/>
                </a:tc>
              </a:tr>
              <a:tr h="381000">
                <a:tc>
                  <a:txBody>
                    <a:bodyPr/>
                    <a:p>
                      <a:pPr>
                        <a:buNone/>
                      </a:pPr>
                      <a:r>
                        <a:rPr lang="en-US" altLang="zh-CN" sz="2000" b="1"/>
                        <a:t>Yes: 4  no:5</a:t>
                      </a:r>
                      <a:endParaRPr lang="en-US" altLang="zh-CN" sz="2000" b="1"/>
                    </a:p>
                  </a:txBody>
                  <a:tcPr/>
                </a:tc>
                <a:tc>
                  <a:txBody>
                    <a:bodyPr/>
                    <a:p>
                      <a:pPr>
                        <a:buNone/>
                      </a:pPr>
                      <a:r>
                        <a:rPr lang="en-US" altLang="zh-CN" sz="2000" b="1">
                          <a:sym typeface="+mn-ea"/>
                        </a:rPr>
                        <a:t>Yes: 1  no:7</a:t>
                      </a:r>
                      <a:endParaRPr lang="en-US" altLang="zh-CN" sz="2000" b="1">
                        <a:sym typeface="+mn-ea"/>
                      </a:endParaRPr>
                    </a:p>
                  </a:txBody>
                  <a:tcPr/>
                </a:tc>
                <a:tc>
                  <a:txBody>
                    <a:bodyPr/>
                    <a:p>
                      <a:pPr>
                        <a:buNone/>
                      </a:pPr>
                      <a:r>
                        <a:rPr lang="en-US" altLang="zh-CN" sz="2000" b="1">
                          <a:sym typeface="+mn-ea"/>
                        </a:rPr>
                        <a:t>Yes: 7  no:0</a:t>
                      </a:r>
                      <a:endParaRPr lang="en-US" altLang="zh-CN" sz="2000" b="1">
                        <a:sym typeface="+mn-ea"/>
                      </a:endParaRPr>
                    </a:p>
                  </a:txBody>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2440312" y="817978"/>
            <a:ext cx="6736080" cy="460375"/>
          </a:xfrm>
          <a:prstGeom prst="rect">
            <a:avLst/>
          </a:prstGeom>
        </p:spPr>
        <p:txBody>
          <a:bodyPr wrap="none">
            <a:spAutoFit/>
          </a:bodyPr>
          <a:p>
            <a:pPr algn="just">
              <a:spcAft>
                <a:spcPts val="0"/>
              </a:spcAft>
            </a:pPr>
            <a:r>
              <a:rPr lang="zh-CN" altLang="zh-CN" sz="2400" kern="100" dirty="0">
                <a:latin typeface="楷体" panose="02010609060101010101" pitchFamily="49" charset="-122"/>
                <a:ea typeface="楷体" panose="02010609060101010101" pitchFamily="49" charset="-122"/>
              </a:rPr>
              <a:t>如果选取</a:t>
            </a:r>
            <a:r>
              <a:rPr lang="en-US" altLang="zh-CN" sz="2400" kern="100" dirty="0">
                <a:latin typeface="楷体" panose="02010609060101010101" pitchFamily="49" charset="-122"/>
                <a:ea typeface="楷体" panose="02010609060101010101" pitchFamily="49" charset="-122"/>
              </a:rPr>
              <a:t>Temperature</a:t>
            </a:r>
            <a:r>
              <a:rPr lang="zh-CN" altLang="zh-CN" sz="2400" kern="100" dirty="0">
                <a:latin typeface="楷体" panose="02010609060101010101" pitchFamily="49" charset="-122"/>
                <a:ea typeface="楷体" panose="02010609060101010101" pitchFamily="49" charset="-122"/>
              </a:rPr>
              <a:t>属性作为测试属性，则有</a:t>
            </a:r>
            <a:r>
              <a:rPr lang="zh-CN" altLang="zh-CN" sz="2400" kern="100" dirty="0">
                <a:latin typeface="Cambria" panose="02040503050406030204" pitchFamily="18" charset="0"/>
                <a:ea typeface="宋体" panose="02010600030101010101" pitchFamily="2" charset="-122"/>
              </a:rPr>
              <a:t>：</a:t>
            </a:r>
            <a:endParaRPr lang="zh-CN" altLang="zh-CN" sz="2400" kern="100" dirty="0">
              <a:latin typeface="Cambria" panose="02040503050406030204" pitchFamily="18" charset="0"/>
              <a:ea typeface="宋体" panose="02010600030101010101" pitchFamily="2" charset="-122"/>
            </a:endParaRPr>
          </a:p>
        </p:txBody>
      </p:sp>
      <p:graphicFrame>
        <p:nvGraphicFramePr>
          <p:cNvPr id="22" name="对象 21"/>
          <p:cNvGraphicFramePr>
            <a:graphicFrameLocks noChangeAspect="1"/>
          </p:cNvGraphicFramePr>
          <p:nvPr/>
        </p:nvGraphicFramePr>
        <p:xfrm>
          <a:off x="2751455" y="1398270"/>
          <a:ext cx="6889750" cy="702310"/>
        </p:xfrm>
        <a:graphic>
          <a:graphicData uri="http://schemas.openxmlformats.org/presentationml/2006/ole">
            <mc:AlternateContent xmlns:mc="http://schemas.openxmlformats.org/markup-compatibility/2006">
              <mc:Choice xmlns:v="urn:schemas-microsoft-com:vml" Requires="v">
                <p:oleObj spid="_x0000_s15438" name="" r:id="rId1" imgW="3860800" imgH="393700" progId="Equation.DSMT4">
                  <p:embed/>
                </p:oleObj>
              </mc:Choice>
              <mc:Fallback>
                <p:oleObj name="" r:id="rId1" imgW="3860800" imgH="393700" progId="Equation.DSMT4">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1455" y="1398270"/>
                        <a:ext cx="6889750" cy="702310"/>
                      </a:xfrm>
                      <a:prstGeom prst="rect">
                        <a:avLst/>
                      </a:prstGeom>
                      <a:noFill/>
                    </p:spPr>
                  </p:pic>
                </p:oleObj>
              </mc:Fallback>
            </mc:AlternateContent>
          </a:graphicData>
        </a:graphic>
      </p:graphicFrame>
      <p:graphicFrame>
        <p:nvGraphicFramePr>
          <p:cNvPr id="24" name="对象 23"/>
          <p:cNvGraphicFramePr>
            <a:graphicFrameLocks noChangeAspect="1"/>
          </p:cNvGraphicFramePr>
          <p:nvPr/>
        </p:nvGraphicFramePr>
        <p:xfrm>
          <a:off x="4377055" y="2220595"/>
          <a:ext cx="3056890" cy="660400"/>
        </p:xfrm>
        <a:graphic>
          <a:graphicData uri="http://schemas.openxmlformats.org/presentationml/2006/ole">
            <mc:AlternateContent xmlns:mc="http://schemas.openxmlformats.org/markup-compatibility/2006">
              <mc:Choice xmlns:v="urn:schemas-microsoft-com:vml" Requires="v">
                <p:oleObj spid="_x0000_s15439" name="" r:id="rId3" imgW="1815465" imgH="393700" progId="Equation.DSMT4">
                  <p:embed/>
                </p:oleObj>
              </mc:Choice>
              <mc:Fallback>
                <p:oleObj name="" r:id="rId3" imgW="1815465" imgH="3937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7055" y="2220595"/>
                        <a:ext cx="3056890" cy="660400"/>
                      </a:xfrm>
                      <a:prstGeom prst="rect">
                        <a:avLst/>
                      </a:prstGeom>
                      <a:noFill/>
                    </p:spPr>
                  </p:pic>
                </p:oleObj>
              </mc:Fallback>
            </mc:AlternateContent>
          </a:graphicData>
        </a:graphic>
      </p:graphicFrame>
      <p:graphicFrame>
        <p:nvGraphicFramePr>
          <p:cNvPr id="3" name="表格 2"/>
          <p:cNvGraphicFramePr/>
          <p:nvPr>
            <p:custDataLst>
              <p:tags r:id="rId5"/>
            </p:custDataLst>
          </p:nvPr>
        </p:nvGraphicFramePr>
        <p:xfrm>
          <a:off x="1930400" y="3750945"/>
          <a:ext cx="8532495" cy="1310640"/>
        </p:xfrm>
        <a:graphic>
          <a:graphicData uri="http://schemas.openxmlformats.org/drawingml/2006/table">
            <a:tbl>
              <a:tblPr firstRow="1" bandRow="1">
                <a:tableStyleId>{5C22544A-7EE6-4342-B048-85BDC9FD1C3A}</a:tableStyleId>
              </a:tblPr>
              <a:tblGrid>
                <a:gridCol w="2844165"/>
                <a:gridCol w="2844165"/>
                <a:gridCol w="2844165"/>
              </a:tblGrid>
              <a:tr h="457200">
                <a:tc>
                  <a:txBody>
                    <a:bodyPr/>
                    <a:p>
                      <a:pPr>
                        <a:buNone/>
                      </a:pPr>
                      <a:r>
                        <a:rPr lang="en-US" altLang="zh-CN" sz="2400" b="1"/>
                        <a:t>Hot</a:t>
                      </a:r>
                      <a:endParaRPr lang="en-US" altLang="zh-CN" sz="2400" b="1"/>
                    </a:p>
                  </a:txBody>
                  <a:tcPr/>
                </a:tc>
                <a:tc>
                  <a:txBody>
                    <a:bodyPr/>
                    <a:p>
                      <a:pPr>
                        <a:buNone/>
                      </a:pPr>
                      <a:r>
                        <a:rPr lang="en-US" altLang="zh-CN" sz="2400" b="1"/>
                        <a:t>Mild</a:t>
                      </a:r>
                      <a:endParaRPr lang="en-US" altLang="zh-CN" sz="2400" b="1"/>
                    </a:p>
                  </a:txBody>
                  <a:tcPr/>
                </a:tc>
                <a:tc>
                  <a:txBody>
                    <a:bodyPr/>
                    <a:p>
                      <a:pPr>
                        <a:buNone/>
                      </a:pPr>
                      <a:r>
                        <a:rPr lang="en-US" altLang="zh-CN" sz="2400" b="1"/>
                        <a:t>Cool</a:t>
                      </a:r>
                      <a:endParaRPr lang="en-US" altLang="zh-CN" sz="2400" b="1"/>
                    </a:p>
                  </a:txBody>
                  <a:tcPr/>
                </a:tc>
              </a:tr>
              <a:tr h="457200">
                <a:tc>
                  <a:txBody>
                    <a:bodyPr/>
                    <a:p>
                      <a:pPr>
                        <a:buNone/>
                      </a:pPr>
                      <a:r>
                        <a:rPr lang="en-US" altLang="zh-CN" sz="2400" b="1"/>
                        <a:t>8</a:t>
                      </a:r>
                      <a:endParaRPr lang="en-US" altLang="zh-CN" sz="2400" b="1"/>
                    </a:p>
                  </a:txBody>
                  <a:tcPr/>
                </a:tc>
                <a:tc>
                  <a:txBody>
                    <a:bodyPr/>
                    <a:p>
                      <a:pPr>
                        <a:buNone/>
                      </a:pPr>
                      <a:r>
                        <a:rPr lang="en-US" altLang="zh-CN" sz="2400" b="1"/>
                        <a:t>11</a:t>
                      </a:r>
                      <a:endParaRPr lang="en-US" altLang="zh-CN" sz="2400" b="1"/>
                    </a:p>
                  </a:txBody>
                  <a:tcPr/>
                </a:tc>
                <a:tc>
                  <a:txBody>
                    <a:bodyPr/>
                    <a:p>
                      <a:pPr>
                        <a:buNone/>
                      </a:pPr>
                      <a:r>
                        <a:rPr lang="en-US" altLang="zh-CN" sz="2400" b="1"/>
                        <a:t>5</a:t>
                      </a:r>
                      <a:endParaRPr lang="en-US" altLang="zh-CN" sz="2400" b="1"/>
                    </a:p>
                  </a:txBody>
                  <a:tcPr/>
                </a:tc>
              </a:tr>
              <a:tr h="381000">
                <a:tc>
                  <a:txBody>
                    <a:bodyPr/>
                    <a:p>
                      <a:pPr>
                        <a:buNone/>
                      </a:pPr>
                      <a:r>
                        <a:rPr lang="en-US" altLang="zh-CN" sz="2000" b="1"/>
                        <a:t>Yes: 4  no:4</a:t>
                      </a:r>
                      <a:endParaRPr lang="en-US" altLang="zh-CN" sz="2000" b="1"/>
                    </a:p>
                  </a:txBody>
                  <a:tcPr/>
                </a:tc>
                <a:tc>
                  <a:txBody>
                    <a:bodyPr/>
                    <a:p>
                      <a:pPr>
                        <a:buNone/>
                      </a:pPr>
                      <a:r>
                        <a:rPr lang="en-US" altLang="zh-CN" sz="2000" b="1">
                          <a:sym typeface="+mn-ea"/>
                        </a:rPr>
                        <a:t>Yes: 4  no:7</a:t>
                      </a:r>
                      <a:endParaRPr lang="en-US" altLang="zh-CN" sz="2000" b="1">
                        <a:sym typeface="+mn-ea"/>
                      </a:endParaRPr>
                    </a:p>
                  </a:txBody>
                  <a:tcPr/>
                </a:tc>
                <a:tc>
                  <a:txBody>
                    <a:bodyPr/>
                    <a:p>
                      <a:pPr>
                        <a:buNone/>
                      </a:pPr>
                      <a:r>
                        <a:rPr lang="en-US" altLang="zh-CN" sz="2000" b="1">
                          <a:sym typeface="+mn-ea"/>
                        </a:rPr>
                        <a:t>Yes: 4  no:1</a:t>
                      </a:r>
                      <a:endParaRPr lang="en-US" altLang="zh-CN" sz="2000" b="1">
                        <a:sym typeface="+mn-ea"/>
                      </a:endParaRPr>
                    </a:p>
                  </a:txBody>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a:xfrm>
            <a:off x="2528576" y="2137368"/>
            <a:ext cx="6278880" cy="460375"/>
          </a:xfrm>
          <a:prstGeom prst="rect">
            <a:avLst/>
          </a:prstGeom>
        </p:spPr>
        <p:txBody>
          <a:bodyPr wrap="none">
            <a:spAutoFit/>
          </a:bodyPr>
          <a:p>
            <a:pPr algn="just">
              <a:spcAft>
                <a:spcPts val="0"/>
              </a:spcAft>
            </a:pPr>
            <a:r>
              <a:rPr lang="zh-CN" altLang="zh-CN" sz="2400" kern="100" dirty="0">
                <a:latin typeface="楷体" panose="02010609060101010101" pitchFamily="49" charset="-122"/>
                <a:ea typeface="楷体" panose="02010609060101010101" pitchFamily="49" charset="-122"/>
              </a:rPr>
              <a:t>如果选取</a:t>
            </a:r>
            <a:r>
              <a:rPr lang="en-US" altLang="zh-CN" sz="2400" kern="100" dirty="0">
                <a:latin typeface="楷体" panose="02010609060101010101" pitchFamily="49" charset="-122"/>
                <a:ea typeface="楷体" panose="02010609060101010101" pitchFamily="49" charset="-122"/>
              </a:rPr>
              <a:t>Humidity</a:t>
            </a:r>
            <a:r>
              <a:rPr lang="zh-CN" altLang="zh-CN" sz="2400" kern="100" dirty="0">
                <a:latin typeface="楷体" panose="02010609060101010101" pitchFamily="49" charset="-122"/>
                <a:ea typeface="楷体" panose="02010609060101010101" pitchFamily="49" charset="-122"/>
              </a:rPr>
              <a:t>属性作为测试属性，则有：</a:t>
            </a:r>
            <a:endParaRPr lang="zh-CN" altLang="zh-CN" sz="2400" kern="100" dirty="0">
              <a:latin typeface="楷体" panose="02010609060101010101" pitchFamily="49" charset="-122"/>
              <a:ea typeface="楷体" panose="02010609060101010101" pitchFamily="49" charset="-122"/>
            </a:endParaRPr>
          </a:p>
        </p:txBody>
      </p:sp>
      <p:graphicFrame>
        <p:nvGraphicFramePr>
          <p:cNvPr id="29" name="对象 28"/>
          <p:cNvGraphicFramePr>
            <a:graphicFrameLocks noChangeAspect="1"/>
          </p:cNvGraphicFramePr>
          <p:nvPr/>
        </p:nvGraphicFramePr>
        <p:xfrm>
          <a:off x="1073150" y="2755265"/>
          <a:ext cx="7734300" cy="642620"/>
        </p:xfrm>
        <a:graphic>
          <a:graphicData uri="http://schemas.openxmlformats.org/presentationml/2006/ole">
            <mc:AlternateContent xmlns:mc="http://schemas.openxmlformats.org/markup-compatibility/2006">
              <mc:Choice xmlns:v="urn:schemas-microsoft-com:vml" Requires="v">
                <p:oleObj spid="_x0000_s15440" name="" r:id="rId1" imgW="4368800" imgH="393700" progId="Equation.DSMT4">
                  <p:embed/>
                </p:oleObj>
              </mc:Choice>
              <mc:Fallback>
                <p:oleObj name="" r:id="rId1" imgW="4368800" imgH="393700" progId="Equation.DSMT4">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150" y="2755265"/>
                        <a:ext cx="7734300" cy="642620"/>
                      </a:xfrm>
                      <a:prstGeom prst="rect">
                        <a:avLst/>
                      </a:prstGeom>
                      <a:noFill/>
                    </p:spPr>
                  </p:pic>
                </p:oleObj>
              </mc:Fallback>
            </mc:AlternateContent>
          </a:graphicData>
        </a:graphic>
      </p:graphicFrame>
      <p:sp>
        <p:nvSpPr>
          <p:cNvPr id="30" name="矩形 29"/>
          <p:cNvSpPr/>
          <p:nvPr/>
        </p:nvSpPr>
        <p:spPr>
          <a:xfrm>
            <a:off x="2181808" y="3627924"/>
            <a:ext cx="5516880" cy="460375"/>
          </a:xfrm>
          <a:prstGeom prst="rect">
            <a:avLst/>
          </a:prstGeom>
        </p:spPr>
        <p:txBody>
          <a:bodyPr wrap="none">
            <a:spAutoFit/>
          </a:bodyPr>
          <a:p>
            <a:r>
              <a:rPr lang="zh-CN" altLang="zh-CN" sz="2400" dirty="0">
                <a:latin typeface="楷体" panose="02010609060101010101" pitchFamily="49" charset="-122"/>
                <a:ea typeface="楷体" panose="02010609060101010101" pitchFamily="49" charset="-122"/>
                <a:cs typeface="Times New Roman" panose="02020603050405020304" pitchFamily="18" charset="0"/>
              </a:rPr>
              <a:t>如果选取</a:t>
            </a:r>
            <a:r>
              <a:rPr lang="en-US" altLang="zh-CN" sz="2400" dirty="0">
                <a:latin typeface="楷体" panose="02010609060101010101" pitchFamily="49" charset="-122"/>
                <a:ea typeface="楷体" panose="02010609060101010101" pitchFamily="49" charset="-122"/>
                <a:cs typeface="Times New Roman" panose="02020603050405020304" pitchFamily="18" charset="0"/>
              </a:rPr>
              <a:t>Windy</a:t>
            </a:r>
            <a:r>
              <a:rPr lang="zh-CN" altLang="zh-CN" sz="2400" dirty="0">
                <a:latin typeface="楷体" panose="02010609060101010101" pitchFamily="49" charset="-122"/>
                <a:ea typeface="楷体" panose="02010609060101010101" pitchFamily="49" charset="-122"/>
                <a:cs typeface="Times New Roman" panose="02020603050405020304" pitchFamily="18" charset="0"/>
              </a:rPr>
              <a:t>属性作为测试属性，则有</a:t>
            </a:r>
            <a:endParaRPr lang="zh-CN" altLang="zh-CN" sz="2400"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2" name="对象 31"/>
          <p:cNvGraphicFramePr>
            <a:graphicFrameLocks noChangeAspect="1"/>
          </p:cNvGraphicFramePr>
          <p:nvPr/>
        </p:nvGraphicFramePr>
        <p:xfrm>
          <a:off x="8844915" y="2913380"/>
          <a:ext cx="1536065" cy="467360"/>
        </p:xfrm>
        <a:graphic>
          <a:graphicData uri="http://schemas.openxmlformats.org/presentationml/2006/ole">
            <mc:AlternateContent xmlns:mc="http://schemas.openxmlformats.org/markup-compatibility/2006">
              <mc:Choice xmlns:v="urn:schemas-microsoft-com:vml" Requires="v">
                <p:oleObj spid="_x0000_s15441" name="" r:id="rId3" imgW="583565" imgH="177800" progId="Equation.DSMT4">
                  <p:embed/>
                </p:oleObj>
              </mc:Choice>
              <mc:Fallback>
                <p:oleObj name="" r:id="rId3" imgW="583565" imgH="1778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4915" y="2913380"/>
                        <a:ext cx="1536065" cy="467360"/>
                      </a:xfrm>
                      <a:prstGeom prst="rect">
                        <a:avLst/>
                      </a:prstGeom>
                      <a:noFill/>
                    </p:spPr>
                  </p:pic>
                </p:oleObj>
              </mc:Fallback>
            </mc:AlternateContent>
          </a:graphicData>
        </a:graphic>
      </p:graphicFrame>
      <p:graphicFrame>
        <p:nvGraphicFramePr>
          <p:cNvPr id="34" name="对象 33"/>
          <p:cNvGraphicFramePr>
            <a:graphicFrameLocks noChangeAspect="1"/>
          </p:cNvGraphicFramePr>
          <p:nvPr/>
        </p:nvGraphicFramePr>
        <p:xfrm>
          <a:off x="4180205" y="4236720"/>
          <a:ext cx="6739255" cy="714375"/>
        </p:xfrm>
        <a:graphic>
          <a:graphicData uri="http://schemas.openxmlformats.org/presentationml/2006/ole">
            <mc:AlternateContent xmlns:mc="http://schemas.openxmlformats.org/markup-compatibility/2006">
              <mc:Choice xmlns:v="urn:schemas-microsoft-com:vml" Requires="v">
                <p:oleObj spid="_x0000_s15442" name="" r:id="rId5" imgW="3721100" imgH="393700" progId="Equation.DSMT4">
                  <p:embed/>
                </p:oleObj>
              </mc:Choice>
              <mc:Fallback>
                <p:oleObj name="" r:id="rId5" imgW="3721100" imgH="393700" progId="Equation.DSMT4">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0205" y="4236720"/>
                        <a:ext cx="6739255" cy="714375"/>
                      </a:xfrm>
                      <a:prstGeom prst="rect">
                        <a:avLst/>
                      </a:prstGeom>
                      <a:noFill/>
                    </p:spPr>
                  </p:pic>
                </p:oleObj>
              </mc:Fallback>
            </mc:AlternateContent>
          </a:graphicData>
        </a:graphic>
      </p:graphicFrame>
      <p:graphicFrame>
        <p:nvGraphicFramePr>
          <p:cNvPr id="36" name="对象 35"/>
          <p:cNvGraphicFramePr>
            <a:graphicFrameLocks noChangeAspect="1"/>
          </p:cNvGraphicFramePr>
          <p:nvPr/>
        </p:nvGraphicFramePr>
        <p:xfrm>
          <a:off x="7971155" y="5099685"/>
          <a:ext cx="3064510" cy="704215"/>
        </p:xfrm>
        <a:graphic>
          <a:graphicData uri="http://schemas.openxmlformats.org/presentationml/2006/ole">
            <mc:AlternateContent xmlns:mc="http://schemas.openxmlformats.org/markup-compatibility/2006">
              <mc:Choice xmlns:v="urn:schemas-microsoft-com:vml" Requires="v">
                <p:oleObj spid="_x0000_s15443" name="" r:id="rId7" imgW="1714500" imgH="393700" progId="Equation.DSMT4">
                  <p:embed/>
                </p:oleObj>
              </mc:Choice>
              <mc:Fallback>
                <p:oleObj name="" r:id="rId7" imgW="1714500" imgH="3937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71155" y="5099685"/>
                        <a:ext cx="3064510" cy="704215"/>
                      </a:xfrm>
                      <a:prstGeom prst="rect">
                        <a:avLst/>
                      </a:prstGeom>
                      <a:noFill/>
                    </p:spPr>
                  </p:pic>
                </p:oleObj>
              </mc:Fallback>
            </mc:AlternateContent>
          </a:graphicData>
        </a:graphic>
      </p:graphicFrame>
      <p:graphicFrame>
        <p:nvGraphicFramePr>
          <p:cNvPr id="3" name="表格 2"/>
          <p:cNvGraphicFramePr/>
          <p:nvPr>
            <p:custDataLst>
              <p:tags r:id="rId9"/>
            </p:custDataLst>
          </p:nvPr>
        </p:nvGraphicFramePr>
        <p:xfrm>
          <a:off x="1848485" y="682625"/>
          <a:ext cx="6981825" cy="1310640"/>
        </p:xfrm>
        <a:graphic>
          <a:graphicData uri="http://schemas.openxmlformats.org/drawingml/2006/table">
            <a:tbl>
              <a:tblPr firstRow="1" bandRow="1">
                <a:tableStyleId>{5C22544A-7EE6-4342-B048-85BDC9FD1C3A}</a:tableStyleId>
              </a:tblPr>
              <a:tblGrid>
                <a:gridCol w="2327275"/>
                <a:gridCol w="2327275"/>
                <a:gridCol w="2327275"/>
              </a:tblGrid>
              <a:tr h="457200">
                <a:tc>
                  <a:txBody>
                    <a:bodyPr/>
                    <a:p>
                      <a:pPr>
                        <a:buNone/>
                      </a:pPr>
                      <a:r>
                        <a:rPr lang="en-US" altLang="zh-CN" sz="2400" b="1"/>
                        <a:t>High</a:t>
                      </a:r>
                      <a:endParaRPr lang="en-US" altLang="zh-CN" sz="2400" b="1"/>
                    </a:p>
                  </a:txBody>
                  <a:tcPr/>
                </a:tc>
                <a:tc>
                  <a:txBody>
                    <a:bodyPr/>
                    <a:p>
                      <a:pPr>
                        <a:buNone/>
                      </a:pPr>
                      <a:r>
                        <a:rPr lang="en-US" altLang="zh-CN" sz="2400" b="1"/>
                        <a:t>Normal</a:t>
                      </a:r>
                      <a:endParaRPr lang="en-US" altLang="zh-CN" sz="2400" b="1"/>
                    </a:p>
                  </a:txBody>
                  <a:tcPr/>
                </a:tc>
                <a:tc>
                  <a:txBody>
                    <a:bodyPr/>
                    <a:p>
                      <a:pPr>
                        <a:buNone/>
                      </a:pPr>
                      <a:endParaRPr lang="en-US" altLang="zh-CN" sz="2400" b="1"/>
                    </a:p>
                  </a:txBody>
                  <a:tcPr/>
                </a:tc>
              </a:tr>
              <a:tr h="457200">
                <a:tc>
                  <a:txBody>
                    <a:bodyPr/>
                    <a:p>
                      <a:pPr>
                        <a:buNone/>
                      </a:pPr>
                      <a:r>
                        <a:rPr lang="en-US" altLang="zh-CN" sz="2400" b="1"/>
                        <a:t>12</a:t>
                      </a:r>
                      <a:endParaRPr lang="en-US" altLang="zh-CN" sz="2400" b="1"/>
                    </a:p>
                  </a:txBody>
                  <a:tcPr/>
                </a:tc>
                <a:tc>
                  <a:txBody>
                    <a:bodyPr/>
                    <a:p>
                      <a:pPr>
                        <a:buNone/>
                      </a:pPr>
                      <a:r>
                        <a:rPr lang="en-US" altLang="zh-CN" sz="2400" b="1"/>
                        <a:t>12</a:t>
                      </a:r>
                      <a:endParaRPr lang="en-US" altLang="zh-CN" sz="2400" b="1"/>
                    </a:p>
                  </a:txBody>
                  <a:tcPr/>
                </a:tc>
                <a:tc>
                  <a:txBody>
                    <a:bodyPr/>
                    <a:p>
                      <a:pPr>
                        <a:buNone/>
                      </a:pPr>
                      <a:endParaRPr lang="en-US" altLang="zh-CN" sz="2400" b="1"/>
                    </a:p>
                  </a:txBody>
                  <a:tcPr/>
                </a:tc>
              </a:tr>
              <a:tr h="396240">
                <a:tc>
                  <a:txBody>
                    <a:bodyPr/>
                    <a:p>
                      <a:pPr>
                        <a:buNone/>
                      </a:pPr>
                      <a:r>
                        <a:rPr lang="en-US" altLang="zh-CN" sz="2000" b="1"/>
                        <a:t>Yes: 4  no:8</a:t>
                      </a:r>
                      <a:endParaRPr lang="en-US" altLang="zh-CN" sz="2000" b="1"/>
                    </a:p>
                  </a:txBody>
                  <a:tcPr/>
                </a:tc>
                <a:tc>
                  <a:txBody>
                    <a:bodyPr/>
                    <a:p>
                      <a:pPr>
                        <a:buNone/>
                      </a:pPr>
                      <a:r>
                        <a:rPr lang="en-US" altLang="zh-CN" sz="2000" b="1">
                          <a:sym typeface="+mn-ea"/>
                        </a:rPr>
                        <a:t>Yes: 8  no:4</a:t>
                      </a:r>
                      <a:endParaRPr lang="en-US" altLang="zh-CN" sz="2000" b="1">
                        <a:sym typeface="+mn-ea"/>
                      </a:endParaRPr>
                    </a:p>
                  </a:txBody>
                  <a:tcPr/>
                </a:tc>
                <a:tc>
                  <a:txBody>
                    <a:bodyPr/>
                    <a:p>
                      <a:pPr>
                        <a:buNone/>
                      </a:pPr>
                      <a:endParaRPr lang="en-US" altLang="zh-CN" sz="2000" b="1">
                        <a:sym typeface="+mn-ea"/>
                      </a:endParaRPr>
                    </a:p>
                  </a:txBody>
                  <a:tcPr/>
                </a:tc>
              </a:tr>
            </a:tbl>
          </a:graphicData>
        </a:graphic>
      </p:graphicFrame>
      <p:graphicFrame>
        <p:nvGraphicFramePr>
          <p:cNvPr id="2" name="表格 1"/>
          <p:cNvGraphicFramePr/>
          <p:nvPr>
            <p:custDataLst>
              <p:tags r:id="rId10"/>
            </p:custDataLst>
          </p:nvPr>
        </p:nvGraphicFramePr>
        <p:xfrm>
          <a:off x="549910" y="5068570"/>
          <a:ext cx="6981825" cy="1310640"/>
        </p:xfrm>
        <a:graphic>
          <a:graphicData uri="http://schemas.openxmlformats.org/drawingml/2006/table">
            <a:tbl>
              <a:tblPr firstRow="1" bandRow="1">
                <a:tableStyleId>{5C22544A-7EE6-4342-B048-85BDC9FD1C3A}</a:tableStyleId>
              </a:tblPr>
              <a:tblGrid>
                <a:gridCol w="2327275"/>
                <a:gridCol w="2327275"/>
                <a:gridCol w="2327275"/>
              </a:tblGrid>
              <a:tr h="441325">
                <a:tc>
                  <a:txBody>
                    <a:bodyPr/>
                    <a:p>
                      <a:pPr>
                        <a:buNone/>
                      </a:pPr>
                      <a:r>
                        <a:rPr lang="en-US" altLang="zh-CN" sz="2400" b="1"/>
                        <a:t>Not</a:t>
                      </a:r>
                      <a:endParaRPr lang="en-US" altLang="zh-CN" sz="2400" b="1"/>
                    </a:p>
                  </a:txBody>
                  <a:tcPr/>
                </a:tc>
                <a:tc>
                  <a:txBody>
                    <a:bodyPr/>
                    <a:p>
                      <a:pPr>
                        <a:buNone/>
                      </a:pPr>
                      <a:r>
                        <a:rPr lang="en-US" altLang="zh-CN" sz="2400" b="1"/>
                        <a:t>Very</a:t>
                      </a:r>
                      <a:endParaRPr lang="en-US" altLang="zh-CN" sz="2400" b="1"/>
                    </a:p>
                  </a:txBody>
                  <a:tcPr/>
                </a:tc>
                <a:tc>
                  <a:txBody>
                    <a:bodyPr/>
                    <a:p>
                      <a:pPr>
                        <a:buNone/>
                      </a:pPr>
                      <a:r>
                        <a:rPr lang="en-US" altLang="zh-CN" sz="2400" b="1"/>
                        <a:t>Medium</a:t>
                      </a:r>
                      <a:endParaRPr lang="en-US" altLang="zh-CN" sz="2400" b="1"/>
                    </a:p>
                  </a:txBody>
                  <a:tcPr/>
                </a:tc>
              </a:tr>
              <a:tr h="457200">
                <a:tc>
                  <a:txBody>
                    <a:bodyPr/>
                    <a:p>
                      <a:pPr>
                        <a:buNone/>
                      </a:pPr>
                      <a:r>
                        <a:rPr lang="en-US" altLang="zh-CN" sz="2400" b="1"/>
                        <a:t>8</a:t>
                      </a:r>
                      <a:endParaRPr lang="en-US" altLang="zh-CN" sz="2400" b="1"/>
                    </a:p>
                  </a:txBody>
                  <a:tcPr/>
                </a:tc>
                <a:tc>
                  <a:txBody>
                    <a:bodyPr/>
                    <a:p>
                      <a:pPr>
                        <a:buNone/>
                      </a:pPr>
                      <a:r>
                        <a:rPr lang="en-US" altLang="zh-CN" sz="2400" b="1"/>
                        <a:t>6</a:t>
                      </a:r>
                      <a:endParaRPr lang="en-US" altLang="zh-CN" sz="2400" b="1"/>
                    </a:p>
                  </a:txBody>
                  <a:tcPr/>
                </a:tc>
                <a:tc>
                  <a:txBody>
                    <a:bodyPr/>
                    <a:p>
                      <a:pPr>
                        <a:buNone/>
                      </a:pPr>
                      <a:r>
                        <a:rPr lang="en-US" altLang="zh-CN" sz="2400" b="1"/>
                        <a:t>10</a:t>
                      </a:r>
                      <a:endParaRPr lang="en-US" altLang="zh-CN" sz="2400" b="1"/>
                    </a:p>
                  </a:txBody>
                  <a:tcPr/>
                </a:tc>
              </a:tr>
              <a:tr h="396240">
                <a:tc>
                  <a:txBody>
                    <a:bodyPr/>
                    <a:p>
                      <a:pPr>
                        <a:buNone/>
                      </a:pPr>
                      <a:r>
                        <a:rPr lang="en-US" altLang="zh-CN" sz="2000" b="1"/>
                        <a:t>Yes: 4  no:8</a:t>
                      </a:r>
                      <a:endParaRPr lang="en-US" altLang="zh-CN" sz="2000" b="1"/>
                    </a:p>
                  </a:txBody>
                  <a:tcPr/>
                </a:tc>
                <a:tc>
                  <a:txBody>
                    <a:bodyPr/>
                    <a:p>
                      <a:pPr>
                        <a:buNone/>
                      </a:pPr>
                      <a:r>
                        <a:rPr lang="en-US" altLang="zh-CN" sz="2000" b="1">
                          <a:sym typeface="+mn-ea"/>
                        </a:rPr>
                        <a:t>Yes: 3  no:3</a:t>
                      </a:r>
                      <a:endParaRPr lang="en-US" altLang="zh-CN" sz="2000" b="1">
                        <a:sym typeface="+mn-ea"/>
                      </a:endParaRPr>
                    </a:p>
                  </a:txBody>
                  <a:tcPr/>
                </a:tc>
                <a:tc>
                  <a:txBody>
                    <a:bodyPr/>
                    <a:p>
                      <a:pPr>
                        <a:buNone/>
                      </a:pPr>
                      <a:r>
                        <a:rPr lang="en-US" altLang="zh-CN" sz="2000" b="1">
                          <a:sym typeface="+mn-ea"/>
                        </a:rPr>
                        <a:t>Yes: 5  no:5</a:t>
                      </a:r>
                      <a:endParaRPr lang="en-US" altLang="zh-CN" sz="2000" b="1">
                        <a:sym typeface="+mn-ea"/>
                      </a:endParaRPr>
                    </a:p>
                  </a:txBody>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56055" y="690880"/>
            <a:ext cx="10169525" cy="2306955"/>
          </a:xfrm>
          <a:prstGeom prst="rect">
            <a:avLst/>
          </a:prstGeom>
        </p:spPr>
        <p:txBody>
          <a:bodyPr wrap="square">
            <a:spAutoFit/>
          </a:bodyPr>
          <a:lstStyle/>
          <a:p>
            <a:pPr algn="just">
              <a:spcAft>
                <a:spcPts val="0"/>
              </a:spcAft>
            </a:pPr>
            <a:r>
              <a:rPr lang="zh-CN" altLang="en-US" sz="2400" kern="100" dirty="0">
                <a:latin typeface="楷体" panose="02010609060101010101" pitchFamily="49" charset="-122"/>
                <a:ea typeface="楷体" panose="02010609060101010101" pitchFamily="49" charset="-122"/>
              </a:rPr>
              <a:t>可以看出              最小，即有关</a:t>
            </a:r>
            <a:r>
              <a:rPr lang="en-US" altLang="zh-CN" sz="2400" kern="100" dirty="0">
                <a:latin typeface="楷体" panose="02010609060101010101" pitchFamily="49" charset="-122"/>
                <a:ea typeface="楷体" panose="02010609060101010101" pitchFamily="49" charset="-122"/>
              </a:rPr>
              <a:t>Outlook</a:t>
            </a:r>
            <a:r>
              <a:rPr lang="zh-CN" altLang="en-US" sz="2400" kern="100" dirty="0">
                <a:latin typeface="楷体" panose="02010609060101010101" pitchFamily="49" charset="-122"/>
                <a:ea typeface="楷体" panose="02010609060101010101" pitchFamily="49" charset="-122"/>
              </a:rPr>
              <a:t>的信息对于分类有最大的帮助，提供最大的信息量，即             最大。所以应该选择</a:t>
            </a:r>
            <a:r>
              <a:rPr lang="en-US" altLang="zh-CN" sz="2400" kern="100" dirty="0">
                <a:latin typeface="楷体" panose="02010609060101010101" pitchFamily="49" charset="-122"/>
                <a:ea typeface="楷体" panose="02010609060101010101" pitchFamily="49" charset="-122"/>
              </a:rPr>
              <a:t>Outlook</a:t>
            </a:r>
            <a:r>
              <a:rPr lang="zh-CN" altLang="en-US" sz="2400" kern="100" dirty="0">
                <a:latin typeface="楷体" panose="02010609060101010101" pitchFamily="49" charset="-122"/>
                <a:ea typeface="楷体" panose="02010609060101010101" pitchFamily="49" charset="-122"/>
              </a:rPr>
              <a:t>属性作为测试属性。还可以看出                       最小，即              ，有关</a:t>
            </a:r>
            <a:r>
              <a:rPr lang="en-US" altLang="zh-CN" sz="2400" kern="100" dirty="0">
                <a:latin typeface="楷体" panose="02010609060101010101" pitchFamily="49" charset="-122"/>
                <a:ea typeface="楷体" panose="02010609060101010101" pitchFamily="49" charset="-122"/>
              </a:rPr>
              <a:t>Windy</a:t>
            </a:r>
            <a:r>
              <a:rPr lang="zh-CN" altLang="en-US" sz="2400" kern="100" dirty="0">
                <a:latin typeface="楷体" panose="02010609060101010101" pitchFamily="49" charset="-122"/>
                <a:ea typeface="楷体" panose="02010609060101010101" pitchFamily="49" charset="-122"/>
              </a:rPr>
              <a:t>的信息不能提供任何分类信息。选择</a:t>
            </a:r>
            <a:r>
              <a:rPr lang="en-US" altLang="zh-CN" sz="2400" kern="100" dirty="0">
                <a:latin typeface="楷体" panose="02010609060101010101" pitchFamily="49" charset="-122"/>
                <a:ea typeface="楷体" panose="02010609060101010101" pitchFamily="49" charset="-122"/>
              </a:rPr>
              <a:t>Outlook</a:t>
            </a:r>
            <a:r>
              <a:rPr lang="zh-CN" altLang="en-US" sz="2400" kern="100" dirty="0">
                <a:latin typeface="楷体" panose="02010609060101010101" pitchFamily="49" charset="-122"/>
                <a:ea typeface="楷体" panose="02010609060101010101" pitchFamily="49" charset="-122"/>
              </a:rPr>
              <a:t>作为测试属性之后将训练实例分为三个子集，生成三个叶结点，对每个叶结点依次利用上面过程则生成如图所示的决策树。</a:t>
            </a:r>
            <a:endParaRPr lang="zh-CN" altLang="en-US" sz="2400" kern="100" dirty="0">
              <a:latin typeface="楷体" panose="02010609060101010101" pitchFamily="49" charset="-122"/>
              <a:ea typeface="楷体" panose="02010609060101010101" pitchFamily="49" charset="-122"/>
            </a:endParaRPr>
          </a:p>
        </p:txBody>
      </p:sp>
      <p:graphicFrame>
        <p:nvGraphicFramePr>
          <p:cNvPr id="8" name="对象 7"/>
          <p:cNvGraphicFramePr>
            <a:graphicFrameLocks noChangeAspect="1"/>
          </p:cNvGraphicFramePr>
          <p:nvPr/>
        </p:nvGraphicFramePr>
        <p:xfrm>
          <a:off x="2939415" y="779145"/>
          <a:ext cx="1878330" cy="322580"/>
        </p:xfrm>
        <a:graphic>
          <a:graphicData uri="http://schemas.openxmlformats.org/presentationml/2006/ole">
            <mc:AlternateContent xmlns:mc="http://schemas.openxmlformats.org/markup-compatibility/2006">
              <mc:Choice xmlns:v="urn:schemas-microsoft-com:vml" Requires="v">
                <p:oleObj spid="_x0000_s16415" name="" r:id="rId1" imgW="1256665" imgH="203200" progId="Equation.DSMT4">
                  <p:embed/>
                </p:oleObj>
              </mc:Choice>
              <mc:Fallback>
                <p:oleObj name="" r:id="rId1" imgW="1256665" imgH="2032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415" y="779145"/>
                        <a:ext cx="1878330" cy="322580"/>
                      </a:xfrm>
                      <a:prstGeom prst="rect">
                        <a:avLst/>
                      </a:prstGeom>
                      <a:noFill/>
                    </p:spPr>
                  </p:pic>
                </p:oleObj>
              </mc:Fallback>
            </mc:AlternateContent>
          </a:graphicData>
        </a:graphic>
      </p:graphicFrame>
      <p:graphicFrame>
        <p:nvGraphicFramePr>
          <p:cNvPr id="12" name="对象 11"/>
          <p:cNvGraphicFramePr>
            <a:graphicFrameLocks noChangeAspect="1"/>
          </p:cNvGraphicFramePr>
          <p:nvPr/>
        </p:nvGraphicFramePr>
        <p:xfrm>
          <a:off x="5520189" y="1165185"/>
          <a:ext cx="1492147" cy="289386"/>
        </p:xfrm>
        <a:graphic>
          <a:graphicData uri="http://schemas.openxmlformats.org/presentationml/2006/ole">
            <mc:AlternateContent xmlns:mc="http://schemas.openxmlformats.org/markup-compatibility/2006">
              <mc:Choice xmlns:v="urn:schemas-microsoft-com:vml" Requires="v">
                <p:oleObj spid="_x0000_s16416" name="" r:id="rId3" imgW="1054100" imgH="203200" progId="Equation.DSMT4">
                  <p:embed/>
                </p:oleObj>
              </mc:Choice>
              <mc:Fallback>
                <p:oleObj name="" r:id="rId3" imgW="10541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0189" y="1165185"/>
                        <a:ext cx="1492147" cy="289386"/>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6307455" y="1486535"/>
          <a:ext cx="3015615" cy="339725"/>
        </p:xfrm>
        <a:graphic>
          <a:graphicData uri="http://schemas.openxmlformats.org/presentationml/2006/ole">
            <mc:AlternateContent xmlns:mc="http://schemas.openxmlformats.org/markup-compatibility/2006">
              <mc:Choice xmlns:v="urn:schemas-microsoft-com:vml" Requires="v">
                <p:oleObj spid="_x0000_s16417" name="" r:id="rId5" imgW="1917065" imgH="203200" progId="Equation.DSMT4">
                  <p:embed/>
                </p:oleObj>
              </mc:Choice>
              <mc:Fallback>
                <p:oleObj name="" r:id="rId5" imgW="1917065" imgH="203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7455" y="1486535"/>
                        <a:ext cx="3015615" cy="339725"/>
                      </a:xfrm>
                      <a:prstGeom prst="rect">
                        <a:avLst/>
                      </a:prstGeom>
                      <a:noFill/>
                    </p:spPr>
                  </p:pic>
                </p:oleObj>
              </mc:Fallback>
            </mc:AlternateContent>
          </a:graphicData>
        </a:graphic>
      </p:graphicFrame>
      <p:graphicFrame>
        <p:nvGraphicFramePr>
          <p:cNvPr id="16" name="对象 15"/>
          <p:cNvGraphicFramePr>
            <a:graphicFrameLocks noChangeAspect="1"/>
          </p:cNvGraphicFramePr>
          <p:nvPr/>
        </p:nvGraphicFramePr>
        <p:xfrm>
          <a:off x="2160905" y="1842135"/>
          <a:ext cx="1729105" cy="309245"/>
        </p:xfrm>
        <a:graphic>
          <a:graphicData uri="http://schemas.openxmlformats.org/presentationml/2006/ole">
            <mc:AlternateContent xmlns:mc="http://schemas.openxmlformats.org/markup-compatibility/2006">
              <mc:Choice xmlns:v="urn:schemas-microsoft-com:vml" Requires="v">
                <p:oleObj spid="_x0000_s16418" name="" r:id="rId7" imgW="1129665" imgH="203200" progId="Equation.DSMT4">
                  <p:embed/>
                </p:oleObj>
              </mc:Choice>
              <mc:Fallback>
                <p:oleObj name="" r:id="rId7" imgW="1129665" imgH="2032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0905" y="1842135"/>
                        <a:ext cx="1729105" cy="309245"/>
                      </a:xfrm>
                      <a:prstGeom prst="rect">
                        <a:avLst/>
                      </a:prstGeom>
                      <a:noFill/>
                    </p:spPr>
                  </p:pic>
                </p:oleObj>
              </mc:Fallback>
            </mc:AlternateContent>
          </a:graphicData>
        </a:graphic>
      </p:graphicFrame>
      <p:sp>
        <p:nvSpPr>
          <p:cNvPr id="17" name="Rectangle 10"/>
          <p:cNvSpPr>
            <a:spLocks noChangeArrowheads="1"/>
          </p:cNvSpPr>
          <p:nvPr/>
        </p:nvSpPr>
        <p:spPr bwMode="auto">
          <a:xfrm flipV="1">
            <a:off x="2256153" y="3640522"/>
            <a:ext cx="1420508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8" name="对象 17"/>
          <p:cNvGraphicFramePr>
            <a:graphicFrameLocks noChangeAspect="1"/>
          </p:cNvGraphicFramePr>
          <p:nvPr/>
        </p:nvGraphicFramePr>
        <p:xfrm>
          <a:off x="2310765" y="2997835"/>
          <a:ext cx="7877810" cy="3635375"/>
        </p:xfrm>
        <a:graphic>
          <a:graphicData uri="http://schemas.openxmlformats.org/presentationml/2006/ole">
            <mc:AlternateContent xmlns:mc="http://schemas.openxmlformats.org/markup-compatibility/2006">
              <mc:Choice xmlns:v="urn:schemas-microsoft-com:vml" Requires="v">
                <p:oleObj spid="_x0000_s16419" name="Document" r:id="rId9" imgW="5276215" imgH="2536190" progId="Word.Document.8">
                  <p:embed/>
                </p:oleObj>
              </mc:Choice>
              <mc:Fallback>
                <p:oleObj name="Document" r:id="rId9" imgW="5276215" imgH="2536190" progId="Word.Document.8">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0765" y="2997835"/>
                        <a:ext cx="7877810" cy="3635375"/>
                      </a:xfrm>
                      <a:prstGeom prst="rect">
                        <a:avLst/>
                      </a:prstGeom>
                      <a:noFill/>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606284" y="422893"/>
            <a:ext cx="8307682" cy="505509"/>
          </a:xfrm>
        </p:spPr>
        <p:txBody>
          <a:bodyPr>
            <a:normAutofit/>
          </a:bodyPr>
          <a:lstStyle/>
          <a:p>
            <a:r>
              <a:rPr lang="zh-CN" altLang="zh-CN" sz="2400" dirty="0">
                <a:latin typeface="楷体" panose="02010609060101010101" pitchFamily="49" charset="-122"/>
                <a:ea typeface="楷体" panose="02010609060101010101" pitchFamily="49" charset="-122"/>
              </a:rPr>
              <a:t>实例</a:t>
            </a:r>
            <a:r>
              <a:rPr lang="en-US" altLang="zh-CN" sz="2400" dirty="0">
                <a:latin typeface="楷体" panose="02010609060101010101" pitchFamily="49" charset="-122"/>
                <a:ea typeface="楷体" panose="02010609060101010101" pitchFamily="49" charset="-122"/>
              </a:rPr>
              <a:t>2</a:t>
            </a:r>
            <a:endParaRPr lang="en-US" altLang="zh-CN" sz="2400" dirty="0">
              <a:latin typeface="楷体" panose="02010609060101010101" pitchFamily="49" charset="-122"/>
              <a:ea typeface="楷体" panose="02010609060101010101" pitchFamily="49" charset="-122"/>
            </a:endParaRPr>
          </a:p>
        </p:txBody>
      </p:sp>
      <p:sp>
        <p:nvSpPr>
          <p:cNvPr id="2" name="矩形 1"/>
          <p:cNvSpPr/>
          <p:nvPr/>
        </p:nvSpPr>
        <p:spPr>
          <a:xfrm>
            <a:off x="1851025" y="928370"/>
            <a:ext cx="8489315" cy="1938020"/>
          </a:xfrm>
          <a:prstGeom prst="rect">
            <a:avLst/>
          </a:prstGeom>
        </p:spPr>
        <p:txBody>
          <a:bodyPr wrap="square">
            <a:spAutoFit/>
          </a:bodyPr>
          <a:lstStyle/>
          <a:p>
            <a:pPr algn="just">
              <a:spcAft>
                <a:spcPts val="0"/>
              </a:spcAft>
            </a:pPr>
            <a:r>
              <a:rPr lang="zh-CN" altLang="en-US" sz="2400" dirty="0">
                <a:latin typeface="楷体" panose="02010609060101010101" pitchFamily="49" charset="-122"/>
                <a:ea typeface="楷体" panose="02010609060101010101" pitchFamily="49" charset="-122"/>
              </a:rPr>
              <a:t>如表所示为一个商场顾客数据库（训练样本集合）属性。样本集合的类别属性为：“</a:t>
            </a:r>
            <a:r>
              <a:rPr lang="en-US" altLang="zh-CN" sz="2400" dirty="0">
                <a:latin typeface="楷体" panose="02010609060101010101" pitchFamily="49" charset="-122"/>
                <a:ea typeface="楷体" panose="02010609060101010101" pitchFamily="49" charset="-122"/>
              </a:rPr>
              <a:t>buy computer”</a:t>
            </a:r>
            <a:r>
              <a:rPr lang="zh-CN" altLang="en-US" sz="2400" dirty="0">
                <a:latin typeface="楷体" panose="02010609060101010101" pitchFamily="49" charset="-122"/>
                <a:ea typeface="楷体" panose="02010609060101010101" pitchFamily="49" charset="-122"/>
              </a:rPr>
              <a:t>，该属性有两个不同取值，即</a:t>
            </a:r>
            <a:r>
              <a:rPr lang="en-US" altLang="zh-CN" sz="2400" dirty="0">
                <a:latin typeface="楷体" panose="02010609060101010101" pitchFamily="49" charset="-122"/>
                <a:ea typeface="楷体" panose="02010609060101010101" pitchFamily="49" charset="-122"/>
              </a:rPr>
              <a:t>{yes ,no}</a:t>
            </a:r>
            <a:r>
              <a:rPr lang="zh-CN" altLang="en-US" sz="2400" dirty="0">
                <a:latin typeface="楷体" panose="02010609060101010101" pitchFamily="49" charset="-122"/>
                <a:ea typeface="楷体" panose="02010609060101010101" pitchFamily="49" charset="-122"/>
              </a:rPr>
              <a:t> ，因此就有两个不同的类别</a:t>
            </a:r>
            <a:r>
              <a:rPr lang="en-US" altLang="zh-CN" sz="2400" dirty="0">
                <a:latin typeface="楷体" panose="02010609060101010101" pitchFamily="49" charset="-122"/>
                <a:ea typeface="楷体" panose="02010609060101010101" pitchFamily="49" charset="-122"/>
              </a:rPr>
              <a:t>(m=2)</a:t>
            </a:r>
            <a:r>
              <a:rPr lang="zh-CN" altLang="en-US" sz="2400" dirty="0">
                <a:latin typeface="楷体" panose="02010609060101010101" pitchFamily="49" charset="-122"/>
                <a:ea typeface="楷体" panose="02010609060101010101" pitchFamily="49" charset="-122"/>
              </a:rPr>
              <a:t> 。设</a:t>
            </a:r>
            <a:r>
              <a:rPr lang="en-US" altLang="zh-CN" sz="2400" dirty="0">
                <a:latin typeface="楷体" panose="02010609060101010101" pitchFamily="49" charset="-122"/>
                <a:ea typeface="楷体" panose="02010609060101010101" pitchFamily="49" charset="-122"/>
              </a:rPr>
              <a:t>C1</a:t>
            </a:r>
            <a:r>
              <a:rPr lang="zh-CN" altLang="en-US" sz="2400" dirty="0">
                <a:latin typeface="楷体" panose="02010609060101010101" pitchFamily="49" charset="-122"/>
                <a:ea typeface="楷体" panose="02010609060101010101" pitchFamily="49" charset="-122"/>
              </a:rPr>
              <a:t>对应“</a:t>
            </a:r>
            <a:r>
              <a:rPr lang="en-US" altLang="zh-CN" sz="2400" dirty="0">
                <a:latin typeface="楷体" panose="02010609060101010101" pitchFamily="49" charset="-122"/>
                <a:ea typeface="楷体" panose="02010609060101010101" pitchFamily="49" charset="-122"/>
              </a:rPr>
              <a:t>yes”</a:t>
            </a:r>
            <a:r>
              <a:rPr lang="zh-CN" altLang="en-US" sz="2400" dirty="0">
                <a:latin typeface="楷体" panose="02010609060101010101" pitchFamily="49" charset="-122"/>
                <a:ea typeface="楷体" panose="02010609060101010101" pitchFamily="49" charset="-122"/>
              </a:rPr>
              <a:t>类别， </a:t>
            </a:r>
            <a:r>
              <a:rPr lang="en-US" altLang="zh-CN" sz="2400" dirty="0">
                <a:latin typeface="楷体" panose="02010609060101010101" pitchFamily="49" charset="-122"/>
                <a:ea typeface="楷体" panose="02010609060101010101" pitchFamily="49" charset="-122"/>
              </a:rPr>
              <a:t>C2</a:t>
            </a:r>
            <a:r>
              <a:rPr lang="zh-CN" altLang="en-US" sz="2400" dirty="0">
                <a:latin typeface="楷体" panose="02010609060101010101" pitchFamily="49" charset="-122"/>
                <a:ea typeface="楷体" panose="02010609060101010101" pitchFamily="49" charset="-122"/>
              </a:rPr>
              <a:t>对应“</a:t>
            </a:r>
            <a:r>
              <a:rPr lang="en-US" altLang="zh-CN" sz="2400" dirty="0">
                <a:latin typeface="楷体" panose="02010609060101010101" pitchFamily="49" charset="-122"/>
                <a:ea typeface="楷体" panose="02010609060101010101" pitchFamily="49" charset="-122"/>
              </a:rPr>
              <a:t>no”</a:t>
            </a:r>
            <a:r>
              <a:rPr lang="zh-CN" altLang="en-US" sz="2400" dirty="0">
                <a:latin typeface="楷体" panose="02010609060101010101" pitchFamily="49" charset="-122"/>
                <a:ea typeface="楷体" panose="02010609060101010101" pitchFamily="49" charset="-122"/>
              </a:rPr>
              <a:t>类别。 </a:t>
            </a:r>
            <a:r>
              <a:rPr lang="en-US" altLang="zh-CN" sz="2400" dirty="0">
                <a:latin typeface="楷体" panose="02010609060101010101" pitchFamily="49" charset="-122"/>
                <a:ea typeface="楷体" panose="02010609060101010101" pitchFamily="49" charset="-122"/>
              </a:rPr>
              <a:t>C1</a:t>
            </a:r>
            <a:r>
              <a:rPr lang="zh-CN" altLang="en-US" sz="2400" dirty="0">
                <a:latin typeface="楷体" panose="02010609060101010101" pitchFamily="49" charset="-122"/>
                <a:ea typeface="楷体" panose="02010609060101010101" pitchFamily="49" charset="-122"/>
              </a:rPr>
              <a:t>类别包含</a:t>
            </a:r>
            <a:r>
              <a:rPr lang="en-US"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个样本， </a:t>
            </a:r>
            <a:r>
              <a:rPr lang="en-US" altLang="zh-CN" sz="2400" dirty="0">
                <a:latin typeface="楷体" panose="02010609060101010101" pitchFamily="49" charset="-122"/>
                <a:ea typeface="楷体" panose="02010609060101010101" pitchFamily="49" charset="-122"/>
              </a:rPr>
              <a:t>C2</a:t>
            </a:r>
            <a:r>
              <a:rPr lang="zh-CN" altLang="en-US" sz="2400" dirty="0">
                <a:latin typeface="楷体" panose="02010609060101010101" pitchFamily="49" charset="-122"/>
                <a:ea typeface="楷体" panose="02010609060101010101" pitchFamily="49" charset="-122"/>
              </a:rPr>
              <a:t>类别包含</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个样本。</a:t>
            </a:r>
            <a:endParaRPr lang="zh-CN" altLang="en-US" sz="2400" kern="100" dirty="0">
              <a:latin typeface="楷体" panose="02010609060101010101" pitchFamily="49" charset="-122"/>
              <a:ea typeface="楷体" panose="02010609060101010101" pitchFamily="49" charset="-122"/>
            </a:endParaRPr>
          </a:p>
        </p:txBody>
      </p:sp>
      <p:pic>
        <p:nvPicPr>
          <p:cNvPr id="25" name="图片 24"/>
          <p:cNvPicPr>
            <a:picLocks noChangeAspect="1"/>
          </p:cNvPicPr>
          <p:nvPr/>
        </p:nvPicPr>
        <p:blipFill>
          <a:blip r:embed="rId1"/>
          <a:stretch>
            <a:fillRect/>
          </a:stretch>
        </p:blipFill>
        <p:spPr>
          <a:xfrm>
            <a:off x="4923964" y="2430991"/>
            <a:ext cx="5200209" cy="4286858"/>
          </a:xfrm>
          <a:prstGeom prst="rect">
            <a:avLst/>
          </a:prstGeom>
        </p:spPr>
      </p:pic>
      <p:pic>
        <p:nvPicPr>
          <p:cNvPr id="17422"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21" name="Picture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20"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0165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9"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8" name="Picture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7"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0165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5"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0165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0165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7409"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317500" cy="177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80019" y="546868"/>
            <a:ext cx="8163307" cy="829945"/>
          </a:xfrm>
          <a:prstGeom prst="rect">
            <a:avLst/>
          </a:prstGeom>
        </p:spPr>
        <p:txBody>
          <a:bodyPr wrap="square">
            <a:spAutoFit/>
          </a:bodyPr>
          <a:lstStyle/>
          <a:p>
            <a:pPr algn="just">
              <a:spcAft>
                <a:spcPts val="0"/>
              </a:spcAft>
            </a:pPr>
            <a:r>
              <a:rPr lang="zh-CN" altLang="en-US" sz="2400" dirty="0">
                <a:latin typeface="楷体" panose="02010609060101010101" pitchFamily="49" charset="-122"/>
                <a:ea typeface="楷体" panose="02010609060101010101" pitchFamily="49" charset="-122"/>
              </a:rPr>
              <a:t>为了计算每个属性的信息增益，首先计算出所有（对一个给定样本进行分类所需要）的信息量，具体计算过程如下：</a:t>
            </a:r>
            <a:endParaRPr lang="zh-CN" altLang="en-US" sz="2400" kern="1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flipV="1">
            <a:off x="2605587" y="2090119"/>
            <a:ext cx="1322550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2605405" y="1489710"/>
          <a:ext cx="6090285" cy="764540"/>
        </p:xfrm>
        <a:graphic>
          <a:graphicData uri="http://schemas.openxmlformats.org/presentationml/2006/ole">
            <mc:AlternateContent xmlns:mc="http://schemas.openxmlformats.org/markup-compatibility/2006">
              <mc:Choice xmlns:v="urn:schemas-microsoft-com:vml" Requires="v">
                <p:oleObj spid="_x0000_s18449" name="" r:id="rId1" imgW="3136900" imgH="393700" progId="Equation.DSMT4">
                  <p:embed/>
                </p:oleObj>
              </mc:Choice>
              <mc:Fallback>
                <p:oleObj name="" r:id="rId1" imgW="3136900"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405" y="1489710"/>
                        <a:ext cx="6090285" cy="764540"/>
                      </a:xfrm>
                      <a:prstGeom prst="rect">
                        <a:avLst/>
                      </a:prstGeom>
                      <a:noFill/>
                    </p:spPr>
                  </p:pic>
                </p:oleObj>
              </mc:Fallback>
            </mc:AlternateContent>
          </a:graphicData>
        </a:graphic>
      </p:graphicFrame>
      <p:sp>
        <p:nvSpPr>
          <p:cNvPr id="13" name="矩形 12"/>
          <p:cNvSpPr/>
          <p:nvPr/>
        </p:nvSpPr>
        <p:spPr>
          <a:xfrm>
            <a:off x="1426845" y="2393950"/>
            <a:ext cx="8446770" cy="119888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接着需要计算每个属性的信息熵。假设先从属性“</a:t>
            </a:r>
            <a:r>
              <a:rPr lang="en-US" altLang="zh-CN" sz="2400" dirty="0">
                <a:latin typeface="楷体" panose="02010609060101010101" pitchFamily="49" charset="-122"/>
                <a:ea typeface="楷体" panose="02010609060101010101" pitchFamily="49" charset="-122"/>
              </a:rPr>
              <a:t>age”</a:t>
            </a:r>
            <a:r>
              <a:rPr lang="zh-CN" altLang="en-US" sz="2400" dirty="0">
                <a:latin typeface="楷体" panose="02010609060101010101" pitchFamily="49" charset="-122"/>
                <a:ea typeface="楷体" panose="02010609060101010101" pitchFamily="49" charset="-122"/>
              </a:rPr>
              <a:t>开始，根据属性“</a:t>
            </a:r>
            <a:r>
              <a:rPr lang="en-US" altLang="zh-CN" sz="2400" dirty="0">
                <a:latin typeface="楷体" panose="02010609060101010101" pitchFamily="49" charset="-122"/>
                <a:ea typeface="楷体" panose="02010609060101010101" pitchFamily="49" charset="-122"/>
              </a:rPr>
              <a:t>age”</a:t>
            </a:r>
            <a:r>
              <a:rPr lang="zh-CN" altLang="en-US" sz="2400" dirty="0">
                <a:latin typeface="楷体" panose="02010609060101010101" pitchFamily="49" charset="-122"/>
                <a:ea typeface="楷体" panose="02010609060101010101" pitchFamily="49" charset="-122"/>
              </a:rPr>
              <a:t>每个取值在</a:t>
            </a:r>
            <a:r>
              <a:rPr lang="en-US" altLang="zh-CN" sz="2400" dirty="0">
                <a:latin typeface="楷体" panose="02010609060101010101" pitchFamily="49" charset="-122"/>
                <a:ea typeface="楷体" panose="02010609060101010101" pitchFamily="49" charset="-122"/>
              </a:rPr>
              <a:t>C1</a:t>
            </a:r>
            <a:r>
              <a:rPr lang="zh-CN" altLang="en-US" sz="2400" dirty="0">
                <a:latin typeface="楷体" panose="02010609060101010101" pitchFamily="49" charset="-122"/>
                <a:ea typeface="楷体" panose="02010609060101010101" pitchFamily="49" charset="-122"/>
              </a:rPr>
              <a:t>类别和</a:t>
            </a:r>
            <a:r>
              <a:rPr lang="en-US" altLang="zh-CN" sz="2400" dirty="0">
                <a:latin typeface="楷体" panose="02010609060101010101" pitchFamily="49" charset="-122"/>
                <a:ea typeface="楷体" panose="02010609060101010101" pitchFamily="49" charset="-122"/>
              </a:rPr>
              <a:t>C2</a:t>
            </a:r>
            <a:r>
              <a:rPr lang="zh-CN" altLang="en-US" sz="2400" dirty="0">
                <a:latin typeface="楷体" panose="02010609060101010101" pitchFamily="49" charset="-122"/>
                <a:ea typeface="楷体" panose="02010609060101010101" pitchFamily="49" charset="-122"/>
              </a:rPr>
              <a:t>类别中的分布，就可以计算出每个分布所对应的信息</a:t>
            </a:r>
            <a:r>
              <a:rPr lang="zh-CN" altLang="en-US" sz="2400" dirty="0"/>
              <a:t>。</a:t>
            </a:r>
            <a:endParaRPr lang="zh-CN" altLang="en-US" sz="2400" dirty="0"/>
          </a:p>
        </p:txBody>
      </p:sp>
      <p:pic>
        <p:nvPicPr>
          <p:cNvPr id="15" name="图片 14"/>
          <p:cNvPicPr>
            <a:picLocks noChangeAspect="1"/>
          </p:cNvPicPr>
          <p:nvPr/>
        </p:nvPicPr>
        <p:blipFill>
          <a:blip r:embed="rId3"/>
          <a:stretch>
            <a:fillRect/>
          </a:stretch>
        </p:blipFill>
        <p:spPr>
          <a:xfrm>
            <a:off x="2093595" y="3829050"/>
            <a:ext cx="10349230" cy="233489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675130" y="1905000"/>
            <a:ext cx="8857615" cy="1814830"/>
          </a:xfrm>
          <a:prstGeom prst="rect">
            <a:avLst/>
          </a:prstGeom>
        </p:spPr>
        <p:txBody>
          <a:bodyPr wrap="square">
            <a:spAutoFit/>
          </a:bodyPr>
          <a:p>
            <a:pPr algn="just">
              <a:spcAft>
                <a:spcPts val="0"/>
              </a:spcAft>
            </a:pPr>
            <a:r>
              <a:rPr lang="zh-CN" altLang="zh-CN" sz="2800" kern="100" dirty="0">
                <a:latin typeface="楷体" panose="02010609060101010101" pitchFamily="49" charset="-122"/>
                <a:ea typeface="楷体" panose="02010609060101010101" pitchFamily="49" charset="-122"/>
              </a:rPr>
              <a:t>然后就可以计算出若根据属性“</a:t>
            </a:r>
            <a:r>
              <a:rPr lang="en-US" altLang="zh-CN" sz="2800" kern="100" dirty="0">
                <a:latin typeface="楷体" panose="02010609060101010101" pitchFamily="49" charset="-122"/>
                <a:ea typeface="楷体" panose="02010609060101010101" pitchFamily="49" charset="-122"/>
              </a:rPr>
              <a:t>age</a:t>
            </a:r>
            <a:r>
              <a:rPr lang="zh-CN" altLang="zh-CN" sz="2800" kern="100" dirty="0">
                <a:latin typeface="楷体" panose="02010609060101010101" pitchFamily="49" charset="-122"/>
                <a:ea typeface="楷体" panose="02010609060101010101" pitchFamily="49" charset="-122"/>
              </a:rPr>
              <a:t>”对样本集合进行划分，所获得对一个数据对象进行分类而需要的信息熵，由此获得利用属性“</a:t>
            </a:r>
            <a:r>
              <a:rPr lang="en-US" altLang="zh-CN" sz="2800" kern="100" dirty="0">
                <a:latin typeface="楷体" panose="02010609060101010101" pitchFamily="49" charset="-122"/>
                <a:ea typeface="楷体" panose="02010609060101010101" pitchFamily="49" charset="-122"/>
              </a:rPr>
              <a:t>age</a:t>
            </a:r>
            <a:r>
              <a:rPr lang="zh-CN" altLang="zh-CN" sz="2800" kern="100" dirty="0">
                <a:latin typeface="楷体" panose="02010609060101010101" pitchFamily="49" charset="-122"/>
                <a:ea typeface="楷体" panose="02010609060101010101" pitchFamily="49" charset="-122"/>
              </a:rPr>
              <a:t>”对样本集合进行划分所获得的信息增益为：</a:t>
            </a:r>
            <a:endParaRPr lang="zh-CN" altLang="zh-CN" sz="2800" kern="100" dirty="0">
              <a:latin typeface="楷体" panose="02010609060101010101" pitchFamily="49" charset="-122"/>
              <a:ea typeface="楷体" panose="02010609060101010101" pitchFamily="49" charset="-122"/>
            </a:endParaRPr>
          </a:p>
        </p:txBody>
      </p:sp>
      <p:graphicFrame>
        <p:nvGraphicFramePr>
          <p:cNvPr id="18" name="对象 17"/>
          <p:cNvGraphicFramePr>
            <a:graphicFrameLocks noChangeAspect="1"/>
          </p:cNvGraphicFramePr>
          <p:nvPr/>
        </p:nvGraphicFramePr>
        <p:xfrm>
          <a:off x="3033395" y="4004310"/>
          <a:ext cx="6125210" cy="651510"/>
        </p:xfrm>
        <a:graphic>
          <a:graphicData uri="http://schemas.openxmlformats.org/presentationml/2006/ole">
            <mc:AlternateContent xmlns:mc="http://schemas.openxmlformats.org/markup-compatibility/2006">
              <mc:Choice xmlns:v="urn:schemas-microsoft-com:vml" Requires="v">
                <p:oleObj spid="_x0000_s18450" name="" r:id="rId1" imgW="2387600" imgH="254000" progId="Equation.DSMT4">
                  <p:embed/>
                </p:oleObj>
              </mc:Choice>
              <mc:Fallback>
                <p:oleObj name="" r:id="rId1" imgW="2387600" imgH="25400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395" y="4004310"/>
                        <a:ext cx="6125210" cy="651510"/>
                      </a:xfrm>
                      <a:prstGeom prst="rect">
                        <a:avLst/>
                      </a:prstGeom>
                      <a:noFill/>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76209" y="1171073"/>
            <a:ext cx="8163307" cy="460375"/>
          </a:xfrm>
          <a:prstGeom prst="rect">
            <a:avLst/>
          </a:prstGeom>
        </p:spPr>
        <p:txBody>
          <a:bodyPr wrap="square">
            <a:spAutoFit/>
          </a:bodyPr>
          <a:lstStyle/>
          <a:p>
            <a:pPr algn="just">
              <a:spcAft>
                <a:spcPts val="0"/>
              </a:spcAft>
            </a:pPr>
            <a:r>
              <a:rPr lang="zh-CN" altLang="en-US" sz="2400" dirty="0">
                <a:latin typeface="楷体" panose="02010609060101010101" pitchFamily="49" charset="-122"/>
                <a:ea typeface="楷体" panose="02010609060101010101" pitchFamily="49" charset="-122"/>
              </a:rPr>
              <a:t>类似可以获得</a:t>
            </a:r>
            <a:endParaRPr lang="zh-CN" altLang="en-US" sz="2400" kern="100" dirty="0">
              <a:latin typeface="楷体" panose="02010609060101010101" pitchFamily="49" charset="-122"/>
              <a:ea typeface="楷体" panose="02010609060101010101" pitchFamily="49" charset="-122"/>
            </a:endParaRPr>
          </a:p>
        </p:txBody>
      </p:sp>
      <p:sp>
        <p:nvSpPr>
          <p:cNvPr id="13" name="矩形 12"/>
          <p:cNvSpPr/>
          <p:nvPr/>
        </p:nvSpPr>
        <p:spPr>
          <a:xfrm>
            <a:off x="1615440" y="3243580"/>
            <a:ext cx="9287510" cy="156845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显然选择属性“</a:t>
            </a:r>
            <a:r>
              <a:rPr lang="en-US" altLang="zh-CN" sz="2400" dirty="0">
                <a:latin typeface="楷体" panose="02010609060101010101" pitchFamily="49" charset="-122"/>
                <a:ea typeface="楷体" panose="02010609060101010101" pitchFamily="49" charset="-122"/>
              </a:rPr>
              <a:t>age”</a:t>
            </a:r>
            <a:r>
              <a:rPr lang="zh-CN" altLang="en-US" sz="2400" dirty="0">
                <a:latin typeface="楷体" panose="02010609060101010101" pitchFamily="49" charset="-122"/>
                <a:ea typeface="楷体" panose="02010609060101010101" pitchFamily="49" charset="-122"/>
              </a:rPr>
              <a:t>所获得的信息增益最大，因此被作为测试属性用于产生当前分支结点。这个新产生的结点被标记为“</a:t>
            </a:r>
            <a:r>
              <a:rPr lang="en-US" altLang="zh-CN" sz="2400" dirty="0">
                <a:latin typeface="楷体" panose="02010609060101010101" pitchFamily="49" charset="-122"/>
                <a:ea typeface="楷体" panose="02010609060101010101" pitchFamily="49" charset="-122"/>
              </a:rPr>
              <a:t>age”</a:t>
            </a:r>
            <a:r>
              <a:rPr lang="zh-CN" altLang="en-US" sz="2400" dirty="0">
                <a:latin typeface="楷体" panose="02010609060101010101" pitchFamily="49" charset="-122"/>
                <a:ea typeface="楷体" panose="02010609060101010101" pitchFamily="49" charset="-122"/>
              </a:rPr>
              <a:t>；同时根据属性“</a:t>
            </a:r>
            <a:r>
              <a:rPr lang="en-US" altLang="zh-CN" sz="2400" dirty="0">
                <a:latin typeface="楷体" panose="02010609060101010101" pitchFamily="49" charset="-122"/>
                <a:ea typeface="楷体" panose="02010609060101010101" pitchFamily="49" charset="-122"/>
              </a:rPr>
              <a:t>age”</a:t>
            </a:r>
            <a:r>
              <a:rPr lang="zh-CN" altLang="en-US" sz="2400" dirty="0">
                <a:latin typeface="楷体" panose="02010609060101010101" pitchFamily="49" charset="-122"/>
                <a:ea typeface="楷体" panose="02010609060101010101" pitchFamily="49" charset="-122"/>
              </a:rPr>
              <a:t>的三个不同取值，产生三个不同的分支，当前的样本集合被划分为三个子集，如图所示。</a:t>
            </a:r>
            <a:endParaRPr lang="zh-CN" altLang="en-US" sz="2400" dirty="0">
              <a:latin typeface="楷体" panose="02010609060101010101" pitchFamily="49" charset="-122"/>
              <a:ea typeface="楷体" panose="02010609060101010101" pitchFamily="49" charset="-122"/>
            </a:endParaRPr>
          </a:p>
        </p:txBody>
      </p:sp>
      <p:graphicFrame>
        <p:nvGraphicFramePr>
          <p:cNvPr id="4" name="对象 3"/>
          <p:cNvGraphicFramePr>
            <a:graphicFrameLocks noChangeAspect="1"/>
          </p:cNvGraphicFramePr>
          <p:nvPr/>
        </p:nvGraphicFramePr>
        <p:xfrm>
          <a:off x="2418080" y="1631315"/>
          <a:ext cx="2668905" cy="454025"/>
        </p:xfrm>
        <a:graphic>
          <a:graphicData uri="http://schemas.openxmlformats.org/presentationml/2006/ole">
            <mc:AlternateContent xmlns:mc="http://schemas.openxmlformats.org/markup-compatibility/2006">
              <mc:Choice xmlns:v="urn:schemas-microsoft-com:vml" Requires="v">
                <p:oleObj spid="_x0000_s19477" name="" r:id="rId1" imgW="1485265" imgH="254000" progId="Equation.DSMT4">
                  <p:embed/>
                </p:oleObj>
              </mc:Choice>
              <mc:Fallback>
                <p:oleObj name="" r:id="rId1" imgW="1485265" imgH="2540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080" y="1631315"/>
                        <a:ext cx="2668905" cy="454025"/>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2418080" y="2065655"/>
          <a:ext cx="2550160" cy="455295"/>
        </p:xfrm>
        <a:graphic>
          <a:graphicData uri="http://schemas.openxmlformats.org/presentationml/2006/ole">
            <mc:AlternateContent xmlns:mc="http://schemas.openxmlformats.org/markup-compatibility/2006">
              <mc:Choice xmlns:v="urn:schemas-microsoft-com:vml" Requires="v">
                <p:oleObj spid="_x0000_s19478" name="" r:id="rId3" imgW="1422400" imgH="254000" progId="Equation.DSMT4">
                  <p:embed/>
                </p:oleObj>
              </mc:Choice>
              <mc:Fallback>
                <p:oleObj name="" r:id="rId3" imgW="1422400" imgH="254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8080" y="2065655"/>
                        <a:ext cx="2550160" cy="455295"/>
                      </a:xfrm>
                      <a:prstGeom prst="rect">
                        <a:avLst/>
                      </a:prstGeom>
                      <a:noFill/>
                    </p:spPr>
                  </p:pic>
                </p:oleObj>
              </mc:Fallback>
            </mc:AlternateContent>
          </a:graphicData>
        </a:graphic>
      </p:graphicFrame>
      <p:graphicFrame>
        <p:nvGraphicFramePr>
          <p:cNvPr id="10" name="对象 9"/>
          <p:cNvGraphicFramePr>
            <a:graphicFrameLocks noChangeAspect="1"/>
          </p:cNvGraphicFramePr>
          <p:nvPr/>
        </p:nvGraphicFramePr>
        <p:xfrm>
          <a:off x="2418080" y="2491740"/>
          <a:ext cx="3328035" cy="482600"/>
        </p:xfrm>
        <a:graphic>
          <a:graphicData uri="http://schemas.openxmlformats.org/presentationml/2006/ole">
            <mc:AlternateContent xmlns:mc="http://schemas.openxmlformats.org/markup-compatibility/2006">
              <mc:Choice xmlns:v="urn:schemas-microsoft-com:vml" Requires="v">
                <p:oleObj spid="_x0000_s19479" name="" r:id="rId5" imgW="1752600" imgH="254000" progId="Equation.DSMT4">
                  <p:embed/>
                </p:oleObj>
              </mc:Choice>
              <mc:Fallback>
                <p:oleObj name="" r:id="rId5" imgW="1752600" imgH="2540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8080" y="2491740"/>
                        <a:ext cx="3328035" cy="482600"/>
                      </a:xfrm>
                      <a:prstGeom prst="rect">
                        <a:avLst/>
                      </a:prstGeom>
                      <a:noFill/>
                    </p:spPr>
                  </p:pic>
                </p:oleObj>
              </mc:Fallback>
            </mc:AlternateContent>
          </a:graphicData>
        </a:graphic>
      </p:graphicFrame>
      <p:sp>
        <p:nvSpPr>
          <p:cNvPr id="11" name="Rectangle 8"/>
          <p:cNvSpPr>
            <a:spLocks noChangeArrowheads="1"/>
          </p:cNvSpPr>
          <p:nvPr/>
        </p:nvSpPr>
        <p:spPr bwMode="auto">
          <a:xfrm>
            <a:off x="6941096" y="23461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 name="对象 11"/>
          <p:cNvGraphicFramePr>
            <a:graphicFrameLocks noChangeAspect="1"/>
          </p:cNvGraphicFramePr>
          <p:nvPr/>
        </p:nvGraphicFramePr>
        <p:xfrm>
          <a:off x="2484120" y="145415"/>
          <a:ext cx="6964045" cy="6440805"/>
        </p:xfrm>
        <a:graphic>
          <a:graphicData uri="http://schemas.openxmlformats.org/presentationml/2006/ole">
            <mc:AlternateContent xmlns:mc="http://schemas.openxmlformats.org/markup-compatibility/2006">
              <mc:Choice xmlns:v="urn:schemas-microsoft-com:vml" Requires="v">
                <p:oleObj spid="_x0000_s19480" name="Document" r:id="rId1" imgW="5076190" imgH="4685030" progId="Word.Document.8">
                  <p:embed/>
                </p:oleObj>
              </mc:Choice>
              <mc:Fallback>
                <p:oleObj name="Document" r:id="rId1" imgW="5076190" imgH="4685030" progId="Word.Document.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120" y="145415"/>
                        <a:ext cx="6964045" cy="64408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72945" y="777875"/>
            <a:ext cx="8778240" cy="1568450"/>
          </a:xfrm>
          <a:prstGeom prst="rect">
            <a:avLst/>
          </a:prstGeom>
        </p:spPr>
        <p:txBody>
          <a:bodyPr wrap="square">
            <a:spAutoFit/>
          </a:bodyPr>
          <a:lstStyle/>
          <a:p>
            <a:pPr algn="just">
              <a:spcAft>
                <a:spcPts val="0"/>
              </a:spcAft>
            </a:pPr>
            <a:r>
              <a:rPr lang="zh-CN" altLang="en-US" sz="2400" dirty="0">
                <a:latin typeface="楷体" panose="02010609060101010101" pitchFamily="49" charset="-122"/>
                <a:ea typeface="楷体" panose="02010609060101010101" pitchFamily="49" charset="-122"/>
              </a:rPr>
              <a:t>从上图中可以看出，</a:t>
            </a:r>
            <a:r>
              <a:rPr lang="en-US" altLang="zh-CN" sz="2400" dirty="0">
                <a:latin typeface="楷体" panose="02010609060101010101" pitchFamily="49" charset="-122"/>
                <a:ea typeface="楷体" panose="02010609060101010101" pitchFamily="49" charset="-122"/>
              </a:rPr>
              <a:t>age=“30-40”</a:t>
            </a:r>
            <a:r>
              <a:rPr lang="zh-CN" altLang="en-US" sz="2400" dirty="0">
                <a:latin typeface="楷体" panose="02010609060101010101" pitchFamily="49" charset="-122"/>
                <a:ea typeface="楷体" panose="02010609060101010101" pitchFamily="49" charset="-122"/>
              </a:rPr>
              <a:t>的子集样本的类别相同，均为</a:t>
            </a:r>
            <a:r>
              <a:rPr lang="en-US" altLang="zh-CN" sz="2400" dirty="0">
                <a:latin typeface="楷体" panose="02010609060101010101" pitchFamily="49" charset="-122"/>
                <a:ea typeface="楷体" panose="02010609060101010101" pitchFamily="49" charset="-122"/>
              </a:rPr>
              <a:t>Yes</a:t>
            </a:r>
            <a:r>
              <a:rPr lang="zh-CN" altLang="en-US" sz="2400" dirty="0">
                <a:latin typeface="楷体" panose="02010609060101010101" pitchFamily="49" charset="-122"/>
                <a:ea typeface="楷体" panose="02010609060101010101" pitchFamily="49" charset="-122"/>
              </a:rPr>
              <a:t>，故该节点将成为一个叶子节点，并且其类别标记为</a:t>
            </a:r>
            <a:r>
              <a:rPr lang="en-US" altLang="zh-CN" sz="2400" dirty="0">
                <a:latin typeface="楷体" panose="02010609060101010101" pitchFamily="49" charset="-122"/>
                <a:ea typeface="楷体" panose="02010609060101010101" pitchFamily="49" charset="-122"/>
              </a:rPr>
              <a:t>Yes</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gn="just">
              <a:spcAft>
                <a:spcPts val="0"/>
              </a:spcAft>
            </a:pPr>
            <a:r>
              <a:rPr lang="zh-CN" altLang="en-US" sz="2400" kern="100" dirty="0">
                <a:latin typeface="楷体" panose="02010609060101010101" pitchFamily="49" charset="-122"/>
                <a:ea typeface="楷体" panose="02010609060101010101" pitchFamily="49" charset="-122"/>
              </a:rPr>
              <a:t>接下来，对</a:t>
            </a:r>
            <a:r>
              <a:rPr lang="en-US" altLang="zh-CN" sz="2400" kern="100" dirty="0">
                <a:latin typeface="楷体" panose="02010609060101010101" pitchFamily="49" charset="-122"/>
                <a:ea typeface="楷体" panose="02010609060101010101" pitchFamily="49" charset="-122"/>
              </a:rPr>
              <a:t>age</a:t>
            </a:r>
            <a:r>
              <a:rPr lang="zh-CN" altLang="en-US" sz="2400" kern="100" dirty="0">
                <a:latin typeface="楷体" panose="02010609060101010101" pitchFamily="49" charset="-122"/>
                <a:ea typeface="楷体" panose="02010609060101010101" pitchFamily="49" charset="-122"/>
              </a:rPr>
              <a:t>节点的不纯分支子节点进一步完成与上述步骤类似的计算，最后得到的决策树如图所示。</a:t>
            </a:r>
            <a:endParaRPr lang="zh-CN" altLang="en-US" sz="2400" kern="100" dirty="0">
              <a:latin typeface="楷体" panose="02010609060101010101" pitchFamily="49" charset="-122"/>
              <a:ea typeface="楷体" panose="02010609060101010101" pitchFamily="49" charset="-122"/>
            </a:endParaRPr>
          </a:p>
        </p:txBody>
      </p:sp>
      <p:sp>
        <p:nvSpPr>
          <p:cNvPr id="11" name="Rectangle 8"/>
          <p:cNvSpPr>
            <a:spLocks noChangeArrowheads="1"/>
          </p:cNvSpPr>
          <p:nvPr/>
        </p:nvSpPr>
        <p:spPr bwMode="auto">
          <a:xfrm>
            <a:off x="6941096" y="23461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1664246" y="252380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175510" y="2199640"/>
          <a:ext cx="8307070" cy="4118610"/>
        </p:xfrm>
        <a:graphic>
          <a:graphicData uri="http://schemas.openxmlformats.org/presentationml/2006/ole">
            <mc:AlternateContent xmlns:mc="http://schemas.openxmlformats.org/markup-compatibility/2006">
              <mc:Choice xmlns:v="urn:schemas-microsoft-com:vml" Requires="v">
                <p:oleObj spid="_x0000_s20486" name="Document" r:id="rId1" imgW="5276215" imgH="2622550" progId="Word.Document.8">
                  <p:embed/>
                </p:oleObj>
              </mc:Choice>
              <mc:Fallback>
                <p:oleObj name="Document" r:id="rId1" imgW="5276215" imgH="262255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5510" y="2199640"/>
                        <a:ext cx="8307070" cy="4118610"/>
                      </a:xfrm>
                      <a:prstGeom prst="rect">
                        <a:avLst/>
                      </a:prstGeom>
                      <a:noFill/>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4.4 ID3</a:t>
            </a:r>
            <a:r>
              <a:rPr lang="zh-CN" altLang="en-US" dirty="0">
                <a:latin typeface="楷体" panose="02010609060101010101" pitchFamily="49" charset="-122"/>
                <a:ea typeface="楷体" panose="02010609060101010101" pitchFamily="49" charset="-122"/>
              </a:rPr>
              <a:t>算法源程序分析</a:t>
            </a:r>
            <a:endParaRPr lang="zh-CN" altLang="zh-CN" b="1" dirty="0">
              <a:latin typeface="楷体" panose="02010609060101010101" pitchFamily="49" charset="-122"/>
              <a:ea typeface="楷体" panose="02010609060101010101" pitchFamily="49" charset="-122"/>
            </a:endParaRPr>
          </a:p>
        </p:txBody>
      </p:sp>
      <p:sp>
        <p:nvSpPr>
          <p:cNvPr id="7" name="内容占位符 8"/>
          <p:cNvSpPr>
            <a:spLocks noGrp="1"/>
          </p:cNvSpPr>
          <p:nvPr>
            <p:ph idx="1"/>
          </p:nvPr>
        </p:nvSpPr>
        <p:spPr>
          <a:xfrm>
            <a:off x="1840832" y="2194240"/>
            <a:ext cx="8163307" cy="485515"/>
          </a:xfrm>
        </p:spPr>
        <p:txBody>
          <a:bodyPr>
            <a:noAutofit/>
          </a:bodyPr>
          <a:lstStyle/>
          <a:p>
            <a:r>
              <a:rPr lang="zh-CN" altLang="en-US" sz="2800" dirty="0">
                <a:latin typeface="楷体" panose="02010609060101010101" pitchFamily="49" charset="-122"/>
                <a:ea typeface="楷体" panose="02010609060101010101" pitchFamily="49" charset="-122"/>
              </a:rPr>
              <a:t>见</a:t>
            </a:r>
            <a:r>
              <a:rPr lang="en-US" altLang="zh-CN" sz="2800" dirty="0">
                <a:latin typeface="楷体" panose="02010609060101010101" pitchFamily="49" charset="-122"/>
                <a:ea typeface="楷体" panose="02010609060101010101" pitchFamily="49" charset="-122"/>
              </a:rPr>
              <a:t>64</a:t>
            </a:r>
            <a:r>
              <a:rPr lang="zh-CN" altLang="en-US" sz="2800" dirty="0">
                <a:latin typeface="楷体" panose="02010609060101010101" pitchFamily="49" charset="-122"/>
                <a:ea typeface="楷体" panose="02010609060101010101" pitchFamily="49" charset="-122"/>
              </a:rPr>
              <a:t>页</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8"/>
          <p:cNvSpPr>
            <a:spLocks noGrp="1"/>
          </p:cNvSpPr>
          <p:nvPr>
            <p:ph idx="1"/>
          </p:nvPr>
        </p:nvSpPr>
        <p:spPr>
          <a:xfrm>
            <a:off x="1576137" y="1255777"/>
            <a:ext cx="8163307" cy="485515"/>
          </a:xfrm>
        </p:spPr>
        <p:txBody>
          <a:bodyPr>
            <a:normAutofit/>
          </a:bodyPr>
          <a:lstStyle/>
          <a:p>
            <a:r>
              <a:rPr lang="zh-CN" altLang="en-US" sz="2400" dirty="0">
                <a:latin typeface="楷体" panose="02010609060101010101" pitchFamily="49" charset="-122"/>
                <a:ea typeface="楷体" panose="02010609060101010101" pitchFamily="49" charset="-122"/>
              </a:rPr>
              <a:t>运行结果如图所示</a:t>
            </a:r>
            <a:endParaRPr lang="zh-CN" altLang="en-US" sz="2400" dirty="0">
              <a:latin typeface="楷体" panose="02010609060101010101" pitchFamily="49" charset="-122"/>
              <a:ea typeface="楷体" panose="02010609060101010101" pitchFamily="49" charset="-122"/>
            </a:endParaRPr>
          </a:p>
        </p:txBody>
      </p:sp>
      <p:pic>
        <p:nvPicPr>
          <p:cNvPr id="9" name="图片 8"/>
          <p:cNvPicPr/>
          <p:nvPr/>
        </p:nvPicPr>
        <p:blipFill>
          <a:blip r:embed="rId1">
            <a:extLst>
              <a:ext uri="{28A0092B-C50C-407E-A947-70E740481C1C}">
                <a14:useLocalDpi xmlns:a14="http://schemas.microsoft.com/office/drawing/2010/main" val="0"/>
              </a:ext>
            </a:extLst>
          </a:blip>
          <a:stretch>
            <a:fillRect/>
          </a:stretch>
        </p:blipFill>
        <p:spPr>
          <a:xfrm>
            <a:off x="2769870" y="1741805"/>
            <a:ext cx="6969760" cy="4445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8"/>
          <p:cNvSpPr>
            <a:spLocks noGrp="1"/>
          </p:cNvSpPr>
          <p:nvPr>
            <p:ph idx="1"/>
          </p:nvPr>
        </p:nvSpPr>
        <p:spPr>
          <a:xfrm>
            <a:off x="2438467" y="522987"/>
            <a:ext cx="8163307" cy="5349560"/>
          </a:xfrm>
        </p:spPr>
        <p:txBody>
          <a:bodyPr>
            <a:noAutofit/>
          </a:bodyPr>
          <a:lstStyle/>
          <a:p>
            <a:pPr marL="0" indent="0">
              <a:buNone/>
            </a:pPr>
            <a:r>
              <a:rPr lang="zh-CN" altLang="en-US" sz="2400" dirty="0">
                <a:latin typeface="楷体" panose="02010609060101010101" pitchFamily="49" charset="-122"/>
                <a:ea typeface="楷体" panose="02010609060101010101" pitchFamily="49" charset="-122"/>
              </a:rPr>
              <a:t>输入的训练数据如下</a:t>
            </a:r>
            <a:r>
              <a:rPr lang="zh-CN" altLang="en-US"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Day Outlook Temperature Humidity Wind </a:t>
            </a:r>
            <a:r>
              <a:rPr lang="en-US" altLang="zh-CN" sz="1600" dirty="0" err="1">
                <a:latin typeface="楷体" panose="02010609060101010101" pitchFamily="49" charset="-122"/>
                <a:ea typeface="楷体" panose="02010609060101010101" pitchFamily="49" charset="-122"/>
              </a:rPr>
              <a:t>PlayTennis</a:t>
            </a:r>
            <a:r>
              <a:rPr lang="en-US" altLang="zh-CN" sz="1600" dirty="0">
                <a:latin typeface="楷体" panose="02010609060101010101" pitchFamily="49" charset="-122"/>
                <a:ea typeface="楷体" panose="02010609060101010101" pitchFamily="49" charset="-122"/>
              </a:rPr>
              <a:t>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1 Sunny Hot High Weak no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2 Sunny Hot High Strong no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3 Overcast Hot High Weak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4 Rainy Mild High Weak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5 Rainy Cool Normal Weak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6 Rainy Cool Normal Strong no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7 Overcast Cool Normal Strong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8 Sunny Mild High Weak no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9 Sunny Cool Normal Weak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10 Rainy Mild Normal Weak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11 Sunny Mild Normal Strong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12 Overcast Mild High Strong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13 Overcast Hot Normal Weak yes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14 Rainy Mild High Strong no  </a:t>
            </a:r>
            <a:endParaRPr lang="en-US" altLang="zh-CN" sz="1600" dirty="0">
              <a:latin typeface="楷体" panose="02010609060101010101" pitchFamily="49" charset="-122"/>
              <a:ea typeface="楷体" panose="02010609060101010101" pitchFamily="49" charset="-122"/>
            </a:endParaRPr>
          </a:p>
          <a:p>
            <a:pPr marL="0" indent="0">
              <a:buNone/>
            </a:pPr>
            <a:r>
              <a:rPr lang="en-US" altLang="zh-CN" sz="1600" dirty="0">
                <a:latin typeface="楷体" panose="02010609060101010101" pitchFamily="49" charset="-122"/>
                <a:ea typeface="楷体" panose="02010609060101010101" pitchFamily="49" charset="-122"/>
              </a:rPr>
              <a:t>end </a:t>
            </a:r>
            <a:endParaRPr lang="en-US" altLang="zh-CN" sz="1600" dirty="0">
              <a:latin typeface="楷体" panose="02010609060101010101" pitchFamily="49" charset="-122"/>
              <a:ea typeface="楷体" panose="02010609060101010101" pitchFamily="49" charset="-122"/>
            </a:endParaRPr>
          </a:p>
          <a:p>
            <a:pPr marL="0" indent="0">
              <a:buNone/>
            </a:pPr>
            <a:endParaRPr lang="en-US" altLang="zh-CN" sz="1600" dirty="0">
              <a:latin typeface="楷体" panose="02010609060101010101" pitchFamily="49" charset="-122"/>
              <a:ea typeface="楷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8"/>
          <p:cNvSpPr>
            <a:spLocks noGrp="1"/>
          </p:cNvSpPr>
          <p:nvPr>
            <p:ph idx="1"/>
          </p:nvPr>
        </p:nvSpPr>
        <p:spPr>
          <a:xfrm>
            <a:off x="1576070" y="695960"/>
            <a:ext cx="8475980" cy="2441575"/>
          </a:xfrm>
        </p:spPr>
        <p:txBody>
          <a:bodyPr>
            <a:noAutofit/>
          </a:bodyPr>
          <a:lstStyle/>
          <a:p>
            <a:pPr marL="0" indent="0">
              <a:buNone/>
            </a:pPr>
            <a:r>
              <a:rPr lang="zh-CN" altLang="en-US" sz="2400" dirty="0">
                <a:latin typeface="楷体" panose="02010609060101010101" pitchFamily="49" charset="-122"/>
                <a:ea typeface="楷体" panose="02010609060101010101" pitchFamily="49" charset="-122"/>
              </a:rPr>
              <a:t>首先保存首行即属性行数据，存储属性对应的所有的值，根据数据实例计算属性与值组成的</a:t>
            </a:r>
            <a:r>
              <a:rPr lang="en-US" altLang="zh-CN" sz="2400" dirty="0">
                <a:latin typeface="楷体" panose="02010609060101010101" pitchFamily="49" charset="-122"/>
                <a:ea typeface="楷体" panose="02010609060101010101" pitchFamily="49" charset="-122"/>
              </a:rPr>
              <a:t>map</a:t>
            </a:r>
            <a:r>
              <a:rPr lang="zh-CN" altLang="en-US" sz="2400" dirty="0">
                <a:latin typeface="楷体" panose="02010609060101010101" pitchFamily="49" charset="-122"/>
                <a:ea typeface="楷体" panose="02010609060101010101" pitchFamily="49" charset="-122"/>
              </a:rPr>
              <a:t>。检测所有的属性，根据具体属性和值来计算熵，选择信息增益最大的属性产生决策树结点，由该属性的不同取值建立分支，再对各分支的子集递归调用该方法，求做划分后各个值的熵，建立决策树结点的分支，直到所有子集仅包含同一类别的数据为止。最后得到一棵决策树如图所示，它可以用来对新的样本进行分类。</a:t>
            </a:r>
            <a:endParaRPr lang="zh-CN" altLang="en-US" sz="2400" dirty="0">
              <a:latin typeface="楷体" panose="02010609060101010101" pitchFamily="49" charset="-122"/>
              <a:ea typeface="楷体" panose="02010609060101010101" pitchFamily="49" charset="-122"/>
            </a:endParaRPr>
          </a:p>
        </p:txBody>
      </p:sp>
      <p:sp>
        <p:nvSpPr>
          <p:cNvPr id="5" name="Rectangle 4"/>
          <p:cNvSpPr>
            <a:spLocks noChangeArrowheads="1"/>
          </p:cNvSpPr>
          <p:nvPr/>
        </p:nvSpPr>
        <p:spPr bwMode="auto">
          <a:xfrm>
            <a:off x="2622883" y="3092115"/>
            <a:ext cx="1295414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2213610" y="3091815"/>
          <a:ext cx="7030085" cy="3502025"/>
        </p:xfrm>
        <a:graphic>
          <a:graphicData uri="http://schemas.openxmlformats.org/presentationml/2006/ole">
            <mc:AlternateContent xmlns:mc="http://schemas.openxmlformats.org/markup-compatibility/2006">
              <mc:Choice xmlns:v="urn:schemas-microsoft-com:vml" Requires="v">
                <p:oleObj spid="_x0000_s21512" name="Document" r:id="rId1" imgW="5276215" imgH="2622550" progId="Word.Document.8">
                  <p:embed/>
                </p:oleObj>
              </mc:Choice>
              <mc:Fallback>
                <p:oleObj name="Document" r:id="rId1" imgW="5276215" imgH="262255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610" y="3091815"/>
                        <a:ext cx="7030085" cy="3502025"/>
                      </a:xfrm>
                      <a:prstGeom prst="rect">
                        <a:avLst/>
                      </a:prstGeom>
                      <a:noFill/>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840827" y="1485833"/>
            <a:ext cx="8163307" cy="485515"/>
          </a:xfrm>
        </p:spPr>
        <p:txBody>
          <a:bodyPr>
            <a:noAutofit/>
          </a:bodyPr>
          <a:lstStyle/>
          <a:p>
            <a:r>
              <a:rPr lang="en-US" altLang="zh-CN" sz="2400" dirty="0">
                <a:latin typeface="楷体" panose="02010609060101010101" pitchFamily="49" charset="-122"/>
                <a:ea typeface="楷体" panose="02010609060101010101" pitchFamily="49" charset="-122"/>
              </a:rPr>
              <a:t>4.5.1 ID3</a:t>
            </a:r>
            <a:r>
              <a:rPr lang="zh-CN" altLang="en-US" sz="2400" dirty="0">
                <a:latin typeface="楷体" panose="02010609060101010101" pitchFamily="49" charset="-122"/>
                <a:ea typeface="楷体" panose="02010609060101010101" pitchFamily="49" charset="-122"/>
              </a:rPr>
              <a:t>算法特点</a:t>
            </a:r>
            <a:endParaRPr lang="zh-CN" altLang="zh-CN" sz="2400" dirty="0">
              <a:latin typeface="楷体" panose="02010609060101010101" pitchFamily="49" charset="-122"/>
              <a:ea typeface="楷体" panose="02010609060101010101" pitchFamily="49" charset="-122"/>
            </a:endParaRPr>
          </a:p>
        </p:txBody>
      </p:sp>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4.5 ID3</a:t>
            </a:r>
            <a:r>
              <a:rPr lang="zh-CN" altLang="en-US" dirty="0">
                <a:latin typeface="楷体" panose="02010609060101010101" pitchFamily="49" charset="-122"/>
                <a:ea typeface="楷体" panose="02010609060101010101" pitchFamily="49" charset="-122"/>
              </a:rPr>
              <a:t>算法特点及应用</a:t>
            </a:r>
            <a:endParaRPr lang="zh-CN" altLang="zh-CN" b="1" dirty="0">
              <a:latin typeface="楷体" panose="02010609060101010101" pitchFamily="49" charset="-122"/>
              <a:ea typeface="楷体" panose="02010609060101010101" pitchFamily="49" charset="-122"/>
            </a:endParaRPr>
          </a:p>
        </p:txBody>
      </p:sp>
      <p:sp>
        <p:nvSpPr>
          <p:cNvPr id="2" name="矩形 1"/>
          <p:cNvSpPr/>
          <p:nvPr/>
        </p:nvSpPr>
        <p:spPr>
          <a:xfrm>
            <a:off x="2014220" y="2172970"/>
            <a:ext cx="8492490" cy="4154170"/>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ID3</a:t>
            </a:r>
            <a:r>
              <a:rPr lang="zh-CN" altLang="zh-CN" sz="2400" dirty="0">
                <a:latin typeface="楷体" panose="02010609060101010101" pitchFamily="49" charset="-122"/>
                <a:ea typeface="楷体" panose="02010609060101010101" pitchFamily="49" charset="-122"/>
              </a:rPr>
              <a:t>算法的优点是：算法的理论清晰，方法简单，学习能力较强。</a:t>
            </a:r>
            <a:endParaRPr lang="zh-CN"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ID3</a:t>
            </a:r>
            <a:r>
              <a:rPr lang="zh-CN" altLang="zh-CN" sz="2400" dirty="0">
                <a:latin typeface="楷体" panose="02010609060101010101" pitchFamily="49" charset="-122"/>
                <a:ea typeface="楷体" panose="02010609060101010101" pitchFamily="49" charset="-122"/>
              </a:rPr>
              <a:t>算法的缺点是： </a:t>
            </a:r>
            <a:endParaRPr lang="zh-CN" altLang="zh-CN" sz="2400" dirty="0">
              <a:latin typeface="楷体" panose="02010609060101010101" pitchFamily="49" charset="-122"/>
              <a:ea typeface="楷体" panose="02010609060101010101" pitchFamily="49" charset="-122"/>
            </a:endParaRPr>
          </a:p>
          <a:p>
            <a:pPr lvl="1"/>
            <a:r>
              <a:rPr lang="en-US" altLang="zh-CN" sz="2400" dirty="0">
                <a:latin typeface="楷体" panose="02010609060101010101" pitchFamily="49" charset="-122"/>
                <a:ea typeface="楷体" panose="02010609060101010101" pitchFamily="49" charset="-122"/>
              </a:rPr>
              <a:t>1. </a:t>
            </a:r>
            <a:r>
              <a:rPr lang="zh-CN" altLang="zh-CN" sz="2400" dirty="0">
                <a:latin typeface="楷体" panose="02010609060101010101" pitchFamily="49" charset="-122"/>
                <a:ea typeface="楷体" panose="02010609060101010101" pitchFamily="49" charset="-122"/>
              </a:rPr>
              <a:t>信息增益的计算依赖于特征数目较多的特征，而属性取值最多的属性并不一定最优。</a:t>
            </a:r>
            <a:r>
              <a:rPr lang="en-US" altLang="zh-CN" sz="2400" dirty="0">
                <a:latin typeface="楷体" panose="02010609060101010101" pitchFamily="49" charset="-122"/>
                <a:ea typeface="楷体" panose="02010609060101010101" pitchFamily="49" charset="-122"/>
              </a:rPr>
              <a:t>  </a:t>
            </a:r>
            <a:endParaRPr lang="zh-CN" altLang="zh-CN" sz="2400" dirty="0">
              <a:latin typeface="楷体" panose="02010609060101010101" pitchFamily="49" charset="-122"/>
              <a:ea typeface="楷体" panose="02010609060101010101" pitchFamily="49" charset="-122"/>
            </a:endParaRPr>
          </a:p>
          <a:p>
            <a:pPr lvl="1"/>
            <a:r>
              <a:rPr lang="en-US" altLang="zh-CN" sz="2400" dirty="0">
                <a:latin typeface="楷体" panose="02010609060101010101" pitchFamily="49" charset="-122"/>
                <a:ea typeface="楷体" panose="02010609060101010101" pitchFamily="49" charset="-122"/>
              </a:rPr>
              <a:t>  </a:t>
            </a:r>
            <a:endParaRPr lang="zh-CN" altLang="zh-CN" sz="2400" dirty="0">
              <a:latin typeface="楷体" panose="02010609060101010101" pitchFamily="49" charset="-122"/>
              <a:ea typeface="楷体" panose="02010609060101010101" pitchFamily="49" charset="-122"/>
            </a:endParaRPr>
          </a:p>
          <a:p>
            <a:pPr lvl="1"/>
            <a:r>
              <a:rPr lang="en-US" altLang="zh-CN" sz="2400" dirty="0">
                <a:latin typeface="楷体" panose="02010609060101010101" pitchFamily="49" charset="-122"/>
                <a:ea typeface="楷体" panose="02010609060101010101" pitchFamily="49" charset="-122"/>
              </a:rPr>
              <a:t>2</a:t>
            </a:r>
            <a:r>
              <a:rPr lang="en-US" altLang="zh-CN" sz="2400" dirty="0">
                <a:latin typeface="楷体" panose="02010609060101010101" pitchFamily="49" charset="-122"/>
                <a:ea typeface="楷体" panose="02010609060101010101" pitchFamily="49" charset="-122"/>
              </a:rPr>
              <a:t>. ID3</a:t>
            </a:r>
            <a:r>
              <a:rPr lang="zh-CN" altLang="zh-CN" sz="2400" dirty="0">
                <a:latin typeface="楷体" panose="02010609060101010101" pitchFamily="49" charset="-122"/>
                <a:ea typeface="楷体" panose="02010609060101010101" pitchFamily="49" charset="-122"/>
              </a:rPr>
              <a:t>是单变量决策树</a:t>
            </a:r>
            <a:r>
              <a:rPr lang="en-US" altLang="zh-CN"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在分枝节点上只考虑单个属性</a:t>
            </a:r>
            <a:r>
              <a:rPr lang="en-US" altLang="zh-CN"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，许多复杂概念的表达困难，属性相互关系强调不够，容易导致决策树中子树的重复或有些属性在决策树的某一路径上被检验多次。</a:t>
            </a:r>
            <a:endParaRPr lang="zh-CN" altLang="zh-CN" sz="2400" dirty="0">
              <a:latin typeface="楷体" panose="02010609060101010101" pitchFamily="49" charset="-122"/>
              <a:ea typeface="楷体" panose="02010609060101010101" pitchFamily="49" charset="-122"/>
            </a:endParaRPr>
          </a:p>
          <a:p>
            <a:pPr lvl="1"/>
            <a:r>
              <a:rPr lang="en-US" altLang="zh-CN" sz="2400" dirty="0">
                <a:latin typeface="楷体" panose="02010609060101010101" pitchFamily="49" charset="-122"/>
                <a:ea typeface="楷体" panose="02010609060101010101" pitchFamily="49" charset="-122"/>
              </a:rPr>
              <a:t>4. </a:t>
            </a:r>
            <a:r>
              <a:rPr lang="zh-CN" altLang="zh-CN" sz="2400" dirty="0">
                <a:latin typeface="楷体" panose="02010609060101010101" pitchFamily="49" charset="-122"/>
                <a:ea typeface="楷体" panose="02010609060101010101" pitchFamily="49" charset="-122"/>
              </a:rPr>
              <a:t>抗噪性差，训练例子中正例和反例的比例较难控制</a:t>
            </a:r>
            <a:endParaRPr lang="zh-CN" altLang="zh-CN" sz="2400" kern="100" dirty="0">
              <a:latin typeface="楷体" panose="02010609060101010101" pitchFamily="49" charset="-122"/>
              <a:ea typeface="楷体" panose="02010609060101010101"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46910" y="646430"/>
            <a:ext cx="9557385" cy="5264785"/>
          </a:xfrm>
        </p:spPr>
        <p:txBody>
          <a:bodyPr/>
          <a:p>
            <a:pPr algn="just" eaLnBrk="1" hangingPunct="1"/>
            <a:r>
              <a:rPr lang="en-US" altLang="zh-CN" sz="2400" b="1" dirty="0">
                <a:sym typeface="+mn-ea"/>
              </a:rPr>
              <a:t>ID3</a:t>
            </a:r>
            <a:r>
              <a:rPr lang="zh-CN" altLang="en-US" sz="2400" b="1" dirty="0">
                <a:sym typeface="+mn-ea"/>
              </a:rPr>
              <a:t>算法只能处理分类属性（离散属性），而不能处理连续属性（数值属性）。</a:t>
            </a:r>
            <a:endParaRPr lang="zh-CN" altLang="en-US" sz="2400" b="1" dirty="0"/>
          </a:p>
          <a:p>
            <a:pPr algn="just" eaLnBrk="1" hangingPunct="1"/>
            <a:r>
              <a:rPr lang="en-US" altLang="zh-CN" sz="2400" b="1" dirty="0">
                <a:sym typeface="+mn-ea"/>
              </a:rPr>
              <a:t>ID3</a:t>
            </a:r>
            <a:r>
              <a:rPr lang="zh-CN" altLang="en-US" sz="2400" b="1" dirty="0">
                <a:sym typeface="+mn-ea"/>
              </a:rPr>
              <a:t>生成的决策树是一棵多叉树，分支的数量取决于分裂属性有多少个不同的取值。这不利于处理分裂属性取值数目较多的情况。因此目前流行的决策树算法大多采用二叉树模型。</a:t>
            </a:r>
            <a:endParaRPr lang="zh-CN" altLang="en-US" sz="2400" b="1" dirty="0"/>
          </a:p>
          <a:p>
            <a:endParaRPr lang="zh-CN" altLang="en-US" sz="240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4.5.2 ID3</a:t>
            </a:r>
            <a:r>
              <a:rPr lang="zh-CN" altLang="en-US" dirty="0">
                <a:latin typeface="楷体" panose="02010609060101010101" pitchFamily="49" charset="-122"/>
                <a:ea typeface="楷体" panose="02010609060101010101" pitchFamily="49" charset="-122"/>
              </a:rPr>
              <a:t>算法应用</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2091183" y="1813123"/>
            <a:ext cx="8163307" cy="4154170"/>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算法在汽车售后服务中的应用。据调查，国外汽车的</a:t>
            </a:r>
            <a:r>
              <a:rPr lang="en-US" altLang="zh-CN" sz="2400" dirty="0">
                <a:latin typeface="楷体" panose="02010609060101010101" pitchFamily="49" charset="-122"/>
                <a:ea typeface="楷体" panose="02010609060101010101" pitchFamily="49" charset="-122"/>
              </a:rPr>
              <a:t>80%</a:t>
            </a:r>
            <a:r>
              <a:rPr lang="zh-CN" altLang="en-US" sz="2400" dirty="0">
                <a:latin typeface="楷体" panose="02010609060101010101" pitchFamily="49" charset="-122"/>
                <a:ea typeface="楷体" panose="02010609060101010101" pitchFamily="49" charset="-122"/>
              </a:rPr>
              <a:t>的利润是由售后服务得到，而整车销售只占总利润的 </a:t>
            </a:r>
            <a:r>
              <a:rPr lang="en-US" altLang="zh-CN" sz="2400" dirty="0">
                <a:latin typeface="楷体" panose="02010609060101010101" pitchFamily="49" charset="-122"/>
                <a:ea typeface="楷体" panose="02010609060101010101" pitchFamily="49" charset="-122"/>
              </a:rPr>
              <a:t>20%</a:t>
            </a:r>
            <a:r>
              <a:rPr lang="zh-CN" altLang="en-US" sz="2400" dirty="0">
                <a:latin typeface="楷体" panose="02010609060101010101" pitchFamily="49" charset="-122"/>
                <a:ea typeface="楷体" panose="02010609060101010101" pitchFamily="49" charset="-122"/>
              </a:rPr>
              <a:t>，因此很多公司都努力提高汽车售后服务水平。而随着数据库的多年使用，在日益竞争激烈的汽车行业里，汽车售后服务商存有大量的客户数据。如何提高汽车售后服务水平，发现客户的需求和服务中的一些规律，这些将成为汽车售后服务企业关心和重视的问题，鉴于此种情况，利用数据挖掘技术</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算法，根据汽车售后服务业客户消费行为特征对客户进行细分及客户特征分析，把大量的客户按照标准分成不同的类。最终根据客户的类别属性特征，为不同的类型的客户制定不同营销策略，从而为企业获得较高的利润。</a:t>
            </a:r>
            <a:endParaRPr lang="zh-CN" altLang="en-US" sz="2400" kern="100" dirty="0">
              <a:latin typeface="楷体" panose="02010609060101010101" pitchFamily="49" charset="-122"/>
              <a:ea typeface="楷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64005" y="1420495"/>
            <a:ext cx="10199370" cy="4523105"/>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算法在</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选点预测系统中的应用。自动柜员机</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作为银行为客户提供服务的窗口，其快捷有效的自助方式，早己被国内金融机构及客户所广泛认可。在中国，金融自助服务具有巨大的增长潜力。金融业在布放</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时需要在满足用户需要的基础上保证银行收益最大化，最大限度地提高</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利用率。而现有</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的布点并不完全合理。有些区域</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网点的密度过大，很容易加剧竞争，造成效率低下；有些区域</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网点的密度反而过小，有些大银行在一些区域存在着网点空白区，不能为客户提供更好的服务。因此如何合理和有效地布放</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已成为银行有待解决的问题。利用数据挖掘技术和面向属性归纳以及分类决策树的</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算法，可以挖掘以往积累的 </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部署区域信息，发现累计取款量大、次数多和查询次数高的</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部署点的特征。通过分析数据，建立选点模型，可以找出利用率高的</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地区的特征，可作为金融机构部署</a:t>
            </a:r>
            <a:r>
              <a:rPr lang="en-US" altLang="zh-CN" sz="2400" dirty="0">
                <a:latin typeface="楷体" panose="02010609060101010101" pitchFamily="49" charset="-122"/>
                <a:ea typeface="楷体" panose="02010609060101010101" pitchFamily="49" charset="-122"/>
              </a:rPr>
              <a:t>ATM</a:t>
            </a:r>
            <a:r>
              <a:rPr lang="zh-CN" altLang="en-US" sz="2400" dirty="0">
                <a:latin typeface="楷体" panose="02010609060101010101" pitchFamily="49" charset="-122"/>
                <a:ea typeface="楷体" panose="02010609060101010101" pitchFamily="49" charset="-122"/>
              </a:rPr>
              <a:t>的参考。</a:t>
            </a:r>
            <a:endParaRPr lang="zh-CN" altLang="en-US" sz="2400" kern="100" dirty="0">
              <a:latin typeface="楷体" panose="02010609060101010101" pitchFamily="49" charset="-122"/>
              <a:ea typeface="楷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840827" y="1341688"/>
            <a:ext cx="8163307" cy="485515"/>
          </a:xfrm>
        </p:spPr>
        <p:txBody>
          <a:bodyPr>
            <a:noAutofit/>
          </a:bodyPr>
          <a:lstStyle/>
          <a:p>
            <a:r>
              <a:rPr lang="en-US" altLang="zh-CN" sz="2400" b="1" dirty="0">
                <a:latin typeface="楷体" panose="02010609060101010101" pitchFamily="49" charset="-122"/>
                <a:ea typeface="楷体" panose="02010609060101010101" pitchFamily="49" charset="-122"/>
              </a:rPr>
              <a:t>4.6.1 C4.5</a:t>
            </a:r>
            <a:r>
              <a:rPr lang="zh-CN" altLang="en-US" sz="2400" b="1" dirty="0">
                <a:latin typeface="楷体" panose="02010609060101010101" pitchFamily="49" charset="-122"/>
                <a:ea typeface="楷体" panose="02010609060101010101" pitchFamily="49" charset="-122"/>
              </a:rPr>
              <a:t>算法</a:t>
            </a:r>
            <a:endParaRPr lang="zh-CN" altLang="zh-CN" sz="2400" b="1" dirty="0">
              <a:latin typeface="楷体" panose="02010609060101010101" pitchFamily="49" charset="-122"/>
              <a:ea typeface="楷体" panose="02010609060101010101" pitchFamily="49" charset="-122"/>
            </a:endParaRPr>
          </a:p>
        </p:txBody>
      </p:sp>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4.6</a:t>
            </a:r>
            <a:r>
              <a:rPr lang="zh-CN" altLang="en-US" dirty="0">
                <a:latin typeface="楷体" panose="02010609060101010101" pitchFamily="49" charset="-122"/>
                <a:ea typeface="楷体" panose="02010609060101010101" pitchFamily="49" charset="-122"/>
              </a:rPr>
              <a:t>决策树分类算法</a:t>
            </a:r>
            <a:r>
              <a:rPr lang="en-US" altLang="zh-CN" dirty="0">
                <a:latin typeface="楷体" panose="02010609060101010101" pitchFamily="49" charset="-122"/>
                <a:ea typeface="楷体" panose="02010609060101010101" pitchFamily="49" charset="-122"/>
              </a:rPr>
              <a:t>-C4.5</a:t>
            </a:r>
            <a:r>
              <a:rPr lang="zh-CN" altLang="en-US" dirty="0">
                <a:latin typeface="楷体" panose="02010609060101010101" pitchFamily="49" charset="-122"/>
                <a:ea typeface="楷体" panose="02010609060101010101" pitchFamily="49" charset="-122"/>
              </a:rPr>
              <a:t>算法原理</a:t>
            </a:r>
            <a:endParaRPr lang="zh-CN" altLang="zh-CN" b="1" dirty="0">
              <a:latin typeface="楷体" panose="02010609060101010101" pitchFamily="49" charset="-122"/>
              <a:ea typeface="楷体" panose="02010609060101010101" pitchFamily="49" charset="-122"/>
            </a:endParaRPr>
          </a:p>
        </p:txBody>
      </p:sp>
      <p:sp>
        <p:nvSpPr>
          <p:cNvPr id="2" name="矩形 1"/>
          <p:cNvSpPr/>
          <p:nvPr/>
        </p:nvSpPr>
        <p:spPr>
          <a:xfrm>
            <a:off x="1840865" y="1827530"/>
            <a:ext cx="9494520" cy="489267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上面已经提到，</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还存在着许多需要改进的地方，为此，</a:t>
            </a:r>
            <a:r>
              <a:rPr lang="en-US" altLang="zh-CN" sz="2400" dirty="0">
                <a:latin typeface="楷体" panose="02010609060101010101" pitchFamily="49" charset="-122"/>
                <a:ea typeface="楷体" panose="02010609060101010101" pitchFamily="49" charset="-122"/>
              </a:rPr>
              <a:t>Quinlan</a:t>
            </a:r>
            <a:r>
              <a:rPr lang="zh-CN" altLang="en-US" sz="2400" dirty="0">
                <a:latin typeface="楷体" panose="02010609060101010101" pitchFamily="49" charset="-122"/>
                <a:ea typeface="楷体" panose="02010609060101010101" pitchFamily="49" charset="-122"/>
              </a:rPr>
              <a:t>在</a:t>
            </a:r>
            <a:r>
              <a:rPr lang="en-US" altLang="zh-CN" sz="2400" dirty="0">
                <a:latin typeface="楷体" panose="02010609060101010101" pitchFamily="49" charset="-122"/>
                <a:ea typeface="楷体" panose="02010609060101010101" pitchFamily="49" charset="-122"/>
              </a:rPr>
              <a:t>1993</a:t>
            </a:r>
            <a:r>
              <a:rPr lang="zh-CN" altLang="en-US" sz="2400" dirty="0">
                <a:latin typeface="楷体" panose="02010609060101010101" pitchFamily="49" charset="-122"/>
                <a:ea typeface="楷体" panose="02010609060101010101" pitchFamily="49" charset="-122"/>
              </a:rPr>
              <a:t>年提出了</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的改进版本</a:t>
            </a:r>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a:t>
            </a:r>
            <a:r>
              <a:rPr lang="en-US" altLang="zh-CN" sz="2400" dirty="0">
                <a:latin typeface="楷体" panose="02010609060101010101" pitchFamily="49" charset="-122"/>
                <a:ea typeface="楷体" panose="02010609060101010101" pitchFamily="49" charset="-122"/>
              </a:rPr>
              <a:t>Quinlan,1993</a:t>
            </a:r>
            <a:r>
              <a:rPr lang="zh-CN" altLang="en-US" sz="2400" dirty="0">
                <a:latin typeface="楷体" panose="02010609060101010101" pitchFamily="49" charset="-122"/>
                <a:ea typeface="楷体" panose="02010609060101010101" pitchFamily="49" charset="-122"/>
              </a:rPr>
              <a:t>）。它与</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算法的不同点包括：</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）分支指标采用</a:t>
            </a:r>
            <a:r>
              <a:rPr lang="zh-CN" altLang="en-US" sz="2400" b="1" dirty="0">
                <a:solidFill>
                  <a:srgbClr val="FF0000"/>
                </a:solidFill>
                <a:latin typeface="楷体" panose="02010609060101010101" pitchFamily="49" charset="-122"/>
                <a:ea typeface="楷体" panose="02010609060101010101" pitchFamily="49" charset="-122"/>
              </a:rPr>
              <a:t>增益比例</a:t>
            </a:r>
            <a:r>
              <a:rPr lang="zh-CN" altLang="en-US" sz="2400" dirty="0">
                <a:latin typeface="楷体" panose="02010609060101010101" pitchFamily="49" charset="-122"/>
                <a:ea typeface="楷体" panose="02010609060101010101" pitchFamily="49" charset="-122"/>
              </a:rPr>
              <a:t>，而不是</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所使用的信息增益；</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）按照数值属性值的大小对样本排序，从中选择一个分割点，划分数值属性的取值区间，从而将</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的处理能力</a:t>
            </a:r>
            <a:r>
              <a:rPr lang="zh-CN" altLang="en-US" sz="2400" b="1" dirty="0">
                <a:solidFill>
                  <a:srgbClr val="FF0000"/>
                </a:solidFill>
                <a:latin typeface="楷体" panose="02010609060101010101" pitchFamily="49" charset="-122"/>
                <a:ea typeface="楷体" panose="02010609060101010101" pitchFamily="49" charset="-122"/>
              </a:rPr>
              <a:t>扩充到数值属性</a:t>
            </a:r>
            <a:r>
              <a:rPr lang="zh-CN" altLang="en-US" sz="2400" dirty="0">
                <a:latin typeface="楷体" panose="02010609060101010101" pitchFamily="49" charset="-122"/>
                <a:ea typeface="楷体" panose="02010609060101010101" pitchFamily="49" charset="-122"/>
              </a:rPr>
              <a:t>上来；</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）将训练样本集中的位置属性值用最常用的值代替，或者用该属性的所有取值的平均值代替，从而处理缺少属性值的训练样本；</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）使用</a:t>
            </a:r>
            <a:r>
              <a:rPr lang="en-US" altLang="zh-CN" sz="2400" dirty="0">
                <a:latin typeface="楷体" panose="02010609060101010101" pitchFamily="49" charset="-122"/>
                <a:ea typeface="楷体" panose="02010609060101010101" pitchFamily="49" charset="-122"/>
              </a:rPr>
              <a:t>K</a:t>
            </a:r>
            <a:r>
              <a:rPr lang="zh-CN" altLang="en-US" sz="2400" dirty="0">
                <a:latin typeface="楷体" panose="02010609060101010101" pitchFamily="49" charset="-122"/>
                <a:ea typeface="楷体" panose="02010609060101010101" pitchFamily="49" charset="-122"/>
              </a:rPr>
              <a:t>次迭代交叉验证，评估模型的优劣程度；</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）根据生成的决策树，可以产生一个</a:t>
            </a:r>
            <a:r>
              <a:rPr lang="en-US" altLang="zh-CN" sz="2400" dirty="0">
                <a:latin typeface="楷体" panose="02010609060101010101" pitchFamily="49" charset="-122"/>
                <a:ea typeface="楷体" panose="02010609060101010101" pitchFamily="49" charset="-122"/>
              </a:rPr>
              <a:t>if-then</a:t>
            </a:r>
            <a:r>
              <a:rPr lang="zh-CN" altLang="en-US" sz="2400" dirty="0">
                <a:latin typeface="楷体" panose="02010609060101010101" pitchFamily="49" charset="-122"/>
                <a:ea typeface="楷体" panose="02010609060101010101" pitchFamily="49" charset="-122"/>
              </a:rPr>
              <a:t>规则的集合，每一个规则代表从根节点到叶节点的一条路径。</a:t>
            </a:r>
            <a:endParaRPr lang="zh-CN" altLang="en-US"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算法的</a:t>
            </a:r>
            <a:r>
              <a:rPr lang="zh-CN" altLang="en-US" sz="2400" b="1" dirty="0">
                <a:solidFill>
                  <a:srgbClr val="FF0000"/>
                </a:solidFill>
                <a:latin typeface="楷体" panose="02010609060101010101" pitchFamily="49" charset="-122"/>
                <a:ea typeface="楷体" panose="02010609060101010101" pitchFamily="49" charset="-122"/>
              </a:rPr>
              <a:t>核心思想与</a:t>
            </a:r>
            <a:r>
              <a:rPr lang="en-US" altLang="zh-CN" sz="2400" b="1" dirty="0">
                <a:solidFill>
                  <a:srgbClr val="FF0000"/>
                </a:solidFill>
                <a:latin typeface="楷体" panose="02010609060101010101" pitchFamily="49" charset="-122"/>
                <a:ea typeface="楷体" panose="02010609060101010101" pitchFamily="49" charset="-122"/>
              </a:rPr>
              <a:t>ID3</a:t>
            </a:r>
            <a:r>
              <a:rPr lang="zh-CN" altLang="en-US" sz="2400" b="1" dirty="0">
                <a:solidFill>
                  <a:srgbClr val="FF0000"/>
                </a:solidFill>
                <a:latin typeface="楷体" panose="02010609060101010101" pitchFamily="49" charset="-122"/>
                <a:ea typeface="楷体" panose="02010609060101010101" pitchFamily="49" charset="-122"/>
              </a:rPr>
              <a:t>完全一样</a:t>
            </a:r>
            <a:r>
              <a:rPr lang="zh-CN" altLang="en-US" sz="2400" dirty="0">
                <a:latin typeface="楷体" panose="02010609060101010101" pitchFamily="49" charset="-122"/>
                <a:ea typeface="楷体" panose="02010609060101010101" pitchFamily="49" charset="-122"/>
              </a:rPr>
              <a:t>，下面，我们仅就</a:t>
            </a:r>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算法与</a:t>
            </a:r>
            <a:r>
              <a:rPr lang="en-US" altLang="zh-CN" sz="2400" dirty="0">
                <a:latin typeface="楷体" panose="02010609060101010101" pitchFamily="49" charset="-122"/>
                <a:ea typeface="楷体" panose="02010609060101010101" pitchFamily="49" charset="-122"/>
              </a:rPr>
              <a:t>ID3</a:t>
            </a:r>
            <a:r>
              <a:rPr lang="zh-CN" altLang="en-US" sz="2400" dirty="0">
                <a:latin typeface="楷体" panose="02010609060101010101" pitchFamily="49" charset="-122"/>
                <a:ea typeface="楷体" panose="02010609060101010101" pitchFamily="49" charset="-122"/>
              </a:rPr>
              <a:t>算法的一些不同点进行讨论。</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564101" y="832050"/>
            <a:ext cx="8163307" cy="485515"/>
          </a:xfrm>
        </p:spPr>
        <p:txBody>
          <a:bodyPr>
            <a:noAutofit/>
          </a:bodyPr>
          <a:lstStyle/>
          <a:p>
            <a:r>
              <a:rPr lang="zh-CN" altLang="en-US" sz="2800" b="1" dirty="0">
                <a:latin typeface="楷体" panose="02010609060101010101" pitchFamily="49" charset="-122"/>
                <a:ea typeface="楷体" panose="02010609060101010101" pitchFamily="49" charset="-122"/>
              </a:rPr>
              <a:t>增益比例</a:t>
            </a:r>
            <a:endParaRPr lang="zh-CN" altLang="en-US" sz="2800" b="1" dirty="0">
              <a:latin typeface="楷体" panose="02010609060101010101" pitchFamily="49" charset="-122"/>
              <a:ea typeface="楷体" panose="02010609060101010101" pitchFamily="49" charset="-122"/>
            </a:endParaRPr>
          </a:p>
        </p:txBody>
      </p:sp>
      <p:sp>
        <p:nvSpPr>
          <p:cNvPr id="2" name="矩形 1"/>
          <p:cNvSpPr/>
          <p:nvPr/>
        </p:nvSpPr>
        <p:spPr>
          <a:xfrm>
            <a:off x="1564005" y="1426845"/>
            <a:ext cx="8451215" cy="267652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信息增益是一种衡量最优分支属性的有效函数，但是它倾向于选择具有大量不同取值的属性，从而产生许多小而纯的子集。例如病人的</a:t>
            </a:r>
            <a:r>
              <a:rPr lang="en-US" altLang="zh-CN" sz="2400" dirty="0">
                <a:latin typeface="楷体" panose="02010609060101010101" pitchFamily="49" charset="-122"/>
                <a:ea typeface="楷体" panose="02010609060101010101" pitchFamily="49" charset="-122"/>
              </a:rPr>
              <a:t>ID\</a:t>
            </a:r>
            <a:r>
              <a:rPr lang="zh-CN" altLang="en-US" sz="2400" dirty="0">
                <a:latin typeface="楷体" panose="02010609060101010101" pitchFamily="49" charset="-122"/>
                <a:ea typeface="楷体" panose="02010609060101010101" pitchFamily="49" charset="-122"/>
              </a:rPr>
              <a:t>姓名和日期等，特别是作为关系数据库中记录的主码的属性，根据这样的属性划分的子集都是单元集，对应的决策树节点当然是纯节点了。因此，需要新的指标来降低这种情况下的增益。</a:t>
            </a:r>
            <a:r>
              <a:rPr lang="en-US" altLang="zh-CN" sz="2400" dirty="0">
                <a:latin typeface="楷体" panose="02010609060101010101" pitchFamily="49" charset="-122"/>
                <a:ea typeface="楷体" panose="02010609060101010101" pitchFamily="49" charset="-122"/>
              </a:rPr>
              <a:t>Quinlan</a:t>
            </a:r>
            <a:r>
              <a:rPr lang="zh-CN" altLang="en-US" sz="2400" dirty="0">
                <a:latin typeface="楷体" panose="02010609060101010101" pitchFamily="49" charset="-122"/>
                <a:ea typeface="楷体" panose="02010609060101010101" pitchFamily="49" charset="-122"/>
              </a:rPr>
              <a:t>提出使用</a:t>
            </a:r>
            <a:r>
              <a:rPr lang="zh-CN" altLang="en-US" sz="2400" b="1" dirty="0">
                <a:solidFill>
                  <a:srgbClr val="C00000"/>
                </a:solidFill>
                <a:latin typeface="楷体" panose="02010609060101010101" pitchFamily="49" charset="-122"/>
                <a:ea typeface="楷体" panose="02010609060101010101" pitchFamily="49" charset="-122"/>
              </a:rPr>
              <a:t>增益比例</a:t>
            </a:r>
            <a:r>
              <a:rPr lang="zh-CN" altLang="en-US" sz="2400" dirty="0">
                <a:latin typeface="楷体" panose="02010609060101010101" pitchFamily="49" charset="-122"/>
                <a:ea typeface="楷体" panose="02010609060101010101" pitchFamily="49" charset="-122"/>
              </a:rPr>
              <a:t>来代替信息增益。</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p:txBody>
      </p:sp>
      <p:sp>
        <p:nvSpPr>
          <p:cNvPr id="7" name="矩形 6"/>
          <p:cNvSpPr/>
          <p:nvPr/>
        </p:nvSpPr>
        <p:spPr>
          <a:xfrm>
            <a:off x="1563698" y="3771248"/>
            <a:ext cx="8163307" cy="119888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首先，我们来考虑训练样本关于属性值的信息量（熵）</a:t>
            </a:r>
            <a:r>
              <a:rPr lang="en-US" altLang="zh-CN" sz="2400" dirty="0" err="1">
                <a:latin typeface="楷体" panose="02010609060101010101" pitchFamily="49" charset="-122"/>
                <a:ea typeface="楷体" panose="02010609060101010101" pitchFamily="49" charset="-122"/>
              </a:rPr>
              <a:t>split_info</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S,A</a:t>
            </a:r>
            <a:r>
              <a:rPr lang="zh-CN" altLang="en-US" sz="2400" dirty="0">
                <a:latin typeface="楷体" panose="02010609060101010101" pitchFamily="49" charset="-122"/>
                <a:ea typeface="楷体" panose="02010609060101010101" pitchFamily="49" charset="-122"/>
              </a:rPr>
              <a:t>），其中，</a:t>
            </a:r>
            <a:r>
              <a:rPr lang="en-US" altLang="zh-CN" sz="2400" dirty="0">
                <a:latin typeface="楷体" panose="02010609060101010101" pitchFamily="49" charset="-122"/>
                <a:ea typeface="楷体" panose="02010609060101010101" pitchFamily="49" charset="-122"/>
              </a:rPr>
              <a:t>S</a:t>
            </a:r>
            <a:r>
              <a:rPr lang="zh-CN" altLang="en-US" sz="2400" dirty="0">
                <a:latin typeface="楷体" panose="02010609060101010101" pitchFamily="49" charset="-122"/>
                <a:ea typeface="楷体" panose="02010609060101010101" pitchFamily="49" charset="-122"/>
              </a:rPr>
              <a:t>代表训练样本集，</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代表属性，这个信息量是与样本的类别无关的，它的计算公式如下：</a:t>
            </a:r>
            <a:endParaRPr lang="zh-CN" altLang="en-US" sz="24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3478530" y="5020310"/>
          <a:ext cx="4889500" cy="1101725"/>
        </p:xfrm>
        <a:graphic>
          <a:graphicData uri="http://schemas.openxmlformats.org/presentationml/2006/ole">
            <mc:AlternateContent xmlns:mc="http://schemas.openxmlformats.org/markup-compatibility/2006">
              <mc:Choice xmlns:v="urn:schemas-microsoft-com:vml" Requires="v">
                <p:oleObj spid="_x0000_s22534" name="" r:id="rId1" imgW="2070100" imgH="469900" progId="Equation.DSMT4">
                  <p:embed/>
                </p:oleObj>
              </mc:Choice>
              <mc:Fallback>
                <p:oleObj name="" r:id="rId1" imgW="2070100" imgH="4699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8530" y="5020310"/>
                        <a:ext cx="4889500" cy="1101725"/>
                      </a:xfrm>
                      <a:prstGeom prst="rect">
                        <a:avLst/>
                      </a:prstGeom>
                      <a:noFill/>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90047" y="792617"/>
            <a:ext cx="8013038" cy="156845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其中， 表示根据属性</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划分的第 个样本子集，</a:t>
            </a:r>
            <a:r>
              <a:rPr lang="zh-CN" altLang="en-US" sz="2400" b="1" dirty="0">
                <a:solidFill>
                  <a:srgbClr val="C00000"/>
                </a:solidFill>
                <a:latin typeface="楷体" panose="02010609060101010101" pitchFamily="49" charset="-122"/>
                <a:ea typeface="楷体" panose="02010609060101010101" pitchFamily="49" charset="-122"/>
              </a:rPr>
              <a:t>样本在</a:t>
            </a:r>
            <a:r>
              <a:rPr lang="en-US" altLang="zh-CN" sz="2400" b="1" dirty="0">
                <a:solidFill>
                  <a:srgbClr val="C00000"/>
                </a:solidFill>
                <a:latin typeface="楷体" panose="02010609060101010101" pitchFamily="49" charset="-122"/>
                <a:ea typeface="楷体" panose="02010609060101010101" pitchFamily="49" charset="-122"/>
              </a:rPr>
              <a:t>A</a:t>
            </a:r>
            <a:r>
              <a:rPr lang="zh-CN" altLang="en-US" sz="2400" b="1" dirty="0">
                <a:solidFill>
                  <a:srgbClr val="C00000"/>
                </a:solidFill>
                <a:latin typeface="楷体" panose="02010609060101010101" pitchFamily="49" charset="-122"/>
                <a:ea typeface="楷体" panose="02010609060101010101" pitchFamily="49" charset="-122"/>
              </a:rPr>
              <a:t>上的取值分布越均匀，</a:t>
            </a:r>
            <a:r>
              <a:rPr lang="en-US" altLang="zh-CN" sz="2400" b="1" dirty="0" err="1">
                <a:solidFill>
                  <a:srgbClr val="C00000"/>
                </a:solidFill>
                <a:latin typeface="楷体" panose="02010609060101010101" pitchFamily="49" charset="-122"/>
                <a:ea typeface="楷体" panose="02010609060101010101" pitchFamily="49" charset="-122"/>
              </a:rPr>
              <a:t>split_info</a:t>
            </a:r>
            <a:r>
              <a:rPr lang="zh-CN" altLang="en-US" sz="2400" b="1" dirty="0">
                <a:solidFill>
                  <a:srgbClr val="C00000"/>
                </a:solidFill>
                <a:latin typeface="楷体" panose="02010609060101010101" pitchFamily="49" charset="-122"/>
                <a:ea typeface="楷体" panose="02010609060101010101" pitchFamily="49" charset="-122"/>
              </a:rPr>
              <a:t>的值也就越大</a:t>
            </a:r>
            <a:r>
              <a:rPr lang="zh-CN" altLang="en-US" sz="2400" dirty="0">
                <a:latin typeface="楷体" panose="02010609060101010101" pitchFamily="49" charset="-122"/>
                <a:ea typeface="楷体" panose="02010609060101010101" pitchFamily="49" charset="-122"/>
              </a:rPr>
              <a:t>。</a:t>
            </a:r>
            <a:r>
              <a:rPr lang="en-US" altLang="zh-CN" sz="2400" dirty="0" err="1">
                <a:latin typeface="楷体" panose="02010609060101010101" pitchFamily="49" charset="-122"/>
                <a:ea typeface="楷体" panose="02010609060101010101" pitchFamily="49" charset="-122"/>
              </a:rPr>
              <a:t>split_info</a:t>
            </a:r>
            <a:r>
              <a:rPr lang="zh-CN" altLang="en-US" sz="2400" dirty="0">
                <a:latin typeface="楷体" panose="02010609060101010101" pitchFamily="49" charset="-122"/>
                <a:ea typeface="楷体" panose="02010609060101010101" pitchFamily="49" charset="-122"/>
              </a:rPr>
              <a:t>用来衡量属性分裂数据的广度和均匀性。属性</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的增益比例计算如下：</a:t>
            </a:r>
            <a:endParaRPr lang="zh-CN" altLang="en-US" sz="2400" dirty="0">
              <a:latin typeface="楷体" panose="02010609060101010101" pitchFamily="49" charset="-122"/>
              <a:ea typeface="楷体" panose="02010609060101010101" pitchFamily="49" charset="-122"/>
            </a:endParaRPr>
          </a:p>
        </p:txBody>
      </p:sp>
      <p:sp>
        <p:nvSpPr>
          <p:cNvPr id="7" name="矩形 6"/>
          <p:cNvSpPr/>
          <p:nvPr/>
        </p:nvSpPr>
        <p:spPr>
          <a:xfrm>
            <a:off x="2014178" y="5655241"/>
            <a:ext cx="8163307" cy="46037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其中，        表示信息增益 。</a:t>
            </a:r>
            <a:endParaRPr lang="zh-CN" altLang="en-US" sz="24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2"/>
          <p:cNvSpPr>
            <a:spLocks noChangeArrowheads="1"/>
          </p:cNvSpPr>
          <p:nvPr/>
        </p:nvSpPr>
        <p:spPr bwMode="auto">
          <a:xfrm>
            <a:off x="0" y="0"/>
            <a:ext cx="2983832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2237873" y="1887491"/>
          <a:ext cx="192505" cy="249840"/>
        </p:xfrm>
        <a:graphic>
          <a:graphicData uri="http://schemas.openxmlformats.org/presentationml/2006/ole">
            <mc:AlternateContent xmlns:mc="http://schemas.openxmlformats.org/markup-compatibility/2006">
              <mc:Choice xmlns:v="urn:schemas-microsoft-com:vml" Requires="v">
                <p:oleObj spid="_x0000_s23578" name="" r:id="rId1" imgW="152400" imgH="228600" progId="Equation.DSMT4">
                  <p:embed/>
                </p:oleObj>
              </mc:Choice>
              <mc:Fallback>
                <p:oleObj name="" r:id="rId1" imgW="152400" imgH="2286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7873" y="1887491"/>
                        <a:ext cx="192505" cy="249840"/>
                      </a:xfrm>
                      <a:prstGeom prst="rect">
                        <a:avLst/>
                      </a:prstGeom>
                      <a:noFill/>
                    </p:spPr>
                  </p:pic>
                </p:oleObj>
              </mc:Fallback>
            </mc:AlternateContent>
          </a:graphicData>
        </a:graphic>
      </p:graphicFrame>
      <p:graphicFrame>
        <p:nvGraphicFramePr>
          <p:cNvPr id="12" name="对象 11"/>
          <p:cNvGraphicFramePr>
            <a:graphicFrameLocks noChangeAspect="1"/>
          </p:cNvGraphicFramePr>
          <p:nvPr/>
        </p:nvGraphicFramePr>
        <p:xfrm>
          <a:off x="3513455" y="2520950"/>
          <a:ext cx="5029835" cy="994410"/>
        </p:xfrm>
        <a:graphic>
          <a:graphicData uri="http://schemas.openxmlformats.org/presentationml/2006/ole">
            <mc:AlternateContent xmlns:mc="http://schemas.openxmlformats.org/markup-compatibility/2006">
              <mc:Choice xmlns:v="urn:schemas-microsoft-com:vml" Requires="v">
                <p:oleObj spid="_x0000_s23579" name="" r:id="rId3" imgW="2082800" imgH="419100" progId="Equation.DSMT4">
                  <p:embed/>
                </p:oleObj>
              </mc:Choice>
              <mc:Fallback>
                <p:oleObj name="" r:id="rId3" imgW="2082800" imgH="4191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3455" y="2520950"/>
                        <a:ext cx="5029835" cy="994410"/>
                      </a:xfrm>
                      <a:prstGeom prst="rect">
                        <a:avLst/>
                      </a:prstGeom>
                      <a:noFill/>
                    </p:spPr>
                  </p:pic>
                </p:oleObj>
              </mc:Fallback>
            </mc:AlternateContent>
          </a:graphicData>
        </a:graphic>
      </p:graphicFrame>
      <p:sp>
        <p:nvSpPr>
          <p:cNvPr id="13" name="Rectangle 6"/>
          <p:cNvSpPr>
            <a:spLocks noChangeArrowheads="1"/>
          </p:cNvSpPr>
          <p:nvPr/>
        </p:nvSpPr>
        <p:spPr bwMode="auto">
          <a:xfrm>
            <a:off x="2334126" y="27815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对象 13"/>
          <p:cNvGraphicFramePr>
            <a:graphicFrameLocks noChangeAspect="1"/>
          </p:cNvGraphicFramePr>
          <p:nvPr/>
        </p:nvGraphicFramePr>
        <p:xfrm>
          <a:off x="1979930" y="3690620"/>
          <a:ext cx="7522845" cy="1630045"/>
        </p:xfrm>
        <a:graphic>
          <a:graphicData uri="http://schemas.openxmlformats.org/presentationml/2006/ole">
            <mc:AlternateContent xmlns:mc="http://schemas.openxmlformats.org/markup-compatibility/2006">
              <mc:Choice xmlns:v="urn:schemas-microsoft-com:vml" Requires="v">
                <p:oleObj spid="_x0000_s23580" name="公式" r:id="rId5" imgW="4572000" imgH="990600" progId="Equation.3">
                  <p:embed/>
                </p:oleObj>
              </mc:Choice>
              <mc:Fallback>
                <p:oleObj name="公式" r:id="rId5" imgW="4572000" imgH="990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930" y="3690620"/>
                        <a:ext cx="7522845" cy="1630045"/>
                      </a:xfrm>
                      <a:prstGeom prst="rect">
                        <a:avLst/>
                      </a:prstGeom>
                      <a:noFill/>
                    </p:spPr>
                  </p:pic>
                </p:oleObj>
              </mc:Fallback>
            </mc:AlternateContent>
          </a:graphicData>
        </a:graphic>
      </p:graphicFrame>
      <p:sp>
        <p:nvSpPr>
          <p:cNvPr id="20" name="Rectangle 13"/>
          <p:cNvSpPr>
            <a:spLocks noChangeArrowheads="1"/>
          </p:cNvSpPr>
          <p:nvPr/>
        </p:nvSpPr>
        <p:spPr bwMode="auto">
          <a:xfrm>
            <a:off x="623761" y="37297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1" name="对象 20"/>
          <p:cNvGraphicFramePr>
            <a:graphicFrameLocks noChangeAspect="1"/>
          </p:cNvGraphicFramePr>
          <p:nvPr/>
        </p:nvGraphicFramePr>
        <p:xfrm>
          <a:off x="3192035" y="5734755"/>
          <a:ext cx="952376" cy="301743"/>
        </p:xfrm>
        <a:graphic>
          <a:graphicData uri="http://schemas.openxmlformats.org/presentationml/2006/ole">
            <mc:AlternateContent xmlns:mc="http://schemas.openxmlformats.org/markup-compatibility/2006">
              <mc:Choice xmlns:v="urn:schemas-microsoft-com:vml" Requires="v">
                <p:oleObj spid="_x0000_s23581" name="" r:id="rId7" imgW="635000" imgH="203200" progId="Equation.DSMT4">
                  <p:embed/>
                </p:oleObj>
              </mc:Choice>
              <mc:Fallback>
                <p:oleObj name="" r:id="rId7" imgW="635000" imgH="2032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2035" y="5734755"/>
                        <a:ext cx="952376" cy="301743"/>
                      </a:xfrm>
                      <a:prstGeom prst="rect">
                        <a:avLst/>
                      </a:prstGeom>
                      <a:noFill/>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53820" y="490220"/>
            <a:ext cx="9290050" cy="587756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当存在</a:t>
            </a:r>
            <a:r>
              <a:rPr lang="en-US" altLang="zh-CN" sz="2400" dirty="0">
                <a:latin typeface="楷体" panose="02010609060101010101" pitchFamily="49" charset="-122"/>
                <a:ea typeface="楷体" panose="02010609060101010101" pitchFamily="49" charset="-122"/>
              </a:rPr>
              <a:t>i</a:t>
            </a:r>
            <a:r>
              <a:rPr lang="zh-CN" altLang="en-US" sz="2400" dirty="0">
                <a:latin typeface="楷体" panose="02010609060101010101" pitchFamily="49" charset="-122"/>
                <a:ea typeface="楷体" panose="02010609060101010101" pitchFamily="49" charset="-122"/>
              </a:rPr>
              <a:t>使得       时，</a:t>
            </a:r>
            <a:r>
              <a:rPr lang="en-US" altLang="zh-CN" sz="2400" dirty="0" err="1">
                <a:latin typeface="楷体" panose="02010609060101010101" pitchFamily="49" charset="-122"/>
                <a:ea typeface="楷体" panose="02010609060101010101" pitchFamily="49" charset="-122"/>
              </a:rPr>
              <a:t>split_info</a:t>
            </a:r>
            <a:r>
              <a:rPr lang="zh-CN" altLang="en-US" sz="2400" dirty="0">
                <a:latin typeface="楷体" panose="02010609060101010101" pitchFamily="49" charset="-122"/>
                <a:ea typeface="楷体" panose="02010609060101010101" pitchFamily="49" charset="-122"/>
              </a:rPr>
              <a:t>将非常小，从而导致增益比例异常地大，</a:t>
            </a:r>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为解决此问题，进行了改进，它计算每个属性的信息增益，对于超过平均信息增益的属性，再进一步根据增益比例来选取属性。</a:t>
            </a:r>
            <a:endParaRPr lang="en-US" altLang="zh-CN" sz="24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一个属性分割样本的广度越大，均匀性越强，该属性的</a:t>
            </a:r>
            <a:r>
              <a:rPr lang="en-US" altLang="zh-CN" sz="2400" dirty="0" err="1">
                <a:latin typeface="楷体" panose="02010609060101010101" pitchFamily="49" charset="-122"/>
                <a:ea typeface="楷体" panose="02010609060101010101" pitchFamily="49" charset="-122"/>
              </a:rPr>
              <a:t>split_info</a:t>
            </a:r>
            <a:r>
              <a:rPr lang="zh-CN" altLang="en-US" sz="2400" dirty="0">
                <a:latin typeface="楷体" panose="02010609060101010101" pitchFamily="49" charset="-122"/>
                <a:ea typeface="楷体" panose="02010609060101010101" pitchFamily="49" charset="-122"/>
              </a:rPr>
              <a:t>越大，增益比例就越小。因此，</a:t>
            </a:r>
            <a:r>
              <a:rPr lang="en-US" altLang="zh-CN" sz="2400" dirty="0" err="1">
                <a:latin typeface="楷体" panose="02010609060101010101" pitchFamily="49" charset="-122"/>
                <a:ea typeface="楷体" panose="02010609060101010101" pitchFamily="49" charset="-122"/>
              </a:rPr>
              <a:t>split_info</a:t>
            </a:r>
            <a:r>
              <a:rPr lang="zh-CN" altLang="en-US" sz="2400" dirty="0">
                <a:latin typeface="楷体" panose="02010609060101010101" pitchFamily="49" charset="-122"/>
                <a:ea typeface="楷体" panose="02010609060101010101" pitchFamily="49" charset="-122"/>
              </a:rPr>
              <a:t>降低了选择那些值较多且均匀分布的属性的可能性 。</a:t>
            </a:r>
            <a:endParaRPr lang="en-US" altLang="zh-CN" sz="24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例如，含</a:t>
            </a:r>
            <a:r>
              <a:rPr lang="en-US" altLang="zh-CN" sz="2400" dirty="0">
                <a:latin typeface="楷体" panose="02010609060101010101" pitchFamily="49" charset="-122"/>
                <a:ea typeface="楷体" panose="02010609060101010101" pitchFamily="49" charset="-122"/>
              </a:rPr>
              <a:t>n</a:t>
            </a:r>
            <a:r>
              <a:rPr lang="zh-CN" altLang="en-US" sz="2400" dirty="0">
                <a:latin typeface="楷体" panose="02010609060101010101" pitchFamily="49" charset="-122"/>
                <a:ea typeface="楷体" panose="02010609060101010101" pitchFamily="49" charset="-122"/>
              </a:rPr>
              <a:t>个样本的集合按属性</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划分为</a:t>
            </a:r>
            <a:r>
              <a:rPr lang="en-US" altLang="zh-CN" sz="2400" dirty="0">
                <a:latin typeface="楷体" panose="02010609060101010101" pitchFamily="49" charset="-122"/>
                <a:ea typeface="楷体" panose="02010609060101010101" pitchFamily="49" charset="-122"/>
              </a:rPr>
              <a:t>n</a:t>
            </a:r>
            <a:r>
              <a:rPr lang="zh-CN" altLang="en-US" sz="2400" dirty="0">
                <a:latin typeface="楷体" panose="02010609060101010101" pitchFamily="49" charset="-122"/>
                <a:ea typeface="楷体" panose="02010609060101010101" pitchFamily="49" charset="-122"/>
              </a:rPr>
              <a:t>组（每组一个样本），</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的分裂信息为</a:t>
            </a:r>
            <a:r>
              <a:rPr lang="en-US" altLang="zh-CN" sz="2400" dirty="0">
                <a:latin typeface="楷体" panose="02010609060101010101" pitchFamily="49" charset="-122"/>
                <a:ea typeface="楷体" panose="02010609060101010101" pitchFamily="49" charset="-122"/>
              </a:rPr>
              <a:t>log2n</a:t>
            </a:r>
            <a:r>
              <a:rPr lang="zh-CN" altLang="en-US" sz="2400" dirty="0">
                <a:latin typeface="楷体" panose="02010609060101010101" pitchFamily="49" charset="-122"/>
                <a:ea typeface="楷体" panose="02010609060101010101" pitchFamily="49" charset="-122"/>
              </a:rPr>
              <a:t>。属性</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将</a:t>
            </a:r>
            <a:r>
              <a:rPr lang="en-US" altLang="zh-CN" sz="2400" dirty="0">
                <a:latin typeface="楷体" panose="02010609060101010101" pitchFamily="49" charset="-122"/>
                <a:ea typeface="楷体" panose="02010609060101010101" pitchFamily="49" charset="-122"/>
              </a:rPr>
              <a:t>n</a:t>
            </a:r>
            <a:r>
              <a:rPr lang="zh-CN" altLang="en-US" sz="2400" dirty="0">
                <a:latin typeface="楷体" panose="02010609060101010101" pitchFamily="49" charset="-122"/>
                <a:ea typeface="楷体" panose="02010609060101010101" pitchFamily="49" charset="-122"/>
              </a:rPr>
              <a:t>个样本平分为两组，</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的分裂信息为</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，若</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有同样的信息增益，显然，按信息增益比例度量应选择</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属性。采用增益比例作为选择属性的标准，克服了信息增益度量的缺点，但是算法偏向于</a:t>
            </a:r>
            <a:r>
              <a:rPr lang="zh-CN" altLang="en-US" sz="2400" b="1" dirty="0">
                <a:latin typeface="楷体" panose="02010609060101010101" pitchFamily="49" charset="-122"/>
                <a:ea typeface="楷体" panose="02010609060101010101" pitchFamily="49" charset="-122"/>
              </a:rPr>
              <a:t>选择取值较集中的属性（即熵值最小的属性）</a:t>
            </a:r>
            <a:r>
              <a:rPr lang="zh-CN" altLang="en-US" sz="2400" dirty="0">
                <a:latin typeface="楷体" panose="02010609060101010101" pitchFamily="49" charset="-122"/>
                <a:ea typeface="楷体" panose="02010609060101010101" pitchFamily="49" charset="-122"/>
              </a:rPr>
              <a:t>，而它并不一定是对分类最重要的属性。</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3356705" y="490160"/>
          <a:ext cx="713210" cy="347907"/>
        </p:xfrm>
        <a:graphic>
          <a:graphicData uri="http://schemas.openxmlformats.org/presentationml/2006/ole">
            <mc:AlternateContent xmlns:mc="http://schemas.openxmlformats.org/markup-compatibility/2006">
              <mc:Choice xmlns:v="urn:schemas-microsoft-com:vml" Requires="v">
                <p:oleObj spid="_x0000_s24584" name="" r:id="rId1" imgW="520700" imgH="254000" progId="Equation.DSMT4">
                  <p:embed/>
                </p:oleObj>
              </mc:Choice>
              <mc:Fallback>
                <p:oleObj name="" r:id="rId1" imgW="520700" imgH="2540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6705" y="490160"/>
                        <a:ext cx="713210" cy="347907"/>
                      </a:xfrm>
                      <a:prstGeom prst="rect">
                        <a:avLst/>
                      </a:prstGeom>
                      <a:noFill/>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564101" y="1404479"/>
            <a:ext cx="8163307" cy="485515"/>
          </a:xfrm>
        </p:spPr>
        <p:txBody>
          <a:bodyPr>
            <a:noAutofit/>
          </a:bodyPr>
          <a:lstStyle/>
          <a:p>
            <a:r>
              <a:rPr lang="zh-CN" altLang="en-US" sz="3200" dirty="0">
                <a:latin typeface="楷体" panose="02010609060101010101" pitchFamily="49" charset="-122"/>
                <a:ea typeface="楷体" panose="02010609060101010101" pitchFamily="49" charset="-122"/>
              </a:rPr>
              <a:t>数值属性的处理</a:t>
            </a:r>
            <a:endParaRPr lang="zh-CN" altLang="en-US" sz="3200" dirty="0">
              <a:latin typeface="楷体" panose="02010609060101010101" pitchFamily="49" charset="-122"/>
              <a:ea typeface="楷体" panose="02010609060101010101" pitchFamily="49" charset="-122"/>
            </a:endParaRPr>
          </a:p>
        </p:txBody>
      </p:sp>
      <p:sp>
        <p:nvSpPr>
          <p:cNvPr id="2" name="矩形 1"/>
          <p:cNvSpPr/>
          <p:nvPr/>
        </p:nvSpPr>
        <p:spPr>
          <a:xfrm>
            <a:off x="1564005" y="1995170"/>
            <a:ext cx="9634855" cy="3415030"/>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处理数值属性的过程如下：</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）按照属性值对训练数据进行排序</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）用不同的阈值对训练数据进行动态划分；</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）当输入改变时确定一个阈值；</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）取当前样本的属性值和前一个样本的属性值的中点作为新的阈值；</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）生成两个划分，所有的样本分布到这两个划分中；</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6</a:t>
            </a:r>
            <a:r>
              <a:rPr lang="zh-CN" altLang="en-US" sz="2400" dirty="0">
                <a:latin typeface="楷体" panose="02010609060101010101" pitchFamily="49" charset="-122"/>
                <a:ea typeface="楷体" panose="02010609060101010101" pitchFamily="49" charset="-122"/>
              </a:rPr>
              <a:t>）得到所有可能的阈值、增益和增益比例。</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每一个数值属性划分为两个区间，即大于阈值或小于等于阈值。</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564101" y="1404479"/>
            <a:ext cx="8163307" cy="485515"/>
          </a:xfrm>
        </p:spPr>
        <p:txBody>
          <a:bodyPr>
            <a:noAutofit/>
          </a:bodyPr>
          <a:lstStyle/>
          <a:p>
            <a:r>
              <a:rPr lang="zh-CN" altLang="en-US" sz="2400" dirty="0">
                <a:latin typeface="楷体" panose="02010609060101010101" pitchFamily="49" charset="-122"/>
                <a:ea typeface="楷体" panose="02010609060101010101" pitchFamily="49" charset="-122"/>
              </a:rPr>
              <a:t>未知属性值的处理</a:t>
            </a:r>
            <a:endParaRPr lang="zh-CN" altLang="zh-CN" sz="2400" dirty="0">
              <a:latin typeface="楷体" panose="02010609060101010101" pitchFamily="49" charset="-122"/>
              <a:ea typeface="楷体" panose="02010609060101010101" pitchFamily="49" charset="-122"/>
            </a:endParaRPr>
          </a:p>
        </p:txBody>
      </p:sp>
      <p:sp>
        <p:nvSpPr>
          <p:cNvPr id="2" name="矩形 1"/>
          <p:cNvSpPr/>
          <p:nvPr/>
        </p:nvSpPr>
        <p:spPr>
          <a:xfrm>
            <a:off x="1783176" y="1890512"/>
            <a:ext cx="8163307" cy="5262245"/>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处理样本中未知属性值的方法是将未知值用最常用的值代替，或者用该属性的所有取值的平均值代替。另一种解决办法是采用概率的办法，对属性的每一个取值赋予一个概率，在划分样本集时，将未知属性值的样本按照属性值的概率分配到子节点中去，这些概率的获取依赖于已知的属性值的分布。</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在表</a:t>
            </a:r>
            <a:r>
              <a:rPr lang="en-US" altLang="zh-CN" sz="2400" dirty="0">
                <a:latin typeface="楷体" panose="02010609060101010101" pitchFamily="49" charset="-122"/>
                <a:ea typeface="楷体" panose="02010609060101010101" pitchFamily="49" charset="-122"/>
              </a:rPr>
              <a:t>4-1</a:t>
            </a:r>
            <a:r>
              <a:rPr lang="zh-CN" altLang="en-US" sz="2400" dirty="0">
                <a:latin typeface="楷体" panose="02010609060101010101" pitchFamily="49" charset="-122"/>
                <a:ea typeface="楷体" panose="02010609060101010101" pitchFamily="49" charset="-122"/>
              </a:rPr>
              <a:t>的样本中，属性</a:t>
            </a:r>
            <a:r>
              <a:rPr lang="en-US" altLang="zh-CN" sz="2400" dirty="0">
                <a:latin typeface="楷体" panose="02010609060101010101" pitchFamily="49" charset="-122"/>
                <a:ea typeface="楷体" panose="02010609060101010101" pitchFamily="49" charset="-122"/>
              </a:rPr>
              <a:t>outlook</a:t>
            </a:r>
            <a:r>
              <a:rPr lang="zh-CN" altLang="en-US" sz="2400" dirty="0">
                <a:latin typeface="楷体" panose="02010609060101010101" pitchFamily="49" charset="-122"/>
                <a:ea typeface="楷体" panose="02010609060101010101" pitchFamily="49" charset="-122"/>
              </a:rPr>
              <a:t>有三个不同取值，其中值为</a:t>
            </a:r>
            <a:r>
              <a:rPr lang="en-US" altLang="zh-CN" sz="2400" dirty="0">
                <a:latin typeface="楷体" panose="02010609060101010101" pitchFamily="49" charset="-122"/>
                <a:ea typeface="楷体" panose="02010609060101010101" pitchFamily="49" charset="-122"/>
              </a:rPr>
              <a:t>sunny</a:t>
            </a:r>
            <a:r>
              <a:rPr lang="zh-CN" altLang="en-US" sz="2400" dirty="0">
                <a:latin typeface="楷体" panose="02010609060101010101" pitchFamily="49" charset="-122"/>
                <a:ea typeface="楷体" panose="02010609060101010101" pitchFamily="49" charset="-122"/>
              </a:rPr>
              <a:t>的样本有</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个，值为</a:t>
            </a:r>
            <a:r>
              <a:rPr lang="en-US" altLang="zh-CN" sz="2400" dirty="0">
                <a:latin typeface="楷体" panose="02010609060101010101" pitchFamily="49" charset="-122"/>
                <a:ea typeface="楷体" panose="02010609060101010101" pitchFamily="49" charset="-122"/>
              </a:rPr>
              <a:t>overcast</a:t>
            </a:r>
            <a:r>
              <a:rPr lang="zh-CN" altLang="en-US" sz="2400" dirty="0">
                <a:latin typeface="楷体" panose="02010609060101010101" pitchFamily="49" charset="-122"/>
                <a:ea typeface="楷体" panose="02010609060101010101" pitchFamily="49" charset="-122"/>
              </a:rPr>
              <a:t>的样本有</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个，值为</a:t>
            </a:r>
            <a:r>
              <a:rPr lang="en-US" altLang="zh-CN" sz="2400" dirty="0">
                <a:latin typeface="楷体" panose="02010609060101010101" pitchFamily="49" charset="-122"/>
                <a:ea typeface="楷体" panose="02010609060101010101" pitchFamily="49" charset="-122"/>
              </a:rPr>
              <a:t>rainy</a:t>
            </a:r>
            <a:r>
              <a:rPr lang="zh-CN" altLang="en-US" sz="2400" dirty="0">
                <a:latin typeface="楷体" panose="02010609060101010101" pitchFamily="49" charset="-122"/>
                <a:ea typeface="楷体" panose="02010609060101010101" pitchFamily="49" charset="-122"/>
              </a:rPr>
              <a:t>的样本有</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个，总共</a:t>
            </a:r>
            <a:r>
              <a:rPr lang="en-US" altLang="zh-CN" sz="2400" dirty="0">
                <a:latin typeface="楷体" panose="02010609060101010101" pitchFamily="49" charset="-122"/>
                <a:ea typeface="楷体" panose="02010609060101010101" pitchFamily="49" charset="-122"/>
              </a:rPr>
              <a:t>14</a:t>
            </a:r>
            <a:r>
              <a:rPr lang="zh-CN" altLang="en-US" sz="2400" dirty="0">
                <a:latin typeface="楷体" panose="02010609060101010101" pitchFamily="49" charset="-122"/>
                <a:ea typeface="楷体" panose="02010609060101010101" pitchFamily="49" charset="-122"/>
              </a:rPr>
              <a:t>个已知属性值的样本。因此，如果存在一个未知</a:t>
            </a:r>
            <a:r>
              <a:rPr lang="en-US" altLang="zh-CN" sz="2400" dirty="0">
                <a:latin typeface="楷体" panose="02010609060101010101" pitchFamily="49" charset="-122"/>
                <a:ea typeface="楷体" panose="02010609060101010101" pitchFamily="49" charset="-122"/>
              </a:rPr>
              <a:t>outlook</a:t>
            </a:r>
            <a:r>
              <a:rPr lang="zh-CN" altLang="en-US" sz="2400" dirty="0">
                <a:latin typeface="楷体" panose="02010609060101010101" pitchFamily="49" charset="-122"/>
                <a:ea typeface="楷体" panose="02010609060101010101" pitchFamily="49" charset="-122"/>
              </a:rPr>
              <a:t>属性值的样本，那么根据属性</a:t>
            </a:r>
            <a:r>
              <a:rPr lang="en-US" altLang="zh-CN" sz="2400" dirty="0">
                <a:latin typeface="楷体" panose="02010609060101010101" pitchFamily="49" charset="-122"/>
                <a:ea typeface="楷体" panose="02010609060101010101" pitchFamily="49" charset="-122"/>
              </a:rPr>
              <a:t>outlook</a:t>
            </a:r>
            <a:r>
              <a:rPr lang="zh-CN" altLang="en-US" sz="2400" dirty="0">
                <a:latin typeface="楷体" panose="02010609060101010101" pitchFamily="49" charset="-122"/>
                <a:ea typeface="楷体" panose="02010609060101010101" pitchFamily="49" charset="-122"/>
              </a:rPr>
              <a:t>分支时，分配到</a:t>
            </a:r>
            <a:r>
              <a:rPr lang="en-US" altLang="zh-CN" sz="2400" dirty="0">
                <a:latin typeface="楷体" panose="02010609060101010101" pitchFamily="49" charset="-122"/>
                <a:ea typeface="楷体" panose="02010609060101010101" pitchFamily="49" charset="-122"/>
              </a:rPr>
              <a:t>outlook=sunny</a:t>
            </a:r>
            <a:r>
              <a:rPr lang="zh-CN" altLang="en-US" sz="2400" dirty="0">
                <a:latin typeface="楷体" panose="02010609060101010101" pitchFamily="49" charset="-122"/>
                <a:ea typeface="楷体" panose="02010609060101010101" pitchFamily="49" charset="-122"/>
              </a:rPr>
              <a:t>的样本数为</a:t>
            </a:r>
            <a:r>
              <a:rPr lang="en-US" altLang="zh-CN" sz="2400" dirty="0">
                <a:latin typeface="楷体" panose="02010609060101010101" pitchFamily="49" charset="-122"/>
                <a:ea typeface="楷体" panose="02010609060101010101" pitchFamily="49" charset="-122"/>
              </a:rPr>
              <a:t>5+5/14</a:t>
            </a:r>
            <a:r>
              <a:rPr lang="zh-CN" altLang="en-US" sz="2400" dirty="0">
                <a:latin typeface="楷体" panose="02010609060101010101" pitchFamily="49" charset="-122"/>
                <a:ea typeface="楷体" panose="02010609060101010101" pitchFamily="49" charset="-122"/>
              </a:rPr>
              <a:t>个，分配到</a:t>
            </a:r>
            <a:r>
              <a:rPr lang="en-US" altLang="zh-CN" sz="2400" dirty="0">
                <a:latin typeface="楷体" panose="02010609060101010101" pitchFamily="49" charset="-122"/>
                <a:ea typeface="楷体" panose="02010609060101010101" pitchFamily="49" charset="-122"/>
              </a:rPr>
              <a:t>outlook=overcast</a:t>
            </a:r>
            <a:r>
              <a:rPr lang="zh-CN" altLang="en-US" sz="2400" dirty="0">
                <a:latin typeface="楷体" panose="02010609060101010101" pitchFamily="49" charset="-122"/>
                <a:ea typeface="楷体" panose="02010609060101010101" pitchFamily="49" charset="-122"/>
              </a:rPr>
              <a:t>的样本数为</a:t>
            </a:r>
            <a:r>
              <a:rPr lang="en-US" altLang="zh-CN" sz="2400" dirty="0">
                <a:latin typeface="楷体" panose="02010609060101010101" pitchFamily="49" charset="-122"/>
                <a:ea typeface="楷体" panose="02010609060101010101" pitchFamily="49" charset="-122"/>
              </a:rPr>
              <a:t>4+4/14</a:t>
            </a:r>
            <a:r>
              <a:rPr lang="zh-CN" altLang="en-US" sz="2400" dirty="0">
                <a:latin typeface="楷体" panose="02010609060101010101" pitchFamily="49" charset="-122"/>
                <a:ea typeface="楷体" panose="02010609060101010101" pitchFamily="49" charset="-122"/>
              </a:rPr>
              <a:t>个，分配到</a:t>
            </a:r>
            <a:r>
              <a:rPr lang="en-US" altLang="zh-CN" sz="2400" dirty="0">
                <a:latin typeface="楷体" panose="02010609060101010101" pitchFamily="49" charset="-122"/>
                <a:ea typeface="楷体" panose="02010609060101010101" pitchFamily="49" charset="-122"/>
              </a:rPr>
              <a:t>outlook=rainy</a:t>
            </a:r>
            <a:r>
              <a:rPr lang="zh-CN" altLang="en-US" sz="2400" dirty="0">
                <a:latin typeface="楷体" panose="02010609060101010101" pitchFamily="49" charset="-122"/>
                <a:ea typeface="楷体" panose="02010609060101010101" pitchFamily="49" charset="-122"/>
              </a:rPr>
              <a:t>的样本数为</a:t>
            </a:r>
            <a:r>
              <a:rPr lang="en-US" altLang="zh-CN" sz="2400" dirty="0">
                <a:latin typeface="楷体" panose="02010609060101010101" pitchFamily="49" charset="-122"/>
                <a:ea typeface="楷体" panose="02010609060101010101" pitchFamily="49" charset="-122"/>
              </a:rPr>
              <a:t>5+5/14</a:t>
            </a:r>
            <a:r>
              <a:rPr lang="zh-CN" altLang="en-US" sz="2400" dirty="0">
                <a:latin typeface="楷体" panose="02010609060101010101" pitchFamily="49" charset="-122"/>
                <a:ea typeface="楷体" panose="02010609060101010101" pitchFamily="49" charset="-122"/>
              </a:rPr>
              <a:t>个。</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642206" y="1013319"/>
            <a:ext cx="8163307" cy="485515"/>
          </a:xfrm>
        </p:spPr>
        <p:txBody>
          <a:bodyPr>
            <a:noAutofit/>
          </a:bodyPr>
          <a:lstStyle/>
          <a:p>
            <a:r>
              <a:rPr lang="en-US" altLang="zh-CN" sz="2400" dirty="0">
                <a:latin typeface="楷体" panose="02010609060101010101" pitchFamily="49" charset="-122"/>
                <a:ea typeface="楷体" panose="02010609060101010101" pitchFamily="49" charset="-122"/>
              </a:rPr>
              <a:t> k</a:t>
            </a:r>
            <a:r>
              <a:rPr lang="zh-CN" altLang="en-US" sz="2400" dirty="0">
                <a:latin typeface="楷体" panose="02010609060101010101" pitchFamily="49" charset="-122"/>
                <a:ea typeface="楷体" panose="02010609060101010101" pitchFamily="49" charset="-122"/>
              </a:rPr>
              <a:t>次交叉验证</a:t>
            </a:r>
            <a:endParaRPr lang="zh-CN" altLang="zh-CN" sz="2400" dirty="0">
              <a:latin typeface="楷体" panose="02010609060101010101" pitchFamily="49" charset="-122"/>
              <a:ea typeface="楷体" panose="02010609060101010101" pitchFamily="49" charset="-122"/>
            </a:endParaRPr>
          </a:p>
        </p:txBody>
      </p:sp>
      <p:sp>
        <p:nvSpPr>
          <p:cNvPr id="2" name="矩形 1"/>
          <p:cNvSpPr/>
          <p:nvPr/>
        </p:nvSpPr>
        <p:spPr>
          <a:xfrm>
            <a:off x="2014316" y="1776212"/>
            <a:ext cx="8163307" cy="526224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交叉验证是一种</a:t>
            </a:r>
            <a:r>
              <a:rPr lang="zh-CN" altLang="en-US" sz="2400" b="1" dirty="0">
                <a:latin typeface="楷体" panose="02010609060101010101" pitchFamily="49" charset="-122"/>
                <a:ea typeface="楷体" panose="02010609060101010101" pitchFamily="49" charset="-122"/>
              </a:rPr>
              <a:t>模型评估</a:t>
            </a:r>
            <a:r>
              <a:rPr lang="zh-CN" altLang="en-US" sz="2400" dirty="0">
                <a:latin typeface="楷体" panose="02010609060101010101" pitchFamily="49" charset="-122"/>
                <a:ea typeface="楷体" panose="02010609060101010101" pitchFamily="49" charset="-122"/>
              </a:rPr>
              <a:t>方法，它将使用学习样本产生的决策树模型应用于</a:t>
            </a:r>
            <a:r>
              <a:rPr lang="zh-CN" altLang="en-US" sz="2400" b="1" dirty="0">
                <a:solidFill>
                  <a:schemeClr val="tx1"/>
                </a:solidFill>
                <a:latin typeface="楷体" panose="02010609060101010101" pitchFamily="49" charset="-122"/>
                <a:ea typeface="楷体" panose="02010609060101010101" pitchFamily="49" charset="-122"/>
              </a:rPr>
              <a:t>独立的测试样本</a:t>
            </a:r>
            <a:r>
              <a:rPr lang="zh-CN" altLang="en-US" sz="2400" dirty="0">
                <a:latin typeface="楷体" panose="02010609060101010101" pitchFamily="49" charset="-122"/>
                <a:ea typeface="楷体" panose="02010609060101010101" pitchFamily="49" charset="-122"/>
              </a:rPr>
              <a:t>，从而对学习的结果进行验证。如果对学习样本进行分析产生的大多数或者全部分支都是基于随机噪声的，那么使用测试样本进行分类的结果将非常糟糕。</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如果将上述的学习</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验证过程重复</a:t>
            </a:r>
            <a:r>
              <a:rPr lang="en-US" altLang="zh-CN" sz="2400" dirty="0">
                <a:latin typeface="楷体" panose="02010609060101010101" pitchFamily="49" charset="-122"/>
                <a:ea typeface="楷体" panose="02010609060101010101" pitchFamily="49" charset="-122"/>
              </a:rPr>
              <a:t>k</a:t>
            </a:r>
            <a:r>
              <a:rPr lang="zh-CN" altLang="en-US" sz="2400" dirty="0">
                <a:latin typeface="楷体" panose="02010609060101010101" pitchFamily="49" charset="-122"/>
                <a:ea typeface="楷体" panose="02010609060101010101" pitchFamily="49" charset="-122"/>
              </a:rPr>
              <a:t>次，就称为</a:t>
            </a:r>
            <a:r>
              <a:rPr lang="en-US" altLang="zh-CN" sz="2400" dirty="0">
                <a:latin typeface="楷体" panose="02010609060101010101" pitchFamily="49" charset="-122"/>
                <a:ea typeface="楷体" panose="02010609060101010101" pitchFamily="49" charset="-122"/>
              </a:rPr>
              <a:t>k</a:t>
            </a:r>
            <a:r>
              <a:rPr lang="zh-CN" altLang="en-US" sz="2400" dirty="0">
                <a:latin typeface="楷体" panose="02010609060101010101" pitchFamily="49" charset="-122"/>
                <a:ea typeface="楷体" panose="02010609060101010101" pitchFamily="49" charset="-122"/>
              </a:rPr>
              <a:t>次迭代交叉验证。</a:t>
            </a:r>
            <a:r>
              <a:rPr lang="zh-CN" altLang="en-US" sz="2400" b="1" dirty="0">
                <a:solidFill>
                  <a:srgbClr val="C00000"/>
                </a:solidFill>
                <a:latin typeface="楷体" panose="02010609060101010101" pitchFamily="49" charset="-122"/>
                <a:ea typeface="楷体" panose="02010609060101010101" pitchFamily="49" charset="-122"/>
              </a:rPr>
              <a:t>首先将所有的训练样本平均分成</a:t>
            </a:r>
            <a:r>
              <a:rPr lang="en-US" altLang="zh-CN" sz="2400" b="1" dirty="0">
                <a:solidFill>
                  <a:srgbClr val="C00000"/>
                </a:solidFill>
                <a:latin typeface="楷体" panose="02010609060101010101" pitchFamily="49" charset="-122"/>
                <a:ea typeface="楷体" panose="02010609060101010101" pitchFamily="49" charset="-122"/>
              </a:rPr>
              <a:t>k</a:t>
            </a:r>
            <a:r>
              <a:rPr lang="zh-CN" altLang="en-US" sz="2400" b="1" dirty="0">
                <a:solidFill>
                  <a:srgbClr val="C00000"/>
                </a:solidFill>
                <a:latin typeface="楷体" panose="02010609060101010101" pitchFamily="49" charset="-122"/>
                <a:ea typeface="楷体" panose="02010609060101010101" pitchFamily="49" charset="-122"/>
              </a:rPr>
              <a:t>份，每次使用其中的一份作为测试样本，使用其余的</a:t>
            </a:r>
            <a:r>
              <a:rPr lang="en-US" altLang="zh-CN" sz="2400" b="1" dirty="0">
                <a:solidFill>
                  <a:srgbClr val="C00000"/>
                </a:solidFill>
                <a:latin typeface="楷体" panose="02010609060101010101" pitchFamily="49" charset="-122"/>
                <a:ea typeface="楷体" panose="02010609060101010101" pitchFamily="49" charset="-122"/>
              </a:rPr>
              <a:t>k-1</a:t>
            </a:r>
            <a:r>
              <a:rPr lang="zh-CN" altLang="en-US" sz="2400" b="1" dirty="0">
                <a:solidFill>
                  <a:srgbClr val="C00000"/>
                </a:solidFill>
                <a:latin typeface="楷体" panose="02010609060101010101" pitchFamily="49" charset="-122"/>
                <a:ea typeface="楷体" panose="02010609060101010101" pitchFamily="49" charset="-122"/>
              </a:rPr>
              <a:t>次作为学习样本，然后选择平均分类精度最高的树作为最后的结果</a:t>
            </a:r>
            <a:r>
              <a:rPr lang="zh-CN" altLang="en-US" sz="2400" dirty="0">
                <a:latin typeface="楷体" panose="02010609060101010101" pitchFamily="49" charset="-122"/>
                <a:ea typeface="楷体" panose="02010609060101010101" pitchFamily="49" charset="-122"/>
              </a:rPr>
              <a:t>。通常，分类精度最高的树并不是节点最多的树。除了用于选择规模较小的树，交叉验证还用于决策树的修剪。</a:t>
            </a:r>
            <a:r>
              <a:rPr lang="en-US" altLang="zh-CN" sz="2400" dirty="0">
                <a:latin typeface="楷体" panose="02010609060101010101" pitchFamily="49" charset="-122"/>
                <a:ea typeface="楷体" panose="02010609060101010101" pitchFamily="49" charset="-122"/>
              </a:rPr>
              <a:t>k</a:t>
            </a:r>
            <a:r>
              <a:rPr lang="zh-CN" altLang="en-US" sz="2400" dirty="0">
                <a:latin typeface="楷体" panose="02010609060101010101" pitchFamily="49" charset="-122"/>
                <a:ea typeface="楷体" panose="02010609060101010101" pitchFamily="49" charset="-122"/>
              </a:rPr>
              <a:t>次迭代交叉验证非常适用于训练样本熟悉比较少的情形。但是由于要构建</a:t>
            </a:r>
            <a:r>
              <a:rPr lang="en-US" altLang="zh-CN" sz="2400" dirty="0">
                <a:latin typeface="楷体" panose="02010609060101010101" pitchFamily="49" charset="-122"/>
                <a:ea typeface="楷体" panose="02010609060101010101" pitchFamily="49" charset="-122"/>
              </a:rPr>
              <a:t>k</a:t>
            </a:r>
            <a:r>
              <a:rPr lang="zh-CN" altLang="en-US" sz="2400" dirty="0">
                <a:latin typeface="楷体" panose="02010609060101010101" pitchFamily="49" charset="-122"/>
                <a:ea typeface="楷体" panose="02010609060101010101" pitchFamily="49" charset="-122"/>
              </a:rPr>
              <a:t>棵决策树，它的计算量非常大。</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1564101" y="997444"/>
            <a:ext cx="8163307" cy="485515"/>
          </a:xfrm>
        </p:spPr>
        <p:txBody>
          <a:bodyPr>
            <a:noAutofit/>
          </a:bodyPr>
          <a:lstStyle/>
          <a:p>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规则的产生</a:t>
            </a:r>
            <a:endParaRPr lang="zh-CN" altLang="zh-CN" sz="2400" dirty="0">
              <a:latin typeface="楷体" panose="02010609060101010101" pitchFamily="49" charset="-122"/>
              <a:ea typeface="楷体" panose="02010609060101010101" pitchFamily="49" charset="-122"/>
            </a:endParaRPr>
          </a:p>
        </p:txBody>
      </p:sp>
      <p:sp>
        <p:nvSpPr>
          <p:cNvPr id="2" name="矩形 1"/>
          <p:cNvSpPr/>
          <p:nvPr/>
        </p:nvSpPr>
        <p:spPr>
          <a:xfrm>
            <a:off x="1720946" y="1870192"/>
            <a:ext cx="8163307" cy="3107690"/>
          </a:xfrm>
          <a:prstGeom prst="rect">
            <a:avLst/>
          </a:prstGeom>
        </p:spPr>
        <p:txBody>
          <a:bodyPr wrap="square">
            <a:spAutoFit/>
          </a:bodyPr>
          <a:lstStyle/>
          <a:p>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还提供了将决策树模型转换为</a:t>
            </a:r>
            <a:r>
              <a:rPr lang="en-US" altLang="zh-CN" sz="2800" dirty="0">
                <a:latin typeface="楷体" panose="02010609060101010101" pitchFamily="49" charset="-122"/>
                <a:ea typeface="楷体" panose="02010609060101010101" pitchFamily="49" charset="-122"/>
              </a:rPr>
              <a:t>if-then</a:t>
            </a:r>
            <a:r>
              <a:rPr lang="zh-CN" altLang="en-US" sz="2800" dirty="0">
                <a:latin typeface="楷体" panose="02010609060101010101" pitchFamily="49" charset="-122"/>
                <a:ea typeface="楷体" panose="02010609060101010101" pitchFamily="49" charset="-122"/>
              </a:rPr>
              <a:t>规则的算法。规则存储于一个二维数组中，每一行代表一个规则</a:t>
            </a:r>
            <a:r>
              <a:rPr lang="zh-CN" altLang="en-US" sz="2800" dirty="0">
                <a:latin typeface="楷体" panose="02010609060101010101" pitchFamily="49" charset="-122"/>
                <a:ea typeface="楷体" panose="02010609060101010101" pitchFamily="49" charset="-122"/>
              </a:rPr>
              <a:t>。表的每一列代表样本的一个属性，列的值代表了属性的不同取值，例如，对于分类属性来说，</a:t>
            </a:r>
            <a:r>
              <a:rPr lang="en-US" altLang="zh-CN" sz="2800" dirty="0">
                <a:latin typeface="楷体" panose="02010609060101010101" pitchFamily="49" charset="-122"/>
                <a:ea typeface="楷体" panose="02010609060101010101" pitchFamily="49" charset="-122"/>
              </a:rPr>
              <a:t>0</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分别代表取属性的第一、二个值，对于数值属性来说，</a:t>
            </a:r>
            <a:r>
              <a:rPr lang="en-US" altLang="zh-CN" sz="2800" dirty="0">
                <a:latin typeface="楷体" panose="02010609060101010101" pitchFamily="49" charset="-122"/>
                <a:ea typeface="楷体" panose="02010609060101010101" pitchFamily="49" charset="-122"/>
              </a:rPr>
              <a:t>0</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分别代表小予等于和大于阈值。如果列值为</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，则代表工作中不包含该属性。</a:t>
            </a:r>
            <a:endParaRPr lang="zh-CN" altLang="en-US" sz="2800" dirty="0">
              <a:latin typeface="楷体" panose="02010609060101010101" pitchFamily="49" charset="-122"/>
              <a:ea typeface="楷体" panose="02010609060101010101" pitchFamily="49" charset="-122"/>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4.6.2 C4.5</a:t>
            </a:r>
            <a:r>
              <a:rPr lang="zh-CN" altLang="en-US" dirty="0">
                <a:latin typeface="楷体" panose="02010609060101010101" pitchFamily="49" charset="-122"/>
                <a:ea typeface="楷体" panose="02010609060101010101" pitchFamily="49" charset="-122"/>
              </a:rPr>
              <a:t>算法的伪代码</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1439481" y="1251283"/>
            <a:ext cx="10291308" cy="5078313"/>
          </a:xfrm>
          <a:prstGeom prst="rect">
            <a:avLst/>
          </a:prstGeom>
        </p:spPr>
        <p:txBody>
          <a:bodyPr wrap="square">
            <a:spAutoFit/>
          </a:bodyPr>
          <a:lstStyle/>
          <a:p>
            <a:r>
              <a:rPr lang="zh-CN" altLang="en-US" dirty="0">
                <a:latin typeface="楷体" panose="02010609060101010101" pitchFamily="49" charset="-122"/>
                <a:ea typeface="楷体" panose="02010609060101010101" pitchFamily="49" charset="-122"/>
              </a:rPr>
              <a:t>假设用</a:t>
            </a:r>
            <a:r>
              <a:rPr lang="en-US" altLang="zh-CN" dirty="0">
                <a:latin typeface="楷体" panose="02010609060101010101" pitchFamily="49" charset="-122"/>
                <a:ea typeface="楷体" panose="02010609060101010101" pitchFamily="49" charset="-122"/>
              </a:rPr>
              <a:t>S</a:t>
            </a:r>
            <a:r>
              <a:rPr lang="zh-CN" altLang="en-US" dirty="0">
                <a:latin typeface="楷体" panose="02010609060101010101" pitchFamily="49" charset="-122"/>
                <a:ea typeface="楷体" panose="02010609060101010101" pitchFamily="49" charset="-122"/>
              </a:rPr>
              <a:t>代表当前样本集，当前候选属性集用</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表示，则</a:t>
            </a:r>
            <a:r>
              <a:rPr lang="en-US" altLang="zh-CN" dirty="0">
                <a:latin typeface="楷体" panose="02010609060101010101" pitchFamily="49" charset="-122"/>
                <a:ea typeface="楷体" panose="02010609060101010101" pitchFamily="49" charset="-122"/>
              </a:rPr>
              <a:t>C4.5</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C4.5formtree(S, A)</a:t>
            </a:r>
            <a:r>
              <a:rPr lang="zh-CN" altLang="en-US" dirty="0">
                <a:latin typeface="楷体" panose="02010609060101010101" pitchFamily="49" charset="-122"/>
                <a:ea typeface="楷体" panose="02010609060101010101" pitchFamily="49" charset="-122"/>
              </a:rPr>
              <a:t>的伪代码如下。</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算法：</a:t>
            </a:r>
            <a:r>
              <a:rPr lang="en-US" altLang="zh-CN" dirty="0" err="1">
                <a:latin typeface="楷体" panose="02010609060101010101" pitchFamily="49" charset="-122"/>
                <a:ea typeface="楷体" panose="02010609060101010101" pitchFamily="49" charset="-122"/>
              </a:rPr>
              <a:t>Generate_decision_tree</a:t>
            </a:r>
            <a:r>
              <a:rPr lang="zh-CN" altLang="en-US" dirty="0">
                <a:latin typeface="楷体" panose="02010609060101010101" pitchFamily="49" charset="-122"/>
                <a:ea typeface="楷体" panose="02010609060101010101" pitchFamily="49" charset="-122"/>
              </a:rPr>
              <a:t>由给定的训练数据产生一棵决策树</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输入：训练样本</a:t>
            </a:r>
            <a:r>
              <a:rPr lang="en-US" altLang="zh-CN" dirty="0">
                <a:latin typeface="楷体" panose="02010609060101010101" pitchFamily="49" charset="-122"/>
                <a:ea typeface="楷体" panose="02010609060101010101" pitchFamily="49" charset="-122"/>
              </a:rPr>
              <a:t>samples</a:t>
            </a:r>
            <a:r>
              <a:rPr lang="zh-CN" altLang="en-US" dirty="0">
                <a:latin typeface="楷体" panose="02010609060101010101" pitchFamily="49" charset="-122"/>
                <a:ea typeface="楷体" panose="02010609060101010101" pitchFamily="49" charset="-122"/>
              </a:rPr>
              <a:t>；候选属性的集合</a:t>
            </a:r>
            <a:r>
              <a:rPr lang="en-US" altLang="zh-CN" dirty="0" err="1">
                <a:latin typeface="楷体" panose="02010609060101010101" pitchFamily="49" charset="-122"/>
                <a:ea typeface="楷体" panose="02010609060101010101" pitchFamily="49" charset="-122"/>
              </a:rPr>
              <a:t>attributelist</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输出：一棵决策树</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	创建根节点</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IF S</a:t>
            </a:r>
            <a:r>
              <a:rPr lang="zh-CN" altLang="en-US" dirty="0">
                <a:latin typeface="楷体" panose="02010609060101010101" pitchFamily="49" charset="-122"/>
                <a:ea typeface="楷体" panose="02010609060101010101" pitchFamily="49" charset="-122"/>
              </a:rPr>
              <a:t>都属于同一类</a:t>
            </a:r>
            <a:r>
              <a:rPr lang="en-US" altLang="zh-CN" dirty="0">
                <a:latin typeface="楷体" panose="02010609060101010101" pitchFamily="49" charset="-122"/>
                <a:ea typeface="楷体" panose="02010609060101010101" pitchFamily="49" charset="-122"/>
              </a:rPr>
              <a:t>C</a:t>
            </a:r>
            <a:r>
              <a:rPr lang="zh-CN" altLang="en-US" dirty="0">
                <a:latin typeface="楷体" panose="02010609060101010101" pitchFamily="49" charset="-122"/>
                <a:ea typeface="楷体" panose="02010609060101010101" pitchFamily="49" charset="-122"/>
              </a:rPr>
              <a:t>，则返回</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为叶节点，标记为类</a:t>
            </a:r>
            <a:r>
              <a:rPr lang="en-US" altLang="zh-CN" dirty="0">
                <a:latin typeface="楷体" panose="02010609060101010101" pitchFamily="49" charset="-122"/>
                <a:ea typeface="楷体" panose="02010609060101010101" pitchFamily="49" charset="-122"/>
              </a:rPr>
              <a:t>C</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IF </a:t>
            </a:r>
            <a:r>
              <a:rPr lang="en-US" altLang="zh-CN" dirty="0" err="1">
                <a:latin typeface="楷体" panose="02010609060101010101" pitchFamily="49" charset="-122"/>
                <a:ea typeface="楷体" panose="02010609060101010101" pitchFamily="49" charset="-122"/>
              </a:rPr>
              <a:t>attributelist</a:t>
            </a:r>
            <a:r>
              <a:rPr lang="zh-CN" altLang="en-US" dirty="0">
                <a:latin typeface="楷体" panose="02010609060101010101" pitchFamily="49" charset="-122"/>
                <a:ea typeface="楷体" panose="02010609060101010101" pitchFamily="49" charset="-122"/>
              </a:rPr>
              <a:t>为空 </a:t>
            </a:r>
            <a:r>
              <a:rPr lang="en-US" altLang="zh-CN" dirty="0">
                <a:latin typeface="楷体" panose="02010609060101010101" pitchFamily="49" charset="-122"/>
                <a:ea typeface="楷体" panose="02010609060101010101" pitchFamily="49" charset="-122"/>
              </a:rPr>
              <a:t>OR S</a:t>
            </a:r>
            <a:r>
              <a:rPr lang="zh-CN" altLang="en-US" dirty="0">
                <a:latin typeface="楷体" panose="02010609060101010101" pitchFamily="49" charset="-122"/>
                <a:ea typeface="楷体" panose="02010609060101010101" pitchFamily="49" charset="-122"/>
              </a:rPr>
              <a:t>中所剩的样本数少于某给定值</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则返回</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为叶节点，标记</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为</a:t>
            </a:r>
            <a:r>
              <a:rPr lang="en-US" altLang="zh-CN" dirty="0">
                <a:latin typeface="楷体" panose="02010609060101010101" pitchFamily="49" charset="-122"/>
                <a:ea typeface="楷体" panose="02010609060101010101" pitchFamily="49" charset="-122"/>
              </a:rPr>
              <a:t>S</a:t>
            </a:r>
            <a:r>
              <a:rPr lang="zh-CN" altLang="en-US" dirty="0">
                <a:latin typeface="楷体" panose="02010609060101010101" pitchFamily="49" charset="-122"/>
                <a:ea typeface="楷体" panose="02010609060101010101" pitchFamily="49" charset="-122"/>
              </a:rPr>
              <a:t>中出现最多的类；</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FOR each  </a:t>
            </a:r>
            <a:r>
              <a:rPr lang="en-US" altLang="zh-CN" dirty="0" err="1">
                <a:latin typeface="楷体" panose="02010609060101010101" pitchFamily="49" charset="-122"/>
                <a:ea typeface="楷体" panose="02010609060101010101" pitchFamily="49" charset="-122"/>
              </a:rPr>
              <a:t>attributelist</a:t>
            </a:r>
            <a:r>
              <a:rPr lang="zh-CN" altLang="en-US" dirty="0">
                <a:latin typeface="楷体" panose="02010609060101010101" pitchFamily="49" charset="-122"/>
                <a:ea typeface="楷体" panose="02010609060101010101" pitchFamily="49" charset="-122"/>
              </a:rPr>
              <a:t>中的属性</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计算信息增益率</a:t>
            </a:r>
            <a:r>
              <a:rPr lang="en-US" altLang="zh-CN" dirty="0">
                <a:latin typeface="楷体" panose="02010609060101010101" pitchFamily="49" charset="-122"/>
                <a:ea typeface="楷体" panose="02010609060101010101" pitchFamily="49" charset="-122"/>
              </a:rPr>
              <a:t>information gain ratio</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的测试属性</a:t>
            </a:r>
            <a:r>
              <a:rPr lang="en-US" altLang="zh-CN" dirty="0" err="1">
                <a:latin typeface="楷体" panose="02010609060101010101" pitchFamily="49" charset="-122"/>
                <a:ea typeface="楷体" panose="02010609060101010101" pitchFamily="49" charset="-122"/>
              </a:rPr>
              <a:t>test.attribute</a:t>
            </a:r>
            <a:r>
              <a:rPr lang="en-US" altLang="zh-CN" dirty="0">
                <a:latin typeface="楷体" panose="02010609060101010101" pitchFamily="49" charset="-122"/>
                <a:ea typeface="楷体" panose="02010609060101010101" pitchFamily="49" charset="-122"/>
              </a:rPr>
              <a:t> = </a:t>
            </a:r>
            <a:r>
              <a:rPr lang="en-US" altLang="zh-CN" dirty="0" err="1">
                <a:latin typeface="楷体" panose="02010609060101010101" pitchFamily="49" charset="-122"/>
                <a:ea typeface="楷体" panose="02010609060101010101" pitchFamily="49" charset="-122"/>
              </a:rPr>
              <a:t>attributelist</a:t>
            </a:r>
            <a:r>
              <a:rPr lang="zh-CN" altLang="en-US" dirty="0">
                <a:latin typeface="楷体" panose="02010609060101010101" pitchFamily="49" charset="-122"/>
                <a:ea typeface="楷体" panose="02010609060101010101" pitchFamily="49" charset="-122"/>
              </a:rPr>
              <a:t>具有最高信息增益率的属性；</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IF</a:t>
            </a:r>
            <a:r>
              <a:rPr lang="zh-CN" altLang="en-US" dirty="0">
                <a:latin typeface="楷体" panose="02010609060101010101" pitchFamily="49" charset="-122"/>
                <a:ea typeface="楷体" panose="02010609060101010101" pitchFamily="49" charset="-122"/>
              </a:rPr>
              <a:t>测试属性为连续型</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则找到该属性的分割阈值；</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For each</a:t>
            </a:r>
            <a:r>
              <a:rPr lang="zh-CN" altLang="en-US" dirty="0">
                <a:latin typeface="楷体" panose="02010609060101010101" pitchFamily="49" charset="-122"/>
                <a:ea typeface="楷体" panose="02010609060101010101" pitchFamily="49" charset="-122"/>
              </a:rPr>
              <a:t>由节点</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一个新的叶子节点</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		If</a:t>
            </a:r>
            <a:r>
              <a:rPr lang="zh-CN" altLang="en-US" dirty="0">
                <a:latin typeface="楷体" panose="02010609060101010101" pitchFamily="49" charset="-122"/>
                <a:ea typeface="楷体" panose="02010609060101010101" pitchFamily="49" charset="-122"/>
              </a:rPr>
              <a:t>该叶子节点对应的样本子集</a:t>
            </a:r>
            <a:r>
              <a:rPr lang="en-US" altLang="zh-CN" dirty="0">
                <a:latin typeface="楷体" panose="02010609060101010101" pitchFamily="49" charset="-122"/>
                <a:ea typeface="楷体" panose="02010609060101010101" pitchFamily="49" charset="-122"/>
              </a:rPr>
              <a:t>S’</a:t>
            </a:r>
            <a:r>
              <a:rPr lang="zh-CN" altLang="en-US" dirty="0">
                <a:latin typeface="楷体" panose="02010609060101010101" pitchFamily="49" charset="-122"/>
                <a:ea typeface="楷体" panose="02010609060101010101" pitchFamily="49" charset="-122"/>
              </a:rPr>
              <a:t>为空</a:t>
            </a:r>
            <a:endParaRPr lang="zh-CN" altLang="en-US"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则分裂此叶子节点生成新叶节点，将其标记为</a:t>
            </a:r>
            <a:r>
              <a:rPr lang="en-US" altLang="zh-CN" dirty="0">
                <a:latin typeface="楷体" panose="02010609060101010101" pitchFamily="49" charset="-122"/>
                <a:ea typeface="楷体" panose="02010609060101010101" pitchFamily="49" charset="-122"/>
              </a:rPr>
              <a:t>S</a:t>
            </a:r>
            <a:r>
              <a:rPr lang="zh-CN" altLang="en-US" dirty="0">
                <a:latin typeface="楷体" panose="02010609060101010101" pitchFamily="49" charset="-122"/>
                <a:ea typeface="楷体" panose="02010609060101010101" pitchFamily="49" charset="-122"/>
              </a:rPr>
              <a:t>中出现最多的类	</a:t>
            </a:r>
            <a:r>
              <a:rPr lang="en-US" altLang="zh-CN" dirty="0">
                <a:latin typeface="楷体" panose="02010609060101010101" pitchFamily="49" charset="-122"/>
                <a:ea typeface="楷体" panose="02010609060101010101" pitchFamily="49" charset="-122"/>
              </a:rPr>
              <a:t>Else</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在该叶子节点上执行</a:t>
            </a:r>
            <a:r>
              <a:rPr lang="en-US" altLang="zh-CN" dirty="0">
                <a:latin typeface="楷体" panose="02010609060101010101" pitchFamily="49" charset="-122"/>
                <a:ea typeface="楷体" panose="02010609060101010101" pitchFamily="49" charset="-122"/>
              </a:rPr>
              <a:t>C4.5formtree(S’, S’.</a:t>
            </a:r>
            <a:r>
              <a:rPr lang="en-US" altLang="zh-CN" dirty="0" err="1">
                <a:latin typeface="楷体" panose="02010609060101010101" pitchFamily="49" charset="-122"/>
                <a:ea typeface="楷体" panose="02010609060101010101" pitchFamily="49" charset="-122"/>
              </a:rPr>
              <a:t>attributelist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，继续对它分裂；	</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	计算每个节点的分类错误，进行剪枝。</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387442" y="247118"/>
            <a:ext cx="8911687" cy="687332"/>
          </a:xfrm>
        </p:spPr>
        <p:txBody>
          <a:bodyPr/>
          <a:lstStyle/>
          <a:p>
            <a:r>
              <a:rPr lang="en-US" altLang="zh-CN" dirty="0">
                <a:latin typeface="楷体" panose="02010609060101010101" pitchFamily="49" charset="-122"/>
                <a:ea typeface="楷体" panose="02010609060101010101" pitchFamily="49" charset="-122"/>
              </a:rPr>
              <a:t>4.7 C4.5</a:t>
            </a:r>
            <a:r>
              <a:rPr lang="zh-CN" altLang="en-US" dirty="0">
                <a:latin typeface="楷体" panose="02010609060101010101" pitchFamily="49" charset="-122"/>
                <a:ea typeface="楷体" panose="02010609060101010101" pitchFamily="49" charset="-122"/>
              </a:rPr>
              <a:t>算法实例分析</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1001395" y="1483360"/>
            <a:ext cx="4359275" cy="267652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下面我们通过对毕业生就业信息的分析加以理解。在这个分析的结果能够帮助教育者寻找到可能影响毕业生就业的信息，从而在今后的教学过程中进行改进，使得毕业生在就业时更具有竞争力。</a:t>
            </a:r>
            <a:endParaRPr lang="zh-CN" altLang="en-US" sz="24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5182870" y="247015"/>
          <a:ext cx="7332980" cy="6522085"/>
        </p:xfrm>
        <a:graphic>
          <a:graphicData uri="http://schemas.openxmlformats.org/presentationml/2006/ole">
            <mc:AlternateContent xmlns:mc="http://schemas.openxmlformats.org/markup-compatibility/2006">
              <mc:Choice xmlns:v="urn:schemas-microsoft-com:vml" Requires="v">
                <p:oleObj spid="_x0000_s25606" name="Document" r:id="rId1" imgW="5276215" imgH="4687570" progId="Word.Document.8">
                  <p:embed/>
                </p:oleObj>
              </mc:Choice>
              <mc:Fallback>
                <p:oleObj name="Document" r:id="rId1" imgW="5276215" imgH="468757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870" y="247015"/>
                        <a:ext cx="7332980" cy="6522085"/>
                      </a:xfrm>
                      <a:prstGeom prst="rect">
                        <a:avLst/>
                      </a:prstGeom>
                      <a:noFill/>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04010" y="394335"/>
            <a:ext cx="9225280" cy="119888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上表的数据是经过预处理的数据集，从表中我们可以得到类标号属性“就业情况”有</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个不同的值（“已”，“未”），因此有</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个不同的类。其中对应于类值“已”有</a:t>
            </a:r>
            <a:r>
              <a:rPr lang="en-US" altLang="zh-CN" sz="2400" dirty="0">
                <a:latin typeface="楷体" panose="02010609060101010101" pitchFamily="49" charset="-122"/>
                <a:ea typeface="楷体" panose="02010609060101010101" pitchFamily="49" charset="-122"/>
              </a:rPr>
              <a:t>14</a:t>
            </a:r>
            <a:r>
              <a:rPr lang="zh-CN" altLang="en-US" sz="2400" dirty="0">
                <a:latin typeface="楷体" panose="02010609060101010101" pitchFamily="49" charset="-122"/>
                <a:ea typeface="楷体" panose="02010609060101010101" pitchFamily="49" charset="-122"/>
              </a:rPr>
              <a:t>个样本，类值“未”有</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个样本。</a:t>
            </a:r>
            <a:endParaRPr lang="zh-CN" altLang="en-US" sz="24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矩形 6"/>
          <p:cNvSpPr/>
          <p:nvPr/>
        </p:nvSpPr>
        <p:spPr>
          <a:xfrm>
            <a:off x="1037590" y="1593215"/>
            <a:ext cx="10959465" cy="1198880"/>
          </a:xfrm>
          <a:prstGeom prst="rect">
            <a:avLst/>
          </a:prstGeom>
        </p:spPr>
        <p:txBody>
          <a:bodyPr wrap="square">
            <a:spAutoFit/>
          </a:bodyPr>
          <a:lstStyle/>
          <a:p>
            <a:r>
              <a:rPr lang="zh-CN" altLang="zh-CN" sz="2400" dirty="0">
                <a:latin typeface="楷体" panose="02010609060101010101" pitchFamily="49" charset="-122"/>
                <a:ea typeface="楷体" panose="02010609060101010101" pitchFamily="49" charset="-122"/>
                <a:cs typeface="Times New Roman" panose="02020603050405020304" pitchFamily="18" charset="0"/>
              </a:rPr>
              <a:t>我们先计算训练集的全部信息量：</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r>
              <a:rPr lang="en-US" altLang="zh-CN" sz="2400" dirty="0">
                <a:latin typeface="楷体" panose="02010609060101010101" pitchFamily="49" charset="-122"/>
                <a:ea typeface="楷体" panose="02010609060101010101" pitchFamily="49" charset="-122"/>
              </a:rPr>
              <a:t>    entropy(</a:t>
            </a:r>
            <a:r>
              <a:rPr lang="zh-CN" altLang="en-US" sz="2400" dirty="0">
                <a:latin typeface="楷体" panose="02010609060101010101" pitchFamily="49" charset="-122"/>
                <a:ea typeface="楷体" panose="02010609060101010101" pitchFamily="49" charset="-122"/>
              </a:rPr>
              <a:t>就业情况</a:t>
            </a:r>
            <a:r>
              <a:rPr lang="en-US" altLang="zh-CN" sz="2400" dirty="0">
                <a:latin typeface="楷体" panose="02010609060101010101" pitchFamily="49" charset="-122"/>
                <a:ea typeface="楷体" panose="02010609060101010101" pitchFamily="49" charset="-122"/>
              </a:rPr>
              <a:t>) = entropy(14, 8) = -14/22log2(14/22)-8/22log2(8/22) = 0.04566030</a:t>
            </a:r>
            <a:endParaRPr lang="en-US" altLang="zh-CN" sz="2400" dirty="0">
              <a:latin typeface="楷体" panose="02010609060101010101" pitchFamily="49" charset="-122"/>
              <a:ea typeface="楷体" panose="02010609060101010101" pitchFamily="49" charset="-122"/>
            </a:endParaRPr>
          </a:p>
        </p:txBody>
      </p:sp>
      <p:sp>
        <p:nvSpPr>
          <p:cNvPr id="11" name="矩形 10"/>
          <p:cNvSpPr/>
          <p:nvPr/>
        </p:nvSpPr>
        <p:spPr>
          <a:xfrm>
            <a:off x="1483995" y="2792095"/>
            <a:ext cx="10513060" cy="4646295"/>
          </a:xfrm>
          <a:prstGeom prst="rect">
            <a:avLst/>
          </a:prstGeom>
        </p:spPr>
        <p:txBody>
          <a:bodyPr wrap="square">
            <a:spAutoFit/>
          </a:bodyPr>
          <a:lstStyle/>
          <a:p>
            <a:r>
              <a:rPr lang="zh-CN" altLang="en-US" sz="2000" dirty="0">
                <a:latin typeface="楷体" panose="02010609060101010101" pitchFamily="49" charset="-122"/>
                <a:ea typeface="楷体" panose="02010609060101010101" pitchFamily="49" charset="-122"/>
              </a:rPr>
              <a:t>接着，需要计算每个属性的信息增益比。如以属性“性别”为例：</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entropy(</a:t>
            </a:r>
            <a:r>
              <a:rPr lang="zh-CN" altLang="en-US" sz="2000" dirty="0">
                <a:latin typeface="楷体" panose="02010609060101010101" pitchFamily="49" charset="-122"/>
                <a:ea typeface="楷体" panose="02010609060101010101" pitchFamily="49" charset="-122"/>
              </a:rPr>
              <a:t>男</a:t>
            </a:r>
            <a:r>
              <a:rPr lang="en-US" altLang="zh-CN" sz="2000" dirty="0">
                <a:latin typeface="楷体" panose="02010609060101010101" pitchFamily="49" charset="-122"/>
                <a:ea typeface="楷体" panose="02010609060101010101" pitchFamily="49" charset="-122"/>
              </a:rPr>
              <a:t>) = entropy(10, 7) = -10/17log2(10/17)-7/17log2(7/17)=0.97741728</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entropy(</a:t>
            </a:r>
            <a:r>
              <a:rPr lang="zh-CN" altLang="en-US" sz="2000" dirty="0">
                <a:latin typeface="楷体" panose="02010609060101010101" pitchFamily="49" charset="-122"/>
                <a:ea typeface="楷体" panose="02010609060101010101" pitchFamily="49" charset="-122"/>
              </a:rPr>
              <a:t>女</a:t>
            </a:r>
            <a:r>
              <a:rPr lang="en-US" altLang="zh-CN" sz="2000" dirty="0">
                <a:latin typeface="楷体" panose="02010609060101010101" pitchFamily="49" charset="-122"/>
                <a:ea typeface="楷体" panose="02010609060101010101" pitchFamily="49" charset="-122"/>
              </a:rPr>
              <a:t>) = entropy(4, 1) = -4/5log2(1/5)-1/5log2(1/5)=0.72192809</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由公式有：</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entropy(</a:t>
            </a:r>
            <a:r>
              <a:rPr lang="zh-CN" altLang="en-US" sz="2000" dirty="0">
                <a:latin typeface="楷体" panose="02010609060101010101" pitchFamily="49" charset="-122"/>
                <a:ea typeface="楷体" panose="02010609060101010101" pitchFamily="49" charset="-122"/>
              </a:rPr>
              <a:t>性别</a:t>
            </a:r>
            <a:r>
              <a:rPr lang="en-US" altLang="zh-CN" sz="2000" dirty="0">
                <a:latin typeface="楷体" panose="02010609060101010101" pitchFamily="49" charset="-122"/>
                <a:ea typeface="楷体" panose="02010609060101010101" pitchFamily="49" charset="-122"/>
              </a:rPr>
              <a:t>) = 17/22*entropy(</a:t>
            </a:r>
            <a:r>
              <a:rPr lang="zh-CN" altLang="en-US" sz="2000" dirty="0">
                <a:latin typeface="楷体" panose="02010609060101010101" pitchFamily="49" charset="-122"/>
                <a:ea typeface="楷体" panose="02010609060101010101" pitchFamily="49" charset="-122"/>
              </a:rPr>
              <a:t>男</a:t>
            </a:r>
            <a:r>
              <a:rPr lang="en-US" altLang="zh-CN" sz="2000" dirty="0">
                <a:latin typeface="楷体" panose="02010609060101010101" pitchFamily="49" charset="-122"/>
                <a:ea typeface="楷体" panose="02010609060101010101" pitchFamily="49" charset="-122"/>
              </a:rPr>
              <a:t>) + 5/22*entropy(</a:t>
            </a:r>
            <a:r>
              <a:rPr lang="zh-CN" altLang="en-US" sz="2000" dirty="0">
                <a:latin typeface="楷体" panose="02010609060101010101" pitchFamily="49" charset="-122"/>
                <a:ea typeface="楷体" panose="02010609060101010101" pitchFamily="49" charset="-122"/>
              </a:rPr>
              <a:t>女</a:t>
            </a:r>
            <a:r>
              <a:rPr lang="en-US" altLang="zh-CN" sz="2000" dirty="0">
                <a:latin typeface="楷体" panose="02010609060101010101" pitchFamily="49" charset="-122"/>
                <a:ea typeface="楷体" panose="02010609060101010101" pitchFamily="49" charset="-122"/>
              </a:rPr>
              <a:t>)=0.91935197</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求出这种划分的信息增益：</a:t>
            </a:r>
            <a:endParaRPr lang="zh-CN" altLang="en-US"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gain(</a:t>
            </a:r>
            <a:r>
              <a:rPr lang="zh-CN" altLang="en-US" sz="2000" dirty="0">
                <a:latin typeface="楷体" panose="02010609060101010101" pitchFamily="49" charset="-122"/>
                <a:ea typeface="楷体" panose="02010609060101010101" pitchFamily="49" charset="-122"/>
              </a:rPr>
              <a:t>性别</a:t>
            </a:r>
            <a:r>
              <a:rPr lang="en-US" altLang="zh-CN" sz="2000" dirty="0">
                <a:latin typeface="楷体" panose="02010609060101010101" pitchFamily="49" charset="-122"/>
                <a:ea typeface="楷体" panose="02010609060101010101" pitchFamily="49" charset="-122"/>
              </a:rPr>
              <a:t>) = entropy(</a:t>
            </a:r>
            <a:r>
              <a:rPr lang="zh-CN" altLang="en-US" sz="2000" dirty="0">
                <a:latin typeface="楷体" panose="02010609060101010101" pitchFamily="49" charset="-122"/>
                <a:ea typeface="楷体" panose="02010609060101010101" pitchFamily="49" charset="-122"/>
              </a:rPr>
              <a:t>就业情况</a:t>
            </a:r>
            <a:r>
              <a:rPr lang="en-US" altLang="zh-CN" sz="2000" dirty="0">
                <a:latin typeface="楷体" panose="02010609060101010101" pitchFamily="49" charset="-122"/>
                <a:ea typeface="楷体" panose="02010609060101010101" pitchFamily="49" charset="-122"/>
              </a:rPr>
              <a:t>) –entropy (</a:t>
            </a:r>
            <a:r>
              <a:rPr lang="zh-CN" altLang="en-US" sz="2000" dirty="0">
                <a:latin typeface="楷体" panose="02010609060101010101" pitchFamily="49" charset="-122"/>
                <a:ea typeface="楷体" panose="02010609060101010101" pitchFamily="49" charset="-122"/>
              </a:rPr>
              <a:t>性别</a:t>
            </a:r>
            <a:r>
              <a:rPr lang="en-US" altLang="zh-CN" sz="2000" dirty="0">
                <a:latin typeface="楷体" panose="02010609060101010101" pitchFamily="49" charset="-122"/>
                <a:ea typeface="楷体" panose="02010609060101010101" pitchFamily="49" charset="-122"/>
              </a:rPr>
              <a:t>) = 0.02630833</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再根据公式求出在该属性上的分裂信息：</a:t>
            </a:r>
            <a:endParaRPr lang="zh-CN" altLang="en-US"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en-US" altLang="zh-CN" sz="2000" dirty="0" err="1">
                <a:latin typeface="楷体" panose="02010609060101010101" pitchFamily="49" charset="-122"/>
                <a:ea typeface="楷体" panose="02010609060101010101" pitchFamily="49" charset="-122"/>
              </a:rPr>
              <a:t>split_Info</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性别</a:t>
            </a:r>
            <a:r>
              <a:rPr lang="en-US" altLang="zh-CN" sz="2000" dirty="0">
                <a:latin typeface="楷体" panose="02010609060101010101" pitchFamily="49" charset="-122"/>
                <a:ea typeface="楷体" panose="02010609060101010101" pitchFamily="49" charset="-122"/>
              </a:rPr>
              <a:t>) = -17/22log2(17/22)-5/22-log2(55/22)=0.77322667</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最后求出在该属性上的增益比</a:t>
            </a:r>
            <a:r>
              <a:rPr lang="en-US" altLang="zh-CN" sz="2000" dirty="0">
                <a:latin typeface="楷体" panose="02010609060101010101" pitchFamily="49" charset="-122"/>
                <a:ea typeface="楷体" panose="02010609060101010101" pitchFamily="49" charset="-122"/>
              </a:rPr>
              <a:t>:</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en-US" altLang="zh-CN" sz="2000" dirty="0" err="1">
                <a:latin typeface="楷体" panose="02010609060101010101" pitchFamily="49" charset="-122"/>
                <a:ea typeface="楷体" panose="02010609060101010101" pitchFamily="49" charset="-122"/>
              </a:rPr>
              <a:t>gain_ratio</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学生干部</a:t>
            </a:r>
            <a:r>
              <a:rPr lang="en-US" altLang="zh-CN" sz="2000" dirty="0">
                <a:latin typeface="楷体" panose="02010609060101010101" pitchFamily="49" charset="-122"/>
                <a:ea typeface="楷体" panose="02010609060101010101" pitchFamily="49" charset="-122"/>
              </a:rPr>
              <a:t>) = 0.41171446, </a:t>
            </a:r>
            <a:r>
              <a:rPr lang="en-US" altLang="zh-CN" sz="2000" dirty="0" err="1">
                <a:latin typeface="楷体" panose="02010609060101010101" pitchFamily="49" charset="-122"/>
                <a:ea typeface="楷体" panose="02010609060101010101" pitchFamily="49" charset="-122"/>
              </a:rPr>
              <a:t>gain_ratio</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综合成绩</a:t>
            </a:r>
            <a:r>
              <a:rPr lang="en-US" altLang="zh-CN" sz="2000" dirty="0">
                <a:latin typeface="楷体" panose="02010609060101010101" pitchFamily="49" charset="-122"/>
                <a:ea typeface="楷体" panose="02010609060101010101" pitchFamily="49" charset="-122"/>
              </a:rPr>
              <a:t>) = 0.08839108, 	</a:t>
            </a:r>
            <a:r>
              <a:rPr lang="en-US" altLang="zh-CN" sz="2000" dirty="0" err="1">
                <a:latin typeface="楷体" panose="02010609060101010101" pitchFamily="49" charset="-122"/>
                <a:ea typeface="楷体" panose="02010609060101010101" pitchFamily="49" charset="-122"/>
              </a:rPr>
              <a:t>gain_ratio</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毕业成绩</a:t>
            </a:r>
            <a:r>
              <a:rPr lang="en-US" altLang="zh-CN" sz="2000" dirty="0">
                <a:latin typeface="楷体" panose="02010609060101010101" pitchFamily="49" charset="-122"/>
                <a:ea typeface="楷体" panose="02010609060101010101" pitchFamily="49" charset="-122"/>
              </a:rPr>
              <a:t>) = 0.10167158</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89747" y="865435"/>
            <a:ext cx="9212475" cy="156845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由上述计算结果可知“学生干部”在属性中具有最大的信息增益比，取“学生干部”为根属性，引出一个分枝，样本按此划分。对引出的每一个分枝再用此分类法进行分类，再引出分枝。最后所构造出的判定树如图所示：</a:t>
            </a:r>
            <a:endParaRPr lang="zh-CN" altLang="en-US" sz="24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2407920" y="2642870"/>
          <a:ext cx="7693660" cy="3490595"/>
        </p:xfrm>
        <a:graphic>
          <a:graphicData uri="http://schemas.openxmlformats.org/presentationml/2006/ole">
            <mc:AlternateContent xmlns:mc="http://schemas.openxmlformats.org/markup-compatibility/2006">
              <mc:Choice xmlns:v="urn:schemas-microsoft-com:vml" Requires="v">
                <p:oleObj spid="_x0000_s30726" name="Document" r:id="rId1" imgW="5276215" imgH="2392680" progId="Word.Document.8">
                  <p:embed/>
                </p:oleObj>
              </mc:Choice>
              <mc:Fallback>
                <p:oleObj name="Document" r:id="rId1" imgW="5276215" imgH="239268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7920" y="2642870"/>
                        <a:ext cx="7693660" cy="3490595"/>
                      </a:xfrm>
                      <a:prstGeom prst="rect">
                        <a:avLst/>
                      </a:prstGeom>
                      <a:noFill/>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4.8 C4.5</a:t>
            </a:r>
            <a:r>
              <a:rPr lang="zh-CN" altLang="en-US" dirty="0">
                <a:latin typeface="楷体" panose="02010609060101010101" pitchFamily="49" charset="-122"/>
                <a:ea typeface="楷体" panose="02010609060101010101" pitchFamily="49" charset="-122"/>
              </a:rPr>
              <a:t>算法源程序分析</a:t>
            </a:r>
            <a:endParaRPr lang="zh-CN" altLang="zh-CN" b="1" dirty="0">
              <a:latin typeface="楷体" panose="02010609060101010101" pitchFamily="49" charset="-122"/>
              <a:ea typeface="楷体" panose="02010609060101010101" pitchFamily="49" charset="-122"/>
            </a:endParaRPr>
          </a:p>
        </p:txBody>
      </p:sp>
      <p:sp>
        <p:nvSpPr>
          <p:cNvPr id="7" name="内容占位符 8"/>
          <p:cNvSpPr>
            <a:spLocks noGrp="1"/>
          </p:cNvSpPr>
          <p:nvPr>
            <p:ph idx="1"/>
          </p:nvPr>
        </p:nvSpPr>
        <p:spPr>
          <a:xfrm>
            <a:off x="1840832" y="2194240"/>
            <a:ext cx="8163307" cy="485515"/>
          </a:xfrm>
        </p:spPr>
        <p:txBody>
          <a:bodyPr>
            <a:noAutofit/>
          </a:bodyPr>
          <a:lstStyle/>
          <a:p>
            <a:r>
              <a:rPr lang="zh-CN" altLang="en-US" sz="2800" dirty="0">
                <a:latin typeface="楷体" panose="02010609060101010101" pitchFamily="49" charset="-122"/>
                <a:ea typeface="楷体" panose="02010609060101010101" pitchFamily="49" charset="-122"/>
              </a:rPr>
              <a:t>见</a:t>
            </a:r>
            <a:r>
              <a:rPr lang="en-US" altLang="zh-CN" sz="2800" dirty="0">
                <a:latin typeface="楷体" panose="02010609060101010101" pitchFamily="49" charset="-122"/>
                <a:ea typeface="楷体" panose="02010609060101010101" pitchFamily="49" charset="-122"/>
              </a:rPr>
              <a:t>77</a:t>
            </a:r>
            <a:r>
              <a:rPr lang="zh-CN" altLang="en-US" sz="2800" dirty="0">
                <a:latin typeface="楷体" panose="02010609060101010101" pitchFamily="49" charset="-122"/>
                <a:ea typeface="楷体" panose="02010609060101010101" pitchFamily="49" charset="-122"/>
              </a:rPr>
              <a:t>页</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8"/>
          <p:cNvSpPr>
            <a:spLocks noGrp="1"/>
          </p:cNvSpPr>
          <p:nvPr>
            <p:ph idx="1"/>
          </p:nvPr>
        </p:nvSpPr>
        <p:spPr>
          <a:xfrm>
            <a:off x="1503947" y="1267808"/>
            <a:ext cx="8163307" cy="485515"/>
          </a:xfrm>
        </p:spPr>
        <p:txBody>
          <a:bodyPr>
            <a:noAutofit/>
          </a:bodyPr>
          <a:lstStyle/>
          <a:p>
            <a:r>
              <a:rPr lang="zh-CN" altLang="en-US" sz="2800" dirty="0">
                <a:latin typeface="楷体" panose="02010609060101010101" pitchFamily="49" charset="-122"/>
                <a:ea typeface="楷体" panose="02010609060101010101" pitchFamily="49" charset="-122"/>
              </a:rPr>
              <a:t>程序运行结果：</a:t>
            </a:r>
            <a:endParaRPr lang="zh-CN" altLang="zh-CN" sz="2800" dirty="0">
              <a:latin typeface="楷体" panose="02010609060101010101" pitchFamily="49" charset="-122"/>
              <a:ea typeface="楷体" panose="02010609060101010101" pitchFamily="49" charset="-122"/>
            </a:endParaRPr>
          </a:p>
        </p:txBody>
      </p:sp>
      <p:sp>
        <p:nvSpPr>
          <p:cNvPr id="4" name="Rectangle 2"/>
          <p:cNvSpPr>
            <a:spLocks noChangeArrowheads="1"/>
          </p:cNvSpPr>
          <p:nvPr/>
        </p:nvSpPr>
        <p:spPr bwMode="auto">
          <a:xfrm>
            <a:off x="1203158" y="2305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905510" y="1753870"/>
          <a:ext cx="5499100" cy="4745355"/>
        </p:xfrm>
        <a:graphic>
          <a:graphicData uri="http://schemas.openxmlformats.org/presentationml/2006/ole">
            <mc:AlternateContent xmlns:mc="http://schemas.openxmlformats.org/markup-compatibility/2006">
              <mc:Choice xmlns:v="urn:schemas-microsoft-com:vml" Requires="v">
                <p:oleObj spid="_x0000_s32779" name="Document" r:id="rId1" imgW="5276215" imgH="4558030" progId="Word.Document.8">
                  <p:embed/>
                </p:oleObj>
              </mc:Choice>
              <mc:Fallback>
                <p:oleObj name="Document" r:id="rId1" imgW="5276215" imgH="455803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510" y="1753870"/>
                        <a:ext cx="5499100" cy="4745355"/>
                      </a:xfrm>
                      <a:prstGeom prst="rect">
                        <a:avLst/>
                      </a:prstGeom>
                      <a:noFill/>
                    </p:spPr>
                  </p:pic>
                </p:oleObj>
              </mc:Fallback>
            </mc:AlternateContent>
          </a:graphicData>
        </a:graphic>
      </p:graphicFrame>
      <p:sp>
        <p:nvSpPr>
          <p:cNvPr id="6" name="Rectangle 4"/>
          <p:cNvSpPr>
            <a:spLocks noChangeArrowheads="1"/>
          </p:cNvSpPr>
          <p:nvPr/>
        </p:nvSpPr>
        <p:spPr bwMode="auto">
          <a:xfrm>
            <a:off x="-300789" y="2957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6404610" y="1753870"/>
          <a:ext cx="5710555" cy="4928235"/>
        </p:xfrm>
        <a:graphic>
          <a:graphicData uri="http://schemas.openxmlformats.org/presentationml/2006/ole">
            <mc:AlternateContent xmlns:mc="http://schemas.openxmlformats.org/markup-compatibility/2006">
              <mc:Choice xmlns:v="urn:schemas-microsoft-com:vml" Requires="v">
                <p:oleObj spid="_x0000_s32780" name="Document" r:id="rId3" imgW="5276215" imgH="4558030" progId="Word.Document.8">
                  <p:embed/>
                </p:oleObj>
              </mc:Choice>
              <mc:Fallback>
                <p:oleObj name="Document" r:id="rId3" imgW="5276215" imgH="455803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4610" y="1753870"/>
                        <a:ext cx="5710555" cy="4928235"/>
                      </a:xfrm>
                      <a:prstGeom prst="rect">
                        <a:avLst/>
                      </a:prstGeom>
                      <a:noFill/>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8"/>
          <p:cNvSpPr>
            <a:spLocks noGrp="1"/>
          </p:cNvSpPr>
          <p:nvPr>
            <p:ph idx="1"/>
          </p:nvPr>
        </p:nvSpPr>
        <p:spPr>
          <a:xfrm>
            <a:off x="1503947" y="1267808"/>
            <a:ext cx="8163307" cy="485515"/>
          </a:xfrm>
        </p:spPr>
        <p:txBody>
          <a:bodyPr>
            <a:noAutofit/>
          </a:bodyPr>
          <a:lstStyle/>
          <a:p>
            <a:r>
              <a:rPr lang="zh-CN" altLang="en-US" sz="2800" dirty="0">
                <a:latin typeface="楷体" panose="02010609060101010101" pitchFamily="49" charset="-122"/>
                <a:ea typeface="楷体" panose="02010609060101010101" pitchFamily="49" charset="-122"/>
              </a:rPr>
              <a:t>程序运行结果：</a:t>
            </a:r>
            <a:endParaRPr lang="zh-CN" altLang="zh-CN" sz="2800" dirty="0">
              <a:latin typeface="楷体" panose="02010609060101010101" pitchFamily="49" charset="-122"/>
              <a:ea typeface="楷体" panose="02010609060101010101" pitchFamily="49" charset="-122"/>
            </a:endParaRPr>
          </a:p>
        </p:txBody>
      </p:sp>
      <p:sp>
        <p:nvSpPr>
          <p:cNvPr id="4" name="Rectangle 2"/>
          <p:cNvSpPr>
            <a:spLocks noChangeArrowheads="1"/>
          </p:cNvSpPr>
          <p:nvPr/>
        </p:nvSpPr>
        <p:spPr bwMode="auto">
          <a:xfrm>
            <a:off x="1203158" y="2305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300789" y="2957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1536231" y="1931987"/>
          <a:ext cx="4683369" cy="4040885"/>
        </p:xfrm>
        <a:graphic>
          <a:graphicData uri="http://schemas.openxmlformats.org/presentationml/2006/ole">
            <mc:AlternateContent xmlns:mc="http://schemas.openxmlformats.org/markup-compatibility/2006">
              <mc:Choice xmlns:v="urn:schemas-microsoft-com:vml" Requires="v">
                <p:oleObj spid="_x0000_s34825" name="Document" r:id="rId1" imgW="5276215" imgH="4558030" progId="Word.Document.8">
                  <p:embed/>
                </p:oleObj>
              </mc:Choice>
              <mc:Fallback>
                <p:oleObj name="Document" r:id="rId1" imgW="5276215" imgH="455803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231" y="1931987"/>
                        <a:ext cx="4683369" cy="4040885"/>
                      </a:xfrm>
                      <a:prstGeom prst="rect">
                        <a:avLst/>
                      </a:prstGeom>
                      <a:noFill/>
                    </p:spPr>
                  </p:pic>
                </p:oleObj>
              </mc:Fallback>
            </mc:AlternateContent>
          </a:graphicData>
        </a:graphic>
      </p:graphicFrame>
      <p:sp>
        <p:nvSpPr>
          <p:cNvPr id="9" name="Rectangle 4"/>
          <p:cNvSpPr>
            <a:spLocks noChangeArrowheads="1"/>
          </p:cNvSpPr>
          <p:nvPr/>
        </p:nvSpPr>
        <p:spPr bwMode="auto">
          <a:xfrm flipV="1">
            <a:off x="6552672" y="1614644"/>
            <a:ext cx="10182311" cy="48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6552673" y="1931988"/>
          <a:ext cx="4862064" cy="3800504"/>
        </p:xfrm>
        <a:graphic>
          <a:graphicData uri="http://schemas.openxmlformats.org/presentationml/2006/ole">
            <mc:AlternateContent xmlns:mc="http://schemas.openxmlformats.org/markup-compatibility/2006">
              <mc:Choice xmlns:v="urn:schemas-microsoft-com:vml" Requires="v">
                <p:oleObj spid="_x0000_s34826" name="Document" r:id="rId3" imgW="5260975" imgH="4114800" progId="Word.Document.8">
                  <p:embed/>
                </p:oleObj>
              </mc:Choice>
              <mc:Fallback>
                <p:oleObj name="Document" r:id="rId3" imgW="5260975" imgH="411480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2673" y="1931988"/>
                        <a:ext cx="4862064" cy="3800504"/>
                      </a:xfrm>
                      <a:prstGeom prst="rect">
                        <a:avLst/>
                      </a:prstGeom>
                      <a:noFill/>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8"/>
          <p:cNvSpPr>
            <a:spLocks noGrp="1"/>
          </p:cNvSpPr>
          <p:nvPr>
            <p:ph idx="1"/>
          </p:nvPr>
        </p:nvSpPr>
        <p:spPr>
          <a:xfrm>
            <a:off x="1503947" y="1267808"/>
            <a:ext cx="8163307" cy="485515"/>
          </a:xfrm>
        </p:spPr>
        <p:txBody>
          <a:bodyPr>
            <a:noAutofit/>
          </a:bodyPr>
          <a:lstStyle/>
          <a:p>
            <a:r>
              <a:rPr lang="zh-CN" altLang="en-US" sz="2800" dirty="0">
                <a:latin typeface="楷体" panose="02010609060101010101" pitchFamily="49" charset="-122"/>
                <a:ea typeface="楷体" panose="02010609060101010101" pitchFamily="49" charset="-122"/>
              </a:rPr>
              <a:t>程序运行结果：</a:t>
            </a:r>
            <a:endParaRPr lang="zh-CN" altLang="zh-CN" sz="2800" dirty="0">
              <a:latin typeface="楷体" panose="02010609060101010101" pitchFamily="49" charset="-122"/>
              <a:ea typeface="楷体" panose="02010609060101010101" pitchFamily="49" charset="-122"/>
            </a:endParaRPr>
          </a:p>
        </p:txBody>
      </p:sp>
      <p:sp>
        <p:nvSpPr>
          <p:cNvPr id="4" name="Rectangle 2"/>
          <p:cNvSpPr>
            <a:spLocks noChangeArrowheads="1"/>
          </p:cNvSpPr>
          <p:nvPr/>
        </p:nvSpPr>
        <p:spPr bwMode="auto">
          <a:xfrm>
            <a:off x="1203158" y="2305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300789" y="2957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flipV="1">
            <a:off x="6552672" y="1614644"/>
            <a:ext cx="10182311" cy="48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1611369" y="2038687"/>
          <a:ext cx="4666785" cy="3692897"/>
        </p:xfrm>
        <a:graphic>
          <a:graphicData uri="http://schemas.openxmlformats.org/presentationml/2006/ole">
            <mc:AlternateContent xmlns:mc="http://schemas.openxmlformats.org/markup-compatibility/2006">
              <mc:Choice xmlns:v="urn:schemas-microsoft-com:vml" Requires="v">
                <p:oleObj spid="_x0000_s35849" name="Document" r:id="rId1" imgW="5269865" imgH="4174490" progId="Word.Document.8">
                  <p:embed/>
                </p:oleObj>
              </mc:Choice>
              <mc:Fallback>
                <p:oleObj name="Document" r:id="rId1" imgW="5269865" imgH="417449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1369" y="2038687"/>
                        <a:ext cx="4666785" cy="3692897"/>
                      </a:xfrm>
                      <a:prstGeom prst="rect">
                        <a:avLst/>
                      </a:prstGeom>
                      <a:noFill/>
                    </p:spPr>
                  </p:pic>
                </p:oleObj>
              </mc:Fallback>
            </mc:AlternateContent>
          </a:graphicData>
        </a:graphic>
      </p:graphicFrame>
      <p:sp>
        <p:nvSpPr>
          <p:cNvPr id="11" name="Rectangle 4"/>
          <p:cNvSpPr>
            <a:spLocks noChangeArrowheads="1"/>
          </p:cNvSpPr>
          <p:nvPr/>
        </p:nvSpPr>
        <p:spPr bwMode="auto">
          <a:xfrm flipV="1">
            <a:off x="6665495" y="1424591"/>
            <a:ext cx="1073756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2" name="对象 11"/>
          <p:cNvGraphicFramePr>
            <a:graphicFrameLocks noChangeAspect="1"/>
          </p:cNvGraphicFramePr>
          <p:nvPr/>
        </p:nvGraphicFramePr>
        <p:xfrm>
          <a:off x="6665495" y="2038688"/>
          <a:ext cx="4666785" cy="3692896"/>
        </p:xfrm>
        <a:graphic>
          <a:graphicData uri="http://schemas.openxmlformats.org/presentationml/2006/ole">
            <mc:AlternateContent xmlns:mc="http://schemas.openxmlformats.org/markup-compatibility/2006">
              <mc:Choice xmlns:v="urn:schemas-microsoft-com:vml" Requires="v">
                <p:oleObj spid="_x0000_s35850" name="Document" r:id="rId3" imgW="5269865" imgH="4174490" progId="Word.Document.8">
                  <p:embed/>
                </p:oleObj>
              </mc:Choice>
              <mc:Fallback>
                <p:oleObj name="Document" r:id="rId3" imgW="5269865" imgH="417449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5495" y="2038688"/>
                        <a:ext cx="4666785" cy="3692896"/>
                      </a:xfrm>
                      <a:prstGeom prst="rect">
                        <a:avLst/>
                      </a:prstGeom>
                      <a:noFill/>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4.9 C4.5</a:t>
            </a:r>
            <a:r>
              <a:rPr lang="zh-CN" altLang="en-US" dirty="0">
                <a:latin typeface="楷体" panose="02010609060101010101" pitchFamily="49" charset="-122"/>
                <a:ea typeface="楷体" panose="02010609060101010101" pitchFamily="49" charset="-122"/>
              </a:rPr>
              <a:t>算法特点及应用</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2376170" y="2668270"/>
            <a:ext cx="8259445" cy="1198880"/>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算法优点：产生的分类规则易于理解，准确率较高。</a:t>
            </a:r>
            <a:endParaRPr lang="zh-CN" altLang="en-US"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算法缺点是：在构造树的过程中，需要对数据集进行多次的顺序扫描和排序，因而导致算法的低效。</a:t>
            </a:r>
            <a:endParaRPr lang="zh-CN" altLang="en-US" sz="24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矩形 4"/>
          <p:cNvSpPr/>
          <p:nvPr/>
        </p:nvSpPr>
        <p:spPr>
          <a:xfrm>
            <a:off x="1840832" y="1573905"/>
            <a:ext cx="3726180" cy="521970"/>
          </a:xfrm>
          <a:prstGeom prst="rect">
            <a:avLst/>
          </a:prstGeom>
        </p:spPr>
        <p:txBody>
          <a:bodyPr wrap="none">
            <a:spAutoFit/>
          </a:bodyPr>
          <a:lstStyle/>
          <a:p>
            <a:pPr marL="342900" lvl="0" indent="-342900" defTabSz="457200">
              <a:spcBef>
                <a:spcPts val="1000"/>
              </a:spcBef>
              <a:buClr>
                <a:srgbClr val="A53010"/>
              </a:buClr>
              <a:buFont typeface="Wingdings 3" panose="05040102010807070707" charset="2"/>
              <a:buChar char=""/>
            </a:pPr>
            <a:r>
              <a:rPr lang="en-US" altLang="zh-CN" sz="2800" dirty="0">
                <a:solidFill>
                  <a:prstClr val="black">
                    <a:lumMod val="75000"/>
                    <a:lumOff val="25000"/>
                  </a:prstClr>
                </a:solidFill>
                <a:latin typeface="楷体" panose="02010609060101010101" pitchFamily="49" charset="-122"/>
                <a:ea typeface="楷体" panose="02010609060101010101" pitchFamily="49" charset="-122"/>
              </a:rPr>
              <a:t>4.9.1 C4.5</a:t>
            </a:r>
            <a:r>
              <a:rPr lang="zh-CN" altLang="en-US" sz="2800" dirty="0">
                <a:solidFill>
                  <a:prstClr val="black">
                    <a:lumMod val="75000"/>
                    <a:lumOff val="25000"/>
                  </a:prstClr>
                </a:solidFill>
                <a:latin typeface="楷体" panose="02010609060101010101" pitchFamily="49" charset="-122"/>
                <a:ea typeface="楷体" panose="02010609060101010101" pitchFamily="49" charset="-122"/>
              </a:rPr>
              <a:t>算法特点</a:t>
            </a:r>
            <a:endParaRPr lang="zh-CN" altLang="en-US" sz="2800" dirty="0">
              <a:solidFill>
                <a:prstClr val="black">
                  <a:lumMod val="75000"/>
                  <a:lumOff val="25000"/>
                </a:prstClr>
              </a:solidFill>
              <a:latin typeface="楷体" panose="02010609060101010101" pitchFamily="49" charset="-122"/>
              <a:ea typeface="楷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normAutofit/>
          </a:bodyPr>
          <a:lstStyle/>
          <a:p>
            <a:r>
              <a:rPr lang="en-US" altLang="zh-CN" dirty="0">
                <a:latin typeface="楷体" panose="02010609060101010101" pitchFamily="49" charset="-122"/>
                <a:ea typeface="楷体" panose="02010609060101010101" pitchFamily="49" charset="-122"/>
              </a:rPr>
              <a:t>4.9.2 C4.5</a:t>
            </a:r>
            <a:r>
              <a:rPr lang="zh-CN" altLang="en-US" dirty="0">
                <a:latin typeface="楷体" panose="02010609060101010101" pitchFamily="49" charset="-122"/>
                <a:ea typeface="楷体" panose="02010609060101010101" pitchFamily="49" charset="-122"/>
              </a:rPr>
              <a:t>算法应用</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2063508" y="2265450"/>
            <a:ext cx="8211460" cy="415417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随着我国加入</a:t>
            </a:r>
            <a:r>
              <a:rPr lang="en-US" altLang="zh-CN" sz="2400" dirty="0">
                <a:latin typeface="楷体" panose="02010609060101010101" pitchFamily="49" charset="-122"/>
                <a:ea typeface="楷体" panose="02010609060101010101" pitchFamily="49" charset="-122"/>
              </a:rPr>
              <a:t>WTO</a:t>
            </a:r>
            <a:r>
              <a:rPr lang="zh-CN" altLang="en-US" sz="2400" dirty="0">
                <a:latin typeface="楷体" panose="02010609060101010101" pitchFamily="49" charset="-122"/>
                <a:ea typeface="楷体" panose="02010609060101010101" pitchFamily="49" charset="-122"/>
              </a:rPr>
              <a:t>后，我国保险市场将逐步对外开放，保险市场的竞争将更加激烈。客户是保险公司生存和发展的根基，而吸引客户、保持客户、避免客户流失是保险公司提高竞争力的关键。数据挖掘在保险领域有着广泛的应用，通过挖掘，可发现购买某一保险险种的客户的特征，从而可以向那些具有同样特征却没有购买该保险险种的客户进行推销；还可找到流失客户的特征，在那些具有相似特征的客户还未流失之前，采取针对性的措施避免客户的流失。利用数据挖掘中的面向属性归纳和分类决策树</a:t>
            </a:r>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算法，对保险公司的客户基本信息进行分析，找出了客户流失的特征，可帮助保险公司有针对性地改善客户关系，避免客户流失。</a:t>
            </a:r>
            <a:endParaRPr lang="zh-CN" altLang="en-US" sz="24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矩形 4"/>
          <p:cNvSpPr/>
          <p:nvPr/>
        </p:nvSpPr>
        <p:spPr>
          <a:xfrm>
            <a:off x="1840832" y="1573905"/>
            <a:ext cx="6570980" cy="521970"/>
          </a:xfrm>
          <a:prstGeom prst="rect">
            <a:avLst/>
          </a:prstGeom>
        </p:spPr>
        <p:txBody>
          <a:bodyPr wrap="none">
            <a:spAutoFit/>
          </a:bodyPr>
          <a:lstStyle/>
          <a:p>
            <a:pPr marL="342900" lvl="0" indent="-342900" defTabSz="457200">
              <a:spcBef>
                <a:spcPts val="1000"/>
              </a:spcBef>
              <a:buClr>
                <a:srgbClr val="A53010"/>
              </a:buClr>
              <a:buFont typeface="Wingdings 3" panose="05040102010807070707" charset="2"/>
              <a:buChar char=""/>
            </a:pPr>
            <a:r>
              <a:rPr lang="en-US" altLang="zh-CN" sz="2800" dirty="0">
                <a:solidFill>
                  <a:prstClr val="black">
                    <a:lumMod val="75000"/>
                    <a:lumOff val="25000"/>
                  </a:prstClr>
                </a:solidFill>
                <a:latin typeface="楷体" panose="02010609060101010101" pitchFamily="49" charset="-122"/>
                <a:ea typeface="楷体" panose="02010609060101010101" pitchFamily="49" charset="-122"/>
              </a:rPr>
              <a:t>C4.5</a:t>
            </a:r>
            <a:r>
              <a:rPr lang="zh-CN" altLang="en-US" sz="2800" dirty="0">
                <a:solidFill>
                  <a:prstClr val="black">
                    <a:lumMod val="75000"/>
                    <a:lumOff val="25000"/>
                  </a:prstClr>
                </a:solidFill>
                <a:latin typeface="楷体" panose="02010609060101010101" pitchFamily="49" charset="-122"/>
                <a:ea typeface="楷体" panose="02010609060101010101" pitchFamily="49" charset="-122"/>
              </a:rPr>
              <a:t>算法在保险客户流失分析中的应用</a:t>
            </a:r>
            <a:endParaRPr lang="zh-CN" altLang="en-US" sz="2800" dirty="0">
              <a:solidFill>
                <a:prstClr val="black">
                  <a:lumMod val="75000"/>
                  <a:lumOff val="25000"/>
                </a:prstClr>
              </a:solidFill>
              <a:latin typeface="楷体" panose="02010609060101010101" pitchFamily="49" charset="-122"/>
              <a:ea typeface="楷体" panose="020106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89957" y="2115802"/>
            <a:ext cx="8211460" cy="4399915"/>
          </a:xfrm>
          <a:prstGeom prst="rect">
            <a:avLst/>
          </a:prstGeom>
        </p:spPr>
        <p:txBody>
          <a:bodyPr wrap="square">
            <a:spAutoFit/>
          </a:bodyPr>
          <a:lstStyle/>
          <a:p>
            <a:r>
              <a:rPr lang="zh-CN" altLang="en-US" sz="2800" dirty="0">
                <a:latin typeface="楷体" panose="02010609060101010101" pitchFamily="49" charset="-122"/>
                <a:ea typeface="楷体" panose="02010609060101010101" pitchFamily="49" charset="-122"/>
              </a:rPr>
              <a:t>随着我国高等教育的发展，各高校的招生规模不断扩大，教育模式也不断更新，使用基于校园网的教学管理系统，实现了信息化、网络化的教学，但同时也积累了大量的数据，如何从这些数据中挖掘出有价值的信息，为学校教学决策提供参考依据，是各高校面临的问题。决策树</a:t>
            </a:r>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算法可以从学校积累的数据中有效分类，实现根据现有数据去预测未来的发展趋势，例如可以通过</a:t>
            </a:r>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对学生成绩进行分析，找出影响学生成绩的成因，提出相应的解决策略，更好地指导教学。</a:t>
            </a:r>
            <a:endParaRPr lang="zh-CN" altLang="en-US" sz="28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矩形 4"/>
          <p:cNvSpPr/>
          <p:nvPr/>
        </p:nvSpPr>
        <p:spPr>
          <a:xfrm>
            <a:off x="1419727" y="956998"/>
            <a:ext cx="5917004" cy="461665"/>
          </a:xfrm>
          <a:prstGeom prst="rect">
            <a:avLst/>
          </a:prstGeom>
        </p:spPr>
        <p:txBody>
          <a:bodyPr wrap="none">
            <a:spAutoFit/>
          </a:bodyPr>
          <a:lstStyle/>
          <a:p>
            <a:pPr marL="342900" lvl="0" indent="-342900" defTabSz="457200">
              <a:spcBef>
                <a:spcPts val="1000"/>
              </a:spcBef>
              <a:buClr>
                <a:srgbClr val="A53010"/>
              </a:buClr>
              <a:buFont typeface="Wingdings 3" panose="05040102010807070707" charset="2"/>
              <a:buChar char=""/>
            </a:pPr>
            <a:r>
              <a:rPr lang="zh-CN" altLang="en-US" sz="2400" dirty="0">
                <a:solidFill>
                  <a:prstClr val="black">
                    <a:lumMod val="75000"/>
                    <a:lumOff val="25000"/>
                  </a:prstClr>
                </a:solidFill>
                <a:latin typeface="楷体" panose="02010609060101010101" pitchFamily="49" charset="-122"/>
                <a:ea typeface="楷体" panose="02010609060101010101" pitchFamily="49" charset="-122"/>
              </a:rPr>
              <a:t> </a:t>
            </a:r>
            <a:r>
              <a:rPr lang="en-US" altLang="zh-CN" sz="2400" dirty="0">
                <a:solidFill>
                  <a:prstClr val="black">
                    <a:lumMod val="75000"/>
                    <a:lumOff val="25000"/>
                  </a:prstClr>
                </a:solidFill>
                <a:latin typeface="楷体" panose="02010609060101010101" pitchFamily="49" charset="-122"/>
                <a:ea typeface="楷体" panose="02010609060101010101" pitchFamily="49" charset="-122"/>
              </a:rPr>
              <a:t>C4.5</a:t>
            </a:r>
            <a:r>
              <a:rPr lang="zh-CN" altLang="en-US" sz="2400" dirty="0">
                <a:solidFill>
                  <a:prstClr val="black">
                    <a:lumMod val="75000"/>
                    <a:lumOff val="25000"/>
                  </a:prstClr>
                </a:solidFill>
                <a:latin typeface="楷体" panose="02010609060101010101" pitchFamily="49" charset="-122"/>
                <a:ea typeface="楷体" panose="02010609060101010101" pitchFamily="49" charset="-122"/>
              </a:rPr>
              <a:t>算法在高校教学决策支持中的应用</a:t>
            </a:r>
            <a:endParaRPr lang="zh-CN" altLang="zh-CN" sz="2400" dirty="0">
              <a:solidFill>
                <a:prstClr val="black">
                  <a:lumMod val="75000"/>
                  <a:lumOff val="25000"/>
                </a:prstClr>
              </a:solidFill>
              <a:latin typeface="楷体" panose="02010609060101010101" pitchFamily="49" charset="-122"/>
              <a:ea typeface="楷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76192" y="1625370"/>
            <a:ext cx="8211460" cy="4892675"/>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随着计算机网络技术的迅猛发展和广泛应用，从网络资源中获得共享信息已经成为了人们日常生活中必不可少的方式之一。与此同时，人们也不得不面对由于入侵而引发的一系列网络安全问题的困扰。传统的防火墙技术已经难以单独保障网络的安全，入侵检测作为防火墙技术的补充开始发挥出不可替代的作用。入侵检测是一种通过实时监测目标系统来发现入侵攻击行为的安全技术。当前的大多数入侵检测系统采用基于规则的简单模式匹配技术，它们存在计算量大、误报漏报率高等缺点。针对这些不足，以决策树方法作为描述模型，实现决策树</a:t>
            </a:r>
            <a:r>
              <a:rPr lang="en-US" altLang="zh-CN" sz="2400" dirty="0">
                <a:latin typeface="楷体" panose="02010609060101010101" pitchFamily="49" charset="-122"/>
                <a:ea typeface="楷体" panose="02010609060101010101" pitchFamily="49" charset="-122"/>
              </a:rPr>
              <a:t>C4.5</a:t>
            </a:r>
            <a:r>
              <a:rPr lang="zh-CN" altLang="en-US" sz="2400" dirty="0">
                <a:latin typeface="楷体" panose="02010609060101010101" pitchFamily="49" charset="-122"/>
                <a:ea typeface="楷体" panose="02010609060101010101" pitchFamily="49" charset="-122"/>
              </a:rPr>
              <a:t>算法，使用训练集构建分类树来实现对入侵行为的检测。决策树算法具有构造速度快、分类精度高、检测速率快以及良好的自适应和自学习等特点适合用于攻击检测中。</a:t>
            </a:r>
            <a:endParaRPr lang="zh-CN" altLang="en-US" sz="24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矩形 4"/>
          <p:cNvSpPr/>
          <p:nvPr/>
        </p:nvSpPr>
        <p:spPr>
          <a:xfrm>
            <a:off x="1504082" y="1009290"/>
            <a:ext cx="5301451" cy="461665"/>
          </a:xfrm>
          <a:prstGeom prst="rect">
            <a:avLst/>
          </a:prstGeom>
        </p:spPr>
        <p:txBody>
          <a:bodyPr wrap="none">
            <a:spAutoFit/>
          </a:bodyPr>
          <a:lstStyle/>
          <a:p>
            <a:pPr marL="342900" lvl="0" indent="-342900" defTabSz="457200">
              <a:spcBef>
                <a:spcPts val="1000"/>
              </a:spcBef>
              <a:buClr>
                <a:srgbClr val="A53010"/>
              </a:buClr>
              <a:buFont typeface="Wingdings 3" panose="05040102010807070707" charset="2"/>
              <a:buChar char=""/>
            </a:pPr>
            <a:r>
              <a:rPr lang="en-US" altLang="zh-CN" sz="2400" dirty="0">
                <a:solidFill>
                  <a:prstClr val="black">
                    <a:lumMod val="75000"/>
                    <a:lumOff val="25000"/>
                  </a:prstClr>
                </a:solidFill>
                <a:latin typeface="楷体" panose="02010609060101010101" pitchFamily="49" charset="-122"/>
                <a:ea typeface="楷体" panose="02010609060101010101" pitchFamily="49" charset="-122"/>
              </a:rPr>
              <a:t>C4.5 </a:t>
            </a:r>
            <a:r>
              <a:rPr lang="zh-CN" altLang="en-US" sz="2400" dirty="0">
                <a:solidFill>
                  <a:prstClr val="black">
                    <a:lumMod val="75000"/>
                    <a:lumOff val="25000"/>
                  </a:prstClr>
                </a:solidFill>
                <a:latin typeface="楷体" panose="02010609060101010101" pitchFamily="49" charset="-122"/>
                <a:ea typeface="楷体" panose="02010609060101010101" pitchFamily="49" charset="-122"/>
              </a:rPr>
              <a:t>算法在网络入侵检测中的应用</a:t>
            </a:r>
            <a:endParaRPr lang="zh-CN" altLang="zh-CN" sz="2400" dirty="0">
              <a:solidFill>
                <a:prstClr val="black">
                  <a:lumMod val="75000"/>
                  <a:lumOff val="25000"/>
                </a:prstClr>
              </a:solidFill>
              <a:latin typeface="楷体" panose="02010609060101010101" pitchFamily="49" charset="-122"/>
              <a:ea typeface="楷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en-US" altLang="zh-CN" dirty="0">
                <a:latin typeface="楷体" panose="02010609060101010101" pitchFamily="49" charset="-122"/>
                <a:ea typeface="楷体" panose="02010609060101010101" pitchFamily="49" charset="-122"/>
              </a:rPr>
              <a:t>4.10 </a:t>
            </a:r>
            <a:r>
              <a:rPr lang="zh-CN" altLang="en-US" dirty="0">
                <a:latin typeface="楷体" panose="02010609060101010101" pitchFamily="49" charset="-122"/>
                <a:ea typeface="楷体" panose="02010609060101010101" pitchFamily="49" charset="-122"/>
              </a:rPr>
              <a:t>小结</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1840865" y="2150745"/>
            <a:ext cx="8526145" cy="2676525"/>
          </a:xfrm>
          <a:prstGeom prst="rect">
            <a:avLst/>
          </a:prstGeom>
        </p:spPr>
        <p:txBody>
          <a:bodyPr wrap="square">
            <a:spAutoFit/>
          </a:bodyPr>
          <a:lstStyle/>
          <a:p>
            <a:r>
              <a:rPr lang="zh-CN" altLang="en-US" sz="2800" dirty="0">
                <a:latin typeface="楷体" panose="02010609060101010101" pitchFamily="49" charset="-122"/>
                <a:ea typeface="楷体" panose="02010609060101010101" pitchFamily="49" charset="-122"/>
              </a:rPr>
              <a:t>本章内容是决策树基本算法，决策树分类算法通常分为两个步骤：决策树生成和决策树修剪。重点介绍了两种决策树分类算法：</a:t>
            </a:r>
            <a:r>
              <a:rPr lang="en-US" altLang="zh-CN" sz="2800" dirty="0">
                <a:latin typeface="楷体" panose="02010609060101010101" pitchFamily="49" charset="-122"/>
                <a:ea typeface="楷体" panose="02010609060101010101" pitchFamily="49" charset="-122"/>
              </a:rPr>
              <a:t>ID3</a:t>
            </a:r>
            <a:r>
              <a:rPr lang="zh-CN" altLang="en-US" sz="2800" dirty="0">
                <a:latin typeface="楷体" panose="02010609060101010101" pitchFamily="49" charset="-122"/>
                <a:ea typeface="楷体" panose="02010609060101010101" pitchFamily="49" charset="-122"/>
              </a:rPr>
              <a:t>算法和</a:t>
            </a:r>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算法。阐述了它们的原理，</a:t>
            </a:r>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算法的核心思想与</a:t>
            </a:r>
            <a:r>
              <a:rPr lang="en-US" altLang="zh-CN" sz="2800" dirty="0">
                <a:latin typeface="楷体" panose="02010609060101010101" pitchFamily="49" charset="-122"/>
                <a:ea typeface="楷体" panose="02010609060101010101" pitchFamily="49" charset="-122"/>
              </a:rPr>
              <a:t>ID3</a:t>
            </a:r>
            <a:r>
              <a:rPr lang="zh-CN" altLang="en-US" sz="2800" dirty="0">
                <a:latin typeface="楷体" panose="02010609060101010101" pitchFamily="49" charset="-122"/>
                <a:ea typeface="楷体" panose="02010609060101010101" pitchFamily="49" charset="-122"/>
              </a:rPr>
              <a:t>完全一样。总结了它们的优点与缺陷，并佐以实例和程序。最后简单介绍了它们的应用。</a:t>
            </a:r>
            <a:endParaRPr lang="zh-CN" altLang="en-US" sz="28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840832" y="654788"/>
            <a:ext cx="8911687" cy="687332"/>
          </a:xfrm>
        </p:spPr>
        <p:txBody>
          <a:bodyPr/>
          <a:lstStyle/>
          <a:p>
            <a:r>
              <a:rPr lang="zh-CN" altLang="en-US" dirty="0">
                <a:latin typeface="楷体" panose="02010609060101010101" pitchFamily="49" charset="-122"/>
                <a:ea typeface="楷体" panose="02010609060101010101" pitchFamily="49" charset="-122"/>
              </a:rPr>
              <a:t>思考题</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1840832" y="2150708"/>
            <a:ext cx="7038473" cy="2676525"/>
          </a:xfrm>
          <a:prstGeom prst="rect">
            <a:avLst/>
          </a:prstGeom>
        </p:spPr>
        <p:txBody>
          <a:bodyPr wrap="square">
            <a:spAutoFit/>
          </a:bodyPr>
          <a:lstStyle/>
          <a:p>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连续属性如何离散化？请用</a:t>
            </a:r>
            <a:r>
              <a:rPr lang="en-US" altLang="zh-CN" sz="2800" dirty="0">
                <a:latin typeface="楷体" panose="02010609060101010101" pitchFamily="49" charset="-122"/>
                <a:ea typeface="楷体" panose="02010609060101010101" pitchFamily="49" charset="-122"/>
              </a:rPr>
              <a:t>ID3</a:t>
            </a:r>
            <a:r>
              <a:rPr lang="zh-CN" altLang="en-US" sz="2800" dirty="0">
                <a:latin typeface="楷体" panose="02010609060101010101" pitchFamily="49" charset="-122"/>
                <a:ea typeface="楷体" panose="02010609060101010101" pitchFamily="49" charset="-122"/>
              </a:rPr>
              <a:t>算法或</a:t>
            </a:r>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算法举例说明。</a:t>
            </a:r>
            <a:endParaRPr lang="zh-CN" altLang="en-US"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结合实例，应用</a:t>
            </a:r>
            <a:r>
              <a:rPr lang="en-US" altLang="zh-CN" sz="2800" dirty="0">
                <a:latin typeface="楷体" panose="02010609060101010101" pitchFamily="49" charset="-122"/>
                <a:ea typeface="楷体" panose="02010609060101010101" pitchFamily="49" charset="-122"/>
              </a:rPr>
              <a:t>C4.5</a:t>
            </a:r>
            <a:r>
              <a:rPr lang="zh-CN" altLang="en-US" sz="2800" dirty="0">
                <a:latin typeface="楷体" panose="02010609060101010101" pitchFamily="49" charset="-122"/>
                <a:ea typeface="楷体" panose="02010609060101010101" pitchFamily="49" charset="-122"/>
              </a:rPr>
              <a:t>算法挖掘决策树，并与</a:t>
            </a:r>
            <a:r>
              <a:rPr lang="en-US" altLang="zh-CN" sz="2800" dirty="0">
                <a:latin typeface="楷体" panose="02010609060101010101" pitchFamily="49" charset="-122"/>
                <a:ea typeface="楷体" panose="02010609060101010101" pitchFamily="49" charset="-122"/>
              </a:rPr>
              <a:t>ID3</a:t>
            </a:r>
            <a:r>
              <a:rPr lang="zh-CN" altLang="en-US" sz="2800" dirty="0">
                <a:latin typeface="楷体" panose="02010609060101010101" pitchFamily="49" charset="-122"/>
                <a:ea typeface="楷体" panose="02010609060101010101" pitchFamily="49" charset="-122"/>
              </a:rPr>
              <a:t>算法比较结果。</a:t>
            </a:r>
            <a:endParaRPr lang="zh-CN" altLang="en-US"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决策树算法的过拟合问题如何解决？</a:t>
            </a:r>
            <a:endParaRPr lang="zh-CN" altLang="en-US"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决策树算法的实质是什么？</a:t>
            </a:r>
            <a:endParaRPr lang="zh-CN" altLang="en-US" sz="2800" dirty="0">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7182853" y="226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178" name="Picture 2"/>
          <p:cNvPicPr>
            <a:picLocks noChangeAspect="1"/>
          </p:cNvPicPr>
          <p:nvPr>
            <p:ph idx="1"/>
          </p:nvPr>
        </p:nvPicPr>
        <p:blipFill>
          <a:blip r:embed="rId1"/>
          <a:stretch>
            <a:fillRect/>
          </a:stretch>
        </p:blipFill>
        <p:spPr>
          <a:xfrm>
            <a:off x="2164715" y="234950"/>
            <a:ext cx="7863205" cy="5356225"/>
          </a:xfrm>
          <a:prstGeom prst="rect">
            <a:avLst/>
          </a:prstGeom>
          <a:noFill/>
          <a:ln w="9525">
            <a:noFill/>
          </a:ln>
        </p:spPr>
      </p:pic>
      <p:sp>
        <p:nvSpPr>
          <p:cNvPr id="4" name="文本框 3"/>
          <p:cNvSpPr txBox="1"/>
          <p:nvPr/>
        </p:nvSpPr>
        <p:spPr>
          <a:xfrm>
            <a:off x="2376805" y="5816600"/>
            <a:ext cx="9190990" cy="460375"/>
          </a:xfrm>
          <a:prstGeom prst="rect">
            <a:avLst/>
          </a:prstGeom>
          <a:noFill/>
        </p:spPr>
        <p:txBody>
          <a:bodyPr wrap="square" rtlCol="0">
            <a:spAutoFit/>
          </a:bodyPr>
          <a:p>
            <a:r>
              <a:rPr lang="zh-CN" altLang="en-US" sz="2400" b="1">
                <a:solidFill>
                  <a:srgbClr val="C00000"/>
                </a:solidFill>
              </a:rPr>
              <a:t>作业：</a:t>
            </a:r>
            <a:r>
              <a:rPr lang="zh-CN" altLang="en-US" sz="2400" b="1">
                <a:solidFill>
                  <a:srgbClr val="C00000"/>
                </a:solidFill>
              </a:rPr>
              <a:t>使用</a:t>
            </a:r>
            <a:r>
              <a:rPr lang="en-US" altLang="zh-CN" sz="2400" b="1">
                <a:solidFill>
                  <a:srgbClr val="C00000"/>
                </a:solidFill>
              </a:rPr>
              <a:t>ID3</a:t>
            </a:r>
            <a:r>
              <a:rPr lang="zh-CN" altLang="en-US" sz="2400" b="1">
                <a:solidFill>
                  <a:srgbClr val="C00000"/>
                </a:solidFill>
              </a:rPr>
              <a:t>算法生成决策树</a:t>
            </a:r>
            <a:endParaRPr lang="zh-CN" altLang="en-US" sz="2400" b="1">
              <a:solidFill>
                <a:srgbClr val="C00000"/>
              </a:solidFill>
            </a:endParaRPr>
          </a:p>
        </p:txBody>
      </p:sp>
    </p:spTree>
  </p:cSld>
  <p:clrMapOvr>
    <a:masterClrMapping/>
  </p:clrMapOvr>
</p:sld>
</file>

<file path=ppt/tags/tag1.xml><?xml version="1.0" encoding="utf-8"?>
<p:tagLst xmlns:p="http://schemas.openxmlformats.org/presentationml/2006/main">
  <p:tag name="KSO_WM_UNIT_TABLE_BEAUTIFY" val="smartTable{60069e1b-1e12-449f-94ed-847e20d1d2f5}"/>
</p:tagLst>
</file>

<file path=ppt/tags/tag2.xml><?xml version="1.0" encoding="utf-8"?>
<p:tagLst xmlns:p="http://schemas.openxmlformats.org/presentationml/2006/main">
  <p:tag name="KSO_WM_UNIT_TABLE_BEAUTIFY" val="smartTable{60069e1b-1e12-449f-94ed-847e20d1d2f5}"/>
</p:tagLst>
</file>

<file path=ppt/tags/tag3.xml><?xml version="1.0" encoding="utf-8"?>
<p:tagLst xmlns:p="http://schemas.openxmlformats.org/presentationml/2006/main">
  <p:tag name="KSO_WM_UNIT_TABLE_BEAUTIFY" val="smartTable{60069e1b-1e12-449f-94ed-847e20d1d2f5}"/>
  <p:tag name="TABLE_ENDDRAG_ORIGIN_RECT" val="549*103"/>
  <p:tag name="TABLE_ENDDRAG_RECT" val="145*53*549*103"/>
</p:tagLst>
</file>

<file path=ppt/tags/tag4.xml><?xml version="1.0" encoding="utf-8"?>
<p:tagLst xmlns:p="http://schemas.openxmlformats.org/presentationml/2006/main">
  <p:tag name="KSO_WM_UNIT_TABLE_BEAUTIFY" val="smartTable{60069e1b-1e12-449f-94ed-847e20d1d2f5}"/>
  <p:tag name="TABLE_ENDDRAG_ORIGIN_RECT" val="549*103"/>
  <p:tag name="TABLE_ENDDRAG_RECT" val="145*53*549*103"/>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13419</Words>
  <Application>WPS 演示</Application>
  <PresentationFormat>宽屏</PresentationFormat>
  <Paragraphs>710</Paragraphs>
  <Slides>75</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50</vt:i4>
      </vt:variant>
      <vt:variant>
        <vt:lpstr>幻灯片标题</vt:lpstr>
      </vt:variant>
      <vt:variant>
        <vt:i4>75</vt:i4>
      </vt:variant>
    </vt:vector>
  </HeadingPairs>
  <TitlesOfParts>
    <vt:vector size="140" baseType="lpstr">
      <vt:lpstr>Arial</vt:lpstr>
      <vt:lpstr>宋体</vt:lpstr>
      <vt:lpstr>Wingdings</vt:lpstr>
      <vt:lpstr>Wingdings 3</vt:lpstr>
      <vt:lpstr>Arial</vt:lpstr>
      <vt:lpstr>楷体</vt:lpstr>
      <vt:lpstr>Times New Roman</vt:lpstr>
      <vt:lpstr>微软雅黑</vt:lpstr>
      <vt:lpstr>Arial Unicode MS</vt:lpstr>
      <vt:lpstr>幼圆</vt:lpstr>
      <vt:lpstr>Century Gothic</vt:lpstr>
      <vt:lpstr>Calibri</vt:lpstr>
      <vt:lpstr>Symbol</vt:lpstr>
      <vt:lpstr>Cambria</vt:lpstr>
      <vt:lpstr>丝状</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Equation.DSMT4</vt:lpstr>
      <vt:lpstr>Word.Document.8</vt:lpstr>
      <vt:lpstr>Word.Document.8</vt:lpstr>
      <vt:lpstr>Word.Document.8</vt:lpstr>
      <vt:lpstr>Equation.DSMT4</vt:lpstr>
      <vt:lpstr>Equation.DSMT4</vt:lpstr>
      <vt:lpstr>Equation.DSMT4</vt:lpstr>
      <vt:lpstr>Equation.DSMT4</vt:lpstr>
      <vt:lpstr>Equation.3</vt:lpstr>
      <vt:lpstr>Equation.DSMT4</vt:lpstr>
      <vt:lpstr>Equation.DSMT4</vt:lpstr>
      <vt:lpstr>Word.Document.8</vt:lpstr>
      <vt:lpstr>Word.Document.8</vt:lpstr>
      <vt:lpstr>Word.Document.8</vt:lpstr>
      <vt:lpstr>Word.Document.8</vt:lpstr>
      <vt:lpstr>Word.Document.8</vt:lpstr>
      <vt:lpstr>Word.Document.8</vt:lpstr>
      <vt:lpstr>Word.Document.8</vt:lpstr>
      <vt:lpstr>Equation.DSMT4</vt:lpstr>
      <vt:lpstr>Word.Document.8</vt:lpstr>
      <vt:lpstr>Equation.DSMT4</vt:lpstr>
      <vt:lpstr>Equation.DSMT4</vt:lpstr>
      <vt:lpstr>Equation.DSMT4</vt:lpstr>
      <vt:lpstr>Equation.DSMT4</vt:lpstr>
      <vt:lpstr>第4章  决策树分类算法</vt:lpstr>
      <vt:lpstr>PowerPoint 演示文稿</vt:lpstr>
      <vt:lpstr>PowerPoint 演示文稿</vt:lpstr>
      <vt:lpstr>4.1基本概念</vt:lpstr>
      <vt:lpstr>PowerPoint 演示文稿</vt:lpstr>
      <vt:lpstr>PowerPoint 演示文稿</vt:lpstr>
      <vt:lpstr>PowerPoint 演示文稿</vt:lpstr>
      <vt:lpstr>4.1.2决策树基本算法概述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4.2决策树分类算法-ID3算法原理</vt:lpstr>
      <vt:lpstr>PowerPoint 演示文稿</vt:lpstr>
      <vt:lpstr>PowerPoint 演示文稿</vt:lpstr>
      <vt:lpstr>4.2.2熵和信息增益</vt:lpstr>
      <vt:lpstr>PowerPoint 演示文稿</vt:lpstr>
      <vt:lpstr>PowerPoint 演示文稿</vt:lpstr>
      <vt:lpstr>PowerPoint 演示文稿</vt:lpstr>
      <vt:lpstr>信息增益</vt:lpstr>
      <vt:lpstr>PowerPoint 演示文稿</vt:lpstr>
      <vt:lpstr>PowerPoint 演示文稿</vt:lpstr>
      <vt:lpstr>PowerPoint 演示文稿</vt:lpstr>
      <vt:lpstr>PowerPoint 演示文稿</vt:lpstr>
      <vt:lpstr>PowerPoint 演示文稿</vt:lpstr>
      <vt:lpstr>4.2.3 ID3算法</vt:lpstr>
      <vt:lpstr>4.3 ID3算法实例分析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4.4 ID3算法源程序分析</vt:lpstr>
      <vt:lpstr>PowerPoint 演示文稿</vt:lpstr>
      <vt:lpstr>PowerPoint 演示文稿</vt:lpstr>
      <vt:lpstr>PowerPoint 演示文稿</vt:lpstr>
      <vt:lpstr>4.5 ID3算法特点及应用</vt:lpstr>
      <vt:lpstr>PowerPoint 演示文稿</vt:lpstr>
      <vt:lpstr>4.5.2 ID3算法应用</vt:lpstr>
      <vt:lpstr>PowerPoint 演示文稿</vt:lpstr>
      <vt:lpstr>4.6决策树分类算法-C4.5算法原理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4.6.2 C4.5算法的伪代码</vt:lpstr>
      <vt:lpstr>4.7 C4.5算法实例分析</vt:lpstr>
      <vt:lpstr>PowerPoint 演示文稿</vt:lpstr>
      <vt:lpstr>PowerPoint 演示文稿</vt:lpstr>
      <vt:lpstr>4.8 C4.5算法源程序分析</vt:lpstr>
      <vt:lpstr>PowerPoint 演示文稿</vt:lpstr>
      <vt:lpstr>PowerPoint 演示文稿</vt:lpstr>
      <vt:lpstr>PowerPoint 演示文稿</vt:lpstr>
      <vt:lpstr>4.9 C4.5算法特点及应用</vt:lpstr>
      <vt:lpstr>4.9.2 C4.5算法应用</vt:lpstr>
      <vt:lpstr>PowerPoint 演示文稿</vt:lpstr>
      <vt:lpstr>PowerPoint 演示文稿</vt:lpstr>
      <vt:lpstr>4.10 小结</vt:lpstr>
      <vt:lpstr>思考题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153</cp:revision>
  <dcterms:created xsi:type="dcterms:W3CDTF">2019-12-16T01:20:00Z</dcterms:created>
  <dcterms:modified xsi:type="dcterms:W3CDTF">2020-11-11T08:39:41Z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