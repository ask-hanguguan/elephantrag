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90" r:id="rId4"/>
    <p:sldId id="301" r:id="rId5"/>
    <p:sldId id="257" r:id="rId6"/>
    <p:sldId id="258" r:id="rId7"/>
    <p:sldId id="259" r:id="rId8"/>
    <p:sldId id="303" r:id="rId9"/>
    <p:sldId id="302" r:id="rId10"/>
    <p:sldId id="304" r:id="rId11"/>
    <p:sldId id="305" r:id="rId12"/>
    <p:sldId id="268" r:id="rId13"/>
    <p:sldId id="269" r:id="rId14"/>
    <p:sldId id="270" r:id="rId15"/>
    <p:sldId id="291" r:id="rId16"/>
    <p:sldId id="293" r:id="rId17"/>
    <p:sldId id="271" r:id="rId18"/>
    <p:sldId id="295" r:id="rId19"/>
    <p:sldId id="272" r:id="rId20"/>
    <p:sldId id="273" r:id="rId21"/>
    <p:sldId id="274" r:id="rId22"/>
    <p:sldId id="299" r:id="rId23"/>
    <p:sldId id="300" r:id="rId24"/>
    <p:sldId id="275" r:id="rId25"/>
    <p:sldId id="298" r:id="rId26"/>
    <p:sldId id="276" r:id="rId27"/>
    <p:sldId id="277" r:id="rId28"/>
    <p:sldId id="278" r:id="rId29"/>
    <p:sldId id="279" r:id="rId30"/>
    <p:sldId id="294" r:id="rId31"/>
    <p:sldId id="296" r:id="rId32"/>
    <p:sldId id="280" r:id="rId33"/>
    <p:sldId id="281" r:id="rId34"/>
    <p:sldId id="282" r:id="rId35"/>
    <p:sldId id="283" r:id="rId36"/>
    <p:sldId id="284" r:id="rId37"/>
    <p:sldId id="285" r:id="rId38"/>
    <p:sldId id="286" r:id="rId39"/>
    <p:sldId id="287" r:id="rId40"/>
    <p:sldId id="288"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2.bin"/><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3.bin"/><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5.bin"/><Relationship Id="rId3" Type="http://schemas.openxmlformats.org/officeDocument/2006/relationships/image" Target="../media/image14.wmf"/><Relationship Id="rId2" Type="http://schemas.openxmlformats.org/officeDocument/2006/relationships/oleObject" Target="../embeddings/oleObject4.bin"/><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oleObject" Target="../embeddings/oleObject9.bin"/><Relationship Id="rId7" Type="http://schemas.openxmlformats.org/officeDocument/2006/relationships/image" Target="../media/image19.wmf"/><Relationship Id="rId6" Type="http://schemas.openxmlformats.org/officeDocument/2006/relationships/oleObject" Target="../embeddings/oleObject8.bin"/><Relationship Id="rId5" Type="http://schemas.openxmlformats.org/officeDocument/2006/relationships/image" Target="../media/image18.wmf"/><Relationship Id="rId4" Type="http://schemas.openxmlformats.org/officeDocument/2006/relationships/oleObject" Target="../embeddings/oleObject7.bin"/><Relationship Id="rId3" Type="http://schemas.openxmlformats.org/officeDocument/2006/relationships/image" Target="../media/image17.wmf"/><Relationship Id="rId2" Type="http://schemas.openxmlformats.org/officeDocument/2006/relationships/oleObject" Target="../embeddings/oleObject6.bin"/><Relationship Id="rId13" Type="http://schemas.openxmlformats.org/officeDocument/2006/relationships/vmlDrawing" Target="../drawings/vmlDrawing4.vml"/><Relationship Id="rId12" Type="http://schemas.openxmlformats.org/officeDocument/2006/relationships/slideLayout" Target="../slideLayouts/slideLayout2.xml"/><Relationship Id="rId11" Type="http://schemas.openxmlformats.org/officeDocument/2006/relationships/image" Target="../media/image21.wmf"/><Relationship Id="rId10" Type="http://schemas.openxmlformats.org/officeDocument/2006/relationships/oleObject" Target="../embeddings/oleObject10.bin"/><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12.bin"/><Relationship Id="rId4" Type="http://schemas.openxmlformats.org/officeDocument/2006/relationships/image" Target="../media/image24.wmf"/><Relationship Id="rId3" Type="http://schemas.openxmlformats.org/officeDocument/2006/relationships/oleObject" Target="../embeddings/oleObject11.bin"/><Relationship Id="rId2" Type="http://schemas.openxmlformats.org/officeDocument/2006/relationships/image" Target="../media/image23.png"/><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image" Target="../media/image29.wmf"/><Relationship Id="rId4" Type="http://schemas.openxmlformats.org/officeDocument/2006/relationships/oleObject" Target="../embeddings/oleObject13.bin"/><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tags" Target="../tags/tag2.xml"/><Relationship Id="rId2" Type="http://schemas.openxmlformats.org/officeDocument/2006/relationships/image" Target="../media/image31.wmf"/><Relationship Id="rId1" Type="http://schemas.openxmlformats.org/officeDocument/2006/relationships/oleObject" Target="../embeddings/oleObject14.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6.wmf"/><Relationship Id="rId7" Type="http://schemas.openxmlformats.org/officeDocument/2006/relationships/oleObject" Target="../embeddings/oleObject18.bin"/><Relationship Id="rId6" Type="http://schemas.openxmlformats.org/officeDocument/2006/relationships/image" Target="../media/image35.wmf"/><Relationship Id="rId5" Type="http://schemas.openxmlformats.org/officeDocument/2006/relationships/oleObject" Target="../embeddings/oleObject17.bin"/><Relationship Id="rId4" Type="http://schemas.openxmlformats.org/officeDocument/2006/relationships/image" Target="../media/image34.wmf"/><Relationship Id="rId3" Type="http://schemas.openxmlformats.org/officeDocument/2006/relationships/oleObject" Target="../embeddings/oleObject16.bin"/><Relationship Id="rId2" Type="http://schemas.openxmlformats.org/officeDocument/2006/relationships/image" Target="../media/image33.wmf"/><Relationship Id="rId10" Type="http://schemas.openxmlformats.org/officeDocument/2006/relationships/vmlDrawing" Target="../drawings/vmlDrawing8.vml"/><Relationship Id="rId1" Type="http://schemas.openxmlformats.org/officeDocument/2006/relationships/oleObject" Target="../embeddings/oleObject15.bin"/></Relationships>
</file>

<file path=ppt/slides/_rels/slide26.xml.rels><?xml version="1.0" encoding="UTF-8" standalone="yes"?>
<Relationships xmlns="http://schemas.openxmlformats.org/package/2006/relationships"><Relationship Id="rId9" Type="http://schemas.openxmlformats.org/officeDocument/2006/relationships/image" Target="../media/image41.wmf"/><Relationship Id="rId8" Type="http://schemas.openxmlformats.org/officeDocument/2006/relationships/oleObject" Target="../embeddings/oleObject22.bin"/><Relationship Id="rId7" Type="http://schemas.openxmlformats.org/officeDocument/2006/relationships/image" Target="../media/image40.wmf"/><Relationship Id="rId6" Type="http://schemas.openxmlformats.org/officeDocument/2006/relationships/oleObject" Target="../embeddings/oleObject21.bin"/><Relationship Id="rId5" Type="http://schemas.openxmlformats.org/officeDocument/2006/relationships/image" Target="../media/image39.png"/><Relationship Id="rId4" Type="http://schemas.openxmlformats.org/officeDocument/2006/relationships/image" Target="../media/image38.wmf"/><Relationship Id="rId3" Type="http://schemas.openxmlformats.org/officeDocument/2006/relationships/oleObject" Target="../embeddings/oleObject20.bin"/><Relationship Id="rId2" Type="http://schemas.openxmlformats.org/officeDocument/2006/relationships/image" Target="../media/image37.wmf"/><Relationship Id="rId13" Type="http://schemas.openxmlformats.org/officeDocument/2006/relationships/vmlDrawing" Target="../drawings/vmlDrawing9.vml"/><Relationship Id="rId12" Type="http://schemas.openxmlformats.org/officeDocument/2006/relationships/slideLayout" Target="../slideLayouts/slideLayout2.xml"/><Relationship Id="rId11" Type="http://schemas.openxmlformats.org/officeDocument/2006/relationships/image" Target="../media/image42.wmf"/><Relationship Id="rId10" Type="http://schemas.openxmlformats.org/officeDocument/2006/relationships/oleObject" Target="../embeddings/oleObject23.bin"/><Relationship Id="rId1"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25.bin"/><Relationship Id="rId4" Type="http://schemas.openxmlformats.org/officeDocument/2006/relationships/image" Target="../media/image46.wmf"/><Relationship Id="rId3" Type="http://schemas.openxmlformats.org/officeDocument/2006/relationships/oleObject" Target="../embeddings/oleObject24.bin"/><Relationship Id="rId2" Type="http://schemas.openxmlformats.org/officeDocument/2006/relationships/image" Target="../media/image45.wmf"/><Relationship Id="rId1" Type="http://schemas.openxmlformats.org/officeDocument/2006/relationships/image" Target="../media/image44.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emf"/></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51.emf"/><Relationship Id="rId3" Type="http://schemas.openxmlformats.org/officeDocument/2006/relationships/image" Target="../media/image50.wmf"/><Relationship Id="rId2" Type="http://schemas.openxmlformats.org/officeDocument/2006/relationships/oleObject" Target="../embeddings/oleObject26.bin"/><Relationship Id="rId1" Type="http://schemas.openxmlformats.org/officeDocument/2006/relationships/image" Target="../media/image49.png"/></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53.wmf"/><Relationship Id="rId3" Type="http://schemas.openxmlformats.org/officeDocument/2006/relationships/oleObject" Target="../embeddings/oleObject28.bin"/><Relationship Id="rId2" Type="http://schemas.openxmlformats.org/officeDocument/2006/relationships/image" Target="../media/image52.wmf"/><Relationship Id="rId1" Type="http://schemas.openxmlformats.org/officeDocument/2006/relationships/oleObject" Target="../embeddings/oleObject27.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851468" y="243840"/>
            <a:ext cx="8915399" cy="2262781"/>
          </a:xfrm>
        </p:spPr>
        <p:txBody>
          <a:bodyPr/>
          <a:lstStyle/>
          <a:p>
            <a:r>
              <a:rPr lang="zh-CN" altLang="en-US">
                <a:latin typeface="黑体-简" panose="02000000000000000000" charset="-122"/>
                <a:ea typeface="黑体-简" panose="02000000000000000000" charset="-122"/>
                <a:cs typeface="黑体-简" panose="02000000000000000000" charset="-122"/>
              </a:rPr>
              <a:t>第</a:t>
            </a:r>
            <a:r>
              <a:rPr lang="en-US" altLang="zh-CN">
                <a:latin typeface="黑体-简" panose="02000000000000000000" charset="-122"/>
                <a:ea typeface="黑体-简" panose="02000000000000000000" charset="-122"/>
                <a:cs typeface="黑体-简" panose="02000000000000000000" charset="-122"/>
              </a:rPr>
              <a:t>7</a:t>
            </a:r>
            <a:r>
              <a:rPr lang="zh-CN" altLang="en-US">
                <a:latin typeface="黑体-简" panose="02000000000000000000" charset="-122"/>
                <a:ea typeface="黑体-简" panose="02000000000000000000" charset="-122"/>
                <a:cs typeface="黑体-简" panose="02000000000000000000" charset="-122"/>
              </a:rPr>
              <a:t>章 支持向量机</a:t>
            </a:r>
            <a:endParaRPr lang="zh-CN" altLang="en-US">
              <a:latin typeface="黑体-简" panose="02000000000000000000" charset="-122"/>
              <a:ea typeface="黑体-简" panose="02000000000000000000" charset="-122"/>
              <a:cs typeface="黑体-简" panose="02000000000000000000" charset="-122"/>
            </a:endParaRPr>
          </a:p>
        </p:txBody>
      </p:sp>
      <p:sp>
        <p:nvSpPr>
          <p:cNvPr id="3" name="副标题 2"/>
          <p:cNvSpPr>
            <a:spLocks noGrp="1"/>
          </p:cNvSpPr>
          <p:nvPr>
            <p:ph type="subTitle" idx="1"/>
          </p:nvPr>
        </p:nvSpPr>
        <p:spPr/>
        <p:txBody>
          <a:bodyP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8895" y="1498600"/>
            <a:ext cx="8915400" cy="4412615"/>
          </a:xfrm>
        </p:spPr>
        <p:txBody>
          <a:bodyPr>
            <a:normAutofit/>
          </a:bodyPr>
          <a:p>
            <a:r>
              <a:rPr lang="zh-CN" altLang="en-US" sz="2400"/>
              <a:t>SVM 主要针对 小样本数据进行学习、分类和预测（有时也叫回归）的一种方法，能解决神经网络不能解决的 </a:t>
            </a:r>
            <a:r>
              <a:rPr lang="zh-CN" altLang="en-US" sz="2400" b="1">
                <a:solidFill>
                  <a:srgbClr val="C00000"/>
                </a:solidFill>
              </a:rPr>
              <a:t>过学习问题</a:t>
            </a:r>
            <a:r>
              <a:rPr lang="zh-CN" altLang="en-US" sz="2400"/>
              <a:t> 。</a:t>
            </a:r>
            <a:endParaRPr lang="zh-CN" altLang="en-US" sz="2400"/>
          </a:p>
          <a:p>
            <a:endParaRPr lang="zh-CN" altLang="en-US" sz="2400"/>
          </a:p>
          <a:p>
            <a:r>
              <a:rPr lang="zh-CN" altLang="en-US" sz="2400" b="1">
                <a:solidFill>
                  <a:srgbClr val="C00000"/>
                </a:solidFill>
              </a:rPr>
              <a:t>过学习问题</a:t>
            </a:r>
            <a:r>
              <a:rPr lang="zh-CN" altLang="en-US" sz="2400"/>
              <a:t>：训练误差过小导致推广能力下降，即真实风险的增加。</a:t>
            </a:r>
            <a:endParaRPr lang="zh-CN" altLang="en-US" sz="2400"/>
          </a:p>
          <a:p>
            <a:r>
              <a:rPr lang="zh-CN" altLang="en-US" sz="2400" b="1">
                <a:solidFill>
                  <a:srgbClr val="C00000"/>
                </a:solidFill>
              </a:rPr>
              <a:t>推广能力：</a:t>
            </a:r>
            <a:r>
              <a:rPr lang="zh-CN" altLang="en-US" sz="2400"/>
              <a:t>generalization ability，也可以说是 泛化能力 ，就是对未知样本进行预测时的精确度。</a:t>
            </a:r>
            <a:endParaRPr lang="zh-CN" altLang="en-US" sz="2400"/>
          </a:p>
          <a:p>
            <a:endParaRPr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309177" y="1417320"/>
            <a:ext cx="8915400" cy="3777622"/>
          </a:xfrm>
        </p:spPr>
        <p:txBody>
          <a:bodyPr/>
          <a:p>
            <a:r>
              <a:rPr lang="zh-CN" altLang="en-US" sz="2400"/>
              <a:t>例如，思考一个问题：假设有一个训练样本集，包含</a:t>
            </a:r>
            <a:r>
              <a:rPr lang="en-US" altLang="zh-CN" sz="2400"/>
              <a:t>100</a:t>
            </a:r>
            <a:r>
              <a:rPr lang="zh-CN" altLang="en-US" sz="2400"/>
              <a:t>个汽车评价数据的样本。现在有一个分类器</a:t>
            </a:r>
            <a:r>
              <a:rPr lang="en-US" altLang="zh-CN" sz="2400"/>
              <a:t>C</a:t>
            </a:r>
            <a:r>
              <a:rPr lang="zh-CN" altLang="en-US" sz="2400"/>
              <a:t>，对这</a:t>
            </a:r>
            <a:r>
              <a:rPr lang="en-US" altLang="zh-CN" sz="2400"/>
              <a:t>100</a:t>
            </a:r>
            <a:r>
              <a:rPr lang="zh-CN" altLang="en-US" sz="2400"/>
              <a:t>个训练样本都能得到正确的类别。我们就认为</a:t>
            </a:r>
            <a:r>
              <a:rPr lang="zh-CN" altLang="en-US" sz="2400" b="1"/>
              <a:t>该分类器实现了经验风险的最小化。</a:t>
            </a:r>
            <a:endParaRPr lang="zh-CN" altLang="en-US" sz="2400"/>
          </a:p>
          <a:p>
            <a:endParaRPr lang="zh-CN" altLang="en-US" sz="2400"/>
          </a:p>
          <a:p>
            <a:endParaRPr lang="zh-CN" altLang="en-US" sz="2400"/>
          </a:p>
        </p:txBody>
      </p:sp>
      <p:sp>
        <p:nvSpPr>
          <p:cNvPr id="4" name="文本框 3"/>
          <p:cNvSpPr txBox="1"/>
          <p:nvPr/>
        </p:nvSpPr>
        <p:spPr>
          <a:xfrm>
            <a:off x="2491105" y="3310255"/>
            <a:ext cx="8733155" cy="1383665"/>
          </a:xfrm>
          <a:prstGeom prst="rect">
            <a:avLst/>
          </a:prstGeom>
          <a:noFill/>
        </p:spPr>
        <p:txBody>
          <a:bodyPr wrap="square" rtlCol="0">
            <a:spAutoFit/>
          </a:bodyPr>
          <a:p>
            <a:r>
              <a:rPr lang="zh-CN" altLang="en-US" sz="2800">
                <a:sym typeface="+mn-ea"/>
              </a:rPr>
              <a:t>但是，在这</a:t>
            </a:r>
            <a:r>
              <a:rPr lang="en-US" altLang="zh-CN" sz="2800">
                <a:sym typeface="+mn-ea"/>
              </a:rPr>
              <a:t>100</a:t>
            </a:r>
            <a:r>
              <a:rPr lang="zh-CN" altLang="en-US" sz="2800">
                <a:sym typeface="+mn-ea"/>
              </a:rPr>
              <a:t>个训练样本以外呢？将该分类器推广到其它测试样本的时候，分类器表现如何？</a:t>
            </a:r>
            <a:endParaRPr lang="zh-CN" altLang="en-US" sz="2800"/>
          </a:p>
          <a:p>
            <a:endParaRPr lang="zh-CN" altLang="en-US" sz="2800"/>
          </a:p>
        </p:txBody>
      </p:sp>
      <p:sp>
        <p:nvSpPr>
          <p:cNvPr id="5" name="文本框 4"/>
          <p:cNvSpPr txBox="1"/>
          <p:nvPr/>
        </p:nvSpPr>
        <p:spPr>
          <a:xfrm>
            <a:off x="2615565" y="4693920"/>
            <a:ext cx="8034655" cy="1198880"/>
          </a:xfrm>
          <a:prstGeom prst="rect">
            <a:avLst/>
          </a:prstGeom>
          <a:noFill/>
        </p:spPr>
        <p:txBody>
          <a:bodyPr wrap="square" rtlCol="0">
            <a:spAutoFit/>
          </a:bodyPr>
          <a:p>
            <a:r>
              <a:rPr lang="zh-CN" altLang="en-US" sz="2400"/>
              <a:t>如果在推广到其它测试样本时，对训练样本完美分类的分类器表现反而很差，那么可以认为出现了过学习问题。经验风险的最小化反而影响了分类器的推广能力</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简" panose="02000000000000000000" charset="-122"/>
                <a:ea typeface="黑体-简" panose="02000000000000000000" charset="-122"/>
                <a:cs typeface="黑体-简" panose="02000000000000000000" charset="-122"/>
              </a:rPr>
              <a:t>7.1 </a:t>
            </a:r>
            <a:r>
              <a:rPr lang="zh-CN" altLang="en-US" dirty="0">
                <a:latin typeface="黑体-简" panose="02000000000000000000" charset="-122"/>
                <a:ea typeface="黑体-简" panose="02000000000000000000" charset="-122"/>
                <a:cs typeface="黑体-简" panose="02000000000000000000" charset="-122"/>
              </a:rPr>
              <a:t>基本概念</a:t>
            </a:r>
            <a:endParaRPr lang="zh-CN" altLang="en-US" dirty="0">
              <a:latin typeface="黑体-简" panose="02000000000000000000" charset="-122"/>
              <a:ea typeface="黑体-简" panose="02000000000000000000" charset="-122"/>
              <a:cs typeface="黑体-简" panose="02000000000000000000" charset="-122"/>
            </a:endParaRPr>
          </a:p>
        </p:txBody>
      </p:sp>
      <p:sp>
        <p:nvSpPr>
          <p:cNvPr id="3" name="内容占位符 2"/>
          <p:cNvSpPr>
            <a:spLocks noGrp="1"/>
          </p:cNvSpPr>
          <p:nvPr>
            <p:ph idx="1"/>
          </p:nvPr>
        </p:nvSpPr>
        <p:spPr>
          <a:xfrm>
            <a:off x="2588895" y="1672590"/>
            <a:ext cx="8915400" cy="4737735"/>
          </a:xfrm>
        </p:spPr>
        <p:txBody>
          <a:bodyPr>
            <a:normAutofit lnSpcReduction="20000"/>
          </a:bodyPr>
          <a:lstStyle/>
          <a:p>
            <a:r>
              <a:rPr lang="en-US" altLang="zh-CN" sz="2800" b="1" dirty="0">
                <a:latin typeface="楷体-简" panose="02010600040101010101" charset="-122"/>
                <a:ea typeface="楷体-简" panose="02010600040101010101" charset="-122"/>
                <a:cs typeface="楷体-简" panose="02010600040101010101" charset="-122"/>
              </a:rPr>
              <a:t>7.1.1 </a:t>
            </a:r>
            <a:r>
              <a:rPr lang="zh-CN" altLang="en-US" sz="2800" b="1" dirty="0">
                <a:latin typeface="楷体-简" panose="02010600040101010101" charset="-122"/>
                <a:ea typeface="楷体-简" panose="02010600040101010101" charset="-122"/>
                <a:cs typeface="楷体-简" panose="02010600040101010101" charset="-122"/>
              </a:rPr>
              <a:t>支持向量机理论基础</a:t>
            </a:r>
            <a:endParaRPr lang="zh-CN" altLang="en-US" sz="2000" dirty="0">
              <a:latin typeface="楷体-简" panose="02010600040101010101" charset="-122"/>
              <a:ea typeface="楷体-简" panose="02010600040101010101" charset="-122"/>
              <a:cs typeface="楷体-简" panose="02010600040101010101" charset="-122"/>
            </a:endParaRPr>
          </a:p>
          <a:p>
            <a:pPr marL="0" lvl="1" indent="0">
              <a:buNone/>
            </a:pPr>
            <a:r>
              <a:rPr lang="en-US" altLang="zh-CN" sz="2800" dirty="0">
                <a:latin typeface="楷体-简" panose="02010600040101010101" charset="-122"/>
                <a:ea typeface="楷体-简" panose="02010600040101010101" charset="-122"/>
                <a:cs typeface="楷体-简" panose="02010600040101010101" charset="-122"/>
              </a:rPr>
              <a:t>	</a:t>
            </a:r>
            <a:r>
              <a:rPr lang="zh-CN" altLang="en-US" sz="2800" dirty="0">
                <a:latin typeface="楷体-简" panose="02010600040101010101" charset="-122"/>
                <a:ea typeface="楷体-简" panose="02010600040101010101" charset="-122"/>
                <a:cs typeface="楷体-简" panose="02010600040101010101" charset="-122"/>
              </a:rPr>
              <a:t>在统计学习理论基础之上发展起来的支持向量机（Support Vector Machine,SVM）算法,是一种专门研究有限样本预测的学习方法。与传统统计学相比,SVM算法</a:t>
            </a:r>
            <a:r>
              <a:rPr lang="zh-CN" altLang="en-US" sz="2800" b="1" dirty="0">
                <a:solidFill>
                  <a:srgbClr val="C00000"/>
                </a:solidFill>
                <a:latin typeface="楷体-简" panose="02010600040101010101" charset="-122"/>
                <a:ea typeface="楷体-简" panose="02010600040101010101" charset="-122"/>
                <a:cs typeface="楷体-简" panose="02010600040101010101" charset="-122"/>
              </a:rPr>
              <a:t>没有以传统的经验风险最小化原则</a:t>
            </a:r>
            <a:r>
              <a:rPr lang="zh-CN" altLang="en-US" sz="2800" dirty="0">
                <a:latin typeface="楷体-简" panose="02010600040101010101" charset="-122"/>
                <a:ea typeface="楷体-简" panose="02010600040101010101" charset="-122"/>
                <a:cs typeface="楷体-简" panose="02010600040101010101" charset="-122"/>
              </a:rPr>
              <a:t>作为基础,而是建立在</a:t>
            </a:r>
            <a:r>
              <a:rPr lang="zh-CN" altLang="en-US" sz="2800" b="1" dirty="0">
                <a:solidFill>
                  <a:srgbClr val="C00000"/>
                </a:solidFill>
                <a:latin typeface="楷体-简" panose="02010600040101010101" charset="-122"/>
                <a:ea typeface="楷体-简" panose="02010600040101010101" charset="-122"/>
                <a:cs typeface="楷体-简" panose="02010600040101010101" charset="-122"/>
              </a:rPr>
              <a:t>结构风险最小化</a:t>
            </a:r>
            <a:r>
              <a:rPr lang="zh-CN" altLang="en-US" sz="2800" dirty="0">
                <a:latin typeface="楷体-简" panose="02010600040101010101" charset="-122"/>
                <a:ea typeface="楷体-简" panose="02010600040101010101" charset="-122"/>
                <a:cs typeface="楷体-简" panose="02010600040101010101" charset="-122"/>
              </a:rPr>
              <a:t>原理基础之上,发展成为一种新型的结构化学习方法。</a:t>
            </a:r>
            <a:endParaRPr lang="zh-CN" altLang="en-US" sz="2800" dirty="0">
              <a:latin typeface="楷体-简" panose="02010600040101010101" charset="-122"/>
              <a:ea typeface="楷体-简" panose="02010600040101010101" charset="-122"/>
              <a:cs typeface="楷体-简" panose="02010600040101010101" charset="-122"/>
            </a:endParaRPr>
          </a:p>
          <a:p>
            <a:pPr marL="0" lvl="1" indent="0">
              <a:buNone/>
            </a:pPr>
            <a:endParaRPr lang="zh-CN" altLang="en-US" sz="2800" dirty="0">
              <a:latin typeface="楷体-简" panose="02010600040101010101" charset="-122"/>
              <a:ea typeface="楷体-简" panose="02010600040101010101" charset="-122"/>
              <a:cs typeface="楷体-简" panose="02010600040101010101" charset="-122"/>
            </a:endParaRPr>
          </a:p>
          <a:p>
            <a:pPr marL="0" lvl="1" indent="0">
              <a:buNone/>
            </a:pPr>
            <a:r>
              <a:rPr lang="zh-CN" altLang="en-US" sz="2800" dirty="0">
                <a:latin typeface="楷体-简" panose="02010600040101010101" charset="-122"/>
                <a:ea typeface="楷体-简" panose="02010600040101010101" charset="-122"/>
                <a:cs typeface="楷体-简" panose="02010600040101010101" charset="-122"/>
              </a:rPr>
              <a:t>支持向量机的理论基础是</a:t>
            </a:r>
            <a:r>
              <a:rPr lang="zh-CN" altLang="en-US" sz="2800" b="1" dirty="0">
                <a:latin typeface="楷体-简" panose="02010600040101010101" charset="-122"/>
                <a:ea typeface="楷体-简" panose="02010600040101010101" charset="-122"/>
                <a:cs typeface="楷体-简" panose="02010600040101010101" charset="-122"/>
              </a:rPr>
              <a:t>统计学习理论</a:t>
            </a:r>
            <a:endParaRPr lang="zh-CN" altLang="en-US" sz="2800" b="1" dirty="0">
              <a:latin typeface="楷体-简" panose="02010600040101010101" charset="-122"/>
              <a:ea typeface="楷体-简" panose="02010600040101010101" charset="-122"/>
              <a:cs typeface="楷体-简" panose="0201060004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b="1">
                <a:latin typeface="楷体-简" panose="02010600040101010101" charset="-122"/>
                <a:ea typeface="楷体-简" panose="02010600040101010101" charset="-122"/>
                <a:cs typeface="楷体-简" panose="02010600040101010101" charset="-122"/>
              </a:rPr>
              <a:t>7.1.2 </a:t>
            </a:r>
            <a:r>
              <a:rPr lang="zh-CN" altLang="en-US" sz="2800" b="1">
                <a:latin typeface="楷体-简" panose="02010600040101010101" charset="-122"/>
                <a:ea typeface="楷体-简" panose="02010600040101010101" charset="-122"/>
                <a:cs typeface="楷体-简" panose="02010600040101010101" charset="-122"/>
              </a:rPr>
              <a:t>统计学习核心理论</a:t>
            </a:r>
            <a:endParaRPr lang="zh-CN" altLang="en-US" sz="2800" b="1">
              <a:latin typeface="楷体-简" panose="02010600040101010101" charset="-122"/>
              <a:ea typeface="楷体-简" panose="02010600040101010101" charset="-122"/>
              <a:cs typeface="楷体-简" panose="02010600040101010101" charset="-122"/>
            </a:endParaRPr>
          </a:p>
        </p:txBody>
      </p:sp>
      <p:sp>
        <p:nvSpPr>
          <p:cNvPr id="3" name="内容占位符 2"/>
          <p:cNvSpPr>
            <a:spLocks noGrp="1"/>
          </p:cNvSpPr>
          <p:nvPr>
            <p:ph idx="1"/>
          </p:nvPr>
        </p:nvSpPr>
        <p:spPr>
          <a:xfrm>
            <a:off x="2588895" y="1539875"/>
            <a:ext cx="8915400" cy="4883785"/>
          </a:xfrm>
        </p:spPr>
        <p:txBody>
          <a:bodyPr>
            <a:noAutofit/>
          </a:bodyPr>
          <a:p>
            <a:pPr marL="0" indent="0">
              <a:buNone/>
            </a:pPr>
            <a:r>
              <a:rPr lang="en-US" altLang="zh-CN" sz="2800">
                <a:latin typeface="楷体-简" panose="02010600040101010101" charset="-122"/>
                <a:ea typeface="楷体-简" panose="02010600040101010101" charset="-122"/>
                <a:cs typeface="楷体-简" panose="02010600040101010101" charset="-122"/>
              </a:rPr>
              <a:t>	</a:t>
            </a:r>
            <a:r>
              <a:rPr lang="zh-CN" altLang="en-US" sz="2800">
                <a:latin typeface="楷体-简" panose="02010600040101010101" charset="-122"/>
                <a:ea typeface="楷体-简" panose="02010600040101010101" charset="-122"/>
                <a:cs typeface="楷体-简" panose="02010600040101010101" charset="-122"/>
              </a:rPr>
              <a:t>一般来说，</a:t>
            </a:r>
            <a:r>
              <a:rPr lang="zh-CN" altLang="en-US" sz="2800" b="1">
                <a:solidFill>
                  <a:srgbClr val="C00000"/>
                </a:solidFill>
                <a:latin typeface="楷体-简" panose="02010600040101010101" charset="-122"/>
                <a:ea typeface="楷体-简" panose="02010600040101010101" charset="-122"/>
                <a:cs typeface="楷体-简" panose="02010600040101010101" charset="-122"/>
              </a:rPr>
              <a:t>经验风险最小并不一定意味着期望风险最小</a:t>
            </a:r>
            <a:r>
              <a:rPr lang="zh-CN" altLang="en-US" sz="2800">
                <a:latin typeface="楷体-简" panose="02010600040101010101" charset="-122"/>
                <a:ea typeface="楷体-简" panose="02010600040101010101" charset="-122"/>
                <a:cs typeface="楷体-简" panose="02010600040101010101" charset="-122"/>
              </a:rPr>
              <a:t>。学习的复杂性不但与学习目标有关,而且还要考虑样本集的有限性，</a:t>
            </a:r>
            <a:r>
              <a:rPr lang="zh-CN" altLang="en-US" sz="2800" b="1">
                <a:solidFill>
                  <a:srgbClr val="FF0000"/>
                </a:solidFill>
                <a:latin typeface="楷体-简" panose="02010600040101010101" charset="-122"/>
                <a:ea typeface="楷体-简" panose="02010600040101010101" charset="-122"/>
                <a:cs typeface="楷体-简" panose="02010600040101010101" charset="-122"/>
              </a:rPr>
              <a:t>这就是有限样本下学习机器的复杂性和泛化能力之间的矛盾</a:t>
            </a:r>
            <a:r>
              <a:rPr lang="zh-CN" altLang="en-US" sz="2800">
                <a:latin typeface="楷体-简" panose="02010600040101010101" charset="-122"/>
                <a:ea typeface="楷体-简" panose="02010600040101010101" charset="-122"/>
                <a:cs typeface="楷体-简" panose="02010600040101010101" charset="-122"/>
              </a:rPr>
              <a:t>。</a:t>
            </a:r>
            <a:endParaRPr lang="zh-CN" altLang="en-US" sz="2800">
              <a:latin typeface="楷体-简" panose="02010600040101010101" charset="-122"/>
              <a:ea typeface="楷体-简" panose="02010600040101010101" charset="-122"/>
              <a:cs typeface="楷体-简" panose="02010600040101010101" charset="-122"/>
            </a:endParaRPr>
          </a:p>
        </p:txBody>
      </p:sp>
      <p:sp>
        <p:nvSpPr>
          <p:cNvPr id="4" name="文本框 3"/>
          <p:cNvSpPr txBox="1"/>
          <p:nvPr/>
        </p:nvSpPr>
        <p:spPr>
          <a:xfrm>
            <a:off x="2908935" y="4532630"/>
            <a:ext cx="8279765" cy="1198880"/>
          </a:xfrm>
          <a:prstGeom prst="rect">
            <a:avLst/>
          </a:prstGeom>
          <a:solidFill>
            <a:schemeClr val="accent6">
              <a:lumMod val="20000"/>
              <a:lumOff val="80000"/>
            </a:schemeClr>
          </a:solidFill>
          <a:ln>
            <a:solidFill>
              <a:schemeClr val="accent1"/>
            </a:solidFill>
          </a:ln>
        </p:spPr>
        <p:txBody>
          <a:bodyPr wrap="square" rtlCol="0">
            <a:spAutoFit/>
          </a:bodyPr>
          <a:p>
            <a:r>
              <a:rPr lang="zh-CN" altLang="en-US" sz="2400" b="1"/>
              <a:t>期望风险表示的是全局的概念，表示的是决策函数对所有的样本预测能力的大小，而经验风险则是局部的概念，仅仅表示决策函数对训练数据集里样本的预测能力</a:t>
            </a:r>
            <a:endParaRPr lang="zh-CN" altLang="en-US"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endParaRPr lang="en-US" altLang="zh-CN" sz="2800" b="1">
              <a:latin typeface="楷体-简" panose="02010600040101010101" charset="-122"/>
              <a:ea typeface="楷体-简" panose="02010600040101010101" charset="-122"/>
              <a:cs typeface="楷体-简" panose="02010600040101010101"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592705" y="1551940"/>
                <a:ext cx="5514975" cy="4777740"/>
              </a:xfrm>
            </p:spPr>
            <p:txBody>
              <a:bodyPr>
                <a:normAutofit fontScale="90000"/>
              </a:bodyPr>
              <a:p>
                <a:pPr marL="0" indent="0">
                  <a:buNone/>
                </a:pPr>
                <a:r>
                  <a:rPr lang="en-US" altLang="zh-CN" sz="2400">
                    <a:latin typeface="楷体-简" panose="02010600040101010101" charset="-122"/>
                    <a:ea typeface="楷体-简" panose="02010600040101010101" charset="-122"/>
                    <a:cs typeface="楷体-简" panose="02010600040101010101" charset="-122"/>
                  </a:rPr>
                  <a:t>	</a:t>
                </a:r>
                <a:r>
                  <a:rPr lang="zh-CN" altLang="en-US" sz="2400">
                    <a:latin typeface="楷体-简" panose="02010600040101010101" charset="-122"/>
                    <a:ea typeface="楷体-简" panose="02010600040101010101" charset="-122"/>
                    <a:cs typeface="楷体-简" panose="02010600040101010101" charset="-122"/>
                  </a:rPr>
                  <a:t>学习过程的一致性结论是统计学习理论的基础,也是与传统渐近统计学的基本联系所在。所谓学习过程的一致性(consistency),就是指当训练样本数目趋于无穷大时,经验风险的最优值能够收敛到真实风险的最优值。只有满足学习过程一致性条件,才能保证在学习样本无穷大时,经验风险最小化原则下得到的最优学习机器的性能趋近于期望风险最小时的最优结果，只有满足一致性条件,才能说明学习方法是有效的。经验风险和期望风险之间的这种关系,可以用图7-1表述，其中</a:t>
                </a:r>
                <a:r>
                  <a:rPr lang="en-US" altLang="zh-CN" sz="2400">
                    <a:latin typeface="楷体-简" panose="02010600040101010101" charset="-122"/>
                    <a:ea typeface="楷体-简" panose="02010600040101010101" charset="-122"/>
                    <a:cs typeface="楷体-简" panose="02010600040101010101" charset="-122"/>
                  </a:rPr>
                  <a:t>R(</a:t>
                </a: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𝑙</m:t>
                        </m:r>
                      </m:sub>
                    </m:sSub>
                  </m:oMath>
                </a14:m>
                <a:r>
                  <a:rPr lang="en-US" altLang="zh-CN" sz="2400">
                    <a:latin typeface="楷体-简" panose="02010600040101010101" charset="-122"/>
                    <a:ea typeface="楷体-简" panose="02010600040101010101" charset="-122"/>
                    <a:cs typeface="楷体-简" panose="02010600040101010101" charset="-122"/>
                  </a:rPr>
                  <a:t>)</a:t>
                </a:r>
                <a:r>
                  <a:rPr lang="zh-CN" altLang="en-US" sz="2400">
                    <a:latin typeface="楷体-简" panose="02010600040101010101" charset="-122"/>
                    <a:ea typeface="楷体-简" panose="02010600040101010101" charset="-122"/>
                    <a:cs typeface="楷体-简" panose="02010600040101010101" charset="-122"/>
                  </a:rPr>
                  <a:t>为实际可能的最小风险。</a:t>
                </a:r>
                <a:endParaRPr lang="zh-CN" altLang="en-US" sz="2400">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92250" y="1534160"/>
                <a:ext cx="5514975" cy="4777740"/>
              </a:xfrm>
              <a:blipFill rotWithShape="1">
                <a:blip r:embed="rId1"/>
                <a:stretch>
                  <a:fillRect r="-2982"/>
                </a:stretch>
              </a:blipFill>
            </p:spPr>
            <p:txBody>
              <a:bodyPr/>
              <a:lstStyle/>
              <a:p>
                <a:r>
                  <a:rPr lang="zh-CN" altLang="en-US">
                    <a:noFill/>
                  </a:rPr>
                  <a:t> </a:t>
                </a:r>
                <a:endParaRPr lang="zh-CN" altLang="en-US">
                  <a:noFill/>
                </a:endParaRPr>
              </a:p>
            </p:txBody>
          </p:sp>
        </mc:Fallback>
      </mc:AlternateContent>
      <p:pic>
        <p:nvPicPr>
          <p:cNvPr id="4" name="Picture 2"/>
          <p:cNvPicPr>
            <a:picLocks noChangeAspect="1"/>
          </p:cNvPicPr>
          <p:nvPr/>
        </p:nvPicPr>
        <p:blipFill>
          <a:blip r:embed="rId2"/>
          <a:stretch>
            <a:fillRect/>
          </a:stretch>
        </p:blipFill>
        <p:spPr>
          <a:xfrm>
            <a:off x="7268845" y="1337310"/>
            <a:ext cx="4406265" cy="3438525"/>
          </a:xfrm>
          <a:prstGeom prst="rect">
            <a:avLst/>
          </a:prstGeom>
          <a:noFill/>
          <a:ln w="9525">
            <a:noFill/>
          </a:ln>
        </p:spPr>
      </p:pic>
      <p:sp>
        <p:nvSpPr>
          <p:cNvPr id="5" name="文本框 4"/>
          <p:cNvSpPr txBox="1"/>
          <p:nvPr/>
        </p:nvSpPr>
        <p:spPr>
          <a:xfrm>
            <a:off x="7538720" y="4928870"/>
            <a:ext cx="3965575" cy="306705"/>
          </a:xfrm>
          <a:prstGeom prst="rect">
            <a:avLst/>
          </a:prstGeom>
          <a:noFill/>
        </p:spPr>
        <p:txBody>
          <a:bodyPr wrap="square" rtlCol="0">
            <a:spAutoFit/>
          </a:bodyPr>
          <a:p>
            <a:r>
              <a:rPr lang="zh-CN" altLang="en-US" sz="1400">
                <a:latin typeface="黑体-简" panose="02000000000000000000" charset="-122"/>
                <a:ea typeface="黑体-简" panose="02000000000000000000" charset="-122"/>
                <a:cs typeface="黑体-简" panose="02000000000000000000" charset="-122"/>
              </a:rPr>
              <a:t>图7-1  经验风险和期望风险关系示意图</a:t>
            </a:r>
            <a:endParaRPr lang="zh-CN" altLang="en-US" sz="1400">
              <a:latin typeface="黑体-简" panose="02000000000000000000" charset="-122"/>
              <a:ea typeface="黑体-简" panose="02000000000000000000" charset="-122"/>
              <a:cs typeface="黑体-简" panose="020000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39962" y="1540510"/>
            <a:ext cx="8915400" cy="3777622"/>
          </a:xfrm>
        </p:spPr>
        <p:txBody>
          <a:bodyPr/>
          <a:p>
            <a:r>
              <a:rPr lang="zh-CN" altLang="en-US" sz="2800" b="1">
                <a:solidFill>
                  <a:srgbClr val="C00000"/>
                </a:solidFill>
                <a:latin typeface="楷体-简" panose="02010600040101010101" charset="-122"/>
                <a:ea typeface="楷体-简" panose="02010600040101010101" charset="-122"/>
                <a:cs typeface="楷体-简" panose="02010600040101010101" charset="-122"/>
                <a:sym typeface="+mn-ea"/>
              </a:rPr>
              <a:t>既然经验风险最小并不一定意味着期望风险最小，</a:t>
            </a:r>
            <a:r>
              <a:rPr lang="zh-CN" altLang="en-US" sz="2800">
                <a:latin typeface="楷体-简" panose="02010600040101010101" charset="-122"/>
                <a:ea typeface="楷体-简" panose="02010600040101010101" charset="-122"/>
                <a:cs typeface="楷体-简" panose="02010600040101010101" charset="-122"/>
                <a:sym typeface="+mn-ea"/>
              </a:rPr>
              <a:t>我们需要一种新的学习原则来代替传统的经验风险最小化原则,它能够指导我们在有限样本或小样本情况下获得具有优异泛化能力的学习机器。</a:t>
            </a:r>
            <a:endParaRPr lang="zh-CN" altLang="en-US" sz="2800">
              <a:latin typeface="楷体-简" panose="02010600040101010101" charset="-122"/>
              <a:ea typeface="楷体-简" panose="02010600040101010101" charset="-122"/>
              <a:cs typeface="楷体-简" panose="02010600040101010101" charset="-122"/>
            </a:endParaRPr>
          </a:p>
          <a:p>
            <a:endParaRPr lang="zh-CN" altLang="en-US" sz="2800" b="1"/>
          </a:p>
          <a:p>
            <a:endParaRPr lang="zh-CN" altLang="en-US" sz="2800" b="1"/>
          </a:p>
          <a:p>
            <a:r>
              <a:rPr lang="zh-CN" altLang="en-US" sz="2800" b="1"/>
              <a:t>新原则：结构风险最小化</a:t>
            </a:r>
            <a:endParaRPr lang="zh-CN" altLang="en-US" sz="28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32367" y="823595"/>
            <a:ext cx="8915400" cy="3777622"/>
          </a:xfrm>
        </p:spPr>
        <p:txBody>
          <a:bodyPr>
            <a:noAutofit/>
          </a:bodyPr>
          <a:p>
            <a:r>
              <a:rPr lang="zh-CN" altLang="en-US" sz="2800" b="1"/>
              <a:t>结构风险</a:t>
            </a:r>
            <a:r>
              <a:rPr lang="zh-CN" altLang="en-US" sz="2800"/>
              <a:t>：</a:t>
            </a:r>
            <a:endParaRPr lang="zh-CN" altLang="en-US" sz="2800"/>
          </a:p>
          <a:p>
            <a:endParaRPr lang="zh-CN" altLang="en-US" sz="2800"/>
          </a:p>
          <a:p>
            <a:r>
              <a:rPr lang="zh-CN" altLang="en-US" sz="2800"/>
              <a:t>经验风险越小，模型决策函数势必越复杂，其包含的参数越多，会影响其推广能力，这种现象到一定程度就出现了过学习。要想防止过拟合现象，就要在降低经验风险的同时，也尽量降低置信风险。</a:t>
            </a:r>
            <a:r>
              <a:rPr lang="zh-CN" altLang="en-US" sz="2800" b="1"/>
              <a:t>这就是结构风险最小化。</a:t>
            </a:r>
            <a:endParaRPr lang="zh-CN" altLang="en-US" sz="2800" b="1"/>
          </a:p>
        </p:txBody>
      </p:sp>
      <p:sp>
        <p:nvSpPr>
          <p:cNvPr id="4" name="文本框 3"/>
          <p:cNvSpPr txBox="1"/>
          <p:nvPr/>
        </p:nvSpPr>
        <p:spPr>
          <a:xfrm>
            <a:off x="2931795" y="4601210"/>
            <a:ext cx="8768715" cy="1476375"/>
          </a:xfrm>
          <a:prstGeom prst="rect">
            <a:avLst/>
          </a:prstGeom>
          <a:noFill/>
        </p:spPr>
        <p:txBody>
          <a:bodyPr wrap="square" rtlCol="0">
            <a:spAutoFit/>
          </a:bodyPr>
          <a:p>
            <a:r>
              <a:rPr lang="zh-CN" altLang="en-US"/>
              <a:t>置信风险的影响因素有： 训练样本数目和分类函数的VC维。样本越多，置信风险就可以比较小；VC维越大，结构越复杂，推广能力就越差，置信风险也就越大。因此，增加样本数，降低VC维，才能降低置信风险。而一般的分类函数，需要提高VC维，即样本的特征数据量，来降低经验风险，如多项式分类函数。如此就会导致置信风险变高，结构风险也相应变高。</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02765" y="658495"/>
            <a:ext cx="9491980" cy="5541010"/>
          </a:xfrm>
        </p:spPr>
        <p:txBody>
          <a:bodyPr>
            <a:normAutofit lnSpcReduction="20000"/>
          </a:bodyPr>
          <a:p>
            <a:r>
              <a:rPr lang="zh-CN" altLang="en-US" sz="2400" b="1"/>
              <a:t>VC维：</a:t>
            </a:r>
            <a:r>
              <a:rPr lang="zh-CN" altLang="en-US" sz="2400"/>
              <a:t>将N个点进行分类，如分成两类，那么可以有2的N次方种分法，即可以理解成有2的N次方个学习问题。若存在一个分类器H，对</a:t>
            </a:r>
            <a:r>
              <a:rPr lang="en-US" altLang="zh-CN" sz="2400"/>
              <a:t>N</a:t>
            </a:r>
            <a:r>
              <a:rPr lang="zh-CN" altLang="en-US" sz="2400"/>
              <a:t>个点</a:t>
            </a:r>
            <a:r>
              <a:rPr lang="zh-CN" altLang="en-US" sz="2400"/>
              <a:t>能完成全部</a:t>
            </a:r>
            <a:r>
              <a:rPr lang="en-US" altLang="zh-CN" sz="2400"/>
              <a:t>2</a:t>
            </a:r>
            <a:r>
              <a:rPr lang="zh-CN" altLang="en-US" sz="2400"/>
              <a:t>的</a:t>
            </a:r>
            <a:r>
              <a:rPr lang="en-US" altLang="zh-CN" sz="2400"/>
              <a:t>N</a:t>
            </a:r>
            <a:r>
              <a:rPr lang="zh-CN" altLang="en-US" sz="2400"/>
              <a:t>次方种分类，而对</a:t>
            </a:r>
            <a:r>
              <a:rPr lang="en-US" altLang="zh-CN" sz="2400"/>
              <a:t>N+1</a:t>
            </a:r>
            <a:r>
              <a:rPr lang="zh-CN" altLang="en-US" sz="2400"/>
              <a:t>以上个点，却无法完成全部分类。那么N就是H的VC维。</a:t>
            </a:r>
            <a:endParaRPr lang="zh-CN" altLang="en-US" sz="2400"/>
          </a:p>
          <a:p>
            <a:endParaRPr lang="zh-CN" altLang="en-US" sz="2400"/>
          </a:p>
          <a:p>
            <a:r>
              <a:rPr lang="zh-CN" altLang="en-US" sz="2400"/>
              <a:t>例如，平面上3个点的线性划分的VC维是3。因为对</a:t>
            </a:r>
            <a:r>
              <a:rPr lang="en-US" altLang="zh-CN" sz="2400"/>
              <a:t>3</a:t>
            </a:r>
            <a:r>
              <a:rPr lang="zh-CN" altLang="en-US" sz="2400"/>
              <a:t>个点，不管怎么分两类，总有直线能把这两类分开。但若是</a:t>
            </a:r>
            <a:r>
              <a:rPr lang="en-US" altLang="zh-CN" sz="2400"/>
              <a:t>4</a:t>
            </a:r>
            <a:r>
              <a:rPr lang="zh-CN" altLang="en-US" sz="2400"/>
              <a:t>个点，就有可能无法用直线分开两类了。</a:t>
            </a:r>
            <a:endParaRPr lang="zh-CN" altLang="en-US" sz="2400"/>
          </a:p>
          <a:p>
            <a:endParaRPr lang="zh-CN" altLang="en-US" sz="2400"/>
          </a:p>
          <a:p>
            <a:endParaRPr lang="zh-CN" altLang="en-US" sz="2400"/>
          </a:p>
          <a:p>
            <a:endParaRPr lang="zh-CN" altLang="en-US" sz="2400"/>
          </a:p>
          <a:p>
            <a:endParaRPr lang="zh-CN" altLang="en-US" sz="2400"/>
          </a:p>
          <a:p>
            <a:r>
              <a:rPr lang="zh-CN" altLang="en-US" sz="2400"/>
              <a:t>更一般地，在r 维空间中，线性决策面的VC维为r+1。</a:t>
            </a:r>
            <a:endParaRPr lang="zh-CN" altLang="en-US" sz="2400"/>
          </a:p>
        </p:txBody>
      </p:sp>
      <p:sp>
        <p:nvSpPr>
          <p:cNvPr id="4" name="椭圆 3"/>
          <p:cNvSpPr/>
          <p:nvPr/>
        </p:nvSpPr>
        <p:spPr>
          <a:xfrm>
            <a:off x="8432165" y="3362325"/>
            <a:ext cx="349250" cy="349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8781415" y="4375785"/>
            <a:ext cx="332105" cy="3314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等腰三角形 5"/>
          <p:cNvSpPr/>
          <p:nvPr/>
        </p:nvSpPr>
        <p:spPr>
          <a:xfrm>
            <a:off x="7855585" y="4095750"/>
            <a:ext cx="419100" cy="332105"/>
          </a:xfrm>
          <a:prstGeom prs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7" name="等腰三角形 6"/>
          <p:cNvSpPr/>
          <p:nvPr/>
        </p:nvSpPr>
        <p:spPr>
          <a:xfrm>
            <a:off x="9310370" y="3559175"/>
            <a:ext cx="419100" cy="332105"/>
          </a:xfrm>
          <a:prstGeom prs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309177" y="1540510"/>
            <a:ext cx="8915400" cy="3777622"/>
          </a:xfrm>
        </p:spPr>
        <p:txBody>
          <a:bodyPr/>
          <a:p>
            <a:r>
              <a:rPr lang="zh-CN" altLang="en-US" sz="2800" b="1"/>
              <a:t>支持向量机</a:t>
            </a:r>
            <a:r>
              <a:rPr lang="zh-CN" altLang="en-US" sz="2800"/>
              <a:t>：考虑线性分类器（</a:t>
            </a:r>
            <a:r>
              <a:rPr lang="en-US" altLang="zh-CN" sz="2800"/>
              <a:t>VC</a:t>
            </a:r>
            <a:r>
              <a:rPr lang="zh-CN" altLang="en-US" sz="2800"/>
              <a:t>维为空间维度</a:t>
            </a:r>
            <a:r>
              <a:rPr lang="en-US" altLang="zh-CN" sz="2800"/>
              <a:t>+1</a:t>
            </a:r>
            <a:r>
              <a:rPr lang="zh-CN" altLang="en-US" sz="2800"/>
              <a:t>），在保证训练样本全都被线性分类器正确分类的前提下（即经验风险最小），通过对分类间隔最大化，使分类器获得最好的推广性能，实现结构风险的最小化。</a:t>
            </a:r>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黑体-简" panose="02000000000000000000" charset="-122"/>
                <a:ea typeface="黑体-简" panose="02000000000000000000" charset="-122"/>
                <a:cs typeface="黑体-简" panose="02000000000000000000" charset="-122"/>
              </a:rPr>
              <a:t>7.2 </a:t>
            </a:r>
            <a:r>
              <a:rPr lang="zh-CN" altLang="en-US">
                <a:latin typeface="黑体-简" panose="02000000000000000000" charset="-122"/>
                <a:ea typeface="黑体-简" panose="02000000000000000000" charset="-122"/>
                <a:cs typeface="黑体-简" panose="02000000000000000000" charset="-122"/>
              </a:rPr>
              <a:t>支持向量机原理</a:t>
            </a:r>
            <a:endParaRPr lang="zh-CN" altLang="en-US">
              <a:latin typeface="黑体-简" panose="02000000000000000000" charset="-122"/>
              <a:ea typeface="黑体-简" panose="02000000000000000000" charset="-122"/>
              <a:cs typeface="黑体-简" panose="02000000000000000000" charset="-122"/>
            </a:endParaRPr>
          </a:p>
        </p:txBody>
      </p:sp>
      <p:sp>
        <p:nvSpPr>
          <p:cNvPr id="3" name="内容占位符 2"/>
          <p:cNvSpPr>
            <a:spLocks noGrp="1"/>
          </p:cNvSpPr>
          <p:nvPr>
            <p:ph idx="1"/>
          </p:nvPr>
        </p:nvSpPr>
        <p:spPr>
          <a:xfrm>
            <a:off x="2593022" y="1377315"/>
            <a:ext cx="8915400" cy="3777622"/>
          </a:xfrm>
        </p:spPr>
        <p:txBody>
          <a:bodyPr>
            <a:normAutofit fontScale="80000"/>
          </a:bodyPr>
          <a:p>
            <a:r>
              <a:rPr lang="en-US" altLang="zh-CN" sz="2800" b="1">
                <a:latin typeface="楷体-简" panose="02010600040101010101" charset="-122"/>
                <a:ea typeface="楷体-简" panose="02010600040101010101" charset="-122"/>
                <a:cs typeface="楷体-简" panose="02010600040101010101" charset="-122"/>
              </a:rPr>
              <a:t>7.2.1 </a:t>
            </a:r>
            <a:r>
              <a:rPr lang="zh-CN" altLang="en-US" sz="2800" b="1">
                <a:latin typeface="楷体-简" panose="02010600040101010101" charset="-122"/>
                <a:ea typeface="楷体-简" panose="02010600040101010101" charset="-122"/>
                <a:cs typeface="楷体-简" panose="02010600040101010101" charset="-122"/>
              </a:rPr>
              <a:t>支持向量机核心理论</a:t>
            </a:r>
            <a:endParaRPr lang="zh-CN" altLang="en-US" sz="2800" b="1">
              <a:latin typeface="楷体-简" panose="02010600040101010101" charset="-122"/>
              <a:ea typeface="楷体-简" panose="02010600040101010101" charset="-122"/>
              <a:cs typeface="楷体-简" panose="02010600040101010101" charset="-122"/>
            </a:endParaRPr>
          </a:p>
          <a:p>
            <a:pPr marL="0" indent="0" fontAlgn="auto">
              <a:lnSpc>
                <a:spcPct val="150000"/>
              </a:lnSpc>
              <a:buNone/>
            </a:pPr>
            <a:r>
              <a:rPr lang="en-US" altLang="zh-CN" sz="2800" b="1">
                <a:latin typeface="楷体-简" panose="02010600040101010101" charset="-122"/>
                <a:ea typeface="楷体-简" panose="02010600040101010101" charset="-122"/>
                <a:cs typeface="楷体-简" panose="02010600040101010101" charset="-122"/>
              </a:rPr>
              <a:t>	</a:t>
            </a:r>
            <a:r>
              <a:rPr lang="en-US" altLang="zh-CN" sz="2400">
                <a:latin typeface="楷体-简" panose="02010600040101010101" charset="-122"/>
                <a:ea typeface="楷体-简" panose="02010600040101010101" charset="-122"/>
                <a:cs typeface="楷体-简" panose="02010600040101010101" charset="-122"/>
              </a:rPr>
              <a:t>支持向量机(Support Vector Machine, SVM)是在统计学习理论的VC维理论和结构风险最小原理的基础上发展起来的一种新的机器学习方法。它根据有限的样本信息在模型的复杂性(即对特定训练样本的学习精度)和学习能力(即无错误地识别任意样本的能力)之间寻求最佳折衷,以期获得最好的推广能力。目前SVM己初步表现出很多优于已有方法的性能,一些学者认为,SVM正在成为继神经网络之后新的研究热点,并将推动机器学习理论和技术的重大发展。</a:t>
            </a:r>
            <a:endParaRPr lang="en-US" altLang="zh-CN" sz="24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b="1">
                <a:latin typeface="楷体-简" panose="02010600040101010101" charset="-122"/>
                <a:ea typeface="楷体-简" panose="02010600040101010101" charset="-122"/>
                <a:cs typeface="楷体-简" panose="02010600040101010101" charset="-122"/>
              </a:rPr>
              <a:t>7.2.2 </a:t>
            </a:r>
            <a:r>
              <a:rPr lang="zh-CN" altLang="en-US" sz="2800" b="1">
                <a:latin typeface="楷体-简" panose="02010600040101010101" charset="-122"/>
                <a:ea typeface="楷体-简" panose="02010600040101010101" charset="-122"/>
                <a:cs typeface="楷体-简" panose="02010600040101010101" charset="-122"/>
              </a:rPr>
              <a:t>最大间隔分类超平面</a:t>
            </a:r>
            <a:endParaRPr lang="zh-CN" altLang="en-US" sz="2800" b="1">
              <a:latin typeface="楷体-简" panose="02010600040101010101" charset="-122"/>
              <a:ea typeface="楷体-简" panose="02010600040101010101" charset="-122"/>
              <a:cs typeface="楷体-简" panose="02010600040101010101"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589212" y="1181735"/>
                <a:ext cx="8915400" cy="3777622"/>
              </a:xfrm>
            </p:spPr>
            <p:txBody>
              <a:bodyPr/>
              <a:p>
                <a:pPr marL="0" indent="0">
                  <a:buNone/>
                </a:pPr>
                <a:r>
                  <a:rPr lang="zh-CN" altLang="en-US" sz="2000">
                    <a:latin typeface="楷体-简" panose="02010600040101010101" charset="-122"/>
                    <a:ea typeface="楷体-简" panose="02010600040101010101" charset="-122"/>
                    <a:cs typeface="楷体-简" panose="02010600040101010101" charset="-122"/>
                  </a:rPr>
                  <a:t>支持向量机最初是针对线性可分情况下的二类模式分类问题而提出的。给定观测样本集</a:t>
                </a:r>
                <a14:m>
                  <m:oMath xmlns:m="http://schemas.openxmlformats.org/officeDocument/2006/math">
                    <m:r>
                      <a:rPr lang="en-US" altLang="zh-CN" sz="2000" i="1">
                        <a:latin typeface="Cambria Math" panose="02040503050406030204" charset="0"/>
                        <a:ea typeface="楷体-简" panose="02010600040101010101" charset="-122"/>
                        <a:cs typeface="Cambria Math" panose="02040503050406030204" charset="0"/>
                      </a:rPr>
                      <m:t>𝑆</m:t>
                    </m:r>
                    <m:r>
                      <a:rPr lang="en-US" altLang="zh-CN" sz="2000" i="1">
                        <a:latin typeface="Cambria Math" panose="02040503050406030204" charset="0"/>
                        <a:ea typeface="楷体-简" panose="02010600040101010101" charset="-122"/>
                        <a:cs typeface="Cambria Math" panose="02040503050406030204" charset="0"/>
                      </a:rPr>
                      <m:t>={(</m:t>
                    </m:r>
                    <m:sSub>
                      <m:sSubPr>
                        <m:ctrlPr>
                          <a:rPr lang="en-US" altLang="zh-CN" sz="2000" i="1">
                            <a:latin typeface="Cambria Math" panose="02040503050406030204" charset="0"/>
                            <a:ea typeface="楷体-简" panose="02010600040101010101" charset="-122"/>
                            <a:cs typeface="Cambria Math" panose="02040503050406030204" charset="0"/>
                          </a:rPr>
                        </m:ctrlPr>
                      </m:sSubPr>
                      <m:e>
                        <m:r>
                          <a:rPr lang="en-US" altLang="zh-CN" sz="2000" i="1">
                            <a:latin typeface="Cambria Math" panose="02040503050406030204" charset="0"/>
                            <a:ea typeface="楷体-简" panose="02010600040101010101" charset="-122"/>
                            <a:cs typeface="Cambria Math" panose="02040503050406030204" charset="0"/>
                          </a:rPr>
                          <m:t>𝑥</m:t>
                        </m:r>
                      </m:e>
                      <m:sub>
                        <m:r>
                          <a:rPr lang="en-US" altLang="zh-CN" sz="2000" i="1">
                            <a:latin typeface="Cambria Math" panose="02040503050406030204" charset="0"/>
                            <a:ea typeface="楷体-简" panose="02010600040101010101" charset="-122"/>
                            <a:cs typeface="Cambria Math" panose="02040503050406030204" charset="0"/>
                          </a:rPr>
                          <m:t>1</m:t>
                        </m:r>
                      </m:sub>
                    </m:sSub>
                    <m:r>
                      <a:rPr lang="en-US" altLang="zh-CN" sz="2000" i="1">
                        <a:latin typeface="Cambria Math" panose="02040503050406030204" charset="0"/>
                        <a:ea typeface="楷体-简" panose="02010600040101010101" charset="-122"/>
                        <a:cs typeface="Cambria Math" panose="02040503050406030204" charset="0"/>
                      </a:rPr>
                      <m:t>,</m:t>
                    </m:r>
                    <m:sSub>
                      <m:sSubPr>
                        <m:ctrlPr>
                          <a:rPr lang="en-US" altLang="zh-CN" sz="2000" i="1">
                            <a:latin typeface="Cambria Math" panose="02040503050406030204" charset="0"/>
                            <a:ea typeface="楷体-简" panose="02010600040101010101" charset="-122"/>
                            <a:cs typeface="Cambria Math" panose="02040503050406030204" charset="0"/>
                          </a:rPr>
                        </m:ctrlPr>
                      </m:sSubPr>
                      <m:e>
                        <m:r>
                          <a:rPr lang="en-US" altLang="zh-CN" sz="2000" i="1">
                            <a:latin typeface="Cambria Math" panose="02040503050406030204" charset="0"/>
                            <a:ea typeface="楷体-简" panose="02010600040101010101" charset="-122"/>
                            <a:cs typeface="Cambria Math" panose="02040503050406030204" charset="0"/>
                          </a:rPr>
                          <m:t>𝑦</m:t>
                        </m:r>
                      </m:e>
                      <m:sub>
                        <m:r>
                          <a:rPr lang="en-US" altLang="zh-CN" sz="2000" i="1">
                            <a:latin typeface="Cambria Math" panose="02040503050406030204" charset="0"/>
                            <a:ea typeface="楷体-简" panose="02010600040101010101" charset="-122"/>
                            <a:cs typeface="Cambria Math" panose="02040503050406030204" charset="0"/>
                          </a:rPr>
                          <m:t>1</m:t>
                        </m:r>
                      </m:sub>
                    </m:sSub>
                    <m:r>
                      <a:rPr lang="en-US" altLang="zh-CN" sz="2000" i="1">
                        <a:latin typeface="Cambria Math" panose="02040503050406030204" charset="0"/>
                        <a:ea typeface="楷体-简" panose="02010600040101010101" charset="-122"/>
                        <a:cs typeface="Cambria Math" panose="02040503050406030204" charset="0"/>
                      </a:rPr>
                      <m:t>),(</m:t>
                    </m:r>
                    <m:sSub>
                      <m:sSubPr>
                        <m:ctrlPr>
                          <a:rPr lang="en-US" altLang="zh-CN" sz="2000" i="1">
                            <a:latin typeface="Cambria Math" panose="02040503050406030204" charset="0"/>
                            <a:ea typeface="楷体-简" panose="02010600040101010101" charset="-122"/>
                            <a:cs typeface="Cambria Math" panose="02040503050406030204" charset="0"/>
                          </a:rPr>
                        </m:ctrlPr>
                      </m:sSubPr>
                      <m:e>
                        <m:r>
                          <a:rPr lang="en-US" altLang="zh-CN" sz="2000" i="1">
                            <a:latin typeface="Cambria Math" panose="02040503050406030204" charset="0"/>
                            <a:ea typeface="楷体-简" panose="02010600040101010101" charset="-122"/>
                            <a:cs typeface="Cambria Math" panose="02040503050406030204" charset="0"/>
                          </a:rPr>
                          <m:t>𝑥</m:t>
                        </m:r>
                      </m:e>
                      <m:sub>
                        <m:r>
                          <a:rPr lang="en-US" altLang="zh-CN" sz="2000" i="1">
                            <a:latin typeface="Cambria Math" panose="02040503050406030204" charset="0"/>
                            <a:ea typeface="楷体-简" panose="02010600040101010101" charset="-122"/>
                            <a:cs typeface="Cambria Math" panose="02040503050406030204" charset="0"/>
                          </a:rPr>
                          <m:t>2</m:t>
                        </m:r>
                      </m:sub>
                    </m:sSub>
                    <m:r>
                      <a:rPr lang="en-US" altLang="zh-CN" sz="2000" i="1">
                        <a:latin typeface="Cambria Math" panose="02040503050406030204" charset="0"/>
                        <a:ea typeface="楷体-简" panose="02010600040101010101" charset="-122"/>
                        <a:cs typeface="Cambria Math" panose="02040503050406030204" charset="0"/>
                      </a:rPr>
                      <m:t>,</m:t>
                    </m:r>
                    <m:sSub>
                      <m:sSubPr>
                        <m:ctrlPr>
                          <a:rPr lang="en-US" altLang="zh-CN" sz="2000" i="1">
                            <a:latin typeface="Cambria Math" panose="02040503050406030204" charset="0"/>
                            <a:ea typeface="楷体-简" panose="02010600040101010101" charset="-122"/>
                            <a:cs typeface="Cambria Math" panose="02040503050406030204" charset="0"/>
                          </a:rPr>
                        </m:ctrlPr>
                      </m:sSubPr>
                      <m:e>
                        <m:r>
                          <a:rPr lang="en-US" altLang="zh-CN" sz="2000" i="1">
                            <a:latin typeface="Cambria Math" panose="02040503050406030204" charset="0"/>
                            <a:ea typeface="楷体-简" panose="02010600040101010101" charset="-122"/>
                            <a:cs typeface="Cambria Math" panose="02040503050406030204" charset="0"/>
                          </a:rPr>
                          <m:t>𝑦</m:t>
                        </m:r>
                      </m:e>
                      <m:sub>
                        <m:r>
                          <a:rPr lang="en-US" altLang="zh-CN" sz="2000" i="1">
                            <a:latin typeface="Cambria Math" panose="02040503050406030204" charset="0"/>
                            <a:ea typeface="楷体-简" panose="02010600040101010101" charset="-122"/>
                            <a:cs typeface="Cambria Math" panose="02040503050406030204" charset="0"/>
                          </a:rPr>
                          <m:t>2</m:t>
                        </m:r>
                      </m:sub>
                    </m:sSub>
                    <m:r>
                      <a:rPr lang="en-US" altLang="zh-CN" sz="2000" i="1">
                        <a:latin typeface="Cambria Math" panose="02040503050406030204" charset="0"/>
                        <a:ea typeface="楷体-简" panose="02010600040101010101" charset="-122"/>
                        <a:cs typeface="Cambria Math" panose="02040503050406030204" charset="0"/>
                      </a:rPr>
                      <m:t>),……}</m:t>
                    </m:r>
                    <m:r>
                      <a:rPr lang="en-US" altLang="zh-CN" sz="2000" i="1">
                        <a:latin typeface="Cambria Math" panose="02040503050406030204" charset="0"/>
                        <a:ea typeface="宋体" charset="0"/>
                        <a:cs typeface="Cambria Math" panose="02040503050406030204" charset="0"/>
                      </a:rPr>
                      <m:t>⊂X×{</m:t>
                    </m:r>
                    <m:r>
                      <a:rPr lang="en-US" altLang="zh-CN" sz="2000" i="1">
                        <a:latin typeface="Cambria Math" panose="02040503050406030204" charset="0"/>
                        <a:ea typeface="宋体" charset="0"/>
                        <a:cs typeface="Cambria Math" panose="02040503050406030204" charset="0"/>
                      </a:rPr>
                      <m:t>−</m:t>
                    </m:r>
                    <m:r>
                      <a:rPr lang="en-US" altLang="zh-CN" sz="2000" i="1">
                        <a:latin typeface="Cambria Math" panose="02040503050406030204" charset="0"/>
                        <a:ea typeface="宋体" charset="0"/>
                        <a:cs typeface="Cambria Math" panose="02040503050406030204" charset="0"/>
                      </a:rPr>
                      <m:t>1</m:t>
                    </m:r>
                    <m:r>
                      <a:rPr lang="en-US" altLang="zh-CN" sz="2000" i="1">
                        <a:latin typeface="Cambria Math" panose="02040503050406030204" charset="0"/>
                        <a:ea typeface="宋体" charset="0"/>
                        <a:cs typeface="Cambria Math" panose="02040503050406030204" charset="0"/>
                      </a:rPr>
                      <m:t>,</m:t>
                    </m:r>
                    <m:r>
                      <a:rPr lang="en-US" altLang="zh-CN" sz="2000" i="1">
                        <a:latin typeface="Cambria Math" panose="02040503050406030204" charset="0"/>
                        <a:ea typeface="宋体" charset="0"/>
                        <a:cs typeface="Cambria Math" panose="02040503050406030204" charset="0"/>
                      </a:rPr>
                      <m:t>1</m:t>
                    </m:r>
                    <m:r>
                      <a:rPr lang="en-US" altLang="zh-CN" sz="2000" i="1">
                        <a:latin typeface="Cambria Math" panose="02040503050406030204" charset="0"/>
                        <a:ea typeface="宋体" charset="0"/>
                        <a:cs typeface="Cambria Math" panose="02040503050406030204" charset="0"/>
                      </a:rPr>
                      <m:t>}</m:t>
                    </m:r>
                  </m:oMath>
                </a14:m>
                <a:r>
                  <a:rPr lang="zh-CN" altLang="en-US" sz="2000">
                    <a:latin typeface="楷体-简" panose="02010600040101010101" charset="-122"/>
                    <a:ea typeface="楷体-简" panose="02010600040101010101" charset="-122"/>
                    <a:cs typeface="楷体-简" panose="02010600040101010101" charset="-122"/>
                  </a:rPr>
                  <a:t>，其中</a:t>
                </a:r>
                <a:r>
                  <a:rPr lang="en-US" altLang="zh-CN" sz="2000">
                    <a:latin typeface="楷体-简" panose="02010600040101010101" charset="-122"/>
                    <a:ea typeface="楷体-简" panose="02010600040101010101" charset="-122"/>
                    <a:cs typeface="楷体-简" panose="02010600040101010101" charset="-122"/>
                  </a:rPr>
                  <a:t>X</a:t>
                </a:r>
                <a14:m>
                  <m:oMath xmlns:m="http://schemas.openxmlformats.org/officeDocument/2006/math">
                    <m:r>
                      <a:rPr lang="en-US" altLang="zh-CN" sz="2000" i="1">
                        <a:latin typeface="Cambria Math" panose="02040503050406030204" charset="0"/>
                        <a:ea typeface="宋体" charset="0"/>
                        <a:cs typeface="Cambria Math" panose="02040503050406030204" charset="0"/>
                      </a:rPr>
                      <m:t>⊂</m:t>
                    </m:r>
                    <m:sSup>
                      <m:sSupPr>
                        <m:ctrlPr>
                          <a:rPr lang="en-US" altLang="zh-CN" sz="2000" i="1">
                            <a:latin typeface="Cambria Math" panose="02040503050406030204" charset="0"/>
                            <a:ea typeface="宋体" charset="0"/>
                            <a:cs typeface="Cambria Math" panose="02040503050406030204" charset="0"/>
                          </a:rPr>
                        </m:ctrlPr>
                      </m:sSupPr>
                      <m:e>
                        <m:r>
                          <a:rPr lang="en-US" altLang="zh-CN" sz="2000" i="1">
                            <a:latin typeface="Cambria Math" panose="02040503050406030204" charset="0"/>
                            <a:ea typeface="宋体" charset="0"/>
                            <a:cs typeface="Cambria Math" panose="02040503050406030204" charset="0"/>
                          </a:rPr>
                          <m:t>𝑅</m:t>
                        </m:r>
                      </m:e>
                      <m:sup>
                        <m:r>
                          <a:rPr lang="en-US" altLang="zh-CN" sz="2000" i="1">
                            <a:latin typeface="Cambria Math" panose="02040503050406030204" charset="0"/>
                            <a:ea typeface="宋体" charset="0"/>
                            <a:cs typeface="Cambria Math" panose="02040503050406030204" charset="0"/>
                          </a:rPr>
                          <m:t>𝑛</m:t>
                        </m:r>
                      </m:sup>
                    </m:sSup>
                  </m:oMath>
                </a14:m>
                <a:r>
                  <a:rPr lang="zh-CN" altLang="en-US" sz="2000">
                    <a:latin typeface="楷体-简" panose="02010600040101010101" charset="-122"/>
                    <a:ea typeface="楷体-简" panose="02010600040101010101" charset="-122"/>
                    <a:cs typeface="楷体-简" panose="02010600040101010101" charset="-122"/>
                  </a:rPr>
                  <a:t>称为输入空间或输入特征空间， </a:t>
                </a:r>
                <a14:m>
                  <m:oMath xmlns:m="http://schemas.openxmlformats.org/officeDocument/2006/math">
                    <m:sSub>
                      <m:sSubPr>
                        <m:ctrlPr>
                          <a:rPr lang="en-US" altLang="zh-CN" sz="2000" i="1">
                            <a:latin typeface="Cambria Math" panose="02040503050406030204" charset="0"/>
                            <a:ea typeface="楷体-简" panose="02010600040101010101" charset="-122"/>
                            <a:cs typeface="Cambria Math" panose="02040503050406030204" charset="0"/>
                          </a:rPr>
                        </m:ctrlPr>
                      </m:sSubPr>
                      <m:e>
                        <m:r>
                          <a:rPr lang="en-US" altLang="zh-CN" sz="2000" i="1">
                            <a:latin typeface="Cambria Math" panose="02040503050406030204" charset="0"/>
                            <a:ea typeface="楷体-简" panose="02010600040101010101" charset="-122"/>
                            <a:cs typeface="Cambria Math" panose="02040503050406030204" charset="0"/>
                          </a:rPr>
                          <m:t>𝑦</m:t>
                        </m:r>
                      </m:e>
                      <m:sub>
                        <m:r>
                          <a:rPr lang="en-US" altLang="zh-CN" sz="2000" i="1">
                            <a:latin typeface="Cambria Math" panose="02040503050406030204" charset="0"/>
                            <a:ea typeface="楷体-简" panose="02010600040101010101" charset="-122"/>
                            <a:cs typeface="Cambria Math" panose="02040503050406030204" charset="0"/>
                          </a:rPr>
                          <m:t>𝑖</m:t>
                        </m:r>
                      </m:sub>
                    </m:sSub>
                    <m:r>
                      <a:rPr lang="en-US" altLang="zh-CN" sz="2000" i="1">
                        <a:latin typeface="Cambria Math" panose="02040503050406030204" charset="0"/>
                        <a:ea typeface="楷体-简" panose="02010600040101010101" charset="-122"/>
                        <a:cs typeface="Cambria Math" panose="02040503050406030204" charset="0"/>
                      </a:rPr>
                      <m:t>∈{</m:t>
                    </m:r>
                    <m:r>
                      <a:rPr lang="en-US" altLang="zh-CN" sz="2000" i="1">
                        <a:latin typeface="Cambria Math" panose="02040503050406030204" charset="0"/>
                        <a:ea typeface="楷体-简" panose="02010600040101010101" charset="-122"/>
                        <a:cs typeface="Cambria Math" panose="02040503050406030204" charset="0"/>
                      </a:rPr>
                      <m:t>−</m:t>
                    </m:r>
                    <m:r>
                      <a:rPr lang="en-US" altLang="zh-CN" sz="2000" i="1">
                        <a:latin typeface="Cambria Math" panose="02040503050406030204" charset="0"/>
                        <a:ea typeface="楷体-简" panose="02010600040101010101" charset="-122"/>
                        <a:cs typeface="Cambria Math" panose="02040503050406030204" charset="0"/>
                      </a:rPr>
                      <m:t>1</m:t>
                    </m:r>
                    <m:r>
                      <a:rPr lang="en-US" altLang="zh-CN" sz="2000" i="1">
                        <a:latin typeface="Cambria Math" panose="02040503050406030204" charset="0"/>
                        <a:ea typeface="楷体-简" panose="02010600040101010101" charset="-122"/>
                        <a:cs typeface="Cambria Math" panose="02040503050406030204" charset="0"/>
                      </a:rPr>
                      <m:t>,</m:t>
                    </m:r>
                    <m:r>
                      <a:rPr lang="en-US" altLang="zh-CN" sz="2000" i="1">
                        <a:latin typeface="Cambria Math" panose="02040503050406030204" charset="0"/>
                        <a:ea typeface="楷体-简" panose="02010600040101010101" charset="-122"/>
                        <a:cs typeface="Cambria Math" panose="02040503050406030204" charset="0"/>
                      </a:rPr>
                      <m:t>1</m:t>
                    </m:r>
                    <m:r>
                      <a:rPr lang="en-US" altLang="zh-CN" sz="2000" i="1">
                        <a:latin typeface="Cambria Math" panose="02040503050406030204" charset="0"/>
                        <a:ea typeface="楷体-简" panose="02010600040101010101" charset="-122"/>
                        <a:cs typeface="Cambria Math" panose="02040503050406030204" charset="0"/>
                      </a:rPr>
                      <m:t>}</m:t>
                    </m:r>
                  </m:oMath>
                </a14:m>
                <a:r>
                  <a:rPr lang="zh-CN" altLang="en-US" sz="2000">
                    <a:latin typeface="楷体-简" panose="02010600040101010101" charset="-122"/>
                    <a:ea typeface="楷体-简" panose="02010600040101010101" charset="-122"/>
                    <a:cs typeface="楷体-简" panose="02010600040101010101" charset="-122"/>
                  </a:rPr>
                  <a:t>是样本的类标记。分类的目的就是找一个分类超平面将正负两类完全分开，如图7-3所示：</a:t>
                </a:r>
                <a:endParaRPr lang="zh-CN" altLang="en-US" sz="2000">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208530" y="1303655"/>
                <a:ext cx="9317990" cy="3948430"/>
              </a:xfrm>
              <a:blipFill rotWithShape="1">
                <a:blip r:embed="rId1"/>
                <a:stretch>
                  <a:fillRect l="-4" t="-17" r="4"/>
                </a:stretch>
              </a:blipFill>
            </p:spPr>
            <p:txBody>
              <a:bodyPr/>
              <a:lstStyle/>
              <a:p>
                <a:r>
                  <a:rPr lang="zh-CN" altLang="en-US">
                    <a:noFill/>
                  </a:rPr>
                  <a:t> </a:t>
                </a:r>
                <a:endParaRPr lang="zh-CN" altLang="en-US">
                  <a:noFill/>
                </a:endParaRPr>
              </a:p>
            </p:txBody>
          </p:sp>
        </mc:Fallback>
      </mc:AlternateContent>
      <p:pic>
        <p:nvPicPr>
          <p:cNvPr id="4" name="图片 184" descr="QQ图片20140816195959"/>
          <p:cNvPicPr>
            <a:picLocks noChangeAspect="1"/>
          </p:cNvPicPr>
          <p:nvPr/>
        </p:nvPicPr>
        <p:blipFill>
          <a:blip r:embed="rId2"/>
          <a:stretch>
            <a:fillRect/>
          </a:stretch>
        </p:blipFill>
        <p:spPr>
          <a:xfrm>
            <a:off x="3890645" y="2934335"/>
            <a:ext cx="4876165" cy="2985770"/>
          </a:xfrm>
          <a:prstGeom prst="rect">
            <a:avLst/>
          </a:prstGeom>
          <a:noFill/>
          <a:ln w="9525">
            <a:noFill/>
          </a:ln>
        </p:spPr>
      </p:pic>
      <p:sp>
        <p:nvSpPr>
          <p:cNvPr id="5" name="文本框 4"/>
          <p:cNvSpPr txBox="1"/>
          <p:nvPr/>
        </p:nvSpPr>
        <p:spPr>
          <a:xfrm>
            <a:off x="4302760" y="5920105"/>
            <a:ext cx="4051300" cy="306705"/>
          </a:xfrm>
          <a:prstGeom prst="rect">
            <a:avLst/>
          </a:prstGeom>
          <a:noFill/>
        </p:spPr>
        <p:txBody>
          <a:bodyPr wrap="square" rtlCol="0">
            <a:spAutoFit/>
          </a:bodyPr>
          <a:p>
            <a:pPr algn="ctr"/>
            <a:r>
              <a:rPr lang="zh-CN" altLang="en-US" sz="1400">
                <a:latin typeface="楷体-简" panose="02010600040101010101" charset="-122"/>
                <a:ea typeface="楷体-简" panose="02010600040101010101" charset="-122"/>
                <a:cs typeface="楷体-简" panose="02010600040101010101" charset="-122"/>
              </a:rPr>
              <a:t>图7-3 线性可分的分类超平面</a:t>
            </a:r>
            <a:endParaRPr lang="zh-CN" altLang="en-US" sz="14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42527" y="742315"/>
            <a:ext cx="8915400" cy="3777622"/>
          </a:xfrm>
        </p:spPr>
        <p:txBody>
          <a:bodyPr/>
          <a:p>
            <a:pPr marL="0" indent="0">
              <a:buNone/>
            </a:pPr>
            <a:r>
              <a:rPr lang="zh-CN" altLang="en-US" sz="2400">
                <a:solidFill>
                  <a:schemeClr val="tx1"/>
                </a:solidFill>
              </a:rPr>
              <a:t> </a:t>
            </a:r>
            <a:r>
              <a:rPr lang="zh-CN" altLang="en-US" sz="2400">
                <a:solidFill>
                  <a:schemeClr val="tx1"/>
                </a:solidFill>
                <a:latin typeface="楷体-简" panose="02010600040101010101" charset="-122"/>
                <a:ea typeface="楷体-简" panose="02010600040101010101" charset="-122"/>
                <a:cs typeface="楷体-简" panose="02010600040101010101" charset="-122"/>
              </a:rPr>
              <a:t>设G={w·x+b=0| w,x∈X,b∈R }是所有能够对S完全正确分类（经验风险为0）的超平面的集合。其中“</a:t>
            </a:r>
            <a:r>
              <a:rPr lang="en-US" altLang="zh-CN" sz="2400">
                <a:solidFill>
                  <a:schemeClr val="tx1"/>
                </a:solidFill>
                <a:latin typeface="楷体-简" panose="02010600040101010101" charset="-122"/>
                <a:ea typeface="楷体-简" panose="02010600040101010101" charset="-122"/>
                <a:cs typeface="楷体-简" panose="02010600040101010101" charset="-122"/>
              </a:rPr>
              <a:t>·</a:t>
            </a:r>
            <a:r>
              <a:rPr lang="zh-CN" altLang="en-US" sz="2400">
                <a:solidFill>
                  <a:schemeClr val="tx1"/>
                </a:solidFill>
                <a:latin typeface="楷体-简" panose="02010600040101010101" charset="-122"/>
                <a:ea typeface="楷体-简" panose="02010600040101010101" charset="-122"/>
                <a:cs typeface="楷体-简" panose="02010600040101010101" charset="-122"/>
              </a:rPr>
              <a:t>”是内积运算符。“完全正确分类”的意义是：任意一个法向量w(不失一般性，令||w||=1)和常数b所确定分类超平面H，它对样本集S的分类结果为：</a:t>
            </a:r>
            <a:endParaRPr lang="zh-CN" altLang="en-US" sz="2400">
              <a:solidFill>
                <a:schemeClr val="tx1"/>
              </a:solidFill>
              <a:latin typeface="楷体-简" panose="02010600040101010101" charset="-122"/>
              <a:ea typeface="楷体-简" panose="02010600040101010101" charset="-122"/>
              <a:cs typeface="楷体-简" panose="02010600040101010101" charset="-122"/>
            </a:endParaRPr>
          </a:p>
        </p:txBody>
      </p:sp>
      <p:pic>
        <p:nvPicPr>
          <p:cNvPr id="4" name="图片 3"/>
          <p:cNvPicPr>
            <a:picLocks noChangeAspect="1"/>
          </p:cNvPicPr>
          <p:nvPr/>
        </p:nvPicPr>
        <p:blipFill>
          <a:blip r:embed="rId1"/>
          <a:stretch>
            <a:fillRect/>
          </a:stretch>
        </p:blipFill>
        <p:spPr>
          <a:xfrm>
            <a:off x="3165475" y="2771775"/>
            <a:ext cx="8185785" cy="12338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5" name="文本框 4"/>
              <p:cNvSpPr txBox="1"/>
              <p:nvPr/>
            </p:nvSpPr>
            <p:spPr>
              <a:xfrm>
                <a:off x="2530475" y="2729865"/>
                <a:ext cx="9030335" cy="354711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在所有的超平面中，最大间隔分类器要寻找的是一个最优超平面(Optimal Hyperplane)。这个最优超平面是指满足两类的分类间隔(Margin)最大的超平面。分类间隔被定义为：每类距离超平面最近的样本到超平面的距离之和。</a:t>
                </a:r>
                <a:endParaRPr lang="zh-CN" altLang="en-US">
                  <a:latin typeface="楷体-简" panose="02010600040101010101" charset="-122"/>
                  <a:ea typeface="楷体-简" panose="02010600040101010101" charset="-122"/>
                  <a:cs typeface="楷体-简" panose="02010600040101010101" charset="-122"/>
                </a:endParaRPr>
              </a:p>
              <a:p>
                <a:r>
                  <a:rPr lang="zh-CN" altLang="en-US">
                    <a:latin typeface="楷体-简" panose="02010600040101010101" charset="-122"/>
                    <a:ea typeface="楷体-简" panose="02010600040101010101" charset="-122"/>
                    <a:cs typeface="楷体-简" panose="02010600040101010101" charset="-122"/>
                  </a:rPr>
                  <a:t>    此分类间隔可以经过如下的计算得到：设H为最优超平面，在H两侧分别作一个经过距离H最近的样本并且平行与H的超平面，记为</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H</m:t>
                        </m:r>
                      </m:e>
                      <m:sub>
                        <m:r>
                          <a:rPr lang="en-US" altLang="zh-CN" i="1">
                            <a:latin typeface="Cambria Math" panose="02040503050406030204" charset="0"/>
                            <a:ea typeface="楷体-简" panose="02010600040101010101" charset="-122"/>
                            <a:cs typeface="Cambria Math" panose="02040503050406030204" charset="0"/>
                          </a:rPr>
                          <m:t>1</m:t>
                        </m:r>
                      </m:sub>
                    </m:sSub>
                  </m:oMath>
                </a14:m>
                <a:r>
                  <a:rPr lang="zh-CN" altLang="en-US">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H</m:t>
                        </m:r>
                      </m:e>
                      <m:sub>
                        <m:r>
                          <a:rPr lang="en-US" altLang="zh-CN" i="1">
                            <a:latin typeface="Cambria Math" panose="02040503050406030204" charset="0"/>
                            <a:ea typeface="楷体-简" panose="02010600040101010101" charset="-122"/>
                            <a:cs typeface="Cambria Math" panose="02040503050406030204" charset="0"/>
                          </a:rPr>
                          <m:t>2</m:t>
                        </m:r>
                      </m:sub>
                    </m:sSub>
                  </m:oMath>
                </a14:m>
                <a:r>
                  <a:rPr lang="zh-CN" altLang="en-US">
                    <a:latin typeface="楷体-简" panose="02010600040101010101" charset="-122"/>
                    <a:ea typeface="楷体-简" panose="02010600040101010101" charset="-122"/>
                    <a:cs typeface="楷体-简" panose="02010600040101010101" charset="-122"/>
                  </a:rPr>
                  <a:t>。这两个超平面的表达式</a:t>
                </a:r>
                <a:endParaRPr lang="zh-CN" altLang="en-US">
                  <a:latin typeface="楷体-简" panose="02010600040101010101" charset="-122"/>
                  <a:ea typeface="楷体-简" panose="02010600040101010101" charset="-122"/>
                  <a:cs typeface="楷体-简" panose="02010600040101010101" charset="-122"/>
                </a:endParaRPr>
              </a:p>
              <a:p>
                <a:r>
                  <a:rPr lang="zh-CN" altLang="en-US">
                    <a:latin typeface="楷体-简" panose="02010600040101010101" charset="-122"/>
                    <a:ea typeface="楷体-简" panose="02010600040101010101" charset="-122"/>
                    <a:cs typeface="楷体-简" panose="02010600040101010101" charset="-122"/>
                  </a:rPr>
                  <a:t>分别为：</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H</m:t>
                        </m:r>
                      </m:e>
                      <m:sub>
                        <m:r>
                          <a:rPr lang="en-US" altLang="zh-CN" i="1">
                            <a:latin typeface="Cambria Math" panose="02040503050406030204" charset="0"/>
                            <a:ea typeface="楷体-简" panose="02010600040101010101" charset="-122"/>
                            <a:cs typeface="Cambria Math" panose="02040503050406030204" charset="0"/>
                          </a:rPr>
                          <m:t>1</m:t>
                        </m:r>
                        <m:r>
                          <a:rPr lang="en-US" altLang="zh-CN" i="1">
                            <a:latin typeface="Cambria Math" panose="02040503050406030204" charset="0"/>
                            <a:ea typeface="楷体-简" panose="02010600040101010101" charset="-122"/>
                            <a:cs typeface="Cambria Math" panose="02040503050406030204" charset="0"/>
                          </a:rPr>
                          <m:t> </m:t>
                        </m:r>
                      </m:sub>
                    </m:sSub>
                    <m:r>
                      <a:rPr lang="en-US" altLang="zh-CN" i="1">
                        <a:latin typeface="Cambria Math" panose="02040503050406030204" charset="0"/>
                        <a:ea typeface="宋体" charset="0"/>
                        <a:cs typeface="Cambria Math" panose="02040503050406030204" charset="0"/>
                      </a:rPr>
                      <m:t>：y=</m:t>
                    </m:r>
                    <m:r>
                      <a:rPr lang="en-US" altLang="zh-CN" i="1">
                        <a:latin typeface="Cambria Math" panose="02040503050406030204" charset="0"/>
                        <a:ea typeface="宋体" charset="0"/>
                        <a:cs typeface="Cambria Math" panose="02040503050406030204" charset="0"/>
                      </a:rPr>
                      <m:t>𝑤</m:t>
                    </m:r>
                    <m:r>
                      <a:rPr lang="en-US" altLang="zh-CN" i="1">
                        <a:latin typeface="Cambria Math" panose="02040503050406030204" charset="0"/>
                        <a:ea typeface="宋体" charset="0"/>
                        <a:cs typeface="Cambria Math" panose="02040503050406030204" charset="0"/>
                      </a:rPr>
                      <m:t>·x+</m:t>
                    </m:r>
                    <m:r>
                      <a:rPr lang="en-US" altLang="zh-CN" i="1">
                        <a:latin typeface="Cambria Math" panose="02040503050406030204" charset="0"/>
                        <a:ea typeface="宋体" charset="0"/>
                        <a:cs typeface="Cambria Math" panose="02040503050406030204" charset="0"/>
                      </a:rPr>
                      <m:t>𝑏</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1</m:t>
                    </m:r>
                  </m:oMath>
                </a14:m>
                <a:r>
                  <a:rPr lang="zh-CN" altLang="en-US">
                    <a:latin typeface="楷体-简" panose="02010600040101010101" charset="-122"/>
                    <a:ea typeface="楷体-简" panose="02010600040101010101" charset="-122"/>
                    <a:cs typeface="楷体-简" panose="02010600040101010101" charset="-122"/>
                  </a:rPr>
                  <a:t>，</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𝐻</m:t>
                        </m:r>
                      </m:e>
                      <m:sub>
                        <m:r>
                          <a:rPr lang="en-US" altLang="zh-CN" i="1">
                            <a:latin typeface="Cambria Math" panose="02040503050406030204" charset="0"/>
                            <a:ea typeface="楷体-简" panose="02010600040101010101" charset="-122"/>
                            <a:cs typeface="Cambria Math" panose="02040503050406030204" charset="0"/>
                          </a:rPr>
                          <m:t>2</m:t>
                        </m:r>
                      </m:sub>
                    </m:sSub>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𝑦</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𝑥</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𝑏</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1</m:t>
                    </m:r>
                  </m:oMath>
                </a14:m>
                <a:r>
                  <a:rPr lang="zh-CN" altLang="en-US">
                    <a:latin typeface="楷体-简" panose="02010600040101010101" charset="-122"/>
                    <a:ea typeface="楷体-简" panose="02010600040101010101" charset="-122"/>
                    <a:cs typeface="楷体-简" panose="02010600040101010101" charset="-122"/>
                  </a:rPr>
                  <a:t>。（</a:t>
                </a:r>
                <a:r>
                  <a:rPr lang="en-US" altLang="zh-CN">
                    <a:latin typeface="楷体-简" panose="02010600040101010101" charset="-122"/>
                    <a:ea typeface="楷体-简" panose="02010600040101010101" charset="-122"/>
                    <a:cs typeface="楷体-简" panose="02010600040101010101" charset="-122"/>
                  </a:rPr>
                  <a:t>7-8</a:t>
                </a:r>
                <a:r>
                  <a:rPr lang="zh-CN" altLang="en-US">
                    <a:latin typeface="楷体-简" panose="02010600040101010101" charset="-122"/>
                    <a:ea typeface="楷体-简" panose="02010600040101010101" charset="-122"/>
                    <a:cs typeface="楷体-简" panose="02010600040101010101" charset="-122"/>
                  </a:rPr>
                  <a:t>）           </a:t>
                </a:r>
                <a:endParaRPr lang="zh-CN" altLang="en-US">
                  <a:latin typeface="楷体-简" panose="02010600040101010101" charset="-122"/>
                  <a:ea typeface="楷体-简" panose="02010600040101010101" charset="-122"/>
                  <a:cs typeface="楷体-简" panose="02010600040101010101" charset="-122"/>
                </a:endParaRPr>
              </a:p>
              <a:p>
                <a:r>
                  <a:rPr lang="zh-CN" altLang="en-US">
                    <a:latin typeface="楷体-简" panose="02010600040101010101" charset="-122"/>
                    <a:ea typeface="楷体-简" panose="02010600040101010101" charset="-122"/>
                    <a:cs typeface="楷体-简" panose="02010600040101010101" charset="-122"/>
                  </a:rPr>
                  <a:t>    显然，超平面</a:t>
                </a:r>
                <a14:m>
                  <m:oMath xmlns:m="http://schemas.openxmlformats.org/officeDocument/2006/math">
                    <m:r>
                      <a:rPr lang="en-US" altLang="zh-CN" i="1">
                        <a:latin typeface="Cambria Math" panose="02040503050406030204" charset="0"/>
                        <a:ea typeface="楷体-简" panose="02010600040101010101" charset="-122"/>
                        <a:cs typeface="Cambria Math" panose="02040503050406030204" charset="0"/>
                      </a:rPr>
                      <m:t>𝐻</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𝑦</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𝑥</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𝑏</m:t>
                    </m:r>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0</m:t>
                    </m:r>
                  </m:oMath>
                </a14:m>
                <a:r>
                  <a:rPr lang="zh-CN" altLang="en-US">
                    <a:latin typeface="楷体-简" panose="02010600040101010101" charset="-122"/>
                    <a:ea typeface="楷体-简" panose="02010600040101010101" charset="-122"/>
                    <a:cs typeface="楷体-简" panose="02010600040101010101" charset="-122"/>
                  </a:rPr>
                  <a:t>仍然属于G。我们把超平面</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𝐻</m:t>
                        </m:r>
                      </m:e>
                      <m:sub>
                        <m:r>
                          <a:rPr lang="en-US" altLang="zh-CN" i="1">
                            <a:latin typeface="Cambria Math" panose="02040503050406030204" charset="0"/>
                            <a:ea typeface="楷体-简" panose="02010600040101010101" charset="-122"/>
                            <a:cs typeface="Cambria Math" panose="02040503050406030204" charset="0"/>
                          </a:rPr>
                          <m:t>1</m:t>
                        </m:r>
                      </m:sub>
                    </m:sSub>
                  </m:oMath>
                </a14:m>
                <a:r>
                  <a:rPr lang="zh-CN" altLang="en-US">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𝐻</m:t>
                        </m:r>
                      </m:e>
                      <m:sub>
                        <m:r>
                          <a:rPr lang="en-US" altLang="zh-CN" i="1">
                            <a:latin typeface="Cambria Math" panose="02040503050406030204" charset="0"/>
                            <a:ea typeface="楷体-简" panose="02010600040101010101" charset="-122"/>
                            <a:cs typeface="Cambria Math" panose="02040503050406030204" charset="0"/>
                          </a:rPr>
                          <m:t>2</m:t>
                        </m:r>
                      </m:sub>
                    </m:sSub>
                  </m:oMath>
                </a14:m>
                <a:r>
                  <a:rPr lang="zh-CN" altLang="en-US">
                    <a:latin typeface="楷体-简" panose="02010600040101010101" charset="-122"/>
                    <a:ea typeface="楷体-简" panose="02010600040101010101" charset="-122"/>
                    <a:cs typeface="楷体-简" panose="02010600040101010101" charset="-122"/>
                  </a:rPr>
                  <a:t>之间的距离称为H的“分类问隔△”，并将</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𝐻</m:t>
                        </m:r>
                      </m:e>
                      <m:sub>
                        <m:r>
                          <a:rPr lang="en-US" altLang="zh-CN" i="1">
                            <a:latin typeface="Cambria Math" panose="02040503050406030204" charset="0"/>
                            <a:ea typeface="楷体-简" panose="02010600040101010101" charset="-122"/>
                            <a:cs typeface="Cambria Math" panose="02040503050406030204" charset="0"/>
                          </a:rPr>
                          <m:t>1</m:t>
                        </m:r>
                      </m:sub>
                    </m:sSub>
                  </m:oMath>
                </a14:m>
                <a:r>
                  <a:rPr lang="zh-CN" altLang="en-US">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𝐻</m:t>
                        </m:r>
                      </m:e>
                      <m:sub>
                        <m:r>
                          <a:rPr lang="en-US" altLang="zh-CN" i="1">
                            <a:latin typeface="Cambria Math" panose="02040503050406030204" charset="0"/>
                            <a:ea typeface="楷体-简" panose="02010600040101010101" charset="-122"/>
                            <a:cs typeface="Cambria Math" panose="02040503050406030204" charset="0"/>
                          </a:rPr>
                          <m:t>2</m:t>
                        </m:r>
                      </m:sub>
                    </m:sSub>
                  </m:oMath>
                </a14:m>
                <a:r>
                  <a:rPr lang="zh-CN" altLang="en-US">
                    <a:latin typeface="楷体-简" panose="02010600040101010101" charset="-122"/>
                    <a:ea typeface="楷体-简" panose="02010600040101010101" charset="-122"/>
                    <a:cs typeface="楷体-简" panose="02010600040101010101" charset="-122"/>
                  </a:rPr>
                  <a:t>称为H的“间隔超平面”或者“间隔边界”。容易计算</a:t>
                </a:r>
                <a14:m>
                  <m:oMath xmlns:m="http://schemas.openxmlformats.org/officeDocument/2006/math">
                    <m:r>
                      <a:rPr lang="en-US" altLang="zh-CN" i="1">
                        <a:latin typeface="Cambria Math" panose="02040503050406030204" charset="0"/>
                        <a:ea typeface="楷体-简" panose="02010600040101010101" charset="-122"/>
                        <a:cs typeface="Cambria Math" panose="02040503050406030204" charset="0"/>
                      </a:rPr>
                      <m:t>∆=</m:t>
                    </m:r>
                    <m:f>
                      <m:fPr>
                        <m:type m:val="skw"/>
                        <m:ctrlPr>
                          <a:rPr lang="en-US" altLang="zh-CN" i="1">
                            <a:latin typeface="Cambria Math" panose="02040503050406030204" charset="0"/>
                            <a:ea typeface="楷体-简" panose="02010600040101010101" charset="-122"/>
                            <a:cs typeface="Cambria Math" panose="02040503050406030204" charset="0"/>
                          </a:rPr>
                        </m:ctrlPr>
                      </m:fPr>
                      <m:num>
                        <m:r>
                          <a:rPr lang="en-US" altLang="zh-CN" i="1">
                            <a:latin typeface="Cambria Math" panose="02040503050406030204" charset="0"/>
                            <a:ea typeface="楷体-简" panose="02010600040101010101" charset="-122"/>
                            <a:cs typeface="Cambria Math" panose="02040503050406030204" charset="0"/>
                          </a:rPr>
                          <m:t>2</m:t>
                        </m:r>
                      </m:num>
                      <m:den>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楷体-简" panose="02010600040101010101" charset="-122"/>
                            <a:cs typeface="Cambria Math" panose="02040503050406030204" charset="0"/>
                          </a:rPr>
                          <m:t>||</m:t>
                        </m:r>
                      </m:den>
                    </m:f>
                    <m:r>
                      <a:rPr lang="en-US" altLang="zh-CN" i="1">
                        <a:latin typeface="Cambria Math" panose="02040503050406030204" charset="0"/>
                        <a:ea typeface="楷体-简" panose="02010600040101010101" charset="-122"/>
                        <a:cs typeface="Cambria Math" panose="02040503050406030204" charset="0"/>
                      </a:rPr>
                      <m:t>=</m:t>
                    </m:r>
                    <m:sSup>
                      <m:sSupPr>
                        <m:ctrlPr>
                          <a:rPr lang="en-US" altLang="zh-CN" i="1">
                            <a:latin typeface="Cambria Math" panose="02040503050406030204" charset="0"/>
                            <a:ea typeface="楷体-简" panose="02010600040101010101" charset="-122"/>
                            <a:cs typeface="Cambria Math" panose="02040503050406030204" charset="0"/>
                          </a:rPr>
                        </m:ctrlPr>
                      </m:sSupPr>
                      <m:e>
                        <m:r>
                          <a:rPr lang="en-US" altLang="zh-CN" i="1">
                            <a:latin typeface="Cambria Math" panose="02040503050406030204" charset="0"/>
                            <a:ea typeface="楷体-简" panose="02010600040101010101" charset="-122"/>
                            <a:cs typeface="Cambria Math" panose="02040503050406030204" charset="0"/>
                          </a:rPr>
                          <m:t>𝑑</m:t>
                        </m:r>
                      </m:e>
                      <m:sup>
                        <m:r>
                          <a:rPr lang="en-US" altLang="zh-CN" i="1">
                            <a:latin typeface="Cambria Math" panose="02040503050406030204" charset="0"/>
                            <a:ea typeface="楷体-简" panose="02010600040101010101" charset="-122"/>
                            <a:cs typeface="Cambria Math" panose="02040503050406030204" charset="0"/>
                          </a:rPr>
                          <m:t>+</m:t>
                        </m:r>
                      </m:sup>
                    </m:sSup>
                    <m:r>
                      <a:rPr lang="en-US" altLang="zh-CN" i="1">
                        <a:latin typeface="Cambria Math" panose="02040503050406030204" charset="0"/>
                        <a:ea typeface="楷体-简" panose="02010600040101010101" charset="-122"/>
                        <a:cs typeface="Cambria Math" panose="02040503050406030204" charset="0"/>
                      </a:rPr>
                      <m:t>+</m:t>
                    </m:r>
                    <m:sSup>
                      <m:sSupPr>
                        <m:ctrlPr>
                          <a:rPr lang="en-US" altLang="zh-CN" i="1">
                            <a:latin typeface="Cambria Math" panose="02040503050406030204" charset="0"/>
                            <a:ea typeface="楷体-简" panose="02010600040101010101" charset="-122"/>
                            <a:cs typeface="Cambria Math" panose="02040503050406030204" charset="0"/>
                          </a:rPr>
                        </m:ctrlPr>
                      </m:sSupPr>
                      <m:e>
                        <m:r>
                          <a:rPr lang="en-US" altLang="zh-CN" i="1">
                            <a:latin typeface="Cambria Math" panose="02040503050406030204" charset="0"/>
                            <a:ea typeface="楷体-简" panose="02010600040101010101" charset="-122"/>
                            <a:cs typeface="Cambria Math" panose="02040503050406030204" charset="0"/>
                          </a:rPr>
                          <m:t>𝑑</m:t>
                        </m:r>
                      </m:e>
                      <m:sup>
                        <m:r>
                          <a:rPr lang="en-US" altLang="zh-CN" i="1">
                            <a:latin typeface="Cambria Math" panose="02040503050406030204" charset="0"/>
                            <a:ea typeface="楷体-简" panose="02010600040101010101" charset="-122"/>
                            <a:cs typeface="Cambria Math" panose="02040503050406030204" charset="0"/>
                          </a:rPr>
                          <m:t>_</m:t>
                        </m:r>
                      </m:sup>
                    </m:sSup>
                  </m:oMath>
                </a14:m>
                <a:r>
                  <a:rPr lang="zh-CN" altLang="en-US">
                    <a:latin typeface="楷体-简" panose="02010600040101010101" charset="-122"/>
                    <a:ea typeface="楷体-简" panose="02010600040101010101" charset="-122"/>
                    <a:cs typeface="楷体-简" panose="02010600040101010101" charset="-122"/>
                  </a:rPr>
                  <a:t>。</a:t>
                </a:r>
                <a:endParaRPr lang="zh-CN" altLang="en-US">
                  <a:latin typeface="楷体-简" panose="02010600040101010101" charset="-122"/>
                  <a:ea typeface="楷体-简" panose="02010600040101010101" charset="-122"/>
                  <a:cs typeface="楷体-简" panose="02010600040101010101" charset="-122"/>
                </a:endParaRPr>
              </a:p>
              <a:p>
                <a:r>
                  <a:rPr lang="zh-CN" altLang="en-US">
                    <a:latin typeface="楷体-简" panose="02010600040101010101" charset="-122"/>
                    <a:ea typeface="楷体-简" panose="02010600040101010101" charset="-122"/>
                    <a:cs typeface="楷体-简" panose="02010600040101010101" charset="-122"/>
                  </a:rPr>
                  <a:t>    所谓的“最大间隔分类超平面”就是在正确分类所有学习样本(即满足约束条件</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𝑦</m:t>
                        </m:r>
                      </m:e>
                      <m:sub>
                        <m:r>
                          <a:rPr lang="en-US" altLang="zh-CN" i="1">
                            <a:latin typeface="Cambria Math" panose="02040503050406030204" charset="0"/>
                            <a:ea typeface="楷体-简" panose="02010600040101010101" charset="-122"/>
                            <a:cs typeface="Cambria Math" panose="02040503050406030204" charset="0"/>
                          </a:rPr>
                          <m:t>𝑖</m:t>
                        </m:r>
                      </m:sub>
                    </m:sSub>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楷体-简" panose="02010600040101010101" charset="-122"/>
                        <a:cs typeface="Cambria Math" panose="02040503050406030204" charset="0"/>
                      </a:rPr>
                      <m:t>·</m:t>
                    </m:r>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𝑥</m:t>
                        </m:r>
                      </m:e>
                      <m:sub>
                        <m:r>
                          <a:rPr lang="en-US" altLang="zh-CN" i="1">
                            <a:latin typeface="Cambria Math" panose="02040503050406030204" charset="0"/>
                            <a:ea typeface="楷体-简" panose="02010600040101010101" charset="-122"/>
                            <a:cs typeface="Cambria Math" panose="02040503050406030204" charset="0"/>
                          </a:rPr>
                          <m:t>𝑖</m:t>
                        </m:r>
                      </m:sub>
                    </m:sSub>
                    <m:r>
                      <a:rPr lang="en-US" altLang="zh-CN" i="1">
                        <a:latin typeface="Cambria Math" panose="02040503050406030204" charset="0"/>
                        <a:ea typeface="楷体-简" panose="02010600040101010101" charset="-122"/>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𝑏</m:t>
                    </m:r>
                    <m:r>
                      <a:rPr lang="en-US" altLang="zh-CN" i="1">
                        <a:latin typeface="Cambria Math" panose="02040503050406030204" charset="0"/>
                        <a:ea typeface="楷体-简" panose="02010600040101010101" charset="-122"/>
                        <a:cs typeface="Cambria Math" panose="02040503050406030204" charset="0"/>
                      </a:rPr>
                      <m:t>)</m:t>
                    </m:r>
                  </m:oMath>
                </a14:m>
                <a:r>
                  <a:rPr lang="zh-CN" altLang="en-US">
                    <a:latin typeface="楷体-简" panose="02010600040101010101" charset="-122"/>
                    <a:ea typeface="楷体-简" panose="02010600040101010101" charset="-122"/>
                    <a:cs typeface="楷体-简" panose="02010600040101010101" charset="-122"/>
                  </a:rPr>
                  <a:t>&gt;</a:t>
                </a:r>
                <a:r>
                  <a:rPr lang="en-US" altLang="zh-CN">
                    <a:latin typeface="楷体-简" panose="02010600040101010101" charset="-122"/>
                    <a:ea typeface="楷体-简" panose="02010600040101010101" charset="-122"/>
                    <a:cs typeface="楷体-简" panose="02010600040101010101" charset="-122"/>
                  </a:rPr>
                  <a:t>=1</a:t>
                </a:r>
                <a:r>
                  <a:rPr lang="zh-CN" altLang="en-US">
                    <a:latin typeface="楷体-简" panose="02010600040101010101" charset="-122"/>
                    <a:ea typeface="楷体-简" panose="02010600040101010101" charset="-122"/>
                    <a:cs typeface="楷体-简" panose="02010600040101010101" charset="-122"/>
                  </a:rPr>
                  <a:t>的前提下)，使得分类间隔△取最大值的超平面，例如，图7-3中所示的平</a:t>
                </a:r>
                <a:endParaRPr lang="zh-CN" altLang="en-US">
                  <a:latin typeface="楷体-简" panose="02010600040101010101" charset="-122"/>
                  <a:ea typeface="楷体-简" panose="02010600040101010101" charset="-122"/>
                  <a:cs typeface="楷体-简" panose="02010600040101010101" charset="-122"/>
                </a:endParaRPr>
              </a:p>
              <a:p>
                <a:r>
                  <a:rPr lang="zh-CN" altLang="en-US">
                    <a:latin typeface="楷体-简" panose="02010600040101010101" charset="-122"/>
                    <a:ea typeface="楷体-简" panose="02010600040101010101" charset="-122"/>
                    <a:cs typeface="楷体-简" panose="02010600040101010101" charset="-122"/>
                  </a:rPr>
                  <a:t>面H。</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072515" y="1245235"/>
                <a:ext cx="11119485" cy="4368165"/>
              </a:xfrm>
              <a:prstGeom prst="rect">
                <a:avLst/>
              </a:prstGeom>
              <a:blipFill rotWithShape="1">
                <a:blip r:embed="rId1"/>
                <a:stretch>
                  <a:fillRect/>
                </a:stretch>
              </a:blipFill>
            </p:spPr>
            <p:txBody>
              <a:bodyPr/>
              <a:p>
                <a:r>
                  <a:rPr lang="zh-CN" altLang="en-US">
                    <a:noFill/>
                  </a:rPr>
                  <a:t> </a:t>
                </a:r>
                <a:endParaRPr lang="zh-CN" altLang="en-US">
                  <a:noFill/>
                </a:endParaRP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3" name="标题 2152"/>
          <p:cNvSpPr/>
          <p:nvPr>
            <p:ph type="title" idx="4294967295"/>
          </p:nvPr>
        </p:nvSpPr>
        <p:spPr>
          <a:xfrm>
            <a:off x="2028409" y="117380"/>
            <a:ext cx="8911687" cy="1280890"/>
          </a:xfrm>
        </p:spPr>
        <p:txBody>
          <a:bodyPr anchor="ctr" anchorCtr="1"/>
          <a:p>
            <a:r>
              <a:rPr lang="zh-CN" altLang="en-US"/>
              <a:t>最大间隔</a:t>
            </a:r>
            <a:r>
              <a:rPr lang="en-US" altLang="zh-CN">
                <a:latin typeface="Times New Roman" panose="02020603050405020304" charset="0"/>
              </a:rPr>
              <a:t>(margin)</a:t>
            </a:r>
            <a:endParaRPr lang="en-US" altLang="zh-CN">
              <a:latin typeface="Times New Roman" panose="02020603050405020304" charset="0"/>
            </a:endParaRPr>
          </a:p>
        </p:txBody>
      </p:sp>
      <p:sp>
        <p:nvSpPr>
          <p:cNvPr id="2154" name="文本占位符 2153"/>
          <p:cNvSpPr/>
          <p:nvPr>
            <p:ph type="body" sz="half" idx="4294967295"/>
          </p:nvPr>
        </p:nvSpPr>
        <p:spPr>
          <a:xfrm>
            <a:off x="1090930" y="1139825"/>
            <a:ext cx="4038600" cy="4530725"/>
          </a:xfrm>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defRPr sz="2800" b="0" i="0" u="none">
                <a:solidFill>
                  <a:schemeClr val="tx1"/>
                </a:solidFill>
                <a:latin typeface="Verdana" panose="020B06040305040402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1"/>
              </a:buClr>
              <a:buSzPct val="100000"/>
              <a:buFontTx/>
              <a:defRPr sz="2400" b="0" i="0" u="none">
                <a:solidFill>
                  <a:schemeClr val="tx1"/>
                </a:solidFill>
                <a:latin typeface="Verdana" panose="020B06040305040402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defRPr sz="2000" b="0" i="0" u="none">
                <a:solidFill>
                  <a:schemeClr val="tx1"/>
                </a:solidFill>
                <a:latin typeface="Verdana" panose="020B06040305040402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100000"/>
              <a:buFontTx/>
              <a:defRPr sz="1800" b="0" i="0" u="none">
                <a:solidFill>
                  <a:schemeClr val="tx1"/>
                </a:solidFill>
                <a:latin typeface="Verdana" panose="020B06040305040402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defRPr sz="1800" b="0" i="0" u="none">
                <a:solidFill>
                  <a:schemeClr val="tx1"/>
                </a:solidFill>
                <a:latin typeface="Verdana" panose="020B0604030504040204" charset="0"/>
                <a:ea typeface="宋体" panose="02010600030101010101" pitchFamily="2" charset="-122"/>
              </a:defRPr>
            </a:lvl5pPr>
          </a:lstStyle>
          <a:p>
            <a:pPr lvl="0">
              <a:buClr>
                <a:schemeClr val="hlink"/>
              </a:buClr>
              <a:buNone/>
            </a:pPr>
            <a:endParaRPr lang="zh-CN" altLang="en-US"/>
          </a:p>
          <a:p>
            <a:pPr lvl="0">
              <a:buClr>
                <a:schemeClr val="hlink"/>
              </a:buClr>
              <a:buNone/>
            </a:pPr>
            <a:endParaRPr lang="zh-CN" altLang="en-US"/>
          </a:p>
          <a:p>
            <a:pPr lvl="0">
              <a:buClr>
                <a:schemeClr val="hlink"/>
              </a:buClr>
              <a:buNone/>
            </a:pPr>
            <a:r>
              <a:rPr lang="en-US" altLang="zh-CN"/>
              <a:t>H1</a:t>
            </a:r>
            <a:r>
              <a:rPr lang="zh-CN" altLang="en-US"/>
              <a:t>和</a:t>
            </a:r>
            <a:r>
              <a:rPr lang="en-US" altLang="zh-CN"/>
              <a:t>H2</a:t>
            </a:r>
            <a:r>
              <a:rPr lang="zh-CN" altLang="en-US"/>
              <a:t>之间的</a:t>
            </a:r>
            <a:endParaRPr lang="zh-CN" altLang="en-US"/>
          </a:p>
          <a:p>
            <a:pPr lvl="0">
              <a:buClr>
                <a:schemeClr val="hlink"/>
              </a:buClr>
              <a:buNone/>
            </a:pPr>
            <a:r>
              <a:rPr lang="zh-CN" altLang="en-US"/>
              <a:t>距离叫做分类</a:t>
            </a:r>
            <a:endParaRPr lang="zh-CN" altLang="en-US"/>
          </a:p>
          <a:p>
            <a:pPr lvl="0">
              <a:buClr>
                <a:schemeClr val="hlink"/>
              </a:buClr>
              <a:buNone/>
            </a:pPr>
            <a:r>
              <a:rPr lang="zh-CN" altLang="en-US"/>
              <a:t>间隔</a:t>
            </a:r>
            <a:endParaRPr lang="zh-CN" altLang="en-US"/>
          </a:p>
          <a:p>
            <a:pPr lvl="0">
              <a:buClr>
                <a:schemeClr val="hlink"/>
              </a:buClr>
              <a:buNone/>
            </a:pPr>
            <a:endParaRPr lang="zh-CN" altLang="en-US"/>
          </a:p>
          <a:p>
            <a:pPr lvl="0">
              <a:buClr>
                <a:schemeClr val="hlink"/>
              </a:buClr>
              <a:buNone/>
            </a:pPr>
            <a:endParaRPr lang="zh-CN" altLang="en-US"/>
          </a:p>
        </p:txBody>
      </p:sp>
      <p:graphicFrame>
        <p:nvGraphicFramePr>
          <p:cNvPr id="2155" name="内容占位符 2154"/>
          <p:cNvGraphicFramePr/>
          <p:nvPr>
            <p:ph sz="quarter" idx="4"/>
          </p:nvPr>
        </p:nvGraphicFramePr>
        <p:xfrm>
          <a:off x="7950200" y="2471738"/>
          <a:ext cx="482600" cy="444500"/>
        </p:xfrm>
        <a:graphic>
          <a:graphicData uri="http://schemas.openxmlformats.org/presentationml/2006/ole">
            <mc:AlternateContent xmlns:mc="http://schemas.openxmlformats.org/markup-compatibility/2006">
              <mc:Choice xmlns:v="urn:schemas-microsoft-com:vml" Requires="v">
                <p:oleObj spid="_x0000_s3083" name="" r:id="rId1" imgW="482600" imgH="201930" progId="Equation.DSMT4">
                  <p:embed/>
                </p:oleObj>
              </mc:Choice>
              <mc:Fallback>
                <p:oleObj name="" r:id="rId1" imgW="482600" imgH="201930" progId="Equation.DSMT4">
                  <p:embed/>
                  <p:pic>
                    <p:nvPicPr>
                      <p:cNvPr id="0" name="图片 3082"/>
                      <p:cNvPicPr/>
                      <p:nvPr/>
                    </p:nvPicPr>
                    <p:blipFill>
                      <a:blip r:embed="rId2"/>
                      <a:stretch>
                        <a:fillRect/>
                      </a:stretch>
                    </p:blipFill>
                    <p:spPr>
                      <a:xfrm>
                        <a:off x="7950200" y="2471738"/>
                        <a:ext cx="482600" cy="444500"/>
                      </a:xfrm>
                      <a:prstGeom prst="rect">
                        <a:avLst/>
                      </a:prstGeom>
                      <a:noFill/>
                      <a:ln w="38100">
                        <a:miter/>
                      </a:ln>
                    </p:spPr>
                  </p:pic>
                </p:oleObj>
              </mc:Fallback>
            </mc:AlternateContent>
          </a:graphicData>
        </a:graphic>
      </p:graphicFrame>
      <p:pic>
        <p:nvPicPr>
          <p:cNvPr id="2156" name="图片 2155"/>
          <p:cNvPicPr>
            <a:picLocks noChangeAspect="1"/>
          </p:cNvPicPr>
          <p:nvPr/>
        </p:nvPicPr>
        <p:blipFill>
          <a:blip r:embed="rId3"/>
          <a:stretch>
            <a:fillRect/>
          </a:stretch>
        </p:blipFill>
        <p:spPr>
          <a:xfrm>
            <a:off x="3746500" y="1398270"/>
            <a:ext cx="7000875" cy="4743450"/>
          </a:xfrm>
          <a:prstGeom prst="rect">
            <a:avLst/>
          </a:prstGeom>
          <a:noFill/>
          <a:ln w="9525">
            <a:noFill/>
          </a:ln>
        </p:spPr>
      </p:pic>
      <p:graphicFrame>
        <p:nvGraphicFramePr>
          <p:cNvPr id="2158" name="对象 2157"/>
          <p:cNvGraphicFramePr/>
          <p:nvPr/>
        </p:nvGraphicFramePr>
        <p:xfrm>
          <a:off x="1090930" y="4073525"/>
          <a:ext cx="1119188" cy="914400"/>
        </p:xfrm>
        <a:graphic>
          <a:graphicData uri="http://schemas.openxmlformats.org/presentationml/2006/ole">
            <mc:AlternateContent xmlns:mc="http://schemas.openxmlformats.org/markup-compatibility/2006">
              <mc:Choice xmlns:v="urn:schemas-microsoft-com:vml" Requires="v">
                <p:oleObj spid="_x0000_s3080" name="" r:id="rId4" imgW="558800" imgH="322580" progId="Equation.3">
                  <p:embed/>
                </p:oleObj>
              </mc:Choice>
              <mc:Fallback>
                <p:oleObj name="" r:id="rId4" imgW="558800" imgH="322580" progId="Equation.3">
                  <p:embed/>
                  <p:pic>
                    <p:nvPicPr>
                      <p:cNvPr id="0" name="图片 3079"/>
                      <p:cNvPicPr/>
                      <p:nvPr/>
                    </p:nvPicPr>
                    <p:blipFill>
                      <a:blip r:embed="rId5"/>
                      <a:stretch>
                        <a:fillRect/>
                      </a:stretch>
                    </p:blipFill>
                    <p:spPr>
                      <a:xfrm>
                        <a:off x="1090930" y="4073525"/>
                        <a:ext cx="1119188" cy="914400"/>
                      </a:xfrm>
                      <a:prstGeom prst="rect">
                        <a:avLst/>
                      </a:prstGeom>
                      <a:noFill/>
                      <a:ln w="38100">
                        <a:noFill/>
                        <a:miter/>
                      </a:ln>
                    </p:spPr>
                  </p:pic>
                </p:oleObj>
              </mc:Fallback>
            </mc:AlternateContent>
          </a:graphicData>
        </a:graphic>
      </p:graphicFrame>
      <p:sp>
        <p:nvSpPr>
          <p:cNvPr id="2" name="文本框 1"/>
          <p:cNvSpPr txBox="1"/>
          <p:nvPr/>
        </p:nvSpPr>
        <p:spPr>
          <a:xfrm>
            <a:off x="9619615" y="585470"/>
            <a:ext cx="2183765" cy="922020"/>
          </a:xfrm>
          <a:prstGeom prst="rect">
            <a:avLst/>
          </a:prstGeom>
          <a:noFill/>
        </p:spPr>
        <p:txBody>
          <a:bodyPr wrap="square" rtlCol="0">
            <a:spAutoFit/>
          </a:bodyPr>
          <a:p>
            <a:r>
              <a:rPr lang="zh-CN" altLang="en-US" b="1"/>
              <a:t>第一类样本带入超平面</a:t>
            </a:r>
            <a:r>
              <a:rPr lang="en-US" altLang="zh-CN" b="1"/>
              <a:t>wx-b</a:t>
            </a:r>
            <a:r>
              <a:rPr lang="zh-CN" altLang="en-US" b="1"/>
              <a:t>后所得均</a:t>
            </a:r>
            <a:r>
              <a:rPr lang="en-US" altLang="zh-CN" b="1"/>
              <a:t>&gt;=1</a:t>
            </a:r>
            <a:endParaRPr lang="en-US" altLang="zh-CN" b="1"/>
          </a:p>
        </p:txBody>
      </p:sp>
      <p:sp>
        <p:nvSpPr>
          <p:cNvPr id="3" name="文本框 2"/>
          <p:cNvSpPr txBox="1"/>
          <p:nvPr/>
        </p:nvSpPr>
        <p:spPr>
          <a:xfrm>
            <a:off x="3232150" y="4065905"/>
            <a:ext cx="2183765" cy="922020"/>
          </a:xfrm>
          <a:prstGeom prst="rect">
            <a:avLst/>
          </a:prstGeom>
          <a:noFill/>
        </p:spPr>
        <p:txBody>
          <a:bodyPr wrap="square" rtlCol="0">
            <a:spAutoFit/>
          </a:bodyPr>
          <a:p>
            <a:r>
              <a:rPr lang="zh-CN" altLang="en-US" b="1"/>
              <a:t>第二类样本带入超平面</a:t>
            </a:r>
            <a:r>
              <a:rPr lang="en-US" altLang="zh-CN" b="1"/>
              <a:t>wx-b</a:t>
            </a:r>
            <a:r>
              <a:rPr lang="zh-CN" altLang="en-US" b="1"/>
              <a:t>后所得均</a:t>
            </a:r>
            <a:r>
              <a:rPr lang="en-US" altLang="zh-CN" b="1"/>
              <a:t>&lt;=-</a:t>
            </a:r>
            <a:r>
              <a:rPr lang="en-US" altLang="zh-CN" b="1"/>
              <a:t>1</a:t>
            </a:r>
            <a:endParaRPr lang="en-US" altLang="zh-CN" b="1"/>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b="1">
                <a:latin typeface="楷体-简" panose="02010600040101010101" charset="-122"/>
                <a:ea typeface="楷体-简" panose="02010600040101010101" charset="-122"/>
                <a:cs typeface="楷体-简" panose="02010600040101010101" charset="-122"/>
              </a:rPr>
              <a:t>7.2.3 </a:t>
            </a:r>
            <a:r>
              <a:rPr lang="zh-CN" altLang="en-US" sz="2800" b="1">
                <a:latin typeface="楷体-简" panose="02010600040101010101" charset="-122"/>
                <a:ea typeface="楷体-简" panose="02010600040101010101" charset="-122"/>
                <a:cs typeface="楷体-简" panose="02010600040101010101" charset="-122"/>
              </a:rPr>
              <a:t>支持向量机</a:t>
            </a:r>
            <a:endParaRPr lang="zh-CN" altLang="en-US" sz="2800" b="1">
              <a:latin typeface="楷体-简" panose="02010600040101010101" charset="-122"/>
              <a:ea typeface="楷体-简" panose="02010600040101010101" charset="-122"/>
              <a:cs typeface="楷体-简" panose="02010600040101010101"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588895" y="1181735"/>
                <a:ext cx="8915400" cy="4131945"/>
              </a:xfrm>
            </p:spPr>
            <p:txBody>
              <a:bodyPr/>
              <a:p>
                <a:pPr marL="0" indent="0">
                  <a:buNone/>
                </a:pPr>
                <a:r>
                  <a:rPr lang="zh-CN">
                    <a:solidFill>
                      <a:schemeClr val="tx1"/>
                    </a:solidFill>
                    <a:latin typeface="楷体-简" panose="02010600040101010101" charset="-122"/>
                    <a:ea typeface="楷体-简" panose="02010600040101010101" charset="-122"/>
                    <a:cs typeface="楷体-简" panose="02010600040101010101" charset="-122"/>
                  </a:rPr>
                  <a:t>（</a:t>
                </a:r>
                <a:r>
                  <a:rPr>
                    <a:solidFill>
                      <a:schemeClr val="tx1"/>
                    </a:solidFill>
                    <a:latin typeface="楷体-简" panose="02010600040101010101" charset="-122"/>
                    <a:ea typeface="楷体-简" panose="02010600040101010101" charset="-122"/>
                    <a:cs typeface="楷体-简" panose="02010600040101010101" charset="-122"/>
                  </a:rPr>
                  <a:t>1</a:t>
                </a:r>
                <a:r>
                  <a:rPr lang="zh-CN">
                    <a:solidFill>
                      <a:schemeClr val="tx1"/>
                    </a:solidFill>
                    <a:latin typeface="楷体-简" panose="02010600040101010101" charset="-122"/>
                    <a:ea typeface="楷体-简" panose="02010600040101010101" charset="-122"/>
                    <a:cs typeface="楷体-简" panose="02010600040101010101" charset="-122"/>
                  </a:rPr>
                  <a:t>）</a:t>
                </a:r>
                <a:r>
                  <a:rPr>
                    <a:solidFill>
                      <a:schemeClr val="tx1"/>
                    </a:solidFill>
                    <a:latin typeface="楷体-简" panose="02010600040101010101" charset="-122"/>
                    <a:ea typeface="楷体-简" panose="02010600040101010101" charset="-122"/>
                    <a:cs typeface="楷体-简" panose="02010600040101010101" charset="-122"/>
                  </a:rPr>
                  <a:t>数据线性可分的情况:</a:t>
                </a:r>
                <a:endParaRPr>
                  <a:solidFill>
                    <a:schemeClr val="tx1"/>
                  </a:solidFill>
                  <a:latin typeface="楷体-简" panose="02010600040101010101" charset="-122"/>
                  <a:ea typeface="楷体-简" panose="02010600040101010101" charset="-122"/>
                  <a:cs typeface="楷体-简" panose="02010600040101010101" charset="-122"/>
                </a:endParaRPr>
              </a:p>
              <a:p>
                <a:pPr marL="0" indent="0">
                  <a:buNone/>
                </a:pPr>
                <a:r>
                  <a:rPr>
                    <a:solidFill>
                      <a:schemeClr val="tx1"/>
                    </a:solidFill>
                    <a:latin typeface="楷体-简" panose="02010600040101010101" charset="-122"/>
                    <a:ea typeface="楷体-简" panose="02010600040101010101" charset="-122"/>
                    <a:cs typeface="楷体-简" panose="02010600040101010101" charset="-122"/>
                  </a:rPr>
                  <a:t>为了求解线性可分情况下的最大间隔超平面,需要在满足约束:</a:t>
                </a:r>
                <a14:m>
                  <m:oMath xmlns:m="http://schemas.openxmlformats.org/officeDocument/2006/math">
                    <m:sSub>
                      <m:sSubPr>
                        <m:ctrlPr>
                          <a:rPr lang="en-US" i="1">
                            <a:solidFill>
                              <a:schemeClr val="tx1"/>
                            </a:solidFill>
                            <a:latin typeface="Cambria Math" panose="02040503050406030204" charset="0"/>
                            <a:ea typeface="楷体-简" panose="02010600040101010101" charset="-122"/>
                            <a:cs typeface="Cambria Math" panose="02040503050406030204" charset="0"/>
                          </a:rPr>
                        </m:ctrlPr>
                      </m:sSubPr>
                      <m:e>
                        <m:r>
                          <a:rPr lang="en-US" i="1">
                            <a:solidFill>
                              <a:schemeClr val="tx1"/>
                            </a:solidFill>
                            <a:latin typeface="Cambria Math" panose="02040503050406030204" charset="0"/>
                            <a:ea typeface="楷体-简" panose="02010600040101010101" charset="-122"/>
                            <a:cs typeface="Cambria Math" panose="02040503050406030204" charset="0"/>
                          </a:rPr>
                          <m:t>y</m:t>
                        </m:r>
                      </m:e>
                      <m:sub>
                        <m:r>
                          <a:rPr lang="en-US" i="1">
                            <a:solidFill>
                              <a:schemeClr val="tx1"/>
                            </a:solidFill>
                            <a:latin typeface="Cambria Math" panose="02040503050406030204" charset="0"/>
                            <a:ea typeface="楷体-简" panose="02010600040101010101" charset="-122"/>
                            <a:cs typeface="Cambria Math" panose="02040503050406030204" charset="0"/>
                          </a:rPr>
                          <m:t>𝑖</m:t>
                        </m:r>
                      </m:sub>
                    </m:sSub>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𝑤</m:t>
                    </m:r>
                    <m:r>
                      <a:rPr lang="en-US" i="1">
                        <a:solidFill>
                          <a:schemeClr val="tx1"/>
                        </a:solidFill>
                        <a:latin typeface="Cambria Math" panose="02040503050406030204" charset="0"/>
                        <a:ea typeface="楷体-简" panose="02010600040101010101" charset="-122"/>
                        <a:cs typeface="Cambria Math" panose="02040503050406030204" charset="0"/>
                      </a:rPr>
                      <m:t>·</m:t>
                    </m:r>
                    <m:sSub>
                      <m:sSubPr>
                        <m:ctrlPr>
                          <a:rPr lang="en-US" i="1">
                            <a:solidFill>
                              <a:schemeClr val="tx1"/>
                            </a:solidFill>
                            <a:latin typeface="Cambria Math" panose="02040503050406030204" charset="0"/>
                            <a:ea typeface="楷体-简" panose="02010600040101010101" charset="-122"/>
                            <a:cs typeface="Cambria Math" panose="02040503050406030204" charset="0"/>
                          </a:rPr>
                        </m:ctrlPr>
                      </m:sSubPr>
                      <m:e>
                        <m:r>
                          <a:rPr lang="en-US" i="1">
                            <a:solidFill>
                              <a:schemeClr val="tx1"/>
                            </a:solidFill>
                            <a:latin typeface="Cambria Math" panose="02040503050406030204" charset="0"/>
                            <a:ea typeface="楷体-简" panose="02010600040101010101" charset="-122"/>
                            <a:cs typeface="Cambria Math" panose="02040503050406030204" charset="0"/>
                          </a:rPr>
                          <m:t>𝑥</m:t>
                        </m:r>
                      </m:e>
                      <m:sub>
                        <m:r>
                          <a:rPr lang="en-US" i="1">
                            <a:solidFill>
                              <a:schemeClr val="tx1"/>
                            </a:solidFill>
                            <a:latin typeface="Cambria Math" panose="02040503050406030204" charset="0"/>
                            <a:ea typeface="楷体-简" panose="02010600040101010101" charset="-122"/>
                            <a:cs typeface="Cambria Math" panose="02040503050406030204" charset="0"/>
                          </a:rPr>
                          <m:t>𝑖</m:t>
                        </m:r>
                      </m:sub>
                    </m:sSub>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𝑏</m:t>
                    </m:r>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1</m:t>
                    </m:r>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𝑖</m:t>
                    </m:r>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1</m:t>
                    </m:r>
                    <m:r>
                      <a:rPr lang="en-US" i="1">
                        <a:solidFill>
                          <a:schemeClr val="tx1"/>
                        </a:solidFill>
                        <a:latin typeface="Cambria Math" panose="02040503050406030204" charset="0"/>
                        <a:ea typeface="楷体-简" panose="02010600040101010101" charset="-122"/>
                        <a:cs typeface="Cambria Math" panose="02040503050406030204" charset="0"/>
                      </a:rPr>
                      <m:t>,···,</m:t>
                    </m:r>
                    <m:r>
                      <a:rPr lang="en-US" i="1">
                        <a:solidFill>
                          <a:schemeClr val="tx1"/>
                        </a:solidFill>
                        <a:latin typeface="Cambria Math" panose="02040503050406030204" charset="0"/>
                        <a:ea typeface="楷体-简" panose="02010600040101010101" charset="-122"/>
                        <a:cs typeface="Cambria Math" panose="02040503050406030204" charset="0"/>
                      </a:rPr>
                      <m:t>𝑛</m:t>
                    </m:r>
                  </m:oMath>
                </a14:m>
                <a:r>
                  <a:rPr>
                    <a:solidFill>
                      <a:schemeClr val="tx1"/>
                    </a:solidFill>
                    <a:latin typeface="楷体-简" panose="02010600040101010101" charset="-122"/>
                    <a:ea typeface="楷体-简" panose="02010600040101010101" charset="-122"/>
                    <a:cs typeface="楷体-简" panose="02010600040101010101" charset="-122"/>
                  </a:rPr>
                  <a:t>,的前提下最大化间隔</a:t>
                </a:r>
                <a14:m>
                  <m:oMath xmlns:m="http://schemas.openxmlformats.org/officeDocument/2006/math">
                    <m:r>
                      <a:rPr lang="en-US" i="1">
                        <a:solidFill>
                          <a:schemeClr val="tx1"/>
                        </a:solidFill>
                        <a:latin typeface="Cambria Math" panose="02040503050406030204" charset="0"/>
                        <a:ea typeface="楷体-简" panose="02010600040101010101" charset="-122"/>
                        <a:cs typeface="Cambria Math" panose="02040503050406030204" charset="0"/>
                      </a:rPr>
                      <m:t>∆</m:t>
                    </m:r>
                  </m:oMath>
                </a14:m>
                <a:r>
                  <a:rPr>
                    <a:solidFill>
                      <a:schemeClr val="tx1"/>
                    </a:solidFill>
                    <a:latin typeface="楷体-简" panose="02010600040101010101" charset="-122"/>
                    <a:ea typeface="楷体-简" panose="02010600040101010101" charset="-122"/>
                    <a:cs typeface="楷体-简" panose="02010600040101010101" charset="-122"/>
                  </a:rPr>
                  <a:t>,等价于如下的优化问题:</a:t>
                </a:r>
                <a:endParaRPr>
                  <a:latin typeface="楷体-简" panose="02010600040101010101" charset="-122"/>
                  <a:ea typeface="楷体-简" panose="02010600040101010101" charset="-122"/>
                  <a:cs typeface="楷体-简" panose="02010600040101010101" charset="-122"/>
                </a:endParaRPr>
              </a:p>
              <a:p>
                <a:pPr marL="0" indent="0">
                  <a:buNone/>
                </a:pPr>
                <a:endParaRPr>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712595" y="1181735"/>
                <a:ext cx="9791700" cy="4538345"/>
              </a:xfrm>
              <a:blipFill rotWithShape="1">
                <a:blip r:embed="rId1"/>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639695" y="3046095"/>
                <a:ext cx="8865235" cy="92202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约束条件是</a:t>
                </a:r>
                <a14:m>
                  <m:oMath xmlns:m="http://schemas.openxmlformats.org/officeDocument/2006/math">
                    <m:sSub>
                      <m:sSubPr>
                        <m:ctrlPr>
                          <a:rPr lang="en-US" i="1">
                            <a:latin typeface="Cambria Math" panose="02040503050406030204" charset="0"/>
                            <a:ea typeface="楷体-简" panose="02010600040101010101" charset="-122"/>
                            <a:cs typeface="Cambria Math" panose="02040503050406030204" charset="0"/>
                          </a:rPr>
                        </m:ctrlPr>
                      </m:sSubPr>
                      <m:e>
                        <m:r>
                          <a:rPr lang="en-US" i="1">
                            <a:latin typeface="Cambria Math" panose="02040503050406030204" charset="0"/>
                            <a:ea typeface="楷体-简" panose="02010600040101010101" charset="-122"/>
                            <a:cs typeface="Cambria Math" panose="02040503050406030204" charset="0"/>
                          </a:rPr>
                          <m:t>𝑦</m:t>
                        </m:r>
                      </m:e>
                      <m:sub>
                        <m:r>
                          <a:rPr lang="en-US" i="1">
                            <a:latin typeface="Cambria Math" panose="02040503050406030204" charset="0"/>
                            <a:ea typeface="楷体-简" panose="02010600040101010101" charset="-122"/>
                            <a:cs typeface="Cambria Math" panose="02040503050406030204" charset="0"/>
                          </a:rPr>
                          <m:t>𝑖</m:t>
                        </m:r>
                      </m:sub>
                    </m:sSub>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楷体-简" panose="02010600040101010101" charset="-122"/>
                        <a:cs typeface="Cambria Math" panose="02040503050406030204" charset="0"/>
                      </a:rPr>
                      <m:t>𝑤</m:t>
                    </m:r>
                    <m:r>
                      <a:rPr lang="en-US" i="1">
                        <a:latin typeface="Cambria Math" panose="02040503050406030204" charset="0"/>
                        <a:ea typeface="宋体" charset="0"/>
                        <a:cs typeface="Cambria Math" panose="02040503050406030204" charset="0"/>
                      </a:rPr>
                      <m:t>·</m:t>
                    </m:r>
                    <m:sSub>
                      <m:sSubPr>
                        <m:ctrlPr>
                          <a:rPr lang="en-US" i="1">
                            <a:latin typeface="Cambria Math" panose="02040503050406030204" charset="0"/>
                            <a:ea typeface="楷体-简" panose="02010600040101010101" charset="-122"/>
                            <a:cs typeface="Cambria Math" panose="02040503050406030204" charset="0"/>
                          </a:rPr>
                        </m:ctrlPr>
                      </m:sSubPr>
                      <m:e>
                        <m:r>
                          <a:rPr lang="en-US" i="1">
                            <a:latin typeface="Cambria Math" panose="02040503050406030204" charset="0"/>
                            <a:ea typeface="楷体-简" panose="02010600040101010101" charset="-122"/>
                            <a:cs typeface="Cambria Math" panose="02040503050406030204" charset="0"/>
                          </a:rPr>
                          <m:t>𝑥</m:t>
                        </m:r>
                      </m:e>
                      <m:sub>
                        <m:r>
                          <a:rPr lang="en-US" i="1">
                            <a:latin typeface="Cambria Math" panose="02040503050406030204" charset="0"/>
                            <a:ea typeface="楷体-简" panose="02010600040101010101" charset="-122"/>
                            <a:cs typeface="Cambria Math" panose="02040503050406030204" charset="0"/>
                          </a:rPr>
                          <m:t>𝑖</m:t>
                        </m:r>
                      </m:sub>
                    </m:sSub>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楷体-简" panose="02010600040101010101" charset="-122"/>
                        <a:cs typeface="Cambria Math" panose="02040503050406030204" charset="0"/>
                      </a:rPr>
                      <m:t>𝑏</m:t>
                    </m:r>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宋体" charset="0"/>
                        <a:cs typeface="Cambria Math" panose="02040503050406030204" charset="0"/>
                      </a:rPr>
                      <m:t>1</m:t>
                    </m:r>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楷体-简" panose="02010600040101010101" charset="-122"/>
                        <a:cs typeface="Cambria Math" panose="02040503050406030204" charset="0"/>
                      </a:rPr>
                      <m:t>𝑖</m:t>
                    </m:r>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宋体" charset="0"/>
                        <a:cs typeface="Cambria Math" panose="02040503050406030204" charset="0"/>
                      </a:rPr>
                      <m:t>1</m:t>
                    </m:r>
                    <m:r>
                      <a:rPr lang="en-US" i="1">
                        <a:latin typeface="Cambria Math" panose="02040503050406030204" charset="0"/>
                        <a:ea typeface="宋体" charset="0"/>
                        <a:cs typeface="Cambria Math" panose="02040503050406030204" charset="0"/>
                      </a:rPr>
                      <m:t>,···,</m:t>
                    </m:r>
                    <m:r>
                      <a:rPr lang="en-US" i="1">
                        <a:latin typeface="Cambria Math" panose="02040503050406030204" charset="0"/>
                        <a:ea typeface="楷体-简" panose="02010600040101010101" charset="-122"/>
                        <a:cs typeface="Cambria Math" panose="02040503050406030204" charset="0"/>
                      </a:rPr>
                      <m:t>𝑛</m:t>
                    </m:r>
                  </m:oMath>
                </a14:m>
                <a:endParaRPr lang="en-US" i="1">
                  <a:latin typeface="Cambria Math" panose="02040503050406030204" charset="0"/>
                  <a:ea typeface="楷体-简" panose="02010600040101010101" charset="-122"/>
                  <a:cs typeface="Cambria Math" panose="02040503050406030204" charset="0"/>
                </a:endParaRPr>
              </a:p>
              <a:p>
                <a:r>
                  <a:rPr lang="zh-CN" altLang="en-US">
                    <a:latin typeface="楷体-简" panose="02010600040101010101" charset="-122"/>
                    <a:ea typeface="楷体-简" panose="02010600040101010101" charset="-122"/>
                    <a:cs typeface="楷体-简" panose="02010600040101010101" charset="-122"/>
                  </a:rPr>
                  <a:t>这是一个典型的线性约束凸二次规划问题，它唯一确定了最大间隔分类超平面。引入拉格朗日乘子</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宋体" charset="0"/>
                            <a:cs typeface="Cambria Math" panose="02040503050406030204" charset="0"/>
                          </a:rPr>
                          <m:t>𝛼</m:t>
                        </m:r>
                      </m:e>
                      <m:sub>
                        <m:r>
                          <a:rPr lang="en-US" altLang="zh-CN" i="1">
                            <a:latin typeface="Cambria Math" panose="02040503050406030204" charset="0"/>
                            <a:ea typeface="楷体-简" panose="02010600040101010101" charset="-122"/>
                            <a:cs typeface="Cambria Math" panose="02040503050406030204" charset="0"/>
                          </a:rPr>
                          <m:t>i</m:t>
                        </m:r>
                      </m:sub>
                    </m:sSub>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0</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𝑖</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1</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𝑛</m:t>
                    </m:r>
                  </m:oMath>
                </a14:m>
                <a:r>
                  <a:rPr lang="zh-CN" altLang="en-US">
                    <a:latin typeface="楷体-简" panose="02010600040101010101" charset="-122"/>
                    <a:ea typeface="楷体-简" panose="02010600040101010101" charset="-122"/>
                    <a:cs typeface="楷体-简" panose="02010600040101010101" charset="-122"/>
                  </a:rPr>
                  <a:t>,根据目标函数及其约束条件建立Lagrange函数：</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1207135" y="3602355"/>
                <a:ext cx="10928350" cy="1136650"/>
              </a:xfrm>
              <a:prstGeom prst="rect">
                <a:avLst/>
              </a:prstGeom>
              <a:blipFill rotWithShape="1">
                <a:blip r:embed="rId2"/>
                <a:stretch>
                  <a:fillRect/>
                </a:stretch>
              </a:blipFill>
            </p:spPr>
            <p:txBody>
              <a:bodyPr/>
              <a:lstStyle/>
              <a:p>
                <a:r>
                  <a:rPr lang="zh-CN" altLang="en-US">
                    <a:noFill/>
                  </a:rPr>
                  <a:t> </a:t>
                </a:r>
                <a:endParaRPr lang="zh-CN" altLang="en-US">
                  <a:noFill/>
                </a:endParaRPr>
              </a:p>
            </p:txBody>
          </p:sp>
        </mc:Fallback>
      </mc:AlternateContent>
      <p:graphicFrame>
        <p:nvGraphicFramePr>
          <p:cNvPr id="4" name="Picture 82"/>
          <p:cNvGraphicFramePr>
            <a:graphicFrameLocks noChangeAspect="1"/>
          </p:cNvGraphicFramePr>
          <p:nvPr/>
        </p:nvGraphicFramePr>
        <p:xfrm>
          <a:off x="3326130" y="2517775"/>
          <a:ext cx="1824990" cy="880745"/>
        </p:xfrm>
        <a:graphic>
          <a:graphicData uri="http://schemas.openxmlformats.org/presentationml/2006/ole">
            <mc:AlternateContent xmlns:mc="http://schemas.openxmlformats.org/markup-compatibility/2006">
              <mc:Choice xmlns:v="urn:schemas-microsoft-com:vml" Requires="v">
                <p:oleObj spid="_x0000_s3076" name="" r:id="rId3" imgW="827405" imgH="394335" progId="Equation.DSMT4">
                  <p:embed/>
                </p:oleObj>
              </mc:Choice>
              <mc:Fallback>
                <p:oleObj name="" r:id="rId3" imgW="827405" imgH="394335" progId="Equation.DSMT4">
                  <p:embed/>
                  <p:pic>
                    <p:nvPicPr>
                      <p:cNvPr id="0" name="图片 3075"/>
                      <p:cNvPicPr/>
                      <p:nvPr/>
                    </p:nvPicPr>
                    <p:blipFill>
                      <a:blip r:embed="rId4"/>
                      <a:stretch>
                        <a:fillRect/>
                      </a:stretch>
                    </p:blipFill>
                    <p:spPr>
                      <a:xfrm>
                        <a:off x="3326130" y="2517775"/>
                        <a:ext cx="1824990" cy="880745"/>
                      </a:xfrm>
                      <a:prstGeom prst="rect">
                        <a:avLst/>
                      </a:prstGeom>
                      <a:noFill/>
                      <a:ln w="38100">
                        <a:noFill/>
                        <a:miter/>
                      </a:ln>
                    </p:spPr>
                  </p:pic>
                </p:oleObj>
              </mc:Fallback>
            </mc:AlternateContent>
          </a:graphicData>
        </a:graphic>
      </p:graphicFrame>
      <p:sp>
        <p:nvSpPr>
          <p:cNvPr id="10" name="文本框 9"/>
          <p:cNvSpPr txBox="1"/>
          <p:nvPr/>
        </p:nvSpPr>
        <p:spPr>
          <a:xfrm>
            <a:off x="6276975" y="2774315"/>
            <a:ext cx="2358390" cy="398780"/>
          </a:xfrm>
          <a:prstGeom prst="rect">
            <a:avLst/>
          </a:prstGeom>
          <a:noFill/>
        </p:spPr>
        <p:txBody>
          <a:bodyPr wrap="square" rtlCol="0">
            <a:spAutoFit/>
          </a:bodyPr>
          <a:p>
            <a:r>
              <a:rPr lang="zh-CN" altLang="en-US" sz="2000">
                <a:latin typeface="楷体-简" panose="02010600040101010101" charset="-122"/>
                <a:ea typeface="楷体-简" panose="02010600040101010101" charset="-122"/>
                <a:cs typeface="楷体-简" panose="02010600040101010101" charset="-122"/>
              </a:rPr>
              <a:t>（</a:t>
            </a:r>
            <a:r>
              <a:rPr lang="en-US" altLang="zh-CN" sz="2000">
                <a:latin typeface="楷体-简" panose="02010600040101010101" charset="-122"/>
                <a:ea typeface="楷体-简" panose="02010600040101010101" charset="-122"/>
                <a:cs typeface="楷体-简" panose="02010600040101010101" charset="-122"/>
              </a:rPr>
              <a:t>7-9</a:t>
            </a:r>
            <a:r>
              <a:rPr lang="zh-CN" altLang="en-US" sz="2000">
                <a:latin typeface="楷体-简" panose="02010600040101010101" charset="-122"/>
                <a:ea typeface="楷体-简" panose="02010600040101010101" charset="-122"/>
                <a:cs typeface="楷体-简" panose="02010600040101010101" charset="-122"/>
              </a:rPr>
              <a:t>）</a:t>
            </a:r>
            <a:endParaRPr lang="zh-CN" altLang="en-US" sz="20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8" name="文本框 7"/>
              <p:cNvSpPr txBox="1"/>
              <p:nvPr/>
            </p:nvSpPr>
            <p:spPr>
              <a:xfrm>
                <a:off x="2639695" y="4758055"/>
                <a:ext cx="8865870" cy="64516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将Lagrange函数求关于</a:t>
                </a:r>
                <a:r>
                  <a:rPr lang="en-US" altLang="zh-CN">
                    <a:latin typeface="楷体-简" panose="02010600040101010101" charset="-122"/>
                    <a:ea typeface="楷体-简" panose="02010600040101010101" charset="-122"/>
                    <a:cs typeface="楷体-简" panose="02010600040101010101" charset="-122"/>
                  </a:rPr>
                  <a:t>w,b</a:t>
                </a:r>
                <a:r>
                  <a:rPr lang="zh-CN" altLang="en-US">
                    <a:latin typeface="楷体-简" panose="02010600040101010101" charset="-122"/>
                    <a:ea typeface="楷体-简" panose="02010600040101010101" charset="-122"/>
                    <a:cs typeface="楷体-简" panose="02010600040101010101" charset="-122"/>
                  </a:rPr>
                  <a:t>的极小值，即，由极值条件</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宋体" charset="0"/>
                            <a:cs typeface="Cambria Math" panose="02040503050406030204" charset="0"/>
                          </a:rPr>
                          <m:t>𝛻</m:t>
                        </m:r>
                      </m:e>
                      <m:sub>
                        <m:r>
                          <a:rPr lang="en-US" altLang="zh-CN" i="1">
                            <a:latin typeface="Cambria Math" panose="02040503050406030204" charset="0"/>
                            <a:ea typeface="楷体-简" panose="02010600040101010101" charset="-122"/>
                            <a:cs typeface="Cambria Math" panose="02040503050406030204" charset="0"/>
                          </a:rPr>
                          <m:t>𝑏</m:t>
                        </m:r>
                      </m:sub>
                    </m:sSub>
                    <m:r>
                      <a:rPr lang="en-US" altLang="zh-CN" i="1">
                        <a:latin typeface="Cambria Math" panose="02040503050406030204" charset="0"/>
                        <a:ea typeface="楷体-简" panose="02010600040101010101" charset="-122"/>
                        <a:cs typeface="Cambria Math" panose="02040503050406030204" charset="0"/>
                      </a:rPr>
                      <m:t>𝐿</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𝑏</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𝑎</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0</m:t>
                    </m:r>
                  </m:oMath>
                </a14:m>
                <a:r>
                  <a:rPr lang="zh-CN" altLang="en-US">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宋体" charset="0"/>
                            <a:cs typeface="Cambria Math" panose="02040503050406030204" charset="0"/>
                          </a:rPr>
                          <m:t>𝛻</m:t>
                        </m:r>
                      </m:e>
                      <m:sub>
                        <m:r>
                          <a:rPr lang="en-US" altLang="zh-CN" i="1">
                            <a:latin typeface="Cambria Math" panose="02040503050406030204" charset="0"/>
                            <a:ea typeface="楷体-简" panose="02010600040101010101" charset="-122"/>
                            <a:cs typeface="Cambria Math" panose="02040503050406030204" charset="0"/>
                          </a:rPr>
                          <m:t>𝑤</m:t>
                        </m:r>
                      </m:sub>
                    </m:sSub>
                    <m:r>
                      <a:rPr lang="en-US" altLang="zh-CN" i="1">
                        <a:latin typeface="Cambria Math" panose="02040503050406030204" charset="0"/>
                        <a:ea typeface="楷体-简" panose="02010600040101010101" charset="-122"/>
                        <a:cs typeface="Cambria Math" panose="02040503050406030204" charset="0"/>
                      </a:rPr>
                      <m:t>𝐿</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𝑤</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𝑏</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楷体-简" panose="02010600040101010101" charset="-122"/>
                        <a:cs typeface="Cambria Math" panose="02040503050406030204" charset="0"/>
                      </a:rPr>
                      <m:t>𝑎</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0</m:t>
                    </m:r>
                  </m:oMath>
                </a14:m>
                <a:r>
                  <a:rPr lang="zh-CN" altLang="en-US">
                    <a:latin typeface="楷体-简" panose="02010600040101010101" charset="-122"/>
                    <a:ea typeface="楷体-简" panose="02010600040101010101" charset="-122"/>
                    <a:cs typeface="楷体-简" panose="02010600040101010101" charset="-122"/>
                  </a:rPr>
                  <a:t>得到如下算式：</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1132205" y="2236470"/>
                <a:ext cx="10810240" cy="786765"/>
              </a:xfrm>
              <a:prstGeom prst="rect">
                <a:avLst/>
              </a:prstGeom>
              <a:blipFill rotWithShape="1">
                <a:blip r:embed="rId1"/>
                <a:stretch>
                  <a:fillRect/>
                </a:stretch>
              </a:blipFill>
            </p:spPr>
            <p:txBody>
              <a:bodyPr/>
              <a:p>
                <a:r>
                  <a:rPr lang="zh-CN" altLang="en-US">
                    <a:noFill/>
                  </a:rPr>
                  <a:t> </a:t>
                </a:r>
                <a:endParaRPr lang="zh-CN" altLang="en-US">
                  <a:noFill/>
                </a:endParaRPr>
              </a:p>
            </p:txBody>
          </p:sp>
        </mc:Fallback>
      </mc:AlternateContent>
      <p:graphicFrame>
        <p:nvGraphicFramePr>
          <p:cNvPr id="5" name="Picture 86"/>
          <p:cNvGraphicFramePr>
            <a:graphicFrameLocks noChangeAspect="1"/>
          </p:cNvGraphicFramePr>
          <p:nvPr/>
        </p:nvGraphicFramePr>
        <p:xfrm>
          <a:off x="3421380" y="802640"/>
          <a:ext cx="5348605" cy="748030"/>
        </p:xfrm>
        <a:graphic>
          <a:graphicData uri="http://schemas.openxmlformats.org/presentationml/2006/ole">
            <mc:AlternateContent xmlns:mc="http://schemas.openxmlformats.org/markup-compatibility/2006">
              <mc:Choice xmlns:v="urn:schemas-microsoft-com:vml" Requires="v">
                <p:oleObj spid="_x0000_s11" name="" r:id="rId2" imgW="2844800" imgH="393700" progId="Equation.DSMT4">
                  <p:embed/>
                </p:oleObj>
              </mc:Choice>
              <mc:Fallback>
                <p:oleObj name="" r:id="rId2" imgW="2844800" imgH="393700" progId="Equation.DSMT4">
                  <p:embed/>
                  <p:pic>
                    <p:nvPicPr>
                      <p:cNvPr id="0" name="图片 10"/>
                      <p:cNvPicPr/>
                      <p:nvPr/>
                    </p:nvPicPr>
                    <p:blipFill>
                      <a:blip r:embed="rId3"/>
                      <a:stretch>
                        <a:fillRect/>
                      </a:stretch>
                    </p:blipFill>
                    <p:spPr>
                      <a:xfrm>
                        <a:off x="3421380" y="802640"/>
                        <a:ext cx="5348605" cy="748030"/>
                      </a:xfrm>
                      <a:prstGeom prst="rect">
                        <a:avLst/>
                      </a:prstGeom>
                      <a:noFill/>
                      <a:ln w="38100">
                        <a:noFill/>
                        <a:miter/>
                      </a:ln>
                    </p:spPr>
                  </p:pic>
                </p:oleObj>
              </mc:Fallback>
            </mc:AlternateContent>
          </a:graphicData>
        </a:graphic>
      </p:graphicFrame>
      <p:sp>
        <p:nvSpPr>
          <p:cNvPr id="12" name="文本框 11"/>
          <p:cNvSpPr txBox="1"/>
          <p:nvPr/>
        </p:nvSpPr>
        <p:spPr>
          <a:xfrm>
            <a:off x="9304020" y="802640"/>
            <a:ext cx="1522730" cy="368300"/>
          </a:xfrm>
          <a:prstGeom prst="rect">
            <a:avLst/>
          </a:prstGeom>
          <a:noFill/>
        </p:spPr>
        <p:txBody>
          <a:bodyPr wrap="square" rtlCol="0">
            <a:spAutoFit/>
          </a:bodyPr>
          <a:p>
            <a:r>
              <a:rPr lang="zh-CN" altLang="en-US"/>
              <a:t>（</a:t>
            </a:r>
            <a:r>
              <a:rPr lang="en-US" altLang="zh-CN"/>
              <a:t>7-10</a:t>
            </a:r>
            <a:r>
              <a:rPr lang="zh-CN" altLang="en-US"/>
              <a:t>）</a:t>
            </a:r>
            <a:endParaRPr lang="zh-CN" altLang="en-US"/>
          </a:p>
        </p:txBody>
      </p:sp>
      <p:graphicFrame>
        <p:nvGraphicFramePr>
          <p:cNvPr id="7" name="Picture 88"/>
          <p:cNvGraphicFramePr>
            <a:graphicFrameLocks noChangeAspect="1"/>
          </p:cNvGraphicFramePr>
          <p:nvPr/>
        </p:nvGraphicFramePr>
        <p:xfrm>
          <a:off x="3493770" y="3484880"/>
          <a:ext cx="4758690" cy="779145"/>
        </p:xfrm>
        <a:graphic>
          <a:graphicData uri="http://schemas.openxmlformats.org/presentationml/2006/ole">
            <mc:AlternateContent xmlns:mc="http://schemas.openxmlformats.org/markup-compatibility/2006">
              <mc:Choice xmlns:v="urn:schemas-microsoft-com:vml" Requires="v">
                <p:oleObj spid="_x0000_s13" name="" r:id="rId4" imgW="1803400" imgH="292100" progId="Equation.DSMT4">
                  <p:embed/>
                </p:oleObj>
              </mc:Choice>
              <mc:Fallback>
                <p:oleObj name="" r:id="rId4" imgW="1803400" imgH="292100" progId="Equation.DSMT4">
                  <p:embed/>
                  <p:pic>
                    <p:nvPicPr>
                      <p:cNvPr id="0" name="图片 12"/>
                      <p:cNvPicPr/>
                      <p:nvPr/>
                    </p:nvPicPr>
                    <p:blipFill>
                      <a:blip r:embed="rId5"/>
                      <a:stretch>
                        <a:fillRect/>
                      </a:stretch>
                    </p:blipFill>
                    <p:spPr>
                      <a:xfrm>
                        <a:off x="3493770" y="3484880"/>
                        <a:ext cx="4758690" cy="779145"/>
                      </a:xfrm>
                      <a:prstGeom prst="rect">
                        <a:avLst/>
                      </a:prstGeom>
                      <a:noFill/>
                      <a:ln w="38100">
                        <a:noFill/>
                        <a:miter/>
                      </a:ln>
                    </p:spPr>
                  </p:pic>
                </p:oleObj>
              </mc:Fallback>
            </mc:AlternateContent>
          </a:graphicData>
        </a:graphic>
      </p:graphicFrame>
      <p:sp>
        <p:nvSpPr>
          <p:cNvPr id="14" name="文本框 13"/>
          <p:cNvSpPr txBox="1"/>
          <p:nvPr/>
        </p:nvSpPr>
        <p:spPr>
          <a:xfrm>
            <a:off x="9716770" y="3839210"/>
            <a:ext cx="1477010" cy="368300"/>
          </a:xfrm>
          <a:prstGeom prst="rect">
            <a:avLst/>
          </a:prstGeom>
          <a:noFill/>
        </p:spPr>
        <p:txBody>
          <a:bodyPr wrap="square" rtlCol="0">
            <a:spAutoFit/>
          </a:bodyPr>
          <a:p>
            <a:r>
              <a:rPr lang="zh-CN" altLang="en-US"/>
              <a:t>（</a:t>
            </a:r>
            <a:r>
              <a:rPr lang="en-US" altLang="zh-CN"/>
              <a:t>7-11</a:t>
            </a:r>
            <a:r>
              <a:rPr lang="zh-CN" altLang="en-US"/>
              <a:t>）</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84095" y="876935"/>
            <a:ext cx="8915400" cy="544195"/>
          </a:xfrm>
        </p:spPr>
        <p:txBody>
          <a:bodyPr/>
          <a:p>
            <a:pPr marL="0" indent="0">
              <a:buNone/>
            </a:pPr>
            <a:r>
              <a:rPr lang="zh-CN" altLang="en-US">
                <a:solidFill>
                  <a:schemeClr val="tx1"/>
                </a:solidFill>
                <a:latin typeface="楷体-简" panose="02010600040101010101" charset="-122"/>
                <a:ea typeface="楷体-简" panose="02010600040101010101" charset="-122"/>
                <a:cs typeface="楷体-简" panose="02010600040101010101" charset="-122"/>
              </a:rPr>
              <a:t>将上式代入Lagrange函数</a:t>
            </a:r>
            <a:r>
              <a:rPr lang="en-US" altLang="zh-CN">
                <a:solidFill>
                  <a:schemeClr val="tx1"/>
                </a:solidFill>
                <a:latin typeface="楷体-简" panose="02010600040101010101" charset="-122"/>
                <a:ea typeface="楷体-简" panose="02010600040101010101" charset="-122"/>
                <a:cs typeface="楷体-简" panose="02010600040101010101" charset="-122"/>
              </a:rPr>
              <a:t>L(w,b,a)</a:t>
            </a:r>
            <a:r>
              <a:rPr lang="zh-CN" altLang="en-US">
                <a:solidFill>
                  <a:schemeClr val="tx1"/>
                </a:solidFill>
                <a:latin typeface="楷体-简" panose="02010600040101010101" charset="-122"/>
                <a:ea typeface="楷体-简" panose="02010600040101010101" charset="-122"/>
                <a:cs typeface="楷体-简" panose="02010600040101010101" charset="-122"/>
              </a:rPr>
              <a:t>，可整理得：  </a:t>
            </a:r>
            <a:endParaRPr lang="zh-CN" altLang="en-US">
              <a:solidFill>
                <a:schemeClr val="tx1"/>
              </a:solidFill>
              <a:latin typeface="楷体-简" panose="02010600040101010101" charset="-122"/>
              <a:ea typeface="楷体-简" panose="02010600040101010101" charset="-122"/>
              <a:cs typeface="楷体-简" panose="02010600040101010101" charset="-122"/>
            </a:endParaRPr>
          </a:p>
        </p:txBody>
      </p:sp>
      <p:sp>
        <p:nvSpPr>
          <p:cNvPr id="5" name="文本框 4"/>
          <p:cNvSpPr txBox="1"/>
          <p:nvPr/>
        </p:nvSpPr>
        <p:spPr>
          <a:xfrm>
            <a:off x="2324100" y="2146300"/>
            <a:ext cx="7448550" cy="36830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考虑Wolf对偶性质，即可得到优化问题的对偶问题：</a:t>
            </a:r>
            <a:endParaRPr lang="zh-CN" altLang="en-US">
              <a:latin typeface="楷体-简" panose="02010600040101010101" charset="-122"/>
              <a:ea typeface="楷体-简" panose="02010600040101010101" charset="-122"/>
              <a:cs typeface="楷体-简" panose="02010600040101010101" charset="-122"/>
            </a:endParaRPr>
          </a:p>
        </p:txBody>
      </p:sp>
      <mc:AlternateContent xmlns:mc="http://schemas.openxmlformats.org/markup-compatibility/2006">
        <mc:Choice xmlns:a14="http://schemas.microsoft.com/office/drawing/2010/main" Requires="a14">
          <p:sp>
            <p:nvSpPr>
              <p:cNvPr id="7" name="文本框 6"/>
              <p:cNvSpPr txBox="1"/>
              <p:nvPr/>
            </p:nvSpPr>
            <p:spPr>
              <a:xfrm>
                <a:off x="2400300" y="4766945"/>
                <a:ext cx="8204835" cy="925830"/>
              </a:xfrm>
              <a:prstGeom prst="rect">
                <a:avLst/>
              </a:prstGeom>
              <a:noFill/>
            </p:spPr>
            <p:txBody>
              <a:bodyPr wrap="square" rtlCol="0">
                <a:spAutoFit/>
              </a:bodyPr>
              <a:p>
                <a:r>
                  <a:rPr lang="zh-CN" altLang="en-US">
                    <a:latin typeface="楷体-简" panose="02010600040101010101" charset="-122"/>
                    <a:ea typeface="楷体-简" panose="02010600040101010101" charset="-122"/>
                  </a:rPr>
                  <a:t>可见对偶问题仍然是线性约束的凸二次优化，存在唯一的最优解</a:t>
                </a:r>
                <a14:m>
                  <m:oMath xmlns:m="http://schemas.openxmlformats.org/officeDocument/2006/math">
                    <m:sSup>
                      <m:sSupPr>
                        <m:ctrlPr>
                          <a:rPr lang="en-US" altLang="zh-CN" i="1">
                            <a:latin typeface="Cambria Math" panose="02040503050406030204" charset="0"/>
                            <a:ea typeface="楷体-简" panose="02010600040101010101" charset="-122"/>
                            <a:cs typeface="Cambria Math" panose="02040503050406030204" charset="0"/>
                          </a:rPr>
                        </m:ctrlPr>
                      </m:sSupPr>
                      <m:e>
                        <m:r>
                          <a:rPr lang="en-US" altLang="zh-CN" i="1">
                            <a:latin typeface="Cambria Math" panose="02040503050406030204" charset="0"/>
                            <a:ea typeface="宋体" charset="0"/>
                            <a:cs typeface="Cambria Math" panose="02040503050406030204" charset="0"/>
                          </a:rPr>
                          <m:t>𝛼</m:t>
                        </m:r>
                      </m:e>
                      <m:sup>
                        <m:r>
                          <a:rPr lang="en-US" altLang="zh-CN" i="1">
                            <a:latin typeface="Cambria Math" panose="02040503050406030204" charset="0"/>
                            <a:ea typeface="宋体" charset="0"/>
                            <a:cs typeface="Cambria Math" panose="02040503050406030204" charset="0"/>
                          </a:rPr>
                          <m:t>*</m:t>
                        </m:r>
                      </m:sup>
                    </m:sSup>
                  </m:oMath>
                </a14:m>
                <a:r>
                  <a:rPr lang="zh-CN" altLang="en-US">
                    <a:latin typeface="楷体-简" panose="02010600040101010101" charset="-122"/>
                    <a:ea typeface="楷体-简" panose="02010600040101010101" charset="-122"/>
                  </a:rPr>
                  <a:t>。</a:t>
                </a:r>
                <a:endParaRPr lang="zh-CN" altLang="en-US">
                  <a:latin typeface="楷体-简" panose="02010600040101010101" charset="-122"/>
                  <a:ea typeface="楷体-简" panose="02010600040101010101" charset="-122"/>
                </a:endParaRPr>
              </a:p>
              <a:p>
                <a:r>
                  <a:rPr lang="zh-CN" altLang="en-US">
                    <a:latin typeface="楷体-简" panose="02010600040101010101" charset="-122"/>
                    <a:ea typeface="楷体-简" panose="02010600040101010101" charset="-122"/>
                  </a:rPr>
                  <a:t>根据约束优化问题的KKT（Karush-Kuhn-Tucker）条件，优化最优解时，应满足如下条件：</a:t>
                </a:r>
                <a:endParaRPr lang="zh-CN" altLang="en-US">
                  <a:latin typeface="楷体-简" panose="02010600040101010101" charset="-122"/>
                  <a:ea typeface="楷体-简" panose="02010600040101010101"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2400300" y="4766945"/>
                <a:ext cx="8204835" cy="925830"/>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graphicFrame>
        <p:nvGraphicFramePr>
          <p:cNvPr id="2" name="Picture 90"/>
          <p:cNvGraphicFramePr>
            <a:graphicFrameLocks noChangeAspect="1"/>
          </p:cNvGraphicFramePr>
          <p:nvPr/>
        </p:nvGraphicFramePr>
        <p:xfrm>
          <a:off x="2400300" y="1336040"/>
          <a:ext cx="3924300" cy="609600"/>
        </p:xfrm>
        <a:graphic>
          <a:graphicData uri="http://schemas.openxmlformats.org/presentationml/2006/ole">
            <mc:AlternateContent xmlns:mc="http://schemas.openxmlformats.org/markup-compatibility/2006">
              <mc:Choice xmlns:v="urn:schemas-microsoft-com:vml" Requires="v">
                <p:oleObj spid="_x0000_s3076" name="" r:id="rId2" imgW="2514600" imgH="393700" progId="Equation.DSMT4">
                  <p:embed/>
                </p:oleObj>
              </mc:Choice>
              <mc:Fallback>
                <p:oleObj name="" r:id="rId2" imgW="2514600" imgH="393700" progId="Equation.DSMT4">
                  <p:embed/>
                  <p:pic>
                    <p:nvPicPr>
                      <p:cNvPr id="0" name="图片 3075"/>
                      <p:cNvPicPr/>
                      <p:nvPr/>
                    </p:nvPicPr>
                    <p:blipFill>
                      <a:blip r:embed="rId3"/>
                      <a:stretch>
                        <a:fillRect/>
                      </a:stretch>
                    </p:blipFill>
                    <p:spPr>
                      <a:xfrm>
                        <a:off x="2400300" y="1336040"/>
                        <a:ext cx="3924300" cy="609600"/>
                      </a:xfrm>
                      <a:prstGeom prst="rect">
                        <a:avLst/>
                      </a:prstGeom>
                      <a:noFill/>
                      <a:ln w="38100">
                        <a:noFill/>
                        <a:miter/>
                      </a:ln>
                    </p:spPr>
                  </p:pic>
                </p:oleObj>
              </mc:Fallback>
            </mc:AlternateContent>
          </a:graphicData>
        </a:graphic>
      </p:graphicFrame>
      <p:sp>
        <p:nvSpPr>
          <p:cNvPr id="9" name="文本框 8"/>
          <p:cNvSpPr txBox="1"/>
          <p:nvPr/>
        </p:nvSpPr>
        <p:spPr>
          <a:xfrm>
            <a:off x="8314055" y="1450975"/>
            <a:ext cx="1696720" cy="368300"/>
          </a:xfrm>
          <a:prstGeom prst="rect">
            <a:avLst/>
          </a:prstGeom>
          <a:noFill/>
        </p:spPr>
        <p:txBody>
          <a:bodyPr wrap="square" rtlCol="0">
            <a:spAutoFit/>
          </a:bodyPr>
          <a:p>
            <a:r>
              <a:rPr lang="zh-CN" altLang="en-US"/>
              <a:t>（</a:t>
            </a:r>
            <a:r>
              <a:rPr lang="en-US" altLang="zh-CN"/>
              <a:t>7-12</a:t>
            </a:r>
            <a:r>
              <a:rPr lang="zh-CN" altLang="en-US"/>
              <a:t>）</a:t>
            </a:r>
            <a:endParaRPr lang="zh-CN" altLang="en-US"/>
          </a:p>
        </p:txBody>
      </p:sp>
      <p:graphicFrame>
        <p:nvGraphicFramePr>
          <p:cNvPr id="4" name="Picture 92"/>
          <p:cNvGraphicFramePr>
            <a:graphicFrameLocks noChangeAspect="1"/>
          </p:cNvGraphicFramePr>
          <p:nvPr/>
        </p:nvGraphicFramePr>
        <p:xfrm>
          <a:off x="2478405" y="2632710"/>
          <a:ext cx="3616960" cy="523240"/>
        </p:xfrm>
        <a:graphic>
          <a:graphicData uri="http://schemas.openxmlformats.org/presentationml/2006/ole">
            <mc:AlternateContent xmlns:mc="http://schemas.openxmlformats.org/markup-compatibility/2006">
              <mc:Choice xmlns:v="urn:schemas-microsoft-com:vml" Requires="v">
                <p:oleObj spid="_x0000_s10" name="" r:id="rId4" imgW="2691765" imgH="393700" progId="Equation.DSMT4">
                  <p:embed/>
                </p:oleObj>
              </mc:Choice>
              <mc:Fallback>
                <p:oleObj name="" r:id="rId4" imgW="2691765" imgH="393700" progId="Equation.DSMT4">
                  <p:embed/>
                  <p:pic>
                    <p:nvPicPr>
                      <p:cNvPr id="0" name="图片 9"/>
                      <p:cNvPicPr/>
                      <p:nvPr/>
                    </p:nvPicPr>
                    <p:blipFill>
                      <a:blip r:embed="rId5"/>
                      <a:stretch>
                        <a:fillRect/>
                      </a:stretch>
                    </p:blipFill>
                    <p:spPr>
                      <a:xfrm>
                        <a:off x="2478405" y="2632710"/>
                        <a:ext cx="3616960" cy="523240"/>
                      </a:xfrm>
                      <a:prstGeom prst="rect">
                        <a:avLst/>
                      </a:prstGeom>
                      <a:noFill/>
                      <a:ln w="38100">
                        <a:noFill/>
                        <a:miter/>
                      </a:ln>
                    </p:spPr>
                  </p:pic>
                </p:oleObj>
              </mc:Fallback>
            </mc:AlternateContent>
          </a:graphicData>
        </a:graphic>
      </p:graphicFrame>
      <p:graphicFrame>
        <p:nvGraphicFramePr>
          <p:cNvPr id="6" name="Picture 94"/>
          <p:cNvGraphicFramePr>
            <a:graphicFrameLocks noChangeAspect="1"/>
          </p:cNvGraphicFramePr>
          <p:nvPr/>
        </p:nvGraphicFramePr>
        <p:xfrm>
          <a:off x="3536315" y="3232785"/>
          <a:ext cx="1200785" cy="429260"/>
        </p:xfrm>
        <a:graphic>
          <a:graphicData uri="http://schemas.openxmlformats.org/presentationml/2006/ole">
            <mc:AlternateContent xmlns:mc="http://schemas.openxmlformats.org/markup-compatibility/2006">
              <mc:Choice xmlns:v="urn:schemas-microsoft-com:vml" Requires="v">
                <p:oleObj spid="_x0000_s11" name="" r:id="rId6" imgW="827405" imgH="292735" progId="Equation.DSMT4">
                  <p:embed/>
                </p:oleObj>
              </mc:Choice>
              <mc:Fallback>
                <p:oleObj name="" r:id="rId6" imgW="827405" imgH="292735" progId="Equation.DSMT4">
                  <p:embed/>
                  <p:pic>
                    <p:nvPicPr>
                      <p:cNvPr id="0" name="图片 10"/>
                      <p:cNvPicPr/>
                      <p:nvPr/>
                    </p:nvPicPr>
                    <p:blipFill>
                      <a:blip r:embed="rId7"/>
                      <a:stretch>
                        <a:fillRect/>
                      </a:stretch>
                    </p:blipFill>
                    <p:spPr>
                      <a:xfrm>
                        <a:off x="3536315" y="3232785"/>
                        <a:ext cx="1200785" cy="429260"/>
                      </a:xfrm>
                      <a:prstGeom prst="rect">
                        <a:avLst/>
                      </a:prstGeom>
                      <a:noFill/>
                      <a:ln w="38100">
                        <a:noFill/>
                        <a:miter/>
                      </a:ln>
                    </p:spPr>
                  </p:pic>
                </p:oleObj>
              </mc:Fallback>
            </mc:AlternateContent>
          </a:graphicData>
        </a:graphic>
      </p:graphicFrame>
      <p:graphicFrame>
        <p:nvGraphicFramePr>
          <p:cNvPr id="8" name="Picture 95"/>
          <p:cNvGraphicFramePr>
            <a:graphicFrameLocks noChangeAspect="1"/>
          </p:cNvGraphicFramePr>
          <p:nvPr/>
        </p:nvGraphicFramePr>
        <p:xfrm>
          <a:off x="3536315" y="3858895"/>
          <a:ext cx="2147570" cy="488950"/>
        </p:xfrm>
        <a:graphic>
          <a:graphicData uri="http://schemas.openxmlformats.org/presentationml/2006/ole">
            <mc:AlternateContent xmlns:mc="http://schemas.openxmlformats.org/markup-compatibility/2006">
              <mc:Choice xmlns:v="urn:schemas-microsoft-com:vml" Requires="v">
                <p:oleObj spid="_x0000_s12" name="" r:id="rId8" imgW="1017905" imgH="229235" progId="Equation.DSMT4">
                  <p:embed/>
                </p:oleObj>
              </mc:Choice>
              <mc:Fallback>
                <p:oleObj name="" r:id="rId8" imgW="1017905" imgH="229235" progId="Equation.DSMT4">
                  <p:embed/>
                  <p:pic>
                    <p:nvPicPr>
                      <p:cNvPr id="0" name="图片 11"/>
                      <p:cNvPicPr/>
                      <p:nvPr/>
                    </p:nvPicPr>
                    <p:blipFill>
                      <a:blip r:embed="rId9"/>
                      <a:stretch>
                        <a:fillRect/>
                      </a:stretch>
                    </p:blipFill>
                    <p:spPr>
                      <a:xfrm>
                        <a:off x="3536315" y="3858895"/>
                        <a:ext cx="2147570" cy="488950"/>
                      </a:xfrm>
                      <a:prstGeom prst="rect">
                        <a:avLst/>
                      </a:prstGeom>
                      <a:noFill/>
                      <a:ln w="38100">
                        <a:noFill/>
                        <a:miter/>
                      </a:ln>
                    </p:spPr>
                  </p:pic>
                </p:oleObj>
              </mc:Fallback>
            </mc:AlternateContent>
          </a:graphicData>
        </a:graphic>
      </p:graphicFrame>
      <p:sp>
        <p:nvSpPr>
          <p:cNvPr id="13" name="文本框 12"/>
          <p:cNvSpPr txBox="1"/>
          <p:nvPr/>
        </p:nvSpPr>
        <p:spPr>
          <a:xfrm>
            <a:off x="2478405" y="3293745"/>
            <a:ext cx="902970" cy="368300"/>
          </a:xfrm>
          <a:prstGeom prst="rect">
            <a:avLst/>
          </a:prstGeom>
          <a:noFill/>
        </p:spPr>
        <p:txBody>
          <a:bodyPr wrap="square" rtlCol="0">
            <a:spAutoFit/>
          </a:bodyPr>
          <a:p>
            <a:r>
              <a:rPr lang="en-US" altLang="zh-CN">
                <a:latin typeface="楷体-简" panose="02010600040101010101" charset="-122"/>
                <a:ea typeface="楷体-简" panose="02010600040101010101" charset="-122"/>
              </a:rPr>
              <a:t>s.t</a:t>
            </a:r>
            <a:endParaRPr lang="en-US" altLang="zh-CN">
              <a:latin typeface="楷体-简" panose="02010600040101010101" charset="-122"/>
              <a:ea typeface="楷体-简" panose="02010600040101010101" charset="-122"/>
            </a:endParaRPr>
          </a:p>
        </p:txBody>
      </p:sp>
      <p:sp>
        <p:nvSpPr>
          <p:cNvPr id="14" name="文本框 13"/>
          <p:cNvSpPr txBox="1"/>
          <p:nvPr/>
        </p:nvSpPr>
        <p:spPr>
          <a:xfrm>
            <a:off x="8399780" y="3281045"/>
            <a:ext cx="1488440" cy="368300"/>
          </a:xfrm>
          <a:prstGeom prst="rect">
            <a:avLst/>
          </a:prstGeom>
          <a:noFill/>
        </p:spPr>
        <p:txBody>
          <a:bodyPr wrap="square" rtlCol="0">
            <a:spAutoFit/>
          </a:bodyPr>
          <a:p>
            <a:r>
              <a:rPr lang="zh-CN" altLang="en-US"/>
              <a:t>（</a:t>
            </a:r>
            <a:r>
              <a:rPr lang="en-US" altLang="zh-CN"/>
              <a:t>7-13</a:t>
            </a:r>
            <a:r>
              <a:rPr lang="zh-CN" altLang="en-US"/>
              <a:t>）</a:t>
            </a:r>
            <a:endParaRPr lang="zh-CN" altLang="en-US"/>
          </a:p>
        </p:txBody>
      </p:sp>
      <p:graphicFrame>
        <p:nvGraphicFramePr>
          <p:cNvPr id="15" name="Picture 96"/>
          <p:cNvGraphicFramePr>
            <a:graphicFrameLocks noChangeAspect="1"/>
          </p:cNvGraphicFramePr>
          <p:nvPr/>
        </p:nvGraphicFramePr>
        <p:xfrm>
          <a:off x="3009900" y="5802630"/>
          <a:ext cx="3387725" cy="474980"/>
        </p:xfrm>
        <a:graphic>
          <a:graphicData uri="http://schemas.openxmlformats.org/presentationml/2006/ole">
            <mc:AlternateContent xmlns:mc="http://schemas.openxmlformats.org/markup-compatibility/2006">
              <mc:Choice xmlns:v="urn:schemas-microsoft-com:vml" Requires="v">
                <p:oleObj spid="_x0000_s16" name="" r:id="rId10" imgW="2222500" imgH="304800" progId="Equation.DSMT4">
                  <p:embed/>
                </p:oleObj>
              </mc:Choice>
              <mc:Fallback>
                <p:oleObj name="" r:id="rId10" imgW="2222500" imgH="304800" progId="Equation.DSMT4">
                  <p:embed/>
                  <p:pic>
                    <p:nvPicPr>
                      <p:cNvPr id="0" name="图片 14"/>
                      <p:cNvPicPr/>
                      <p:nvPr/>
                    </p:nvPicPr>
                    <p:blipFill>
                      <a:blip r:embed="rId11"/>
                      <a:stretch>
                        <a:fillRect/>
                      </a:stretch>
                    </p:blipFill>
                    <p:spPr>
                      <a:xfrm>
                        <a:off x="3009900" y="5802630"/>
                        <a:ext cx="3387725" cy="474980"/>
                      </a:xfrm>
                      <a:prstGeom prst="rect">
                        <a:avLst/>
                      </a:prstGeom>
                      <a:noFill/>
                      <a:ln w="38100">
                        <a:noFill/>
                        <a:miter/>
                      </a:ln>
                    </p:spPr>
                  </p:pic>
                </p:oleObj>
              </mc:Fallback>
            </mc:AlternateContent>
          </a:graphicData>
        </a:graphic>
      </p:graphicFrame>
      <p:sp>
        <p:nvSpPr>
          <p:cNvPr id="17" name="文本框 16"/>
          <p:cNvSpPr txBox="1"/>
          <p:nvPr/>
        </p:nvSpPr>
        <p:spPr>
          <a:xfrm>
            <a:off x="8399780" y="5692775"/>
            <a:ext cx="1488440" cy="368300"/>
          </a:xfrm>
          <a:prstGeom prst="rect">
            <a:avLst/>
          </a:prstGeom>
          <a:noFill/>
        </p:spPr>
        <p:txBody>
          <a:bodyPr wrap="square" rtlCol="0">
            <a:spAutoFit/>
          </a:bodyPr>
          <a:p>
            <a:r>
              <a:rPr lang="zh-CN" altLang="en-US"/>
              <a:t>（</a:t>
            </a:r>
            <a:r>
              <a:rPr lang="en-US" altLang="zh-CN"/>
              <a:t>7-14</a:t>
            </a:r>
            <a:r>
              <a:rPr lang="zh-CN" altLang="en-US"/>
              <a:t>）</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193607" y="650875"/>
                <a:ext cx="8915400" cy="3777622"/>
              </a:xfrm>
            </p:spPr>
            <p:txBody>
              <a:bodyPr/>
              <a:p>
                <a:pPr marL="0" indent="0">
                  <a:buNone/>
                </a:pPr>
                <a:r>
                  <a:rPr lang="zh-CN" altLang="en-US">
                    <a:solidFill>
                      <a:schemeClr val="tx1"/>
                    </a:solidFill>
                    <a:latin typeface="楷体-简" panose="02010600040101010101" charset="-122"/>
                    <a:ea typeface="楷体-简" panose="02010600040101010101" charset="-122"/>
                    <a:cs typeface="楷体-简" panose="02010600040101010101" charset="-122"/>
                  </a:rPr>
                  <a:t>由于只有少部分观测样本</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𝑥</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oMath>
                </a14:m>
                <a:r>
                  <a:rPr lang="zh-CN" altLang="en-US">
                    <a:solidFill>
                      <a:schemeClr val="tx1"/>
                    </a:solidFill>
                    <a:latin typeface="楷体-简" panose="02010600040101010101" charset="-122"/>
                    <a:ea typeface="楷体-简" panose="02010600040101010101" charset="-122"/>
                    <a:cs typeface="楷体-简" panose="02010600040101010101" charset="-122"/>
                  </a:rPr>
                  <a:t>满足</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𝑦</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r>
                      <a:rPr lang="en-US" altLang="zh-CN" i="1">
                        <a:solidFill>
                          <a:schemeClr val="tx1"/>
                        </a:solidFill>
                        <a:latin typeface="Cambria Math" panose="02040503050406030204" charset="0"/>
                        <a:ea typeface="宋体" charset="0"/>
                        <a:cs typeface="Cambria Math" panose="02040503050406030204" charset="0"/>
                      </a:rPr>
                      <m:t>(</m:t>
                    </m:r>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𝑤</m:t>
                        </m:r>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m:t>
                    </m:r>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𝑥</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r>
                      <a:rPr lang="en-US" altLang="zh-CN" i="1">
                        <a:solidFill>
                          <a:schemeClr val="tx1"/>
                        </a:solidFill>
                        <a:latin typeface="Cambria Math" panose="02040503050406030204" charset="0"/>
                        <a:ea typeface="宋体" charset="0"/>
                        <a:cs typeface="Cambria Math" panose="02040503050406030204" charset="0"/>
                      </a:rPr>
                      <m:t>+</m:t>
                    </m:r>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𝑏</m:t>
                        </m:r>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m:t>
                    </m:r>
                    <m:r>
                      <a:rPr lang="en-US" altLang="zh-CN" i="1">
                        <a:solidFill>
                          <a:schemeClr val="tx1"/>
                        </a:solidFill>
                        <a:latin typeface="Cambria Math" panose="02040503050406030204" charset="0"/>
                        <a:ea typeface="宋体" charset="0"/>
                        <a:cs typeface="Cambria Math" panose="02040503050406030204" charset="0"/>
                      </a:rPr>
                      <m:t>1</m:t>
                    </m:r>
                  </m:oMath>
                </a14:m>
                <a:r>
                  <a:rPr lang="zh-CN" altLang="en-US">
                    <a:solidFill>
                      <a:schemeClr val="tx1"/>
                    </a:solidFill>
                    <a:latin typeface="楷体-简" panose="02010600040101010101" charset="-122"/>
                    <a:ea typeface="楷体-简" panose="02010600040101010101" charset="-122"/>
                    <a:cs typeface="楷体-简" panose="02010600040101010101" charset="-122"/>
                  </a:rPr>
                  <a:t>,它们对应的Lagrange乘子</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宋体" charset="0"/>
                                <a:cs typeface="Cambria Math" panose="02040503050406030204" charset="0"/>
                              </a:rPr>
                              <m:t>𝛼</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&gt;</m:t>
                    </m:r>
                    <m:r>
                      <a:rPr lang="en-US" altLang="zh-CN" i="1">
                        <a:solidFill>
                          <a:schemeClr val="tx1"/>
                        </a:solidFill>
                        <a:latin typeface="Cambria Math" panose="02040503050406030204" charset="0"/>
                        <a:ea typeface="宋体" charset="0"/>
                        <a:cs typeface="Cambria Math" panose="02040503050406030204" charset="0"/>
                      </a:rPr>
                      <m:t>0</m:t>
                    </m:r>
                  </m:oMath>
                </a14:m>
                <a:r>
                  <a:rPr lang="zh-CN" altLang="en-US">
                    <a:solidFill>
                      <a:schemeClr val="tx1"/>
                    </a:solidFill>
                    <a:latin typeface="楷体-简" panose="02010600040101010101" charset="-122"/>
                    <a:ea typeface="楷体-简" panose="02010600040101010101" charset="-122"/>
                    <a:cs typeface="楷体-简" panose="02010600040101010101" charset="-122"/>
                  </a:rPr>
                  <a:t>,而剩余的样本满足</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𝑎</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m:t>
                    </m:r>
                    <m:r>
                      <a:rPr lang="en-US" altLang="zh-CN" i="1">
                        <a:solidFill>
                          <a:schemeClr val="tx1"/>
                        </a:solidFill>
                        <a:latin typeface="Cambria Math" panose="02040503050406030204" charset="0"/>
                        <a:ea typeface="宋体" charset="0"/>
                        <a:cs typeface="Cambria Math" panose="02040503050406030204" charset="0"/>
                      </a:rPr>
                      <m:t>0</m:t>
                    </m:r>
                  </m:oMath>
                </a14:m>
                <a:r>
                  <a:rPr lang="zh-CN" altLang="en-US">
                    <a:solidFill>
                      <a:schemeClr val="tx1"/>
                    </a:solidFill>
                    <a:latin typeface="楷体-简" panose="02010600040101010101" charset="-122"/>
                    <a:ea typeface="楷体-简" panose="02010600040101010101" charset="-122"/>
                    <a:cs typeface="楷体-简" panose="02010600040101010101" charset="-122"/>
                  </a:rPr>
                  <a:t>。我们称解</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𝑎</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e>
                      <m:sup>
                        <m:r>
                          <a:rPr lang="en-US" altLang="zh-CN" i="1">
                            <a:solidFill>
                              <a:schemeClr val="tx1"/>
                            </a:solidFill>
                            <a:latin typeface="Cambria Math" panose="02040503050406030204" charset="0"/>
                            <a:ea typeface="宋体" charset="0"/>
                            <a:cs typeface="Cambria Math" panose="02040503050406030204" charset="0"/>
                          </a:rPr>
                          <m:t>*</m:t>
                        </m:r>
                      </m:sup>
                    </m:sSup>
                  </m:oMath>
                </a14:m>
                <a:r>
                  <a:rPr lang="zh-CN" altLang="en-US">
                    <a:solidFill>
                      <a:schemeClr val="tx1"/>
                    </a:solidFill>
                    <a:latin typeface="楷体-简" panose="02010600040101010101" charset="-122"/>
                    <a:ea typeface="楷体-简" panose="02010600040101010101" charset="-122"/>
                    <a:cs typeface="楷体-简" panose="02010600040101010101" charset="-122"/>
                  </a:rPr>
                  <a:t>的这种性质为“稀疏性”。</a:t>
                </a:r>
                <a:endParaRPr lang="zh-CN" altLang="en-US">
                  <a:solidFill>
                    <a:schemeClr val="tx1"/>
                  </a:solidFill>
                  <a:latin typeface="楷体-简" panose="02010600040101010101" charset="-122"/>
                  <a:ea typeface="楷体-简" panose="02010600040101010101" charset="-122"/>
                  <a:cs typeface="楷体-简" panose="02010600040101010101" charset="-122"/>
                </a:endParaRPr>
              </a:p>
              <a:p>
                <a:pPr marL="0" indent="0">
                  <a:buNone/>
                </a:pPr>
                <a:r>
                  <a:rPr lang="zh-CN" altLang="en-US">
                    <a:solidFill>
                      <a:schemeClr val="tx1"/>
                    </a:solidFill>
                    <a:latin typeface="楷体-简" panose="02010600040101010101" charset="-122"/>
                    <a:ea typeface="楷体-简" panose="02010600040101010101" charset="-122"/>
                    <a:cs typeface="楷体-简" panose="02010600040101010101" charset="-122"/>
                  </a:rPr>
                  <a:t>通常我们把</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宋体" charset="0"/>
                                <a:cs typeface="Cambria Math" panose="02040503050406030204" charset="0"/>
                              </a:rPr>
                              <m:t>𝛼</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&gt;</m:t>
                    </m:r>
                    <m:r>
                      <a:rPr lang="en-US" altLang="zh-CN" i="1">
                        <a:solidFill>
                          <a:schemeClr val="tx1"/>
                        </a:solidFill>
                        <a:latin typeface="Cambria Math" panose="02040503050406030204" charset="0"/>
                        <a:ea typeface="宋体" charset="0"/>
                        <a:cs typeface="Cambria Math" panose="02040503050406030204" charset="0"/>
                      </a:rPr>
                      <m:t>0</m:t>
                    </m:r>
                  </m:oMath>
                </a14:m>
                <a:r>
                  <a:rPr lang="zh-CN" altLang="en-US">
                    <a:solidFill>
                      <a:schemeClr val="tx1"/>
                    </a:solidFill>
                    <a:latin typeface="楷体-简" panose="02010600040101010101" charset="-122"/>
                    <a:ea typeface="楷体-简" panose="02010600040101010101" charset="-122"/>
                    <a:cs typeface="楷体-简" panose="02010600040101010101" charset="-122"/>
                  </a:rPr>
                  <a:t>的观测样本称为支持向量（Support Vector）,它们位于间隔边界</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𝐻</m:t>
                        </m:r>
                      </m:e>
                      <m:sub>
                        <m:r>
                          <a:rPr lang="en-US" altLang="zh-CN" i="1">
                            <a:solidFill>
                              <a:schemeClr val="tx1"/>
                            </a:solidFill>
                            <a:latin typeface="Cambria Math" panose="02040503050406030204" charset="0"/>
                            <a:ea typeface="宋体" charset="0"/>
                            <a:cs typeface="Cambria Math" panose="02040503050406030204" charset="0"/>
                          </a:rPr>
                          <m:t>1</m:t>
                        </m:r>
                      </m:sub>
                    </m:sSub>
                  </m:oMath>
                </a14:m>
                <a:r>
                  <a:rPr lang="zh-CN" altLang="en-US">
                    <a:solidFill>
                      <a:schemeClr val="tx1"/>
                    </a:solidFill>
                    <a:latin typeface="楷体-简" panose="02010600040101010101" charset="-122"/>
                    <a:ea typeface="楷体-简" panose="02010600040101010101" charset="-122"/>
                    <a:cs typeface="楷体-简" panose="02010600040101010101" charset="-122"/>
                  </a:rPr>
                  <a:t>或</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𝐻</m:t>
                        </m:r>
                      </m:e>
                      <m:sub>
                        <m:r>
                          <a:rPr lang="en-US" altLang="zh-CN" i="1">
                            <a:solidFill>
                              <a:schemeClr val="tx1"/>
                            </a:solidFill>
                            <a:latin typeface="Cambria Math" panose="02040503050406030204" charset="0"/>
                            <a:ea typeface="宋体" charset="0"/>
                            <a:cs typeface="Cambria Math" panose="02040503050406030204" charset="0"/>
                          </a:rPr>
                          <m:t>2</m:t>
                        </m:r>
                      </m:sub>
                    </m:sSub>
                  </m:oMath>
                </a14:m>
                <a:r>
                  <a:rPr lang="zh-CN" altLang="en-US">
                    <a:solidFill>
                      <a:schemeClr val="tx1"/>
                    </a:solidFill>
                    <a:latin typeface="楷体-简" panose="02010600040101010101" charset="-122"/>
                    <a:ea typeface="楷体-简" panose="02010600040101010101" charset="-122"/>
                    <a:cs typeface="楷体-简" panose="02010600040101010101" charset="-122"/>
                  </a:rPr>
                  <a:t>上。结合公式</a:t>
                </a:r>
                <a:r>
                  <a:rPr lang="en-US" altLang="zh-CN">
                    <a:solidFill>
                      <a:schemeClr val="tx1"/>
                    </a:solidFill>
                    <a:latin typeface="楷体-简" panose="02010600040101010101" charset="-122"/>
                    <a:ea typeface="楷体-简" panose="02010600040101010101" charset="-122"/>
                    <a:cs typeface="楷体-简" panose="02010600040101010101" charset="-122"/>
                  </a:rPr>
                  <a:t>(7-11)</a:t>
                </a:r>
                <a:r>
                  <a:rPr lang="zh-CN" altLang="en-US">
                    <a:solidFill>
                      <a:schemeClr val="tx1"/>
                    </a:solidFill>
                    <a:latin typeface="楷体-简" panose="02010600040101010101" charset="-122"/>
                    <a:ea typeface="楷体-简" panose="02010600040101010101" charset="-122"/>
                    <a:cs typeface="楷体-简" panose="02010600040101010101" charset="-122"/>
                  </a:rPr>
                  <a:t>和公式</a:t>
                </a:r>
                <a:r>
                  <a:rPr lang="en-US" altLang="zh-CN">
                    <a:solidFill>
                      <a:schemeClr val="tx1"/>
                    </a:solidFill>
                    <a:latin typeface="楷体-简" panose="02010600040101010101" charset="-122"/>
                    <a:ea typeface="楷体-简" panose="02010600040101010101" charset="-122"/>
                    <a:cs typeface="楷体-简" panose="02010600040101010101" charset="-122"/>
                  </a:rPr>
                  <a:t>(7-14)</a:t>
                </a:r>
                <a:r>
                  <a:rPr lang="zh-CN" altLang="en-US">
                    <a:solidFill>
                      <a:schemeClr val="tx1"/>
                    </a:solidFill>
                    <a:latin typeface="楷体-简" panose="02010600040101010101" charset="-122"/>
                    <a:ea typeface="楷体-简" panose="02010600040101010101" charset="-122"/>
                    <a:cs typeface="楷体-简" panose="02010600040101010101" charset="-122"/>
                  </a:rPr>
                  <a:t>可知，</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𝑤</m:t>
                        </m:r>
                      </m:e>
                      <m:sup>
                        <m:r>
                          <a:rPr lang="en-US" altLang="zh-CN" i="1">
                            <a:solidFill>
                              <a:schemeClr val="tx1"/>
                            </a:solidFill>
                            <a:latin typeface="Cambria Math" panose="02040503050406030204" charset="0"/>
                            <a:ea typeface="宋体" charset="0"/>
                            <a:cs typeface="Cambria Math" panose="02040503050406030204" charset="0"/>
                          </a:rPr>
                          <m:t>*</m:t>
                        </m:r>
                      </m:sup>
                    </m:sSup>
                  </m:oMath>
                </a14:m>
                <a:r>
                  <a:rPr lang="zh-CN" altLang="en-US">
                    <a:solidFill>
                      <a:schemeClr val="tx1"/>
                    </a:solidFill>
                    <a:latin typeface="楷体-简" panose="02010600040101010101" charset="-122"/>
                    <a:ea typeface="楷体-简" panose="02010600040101010101" charset="-122"/>
                    <a:cs typeface="楷体-简" panose="02010600040101010101" charset="-122"/>
                  </a:rPr>
                  <a:t>和</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𝑏</m:t>
                        </m:r>
                      </m:e>
                      <m:sup>
                        <m:r>
                          <a:rPr lang="en-US" altLang="zh-CN" i="1">
                            <a:solidFill>
                              <a:schemeClr val="tx1"/>
                            </a:solidFill>
                            <a:latin typeface="Cambria Math" panose="02040503050406030204" charset="0"/>
                            <a:ea typeface="宋体" charset="0"/>
                            <a:cs typeface="Cambria Math" panose="02040503050406030204" charset="0"/>
                          </a:rPr>
                          <m:t>*</m:t>
                        </m:r>
                      </m:sup>
                    </m:sSup>
                  </m:oMath>
                </a14:m>
                <a:r>
                  <a:rPr lang="zh-CN" altLang="en-US">
                    <a:solidFill>
                      <a:schemeClr val="tx1"/>
                    </a:solidFill>
                    <a:latin typeface="楷体-简" panose="02010600040101010101" charset="-122"/>
                    <a:ea typeface="楷体-简" panose="02010600040101010101" charset="-122"/>
                    <a:cs typeface="楷体-简" panose="02010600040101010101" charset="-122"/>
                  </a:rPr>
                  <a:t>均由支持向量决定。因此，最大间隔超平面</a:t>
                </a:r>
                <a14:m>
                  <m:oMath xmlns:m="http://schemas.openxmlformats.org/officeDocument/2006/math">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𝑤</m:t>
                        </m:r>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m:t>
                    </m:r>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𝑥</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r>
                      <a:rPr lang="en-US" altLang="zh-CN" i="1">
                        <a:solidFill>
                          <a:schemeClr val="tx1"/>
                        </a:solidFill>
                        <a:latin typeface="Cambria Math" panose="02040503050406030204" charset="0"/>
                        <a:ea typeface="宋体" charset="0"/>
                        <a:cs typeface="Cambria Math" panose="02040503050406030204" charset="0"/>
                      </a:rPr>
                      <m:t>+</m:t>
                    </m:r>
                    <m:sSup>
                      <m:sSup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pPr>
                      <m:e>
                        <m:r>
                          <a:rPr lang="en-US" altLang="zh-CN" i="1">
                            <a:solidFill>
                              <a:schemeClr val="tx1"/>
                            </a:solidFill>
                            <a:latin typeface="Cambria Math" panose="02040503050406030204" charset="0"/>
                            <a:ea typeface="楷体-简" panose="02010600040101010101" charset="-122"/>
                            <a:cs typeface="Cambria Math" panose="02040503050406030204" charset="0"/>
                          </a:rPr>
                          <m:t>𝑏</m:t>
                        </m:r>
                      </m:e>
                      <m:sup>
                        <m:r>
                          <a:rPr lang="en-US" altLang="zh-CN" i="1">
                            <a:solidFill>
                              <a:schemeClr val="tx1"/>
                            </a:solidFill>
                            <a:latin typeface="Cambria Math" panose="02040503050406030204" charset="0"/>
                            <a:ea typeface="宋体" charset="0"/>
                            <a:cs typeface="Cambria Math" panose="02040503050406030204" charset="0"/>
                          </a:rPr>
                          <m:t>*</m:t>
                        </m:r>
                      </m:sup>
                    </m:sSup>
                    <m:r>
                      <a:rPr lang="en-US" altLang="zh-CN" i="1">
                        <a:solidFill>
                          <a:schemeClr val="tx1"/>
                        </a:solidFill>
                        <a:latin typeface="Cambria Math" panose="02040503050406030204" charset="0"/>
                        <a:ea typeface="宋体" charset="0"/>
                        <a:cs typeface="Cambria Math" panose="02040503050406030204" charset="0"/>
                      </a:rPr>
                      <m:t>=</m:t>
                    </m:r>
                    <m:r>
                      <a:rPr lang="en-US" altLang="zh-CN" i="1">
                        <a:solidFill>
                          <a:schemeClr val="tx1"/>
                        </a:solidFill>
                        <a:latin typeface="Cambria Math" panose="02040503050406030204" charset="0"/>
                        <a:ea typeface="宋体" charset="0"/>
                        <a:cs typeface="Cambria Math" panose="02040503050406030204" charset="0"/>
                      </a:rPr>
                      <m:t>0</m:t>
                    </m:r>
                  </m:oMath>
                </a14:m>
                <a:r>
                  <a:rPr lang="zh-CN" altLang="en-US">
                    <a:solidFill>
                      <a:schemeClr val="tx1"/>
                    </a:solidFill>
                    <a:latin typeface="楷体-简" panose="02010600040101010101" charset="-122"/>
                    <a:ea typeface="楷体-简" panose="02010600040101010101" charset="-122"/>
                    <a:cs typeface="楷体-简" panose="02010600040101010101" charset="-122"/>
                  </a:rPr>
                  <a:t>完全由支持向量决定，而与剩余的观测样本无关。</a:t>
                </a:r>
                <a:endParaRPr lang="zh-CN" altLang="en-US">
                  <a:solidFill>
                    <a:schemeClr val="tx1"/>
                  </a:solidFill>
                  <a:latin typeface="楷体-简" panose="02010600040101010101" charset="-122"/>
                  <a:ea typeface="楷体-简" panose="02010600040101010101" charset="-122"/>
                  <a:cs typeface="楷体-简" panose="02010600040101010101" charset="-122"/>
                </a:endParaRPr>
              </a:p>
              <a:p>
                <a:pPr marL="0" indent="0">
                  <a:buNone/>
                </a:pPr>
                <a:r>
                  <a:rPr lang="zh-CN" altLang="en-US">
                    <a:solidFill>
                      <a:schemeClr val="tx1"/>
                    </a:solidFill>
                    <a:latin typeface="楷体-简" panose="02010600040101010101" charset="-122"/>
                    <a:ea typeface="楷体-简" panose="02010600040101010101" charset="-122"/>
                    <a:cs typeface="楷体-简" panose="02010600040101010101" charset="-122"/>
                  </a:rPr>
                  <a:t>这时就可以得到如下的最优决策函数或者分类器：</a:t>
                </a:r>
                <a:endParaRPr lang="zh-CN" altLang="en-US">
                  <a:solidFill>
                    <a:schemeClr val="tx1"/>
                  </a:solidFill>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66900" y="675640"/>
                <a:ext cx="9607550" cy="4070985"/>
              </a:xfrm>
              <a:blipFill rotWithShape="1">
                <a:blip r:embed="rId1"/>
                <a:stretch>
                  <a:fillRect l="-4" t="-17" r="4"/>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232660" y="3547745"/>
                <a:ext cx="8876030" cy="119888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 Vapnik把上式称为“线性硬间隔支持向量机”，当样本线性不可分时，由于不存在使得分类间隔</a:t>
                </a:r>
                <a14:m>
                  <m:oMath xmlns:m="http://schemas.openxmlformats.org/officeDocument/2006/math">
                    <m:r>
                      <a:rPr lang="en-US" altLang="zh-CN" i="1">
                        <a:latin typeface="Cambria Math" panose="02040503050406030204" charset="0"/>
                        <a:ea typeface="宋体" charset="0"/>
                        <a:cs typeface="Cambria Math" panose="02040503050406030204" charset="0"/>
                      </a:rPr>
                      <m:t>∆</m:t>
                    </m:r>
                  </m:oMath>
                </a14:m>
                <a:r>
                  <a:rPr lang="zh-CN" altLang="en-US">
                    <a:latin typeface="Cambria Math" panose="02040503050406030204" charset="0"/>
                    <a:ea typeface="楷体-简" panose="02010600040101010101" charset="-122"/>
                    <a:cs typeface="Cambria Math" panose="02040503050406030204" charset="0"/>
                  </a:rPr>
                  <a:t>取</a:t>
                </a:r>
                <a:r>
                  <a:rPr lang="zh-CN" altLang="en-US">
                    <a:latin typeface="楷体-简" panose="02010600040101010101" charset="-122"/>
                    <a:ea typeface="楷体-简" panose="02010600040101010101" charset="-122"/>
                    <a:cs typeface="楷体-简" panose="02010600040101010101" charset="-122"/>
                  </a:rPr>
                  <a:t>正值的超平面，严格要求所有样本被正确分类的“硬间隔”方法是行不通的。换句话说，必须适当松弛公式（</a:t>
                </a:r>
                <a:r>
                  <a:rPr lang="en-US" altLang="zh-CN">
                    <a:latin typeface="楷体-简" panose="02010600040101010101" charset="-122"/>
                    <a:ea typeface="楷体-简" panose="02010600040101010101" charset="-122"/>
                    <a:cs typeface="楷体-简" panose="02010600040101010101" charset="-122"/>
                  </a:rPr>
                  <a:t>7-6</a:t>
                </a:r>
                <a:r>
                  <a:rPr lang="zh-CN" altLang="en-US">
                    <a:latin typeface="楷体-简" panose="02010600040101010101" charset="-122"/>
                    <a:ea typeface="楷体-简" panose="02010600040101010101" charset="-122"/>
                    <a:cs typeface="楷体-简" panose="02010600040101010101" charset="-122"/>
                  </a:rPr>
                  <a:t>）和（</a:t>
                </a:r>
                <a:r>
                  <a:rPr lang="en-US" altLang="zh-CN">
                    <a:latin typeface="楷体-简" panose="02010600040101010101" charset="-122"/>
                    <a:ea typeface="楷体-简" panose="02010600040101010101" charset="-122"/>
                    <a:cs typeface="楷体-简" panose="02010600040101010101" charset="-122"/>
                  </a:rPr>
                  <a:t>7-7</a:t>
                </a:r>
                <a:r>
                  <a:rPr lang="zh-CN" altLang="en-US">
                    <a:latin typeface="楷体-简" panose="02010600040101010101" charset="-122"/>
                    <a:ea typeface="楷体-简" panose="02010600040101010101" charset="-122"/>
                    <a:cs typeface="楷体-简" panose="02010600040101010101" charset="-122"/>
                  </a:rPr>
                  <a:t>）中的约束条件。通过引入松弛变量</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宋体" charset="0"/>
                            <a:cs typeface="Cambria Math" panose="02040503050406030204" charset="0"/>
                          </a:rPr>
                          <m:t>𝜉</m:t>
                        </m:r>
                      </m:e>
                      <m:sub>
                        <m:r>
                          <a:rPr lang="en-US" altLang="zh-CN" i="1">
                            <a:latin typeface="Cambria Math" panose="02040503050406030204" charset="0"/>
                            <a:ea typeface="楷体-简" panose="02010600040101010101" charset="-122"/>
                            <a:cs typeface="Cambria Math" panose="02040503050406030204" charset="0"/>
                          </a:rPr>
                          <m:t>i</m:t>
                        </m:r>
                      </m:sub>
                    </m:sSub>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0</m:t>
                    </m:r>
                  </m:oMath>
                </a14:m>
                <a:r>
                  <a:rPr lang="zh-CN" altLang="en-US">
                    <a:latin typeface="楷体-简" panose="02010600040101010101" charset="-122"/>
                    <a:ea typeface="楷体-简" panose="02010600040101010101" charset="-122"/>
                    <a:cs typeface="楷体-简" panose="02010600040101010101" charset="-122"/>
                  </a:rPr>
                  <a:t>,</a:t>
                </a:r>
                <a:r>
                  <a:rPr lang="en-US" altLang="zh-CN">
                    <a:latin typeface="楷体-简" panose="02010600040101010101" charset="-122"/>
                    <a:ea typeface="楷体-简" panose="02010600040101010101" charset="-122"/>
                    <a:cs typeface="楷体-简" panose="02010600040101010101" charset="-122"/>
                  </a:rPr>
                  <a:t>i,···,n</a:t>
                </a:r>
                <a:r>
                  <a:rPr lang="zh-CN" altLang="en-US">
                    <a:latin typeface="楷体-简" panose="02010600040101010101" charset="-122"/>
                    <a:ea typeface="楷体-简" panose="02010600040101010101" charset="-122"/>
                    <a:cs typeface="楷体-简" panose="02010600040101010101" charset="-122"/>
                  </a:rPr>
                  <a:t>,可以得到“软化”的新约束条件：</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610360" y="3683635"/>
                <a:ext cx="10121265" cy="1367155"/>
              </a:xfrm>
              <a:prstGeom prst="rect">
                <a:avLst/>
              </a:prstGeom>
              <a:blipFill rotWithShape="1">
                <a:blip r:embed="rId2"/>
                <a:stretch>
                  <a:fillRect/>
                </a:stretch>
              </a:blipFill>
            </p:spPr>
            <p:txBody>
              <a:bodyPr/>
              <a:lstStyle/>
              <a:p>
                <a:r>
                  <a:rPr lang="zh-CN" altLang="en-US">
                    <a:noFill/>
                  </a:rPr>
                  <a:t> </a:t>
                </a:r>
                <a:endParaRPr lang="zh-CN" altLang="en-US">
                  <a:noFill/>
                </a:endParaRPr>
              </a:p>
            </p:txBody>
          </p:sp>
        </mc:Fallback>
      </mc:AlternateContent>
      <p:graphicFrame>
        <p:nvGraphicFramePr>
          <p:cNvPr id="2" name="Picture 100"/>
          <p:cNvGraphicFramePr>
            <a:graphicFrameLocks noChangeAspect="1"/>
          </p:cNvGraphicFramePr>
          <p:nvPr/>
        </p:nvGraphicFramePr>
        <p:xfrm>
          <a:off x="2402840" y="2879090"/>
          <a:ext cx="6645275" cy="669290"/>
        </p:xfrm>
        <a:graphic>
          <a:graphicData uri="http://schemas.openxmlformats.org/presentationml/2006/ole">
            <mc:AlternateContent xmlns:mc="http://schemas.openxmlformats.org/markup-compatibility/2006">
              <mc:Choice xmlns:v="urn:schemas-microsoft-com:vml" Requires="v">
                <p:oleObj spid="_x0000_s3076" name="" r:id="rId3" imgW="3175000" imgH="330200" progId="Equation.DSMT4">
                  <p:embed/>
                </p:oleObj>
              </mc:Choice>
              <mc:Fallback>
                <p:oleObj name="" r:id="rId3" imgW="3175000" imgH="330200" progId="Equation.DSMT4">
                  <p:embed/>
                  <p:pic>
                    <p:nvPicPr>
                      <p:cNvPr id="0" name="图片 3075"/>
                      <p:cNvPicPr/>
                      <p:nvPr/>
                    </p:nvPicPr>
                    <p:blipFill>
                      <a:blip r:embed="rId4"/>
                      <a:stretch>
                        <a:fillRect/>
                      </a:stretch>
                    </p:blipFill>
                    <p:spPr>
                      <a:xfrm>
                        <a:off x="2402840" y="2879090"/>
                        <a:ext cx="6645275" cy="669290"/>
                      </a:xfrm>
                      <a:prstGeom prst="rect">
                        <a:avLst/>
                      </a:prstGeom>
                      <a:noFill/>
                      <a:ln w="38100">
                        <a:noFill/>
                        <a:miter/>
                      </a:ln>
                    </p:spPr>
                  </p:pic>
                </p:oleObj>
              </mc:Fallback>
            </mc:AlternateContent>
          </a:graphicData>
        </a:graphic>
      </p:graphicFrame>
      <p:sp>
        <p:nvSpPr>
          <p:cNvPr id="7" name="文本框 6"/>
          <p:cNvSpPr txBox="1"/>
          <p:nvPr/>
        </p:nvSpPr>
        <p:spPr>
          <a:xfrm>
            <a:off x="9450070" y="2879090"/>
            <a:ext cx="1658620" cy="368300"/>
          </a:xfrm>
          <a:prstGeom prst="rect">
            <a:avLst/>
          </a:prstGeom>
          <a:noFill/>
        </p:spPr>
        <p:txBody>
          <a:bodyPr wrap="square" rtlCol="0">
            <a:spAutoFit/>
          </a:bodyPr>
          <a:p>
            <a:r>
              <a:rPr lang="zh-CN" altLang="en-US"/>
              <a:t>（</a:t>
            </a:r>
            <a:r>
              <a:rPr lang="en-US" altLang="zh-CN"/>
              <a:t>7-15</a:t>
            </a:r>
            <a:r>
              <a:rPr lang="zh-CN" altLang="en-US"/>
              <a:t>）</a:t>
            </a:r>
            <a:endParaRPr lang="zh-CN" altLang="en-US"/>
          </a:p>
        </p:txBody>
      </p:sp>
      <p:graphicFrame>
        <p:nvGraphicFramePr>
          <p:cNvPr id="4" name="Picture 107"/>
          <p:cNvGraphicFramePr>
            <a:graphicFrameLocks noChangeAspect="1"/>
          </p:cNvGraphicFramePr>
          <p:nvPr/>
        </p:nvGraphicFramePr>
        <p:xfrm>
          <a:off x="2546985" y="5243830"/>
          <a:ext cx="2787650" cy="583565"/>
        </p:xfrm>
        <a:graphic>
          <a:graphicData uri="http://schemas.openxmlformats.org/presentationml/2006/ole">
            <mc:AlternateContent xmlns:mc="http://schemas.openxmlformats.org/markup-compatibility/2006">
              <mc:Choice xmlns:v="urn:schemas-microsoft-com:vml" Requires="v">
                <p:oleObj spid="_x0000_s8" name="" r:id="rId5" imgW="1233805" imgH="254000" progId="Equation.DSMT4">
                  <p:embed/>
                </p:oleObj>
              </mc:Choice>
              <mc:Fallback>
                <p:oleObj name="" r:id="rId5" imgW="1233805" imgH="254000" progId="Equation.DSMT4">
                  <p:embed/>
                  <p:pic>
                    <p:nvPicPr>
                      <p:cNvPr id="0" name="图片 7"/>
                      <p:cNvPicPr/>
                      <p:nvPr/>
                    </p:nvPicPr>
                    <p:blipFill>
                      <a:blip r:embed="rId6"/>
                      <a:stretch>
                        <a:fillRect/>
                      </a:stretch>
                    </p:blipFill>
                    <p:spPr>
                      <a:xfrm>
                        <a:off x="2546985" y="5243830"/>
                        <a:ext cx="2787650" cy="583565"/>
                      </a:xfrm>
                      <a:prstGeom prst="rect">
                        <a:avLst/>
                      </a:prstGeom>
                      <a:noFill/>
                      <a:ln w="38100">
                        <a:noFill/>
                        <a:miter/>
                      </a:ln>
                    </p:spPr>
                  </p:pic>
                </p:oleObj>
              </mc:Fallback>
            </mc:AlternateContent>
          </a:graphicData>
        </a:graphic>
      </p:graphicFrame>
      <p:sp>
        <p:nvSpPr>
          <p:cNvPr id="9" name="文本框 8"/>
          <p:cNvSpPr txBox="1"/>
          <p:nvPr/>
        </p:nvSpPr>
        <p:spPr>
          <a:xfrm>
            <a:off x="7102475" y="5316855"/>
            <a:ext cx="1330325" cy="368300"/>
          </a:xfrm>
          <a:prstGeom prst="rect">
            <a:avLst/>
          </a:prstGeom>
          <a:noFill/>
        </p:spPr>
        <p:txBody>
          <a:bodyPr wrap="square" rtlCol="0">
            <a:spAutoFit/>
          </a:bodyPr>
          <a:p>
            <a:r>
              <a:rPr lang="zh-CN" altLang="en-US"/>
              <a:t>（</a:t>
            </a:r>
            <a:r>
              <a:rPr lang="en-US" altLang="zh-CN"/>
              <a:t>7-16</a:t>
            </a:r>
            <a:r>
              <a:rPr lang="zh-CN" altLang="en-US"/>
              <a:t>）</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911350" y="436880"/>
                <a:ext cx="9294495" cy="466725"/>
              </a:xfrm>
            </p:spPr>
            <p:txBody>
              <a:bodyPr>
                <a:noAutofit/>
              </a:bodyPr>
              <a:p>
                <a:pPr marL="0" indent="0">
                  <a:buNone/>
                </a:pPr>
                <a:r>
                  <a:rPr lang="zh-CN" altLang="en-US">
                    <a:solidFill>
                      <a:schemeClr val="tx1"/>
                    </a:solidFill>
                    <a:latin typeface="楷体-简" panose="02010600040101010101" charset="-122"/>
                    <a:ea typeface="楷体-简" panose="02010600040101010101" charset="-122"/>
                    <a:cs typeface="楷体-简" panose="02010600040101010101" charset="-122"/>
                  </a:rPr>
                  <a:t>显然当</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宋体" charset="0"/>
                            <a:cs typeface="Cambria Math" panose="02040503050406030204" charset="0"/>
                          </a:rPr>
                          <m:t>𝜉</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oMath>
                </a14:m>
                <a:r>
                  <a:rPr lang="zh-CN" altLang="en-US">
                    <a:solidFill>
                      <a:schemeClr val="tx1"/>
                    </a:solidFill>
                    <a:latin typeface="楷体-简" panose="02010600040101010101" charset="-122"/>
                    <a:ea typeface="楷体-简" panose="02010600040101010101" charset="-122"/>
                    <a:cs typeface="楷体-简" panose="02010600040101010101" charset="-122"/>
                  </a:rPr>
                  <a:t>充分大时，样本</a:t>
                </a:r>
                <a:r>
                  <a:rPr lang="en-US" altLang="zh-CN">
                    <a:solidFill>
                      <a:schemeClr val="tx1"/>
                    </a:solidFill>
                    <a:latin typeface="楷体-简" panose="02010600040101010101" charset="-122"/>
                    <a:ea typeface="楷体-简" panose="02010600040101010101" charset="-122"/>
                    <a:cs typeface="楷体-简" panose="02010600040101010101" charset="-122"/>
                  </a:rPr>
                  <a:t>(</a:t>
                </a:r>
                <a14:m>
                  <m:oMath xmlns:m="http://schemas.openxmlformats.org/officeDocument/2006/math">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𝑥</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r>
                      <a:rPr lang="en-US" altLang="zh-CN" i="1">
                        <a:solidFill>
                          <a:schemeClr val="tx1"/>
                        </a:solidFill>
                        <a:latin typeface="Cambria Math" panose="02040503050406030204" charset="0"/>
                        <a:ea typeface="宋体" charset="0"/>
                        <a:cs typeface="Cambria Math" panose="02040503050406030204" charset="0"/>
                      </a:rPr>
                      <m:t>,</m:t>
                    </m:r>
                    <m:sSub>
                      <m:sSubPr>
                        <m:ctrlPr>
                          <a:rPr lang="en-US" altLang="zh-CN" i="1">
                            <a:solidFill>
                              <a:schemeClr val="tx1"/>
                            </a:solidFill>
                            <a:latin typeface="Cambria Math" panose="02040503050406030204" charset="0"/>
                            <a:ea typeface="楷体-简" panose="02010600040101010101" charset="-122"/>
                            <a:cs typeface="Cambria Math" panose="02040503050406030204" charset="0"/>
                          </a:rPr>
                        </m:ctrlPr>
                      </m:sSubPr>
                      <m:e>
                        <m:r>
                          <a:rPr lang="en-US" altLang="zh-CN" i="1">
                            <a:solidFill>
                              <a:schemeClr val="tx1"/>
                            </a:solidFill>
                            <a:latin typeface="Cambria Math" panose="02040503050406030204" charset="0"/>
                            <a:ea typeface="楷体-简" panose="02010600040101010101" charset="-122"/>
                            <a:cs typeface="Cambria Math" panose="02040503050406030204" charset="0"/>
                          </a:rPr>
                          <m:t>𝑦</m:t>
                        </m:r>
                      </m:e>
                      <m:sub>
                        <m:r>
                          <a:rPr lang="en-US" altLang="zh-CN" i="1">
                            <a:solidFill>
                              <a:schemeClr val="tx1"/>
                            </a:solidFill>
                            <a:latin typeface="Cambria Math" panose="02040503050406030204" charset="0"/>
                            <a:ea typeface="楷体-简" panose="02010600040101010101" charset="-122"/>
                            <a:cs typeface="Cambria Math" panose="02040503050406030204" charset="0"/>
                          </a:rPr>
                          <m:t>𝑖</m:t>
                        </m:r>
                      </m:sub>
                    </m:sSub>
                  </m:oMath>
                </a14:m>
                <a:r>
                  <a:rPr lang="en-US" altLang="zh-CN">
                    <a:solidFill>
                      <a:schemeClr val="tx1"/>
                    </a:solidFill>
                    <a:latin typeface="楷体-简" panose="02010600040101010101" charset="-122"/>
                    <a:ea typeface="楷体-简" panose="02010600040101010101" charset="-122"/>
                    <a:cs typeface="楷体-简" panose="02010600040101010101" charset="-122"/>
                  </a:rPr>
                  <a:t>)</a:t>
                </a:r>
                <a:r>
                  <a:rPr lang="zh-CN" altLang="en-US">
                    <a:solidFill>
                      <a:schemeClr val="tx1"/>
                    </a:solidFill>
                    <a:latin typeface="楷体-简" panose="02010600040101010101" charset="-122"/>
                    <a:ea typeface="楷体-简" panose="02010600040101010101" charset="-122"/>
                    <a:cs typeface="楷体-简" panose="02010600040101010101" charset="-122"/>
                  </a:rPr>
                  <a:t>总可以满足上述约束条件，以下图7-4示意：</a:t>
                </a:r>
                <a:endParaRPr lang="zh-CN" altLang="en-US">
                  <a:solidFill>
                    <a:schemeClr val="tx1"/>
                  </a:solidFill>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911350" y="436880"/>
                <a:ext cx="9294495" cy="466725"/>
              </a:xfrm>
              <a:blipFill rotWithShape="1">
                <a:blip r:embed="rId1"/>
                <a:stretch>
                  <a:fillRect/>
                </a:stretch>
              </a:blipFill>
            </p:spPr>
            <p:txBody>
              <a:bodyPr/>
              <a:lstStyle/>
              <a:p>
                <a:r>
                  <a:rPr lang="zh-CN" altLang="en-US">
                    <a:noFill/>
                  </a:rPr>
                  <a:t> </a:t>
                </a:r>
                <a:endParaRPr lang="zh-CN" altLang="en-US">
                  <a:noFill/>
                </a:endParaRPr>
              </a:p>
            </p:txBody>
          </p:sp>
        </mc:Fallback>
      </mc:AlternateContent>
      <p:pic>
        <p:nvPicPr>
          <p:cNvPr id="2" name="图片 40"/>
          <p:cNvPicPr>
            <a:picLocks noChangeAspect="1"/>
          </p:cNvPicPr>
          <p:nvPr/>
        </p:nvPicPr>
        <p:blipFill>
          <a:blip r:embed="rId2"/>
          <a:stretch>
            <a:fillRect/>
          </a:stretch>
        </p:blipFill>
        <p:spPr>
          <a:xfrm>
            <a:off x="4841240" y="903605"/>
            <a:ext cx="2905760" cy="2100580"/>
          </a:xfrm>
          <a:prstGeom prst="rect">
            <a:avLst/>
          </a:prstGeom>
          <a:noFill/>
          <a:ln w="9525">
            <a:noFill/>
          </a:ln>
        </p:spPr>
      </p:pic>
      <p:sp>
        <p:nvSpPr>
          <p:cNvPr id="4" name="文本框 3"/>
          <p:cNvSpPr txBox="1"/>
          <p:nvPr/>
        </p:nvSpPr>
        <p:spPr>
          <a:xfrm>
            <a:off x="3288030" y="3244850"/>
            <a:ext cx="6013450" cy="368300"/>
          </a:xfrm>
          <a:prstGeom prst="rect">
            <a:avLst/>
          </a:prstGeom>
          <a:noFill/>
        </p:spPr>
        <p:txBody>
          <a:bodyPr wrap="square" rtlCol="0">
            <a:spAutoFit/>
          </a:bodyPr>
          <a:p>
            <a:pPr algn="ctr"/>
            <a:r>
              <a:rPr lang="zh-CN" altLang="en-US">
                <a:latin typeface="楷体-简" panose="02010600040101010101" charset="-122"/>
                <a:ea typeface="楷体-简" panose="02010600040101010101" charset="-122"/>
                <a:cs typeface="楷体-简" panose="02010600040101010101" charset="-122"/>
              </a:rPr>
              <a:t>图7-4引入松弛因子的SVM两分类情形</a:t>
            </a:r>
            <a:endParaRPr lang="zh-CN" altLang="en-US">
              <a:latin typeface="楷体-简" panose="02010600040101010101" charset="-122"/>
              <a:ea typeface="楷体-简" panose="02010600040101010101" charset="-122"/>
              <a:cs typeface="楷体-简" panose="02010600040101010101" charset="-122"/>
            </a:endParaRPr>
          </a:p>
        </p:txBody>
      </p:sp>
      <mc:AlternateContent xmlns:mc="http://schemas.openxmlformats.org/markup-compatibility/2006">
        <mc:Choice xmlns:a14="http://schemas.microsoft.com/office/drawing/2010/main" Requires="a14">
          <p:sp>
            <p:nvSpPr>
              <p:cNvPr id="5" name="文本框 4"/>
              <p:cNvSpPr txBox="1"/>
              <p:nvPr/>
            </p:nvSpPr>
            <p:spPr>
              <a:xfrm>
                <a:off x="1978660" y="3613150"/>
                <a:ext cx="9159240" cy="69723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但另一方面，和项</a:t>
                </a:r>
                <a14:m>
                  <m:oMath xmlns:m="http://schemas.openxmlformats.org/officeDocument/2006/math">
                    <m:nary>
                      <m:naryPr>
                        <m:chr m:val="∑"/>
                        <m:limLoc m:val="subSup"/>
                        <m:ctrlPr>
                          <a:rPr lang="en-US" altLang="zh-CN" i="1">
                            <a:latin typeface="Cambria Math" panose="02040503050406030204" charset="0"/>
                            <a:ea typeface="楷体-简" panose="02010600040101010101" charset="-122"/>
                            <a:cs typeface="Cambria Math" panose="02040503050406030204" charset="0"/>
                          </a:rPr>
                        </m:ctrlPr>
                      </m:naryPr>
                      <m:sub>
                        <m:r>
                          <a:rPr lang="en-US" altLang="zh-CN" i="1">
                            <a:latin typeface="Cambria Math" panose="02040503050406030204" charset="0"/>
                            <a:ea typeface="楷体-简" panose="02010600040101010101" charset="-122"/>
                            <a:cs typeface="Cambria Math" panose="02040503050406030204" charset="0"/>
                          </a:rPr>
                          <m:t>𝑖</m:t>
                        </m:r>
                        <m:r>
                          <a:rPr lang="en-US" altLang="zh-CN" i="1">
                            <a:latin typeface="Cambria Math" panose="02040503050406030204" charset="0"/>
                            <a:ea typeface="宋体" charset="0"/>
                            <a:cs typeface="Cambria Math" panose="02040503050406030204" charset="0"/>
                          </a:rPr>
                          <m:t>=</m:t>
                        </m:r>
                        <m:r>
                          <a:rPr lang="en-US" altLang="zh-CN" i="1">
                            <a:latin typeface="Cambria Math" panose="02040503050406030204" charset="0"/>
                            <a:ea typeface="宋体" charset="0"/>
                            <a:cs typeface="Cambria Math" panose="02040503050406030204" charset="0"/>
                          </a:rPr>
                          <m:t>1</m:t>
                        </m:r>
                      </m:sub>
                      <m:sup>
                        <m:r>
                          <a:rPr lang="en-US" altLang="zh-CN" i="1">
                            <a:latin typeface="Cambria Math" panose="02040503050406030204" charset="0"/>
                            <a:ea typeface="楷体-简" panose="02010600040101010101" charset="-122"/>
                            <a:cs typeface="Cambria Math" panose="02040503050406030204" charset="0"/>
                          </a:rPr>
                          <m:t>𝑛</m:t>
                        </m:r>
                      </m:sup>
                      <m:e>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宋体" charset="0"/>
                                <a:cs typeface="Cambria Math" panose="02040503050406030204" charset="0"/>
                              </a:rPr>
                              <m:t>𝜉</m:t>
                            </m:r>
                          </m:e>
                          <m:sub>
                            <m:r>
                              <a:rPr lang="en-US" altLang="zh-CN" i="1">
                                <a:latin typeface="Cambria Math" panose="02040503050406030204" charset="0"/>
                                <a:ea typeface="楷体-简" panose="02010600040101010101" charset="-122"/>
                                <a:cs typeface="Cambria Math" panose="02040503050406030204" charset="0"/>
                              </a:rPr>
                              <m:t>𝑖</m:t>
                            </m:r>
                          </m:sub>
                        </m:sSub>
                      </m:e>
                    </m:nary>
                  </m:oMath>
                </a14:m>
                <a:r>
                  <a:rPr lang="zh-CN" altLang="en-US">
                    <a:latin typeface="楷体-简" panose="02010600040101010101" charset="-122"/>
                    <a:ea typeface="楷体-简" panose="02010600040101010101" charset="-122"/>
                    <a:cs typeface="楷体-简" panose="02010600040101010101" charset="-122"/>
                  </a:rPr>
                  <a:t>与样本的分类错误相关并且体现了经验风险，必须限制它的大小。因此，我们得到“软化”后的最大间隔分类器的优化问题：</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978660" y="3613150"/>
                <a:ext cx="9159240" cy="697230"/>
              </a:xfrm>
              <a:prstGeom prst="rect">
                <a:avLst/>
              </a:prstGeom>
              <a:blipFill rotWithShape="1">
                <a:blip r:embed="rId3"/>
                <a:stretch>
                  <a:fillRect r="-367"/>
                </a:stretch>
              </a:blipFill>
            </p:spPr>
            <p:txBody>
              <a:bodyPr/>
              <a:lstStyle/>
              <a:p>
                <a:r>
                  <a:rPr lang="zh-CN" altLang="en-US">
                    <a:noFill/>
                  </a:rPr>
                  <a:t> </a:t>
                </a:r>
                <a:endParaRPr lang="zh-CN" altLang="en-US">
                  <a:noFill/>
                </a:endParaRPr>
              </a:p>
            </p:txBody>
          </p:sp>
        </mc:Fallback>
      </mc:AlternateContent>
      <p:sp>
        <p:nvSpPr>
          <p:cNvPr id="7" name="文本框 6"/>
          <p:cNvSpPr txBox="1"/>
          <p:nvPr/>
        </p:nvSpPr>
        <p:spPr>
          <a:xfrm>
            <a:off x="1908810" y="5656580"/>
            <a:ext cx="9358630" cy="706755"/>
          </a:xfrm>
          <a:prstGeom prst="rect">
            <a:avLst/>
          </a:prstGeom>
          <a:noFill/>
        </p:spPr>
        <p:txBody>
          <a:bodyPr wrap="square" rtlCol="0">
            <a:spAutoFit/>
          </a:bodyPr>
          <a:p>
            <a:r>
              <a:rPr lang="zh-CN" altLang="en-US" sz="2000">
                <a:latin typeface="楷体-简" panose="02010600040101010101" charset="-122"/>
                <a:ea typeface="楷体-简" panose="02010600040101010101" charset="-122"/>
                <a:cs typeface="楷体-简" panose="02010600040101010101" charset="-122"/>
              </a:rPr>
              <a:t>其中，实常数C&gt;0称为罚参数，它在分类器的复杂度和经验风险之间进行权衡。我们把上述问题确定的学习机称为</a:t>
            </a:r>
            <a:r>
              <a:rPr lang="zh-CN" altLang="en-US" sz="2000" b="1">
                <a:solidFill>
                  <a:srgbClr val="C00000"/>
                </a:solidFill>
                <a:latin typeface="楷体-简" panose="02010600040101010101" charset="-122"/>
                <a:ea typeface="楷体-简" panose="02010600040101010101" charset="-122"/>
                <a:cs typeface="楷体-简" panose="02010600040101010101" charset="-122"/>
              </a:rPr>
              <a:t>“线性软间隔支持向量机”</a:t>
            </a:r>
            <a:r>
              <a:rPr lang="zh-CN" altLang="en-US" sz="2000">
                <a:latin typeface="楷体-简" panose="02010600040101010101" charset="-122"/>
                <a:ea typeface="楷体-简" panose="02010600040101010101" charset="-122"/>
                <a:cs typeface="楷体-简" panose="02010600040101010101" charset="-122"/>
              </a:rPr>
              <a:t>。</a:t>
            </a:r>
            <a:endParaRPr lang="zh-CN" altLang="en-US" sz="2000">
              <a:latin typeface="楷体-简" panose="02010600040101010101" charset="-122"/>
              <a:ea typeface="楷体-简" panose="02010600040101010101" charset="-122"/>
              <a:cs typeface="楷体-简" panose="02010600040101010101" charset="-122"/>
            </a:endParaRPr>
          </a:p>
        </p:txBody>
      </p:sp>
      <p:graphicFrame>
        <p:nvGraphicFramePr>
          <p:cNvPr id="6" name="Picture 105"/>
          <p:cNvGraphicFramePr>
            <a:graphicFrameLocks noChangeAspect="1"/>
          </p:cNvGraphicFramePr>
          <p:nvPr/>
        </p:nvGraphicFramePr>
        <p:xfrm>
          <a:off x="2658745" y="4392930"/>
          <a:ext cx="2543175" cy="609600"/>
        </p:xfrm>
        <a:graphic>
          <a:graphicData uri="http://schemas.openxmlformats.org/presentationml/2006/ole">
            <mc:AlternateContent xmlns:mc="http://schemas.openxmlformats.org/markup-compatibility/2006">
              <mc:Choice xmlns:v="urn:schemas-microsoft-com:vml" Requires="v">
                <p:oleObj spid="_x0000_s3076" name="" r:id="rId4" imgW="1625600" imgH="393700" progId="Equation.DSMT4">
                  <p:embed/>
                </p:oleObj>
              </mc:Choice>
              <mc:Fallback>
                <p:oleObj name="" r:id="rId4" imgW="1625600" imgH="393700" progId="Equation.DSMT4">
                  <p:embed/>
                  <p:pic>
                    <p:nvPicPr>
                      <p:cNvPr id="0" name="图片 3075"/>
                      <p:cNvPicPr/>
                      <p:nvPr/>
                    </p:nvPicPr>
                    <p:blipFill>
                      <a:blip r:embed="rId5"/>
                      <a:stretch>
                        <a:fillRect/>
                      </a:stretch>
                    </p:blipFill>
                    <p:spPr>
                      <a:xfrm>
                        <a:off x="2658745" y="4392930"/>
                        <a:ext cx="2543175" cy="609600"/>
                      </a:xfrm>
                      <a:prstGeom prst="rect">
                        <a:avLst/>
                      </a:prstGeom>
                      <a:noFill/>
                      <a:ln w="38100">
                        <a:noFill/>
                        <a:miter/>
                      </a:ln>
                    </p:spPr>
                  </p:pic>
                </p:oleObj>
              </mc:Fallback>
            </mc:AlternateContent>
          </a:graphicData>
        </a:graphic>
      </p:graphicFrame>
      <p:pic>
        <p:nvPicPr>
          <p:cNvPr id="8" name="图片 -2147482500"/>
          <p:cNvPicPr>
            <a:picLocks noChangeAspect="1"/>
          </p:cNvPicPr>
          <p:nvPr/>
        </p:nvPicPr>
        <p:blipFill>
          <a:blip r:embed="rId6"/>
          <a:stretch>
            <a:fillRect/>
          </a:stretch>
        </p:blipFill>
        <p:spPr>
          <a:xfrm>
            <a:off x="2658745" y="5002530"/>
            <a:ext cx="2510790" cy="525780"/>
          </a:xfrm>
          <a:prstGeom prst="rect">
            <a:avLst/>
          </a:prstGeom>
          <a:noFill/>
          <a:ln w="9525">
            <a:noFill/>
          </a:ln>
        </p:spPr>
      </p:pic>
      <p:sp>
        <p:nvSpPr>
          <p:cNvPr id="9" name="文本框 8"/>
          <p:cNvSpPr txBox="1"/>
          <p:nvPr/>
        </p:nvSpPr>
        <p:spPr>
          <a:xfrm>
            <a:off x="6849745" y="4477385"/>
            <a:ext cx="1073785" cy="368300"/>
          </a:xfrm>
          <a:prstGeom prst="rect">
            <a:avLst/>
          </a:prstGeom>
          <a:noFill/>
        </p:spPr>
        <p:txBody>
          <a:bodyPr wrap="square" rtlCol="0">
            <a:spAutoFit/>
          </a:bodyPr>
          <a:p>
            <a:r>
              <a:rPr lang="zh-CN" altLang="en-US"/>
              <a:t>（</a:t>
            </a:r>
            <a:r>
              <a:rPr lang="en-US" altLang="zh-CN"/>
              <a:t>7-17</a:t>
            </a:r>
            <a:r>
              <a:rPr lang="zh-CN" altLang="en-US"/>
              <a:t>）</a:t>
            </a:r>
            <a:endParaRPr lang="zh-CN" altLang="en-US"/>
          </a:p>
        </p:txBody>
      </p:sp>
      <p:sp>
        <p:nvSpPr>
          <p:cNvPr id="10" name="文本框 9"/>
          <p:cNvSpPr txBox="1"/>
          <p:nvPr/>
        </p:nvSpPr>
        <p:spPr>
          <a:xfrm>
            <a:off x="6910705" y="5081270"/>
            <a:ext cx="1012825" cy="368300"/>
          </a:xfrm>
          <a:prstGeom prst="rect">
            <a:avLst/>
          </a:prstGeom>
          <a:noFill/>
        </p:spPr>
        <p:txBody>
          <a:bodyPr wrap="square" rtlCol="0">
            <a:spAutoFit/>
          </a:bodyPr>
          <a:p>
            <a:r>
              <a:rPr lang="zh-CN" altLang="en-US"/>
              <a:t>（</a:t>
            </a:r>
            <a:r>
              <a:rPr lang="en-US" altLang="zh-CN"/>
              <a:t>7-18</a:t>
            </a:r>
            <a:r>
              <a:rPr lang="zh-CN" altLang="en-US"/>
              <a:t>）</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31732" y="946150"/>
            <a:ext cx="8915400" cy="3777622"/>
          </a:xfrm>
        </p:spPr>
        <p:txBody>
          <a:bodyPr/>
          <a:p>
            <a:r>
              <a:rPr lang="zh-CN" altLang="en-US" sz="2400" b="1"/>
              <a:t>例：利用线性软间隔支持向量机求解一个分类问题。</a:t>
            </a:r>
            <a:endParaRPr lang="zh-CN" altLang="en-US" sz="2400" b="1"/>
          </a:p>
          <a:p>
            <a:pPr marL="0" indent="0">
              <a:buNone/>
            </a:pPr>
            <a:r>
              <a:rPr lang="zh-CN" altLang="en-US" sz="2400" b="1"/>
              <a:t>已知五维数据分别代表了鸢尾花的花萼长度、花萼宽度、花瓣长度、花瓣宽度和种类。现有以下训练样本</a:t>
            </a:r>
            <a:endParaRPr lang="zh-CN" altLang="en-US" sz="2400" b="1"/>
          </a:p>
          <a:p>
            <a:pPr marL="0" indent="0">
              <a:buNone/>
            </a:pPr>
            <a:endParaRPr lang="zh-CN" altLang="en-US" sz="2400" b="1"/>
          </a:p>
          <a:p>
            <a:pPr marL="0" indent="0">
              <a:buNone/>
            </a:pPr>
            <a:endParaRPr lang="zh-CN" altLang="en-US" sz="2400" b="1"/>
          </a:p>
        </p:txBody>
      </p:sp>
      <p:sp>
        <p:nvSpPr>
          <p:cNvPr id="4" name="文本框 3"/>
          <p:cNvSpPr txBox="1"/>
          <p:nvPr/>
        </p:nvSpPr>
        <p:spPr>
          <a:xfrm>
            <a:off x="3300095" y="2698750"/>
            <a:ext cx="4855845" cy="2306955"/>
          </a:xfrm>
          <a:prstGeom prst="rect">
            <a:avLst/>
          </a:prstGeom>
          <a:noFill/>
        </p:spPr>
        <p:txBody>
          <a:bodyPr wrap="square" rtlCol="0">
            <a:spAutoFit/>
          </a:bodyPr>
          <a:p>
            <a:r>
              <a:rPr lang="zh-CN" altLang="en-US" sz="2400"/>
              <a:t>5.8,2.6,4.0,1.2</a:t>
            </a:r>
            <a:endParaRPr lang="zh-CN" altLang="en-US" sz="2400"/>
          </a:p>
          <a:p>
            <a:r>
              <a:rPr lang="zh-CN" altLang="en-US" sz="2400"/>
              <a:t>5.0,3.5,1.6,0.6</a:t>
            </a:r>
            <a:endParaRPr lang="zh-CN" altLang="en-US" sz="2400"/>
          </a:p>
          <a:p>
            <a:r>
              <a:rPr lang="zh-CN" altLang="en-US" sz="2400"/>
              <a:t>5.1,3.8,1.9,0.4</a:t>
            </a:r>
            <a:endParaRPr lang="zh-CN" altLang="en-US" sz="2400"/>
          </a:p>
          <a:p>
            <a:r>
              <a:rPr lang="zh-CN" altLang="en-US" sz="2400"/>
              <a:t>5.5,2.4,3.8,1.1</a:t>
            </a:r>
            <a:endParaRPr lang="zh-CN" altLang="en-US" sz="2400"/>
          </a:p>
          <a:p>
            <a:r>
              <a:rPr lang="zh-CN" altLang="en-US" sz="2400"/>
              <a:t>5.0,2.3,3.3,1.0</a:t>
            </a:r>
            <a:endParaRPr lang="zh-CN" altLang="en-US" sz="2400"/>
          </a:p>
          <a:p>
            <a:r>
              <a:rPr lang="zh-CN" altLang="en-US" sz="2400"/>
              <a:t>4.7,3.2,1.6,0.2</a:t>
            </a:r>
            <a:endParaRPr lang="zh-CN" altLang="en-US" sz="2400"/>
          </a:p>
        </p:txBody>
      </p:sp>
      <p:sp>
        <p:nvSpPr>
          <p:cNvPr id="5" name="文本框 4"/>
          <p:cNvSpPr txBox="1"/>
          <p:nvPr/>
        </p:nvSpPr>
        <p:spPr>
          <a:xfrm>
            <a:off x="5763260" y="2698750"/>
            <a:ext cx="3405505" cy="2306955"/>
          </a:xfrm>
          <a:prstGeom prst="rect">
            <a:avLst/>
          </a:prstGeom>
          <a:noFill/>
        </p:spPr>
        <p:txBody>
          <a:bodyPr wrap="square" rtlCol="0">
            <a:spAutoFit/>
          </a:bodyPr>
          <a:p>
            <a:r>
              <a:rPr lang="zh-CN" altLang="en-US" sz="2400"/>
              <a:t>变色鸢尾</a:t>
            </a:r>
            <a:endParaRPr lang="zh-CN" altLang="en-US" sz="2400"/>
          </a:p>
          <a:p>
            <a:r>
              <a:rPr lang="zh-CN" altLang="en-US" sz="2400"/>
              <a:t>山鸢尾</a:t>
            </a:r>
            <a:endParaRPr lang="zh-CN" altLang="en-US" sz="2400"/>
          </a:p>
          <a:p>
            <a:r>
              <a:rPr lang="zh-CN" altLang="en-US" sz="2400"/>
              <a:t>山鸢尾</a:t>
            </a:r>
            <a:endParaRPr lang="zh-CN" altLang="en-US" sz="2400"/>
          </a:p>
          <a:p>
            <a:r>
              <a:rPr lang="zh-CN" altLang="en-US" sz="2400"/>
              <a:t>变色鸢尾</a:t>
            </a:r>
            <a:endParaRPr lang="zh-CN" altLang="en-US" sz="2400"/>
          </a:p>
          <a:p>
            <a:r>
              <a:rPr lang="zh-CN" altLang="en-US" sz="2400"/>
              <a:t>变色鸢尾</a:t>
            </a:r>
            <a:endParaRPr lang="zh-CN" altLang="en-US" sz="2400"/>
          </a:p>
          <a:p>
            <a:r>
              <a:rPr lang="zh-CN" altLang="en-US" sz="2400"/>
              <a:t>山鸢尾</a:t>
            </a:r>
            <a:endParaRPr lang="zh-CN" altLang="en-US" sz="2400"/>
          </a:p>
        </p:txBody>
      </p:sp>
      <p:sp>
        <p:nvSpPr>
          <p:cNvPr id="6" name="文本框 5"/>
          <p:cNvSpPr txBox="1"/>
          <p:nvPr/>
        </p:nvSpPr>
        <p:spPr>
          <a:xfrm>
            <a:off x="2480310" y="5546090"/>
            <a:ext cx="7685405" cy="460375"/>
          </a:xfrm>
          <a:prstGeom prst="rect">
            <a:avLst/>
          </a:prstGeom>
          <a:noFill/>
        </p:spPr>
        <p:txBody>
          <a:bodyPr wrap="square" rtlCol="0">
            <a:spAutoFit/>
          </a:bodyPr>
          <a:p>
            <a:r>
              <a:rPr lang="zh-CN" altLang="en-US" sz="2400"/>
              <a:t>问</a:t>
            </a:r>
            <a:r>
              <a:rPr lang="en-US" altLang="zh-CN" sz="2400"/>
              <a:t>4.9</a:t>
            </a:r>
            <a:r>
              <a:rPr lang="zh-CN" altLang="en-US" sz="2400"/>
              <a:t>,2.6,3.5,1.0 属于哪一种鸢尾？</a:t>
            </a:r>
            <a:endParaRPr lang="zh-CN" alt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397442" y="1905000"/>
            <a:ext cx="8915400" cy="3777622"/>
          </a:xfrm>
        </p:spPr>
        <p:txBody>
          <a:bodyPr/>
          <a:p>
            <a:pPr marL="0" indent="0">
              <a:buNone/>
            </a:pPr>
            <a:r>
              <a:rPr lang="zh-CN" altLang="en-US" sz="2000"/>
              <a:t>求得</a:t>
            </a:r>
            <a:endParaRPr lang="zh-CN" altLang="en-US" sz="2000"/>
          </a:p>
          <a:p>
            <a:r>
              <a:rPr lang="en-US" altLang="zh-CN" sz="2000"/>
              <a:t>b</a:t>
            </a:r>
            <a:r>
              <a:rPr lang="zh-CN" altLang="en-US" sz="2000"/>
              <a:t>	=	0.8142</a:t>
            </a:r>
            <a:endParaRPr lang="zh-CN" altLang="en-US" sz="2000"/>
          </a:p>
          <a:p>
            <a:r>
              <a:rPr lang="zh-CN" altLang="en-US" sz="2000"/>
              <a:t>w1	=	-0.0540</a:t>
            </a:r>
            <a:endParaRPr lang="zh-CN" altLang="en-US" sz="2000"/>
          </a:p>
          <a:p>
            <a:r>
              <a:rPr lang="zh-CN" altLang="en-US" sz="2000"/>
              <a:t>w2	=	0.5389</a:t>
            </a:r>
            <a:endParaRPr lang="zh-CN" altLang="en-US" sz="2000"/>
          </a:p>
          <a:p>
            <a:r>
              <a:rPr lang="zh-CN" altLang="en-US" sz="2000"/>
              <a:t>w3	=	-0.7549</a:t>
            </a:r>
            <a:endParaRPr lang="zh-CN" altLang="en-US" sz="2000"/>
          </a:p>
          <a:p>
            <a:r>
              <a:rPr lang="zh-CN" altLang="en-US" sz="2000"/>
              <a:t>w4	=	-0.292</a:t>
            </a:r>
            <a:endParaRPr lang="zh-CN"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63102" y="798830"/>
            <a:ext cx="8915400" cy="3777622"/>
          </a:xfrm>
        </p:spPr>
        <p:txBody>
          <a:bodyPr/>
          <a:p>
            <a:pPr marL="0" indent="0">
              <a:buNone/>
            </a:pPr>
            <a:r>
              <a:rPr lang="en-US" altLang="zh-CN" sz="2000">
                <a:latin typeface="楷体-简" panose="02010600040101010101" charset="-122"/>
                <a:ea typeface="楷体-简" panose="02010600040101010101" charset="-122"/>
                <a:cs typeface="楷体-简" panose="02010600040101010101" charset="-122"/>
              </a:rPr>
              <a:t>(2)</a:t>
            </a:r>
            <a:r>
              <a:rPr lang="zh-CN" altLang="en-US" sz="2000">
                <a:latin typeface="楷体-简" panose="02010600040101010101" charset="-122"/>
                <a:ea typeface="楷体-简" panose="02010600040101010101" charset="-122"/>
                <a:cs typeface="楷体-简" panose="02010600040101010101" charset="-122"/>
              </a:rPr>
              <a:t>数据线性不可分的情况</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经典非线性方法,如神经网络模型中,解决线性不可分类问题的一个方法是利用多层感知器,其实质就是将近似函数集由简单线性指示函数扩展成由许多线性指示函数叠加成的一个更为复杂的近似函数集,再用S形函数来近似指示函数中的单位阶跃函数(或符号函数),从而得到使经验风险极小化的一种容易操作的算法。但是，这种方法存在着容易陷入局部极小点，网络结构设计依赖于先验知识以及泛化能力较差等问题。解决线性不可分类问题的另外一个途径(支持向量机算法)是用“超曲面”代替“超平面”,找一个能够正确分类所有观测样本的的“最大间隔超曲面”。如下图7-5所示:</a:t>
            </a:r>
            <a:endParaRPr lang="zh-CN" altLang="en-US" sz="2000">
              <a:latin typeface="楷体-简" panose="02010600040101010101" charset="-122"/>
              <a:ea typeface="楷体-简" panose="02010600040101010101" charset="-122"/>
              <a:cs typeface="楷体-简" panose="02010600040101010101" charset="-122"/>
            </a:endParaRPr>
          </a:p>
        </p:txBody>
      </p:sp>
      <p:pic>
        <p:nvPicPr>
          <p:cNvPr id="2" name="图片 43"/>
          <p:cNvPicPr>
            <a:picLocks noChangeAspect="1"/>
          </p:cNvPicPr>
          <p:nvPr/>
        </p:nvPicPr>
        <p:blipFill>
          <a:blip r:embed="rId1"/>
          <a:stretch>
            <a:fillRect/>
          </a:stretch>
        </p:blipFill>
        <p:spPr>
          <a:xfrm>
            <a:off x="4275138" y="3830638"/>
            <a:ext cx="3640455" cy="2064385"/>
          </a:xfrm>
          <a:prstGeom prst="rect">
            <a:avLst/>
          </a:prstGeom>
          <a:noFill/>
          <a:ln w="9525">
            <a:noFill/>
          </a:ln>
        </p:spPr>
      </p:pic>
      <p:sp>
        <p:nvSpPr>
          <p:cNvPr id="4" name="文本框 3"/>
          <p:cNvSpPr txBox="1"/>
          <p:nvPr/>
        </p:nvSpPr>
        <p:spPr>
          <a:xfrm>
            <a:off x="3945255" y="6019165"/>
            <a:ext cx="4300220" cy="368300"/>
          </a:xfrm>
          <a:prstGeom prst="rect">
            <a:avLst/>
          </a:prstGeom>
          <a:noFill/>
        </p:spPr>
        <p:txBody>
          <a:bodyPr wrap="square" rtlCol="0">
            <a:spAutoFit/>
          </a:bodyPr>
          <a:p>
            <a:pPr algn="ctr"/>
            <a:r>
              <a:rPr lang="zh-CN" altLang="en-US">
                <a:latin typeface="楷体-简" panose="02010600040101010101" charset="-122"/>
                <a:ea typeface="楷体-简" panose="02010600040101010101" charset="-122"/>
                <a:cs typeface="楷体-简" panose="02010600040101010101" charset="-122"/>
              </a:rPr>
              <a:t>图7-5 SVM线性不可分情形</a:t>
            </a:r>
            <a:endParaRPr lang="zh-CN" altLang="en-US">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14587" y="351790"/>
            <a:ext cx="8915400" cy="3777622"/>
          </a:xfrm>
        </p:spPr>
        <p:txBody>
          <a:bodyPr/>
          <a:p>
            <a:r>
              <a:rPr lang="en-US" altLang="zh-CN" sz="2400">
                <a:latin typeface="楷体-简" panose="02010600040101010101" charset="-122"/>
                <a:ea typeface="楷体-简" panose="02010600040101010101" charset="-122"/>
                <a:cs typeface="楷体-简" panose="02010600040101010101" charset="-122"/>
                <a:sym typeface="+mn-ea"/>
              </a:rPr>
              <a:t>	</a:t>
            </a:r>
            <a:r>
              <a:rPr lang="zh-CN" altLang="en-US" sz="2400">
                <a:latin typeface="楷体-简" panose="02010600040101010101" charset="-122"/>
                <a:ea typeface="楷体-简" panose="02010600040101010101" charset="-122"/>
                <a:cs typeface="楷体-简" panose="02010600040101010101" charset="-122"/>
                <a:sym typeface="+mn-ea"/>
              </a:rPr>
              <a:t>但是“最大间隔超曲面”是难以描述和直接求解的。通过引入</a:t>
            </a:r>
            <a:r>
              <a:rPr lang="zh-CN" altLang="en-US" sz="2400" b="1">
                <a:solidFill>
                  <a:srgbClr val="C00000"/>
                </a:solidFill>
                <a:latin typeface="楷体-简" panose="02010600040101010101" charset="-122"/>
                <a:ea typeface="楷体-简" panose="02010600040101010101" charset="-122"/>
                <a:cs typeface="楷体-简" panose="02010600040101010101" charset="-122"/>
                <a:sym typeface="+mn-ea"/>
              </a:rPr>
              <a:t>由输入空间X到某个高维空间H（一般是Hibert空间）的非线性映射</a:t>
            </a:r>
            <a:r>
              <a:rPr lang="zh-CN" altLang="en-US" sz="2400">
                <a:latin typeface="楷体-简" panose="02010600040101010101" charset="-122"/>
                <a:ea typeface="楷体-简" panose="02010600040101010101" charset="-122"/>
                <a:cs typeface="楷体-简" panose="02010600040101010101" charset="-122"/>
                <a:sym typeface="+mn-ea"/>
              </a:rPr>
              <a:t>                       ,能够把中的寻找非线性的“最大超曲面”问题转化为在高维空间H中求解线性的“最大间隔超平面”的问题,从而更容易给出具体的模型进行求解。</a:t>
            </a:r>
            <a:endParaRPr lang="zh-CN" altLang="en-US" sz="2400">
              <a:latin typeface="楷体-简" panose="02010600040101010101" charset="-122"/>
              <a:ea typeface="楷体-简" panose="02010600040101010101" charset="-122"/>
              <a:cs typeface="楷体-简" panose="02010600040101010101" charset="-122"/>
            </a:endParaRPr>
          </a:p>
          <a:p>
            <a:endParaRPr lang="zh-CN" altLang="en-US" sz="2400">
              <a:latin typeface="楷体-简" panose="02010600040101010101" charset="-122"/>
              <a:ea typeface="楷体-简" panose="02010600040101010101" charset="-122"/>
              <a:cs typeface="楷体-简" panose="02010600040101010101" charset="-122"/>
            </a:endParaRPr>
          </a:p>
        </p:txBody>
      </p:sp>
      <p:graphicFrame>
        <p:nvGraphicFramePr>
          <p:cNvPr id="4" name="Picture 109"/>
          <p:cNvGraphicFramePr>
            <a:graphicFrameLocks noChangeAspect="1"/>
          </p:cNvGraphicFramePr>
          <p:nvPr/>
        </p:nvGraphicFramePr>
        <p:xfrm>
          <a:off x="4436745" y="1183640"/>
          <a:ext cx="1285240" cy="323850"/>
        </p:xfrm>
        <a:graphic>
          <a:graphicData uri="http://schemas.openxmlformats.org/presentationml/2006/ole">
            <mc:AlternateContent xmlns:mc="http://schemas.openxmlformats.org/markup-compatibility/2006">
              <mc:Choice xmlns:v="urn:schemas-microsoft-com:vml" Requires="v">
                <p:oleObj spid="_x0000_s3076" name="" r:id="rId1" imgW="1017905" imgH="254635" progId="Equation.DSMT4">
                  <p:embed/>
                </p:oleObj>
              </mc:Choice>
              <mc:Fallback>
                <p:oleObj name="" r:id="rId1" imgW="1017905" imgH="254635" progId="Equation.DSMT4">
                  <p:embed/>
                  <p:pic>
                    <p:nvPicPr>
                      <p:cNvPr id="0" name="图片 3075"/>
                      <p:cNvPicPr/>
                      <p:nvPr/>
                    </p:nvPicPr>
                    <p:blipFill>
                      <a:blip r:embed="rId2"/>
                      <a:stretch>
                        <a:fillRect/>
                      </a:stretch>
                    </p:blipFill>
                    <p:spPr>
                      <a:xfrm>
                        <a:off x="4436745" y="1183640"/>
                        <a:ext cx="1285240" cy="323850"/>
                      </a:xfrm>
                      <a:prstGeom prst="rect">
                        <a:avLst/>
                      </a:prstGeom>
                      <a:noFill/>
                      <a:ln w="38100">
                        <a:noFill/>
                        <a:miter/>
                      </a:ln>
                    </p:spPr>
                  </p:pic>
                </p:oleObj>
              </mc:Fallback>
            </mc:AlternateContent>
          </a:graphicData>
        </a:graphic>
      </p:graphicFrame>
      <p:pic>
        <p:nvPicPr>
          <p:cNvPr id="2355" name="内容占位符 2354"/>
          <p:cNvPicPr>
            <a:picLocks noChangeAspect="1"/>
          </p:cNvPicPr>
          <p:nvPr>
            <p:custDataLst>
              <p:tags r:id="rId3"/>
            </p:custDataLst>
          </p:nvPr>
        </p:nvPicPr>
        <p:blipFill>
          <a:blip r:embed="rId4"/>
          <a:stretch>
            <a:fillRect/>
          </a:stretch>
        </p:blipFill>
        <p:spPr>
          <a:xfrm>
            <a:off x="3093720" y="2715260"/>
            <a:ext cx="7555865" cy="306959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375852" y="683895"/>
            <a:ext cx="8915400" cy="3777622"/>
          </a:xfrm>
        </p:spPr>
        <p:txBody>
          <a:bodyPr>
            <a:noAutofit/>
          </a:bodyPr>
          <a:p>
            <a:pPr marL="0" indent="0">
              <a:buNone/>
            </a:pPr>
            <a:r>
              <a:rPr lang="en-US" altLang="zh-CN" sz="2400">
                <a:latin typeface="楷体-简" panose="02010600040101010101" charset="-122"/>
                <a:ea typeface="楷体-简" panose="02010600040101010101" charset="-122"/>
                <a:cs typeface="楷体-简" panose="02010600040101010101" charset="-122"/>
              </a:rPr>
              <a:t>	</a:t>
            </a:r>
            <a:r>
              <a:rPr lang="zh-CN" altLang="en-US" sz="2400">
                <a:latin typeface="楷体-简" panose="02010600040101010101" charset="-122"/>
                <a:ea typeface="楷体-简" panose="02010600040101010101" charset="-122"/>
                <a:cs typeface="楷体-简" panose="02010600040101010101" charset="-122"/>
              </a:rPr>
              <a:t>其间需要避免在H中进行高维的内积运算                   。如果存在输入空间中定义的某个核函数K(,),且满足                                   ，就可以通过计算K(,)的值而避免H中的内积运算，并且不需要知道映射函数。</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	</a:t>
            </a:r>
            <a:r>
              <a:rPr lang="zh-CN" altLang="en-US" sz="2400">
                <a:latin typeface="楷体-简" panose="02010600040101010101" charset="-122"/>
                <a:ea typeface="楷体-简" panose="02010600040101010101" charset="-122"/>
                <a:cs typeface="楷体-简" panose="02010600040101010101" charset="-122"/>
              </a:rPr>
              <a:t>因此,综合前面两种处理线性不可分类问题的思想,我们得到更常用的</a:t>
            </a:r>
            <a:r>
              <a:rPr lang="zh-CN" altLang="en-US" sz="2400" b="1">
                <a:solidFill>
                  <a:srgbClr val="C00000"/>
                </a:solidFill>
                <a:latin typeface="楷体-简" panose="02010600040101010101" charset="-122"/>
                <a:ea typeface="楷体-简" panose="02010600040101010101" charset="-122"/>
                <a:cs typeface="楷体-简" panose="02010600040101010101" charset="-122"/>
              </a:rPr>
              <a:t>“非线性软间隔支持向量机”，简称“支持向量机”</a:t>
            </a:r>
            <a:r>
              <a:rPr lang="zh-CN" altLang="en-US" sz="2400">
                <a:latin typeface="楷体-简" panose="02010600040101010101" charset="-122"/>
                <a:ea typeface="楷体-简" panose="02010600040101010101" charset="-122"/>
                <a:cs typeface="楷体-简" panose="02010600040101010101" charset="-122"/>
              </a:rPr>
              <a:t>。它的原始优化问题(P)和对偶优化问题(D)分别如下:</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	</a:t>
            </a:r>
            <a:r>
              <a:rPr lang="zh-CN" altLang="en-US" sz="2400">
                <a:latin typeface="楷体-简" panose="02010600040101010101" charset="-122"/>
                <a:ea typeface="楷体-简" panose="02010600040101010101" charset="-122"/>
                <a:cs typeface="楷体-简" panose="02010600040101010101" charset="-122"/>
              </a:rPr>
              <a:t>原始优化问题（P）:</a:t>
            </a:r>
            <a:endParaRPr lang="zh-CN" altLang="en-US" sz="2400">
              <a:latin typeface="楷体-简" panose="02010600040101010101" charset="-122"/>
              <a:ea typeface="楷体-简" panose="02010600040101010101" charset="-122"/>
              <a:cs typeface="楷体-简" panose="02010600040101010101" charset="-122"/>
            </a:endParaRPr>
          </a:p>
        </p:txBody>
      </p:sp>
      <p:graphicFrame>
        <p:nvGraphicFramePr>
          <p:cNvPr id="4" name="Picture 111"/>
          <p:cNvGraphicFramePr>
            <a:graphicFrameLocks noChangeAspect="1"/>
          </p:cNvGraphicFramePr>
          <p:nvPr/>
        </p:nvGraphicFramePr>
        <p:xfrm>
          <a:off x="9092565" y="683895"/>
          <a:ext cx="1266825" cy="373380"/>
        </p:xfrm>
        <a:graphic>
          <a:graphicData uri="http://schemas.openxmlformats.org/presentationml/2006/ole">
            <mc:AlternateContent xmlns:mc="http://schemas.openxmlformats.org/markup-compatibility/2006">
              <mc:Choice xmlns:v="urn:schemas-microsoft-com:vml" Requires="v">
                <p:oleObj spid="_x0000_s5" name="" r:id="rId1" imgW="877570" imgH="254635" progId="Equation.DSMT4">
                  <p:embed/>
                </p:oleObj>
              </mc:Choice>
              <mc:Fallback>
                <p:oleObj name="" r:id="rId1" imgW="877570" imgH="254635" progId="Equation.DSMT4">
                  <p:embed/>
                  <p:pic>
                    <p:nvPicPr>
                      <p:cNvPr id="0" name="图片 3"/>
                      <p:cNvPicPr/>
                      <p:nvPr/>
                    </p:nvPicPr>
                    <p:blipFill>
                      <a:blip r:embed="rId2"/>
                      <a:stretch>
                        <a:fillRect/>
                      </a:stretch>
                    </p:blipFill>
                    <p:spPr>
                      <a:xfrm>
                        <a:off x="9092565" y="683895"/>
                        <a:ext cx="1266825" cy="373380"/>
                      </a:xfrm>
                      <a:prstGeom prst="rect">
                        <a:avLst/>
                      </a:prstGeom>
                      <a:noFill/>
                      <a:ln w="38100">
                        <a:noFill/>
                        <a:miter/>
                      </a:ln>
                    </p:spPr>
                  </p:pic>
                </p:oleObj>
              </mc:Fallback>
            </mc:AlternateContent>
          </a:graphicData>
        </a:graphic>
      </p:graphicFrame>
      <p:graphicFrame>
        <p:nvGraphicFramePr>
          <p:cNvPr id="6" name="Picture 112"/>
          <p:cNvGraphicFramePr>
            <a:graphicFrameLocks noChangeAspect="1"/>
          </p:cNvGraphicFramePr>
          <p:nvPr/>
        </p:nvGraphicFramePr>
        <p:xfrm>
          <a:off x="3655695" y="1414145"/>
          <a:ext cx="2251075" cy="388620"/>
        </p:xfrm>
        <a:graphic>
          <a:graphicData uri="http://schemas.openxmlformats.org/presentationml/2006/ole">
            <mc:AlternateContent xmlns:mc="http://schemas.openxmlformats.org/markup-compatibility/2006">
              <mc:Choice xmlns:v="urn:schemas-microsoft-com:vml" Requires="v">
                <p:oleObj spid="_x0000_s7" name="" r:id="rId3" imgW="1587500" imgH="279400" progId="Equation.DSMT4">
                  <p:embed/>
                </p:oleObj>
              </mc:Choice>
              <mc:Fallback>
                <p:oleObj name="" r:id="rId3" imgW="1587500" imgH="279400" progId="Equation.DSMT4">
                  <p:embed/>
                  <p:pic>
                    <p:nvPicPr>
                      <p:cNvPr id="0" name="图片 4"/>
                      <p:cNvPicPr/>
                      <p:nvPr/>
                    </p:nvPicPr>
                    <p:blipFill>
                      <a:blip r:embed="rId4"/>
                      <a:stretch>
                        <a:fillRect/>
                      </a:stretch>
                    </p:blipFill>
                    <p:spPr>
                      <a:xfrm>
                        <a:off x="3655695" y="1414145"/>
                        <a:ext cx="2251075" cy="388620"/>
                      </a:xfrm>
                      <a:prstGeom prst="rect">
                        <a:avLst/>
                      </a:prstGeom>
                      <a:noFill/>
                      <a:ln w="38100">
                        <a:noFill/>
                        <a:miter/>
                      </a:ln>
                    </p:spPr>
                  </p:pic>
                </p:oleObj>
              </mc:Fallback>
            </mc:AlternateContent>
          </a:graphicData>
        </a:graphic>
      </p:graphicFrame>
      <p:graphicFrame>
        <p:nvGraphicFramePr>
          <p:cNvPr id="8" name="Picture 113"/>
          <p:cNvGraphicFramePr>
            <a:graphicFrameLocks noChangeAspect="1"/>
          </p:cNvGraphicFramePr>
          <p:nvPr/>
        </p:nvGraphicFramePr>
        <p:xfrm>
          <a:off x="4505960" y="4461510"/>
          <a:ext cx="3409950" cy="818515"/>
        </p:xfrm>
        <a:graphic>
          <a:graphicData uri="http://schemas.openxmlformats.org/presentationml/2006/ole">
            <mc:AlternateContent xmlns:mc="http://schemas.openxmlformats.org/markup-compatibility/2006">
              <mc:Choice xmlns:v="urn:schemas-microsoft-com:vml" Requires="v">
                <p:oleObj spid="_x0000_s9" name="" r:id="rId5" imgW="1625600" imgH="393700" progId="Equation.DSMT4">
                  <p:embed/>
                </p:oleObj>
              </mc:Choice>
              <mc:Fallback>
                <p:oleObj name="" r:id="rId5" imgW="1625600" imgH="393700" progId="Equation.DSMT4">
                  <p:embed/>
                  <p:pic>
                    <p:nvPicPr>
                      <p:cNvPr id="0" name="图片 5"/>
                      <p:cNvPicPr/>
                      <p:nvPr/>
                    </p:nvPicPr>
                    <p:blipFill>
                      <a:blip r:embed="rId6"/>
                      <a:stretch>
                        <a:fillRect/>
                      </a:stretch>
                    </p:blipFill>
                    <p:spPr>
                      <a:xfrm>
                        <a:off x="4505960" y="4461510"/>
                        <a:ext cx="3409950" cy="818515"/>
                      </a:xfrm>
                      <a:prstGeom prst="rect">
                        <a:avLst/>
                      </a:prstGeom>
                      <a:noFill/>
                      <a:ln w="38100">
                        <a:noFill/>
                        <a:miter/>
                      </a:ln>
                    </p:spPr>
                  </p:pic>
                </p:oleObj>
              </mc:Fallback>
            </mc:AlternateContent>
          </a:graphicData>
        </a:graphic>
      </p:graphicFrame>
      <p:graphicFrame>
        <p:nvGraphicFramePr>
          <p:cNvPr id="10" name="Picture 115"/>
          <p:cNvGraphicFramePr>
            <a:graphicFrameLocks noChangeAspect="1"/>
          </p:cNvGraphicFramePr>
          <p:nvPr/>
        </p:nvGraphicFramePr>
        <p:xfrm>
          <a:off x="3655695" y="5707380"/>
          <a:ext cx="6355715" cy="645160"/>
        </p:xfrm>
        <a:graphic>
          <a:graphicData uri="http://schemas.openxmlformats.org/presentationml/2006/ole">
            <mc:AlternateContent xmlns:mc="http://schemas.openxmlformats.org/markup-compatibility/2006">
              <mc:Choice xmlns:v="urn:schemas-microsoft-com:vml" Requires="v">
                <p:oleObj spid="_x0000_s11" name="" r:id="rId7" imgW="2540000" imgH="254000" progId="Equation.DSMT4">
                  <p:embed/>
                </p:oleObj>
              </mc:Choice>
              <mc:Fallback>
                <p:oleObj name="" r:id="rId7" imgW="2540000" imgH="254000" progId="Equation.DSMT4">
                  <p:embed/>
                  <p:pic>
                    <p:nvPicPr>
                      <p:cNvPr id="0" name="图片 6"/>
                      <p:cNvPicPr/>
                      <p:nvPr/>
                    </p:nvPicPr>
                    <p:blipFill>
                      <a:blip r:embed="rId8"/>
                      <a:stretch>
                        <a:fillRect/>
                      </a:stretch>
                    </p:blipFill>
                    <p:spPr>
                      <a:xfrm>
                        <a:off x="3655695" y="5707380"/>
                        <a:ext cx="6355715" cy="645160"/>
                      </a:xfrm>
                      <a:prstGeom prst="rect">
                        <a:avLst/>
                      </a:prstGeom>
                      <a:noFill/>
                      <a:ln w="38100">
                        <a:noFill/>
                        <a:miter/>
                      </a:ln>
                    </p:spPr>
                  </p:pic>
                </p:oleObj>
              </mc:Fallback>
            </mc:AlternateContent>
          </a:graphicData>
        </a:graphic>
      </p:graphicFrame>
      <p:sp>
        <p:nvSpPr>
          <p:cNvPr id="12" name="文本框 11"/>
          <p:cNvSpPr txBox="1"/>
          <p:nvPr/>
        </p:nvSpPr>
        <p:spPr>
          <a:xfrm>
            <a:off x="9092565" y="4817110"/>
            <a:ext cx="1631315" cy="368300"/>
          </a:xfrm>
          <a:prstGeom prst="rect">
            <a:avLst/>
          </a:prstGeom>
          <a:noFill/>
        </p:spPr>
        <p:txBody>
          <a:bodyPr wrap="square" rtlCol="0">
            <a:spAutoFit/>
          </a:bodyPr>
          <a:p>
            <a:r>
              <a:rPr lang="zh-CN" altLang="en-US">
                <a:latin typeface="楷体-简" panose="02010600040101010101" charset="-122"/>
                <a:ea typeface="楷体-简" panose="02010600040101010101" charset="-122"/>
                <a:cs typeface="楷体-简" panose="02010600040101010101" charset="-122"/>
              </a:rPr>
              <a:t>（</a:t>
            </a:r>
            <a:r>
              <a:rPr lang="en-US" altLang="zh-CN">
                <a:latin typeface="楷体-简" panose="02010600040101010101" charset="-122"/>
                <a:ea typeface="楷体-简" panose="02010600040101010101" charset="-122"/>
                <a:cs typeface="楷体-简" panose="02010600040101010101" charset="-122"/>
              </a:rPr>
              <a:t>7-19</a:t>
            </a:r>
            <a:r>
              <a:rPr lang="zh-CN" altLang="en-US">
                <a:latin typeface="楷体-简" panose="02010600040101010101" charset="-122"/>
                <a:ea typeface="楷体-简" panose="02010600040101010101" charset="-122"/>
                <a:cs typeface="楷体-简" panose="02010600040101010101" charset="-122"/>
              </a:rPr>
              <a:t>）</a:t>
            </a:r>
            <a:endParaRPr lang="zh-CN" altLang="en-US">
              <a:latin typeface="楷体-简" panose="02010600040101010101" charset="-122"/>
              <a:ea typeface="楷体-简" panose="02010600040101010101" charset="-122"/>
              <a:cs typeface="楷体-简" panose="02010600040101010101" charset="-122"/>
            </a:endParaRPr>
          </a:p>
        </p:txBody>
      </p:sp>
      <p:sp>
        <p:nvSpPr>
          <p:cNvPr id="13" name="文本框 12"/>
          <p:cNvSpPr txBox="1"/>
          <p:nvPr/>
        </p:nvSpPr>
        <p:spPr>
          <a:xfrm>
            <a:off x="2831465" y="5800090"/>
            <a:ext cx="1202690" cy="460375"/>
          </a:xfrm>
          <a:prstGeom prst="rect">
            <a:avLst/>
          </a:prstGeom>
          <a:noFill/>
        </p:spPr>
        <p:txBody>
          <a:bodyPr wrap="square" rtlCol="0">
            <a:spAutoFit/>
          </a:bodyPr>
          <a:p>
            <a:r>
              <a:rPr lang="en-US" altLang="zh-CN" sz="2400">
                <a:latin typeface="楷体-简" panose="02010600040101010101" charset="-122"/>
                <a:ea typeface="楷体-简" panose="02010600040101010101" charset="-122"/>
              </a:rPr>
              <a:t>s.t</a:t>
            </a:r>
            <a:endParaRPr lang="en-US" altLang="zh-CN" sz="2400">
              <a:latin typeface="楷体-简" panose="02010600040101010101" charset="-122"/>
              <a:ea typeface="楷体-简" panose="0201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2315" y="749935"/>
            <a:ext cx="8915400" cy="548640"/>
          </a:xfrm>
        </p:spPr>
        <p:txBody>
          <a:bodyPr/>
          <a:p>
            <a:pPr marL="0" indent="0">
              <a:buNone/>
            </a:pPr>
            <a:r>
              <a:rPr lang="zh-CN" altLang="en-US" sz="2000">
                <a:solidFill>
                  <a:schemeClr val="tx1"/>
                </a:solidFill>
                <a:latin typeface="楷体-简" panose="02010600040101010101" charset="-122"/>
                <a:ea typeface="楷体-简" panose="02010600040101010101" charset="-122"/>
                <a:cs typeface="楷体-简" panose="02010600040101010101" charset="-122"/>
              </a:rPr>
              <a:t>对偶优化问题（D）:</a:t>
            </a:r>
            <a:endParaRPr lang="zh-CN" altLang="en-US" sz="2000">
              <a:solidFill>
                <a:schemeClr val="tx1"/>
              </a:solidFill>
              <a:latin typeface="楷体-简" panose="02010600040101010101" charset="-122"/>
              <a:ea typeface="楷体-简" panose="02010600040101010101" charset="-122"/>
              <a:cs typeface="楷体-简" panose="02010600040101010101" charset="-122"/>
            </a:endParaRPr>
          </a:p>
        </p:txBody>
      </p:sp>
      <p:graphicFrame>
        <p:nvGraphicFramePr>
          <p:cNvPr id="2" name="Picture 116"/>
          <p:cNvGraphicFramePr>
            <a:graphicFrameLocks noChangeAspect="1"/>
          </p:cNvGraphicFramePr>
          <p:nvPr/>
        </p:nvGraphicFramePr>
        <p:xfrm>
          <a:off x="2012315" y="1298575"/>
          <a:ext cx="4586605" cy="636905"/>
        </p:xfrm>
        <a:graphic>
          <a:graphicData uri="http://schemas.openxmlformats.org/presentationml/2006/ole">
            <mc:AlternateContent xmlns:mc="http://schemas.openxmlformats.org/markup-compatibility/2006">
              <mc:Choice xmlns:v="urn:schemas-microsoft-com:vml" Requires="v">
                <p:oleObj spid="_x0000_s3076" name="" r:id="rId1" imgW="2806700" imgH="393700" progId="Equation.DSMT4">
                  <p:embed/>
                </p:oleObj>
              </mc:Choice>
              <mc:Fallback>
                <p:oleObj name="" r:id="rId1" imgW="2806700" imgH="393700" progId="Equation.DSMT4">
                  <p:embed/>
                  <p:pic>
                    <p:nvPicPr>
                      <p:cNvPr id="0" name="图片 3075"/>
                      <p:cNvPicPr/>
                      <p:nvPr/>
                    </p:nvPicPr>
                    <p:blipFill>
                      <a:blip r:embed="rId2"/>
                      <a:stretch>
                        <a:fillRect/>
                      </a:stretch>
                    </p:blipFill>
                    <p:spPr>
                      <a:xfrm>
                        <a:off x="2012315" y="1298575"/>
                        <a:ext cx="4586605" cy="636905"/>
                      </a:xfrm>
                      <a:prstGeom prst="rect">
                        <a:avLst/>
                      </a:prstGeom>
                      <a:noFill/>
                      <a:ln w="38100">
                        <a:noFill/>
                        <a:miter/>
                      </a:ln>
                    </p:spPr>
                  </p:pic>
                </p:oleObj>
              </mc:Fallback>
            </mc:AlternateContent>
          </a:graphicData>
        </a:graphic>
      </p:graphicFrame>
      <p:graphicFrame>
        <p:nvGraphicFramePr>
          <p:cNvPr id="4" name="Picture 118"/>
          <p:cNvGraphicFramePr>
            <a:graphicFrameLocks noChangeAspect="1"/>
          </p:cNvGraphicFramePr>
          <p:nvPr/>
        </p:nvGraphicFramePr>
        <p:xfrm>
          <a:off x="2670810" y="1935480"/>
          <a:ext cx="3764280" cy="525780"/>
        </p:xfrm>
        <a:graphic>
          <a:graphicData uri="http://schemas.openxmlformats.org/presentationml/2006/ole">
            <mc:AlternateContent xmlns:mc="http://schemas.openxmlformats.org/markup-compatibility/2006">
              <mc:Choice xmlns:v="urn:schemas-microsoft-com:vml" Requires="v">
                <p:oleObj spid="_x0000_s5" name="" r:id="rId3" imgW="2108200" imgH="292100" progId="Equation.DSMT4">
                  <p:embed/>
                </p:oleObj>
              </mc:Choice>
              <mc:Fallback>
                <p:oleObj name="" r:id="rId3" imgW="2108200" imgH="292100" progId="Equation.DSMT4">
                  <p:embed/>
                  <p:pic>
                    <p:nvPicPr>
                      <p:cNvPr id="0" name="图片 3"/>
                      <p:cNvPicPr/>
                      <p:nvPr/>
                    </p:nvPicPr>
                    <p:blipFill>
                      <a:blip r:embed="rId4"/>
                      <a:stretch>
                        <a:fillRect/>
                      </a:stretch>
                    </p:blipFill>
                    <p:spPr>
                      <a:xfrm>
                        <a:off x="2670810" y="1935480"/>
                        <a:ext cx="3764280" cy="525780"/>
                      </a:xfrm>
                      <a:prstGeom prst="rect">
                        <a:avLst/>
                      </a:prstGeom>
                      <a:noFill/>
                      <a:ln w="38100">
                        <a:noFill/>
                        <a:miter/>
                      </a:ln>
                    </p:spPr>
                  </p:pic>
                </p:oleObj>
              </mc:Fallback>
            </mc:AlternateContent>
          </a:graphicData>
        </a:graphic>
      </p:graphicFrame>
      <p:sp>
        <p:nvSpPr>
          <p:cNvPr id="6" name="文本框 5"/>
          <p:cNvSpPr txBox="1"/>
          <p:nvPr/>
        </p:nvSpPr>
        <p:spPr>
          <a:xfrm>
            <a:off x="2012315" y="2092960"/>
            <a:ext cx="1021715" cy="368300"/>
          </a:xfrm>
          <a:prstGeom prst="rect">
            <a:avLst/>
          </a:prstGeom>
          <a:noFill/>
        </p:spPr>
        <p:txBody>
          <a:bodyPr wrap="square" rtlCol="0">
            <a:spAutoFit/>
          </a:bodyPr>
          <a:p>
            <a:r>
              <a:rPr lang="en-US" altLang="zh-CN">
                <a:latin typeface="楷体-简" panose="02010600040101010101" charset="-122"/>
                <a:ea typeface="楷体-简" panose="02010600040101010101" charset="-122"/>
              </a:rPr>
              <a:t>s.t</a:t>
            </a:r>
            <a:endParaRPr lang="en-US" altLang="zh-CN">
              <a:latin typeface="楷体-简" panose="02010600040101010101" charset="-122"/>
              <a:ea typeface="楷体-简" panose="02010600040101010101" charset="-122"/>
            </a:endParaRPr>
          </a:p>
        </p:txBody>
      </p:sp>
      <p:sp>
        <p:nvSpPr>
          <p:cNvPr id="7" name="文本框 6"/>
          <p:cNvSpPr txBox="1"/>
          <p:nvPr/>
        </p:nvSpPr>
        <p:spPr>
          <a:xfrm>
            <a:off x="7837805" y="1433195"/>
            <a:ext cx="1696720" cy="368300"/>
          </a:xfrm>
          <a:prstGeom prst="rect">
            <a:avLst/>
          </a:prstGeom>
          <a:noFill/>
        </p:spPr>
        <p:txBody>
          <a:bodyPr wrap="square" rtlCol="0">
            <a:spAutoFit/>
          </a:bodyPr>
          <a:p>
            <a:r>
              <a:rPr lang="en-US" altLang="zh-CN"/>
              <a:t>(7-20)</a:t>
            </a:r>
            <a:endParaRPr lang="en-US" altLang="zh-CN"/>
          </a:p>
        </p:txBody>
      </p:sp>
      <mc:AlternateContent xmlns:mc="http://schemas.openxmlformats.org/markup-compatibility/2006">
        <mc:Choice xmlns:a14="http://schemas.microsoft.com/office/drawing/2010/main" Requires="a14">
          <p:sp>
            <p:nvSpPr>
              <p:cNvPr id="7" name="文本框 6"/>
              <p:cNvSpPr txBox="1"/>
              <p:nvPr/>
            </p:nvSpPr>
            <p:spPr>
              <a:xfrm>
                <a:off x="2071370" y="2691130"/>
                <a:ext cx="8039735" cy="404495"/>
              </a:xfrm>
              <a:prstGeom prst="rect">
                <a:avLst/>
              </a:prstGeom>
              <a:noFill/>
            </p:spPr>
            <p:txBody>
              <a:bodyPr wrap="square" rtlCol="0">
                <a:spAutoFit/>
              </a:bodyPr>
              <a:p>
                <a:r>
                  <a:rPr lang="zh-CN" altLang="en-US" sz="2000">
                    <a:latin typeface="楷体-简" panose="02010600040101010101" charset="-122"/>
                    <a:ea typeface="楷体-简" panose="02010600040101010101" charset="-122"/>
                    <a:cs typeface="楷体-简" panose="02010600040101010101" charset="-122"/>
                  </a:rPr>
                  <a:t>求解对偶问题的最优解</a:t>
                </a:r>
                <a14:m>
                  <m:oMath xmlns:m="http://schemas.openxmlformats.org/officeDocument/2006/math">
                    <m:sSup>
                      <m:sSupPr>
                        <m:ctrlPr>
                          <a:rPr lang="en-US" altLang="zh-CN" sz="2000" i="1">
                            <a:latin typeface="Cambria Math" panose="02040503050406030204" charset="0"/>
                            <a:ea typeface="楷体-简" panose="02010600040101010101" charset="-122"/>
                            <a:cs typeface="Cambria Math" panose="02040503050406030204" charset="0"/>
                          </a:rPr>
                        </m:ctrlPr>
                      </m:sSupPr>
                      <m:e>
                        <m:r>
                          <a:rPr lang="en-US" altLang="zh-CN" sz="2000" i="1">
                            <a:latin typeface="Cambria Math" panose="02040503050406030204" charset="0"/>
                            <a:ea typeface="楷体-简" panose="02010600040101010101" charset="-122"/>
                            <a:cs typeface="Cambria Math" panose="02040503050406030204" charset="0"/>
                          </a:rPr>
                          <m:t>𝑎</m:t>
                        </m:r>
                      </m:e>
                      <m:sup>
                        <m:r>
                          <a:rPr lang="en-US" altLang="zh-CN" sz="2000" i="1">
                            <a:latin typeface="Cambria Math" panose="02040503050406030204" charset="0"/>
                            <a:ea typeface="宋体" charset="0"/>
                            <a:cs typeface="Cambria Math" panose="02040503050406030204" charset="0"/>
                          </a:rPr>
                          <m:t>*</m:t>
                        </m:r>
                      </m:sup>
                    </m:sSup>
                  </m:oMath>
                </a14:m>
                <a:r>
                  <a:rPr lang="zh-CN" altLang="en-US" sz="2000">
                    <a:latin typeface="楷体-简" panose="02010600040101010101" charset="-122"/>
                    <a:ea typeface="楷体-简" panose="02010600040101010101" charset="-122"/>
                    <a:cs typeface="楷体-简" panose="02010600040101010101" charset="-122"/>
                  </a:rPr>
                  <a:t>后,支持向量机的决策函数为：</a:t>
                </a:r>
                <a:endParaRPr lang="zh-CN" altLang="en-US" sz="2000">
                  <a:latin typeface="楷体-简" panose="02010600040101010101" charset="-122"/>
                  <a:ea typeface="楷体-简" panose="02010600040101010101" charset="-122"/>
                  <a:cs typeface="楷体-简" panose="0201060004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1826895" y="2461260"/>
                <a:ext cx="10815955" cy="544195"/>
              </a:xfrm>
              <a:prstGeom prst="rect">
                <a:avLst/>
              </a:prstGeom>
              <a:blipFill rotWithShape="1">
                <a:blip r:embed="rId5"/>
                <a:stretch>
                  <a:fillRect/>
                </a:stretch>
              </a:blipFill>
            </p:spPr>
            <p:txBody>
              <a:bodyPr/>
              <a:lstStyle/>
              <a:p>
                <a:r>
                  <a:rPr lang="zh-CN" altLang="en-US">
                    <a:noFill/>
                  </a:rPr>
                  <a:t> </a:t>
                </a:r>
                <a:endParaRPr lang="zh-CN" altLang="en-US">
                  <a:noFill/>
                </a:endParaRPr>
              </a:p>
            </p:txBody>
          </p:sp>
        </mc:Fallback>
      </mc:AlternateContent>
      <p:graphicFrame>
        <p:nvGraphicFramePr>
          <p:cNvPr id="9" name="对象 -2147482436"/>
          <p:cNvGraphicFramePr>
            <a:graphicFrameLocks noChangeAspect="1"/>
          </p:cNvGraphicFramePr>
          <p:nvPr/>
        </p:nvGraphicFramePr>
        <p:xfrm>
          <a:off x="1655445" y="3151505"/>
          <a:ext cx="6338570" cy="570230"/>
        </p:xfrm>
        <a:graphic>
          <a:graphicData uri="http://schemas.openxmlformats.org/presentationml/2006/ole">
            <mc:AlternateContent xmlns:mc="http://schemas.openxmlformats.org/markup-compatibility/2006">
              <mc:Choice xmlns:v="urn:schemas-microsoft-com:vml" Requires="v">
                <p:oleObj spid="_x0000_s10" name="" r:id="rId6" imgW="3556000" imgH="330200" progId="Equation.DSMT4">
                  <p:embed/>
                </p:oleObj>
              </mc:Choice>
              <mc:Fallback>
                <p:oleObj name="" r:id="rId6" imgW="3556000" imgH="330200" progId="Equation.DSMT4">
                  <p:embed/>
                  <p:pic>
                    <p:nvPicPr>
                      <p:cNvPr id="0" name="图片 7"/>
                      <p:cNvPicPr/>
                      <p:nvPr/>
                    </p:nvPicPr>
                    <p:blipFill>
                      <a:blip r:embed="rId7"/>
                      <a:stretch>
                        <a:fillRect/>
                      </a:stretch>
                    </p:blipFill>
                    <p:spPr>
                      <a:xfrm>
                        <a:off x="1655445" y="3151505"/>
                        <a:ext cx="6338570" cy="570230"/>
                      </a:xfrm>
                      <a:prstGeom prst="rect">
                        <a:avLst/>
                      </a:prstGeom>
                      <a:noFill/>
                      <a:ln w="38100">
                        <a:noFill/>
                        <a:miter/>
                      </a:ln>
                    </p:spPr>
                  </p:pic>
                </p:oleObj>
              </mc:Fallback>
            </mc:AlternateContent>
          </a:graphicData>
        </a:graphic>
      </p:graphicFrame>
      <p:sp>
        <p:nvSpPr>
          <p:cNvPr id="11" name="文本框 10"/>
          <p:cNvSpPr txBox="1"/>
          <p:nvPr/>
        </p:nvSpPr>
        <p:spPr>
          <a:xfrm>
            <a:off x="8536305" y="3245485"/>
            <a:ext cx="1696720" cy="368300"/>
          </a:xfrm>
          <a:prstGeom prst="rect">
            <a:avLst/>
          </a:prstGeom>
          <a:noFill/>
        </p:spPr>
        <p:txBody>
          <a:bodyPr wrap="square" rtlCol="0">
            <a:spAutoFit/>
          </a:bodyPr>
          <a:p>
            <a:r>
              <a:rPr lang="en-US" altLang="zh-CN"/>
              <a:t>(7-21)</a:t>
            </a:r>
            <a:endParaRPr lang="en-US" altLang="zh-CN"/>
          </a:p>
        </p:txBody>
      </p:sp>
      <p:sp>
        <p:nvSpPr>
          <p:cNvPr id="12" name="文本框 11"/>
          <p:cNvSpPr txBox="1"/>
          <p:nvPr/>
        </p:nvSpPr>
        <p:spPr>
          <a:xfrm>
            <a:off x="2120900" y="3992880"/>
            <a:ext cx="8368665" cy="398780"/>
          </a:xfrm>
          <a:prstGeom prst="rect">
            <a:avLst/>
          </a:prstGeom>
          <a:noFill/>
        </p:spPr>
        <p:txBody>
          <a:bodyPr wrap="square" rtlCol="0">
            <a:spAutoFit/>
          </a:bodyPr>
          <a:p>
            <a:r>
              <a:rPr lang="zh-CN" altLang="en-US" sz="2000">
                <a:latin typeface="楷体-简" panose="02010600040101010101" charset="-122"/>
                <a:ea typeface="楷体-简" panose="02010600040101010101" charset="-122"/>
                <a:cs typeface="楷体-简" panose="02010600040101010101" charset="-122"/>
              </a:rPr>
              <a:t>同样根据KKT条件，优化对偶优化问题(D)取最优解时应该满足如下条件：</a:t>
            </a:r>
            <a:endParaRPr lang="zh-CN" altLang="en-US" sz="2000">
              <a:latin typeface="楷体-简" panose="02010600040101010101" charset="-122"/>
              <a:ea typeface="楷体-简" panose="02010600040101010101" charset="-122"/>
              <a:cs typeface="楷体-简" panose="02010600040101010101" charset="-122"/>
            </a:endParaRPr>
          </a:p>
        </p:txBody>
      </p:sp>
      <p:graphicFrame>
        <p:nvGraphicFramePr>
          <p:cNvPr id="13" name="Picture 121"/>
          <p:cNvGraphicFramePr>
            <a:graphicFrameLocks noChangeAspect="1"/>
          </p:cNvGraphicFramePr>
          <p:nvPr/>
        </p:nvGraphicFramePr>
        <p:xfrm>
          <a:off x="2120900" y="4391660"/>
          <a:ext cx="4994910" cy="549275"/>
        </p:xfrm>
        <a:graphic>
          <a:graphicData uri="http://schemas.openxmlformats.org/presentationml/2006/ole">
            <mc:AlternateContent xmlns:mc="http://schemas.openxmlformats.org/markup-compatibility/2006">
              <mc:Choice xmlns:v="urn:schemas-microsoft-com:vml" Requires="v">
                <p:oleObj spid="_x0000_s14" name="" r:id="rId8" imgW="2755900" imgH="304800" progId="Equation.DSMT4">
                  <p:embed/>
                </p:oleObj>
              </mc:Choice>
              <mc:Fallback>
                <p:oleObj name="" r:id="rId8" imgW="2755900" imgH="304800" progId="Equation.DSMT4">
                  <p:embed/>
                  <p:pic>
                    <p:nvPicPr>
                      <p:cNvPr id="0" name="图片 10"/>
                      <p:cNvPicPr/>
                      <p:nvPr/>
                    </p:nvPicPr>
                    <p:blipFill>
                      <a:blip r:embed="rId9"/>
                      <a:stretch>
                        <a:fillRect/>
                      </a:stretch>
                    </p:blipFill>
                    <p:spPr>
                      <a:xfrm>
                        <a:off x="2120900" y="4391660"/>
                        <a:ext cx="4994910" cy="549275"/>
                      </a:xfrm>
                      <a:prstGeom prst="rect">
                        <a:avLst/>
                      </a:prstGeom>
                      <a:noFill/>
                      <a:ln w="38100">
                        <a:noFill/>
                        <a:miter/>
                      </a:ln>
                    </p:spPr>
                  </p:pic>
                </p:oleObj>
              </mc:Fallback>
            </mc:AlternateContent>
          </a:graphicData>
        </a:graphic>
      </p:graphicFrame>
      <p:graphicFrame>
        <p:nvGraphicFramePr>
          <p:cNvPr id="15" name="Picture 123"/>
          <p:cNvGraphicFramePr>
            <a:graphicFrameLocks noChangeAspect="1"/>
          </p:cNvGraphicFramePr>
          <p:nvPr/>
        </p:nvGraphicFramePr>
        <p:xfrm>
          <a:off x="2219960" y="5164455"/>
          <a:ext cx="2044065" cy="591185"/>
        </p:xfrm>
        <a:graphic>
          <a:graphicData uri="http://schemas.openxmlformats.org/presentationml/2006/ole">
            <mc:AlternateContent xmlns:mc="http://schemas.openxmlformats.org/markup-compatibility/2006">
              <mc:Choice xmlns:v="urn:schemas-microsoft-com:vml" Requires="v">
                <p:oleObj spid="_x0000_s16" name="" r:id="rId10" imgW="991235" imgH="279400" progId="Equation.DSMT4">
                  <p:embed/>
                </p:oleObj>
              </mc:Choice>
              <mc:Fallback>
                <p:oleObj name="" r:id="rId10" imgW="991235" imgH="279400" progId="Equation.DSMT4">
                  <p:embed/>
                  <p:pic>
                    <p:nvPicPr>
                      <p:cNvPr id="0" name="图片 11"/>
                      <p:cNvPicPr/>
                      <p:nvPr/>
                    </p:nvPicPr>
                    <p:blipFill>
                      <a:blip r:embed="rId11"/>
                      <a:stretch>
                        <a:fillRect/>
                      </a:stretch>
                    </p:blipFill>
                    <p:spPr>
                      <a:xfrm>
                        <a:off x="2219960" y="5164455"/>
                        <a:ext cx="2044065" cy="591185"/>
                      </a:xfrm>
                      <a:prstGeom prst="rect">
                        <a:avLst/>
                      </a:prstGeom>
                      <a:noFill/>
                      <a:ln w="38100">
                        <a:noFill/>
                        <a:miter/>
                      </a:ln>
                    </p:spPr>
                  </p:pic>
                </p:oleObj>
              </mc:Fallback>
            </mc:AlternateContent>
          </a:graphicData>
        </a:graphic>
      </p:graphicFrame>
      <p:sp>
        <p:nvSpPr>
          <p:cNvPr id="17" name="文本框 16"/>
          <p:cNvSpPr txBox="1"/>
          <p:nvPr/>
        </p:nvSpPr>
        <p:spPr>
          <a:xfrm>
            <a:off x="7837805" y="4482465"/>
            <a:ext cx="1696720" cy="368300"/>
          </a:xfrm>
          <a:prstGeom prst="rect">
            <a:avLst/>
          </a:prstGeom>
          <a:noFill/>
        </p:spPr>
        <p:txBody>
          <a:bodyPr wrap="square" rtlCol="0">
            <a:spAutoFit/>
          </a:bodyPr>
          <a:p>
            <a:r>
              <a:rPr lang="en-US" altLang="zh-CN"/>
              <a:t>(7-22)</a:t>
            </a:r>
            <a:endParaRPr lang="en-US" altLang="zh-CN"/>
          </a:p>
        </p:txBody>
      </p:sp>
      <p:sp>
        <p:nvSpPr>
          <p:cNvPr id="18" name="文本框 17"/>
          <p:cNvSpPr txBox="1"/>
          <p:nvPr/>
        </p:nvSpPr>
        <p:spPr>
          <a:xfrm>
            <a:off x="7837805" y="5276215"/>
            <a:ext cx="1696720" cy="368300"/>
          </a:xfrm>
          <a:prstGeom prst="rect">
            <a:avLst/>
          </a:prstGeom>
          <a:noFill/>
        </p:spPr>
        <p:txBody>
          <a:bodyPr wrap="square" rtlCol="0">
            <a:spAutoFit/>
          </a:bodyPr>
          <a:p>
            <a:r>
              <a:rPr lang="en-US" altLang="zh-CN"/>
              <a:t>(7-23)</a:t>
            </a:r>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292350" y="848360"/>
                <a:ext cx="8915400" cy="5144770"/>
              </a:xfrm>
            </p:spPr>
            <p:txBody>
              <a:bodyPr>
                <a:noAutofit/>
              </a:bodyPr>
              <a:p>
                <a:pPr marL="0" indent="0">
                  <a:buNone/>
                </a:pPr>
                <a:r>
                  <a:rPr lang="zh-CN" altLang="en-US" sz="2400">
                    <a:latin typeface="楷体-简" panose="02010600040101010101" charset="-122"/>
                    <a:ea typeface="楷体-简" panose="02010600040101010101" charset="-122"/>
                    <a:cs typeface="楷体-简" panose="02010600040101010101" charset="-122"/>
                  </a:rPr>
                  <a:t>结合公式</a:t>
                </a:r>
                <a:r>
                  <a:rPr lang="en-US" altLang="zh-CN" sz="2400">
                    <a:latin typeface="楷体-简" panose="02010600040101010101" charset="-122"/>
                    <a:ea typeface="楷体-简" panose="02010600040101010101" charset="-122"/>
                    <a:cs typeface="楷体-简" panose="02010600040101010101" charset="-122"/>
                  </a:rPr>
                  <a:t>(7-20)</a:t>
                </a:r>
                <a:r>
                  <a:rPr lang="zh-CN" altLang="en-US" sz="2400">
                    <a:latin typeface="楷体-简" panose="02010600040101010101" charset="-122"/>
                    <a:ea typeface="楷体-简" panose="02010600040101010101" charset="-122"/>
                    <a:cs typeface="楷体-简" panose="02010600040101010101" charset="-122"/>
                  </a:rPr>
                  <a:t>的约束条件和公式</a:t>
                </a:r>
                <a:r>
                  <a:rPr lang="en-US" altLang="zh-CN" sz="2400">
                    <a:latin typeface="楷体-简" panose="02010600040101010101" charset="-122"/>
                    <a:ea typeface="楷体-简" panose="02010600040101010101" charset="-122"/>
                    <a:cs typeface="楷体-简" panose="02010600040101010101" charset="-122"/>
                  </a:rPr>
                  <a:t>(7-22)</a:t>
                </a:r>
                <a:r>
                  <a:rPr lang="zh-CN" altLang="en-US" sz="2400">
                    <a:latin typeface="楷体-简" panose="02010600040101010101" charset="-122"/>
                    <a:ea typeface="楷体-简" panose="02010600040101010101" charset="-122"/>
                    <a:cs typeface="楷体-简" panose="02010600040101010101" charset="-122"/>
                  </a:rPr>
                  <a:t>、公式</a:t>
                </a:r>
                <a:r>
                  <a:rPr lang="en-US" altLang="zh-CN" sz="2400">
                    <a:latin typeface="楷体-简" panose="02010600040101010101" charset="-122"/>
                    <a:ea typeface="楷体-简" panose="02010600040101010101" charset="-122"/>
                    <a:cs typeface="楷体-简" panose="02010600040101010101" charset="-122"/>
                  </a:rPr>
                  <a:t>(7-23)</a:t>
                </a:r>
                <a:r>
                  <a:rPr lang="zh-CN" altLang="en-US" sz="2400">
                    <a:latin typeface="楷体-简" panose="02010600040101010101" charset="-122"/>
                    <a:ea typeface="楷体-简" panose="02010600040101010101" charset="-122"/>
                    <a:cs typeface="楷体-简" panose="02010600040101010101" charset="-122"/>
                  </a:rPr>
                  <a:t>,可以推导出如下重要结论:</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（1）若</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0</m:t>
                    </m:r>
                  </m:oMath>
                </a14:m>
                <a:r>
                  <a:rPr lang="zh-CN" altLang="en-US" sz="2400">
                    <a:latin typeface="楷体-简" panose="02010600040101010101" charset="-122"/>
                    <a:ea typeface="楷体-简" panose="02010600040101010101" charset="-122"/>
                    <a:cs typeface="楷体-简" panose="02010600040101010101" charset="-122"/>
                  </a:rPr>
                  <a:t>,则有</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𝜉</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0</m:t>
                    </m:r>
                  </m:oMath>
                </a14:m>
                <a:r>
                  <a:rPr lang="zh-CN" altLang="en-US" sz="2400">
                    <a:latin typeface="楷体-简" panose="02010600040101010101" charset="-122"/>
                    <a:ea typeface="楷体-简" panose="02010600040101010101" charset="-122"/>
                    <a:cs typeface="楷体-简" panose="02010600040101010101" charset="-122"/>
                  </a:rPr>
                  <a:t>,且对应的样本</a:t>
                </a: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𝑥</m:t>
                        </m:r>
                      </m:e>
                      <m:sub>
                        <m:r>
                          <a:rPr lang="en-US" altLang="zh-CN" sz="2400" i="1">
                            <a:latin typeface="Cambria Math" panose="02040503050406030204" charset="0"/>
                            <a:ea typeface="楷体-简" panose="02010600040101010101" charset="-122"/>
                            <a:cs typeface="Cambria Math" panose="02040503050406030204" charset="0"/>
                          </a:rPr>
                          <m:t>𝑖</m:t>
                        </m:r>
                      </m:sub>
                    </m:sSub>
                  </m:oMath>
                </a14:m>
                <a:r>
                  <a:rPr lang="zh-CN" altLang="en-US" sz="2400">
                    <a:latin typeface="楷体-简" panose="02010600040101010101" charset="-122"/>
                    <a:ea typeface="楷体-简" panose="02010600040101010101" charset="-122"/>
                    <a:cs typeface="楷体-简" panose="02010600040101010101" charset="-122"/>
                  </a:rPr>
                  <a:t>一定不是支持向量。</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（2）若</a:t>
                </a:r>
                <a14:m>
                  <m:oMath xmlns:m="http://schemas.openxmlformats.org/officeDocument/2006/math">
                    <m:r>
                      <a:rPr lang="en-US" altLang="zh-CN" sz="2400" i="1">
                        <a:latin typeface="Cambria Math" panose="02040503050406030204" charset="0"/>
                        <a:ea typeface="宋体" charset="0"/>
                        <a:cs typeface="Cambria Math" panose="02040503050406030204" charset="0"/>
                      </a:rPr>
                      <m:t>0</m:t>
                    </m:r>
                    <m:r>
                      <a:rPr lang="en-US" altLang="zh-CN" sz="2400" i="1">
                        <a:latin typeface="Cambria Math" panose="02040503050406030204" charset="0"/>
                        <a:ea typeface="宋体" charset="0"/>
                        <a:cs typeface="Cambria Math" panose="02040503050406030204" charset="0"/>
                      </a:rPr>
                      <m:t>&lt;</m:t>
                    </m:r>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&lt;</m:t>
                    </m:r>
                    <m:r>
                      <a:rPr lang="en-US" altLang="zh-CN" sz="2400" i="1">
                        <a:latin typeface="Cambria Math" panose="02040503050406030204" charset="0"/>
                        <a:ea typeface="楷体-简" panose="02010600040101010101" charset="-122"/>
                        <a:cs typeface="Cambria Math" panose="02040503050406030204" charset="0"/>
                      </a:rPr>
                      <m:t>𝐶</m:t>
                    </m:r>
                  </m:oMath>
                </a14:m>
                <a:r>
                  <a:rPr lang="zh-CN" altLang="en-US" sz="2400">
                    <a:latin typeface="楷体-简" panose="02010600040101010101" charset="-122"/>
                    <a:ea typeface="楷体-简" panose="02010600040101010101" charset="-122"/>
                    <a:cs typeface="楷体-简" panose="02010600040101010101" charset="-122"/>
                  </a:rPr>
                  <a:t>,则有</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𝜉</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0</m:t>
                    </m:r>
                  </m:oMath>
                </a14:m>
                <a:r>
                  <a:rPr lang="zh-CN" altLang="en-US" sz="2400">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𝑦</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宋体" charset="0"/>
                        <a:cs typeface="Cambria Math" panose="02040503050406030204" charset="0"/>
                      </a:rPr>
                      <m:t>(</m:t>
                    </m:r>
                    <m:sSup>
                      <m:sSupPr>
                        <m:ctrlPr>
                          <a:rPr lang="en-US" altLang="zh-CN" sz="2400" i="1">
                            <a:latin typeface="Cambria Math" panose="02040503050406030204" charset="0"/>
                            <a:ea typeface="楷体-简" panose="02010600040101010101" charset="-122"/>
                            <a:cs typeface="Cambria Math" panose="02040503050406030204" charset="0"/>
                          </a:rPr>
                        </m:ctrlPr>
                      </m:sSupPr>
                      <m:e>
                        <m:r>
                          <a:rPr lang="en-US" altLang="zh-CN" sz="2400" i="1">
                            <a:latin typeface="Cambria Math" panose="02040503050406030204" charset="0"/>
                            <a:ea typeface="楷体-简" panose="02010600040101010101" charset="-122"/>
                            <a:cs typeface="Cambria Math" panose="02040503050406030204" charset="0"/>
                          </a:rPr>
                          <m:t>𝑤</m:t>
                        </m:r>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𝜙</m:t>
                    </m:r>
                    <m:r>
                      <a:rPr lang="en-US" altLang="zh-CN" sz="2400" i="1">
                        <a:latin typeface="Cambria Math" panose="02040503050406030204" charset="0"/>
                        <a:ea typeface="宋体" charset="0"/>
                        <a:cs typeface="Cambria Math" panose="02040503050406030204" charset="0"/>
                      </a:rPr>
                      <m:t>(</m:t>
                    </m:r>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𝑥</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宋体" charset="0"/>
                        <a:cs typeface="Cambria Math" panose="02040503050406030204" charset="0"/>
                      </a:rPr>
                      <m:t>)+</m:t>
                    </m:r>
                    <m:sSup>
                      <m:sSupPr>
                        <m:ctrlPr>
                          <a:rPr lang="en-US" altLang="zh-CN" sz="2400" i="1">
                            <a:latin typeface="Cambria Math" panose="02040503050406030204" charset="0"/>
                            <a:ea typeface="楷体-简" panose="02010600040101010101" charset="-122"/>
                            <a:cs typeface="Cambria Math" panose="02040503050406030204" charset="0"/>
                          </a:rPr>
                        </m:ctrlPr>
                      </m:sSupPr>
                      <m:e>
                        <m:r>
                          <a:rPr lang="en-US" altLang="zh-CN" sz="2400" i="1">
                            <a:latin typeface="Cambria Math" panose="02040503050406030204" charset="0"/>
                            <a:ea typeface="楷体-简" panose="02010600040101010101" charset="-122"/>
                            <a:cs typeface="Cambria Math" panose="02040503050406030204" charset="0"/>
                          </a:rPr>
                          <m:t>𝑏</m:t>
                        </m:r>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1</m:t>
                    </m:r>
                  </m:oMath>
                </a14:m>
                <a:r>
                  <a:rPr lang="zh-CN" altLang="en-US" sz="2400">
                    <a:latin typeface="楷体-简" panose="02010600040101010101" charset="-122"/>
                    <a:ea typeface="楷体-简" panose="02010600040101010101" charset="-122"/>
                    <a:cs typeface="楷体-简" panose="02010600040101010101" charset="-122"/>
                  </a:rPr>
                  <a:t>,且对应的样本称为“非边界支持向量机”。</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（3）若</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楷体-简" panose="02010600040101010101" charset="-122"/>
                        <a:cs typeface="Cambria Math" panose="02040503050406030204" charset="0"/>
                      </a:rPr>
                      <m:t>𝐶</m:t>
                    </m:r>
                  </m:oMath>
                </a14:m>
                <a:r>
                  <a:rPr lang="zh-CN" altLang="en-US" sz="2400">
                    <a:latin typeface="楷体-简" panose="02010600040101010101" charset="-122"/>
                    <a:ea typeface="楷体-简" panose="02010600040101010101" charset="-122"/>
                    <a:cs typeface="楷体-简" panose="02010600040101010101" charset="-122"/>
                  </a:rPr>
                  <a:t>，则有</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𝜉</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0</m:t>
                    </m:r>
                  </m:oMath>
                </a14:m>
                <a:r>
                  <a:rPr lang="zh-CN" altLang="en-US" sz="2400">
                    <a:latin typeface="楷体-简" panose="02010600040101010101" charset="-122"/>
                    <a:ea typeface="楷体-简" panose="02010600040101010101" charset="-122"/>
                    <a:cs typeface="楷体-简" panose="02010600040101010101" charset="-122"/>
                  </a:rPr>
                  <a:t>和</a:t>
                </a: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𝑦</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宋体" charset="0"/>
                        <a:cs typeface="Cambria Math" panose="02040503050406030204" charset="0"/>
                      </a:rPr>
                      <m:t>(</m:t>
                    </m:r>
                    <m:sSup>
                      <m:sSupPr>
                        <m:ctrlPr>
                          <a:rPr lang="en-US" altLang="zh-CN" sz="2400" i="1">
                            <a:latin typeface="Cambria Math" panose="02040503050406030204" charset="0"/>
                            <a:ea typeface="楷体-简" panose="02010600040101010101" charset="-122"/>
                            <a:cs typeface="Cambria Math" panose="02040503050406030204" charset="0"/>
                          </a:rPr>
                        </m:ctrlPr>
                      </m:sSupPr>
                      <m:e>
                        <m:r>
                          <a:rPr lang="en-US" altLang="zh-CN" sz="2400" i="1">
                            <a:latin typeface="Cambria Math" panose="02040503050406030204" charset="0"/>
                            <a:ea typeface="楷体-简" panose="02010600040101010101" charset="-122"/>
                            <a:cs typeface="Cambria Math" panose="02040503050406030204" charset="0"/>
                          </a:rPr>
                          <m:t>𝑤</m:t>
                        </m:r>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𝜙</m:t>
                    </m:r>
                    <m:r>
                      <a:rPr lang="en-US" altLang="zh-CN" sz="2400" i="1">
                        <a:latin typeface="Cambria Math" panose="02040503050406030204" charset="0"/>
                        <a:ea typeface="宋体" charset="0"/>
                        <a:cs typeface="Cambria Math" panose="02040503050406030204" charset="0"/>
                      </a:rPr>
                      <m:t>(</m:t>
                    </m:r>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𝑥</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宋体" charset="0"/>
                        <a:cs typeface="Cambria Math" panose="02040503050406030204" charset="0"/>
                      </a:rPr>
                      <m:t>)+</m:t>
                    </m:r>
                    <m:sSup>
                      <m:sSupPr>
                        <m:ctrlPr>
                          <a:rPr lang="en-US" altLang="zh-CN" sz="2400" i="1">
                            <a:latin typeface="Cambria Math" panose="02040503050406030204" charset="0"/>
                            <a:ea typeface="楷体-简" panose="02010600040101010101" charset="-122"/>
                            <a:cs typeface="Cambria Math" panose="02040503050406030204" charset="0"/>
                          </a:rPr>
                        </m:ctrlPr>
                      </m:sSupPr>
                      <m:e>
                        <m:r>
                          <a:rPr lang="en-US" altLang="zh-CN" sz="2400" i="1">
                            <a:latin typeface="Cambria Math" panose="02040503050406030204" charset="0"/>
                            <a:ea typeface="楷体-简" panose="02010600040101010101" charset="-122"/>
                            <a:cs typeface="Cambria Math" panose="02040503050406030204" charset="0"/>
                          </a:rPr>
                          <m:t>𝑏</m:t>
                        </m:r>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)&lt;</m:t>
                    </m:r>
                    <m:r>
                      <a:rPr lang="en-US" altLang="zh-CN" sz="2400" i="1">
                        <a:latin typeface="Cambria Math" panose="02040503050406030204" charset="0"/>
                        <a:ea typeface="宋体" charset="0"/>
                        <a:cs typeface="Cambria Math" panose="02040503050406030204" charset="0"/>
                      </a:rPr>
                      <m:t>1</m:t>
                    </m:r>
                  </m:oMath>
                </a14:m>
                <a:r>
                  <a:rPr lang="zh-CN" altLang="en-US" sz="2400">
                    <a:latin typeface="楷体-简" panose="02010600040101010101" charset="-122"/>
                    <a:ea typeface="楷体-简" panose="02010600040101010101" charset="-122"/>
                    <a:cs typeface="楷体-简" panose="02010600040101010101" charset="-122"/>
                  </a:rPr>
                  <a:t>,且对应的样本称为“边界支持向量机”。</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可见,最优解的</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oMath>
                </a14:m>
                <a:r>
                  <a:rPr lang="zh-CN" altLang="en-US" sz="2400">
                    <a:latin typeface="楷体-简" panose="02010600040101010101" charset="-122"/>
                    <a:ea typeface="楷体-简" panose="02010600040101010101" charset="-122"/>
                    <a:cs typeface="楷体-简" panose="02010600040101010101" charset="-122"/>
                  </a:rPr>
                  <a:t>“稀疏”性质同样满足,支持向量机的决策函数完全由</a:t>
                </a:r>
                <a14:m>
                  <m:oMath xmlns:m="http://schemas.openxmlformats.org/officeDocument/2006/math">
                    <m:sSup>
                      <m:sSupPr>
                        <m:ctrlPr>
                          <a:rPr lang="en-US" altLang="zh-CN" sz="2400" i="1">
                            <a:latin typeface="Cambria Math" panose="02040503050406030204" charset="0"/>
                            <a:ea typeface="楷体-简" panose="02010600040101010101" charset="-122"/>
                            <a:cs typeface="Cambria Math" panose="02040503050406030204" charset="0"/>
                          </a:rPr>
                        </m:ctrlPr>
                      </m:sSupPr>
                      <m:e>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宋体" charset="0"/>
                                <a:cs typeface="Cambria Math" panose="02040503050406030204" charset="0"/>
                              </a:rPr>
                              <m:t>𝛼</m:t>
                            </m:r>
                          </m:e>
                          <m:sub>
                            <m:r>
                              <a:rPr lang="en-US" altLang="zh-CN" sz="2400" i="1">
                                <a:latin typeface="Cambria Math" panose="02040503050406030204" charset="0"/>
                                <a:ea typeface="楷体-简" panose="02010600040101010101" charset="-122"/>
                                <a:cs typeface="Cambria Math" panose="02040503050406030204" charset="0"/>
                              </a:rPr>
                              <m:t>𝑖</m:t>
                            </m:r>
                          </m:sub>
                        </m:sSub>
                      </m:e>
                      <m:sup>
                        <m:r>
                          <a:rPr lang="en-US" altLang="zh-CN" sz="2400" i="1">
                            <a:latin typeface="Cambria Math" panose="02040503050406030204" charset="0"/>
                            <a:ea typeface="宋体" charset="0"/>
                            <a:cs typeface="Cambria Math" panose="02040503050406030204" charset="0"/>
                          </a:rPr>
                          <m:t>*</m:t>
                        </m:r>
                      </m:sup>
                    </m:sSup>
                    <m:r>
                      <a:rPr lang="en-US" altLang="zh-CN" sz="2400" i="1">
                        <a:latin typeface="Cambria Math" panose="02040503050406030204" charset="0"/>
                        <a:ea typeface="宋体" charset="0"/>
                        <a:cs typeface="Cambria Math" panose="02040503050406030204" charset="0"/>
                      </a:rPr>
                      <m:t>≠</m:t>
                    </m:r>
                    <m:r>
                      <a:rPr lang="en-US" altLang="zh-CN" sz="2400" i="1">
                        <a:latin typeface="Cambria Math" panose="02040503050406030204" charset="0"/>
                        <a:ea typeface="宋体" charset="0"/>
                        <a:cs typeface="Cambria Math" panose="02040503050406030204" charset="0"/>
                      </a:rPr>
                      <m:t>0</m:t>
                    </m:r>
                  </m:oMath>
                </a14:m>
                <a:r>
                  <a:rPr lang="zh-CN" altLang="en-US" sz="2400">
                    <a:latin typeface="楷体-简" panose="02010600040101010101" charset="-122"/>
                    <a:ea typeface="楷体-简" panose="02010600040101010101" charset="-122"/>
                    <a:cs typeface="楷体-简" panose="02010600040101010101" charset="-122"/>
                  </a:rPr>
                  <a:t>的支持向量决定。</a:t>
                </a:r>
                <a:endParaRPr lang="zh-CN" altLang="en-US" sz="2400">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292350" y="848360"/>
                <a:ext cx="8915400" cy="5144770"/>
              </a:xfrm>
              <a:blipFill rotWithShape="1">
                <a:blip r:embed="rId1"/>
                <a:stretch>
                  <a:fillRect/>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91835" y="130080"/>
            <a:ext cx="8911687" cy="1280890"/>
          </a:xfrm>
        </p:spPr>
        <p:txBody>
          <a:bodyPr/>
          <a:p>
            <a:r>
              <a:rPr lang="en-US" altLang="zh-CN" sz="2800" b="1">
                <a:latin typeface="楷体-简" panose="02010600040101010101" charset="-122"/>
                <a:ea typeface="楷体-简" panose="02010600040101010101" charset="-122"/>
                <a:cs typeface="楷体-简" panose="02010600040101010101" charset="-122"/>
              </a:rPr>
              <a:t>7.2.4 核函数分类</a:t>
            </a:r>
            <a:endParaRPr lang="en-US" altLang="zh-CN" sz="2800" b="1">
              <a:latin typeface="楷体-简" panose="02010600040101010101" charset="-122"/>
              <a:ea typeface="楷体-简" panose="02010600040101010101" charset="-122"/>
              <a:cs typeface="楷体-简" panose="02010600040101010101" charset="-122"/>
            </a:endParaRPr>
          </a:p>
        </p:txBody>
      </p:sp>
      <p:sp>
        <p:nvSpPr>
          <p:cNvPr id="3" name="内容占位符 2"/>
          <p:cNvSpPr>
            <a:spLocks noGrp="1"/>
          </p:cNvSpPr>
          <p:nvPr>
            <p:ph idx="1"/>
          </p:nvPr>
        </p:nvSpPr>
        <p:spPr>
          <a:xfrm>
            <a:off x="1491615" y="741680"/>
            <a:ext cx="10587990" cy="5374640"/>
          </a:xfrm>
        </p:spPr>
        <p:txBody>
          <a:bodyPr>
            <a:noAutofit/>
          </a:bodyPr>
          <a:p>
            <a:pPr marL="0" indent="0">
              <a:buNone/>
            </a:pPr>
            <a:r>
              <a:rPr lang="en-US" altLang="zh-CN" sz="2000">
                <a:latin typeface="楷体-简" panose="02010600040101010101" charset="-122"/>
                <a:ea typeface="楷体-简" panose="02010600040101010101" charset="-122"/>
                <a:cs typeface="楷体-简" panose="02010600040101010101" charset="-122"/>
              </a:rPr>
              <a:t>对支持向量机而言,核函数的构造和选择尤其重要。在满足Mercer条件的情况下，核函数可以有多种形式供选择。目前,在SVM理论研究与实际应用中,最常使用的有以下四类核函数:</a:t>
            </a:r>
            <a:endParaRPr lang="en-US" altLang="zh-CN" sz="20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（1）线性核函数：</a:t>
            </a:r>
            <a:endParaRPr lang="en-US" altLang="zh-CN"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（2）多项式核函数：                                     是自然数。此时得到的支持向量机是一个q阶多项式分类器。</a:t>
            </a:r>
            <a:endParaRPr lang="en-US" altLang="zh-CN"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（3）Gauss径向基核函数:                                                         。得到的支持向量机是一种径向基函数分类器。</a:t>
            </a:r>
            <a:endParaRPr lang="en-US" altLang="zh-CN"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rPr>
              <a:t>   （4）Sigmoid核函数：                                     α,t是常数，是tanhSigmoid函数。</a:t>
            </a:r>
            <a:endParaRPr lang="en-US" altLang="zh-CN" sz="2400">
              <a:latin typeface="楷体-简" panose="02010600040101010101" charset="-122"/>
              <a:ea typeface="楷体-简" panose="02010600040101010101" charset="-122"/>
              <a:cs typeface="楷体-简" panose="02010600040101010101" charset="-122"/>
            </a:endParaRPr>
          </a:p>
          <a:p>
            <a:pPr marL="0" indent="0">
              <a:buNone/>
            </a:pPr>
            <a:endParaRPr lang="en-US" altLang="zh-CN" sz="2400">
              <a:latin typeface="楷体-简" panose="02010600040101010101" charset="-122"/>
              <a:ea typeface="楷体-简" panose="02010600040101010101" charset="-122"/>
              <a:cs typeface="楷体-简" panose="02010600040101010101" charset="-122"/>
            </a:endParaRPr>
          </a:p>
        </p:txBody>
      </p:sp>
      <p:pic>
        <p:nvPicPr>
          <p:cNvPr id="4" name="图片 -2147482466"/>
          <p:cNvPicPr>
            <a:picLocks noChangeAspect="1"/>
          </p:cNvPicPr>
          <p:nvPr/>
        </p:nvPicPr>
        <p:blipFill>
          <a:blip r:embed="rId1"/>
          <a:stretch>
            <a:fillRect/>
          </a:stretch>
        </p:blipFill>
        <p:spPr>
          <a:xfrm>
            <a:off x="4307840" y="1490980"/>
            <a:ext cx="1532255" cy="375285"/>
          </a:xfrm>
          <a:prstGeom prst="rect">
            <a:avLst/>
          </a:prstGeom>
          <a:noFill/>
          <a:ln w="9525">
            <a:noFill/>
          </a:ln>
        </p:spPr>
      </p:pic>
      <p:pic>
        <p:nvPicPr>
          <p:cNvPr id="5" name="图片 -2147482465"/>
          <p:cNvPicPr>
            <a:picLocks noChangeAspect="1"/>
          </p:cNvPicPr>
          <p:nvPr/>
        </p:nvPicPr>
        <p:blipFill>
          <a:blip r:embed="rId2"/>
          <a:stretch>
            <a:fillRect/>
          </a:stretch>
        </p:blipFill>
        <p:spPr>
          <a:xfrm>
            <a:off x="4610735" y="1981200"/>
            <a:ext cx="2456815" cy="426085"/>
          </a:xfrm>
          <a:prstGeom prst="rect">
            <a:avLst/>
          </a:prstGeom>
          <a:noFill/>
          <a:ln w="9525">
            <a:noFill/>
          </a:ln>
        </p:spPr>
      </p:pic>
      <p:graphicFrame>
        <p:nvGraphicFramePr>
          <p:cNvPr id="6" name="Picture 126"/>
          <p:cNvGraphicFramePr>
            <a:graphicFrameLocks noChangeAspect="1"/>
          </p:cNvGraphicFramePr>
          <p:nvPr/>
        </p:nvGraphicFramePr>
        <p:xfrm>
          <a:off x="5076190" y="2799080"/>
          <a:ext cx="3418205" cy="622935"/>
        </p:xfrm>
        <a:graphic>
          <a:graphicData uri="http://schemas.openxmlformats.org/presentationml/2006/ole">
            <mc:AlternateContent xmlns:mc="http://schemas.openxmlformats.org/markup-compatibility/2006">
              <mc:Choice xmlns:v="urn:schemas-microsoft-com:vml" Requires="v">
                <p:oleObj spid="_x0000_s3076" name="" r:id="rId3" imgW="2362200" imgH="431800" progId="Equation.DSMT4">
                  <p:embed/>
                </p:oleObj>
              </mc:Choice>
              <mc:Fallback>
                <p:oleObj name="" r:id="rId3" imgW="2362200" imgH="431800" progId="Equation.DSMT4">
                  <p:embed/>
                  <p:pic>
                    <p:nvPicPr>
                      <p:cNvPr id="0" name="图片 3075"/>
                      <p:cNvPicPr/>
                      <p:nvPr/>
                    </p:nvPicPr>
                    <p:blipFill>
                      <a:blip r:embed="rId4"/>
                      <a:stretch>
                        <a:fillRect/>
                      </a:stretch>
                    </p:blipFill>
                    <p:spPr>
                      <a:xfrm>
                        <a:off x="5076190" y="2799080"/>
                        <a:ext cx="3418205" cy="622935"/>
                      </a:xfrm>
                      <a:prstGeom prst="rect">
                        <a:avLst/>
                      </a:prstGeom>
                      <a:noFill/>
                      <a:ln w="38100">
                        <a:noFill/>
                        <a:miter/>
                      </a:ln>
                    </p:spPr>
                  </p:pic>
                </p:oleObj>
              </mc:Fallback>
            </mc:AlternateContent>
          </a:graphicData>
        </a:graphic>
      </p:graphicFrame>
      <p:graphicFrame>
        <p:nvGraphicFramePr>
          <p:cNvPr id="7" name="图片 154"/>
          <p:cNvGraphicFramePr>
            <a:graphicFrameLocks noChangeAspect="1"/>
          </p:cNvGraphicFramePr>
          <p:nvPr/>
        </p:nvGraphicFramePr>
        <p:xfrm>
          <a:off x="5320665" y="4155440"/>
          <a:ext cx="2280920" cy="309245"/>
        </p:xfrm>
        <a:graphic>
          <a:graphicData uri="http://schemas.openxmlformats.org/presentationml/2006/ole">
            <mc:AlternateContent xmlns:mc="http://schemas.openxmlformats.org/markup-compatibility/2006">
              <mc:Choice xmlns:v="urn:schemas-microsoft-com:vml" Requires="v">
                <p:oleObj spid="_x0000_s8" name="" r:id="rId5" imgW="1676400" imgH="228600" progId="Equation.3">
                  <p:embed/>
                </p:oleObj>
              </mc:Choice>
              <mc:Fallback>
                <p:oleObj name="" r:id="rId5" imgW="1676400" imgH="228600" progId="Equation.3">
                  <p:embed/>
                  <p:pic>
                    <p:nvPicPr>
                      <p:cNvPr id="0" name="图片 3"/>
                      <p:cNvPicPr/>
                      <p:nvPr/>
                    </p:nvPicPr>
                    <p:blipFill>
                      <a:blip r:embed="rId6"/>
                      <a:stretch>
                        <a:fillRect/>
                      </a:stretch>
                    </p:blipFill>
                    <p:spPr>
                      <a:xfrm>
                        <a:off x="5320665" y="4155440"/>
                        <a:ext cx="2280920" cy="309245"/>
                      </a:xfrm>
                      <a:prstGeom prst="rect">
                        <a:avLst/>
                      </a:prstGeom>
                      <a:noFill/>
                      <a:ln w="38100">
                        <a:noFill/>
                        <a:miter/>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22500" y="1068705"/>
            <a:ext cx="8915400" cy="4720590"/>
          </a:xfrm>
        </p:spPr>
        <p:txBody>
          <a:bodyPr>
            <a:noAutofit/>
          </a:bodyPr>
          <a:p>
            <a:pPr marL="0" indent="0">
              <a:buNone/>
            </a:pPr>
            <a:r>
              <a:rPr lang="en-US" altLang="zh-CN" sz="2400">
                <a:latin typeface="楷体-简" panose="02010600040101010101" charset="-122"/>
                <a:ea typeface="楷体-简" panose="02010600040101010101" charset="-122"/>
                <a:cs typeface="楷体-简" panose="02010600040101010101" charset="-122"/>
                <a:sym typeface="+mn-ea"/>
              </a:rPr>
              <a:t>支持向量机实现的其实是一个两层的感知器神经网络(故又称为“神经网络核函数”),它包含了一个隐层,隐层节点数是由算法自动确定的,而且算法不存在困扰神经网络的局部极小点的问题。</a:t>
            </a:r>
            <a:endParaRPr lang="en-US" altLang="zh-CN" sz="2400">
              <a:latin typeface="楷体-简" panose="02010600040101010101" charset="-122"/>
              <a:ea typeface="楷体-简" panose="02010600040101010101" charset="-122"/>
              <a:cs typeface="楷体-简" panose="02010600040101010101" charset="-122"/>
            </a:endParaRPr>
          </a:p>
          <a:p>
            <a:pPr marL="0" indent="0">
              <a:buNone/>
            </a:pPr>
            <a:r>
              <a:rPr lang="en-US" altLang="zh-CN" sz="2400">
                <a:latin typeface="楷体-简" panose="02010600040101010101" charset="-122"/>
                <a:ea typeface="楷体-简" panose="02010600040101010101" charset="-122"/>
                <a:cs typeface="楷体-简" panose="02010600040101010101" charset="-122"/>
                <a:sym typeface="+mn-ea"/>
              </a:rPr>
              <a:t>    其它形式的核函数,比如傅立叶级数核函数、小波核函数等也都是特定于具体应用而产生的优化算子,应用也较为广泛。不同的核函数所产生的性能是不同的。</a:t>
            </a:r>
            <a:r>
              <a:rPr lang="en-US" altLang="zh-CN" sz="2400" b="1">
                <a:latin typeface="楷体-简" panose="02010600040101010101" charset="-122"/>
                <a:ea typeface="楷体-简" panose="02010600040101010101" charset="-122"/>
                <a:cs typeface="楷体-简" panose="02010600040101010101" charset="-122"/>
                <a:sym typeface="+mn-ea"/>
              </a:rPr>
              <a:t>对于某一具体问题,如何选择核函数的形式还没有一个指导原则。即使己经选定了某一类核函数,其相应的参数(如多项式核函数的阶次q、径向基核函数核半径σ等)也需要选择和优化</a:t>
            </a:r>
            <a:r>
              <a:rPr lang="en-US" altLang="zh-CN" sz="2400">
                <a:latin typeface="楷体-简" panose="02010600040101010101" charset="-122"/>
                <a:ea typeface="楷体-简" panose="02010600040101010101" charset="-122"/>
                <a:cs typeface="楷体-简" panose="02010600040101010101" charset="-122"/>
                <a:sym typeface="+mn-ea"/>
              </a:rPr>
              <a:t>。Keerthi证明,径向基函数核在适当选择参数时可以代替多项式核,而且径向基函数核可以将样本映射到一个更高维的空间,可以处理当类标签(Class Labels)和特征之间的关系是非线性时的样例。另外,由于参数的个数直接影响到模型选择的复杂性,而径向基核函数只有一个待定参数</a:t>
            </a:r>
            <a:r>
              <a:rPr lang="en-US" altLang="zh-CN" sz="2400">
                <a:latin typeface="楷体-简" panose="02010600040101010101" charset="-122"/>
                <a:ea typeface="楷体-简" panose="02010600040101010101" charset="-122"/>
                <a:cs typeface="楷体-简" panose="02010600040101010101" charset="-122"/>
                <a:sym typeface="+mn-ea"/>
              </a:rPr>
              <a:t>σ</a:t>
            </a:r>
            <a:r>
              <a:rPr lang="en-US" altLang="zh-CN" sz="2400">
                <a:latin typeface="楷体-简" panose="02010600040101010101" charset="-122"/>
                <a:ea typeface="楷体-简" panose="02010600040101010101" charset="-122"/>
                <a:cs typeface="楷体-简" panose="02010600040101010101" charset="-122"/>
                <a:sym typeface="+mn-ea"/>
              </a:rPr>
              <a:t>,与别的核函数相比具有参数少的优点,一般情况下选用径向基函数核的效果不会太差。</a:t>
            </a:r>
            <a:endParaRPr lang="en-US" altLang="zh-CN" sz="2400">
              <a:latin typeface="楷体-简" panose="02010600040101010101" charset="-122"/>
              <a:ea typeface="楷体-简" panose="02010600040101010101" charset="-122"/>
              <a:cs typeface="楷体-简" panose="02010600040101010101" charset="-122"/>
            </a:endParaRPr>
          </a:p>
          <a:p>
            <a:endParaRPr lang="en-US" altLang="zh-CN" sz="24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84437" y="1294765"/>
            <a:ext cx="8915400" cy="3777622"/>
          </a:xfrm>
        </p:spPr>
        <p:txBody>
          <a:bodyPr/>
          <a:p>
            <a:r>
              <a:rPr lang="zh-CN" altLang="en-US" sz="2800" b="1"/>
              <a:t>思考：</a:t>
            </a:r>
            <a:endParaRPr lang="zh-CN" altLang="en-US" sz="2800" b="1"/>
          </a:p>
          <a:p>
            <a:r>
              <a:rPr lang="zh-CN" altLang="en-US" sz="2800" b="1"/>
              <a:t>支持向量机从机制上看，可以直接将样本分为多少类？</a:t>
            </a:r>
            <a:endParaRPr lang="zh-CN" altLang="en-US" sz="2800" b="1"/>
          </a:p>
          <a:p>
            <a:endParaRPr lang="zh-CN" altLang="en-US" sz="2800" b="1"/>
          </a:p>
          <a:p>
            <a:r>
              <a:rPr lang="zh-CN" altLang="en-US" sz="2800" b="1"/>
              <a:t>如果有一个分类问题，样本有三种类标号，那么该如何使用支持向量机进行分类？</a:t>
            </a:r>
            <a:endParaRPr lang="zh-CN" altLang="en-US" sz="28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b="1">
                <a:latin typeface="黑体-简" panose="02000000000000000000" charset="-122"/>
                <a:ea typeface="黑体-简" panose="02000000000000000000" charset="-122"/>
                <a:cs typeface="黑体-简" panose="02000000000000000000" charset="-122"/>
              </a:rPr>
              <a:t>7.3 支持向量机解决具体问题</a:t>
            </a:r>
            <a:endParaRPr lang="zh-CN" altLang="en-US" sz="2800" b="1">
              <a:latin typeface="黑体-简" panose="02000000000000000000" charset="-122"/>
              <a:ea typeface="黑体-简" panose="02000000000000000000" charset="-122"/>
              <a:cs typeface="黑体-简" panose="02000000000000000000" charset="-122"/>
            </a:endParaRPr>
          </a:p>
        </p:txBody>
      </p:sp>
      <p:sp>
        <p:nvSpPr>
          <p:cNvPr id="3" name="内容占位符 2"/>
          <p:cNvSpPr>
            <a:spLocks noGrp="1"/>
          </p:cNvSpPr>
          <p:nvPr>
            <p:ph idx="1"/>
          </p:nvPr>
        </p:nvSpPr>
        <p:spPr>
          <a:xfrm>
            <a:off x="2589212" y="1291590"/>
            <a:ext cx="8915400" cy="3777622"/>
          </a:xfrm>
        </p:spPr>
        <p:txBody>
          <a:bodyPr>
            <a:noAutofit/>
          </a:bodyPr>
          <a:p>
            <a:pPr marL="0" indent="0">
              <a:buNone/>
            </a:pPr>
            <a:r>
              <a:rPr lang="zh-CN" altLang="en-US" sz="3200" b="1">
                <a:latin typeface="楷体-简" panose="02010600040101010101" charset="-122"/>
                <a:ea typeface="楷体-简" panose="02010600040101010101" charset="-122"/>
                <a:cs typeface="楷体-简" panose="02010600040101010101" charset="-122"/>
              </a:rPr>
              <a:t>使用支持向量机解决具体问题时，往往需要先进行数据预处理，例如进行数据规范化，保证不同属性值均在一个较合理的区间内。又如填充缺失数据等等。</a:t>
            </a:r>
            <a:endParaRPr lang="zh-CN" altLang="en-US" sz="3200" b="1">
              <a:latin typeface="楷体-简" panose="02010600040101010101" charset="-122"/>
              <a:ea typeface="楷体-简" panose="02010600040101010101" charset="-122"/>
              <a:cs typeface="楷体-简" panose="02010600040101010101" charset="-122"/>
            </a:endParaRPr>
          </a:p>
          <a:p>
            <a:pPr marL="0" indent="0">
              <a:buNone/>
            </a:pPr>
            <a:r>
              <a:rPr lang="zh-CN" altLang="en-US" sz="3200" b="1">
                <a:latin typeface="楷体-简" panose="02010600040101010101" charset="-122"/>
                <a:ea typeface="楷体-简" panose="02010600040101010101" charset="-122"/>
                <a:cs typeface="楷体-简" panose="02010600040101010101" charset="-122"/>
              </a:rPr>
              <a:t>完成数据预处理之后，还需要选择核函数和参数。这一过程可以根据经验，可以根据文献中的参考数值，可以利用</a:t>
            </a:r>
            <a:r>
              <a:rPr lang="en-US" altLang="zh-CN" sz="3200" b="1">
                <a:latin typeface="楷体-简" panose="02010600040101010101" charset="-122"/>
                <a:ea typeface="楷体-简" panose="02010600040101010101" charset="-122"/>
                <a:cs typeface="楷体-简" panose="02010600040101010101" charset="-122"/>
              </a:rPr>
              <a:t>Libsvm</a:t>
            </a:r>
            <a:r>
              <a:rPr lang="zh-CN" altLang="en-US" sz="3200" b="1">
                <a:latin typeface="楷体-简" panose="02010600040101010101" charset="-122"/>
                <a:ea typeface="楷体-简" panose="02010600040101010101" charset="-122"/>
                <a:cs typeface="楷体-简" panose="02010600040101010101" charset="-122"/>
              </a:rPr>
              <a:t>库进行参数选取，</a:t>
            </a:r>
            <a:r>
              <a:rPr lang="zh-CN" altLang="en-US" sz="3200" b="1">
                <a:latin typeface="楷体-简" panose="02010600040101010101" charset="-122"/>
                <a:ea typeface="楷体-简" panose="02010600040101010101" charset="-122"/>
                <a:cs typeface="楷体-简" panose="02010600040101010101" charset="-122"/>
              </a:rPr>
              <a:t>也可以先测试不同核函数和参数，最终选择效果较好的参数。</a:t>
            </a:r>
            <a:endParaRPr lang="zh-CN" altLang="en-US" sz="3200" b="1">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29"/>
          <p:cNvPicPr>
            <a:picLocks noChangeAspect="1"/>
          </p:cNvPicPr>
          <p:nvPr>
            <p:ph idx="1"/>
          </p:nvPr>
        </p:nvPicPr>
        <p:blipFill>
          <a:blip r:embed="rId1"/>
          <a:stretch>
            <a:fillRect/>
          </a:stretch>
        </p:blipFill>
        <p:spPr>
          <a:xfrm>
            <a:off x="2613025" y="563245"/>
            <a:ext cx="6798310" cy="5207000"/>
          </a:xfrm>
          <a:prstGeom prst="rect">
            <a:avLst/>
          </a:prstGeom>
          <a:noFill/>
          <a:ln w="9525">
            <a:noFill/>
          </a:ln>
        </p:spPr>
      </p:pic>
      <p:sp>
        <p:nvSpPr>
          <p:cNvPr id="4" name="文本框 3"/>
          <p:cNvSpPr txBox="1"/>
          <p:nvPr/>
        </p:nvSpPr>
        <p:spPr>
          <a:xfrm>
            <a:off x="3801110" y="5918835"/>
            <a:ext cx="5417820" cy="368300"/>
          </a:xfrm>
          <a:prstGeom prst="rect">
            <a:avLst/>
          </a:prstGeom>
          <a:noFill/>
        </p:spPr>
        <p:txBody>
          <a:bodyPr wrap="square" rtlCol="0">
            <a:spAutoFit/>
          </a:bodyPr>
          <a:p>
            <a:pPr algn="ctr"/>
            <a:r>
              <a:rPr lang="zh-CN" altLang="en-US">
                <a:latin typeface="楷体-简" panose="02010600040101010101" charset="-122"/>
                <a:ea typeface="楷体-简" panose="02010600040101010101" charset="-122"/>
                <a:cs typeface="楷体-简" panose="02010600040101010101" charset="-122"/>
              </a:rPr>
              <a:t>图7-6算法流程图</a:t>
            </a:r>
            <a:endParaRPr lang="zh-CN" altLang="en-US">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516187" y="82550"/>
                <a:ext cx="8915400" cy="3777622"/>
              </a:xfrm>
            </p:spPr>
            <p:txBody>
              <a:bodyPr>
                <a:normAutofit lnSpcReduction="10000"/>
              </a:bodyPr>
              <a:p>
                <a:pPr marL="0" indent="0">
                  <a:buNone/>
                </a:pPr>
                <a:r>
                  <a:rPr lang="zh-CN" altLang="en-US">
                    <a:latin typeface="楷体-简" panose="02010600040101010101" charset="-122"/>
                    <a:ea typeface="楷体-简" panose="02010600040101010101" charset="-122"/>
                    <a:cs typeface="楷体-简" panose="02010600040101010101" charset="-122"/>
                  </a:rPr>
                  <a:t>第一步：原始数据准备</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成矿作用的复杂性决定了成矿信息往往具有多解性和隐含性，以云南个旧地质采样综合数据为研究对象，将基于SVM的模型引入地质数据的处理和解释。实际资料表明，该地区银，砷，钡，铋，铜，铅，锌，汞的组合异常能够较好地指示矿化富集带，选取此地空间中8个化学元素中具有代表性的元素作为输入数据，选择矿化程度作为输出。</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第二步：数据预处理</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在数据准备阶段主要选定预测指标，对已有的历史数据资料进行收集，并确定成矿因素的输入和输出量。</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（1）输入向量</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𝑥</m:t>
                        </m:r>
                      </m:e>
                      <m:sub>
                        <m:r>
                          <a:rPr lang="en-US" altLang="zh-CN" i="1">
                            <a:latin typeface="Cambria Math" panose="02040503050406030204" charset="0"/>
                            <a:ea typeface="楷体-简" panose="02010600040101010101" charset="-122"/>
                            <a:cs typeface="Cambria Math" panose="02040503050406030204" charset="0"/>
                          </a:rPr>
                          <m:t>𝑖</m:t>
                        </m:r>
                      </m:sub>
                    </m:sSub>
                    <m:r>
                      <a:rPr lang="en-US" altLang="zh-CN" i="1">
                        <a:latin typeface="Cambria Math" panose="02040503050406030204" charset="0"/>
                        <a:ea typeface="楷体-简" panose="02010600040101010101" charset="-122"/>
                        <a:cs typeface="Cambria Math" panose="02040503050406030204" charset="0"/>
                      </a:rPr>
                      <m:t>’</m:t>
                    </m:r>
                  </m:oMath>
                </a14:m>
                <a:r>
                  <a:rPr lang="zh-CN" altLang="en-US">
                    <a:latin typeface="楷体-简" panose="02010600040101010101" charset="-122"/>
                    <a:ea typeface="楷体-简" panose="02010600040101010101" charset="-122"/>
                    <a:cs typeface="楷体-简" panose="02010600040101010101" charset="-122"/>
                  </a:rPr>
                  <a:t>的属性及含义：建模时对样本中的因子进行归一化处理（减少各个因子之间的量级差别），使用                                 将样本归一化到区间[0,1]，</a:t>
                </a:r>
                <a14:m>
                  <m:oMath xmlns:m="http://schemas.openxmlformats.org/officeDocument/2006/math">
                    <m:sSub>
                      <m:sSubPr>
                        <m:ctrlPr>
                          <a:rPr lang="en-US" altLang="zh-CN" i="1">
                            <a:latin typeface="Cambria Math" panose="02040503050406030204" charset="0"/>
                            <a:ea typeface="楷体-简" panose="02010600040101010101" charset="-122"/>
                            <a:cs typeface="Cambria Math" panose="02040503050406030204" charset="0"/>
                          </a:rPr>
                        </m:ctrlPr>
                      </m:sSubPr>
                      <m:e>
                        <m:r>
                          <a:rPr lang="en-US" altLang="zh-CN" i="1">
                            <a:latin typeface="Cambria Math" panose="02040503050406030204" charset="0"/>
                            <a:ea typeface="楷体-简" panose="02010600040101010101" charset="-122"/>
                            <a:cs typeface="Cambria Math" panose="02040503050406030204" charset="0"/>
                          </a:rPr>
                          <m:t>𝑥</m:t>
                        </m:r>
                      </m:e>
                      <m:sub>
                        <m:r>
                          <a:rPr lang="en-US" altLang="zh-CN" i="1">
                            <a:latin typeface="Cambria Math" panose="02040503050406030204" charset="0"/>
                            <a:ea typeface="楷体-简" panose="02010600040101010101" charset="-122"/>
                            <a:cs typeface="Cambria Math" panose="02040503050406030204" charset="0"/>
                          </a:rPr>
                          <m:t>𝑖</m:t>
                        </m:r>
                      </m:sub>
                    </m:sSub>
                    <m:r>
                      <a:rPr lang="en-US" altLang="zh-CN" i="1">
                        <a:latin typeface="Cambria Math" panose="02040503050406030204" charset="0"/>
                        <a:ea typeface="楷体-简" panose="02010600040101010101" charset="-122"/>
                        <a:cs typeface="Cambria Math" panose="02040503050406030204" charset="0"/>
                      </a:rPr>
                      <m:t>’</m:t>
                    </m:r>
                  </m:oMath>
                </a14:m>
                <a:r>
                  <a:rPr lang="zh-CN" altLang="en-US">
                    <a:latin typeface="楷体-简" panose="02010600040101010101" charset="-122"/>
                    <a:ea typeface="楷体-简" panose="02010600040101010101" charset="-122"/>
                    <a:cs typeface="楷体-简" panose="02010600040101010101" charset="-122"/>
                  </a:rPr>
                  <a:t>代表Zn元素的含量；</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    （2）对应的输出向量Y为两类：有矿与无矿，用1代表有矿，0代表无矿，如表7-1:</a:t>
                </a:r>
                <a:endParaRPr lang="zh-CN" altLang="en-US">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516187" y="82550"/>
                <a:ext cx="8915400" cy="3777622"/>
              </a:xfrm>
              <a:blipFill rotWithShape="1">
                <a:blip r:embed="rId1"/>
                <a:stretch>
                  <a:fillRect l="-4" t="-17" r="4"/>
                </a:stretch>
              </a:blipFill>
            </p:spPr>
            <p:txBody>
              <a:bodyPr/>
              <a:lstStyle/>
              <a:p>
                <a:r>
                  <a:rPr lang="zh-CN" altLang="en-US">
                    <a:noFill/>
                  </a:rPr>
                  <a:t> </a:t>
                </a:r>
                <a:endParaRPr lang="zh-CN" altLang="en-US">
                  <a:noFill/>
                </a:endParaRPr>
              </a:p>
            </p:txBody>
          </p:sp>
        </mc:Fallback>
      </mc:AlternateContent>
      <p:graphicFrame>
        <p:nvGraphicFramePr>
          <p:cNvPr id="2" name="图片 194"/>
          <p:cNvGraphicFramePr>
            <a:graphicFrameLocks noChangeAspect="1"/>
          </p:cNvGraphicFramePr>
          <p:nvPr/>
        </p:nvGraphicFramePr>
        <p:xfrm>
          <a:off x="5427980" y="2834640"/>
          <a:ext cx="1825625" cy="558800"/>
        </p:xfrm>
        <a:graphic>
          <a:graphicData uri="http://schemas.openxmlformats.org/presentationml/2006/ole">
            <mc:AlternateContent xmlns:mc="http://schemas.openxmlformats.org/markup-compatibility/2006">
              <mc:Choice xmlns:v="urn:schemas-microsoft-com:vml" Requires="v">
                <p:oleObj spid="_x0000_s3076" name="" r:id="rId2" imgW="1410335" imgH="431800" progId="Equation.3">
                  <p:embed/>
                </p:oleObj>
              </mc:Choice>
              <mc:Fallback>
                <p:oleObj name="" r:id="rId2" imgW="1410335" imgH="431800" progId="Equation.3">
                  <p:embed/>
                  <p:pic>
                    <p:nvPicPr>
                      <p:cNvPr id="0" name="图片 3075"/>
                      <p:cNvPicPr/>
                      <p:nvPr/>
                    </p:nvPicPr>
                    <p:blipFill>
                      <a:blip r:embed="rId3"/>
                      <a:stretch>
                        <a:fillRect/>
                      </a:stretch>
                    </p:blipFill>
                    <p:spPr>
                      <a:xfrm>
                        <a:off x="5427980" y="2834640"/>
                        <a:ext cx="1825625" cy="558800"/>
                      </a:xfrm>
                      <a:prstGeom prst="rect">
                        <a:avLst/>
                      </a:prstGeom>
                      <a:noFill/>
                      <a:ln w="38100">
                        <a:noFill/>
                        <a:miter/>
                      </a:ln>
                    </p:spPr>
                  </p:pic>
                </p:oleObj>
              </mc:Fallback>
            </mc:AlternateContent>
          </a:graphicData>
        </a:graphic>
      </p:graphicFrame>
      <p:pic>
        <p:nvPicPr>
          <p:cNvPr id="4" name="Picture 130"/>
          <p:cNvPicPr>
            <a:picLocks noChangeAspect="1"/>
          </p:cNvPicPr>
          <p:nvPr/>
        </p:nvPicPr>
        <p:blipFill>
          <a:blip r:embed="rId4"/>
          <a:stretch>
            <a:fillRect/>
          </a:stretch>
        </p:blipFill>
        <p:spPr>
          <a:xfrm>
            <a:off x="3731260" y="3758565"/>
            <a:ext cx="5219065" cy="281813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18017" y="718185"/>
            <a:ext cx="8915400" cy="3777622"/>
          </a:xfrm>
        </p:spPr>
        <p:txBody>
          <a:bodyPr>
            <a:noAutofit/>
          </a:bodyPr>
          <a:p>
            <a:pPr marL="0" indent="0">
              <a:buNone/>
            </a:pPr>
            <a:r>
              <a:rPr lang="zh-CN" altLang="en-US" sz="2000">
                <a:latin typeface="楷体-简" panose="02010600040101010101" charset="-122"/>
                <a:ea typeface="楷体-简" panose="02010600040101010101" charset="-122"/>
                <a:cs typeface="楷体-简" panose="02010600040101010101" charset="-122"/>
              </a:rPr>
              <a:t>通过某矿m的前k矿物的历史数据来预测m矿物矿化程度，即对下面的函数进行预测:                                          。 (这其实是一个回归模型)，其过程程就是：依据自变量和因变量的历史统计资料进行计算，在此基础上建立回归分析方程，即回归分析预测模型。</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第三步：SVM成矿预测模型</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    因为构造SVM的基础是Mercer定理，所以建立支持向量机的核函数必须满足Mercer定理条件。在该例子中采用RBF核函数作为基本函数建立SVM回归模型。</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RBF核函数的形式为：                                        ，γ</a:t>
            </a:r>
            <a:r>
              <a:rPr lang="en-US" altLang="zh-CN" sz="2000">
                <a:latin typeface="楷体-简" panose="02010600040101010101" charset="-122"/>
                <a:ea typeface="楷体-简" panose="02010600040101010101" charset="-122"/>
                <a:cs typeface="楷体-简" panose="02010600040101010101" charset="-122"/>
              </a:rPr>
              <a:t>&gt;0</a:t>
            </a:r>
            <a:r>
              <a:rPr lang="zh-CN" altLang="en-US" sz="2000">
                <a:latin typeface="楷体-简" panose="02010600040101010101" charset="-122"/>
                <a:ea typeface="楷体-简" panose="02010600040101010101" charset="-122"/>
                <a:cs typeface="楷体-简" panose="02010600040101010101" charset="-122"/>
              </a:rPr>
              <a:t>。在构建SVM回归模型的过程中C</a:t>
            </a:r>
            <a:r>
              <a:rPr lang="en-US" altLang="zh-CN" sz="2000">
                <a:latin typeface="楷体-简" panose="02010600040101010101" charset="-122"/>
                <a:ea typeface="楷体-简" panose="02010600040101010101" charset="-122"/>
                <a:cs typeface="楷体-简" panose="02010600040101010101" charset="-122"/>
              </a:rPr>
              <a:t>,γ</a:t>
            </a:r>
            <a:r>
              <a:rPr lang="zh-CN" altLang="en-US" sz="2000">
                <a:latin typeface="楷体-简" panose="02010600040101010101" charset="-122"/>
                <a:ea typeface="楷体-简" panose="02010600040101010101" charset="-122"/>
                <a:cs typeface="楷体-简" panose="02010600040101010101" charset="-122"/>
              </a:rPr>
              <a:t>和</a:t>
            </a:r>
            <a:r>
              <a:rPr lang="zh-CN" altLang="en-US" sz="2000">
                <a:latin typeface="Arial" panose="020B0604020202020204" pitchFamily="34" charset="0"/>
                <a:ea typeface="楷体-简" panose="02010600040101010101" charset="-122"/>
                <a:cs typeface="Arial" panose="020B0604020202020204" pitchFamily="34" charset="0"/>
              </a:rPr>
              <a:t>ε</a:t>
            </a:r>
            <a:r>
              <a:rPr lang="zh-CN" altLang="en-US" sz="2000">
                <a:latin typeface="楷体-简" panose="02010600040101010101" charset="-122"/>
                <a:ea typeface="楷体-简" panose="02010600040101010101" charset="-122"/>
                <a:cs typeface="楷体-简" panose="02010600040101010101" charset="-122"/>
              </a:rPr>
              <a:t>这三个参数需自主决定, C是惩罚常数，γ为高斯核函数的参数，</a:t>
            </a:r>
            <a:r>
              <a:rPr lang="zh-CN" altLang="en-US" sz="2000">
                <a:latin typeface="Arial" panose="020B0604020202020204" pitchFamily="34" charset="0"/>
                <a:ea typeface="楷体-简" panose="02010600040101010101" charset="-122"/>
                <a:cs typeface="Arial" panose="020B0604020202020204" pitchFamily="34" charset="0"/>
              </a:rPr>
              <a:t>ε</a:t>
            </a:r>
            <a:r>
              <a:rPr lang="zh-CN" altLang="en-US" sz="2000">
                <a:latin typeface="楷体-简" panose="02010600040101010101" charset="-122"/>
                <a:ea typeface="楷体-简" panose="02010600040101010101" charset="-122"/>
                <a:cs typeface="楷体-简" panose="02010600040101010101" charset="-122"/>
              </a:rPr>
              <a:t>为不敏感区域的宽度,模型参数选取使用交叉验证方法，利用Libsvm库文件实现参数的选取。当选取合适的C，γ和</a:t>
            </a:r>
            <a:r>
              <a:rPr lang="zh-CN" altLang="en-US" sz="2000">
                <a:latin typeface="Arial" panose="020B0604020202020204" pitchFamily="34" charset="0"/>
                <a:ea typeface="楷体-简" panose="02010600040101010101" charset="-122"/>
                <a:cs typeface="Arial" panose="020B0604020202020204" pitchFamily="34" charset="0"/>
              </a:rPr>
              <a:t>ε</a:t>
            </a:r>
            <a:r>
              <a:rPr lang="zh-CN" altLang="en-US" sz="2000">
                <a:latin typeface="楷体-简" panose="02010600040101010101" charset="-122"/>
                <a:ea typeface="楷体-简" panose="02010600040101010101" charset="-122"/>
                <a:cs typeface="楷体-简" panose="02010600040101010101" charset="-122"/>
              </a:rPr>
              <a:t>三个参数后,对SVM模型进行训练样本训练和预测，按理论给出下表7-2： </a:t>
            </a:r>
            <a:endParaRPr lang="zh-CN" altLang="en-US" sz="2000">
              <a:latin typeface="楷体-简" panose="02010600040101010101" charset="-122"/>
              <a:ea typeface="楷体-简" panose="02010600040101010101" charset="-122"/>
              <a:cs typeface="楷体-简" panose="02010600040101010101" charset="-122"/>
            </a:endParaRPr>
          </a:p>
        </p:txBody>
      </p:sp>
      <p:graphicFrame>
        <p:nvGraphicFramePr>
          <p:cNvPr id="2" name="图片 196"/>
          <p:cNvGraphicFramePr>
            <a:graphicFrameLocks noChangeAspect="1"/>
          </p:cNvGraphicFramePr>
          <p:nvPr/>
        </p:nvGraphicFramePr>
        <p:xfrm>
          <a:off x="2733040" y="1033145"/>
          <a:ext cx="2391410" cy="336550"/>
        </p:xfrm>
        <a:graphic>
          <a:graphicData uri="http://schemas.openxmlformats.org/presentationml/2006/ole">
            <mc:AlternateContent xmlns:mc="http://schemas.openxmlformats.org/markup-compatibility/2006">
              <mc:Choice xmlns:v="urn:schemas-microsoft-com:vml" Requires="v">
                <p:oleObj spid="_x0000_s3076" name="" r:id="rId1" imgW="1612900" imgH="228600" progId="Equation.3">
                  <p:embed/>
                </p:oleObj>
              </mc:Choice>
              <mc:Fallback>
                <p:oleObj name="" r:id="rId1" imgW="1612900" imgH="228600" progId="Equation.3">
                  <p:embed/>
                  <p:pic>
                    <p:nvPicPr>
                      <p:cNvPr id="0" name="图片 3075"/>
                      <p:cNvPicPr/>
                      <p:nvPr/>
                    </p:nvPicPr>
                    <p:blipFill>
                      <a:blip r:embed="rId2"/>
                      <a:stretch>
                        <a:fillRect/>
                      </a:stretch>
                    </p:blipFill>
                    <p:spPr>
                      <a:xfrm>
                        <a:off x="2733040" y="1033145"/>
                        <a:ext cx="2391410" cy="336550"/>
                      </a:xfrm>
                      <a:prstGeom prst="rect">
                        <a:avLst/>
                      </a:prstGeom>
                      <a:noFill/>
                      <a:ln w="38100">
                        <a:noFill/>
                        <a:miter/>
                      </a:ln>
                    </p:spPr>
                  </p:pic>
                </p:oleObj>
              </mc:Fallback>
            </mc:AlternateContent>
          </a:graphicData>
        </a:graphic>
      </p:graphicFrame>
      <p:graphicFrame>
        <p:nvGraphicFramePr>
          <p:cNvPr id="4" name="图片 197"/>
          <p:cNvGraphicFramePr>
            <a:graphicFrameLocks noChangeAspect="1"/>
          </p:cNvGraphicFramePr>
          <p:nvPr/>
        </p:nvGraphicFramePr>
        <p:xfrm>
          <a:off x="4485640" y="3186430"/>
          <a:ext cx="2403475" cy="414655"/>
        </p:xfrm>
        <a:graphic>
          <a:graphicData uri="http://schemas.openxmlformats.org/presentationml/2006/ole">
            <mc:AlternateContent xmlns:mc="http://schemas.openxmlformats.org/markup-compatibility/2006">
              <mc:Choice xmlns:v="urn:schemas-microsoft-com:vml" Requires="v">
                <p:oleObj spid="_x0000_s5" name="" r:id="rId3" imgW="1625600" imgH="279400" progId="Equation.3">
                  <p:embed/>
                </p:oleObj>
              </mc:Choice>
              <mc:Fallback>
                <p:oleObj name="" r:id="rId3" imgW="1625600" imgH="279400" progId="Equation.3">
                  <p:embed/>
                  <p:pic>
                    <p:nvPicPr>
                      <p:cNvPr id="0" name="图片 3"/>
                      <p:cNvPicPr/>
                      <p:nvPr/>
                    </p:nvPicPr>
                    <p:blipFill>
                      <a:blip r:embed="rId4"/>
                      <a:stretch>
                        <a:fillRect/>
                      </a:stretch>
                    </p:blipFill>
                    <p:spPr>
                      <a:xfrm>
                        <a:off x="4485640" y="3186430"/>
                        <a:ext cx="2403475" cy="414655"/>
                      </a:xfrm>
                      <a:prstGeom prst="rect">
                        <a:avLst/>
                      </a:prstGeom>
                      <a:noFill/>
                      <a:ln w="38100">
                        <a:noFill/>
                        <a:miter/>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93887" y="3756660"/>
                <a:ext cx="8915400" cy="3777622"/>
              </a:xfrm>
            </p:spPr>
            <p:txBody>
              <a:bodyPr/>
              <a:p>
                <a:pPr marL="0" indent="0">
                  <a:buNone/>
                </a:pP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𝑋</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楷体-简" panose="02010600040101010101" charset="-122"/>
                        <a:cs typeface="Cambria Math" panose="02040503050406030204" charset="0"/>
                      </a:rPr>
                      <m:t>,</m:t>
                    </m:r>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𝑌</m:t>
                        </m:r>
                      </m:e>
                      <m:sub>
                        <m:r>
                          <a:rPr lang="en-US" altLang="zh-CN" sz="2400" i="1">
                            <a:latin typeface="Cambria Math" panose="02040503050406030204" charset="0"/>
                            <a:ea typeface="楷体-简" panose="02010600040101010101" charset="-122"/>
                            <a:cs typeface="Cambria Math" panose="02040503050406030204" charset="0"/>
                          </a:rPr>
                          <m:t>𝑖</m:t>
                        </m:r>
                      </m:sub>
                    </m:sSub>
                  </m:oMath>
                </a14:m>
                <a:r>
                  <a:rPr lang="zh-CN" altLang="en-US" sz="2400">
                    <a:latin typeface="楷体-简" panose="02010600040101010101" charset="-122"/>
                    <a:ea typeface="楷体-简" panose="02010600040101010101" charset="-122"/>
                    <a:cs typeface="楷体-简" panose="02010600040101010101" charset="-122"/>
                  </a:rPr>
                  <a:t>(i=1,2,3,4,5,6,7,8,9,10)分别是训练样本的实际值(标准值)和待测样本的SVM预测值(经过分类器输出的值)。</a:t>
                </a:r>
                <a14:m>
                  <m:oMath xmlns:m="http://schemas.openxmlformats.org/officeDocument/2006/math">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𝑋</m:t>
                        </m:r>
                      </m:e>
                      <m:sub>
                        <m:r>
                          <a:rPr lang="en-US" altLang="zh-CN" sz="2400" i="1">
                            <a:latin typeface="Cambria Math" panose="02040503050406030204" charset="0"/>
                            <a:ea typeface="楷体-简" panose="02010600040101010101" charset="-122"/>
                            <a:cs typeface="Cambria Math" panose="02040503050406030204" charset="0"/>
                          </a:rPr>
                          <m:t>𝑖</m:t>
                        </m:r>
                      </m:sub>
                    </m:sSub>
                    <m:r>
                      <a:rPr lang="en-US" altLang="zh-CN" sz="2400" i="1">
                        <a:latin typeface="Cambria Math" panose="02040503050406030204" charset="0"/>
                        <a:ea typeface="楷体-简" panose="02010600040101010101" charset="-122"/>
                        <a:cs typeface="Cambria Math" panose="02040503050406030204" charset="0"/>
                      </a:rPr>
                      <m:t>,</m:t>
                    </m:r>
                    <m:sSub>
                      <m:sSubPr>
                        <m:ctrlPr>
                          <a:rPr lang="en-US" altLang="zh-CN" sz="2400" i="1">
                            <a:latin typeface="Cambria Math" panose="02040503050406030204" charset="0"/>
                            <a:ea typeface="楷体-简" panose="02010600040101010101" charset="-122"/>
                            <a:cs typeface="Cambria Math" panose="02040503050406030204" charset="0"/>
                          </a:rPr>
                        </m:ctrlPr>
                      </m:sSubPr>
                      <m:e>
                        <m:r>
                          <a:rPr lang="en-US" altLang="zh-CN" sz="2400" i="1">
                            <a:latin typeface="Cambria Math" panose="02040503050406030204" charset="0"/>
                            <a:ea typeface="楷体-简" panose="02010600040101010101" charset="-122"/>
                            <a:cs typeface="Cambria Math" panose="02040503050406030204" charset="0"/>
                          </a:rPr>
                          <m:t>𝑌</m:t>
                        </m:r>
                      </m:e>
                      <m:sub>
                        <m:r>
                          <a:rPr lang="en-US" altLang="zh-CN" sz="2400" i="1">
                            <a:latin typeface="Cambria Math" panose="02040503050406030204" charset="0"/>
                            <a:ea typeface="楷体-简" panose="02010600040101010101" charset="-122"/>
                            <a:cs typeface="Cambria Math" panose="02040503050406030204" charset="0"/>
                          </a:rPr>
                          <m:t>𝑖</m:t>
                        </m:r>
                      </m:sub>
                    </m:sSub>
                  </m:oMath>
                </a14:m>
                <a:r>
                  <a:rPr lang="zh-CN" altLang="en-US" sz="2400">
                    <a:latin typeface="楷体-简" panose="02010600040101010101" charset="-122"/>
                    <a:ea typeface="楷体-简" panose="02010600040101010101" charset="-122"/>
                    <a:cs typeface="楷体-简" panose="02010600040101010101" charset="-122"/>
                  </a:rPr>
                  <a:t>均是Zn元素的含量，只不过前者是标准值，后者待测样本的SVM预测值，此处用了10个样本，本表一来是可以看出分类器的预测效果，二来是可以通过预测值判断该样本是属于有矿的一类还是无矿的一类。</a:t>
                </a:r>
                <a:endParaRPr lang="zh-CN" altLang="en-US" sz="2400">
                  <a:latin typeface="楷体-简" panose="02010600040101010101" charset="-122"/>
                  <a:ea typeface="楷体-简" panose="02010600040101010101" charset="-122"/>
                  <a:cs typeface="楷体-简" panose="02010600040101010101"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893887" y="3756660"/>
                <a:ext cx="8915400" cy="3777622"/>
              </a:xfrm>
              <a:blipFill rotWithShape="1">
                <a:blip r:embed="rId1"/>
                <a:stretch>
                  <a:fillRect l="-4" r="4"/>
                </a:stretch>
              </a:blipFill>
            </p:spPr>
            <p:txBody>
              <a:bodyPr/>
              <a:lstStyle/>
              <a:p>
                <a:r>
                  <a:rPr lang="zh-CN" altLang="en-US">
                    <a:noFill/>
                  </a:rPr>
                  <a:t> </a:t>
                </a:r>
                <a:endParaRPr lang="zh-CN" altLang="en-US">
                  <a:noFill/>
                </a:endParaRPr>
              </a:p>
            </p:txBody>
          </p:sp>
        </mc:Fallback>
      </mc:AlternateContent>
      <p:pic>
        <p:nvPicPr>
          <p:cNvPr id="4" name="Picture 131"/>
          <p:cNvPicPr>
            <a:picLocks noChangeAspect="1"/>
          </p:cNvPicPr>
          <p:nvPr/>
        </p:nvPicPr>
        <p:blipFill>
          <a:blip r:embed="rId2"/>
          <a:stretch>
            <a:fillRect/>
          </a:stretch>
        </p:blipFill>
        <p:spPr>
          <a:xfrm>
            <a:off x="3700780" y="789305"/>
            <a:ext cx="4596130" cy="279781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latin typeface="黑体-简" panose="02000000000000000000" charset="-122"/>
                <a:ea typeface="黑体-简" panose="02000000000000000000" charset="-122"/>
                <a:cs typeface="黑体-简" panose="02000000000000000000" charset="-122"/>
              </a:rPr>
              <a:t>7.4 支持向量机特点及应用</a:t>
            </a:r>
            <a:endParaRPr lang="zh-CN" altLang="en-US" b="1">
              <a:latin typeface="黑体-简" panose="02000000000000000000" charset="-122"/>
              <a:ea typeface="黑体-简" panose="02000000000000000000" charset="-122"/>
              <a:cs typeface="黑体-简" panose="02000000000000000000" charset="-122"/>
            </a:endParaRPr>
          </a:p>
        </p:txBody>
      </p:sp>
      <p:sp>
        <p:nvSpPr>
          <p:cNvPr id="3" name="内容占位符 2"/>
          <p:cNvSpPr>
            <a:spLocks noGrp="1"/>
          </p:cNvSpPr>
          <p:nvPr>
            <p:ph idx="1"/>
          </p:nvPr>
        </p:nvSpPr>
        <p:spPr>
          <a:xfrm>
            <a:off x="2592705" y="1389380"/>
            <a:ext cx="8915400" cy="4387215"/>
          </a:xfrm>
        </p:spPr>
        <p:txBody>
          <a:bodyPr>
            <a:normAutofit lnSpcReduction="20000"/>
          </a:bodyPr>
          <a:p>
            <a:pPr marL="0" indent="0">
              <a:buNone/>
            </a:pPr>
            <a:r>
              <a:rPr lang="zh-CN" altLang="en-US" sz="2000" b="1">
                <a:latin typeface="楷体-简" panose="02010600040101010101" charset="-122"/>
                <a:ea typeface="楷体-简" panose="02010600040101010101" charset="-122"/>
                <a:cs typeface="楷体-简" panose="02010600040101010101" charset="-122"/>
              </a:rPr>
              <a:t>7.4.1支持向量机的特点</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SVM有如下主要优点：</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（1）非线性映射是SVM方法的理论基础,SVM利用内积核函数代替向高维空间的非线性映射；</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（2）对特征空间划分的最优超平面是SVM的目标,最大化分类边际的思想是SVM方法的核心；</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（3）支持向量是SVM的训练结果,在SVM分类决策中起决定作用的是支持向量。</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（4）SVM 是一种有坚实理论基础的、新颖的小样本学习方法。它基本上不涉及概率测度及大数定律等,因此不同于现有的统计方法。从本质上看,它避开了从归纳到演绎的传统过程,实现了高效的从训练样本到预报样本的“转导推理”,大大简化了通常的分类和回归等问题。</a:t>
            </a:r>
            <a:endParaRPr lang="zh-CN" altLang="en-US" sz="2000" b="1">
              <a:latin typeface="楷体-简" panose="02010600040101010101" charset="-122"/>
              <a:ea typeface="楷体-简" panose="02010600040101010101" charset="-122"/>
              <a:cs typeface="楷体-简" panose="02010600040101010101" charset="-122"/>
            </a:endParaRPr>
          </a:p>
          <a:p>
            <a:pPr marL="0" indent="0">
              <a:buNone/>
            </a:pPr>
            <a:r>
              <a:rPr lang="zh-CN" altLang="en-US" sz="2000" b="1">
                <a:latin typeface="楷体-简" panose="02010600040101010101" charset="-122"/>
                <a:ea typeface="楷体-简" panose="02010600040101010101" charset="-122"/>
                <a:cs typeface="楷体-简" panose="02010600040101010101" charset="-122"/>
              </a:rPr>
              <a:t>（5）SVM 的最终决策函数只由少数的支持向量所确定,计算的复杂性取决于支持向量的数目,而不是样本空间的维数,这在某种意义上避免了“维数灾难”。</a:t>
            </a:r>
            <a:endParaRPr lang="zh-CN" altLang="en-US" sz="2000" b="1">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36775" y="462280"/>
            <a:ext cx="9707880" cy="3777615"/>
          </a:xfrm>
        </p:spPr>
        <p:txBody>
          <a:bodyPr>
            <a:noAutofit/>
          </a:bodyPr>
          <a:p>
            <a:pPr marL="0" indent="0">
              <a:buNone/>
            </a:pPr>
            <a:r>
              <a:rPr lang="zh-CN" altLang="en-US">
                <a:latin typeface="楷体-简" panose="02010600040101010101" charset="-122"/>
                <a:ea typeface="楷体-简" panose="02010600040101010101" charset="-122"/>
                <a:cs typeface="楷体-简" panose="02010600040101010101" charset="-122"/>
              </a:rPr>
              <a:t>（6）少数支持向量决定了最终结果,这不但可以帮助我们抓住关键样本、“剔除”大量冗余样本,而且注定了该方法不但算法简单,而且具有较好的“鲁棒”性。这种“鲁棒”性主要体现在:</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a增、删非支持向量样本对模型没有影响;</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b支持向量样本集具有一定的鲁棒性;</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c有些成功的应用中,SVM 方法对核的选取不敏感。</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两个不足：</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（1）SVM算法对大规模训练样本难以实施</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    由于SVM是借助二次规划来求解支持向量，而求解二次规划将涉及m阶矩阵的计算（m为样本的个数），当m数目很大时该矩阵的存储和计算将耗费大量的机器内存和运算时间。针对以上问题的主要改进有J. Platt的SMO算法、T. Joachims的SVM、C. J. C. Burges等的PCGC、张学工的CSVM以及O. L. Mangasarian等的SOR算法。</a:t>
            </a:r>
            <a:endParaRPr lang="zh-CN" altLang="en-US">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（2）用SVM解决多分类问题存在困难</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a:latin typeface="楷体-简" panose="02010600040101010101" charset="-122"/>
                <a:ea typeface="楷体-简" panose="02010600040101010101" charset="-122"/>
                <a:cs typeface="楷体-简" panose="02010600040101010101" charset="-122"/>
              </a:rPr>
              <a:t>    经典的支持向量机算法只给出了二类分类的算法，而在数据挖掘的实际应用中，一般要解决多类的分类问题。可以通过多个二类支持向量机的组合来解决。主要有</a:t>
            </a:r>
            <a:r>
              <a:rPr lang="zh-CN" altLang="en-US" b="1">
                <a:latin typeface="楷体-简" panose="02010600040101010101" charset="-122"/>
                <a:ea typeface="楷体-简" panose="02010600040101010101" charset="-122"/>
                <a:cs typeface="楷体-简" panose="02010600040101010101" charset="-122"/>
              </a:rPr>
              <a:t>一对多组合模式、一对一组合模式和SVM决策树</a:t>
            </a:r>
            <a:r>
              <a:rPr lang="zh-CN" altLang="en-US">
                <a:latin typeface="楷体-简" panose="02010600040101010101" charset="-122"/>
                <a:ea typeface="楷体-简" panose="02010600040101010101" charset="-122"/>
                <a:cs typeface="楷体-简" panose="02010600040101010101" charset="-122"/>
              </a:rPr>
              <a:t>；再就是通过</a:t>
            </a:r>
            <a:r>
              <a:rPr lang="zh-CN" altLang="en-US" b="1">
                <a:latin typeface="楷体-简" panose="02010600040101010101" charset="-122"/>
                <a:ea typeface="楷体-简" panose="02010600040101010101" charset="-122"/>
                <a:cs typeface="楷体-简" panose="02010600040101010101" charset="-122"/>
              </a:rPr>
              <a:t>构造多个分类器的组合来解决</a:t>
            </a:r>
            <a:r>
              <a:rPr lang="zh-CN" altLang="en-US">
                <a:latin typeface="楷体-简" panose="02010600040101010101" charset="-122"/>
                <a:ea typeface="楷体-简" panose="02010600040101010101" charset="-122"/>
                <a:cs typeface="楷体-简" panose="02010600040101010101" charset="-122"/>
              </a:rPr>
              <a:t>。主要原理是克服SVM固有的缺点，结合其他算法的优势，解决多类问题的分类精度。如：与粗集理论结合，形成一种优势互补的多类问题的组合分类器。</a:t>
            </a:r>
            <a:endParaRPr lang="zh-CN" altLang="en-US">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82310" y="221520"/>
            <a:ext cx="8911687" cy="1280890"/>
          </a:xfrm>
        </p:spPr>
        <p:txBody>
          <a:bodyPr/>
          <a:p>
            <a:r>
              <a:rPr lang="en-US" altLang="zh-CN" sz="2800" b="1">
                <a:latin typeface="楷体-简" panose="02010600040101010101" charset="-122"/>
                <a:ea typeface="楷体-简" panose="02010600040101010101" charset="-122"/>
                <a:cs typeface="楷体-简" panose="02010600040101010101" charset="-122"/>
              </a:rPr>
              <a:t>7.4.2 </a:t>
            </a:r>
            <a:r>
              <a:rPr lang="zh-CN" altLang="en-US" sz="2800" b="1">
                <a:latin typeface="楷体-简" panose="02010600040101010101" charset="-122"/>
                <a:ea typeface="楷体-简" panose="02010600040101010101" charset="-122"/>
                <a:cs typeface="楷体-简" panose="02010600040101010101" charset="-122"/>
              </a:rPr>
              <a:t>支持向量机的应用</a:t>
            </a:r>
            <a:endParaRPr lang="zh-CN" altLang="en-US" sz="2800" b="1">
              <a:latin typeface="楷体-简" panose="02010600040101010101" charset="-122"/>
              <a:ea typeface="楷体-简" panose="02010600040101010101" charset="-122"/>
              <a:cs typeface="楷体-简" panose="02010600040101010101" charset="-122"/>
            </a:endParaRPr>
          </a:p>
        </p:txBody>
      </p:sp>
      <p:sp>
        <p:nvSpPr>
          <p:cNvPr id="3" name="内容占位符 2"/>
          <p:cNvSpPr>
            <a:spLocks noGrp="1"/>
          </p:cNvSpPr>
          <p:nvPr>
            <p:ph idx="1"/>
          </p:nvPr>
        </p:nvSpPr>
        <p:spPr>
          <a:xfrm>
            <a:off x="1380490" y="803275"/>
            <a:ext cx="10685145" cy="3777615"/>
          </a:xfrm>
        </p:spPr>
        <p:txBody>
          <a:bodyPr>
            <a:noAutofit/>
          </a:bodyPr>
          <a:p>
            <a:pPr marL="0" indent="0">
              <a:buNone/>
            </a:pPr>
            <a:r>
              <a:rPr lang="en-US" altLang="zh-CN" sz="2000">
                <a:latin typeface="楷体-简" panose="02010600040101010101" charset="-122"/>
                <a:ea typeface="楷体-简" panose="02010600040101010101" charset="-122"/>
                <a:cs typeface="楷体-简" panose="02010600040101010101" charset="-122"/>
              </a:rPr>
              <a:t>	</a:t>
            </a:r>
            <a:r>
              <a:rPr lang="zh-CN" altLang="en-US" sz="2000">
                <a:latin typeface="楷体-简" panose="02010600040101010101" charset="-122"/>
                <a:ea typeface="楷体-简" panose="02010600040101010101" charset="-122"/>
                <a:cs typeface="楷体-简" panose="02010600040101010101" charset="-122"/>
              </a:rPr>
              <a:t>SVM方法在理论上具有突出的优势，贝尔实验室率先对美国邮政手写数字库识别研究方面应用了SVM方法，取得了较大的成功。在随后的近几年内，有关SVM的应用研究得到了很多领域的学者的重视，在人脸检测、验证和识别、说话人/语音识别、文字/手写体识别、图像处理、及其他应用研究等方面取得了大量的研究成果，从最初的简单模式输入的直接的SVM方法研究，进入到多种方法取长补短的联合应用研究，对SVM方法也有了很多改进。</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1车辆行人检测</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由于人体是一个非刚性的目标，并在尺寸、形状、颜色和纹理机构上有一定程度的可变性。行人检测主要是基于小波模板概念，按照图像中小波相关系数子集定义目标形状的小波</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模板。系统首先对图像中每个特定大小的窗口以及该窗口进行一定范围的比例缩放得到的窗口进行小波变换，然后利用支持向量机检测变换的结果是否可以与小波模板匹配，如果匹配成功则认为检测到一个行人。</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2图像中的文本定位</a:t>
            </a:r>
            <a:endParaRPr lang="zh-CN" altLang="en-US" sz="2000">
              <a:latin typeface="楷体-简" panose="02010600040101010101" charset="-122"/>
              <a:ea typeface="楷体-简" panose="02010600040101010101" charset="-122"/>
              <a:cs typeface="楷体-简" panose="02010600040101010101" charset="-122"/>
            </a:endParaRPr>
          </a:p>
          <a:p>
            <a:pPr marL="0" indent="0">
              <a:buNone/>
            </a:pPr>
            <a:r>
              <a:rPr lang="zh-CN" altLang="en-US" sz="2000">
                <a:latin typeface="楷体-简" panose="02010600040101010101" charset="-122"/>
                <a:ea typeface="楷体-简" panose="02010600040101010101" charset="-122"/>
                <a:cs typeface="楷体-简" panose="02010600040101010101" charset="-122"/>
              </a:rPr>
              <a:t>将支持向量机（SVM）用于分析图像中文本的纹理特性。该方法不需要专门提取纹理特征，而是直接将像素的灰度值作为支持向量机的输入，经支持向量机处理后输出分类结果（即文本或非文本）。然后再通过消除噪声和合并文字区域就可得到定位结果。支持向量机对于文本定位有很好的鲁棒性，并且可在有限的样本中进行训练。</a:t>
            </a:r>
            <a:endParaRPr lang="zh-CN" altLang="en-US" sz="20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52002" y="1023620"/>
            <a:ext cx="8915400" cy="3777622"/>
          </a:xfrm>
        </p:spPr>
        <p:txBody>
          <a:bodyPr>
            <a:noAutofit/>
          </a:bodyPr>
          <a:p>
            <a:pPr marL="0" indent="0">
              <a:buNone/>
            </a:pPr>
            <a:r>
              <a:rPr lang="zh-CN" altLang="en-US" sz="2400">
                <a:latin typeface="楷体-简" panose="02010600040101010101" charset="-122"/>
                <a:ea typeface="楷体-简" panose="02010600040101010101" charset="-122"/>
                <a:cs typeface="楷体-简" panose="02010600040101010101" charset="-122"/>
              </a:rPr>
              <a:t>3 P2P流量识别</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P2P流量识别问题本质上就是一个分类问题，将未知流量粗分为P2P和non-P2P应用属于二值分类,将未知流量细分为各个具体P2P应用属于多值分类。因此支持向量机被自然地应用到P2P流量分类问题。</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3600" b="1">
                <a:latin typeface="黑体-简" panose="02000000000000000000" charset="-122"/>
                <a:ea typeface="黑体-简" panose="02000000000000000000" charset="-122"/>
                <a:cs typeface="黑体-简" panose="02000000000000000000" charset="-122"/>
              </a:rPr>
              <a:t>7.5小结</a:t>
            </a:r>
            <a:endParaRPr lang="zh-CN" altLang="en-US" sz="2400">
              <a:latin typeface="楷体-简" panose="02010600040101010101" charset="-122"/>
              <a:ea typeface="楷体-简" panose="02010600040101010101" charset="-122"/>
              <a:cs typeface="楷体-简" panose="02010600040101010101" charset="-122"/>
            </a:endParaRPr>
          </a:p>
          <a:p>
            <a:pPr marL="0" indent="0">
              <a:buNone/>
            </a:pPr>
            <a:r>
              <a:rPr lang="zh-CN" altLang="en-US" sz="2400">
                <a:latin typeface="楷体-简" panose="02010600040101010101" charset="-122"/>
                <a:ea typeface="楷体-简" panose="02010600040101010101" charset="-122"/>
                <a:cs typeface="楷体-简" panose="02010600040101010101" charset="-122"/>
              </a:rPr>
              <a:t>本章介绍了在统计学习理论基础之上发展起来的SVM算法。重点剖析了SVM原理，包括：支持向量机核心理论、最大间隔分类超平面、支持向量机、核函数分类。然后举出一个将支持向量机用到成矿的定性预测上的实例。并分析了一个具体的SVM源程序。最后介绍了支持向量机算法的特点以及应用。</a:t>
            </a:r>
            <a:endParaRPr lang="zh-CN" altLang="en-US" sz="2400">
              <a:latin typeface="楷体-简" panose="02010600040101010101" charset="-122"/>
              <a:ea typeface="楷体-简" panose="02010600040101010101" charset="-122"/>
              <a:cs typeface="楷体-简" panose="02010600040101010101" charset="-122"/>
            </a:endParaRPr>
          </a:p>
        </p:txBody>
      </p:sp>
    </p:spTree>
  </p:cSld>
  <p:clrMapOvr>
    <a:masterClrMapping/>
  </p:clrMapOvr>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UNIT_PLACING_PICTURE_USER_VIEWPORT" val="{&quot;height&quot;:3873,&quot;width&quot;:9534}"/>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6277</Words>
  <Application>WPS 演示</Application>
  <PresentationFormat>宽屏</PresentationFormat>
  <Paragraphs>263</Paragraphs>
  <Slides>39</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28</vt:i4>
      </vt:variant>
      <vt:variant>
        <vt:lpstr>幻灯片标题</vt:lpstr>
      </vt:variant>
      <vt:variant>
        <vt:i4>39</vt:i4>
      </vt:variant>
    </vt:vector>
  </HeadingPairs>
  <TitlesOfParts>
    <vt:vector size="83" baseType="lpstr">
      <vt:lpstr>Arial</vt:lpstr>
      <vt:lpstr>宋体</vt:lpstr>
      <vt:lpstr>Wingdings</vt:lpstr>
      <vt:lpstr>Wingdings 3</vt:lpstr>
      <vt:lpstr>Arial</vt:lpstr>
      <vt:lpstr>黑体-简</vt:lpstr>
      <vt:lpstr>黑体</vt:lpstr>
      <vt:lpstr>楷体-简</vt:lpstr>
      <vt:lpstr>Century Gothic</vt:lpstr>
      <vt:lpstr>幼圆</vt:lpstr>
      <vt:lpstr>微软雅黑</vt:lpstr>
      <vt:lpstr>Arial Unicode MS</vt:lpstr>
      <vt:lpstr>Calibri</vt:lpstr>
      <vt:lpstr>Times New Roman</vt:lpstr>
      <vt:lpstr>Verdana</vt:lpstr>
      <vt:lpstr>丝状</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第7章 支持向量机</vt:lpstr>
      <vt:lpstr>PowerPoint 演示文稿</vt:lpstr>
      <vt:lpstr>PowerPoint 演示文稿</vt:lpstr>
      <vt:lpstr>7.1 基本概念</vt:lpstr>
      <vt:lpstr>7.1.2 统计学习核心理论</vt:lpstr>
      <vt:lpstr>7.1.3 学习过程的一致性条件</vt:lpstr>
      <vt:lpstr>PowerPoint 演示文稿</vt:lpstr>
      <vt:lpstr>PowerPoint 演示文稿</vt:lpstr>
      <vt:lpstr>PowerPoint 演示文稿</vt:lpstr>
      <vt:lpstr>PowerPoint 演示文稿</vt:lpstr>
      <vt:lpstr>7.2 支持向量机原理</vt:lpstr>
      <vt:lpstr>7.2.2 最大间隔分类超平面</vt:lpstr>
      <vt:lpstr>PowerPoint 演示文稿</vt:lpstr>
      <vt:lpstr>PowerPoint 演示文稿</vt:lpstr>
      <vt:lpstr>最大间隔(margin)</vt:lpstr>
      <vt:lpstr>7.2.3 支持向量机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7.2.4 核函数分类</vt:lpstr>
      <vt:lpstr>PowerPoint 演示文稿</vt:lpstr>
      <vt:lpstr>PowerPoint 演示文稿</vt:lpstr>
      <vt:lpstr>7.3 支持向量机实例分析</vt:lpstr>
      <vt:lpstr>PowerPoint 演示文稿</vt:lpstr>
      <vt:lpstr>PowerPoint 演示文稿</vt:lpstr>
      <vt:lpstr>PowerPoint 演示文稿</vt:lpstr>
      <vt:lpstr>PowerPoint 演示文稿</vt:lpstr>
      <vt:lpstr>7.4 支持向量机特点及应用</vt:lpstr>
      <vt:lpstr>PowerPoint 演示文稿</vt:lpstr>
      <vt:lpstr>7.4.2 支持向量机的应用</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55</cp:revision>
  <dcterms:created xsi:type="dcterms:W3CDTF">2019-12-18T09:36:00Z</dcterms:created>
  <dcterms:modified xsi:type="dcterms:W3CDTF">2020-12-02T10:36:15Z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