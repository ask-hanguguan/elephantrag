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gif" ContentType="image/gif"/>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3"/>
    <p:sldId id="281" r:id="rId4"/>
    <p:sldId id="282" r:id="rId5"/>
    <p:sldId id="257" r:id="rId6"/>
    <p:sldId id="284" r:id="rId7"/>
    <p:sldId id="260" r:id="rId8"/>
    <p:sldId id="285" r:id="rId9"/>
    <p:sldId id="261" r:id="rId10"/>
    <p:sldId id="262" r:id="rId11"/>
    <p:sldId id="263" r:id="rId12"/>
    <p:sldId id="264" r:id="rId13"/>
    <p:sldId id="266" r:id="rId14"/>
    <p:sldId id="286" r:id="rId15"/>
    <p:sldId id="287" r:id="rId16"/>
    <p:sldId id="288" r:id="rId17"/>
    <p:sldId id="289" r:id="rId18"/>
    <p:sldId id="290" r:id="rId19"/>
    <p:sldId id="265" r:id="rId20"/>
    <p:sldId id="267" r:id="rId21"/>
    <p:sldId id="268" r:id="rId22"/>
    <p:sldId id="269" r:id="rId23"/>
    <p:sldId id="270" r:id="rId25"/>
    <p:sldId id="271" r:id="rId26"/>
    <p:sldId id="272" r:id="rId27"/>
    <p:sldId id="273" r:id="rId28"/>
    <p:sldId id="274" r:id="rId29"/>
    <p:sldId id="275" r:id="rId30"/>
    <p:sldId id="276" r:id="rId31"/>
    <p:sldId id="296" r:id="rId32"/>
    <p:sldId id="294" r:id="rId33"/>
    <p:sldId id="295" r:id="rId34"/>
    <p:sldId id="298" r:id="rId35"/>
    <p:sldId id="300" r:id="rId36"/>
    <p:sldId id="301" r:id="rId37"/>
    <p:sldId id="299" r:id="rId38"/>
    <p:sldId id="297" r:id="rId39"/>
    <p:sldId id="277" r:id="rId40"/>
    <p:sldId id="278" r:id="rId41"/>
    <p:sldId id="279" r:id="rId4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40"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notesMaster" Target="notesMasters/notesMaster1.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7.wmf"/><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2589212" y="2548966"/>
            <a:ext cx="4342893" cy="335406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smtClean="0"/>
              <a:t>单击此处编辑母版标题样式</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9F5CEFE-F680-4E1A-8F9A-C73F24F18C71}" type="slidenum">
              <a:rPr lang="zh-CN" altLang="en-US" smtClean="0"/>
            </a:fld>
            <a:endParaRPr lang="zh-CN" alt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smtClean="0"/>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zh-CN" altLang="en-US" smtClean="0"/>
              <a:t>单击此处编辑母版标题样式</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endParaRPr lang="zh-CN" altLang="en-US" smtClean="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9F5CEFE-F680-4E1A-8F9A-C73F24F18C7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F8BBFB68-6CFE-4E7D-9021-AEBABF9B3760}" type="datetimeFigureOut">
              <a:rPr lang="zh-CN" altLang="en-US" smtClean="0"/>
            </a:fld>
            <a:endParaRPr lang="zh-CN" alt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9F5CEFE-F680-4E1A-8F9A-C73F24F18C7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GIF"/><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emf"/></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2.xml"/><Relationship Id="rId7" Type="http://schemas.openxmlformats.org/officeDocument/2006/relationships/image" Target="../media/image9.png"/><Relationship Id="rId6" Type="http://schemas.openxmlformats.org/officeDocument/2006/relationships/image" Target="../media/image8.wmf"/><Relationship Id="rId5" Type="http://schemas.openxmlformats.org/officeDocument/2006/relationships/oleObject" Target="../embeddings/oleObject3.bin"/><Relationship Id="rId4" Type="http://schemas.openxmlformats.org/officeDocument/2006/relationships/image" Target="../media/image7.wmf"/><Relationship Id="rId3" Type="http://schemas.openxmlformats.org/officeDocument/2006/relationships/oleObject" Target="../embeddings/oleObject2.bin"/><Relationship Id="rId2" Type="http://schemas.openxmlformats.org/officeDocument/2006/relationships/image" Target="../media/image6.wmf"/><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6.bin"/><Relationship Id="rId4" Type="http://schemas.openxmlformats.org/officeDocument/2006/relationships/image" Target="../media/image7.wmf"/><Relationship Id="rId3" Type="http://schemas.openxmlformats.org/officeDocument/2006/relationships/oleObject" Target="../embeddings/oleObject5.bin"/><Relationship Id="rId2" Type="http://schemas.openxmlformats.org/officeDocument/2006/relationships/image" Target="../media/image6.wmf"/><Relationship Id="rId1"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wmf"/><Relationship Id="rId2" Type="http://schemas.openxmlformats.org/officeDocument/2006/relationships/oleObject" Target="../embeddings/oleObject7.bin"/><Relationship Id="rId1" Type="http://schemas.openxmlformats.org/officeDocument/2006/relationships/image" Target="../media/image11.png"/></Relationships>
</file>

<file path=ppt/slides/_rels/slide17.xml.rels><?xml version="1.0" encoding="UTF-8" standalone="yes"?>
<Relationships xmlns="http://schemas.openxmlformats.org/package/2006/relationships"><Relationship Id="rId9" Type="http://schemas.openxmlformats.org/officeDocument/2006/relationships/image" Target="../media/image17.wmf"/><Relationship Id="rId8" Type="http://schemas.openxmlformats.org/officeDocument/2006/relationships/oleObject" Target="../embeddings/oleObject10.bin"/><Relationship Id="rId7" Type="http://schemas.openxmlformats.org/officeDocument/2006/relationships/image" Target="../media/image7.wmf"/><Relationship Id="rId6" Type="http://schemas.openxmlformats.org/officeDocument/2006/relationships/oleObject" Target="../embeddings/oleObject9.bin"/><Relationship Id="rId5" Type="http://schemas.openxmlformats.org/officeDocument/2006/relationships/image" Target="../media/image6.wmf"/><Relationship Id="rId4" Type="http://schemas.openxmlformats.org/officeDocument/2006/relationships/oleObject" Target="../embeddings/oleObject8.bin"/><Relationship Id="rId3" Type="http://schemas.openxmlformats.org/officeDocument/2006/relationships/image" Target="../media/image16.png"/><Relationship Id="rId2" Type="http://schemas.openxmlformats.org/officeDocument/2006/relationships/image" Target="../media/image15.png"/><Relationship Id="rId12" Type="http://schemas.openxmlformats.org/officeDocument/2006/relationships/vmlDrawing" Target="../drawings/vmlDrawing4.vml"/><Relationship Id="rId11" Type="http://schemas.openxmlformats.org/officeDocument/2006/relationships/slideLayout" Target="../slideLayouts/slideLayout2.xml"/><Relationship Id="rId10" Type="http://schemas.openxmlformats.org/officeDocument/2006/relationships/image" Target="../media/image18.png"/><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image" Target="../media/image29.wmf"/><Relationship Id="rId2" Type="http://schemas.openxmlformats.org/officeDocument/2006/relationships/oleObject" Target="../embeddings/oleObject11.bin"/><Relationship Id="rId1"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960563" y="1800224"/>
            <a:ext cx="8915399" cy="1228725"/>
          </a:xfrm>
        </p:spPr>
        <p:txBody>
          <a:bodyPr/>
          <a:lstStyle/>
          <a:p>
            <a:pPr algn="ctr"/>
            <a:r>
              <a:rPr lang="zh-CN" altLang="en-US" dirty="0" smtClean="0">
                <a:latin typeface="楷体" panose="02010609060101010101" pitchFamily="49" charset="-122"/>
                <a:ea typeface="楷体" panose="02010609060101010101" pitchFamily="49" charset="-122"/>
              </a:rPr>
              <a:t>第</a:t>
            </a:r>
            <a:r>
              <a:rPr lang="en-US" altLang="zh-CN" dirty="0" smtClean="0">
                <a:latin typeface="楷体" panose="02010609060101010101" pitchFamily="49" charset="-122"/>
                <a:ea typeface="楷体" panose="02010609060101010101" pitchFamily="49" charset="-122"/>
              </a:rPr>
              <a:t>8</a:t>
            </a:r>
            <a:r>
              <a:rPr lang="zh-CN" altLang="en-US" dirty="0" smtClean="0">
                <a:latin typeface="楷体" panose="02010609060101010101" pitchFamily="49" charset="-122"/>
                <a:ea typeface="楷体" panose="02010609060101010101" pitchFamily="49" charset="-122"/>
              </a:rPr>
              <a:t>章   </a:t>
            </a:r>
            <a:r>
              <a:rPr lang="en-US" altLang="zh-CN" dirty="0" smtClean="0">
                <a:latin typeface="楷体" panose="02010609060101010101" pitchFamily="49" charset="-122"/>
                <a:ea typeface="楷体" panose="02010609060101010101" pitchFamily="49" charset="-122"/>
              </a:rPr>
              <a:t>K-means</a:t>
            </a:r>
            <a:r>
              <a:rPr lang="zh-CN" altLang="en-US" dirty="0" smtClean="0">
                <a:latin typeface="楷体" panose="02010609060101010101" pitchFamily="49" charset="-122"/>
                <a:ea typeface="楷体" panose="02010609060101010101" pitchFamily="49" charset="-122"/>
              </a:rPr>
              <a:t>聚类算法</a:t>
            </a:r>
            <a:endParaRPr lang="zh-CN" altLang="en-US"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内容占位符 8"/>
          <p:cNvPicPr>
            <a:picLocks noChangeAspect="1"/>
          </p:cNvPicPr>
          <p:nvPr>
            <p:ph idx="1"/>
            <p:custDataLst>
              <p:tags r:id="rId1"/>
            </p:custDataLst>
          </p:nvPr>
        </p:nvPicPr>
        <p:blipFill>
          <a:blip r:embed="rId2"/>
          <a:stretch>
            <a:fillRect/>
          </a:stretch>
        </p:blipFill>
        <p:spPr>
          <a:xfrm>
            <a:off x="1536065" y="1419225"/>
            <a:ext cx="4283075" cy="4283075"/>
          </a:xfrm>
          <a:prstGeom prst="rect">
            <a:avLst/>
          </a:prstGeom>
        </p:spPr>
      </p:pic>
      <p:sp>
        <p:nvSpPr>
          <p:cNvPr id="4" name="文本框 3"/>
          <p:cNvSpPr txBox="1"/>
          <p:nvPr/>
        </p:nvSpPr>
        <p:spPr>
          <a:xfrm>
            <a:off x="6322695" y="686435"/>
            <a:ext cx="5504180" cy="3046095"/>
          </a:xfrm>
          <a:prstGeom prst="rect">
            <a:avLst/>
          </a:prstGeom>
          <a:noFill/>
        </p:spPr>
        <p:txBody>
          <a:bodyPr wrap="square" rtlCol="0">
            <a:spAutoFit/>
          </a:bodyPr>
          <a:p>
            <a:r>
              <a:rPr lang="zh-CN" altLang="en-US" sz="3200" b="1"/>
              <a:t>现假设有某池塘数百个成年鱼类样本，共有</a:t>
            </a:r>
            <a:r>
              <a:rPr lang="en-US" altLang="zh-CN" sz="3200" b="1"/>
              <a:t>4</a:t>
            </a:r>
            <a:r>
              <a:rPr lang="zh-CN" altLang="en-US" sz="3200" b="1"/>
              <a:t>类，但不知道</a:t>
            </a:r>
            <a:r>
              <a:rPr lang="zh-CN" altLang="en-US" sz="3200" b="1"/>
              <a:t>每个样本属于哪类。样本均有</a:t>
            </a:r>
            <a:r>
              <a:rPr lang="en-US" altLang="zh-CN" sz="3200" b="1"/>
              <a:t>“</a:t>
            </a:r>
            <a:r>
              <a:rPr lang="zh-CN" altLang="en-US" sz="3200" b="1"/>
              <a:t>长宽比</a:t>
            </a:r>
            <a:r>
              <a:rPr lang="en-US" altLang="zh-CN" sz="3200" b="1"/>
              <a:t>”</a:t>
            </a:r>
            <a:r>
              <a:rPr lang="zh-CN" altLang="en-US" sz="3200" b="1"/>
              <a:t>和</a:t>
            </a:r>
            <a:r>
              <a:rPr lang="en-US" altLang="zh-CN" sz="3200" b="1"/>
              <a:t>“</a:t>
            </a:r>
            <a:r>
              <a:rPr lang="zh-CN" altLang="en-US" sz="3200" b="1"/>
              <a:t>重量</a:t>
            </a:r>
            <a:r>
              <a:rPr lang="en-US" altLang="zh-CN" sz="3200" b="1"/>
              <a:t>”</a:t>
            </a:r>
            <a:r>
              <a:rPr lang="zh-CN" altLang="en-US" sz="3200" b="1"/>
              <a:t>两个属性。</a:t>
            </a:r>
            <a:r>
              <a:rPr lang="en-US" altLang="zh-CN" sz="3200" b="1"/>
              <a:t>X</a:t>
            </a:r>
            <a:r>
              <a:rPr lang="zh-CN" altLang="en-US" sz="3200" b="1"/>
              <a:t>轴代表该鱼长宽比，</a:t>
            </a:r>
            <a:r>
              <a:rPr lang="en-US" altLang="zh-CN" sz="3200" b="1"/>
              <a:t>Y</a:t>
            </a:r>
            <a:r>
              <a:rPr lang="zh-CN" altLang="en-US" sz="3200" b="1"/>
              <a:t>轴代表该鱼的重量，可画出散点图</a:t>
            </a:r>
            <a:endParaRPr lang="zh-CN" altLang="en-US" sz="3200" b="1"/>
          </a:p>
        </p:txBody>
      </p:sp>
      <p:sp>
        <p:nvSpPr>
          <p:cNvPr id="5" name="文本框 4"/>
          <p:cNvSpPr txBox="1"/>
          <p:nvPr/>
        </p:nvSpPr>
        <p:spPr>
          <a:xfrm>
            <a:off x="2350770" y="281305"/>
            <a:ext cx="4147185" cy="521970"/>
          </a:xfrm>
          <a:prstGeom prst="rect">
            <a:avLst/>
          </a:prstGeom>
          <a:noFill/>
        </p:spPr>
        <p:txBody>
          <a:bodyPr wrap="square" rtlCol="0">
            <a:spAutoFit/>
          </a:bodyPr>
          <a:p>
            <a:r>
              <a:rPr lang="zh-CN" altLang="en-US" sz="2800" b="1">
                <a:solidFill>
                  <a:srgbClr val="FF0000"/>
                </a:solidFill>
              </a:rPr>
              <a:t>什么是聚类？</a:t>
            </a:r>
            <a:endParaRPr lang="zh-CN" altLang="en-US" sz="2800" b="1">
              <a:solidFill>
                <a:srgbClr val="FF0000"/>
              </a:solidFill>
            </a:endParaRPr>
          </a:p>
        </p:txBody>
      </p:sp>
      <p:sp>
        <p:nvSpPr>
          <p:cNvPr id="6" name="文本框 5"/>
          <p:cNvSpPr txBox="1"/>
          <p:nvPr/>
        </p:nvSpPr>
        <p:spPr>
          <a:xfrm>
            <a:off x="6518910" y="4225925"/>
            <a:ext cx="5308600" cy="2306955"/>
          </a:xfrm>
          <a:prstGeom prst="rect">
            <a:avLst/>
          </a:prstGeom>
          <a:noFill/>
        </p:spPr>
        <p:txBody>
          <a:bodyPr wrap="square" rtlCol="0">
            <a:spAutoFit/>
          </a:bodyPr>
          <a:p>
            <a:r>
              <a:rPr lang="zh-CN" altLang="en-US" sz="2400" b="1">
                <a:solidFill>
                  <a:srgbClr val="C00000"/>
                </a:solidFill>
              </a:rPr>
              <a:t>我们不知道哪些样本是同类，但可以认为同种类的鱼应该有某种相似性，比如，在该散点图上的位置是较为接近的。这样，</a:t>
            </a:r>
            <a:r>
              <a:rPr lang="zh-CN" sz="2400" b="1">
                <a:solidFill>
                  <a:srgbClr val="C00000"/>
                </a:solidFill>
              </a:rPr>
              <a:t>我们把较为接近的样本划为一类，就能判断出这些样本该如何归类</a:t>
            </a:r>
            <a:endParaRPr lang="zh-CN" sz="2400" b="1">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2593022" y="1539875"/>
            <a:ext cx="8915400" cy="3777622"/>
          </a:xfrm>
        </p:spPr>
        <p:txBody>
          <a:bodyPr/>
          <a:p>
            <a:pPr marL="0" indent="0">
              <a:buNone/>
            </a:pPr>
            <a:r>
              <a:rPr lang="zh-CN" altLang="en-US" sz="3200" b="1">
                <a:sym typeface="+mn-ea"/>
              </a:rPr>
              <a:t>将</a:t>
            </a:r>
            <a:r>
              <a:rPr lang="zh-CN" altLang="en-US" sz="3200" b="1">
                <a:solidFill>
                  <a:srgbClr val="C00000"/>
                </a:solidFill>
                <a:sym typeface="+mn-ea"/>
              </a:rPr>
              <a:t>未知类别</a:t>
            </a:r>
            <a:r>
              <a:rPr lang="zh-CN" altLang="en-US" sz="3200" b="1">
                <a:sym typeface="+mn-ea"/>
              </a:rPr>
              <a:t>的样本集划分为若干簇的过程就叫做</a:t>
            </a:r>
            <a:r>
              <a:rPr lang="zh-CN" altLang="en-US" sz="3200" b="1">
                <a:solidFill>
                  <a:srgbClr val="C00000"/>
                </a:solidFill>
                <a:sym typeface="+mn-ea"/>
              </a:rPr>
              <a:t>聚类</a:t>
            </a:r>
            <a:endParaRPr lang="zh-CN" altLang="en-US" sz="3200" b="1"/>
          </a:p>
          <a:p>
            <a:pPr marL="0" indent="0">
              <a:buNone/>
            </a:pPr>
            <a:r>
              <a:rPr lang="zh-CN" altLang="en-US" sz="3200" b="1"/>
              <a:t>用于将未知类别的样本集划分为若干簇的的算法就是</a:t>
            </a:r>
            <a:r>
              <a:rPr lang="zh-CN" altLang="en-US" sz="3200" b="1">
                <a:solidFill>
                  <a:srgbClr val="C00000"/>
                </a:solidFill>
              </a:rPr>
              <a:t>聚类算法</a:t>
            </a:r>
            <a:r>
              <a:rPr lang="zh-CN" altLang="en-US" sz="3200" b="1"/>
              <a:t>。</a:t>
            </a:r>
            <a:endParaRPr lang="zh-CN" altLang="en-US" sz="3200" b="1"/>
          </a:p>
        </p:txBody>
      </p:sp>
      <p:sp>
        <p:nvSpPr>
          <p:cNvPr id="4" name="文本框 3"/>
          <p:cNvSpPr txBox="1"/>
          <p:nvPr/>
        </p:nvSpPr>
        <p:spPr>
          <a:xfrm>
            <a:off x="4504690" y="4045585"/>
            <a:ext cx="7157720" cy="2306955"/>
          </a:xfrm>
          <a:prstGeom prst="rect">
            <a:avLst/>
          </a:prstGeom>
          <a:solidFill>
            <a:schemeClr val="accent6">
              <a:lumMod val="20000"/>
              <a:lumOff val="80000"/>
            </a:schemeClr>
          </a:solidFill>
          <a:ln>
            <a:solidFill>
              <a:schemeClr val="tx1"/>
            </a:solidFill>
          </a:ln>
        </p:spPr>
        <p:txBody>
          <a:bodyPr wrap="square" rtlCol="0">
            <a:spAutoFit/>
          </a:bodyPr>
          <a:p>
            <a:r>
              <a:rPr lang="zh-CN" altLang="en-US" sz="2400" b="1">
                <a:solidFill>
                  <a:schemeClr val="tx1"/>
                </a:solidFill>
              </a:rPr>
              <a:t>聚类和分类不同，聚类没有任何关于类别的知识，是依据样本之间的相似性来决定哪些样本属于同类。</a:t>
            </a:r>
            <a:endParaRPr lang="zh-CN" altLang="en-US" sz="2400" b="1">
              <a:solidFill>
                <a:schemeClr val="tx1"/>
              </a:solidFill>
            </a:endParaRPr>
          </a:p>
          <a:p>
            <a:endParaRPr lang="zh-CN" altLang="en-US" sz="2400" b="1">
              <a:solidFill>
                <a:schemeClr val="tx1"/>
              </a:solidFill>
            </a:endParaRPr>
          </a:p>
          <a:p>
            <a:r>
              <a:rPr lang="zh-CN" altLang="en-US" sz="2400" b="1">
                <a:solidFill>
                  <a:schemeClr val="tx1"/>
                </a:solidFill>
              </a:rPr>
              <a:t>分类需要预先拥有关于类别的知识（例如给定类别标号的训练样本），然后对未知类别的样本进行分类和预测</a:t>
            </a:r>
            <a:endParaRPr lang="zh-CN" altLang="en-US" sz="2400" b="1">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424086"/>
            <a:ext cx="8911687" cy="1280890"/>
          </a:xfrm>
        </p:spPr>
        <p:txBody>
          <a:bodyPr/>
          <a:lstStyle/>
          <a:p>
            <a:r>
              <a:rPr lang="en-US" altLang="zh-CN" dirty="0" smtClean="0">
                <a:latin typeface="楷体" panose="02010609060101010101" pitchFamily="49" charset="-122"/>
                <a:ea typeface="楷体" panose="02010609060101010101" pitchFamily="49" charset="-122"/>
              </a:rPr>
              <a:t>8.1  </a:t>
            </a:r>
            <a:r>
              <a:rPr lang="zh-CN" altLang="en-US" dirty="0" smtClean="0">
                <a:latin typeface="楷体" panose="02010609060101010101" pitchFamily="49" charset="-122"/>
                <a:ea typeface="楷体" panose="02010609060101010101" pitchFamily="49" charset="-122"/>
              </a:rPr>
              <a:t>简介</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2603500" y="1219198"/>
            <a:ext cx="8915400" cy="5138740"/>
          </a:xfrm>
        </p:spPr>
        <p:txBody>
          <a:bodyPr>
            <a:noAutofit/>
          </a:bodyPr>
          <a:lstStyle/>
          <a:p>
            <a:pPr algn="just">
              <a:lnSpc>
                <a:spcPct val="150000"/>
              </a:lnSpc>
            </a:pPr>
            <a:r>
              <a:rPr lang="en-US" altLang="zh-CN" sz="3200" dirty="0">
                <a:latin typeface="楷体" panose="02010609060101010101" pitchFamily="49" charset="-122"/>
                <a:ea typeface="楷体" panose="02010609060101010101" pitchFamily="49" charset="-122"/>
              </a:rPr>
              <a:t>K-means</a:t>
            </a:r>
            <a:r>
              <a:rPr lang="zh-CN" altLang="en-US" sz="3200" dirty="0">
                <a:latin typeface="楷体" panose="02010609060101010101" pitchFamily="49" charset="-122"/>
                <a:ea typeface="楷体" panose="02010609060101010101" pitchFamily="49" charset="-122"/>
              </a:rPr>
              <a:t>聚类算法由</a:t>
            </a:r>
            <a:r>
              <a:rPr lang="en-US" altLang="zh-CN" sz="3200" dirty="0">
                <a:latin typeface="楷体" panose="02010609060101010101" pitchFamily="49" charset="-122"/>
                <a:ea typeface="楷体" panose="02010609060101010101" pitchFamily="49" charset="-122"/>
              </a:rPr>
              <a:t>J.B.MacQueen</a:t>
            </a:r>
            <a:r>
              <a:rPr lang="zh-CN" altLang="en-US" sz="3200" dirty="0">
                <a:latin typeface="楷体" panose="02010609060101010101" pitchFamily="49" charset="-122"/>
                <a:ea typeface="楷体" panose="02010609060101010101" pitchFamily="49" charset="-122"/>
              </a:rPr>
              <a:t>在</a:t>
            </a:r>
            <a:r>
              <a:rPr lang="en-US" altLang="zh-CN" sz="3200" dirty="0">
                <a:latin typeface="楷体" panose="02010609060101010101" pitchFamily="49" charset="-122"/>
                <a:ea typeface="楷体" panose="02010609060101010101" pitchFamily="49" charset="-122"/>
              </a:rPr>
              <a:t>1967</a:t>
            </a:r>
            <a:r>
              <a:rPr lang="zh-CN" altLang="en-US" sz="3200" dirty="0">
                <a:latin typeface="楷体" panose="02010609060101010101" pitchFamily="49" charset="-122"/>
                <a:ea typeface="楷体" panose="02010609060101010101" pitchFamily="49" charset="-122"/>
              </a:rPr>
              <a:t>年提出，是最为经典也是使用最为广泛的一种基于划分的聚类算法</a:t>
            </a:r>
            <a:r>
              <a:rPr lang="zh-CN" altLang="en-US" sz="3200" dirty="0" smtClean="0">
                <a:latin typeface="楷体" panose="02010609060101010101" pitchFamily="49" charset="-122"/>
                <a:ea typeface="楷体" panose="02010609060101010101" pitchFamily="49" charset="-122"/>
              </a:rPr>
              <a:t>，属于</a:t>
            </a:r>
            <a:r>
              <a:rPr lang="zh-CN" altLang="en-US" sz="3200" b="1" dirty="0">
                <a:solidFill>
                  <a:srgbClr val="C00000"/>
                </a:solidFill>
                <a:latin typeface="楷体" panose="02010609060101010101" pitchFamily="49" charset="-122"/>
                <a:ea typeface="楷体" panose="02010609060101010101" pitchFamily="49" charset="-122"/>
              </a:rPr>
              <a:t>基于距离的聚类算法</a:t>
            </a:r>
            <a:r>
              <a:rPr lang="zh-CN" altLang="en-US" sz="3200" dirty="0" smtClean="0">
                <a:latin typeface="楷体" panose="02010609060101010101" pitchFamily="49" charset="-122"/>
                <a:ea typeface="楷体" panose="02010609060101010101" pitchFamily="49" charset="-122"/>
              </a:rPr>
              <a:t>。</a:t>
            </a:r>
            <a:endParaRPr lang="zh-CN" altLang="en-US" sz="3200" dirty="0" smtClean="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432050" y="439420"/>
            <a:ext cx="8915400" cy="5104765"/>
          </a:xfrm>
        </p:spPr>
        <p:txBody>
          <a:bodyPr/>
          <a:p>
            <a:r>
              <a:rPr lang="zh-CN" altLang="en-US" sz="2800" dirty="0" smtClean="0">
                <a:latin typeface="楷体" panose="02010609060101010101" pitchFamily="49" charset="-122"/>
                <a:ea typeface="楷体" panose="02010609060101010101" pitchFamily="49" charset="-122"/>
                <a:sym typeface="+mn-ea"/>
              </a:rPr>
              <a:t>基于</a:t>
            </a:r>
            <a:r>
              <a:rPr lang="zh-CN" altLang="en-US" sz="2800" dirty="0">
                <a:latin typeface="楷体" panose="02010609060101010101" pitchFamily="49" charset="-122"/>
                <a:ea typeface="楷体" panose="02010609060101010101" pitchFamily="49" charset="-122"/>
                <a:sym typeface="+mn-ea"/>
              </a:rPr>
              <a:t>距离的聚类算法是指采用</a:t>
            </a:r>
            <a:r>
              <a:rPr lang="zh-CN" altLang="en-US" sz="2800" b="1" dirty="0">
                <a:solidFill>
                  <a:srgbClr val="C00000"/>
                </a:solidFill>
                <a:latin typeface="楷体" panose="02010609060101010101" pitchFamily="49" charset="-122"/>
                <a:ea typeface="楷体" panose="02010609060101010101" pitchFamily="49" charset="-122"/>
                <a:sym typeface="+mn-ea"/>
              </a:rPr>
              <a:t>距离</a:t>
            </a:r>
            <a:r>
              <a:rPr lang="zh-CN" altLang="en-US" sz="2800" dirty="0">
                <a:latin typeface="楷体" panose="02010609060101010101" pitchFamily="49" charset="-122"/>
                <a:ea typeface="楷体" panose="02010609060101010101" pitchFamily="49" charset="-122"/>
                <a:sym typeface="+mn-ea"/>
              </a:rPr>
              <a:t>作为相似性度量的评价指标，也就是说当两个对象离的近，二者之间的距离比较小，那么它们之间的相似性就比较大。</a:t>
            </a:r>
            <a:endParaRPr lang="zh-CN" altLang="en-US" sz="2800" dirty="0">
              <a:latin typeface="楷体" panose="02010609060101010101" pitchFamily="49" charset="-122"/>
              <a:ea typeface="楷体" panose="02010609060101010101" pitchFamily="49" charset="-122"/>
              <a:sym typeface="+mn-ea"/>
            </a:endParaRPr>
          </a:p>
          <a:p>
            <a:r>
              <a:rPr lang="zh-CN" altLang="en-US" sz="2800" dirty="0">
                <a:latin typeface="楷体" panose="02010609060101010101" pitchFamily="49" charset="-122"/>
                <a:ea typeface="楷体" panose="02010609060101010101" pitchFamily="49" charset="-122"/>
                <a:sym typeface="+mn-ea"/>
              </a:rPr>
              <a:t>这类算法通常是</a:t>
            </a:r>
            <a:r>
              <a:rPr lang="zh-CN" altLang="en-US" sz="2800" b="1" dirty="0">
                <a:solidFill>
                  <a:srgbClr val="C00000"/>
                </a:solidFill>
                <a:latin typeface="楷体" panose="02010609060101010101" pitchFamily="49" charset="-122"/>
                <a:ea typeface="楷体" panose="02010609060101010101" pitchFamily="49" charset="-122"/>
                <a:sym typeface="+mn-ea"/>
              </a:rPr>
              <a:t>由距离比较相近的对象组成簇</a:t>
            </a:r>
            <a:r>
              <a:rPr lang="zh-CN" altLang="en-US" sz="2800" dirty="0">
                <a:latin typeface="楷体" panose="02010609060101010101" pitchFamily="49" charset="-122"/>
                <a:ea typeface="楷体" panose="02010609060101010101" pitchFamily="49" charset="-122"/>
                <a:sym typeface="+mn-ea"/>
              </a:rPr>
              <a:t>，把得到紧凑而且独立的簇作为最终目标，因此将这类算法称为基于距离的聚类算法。</a:t>
            </a:r>
            <a:r>
              <a:rPr lang="en-US" altLang="zh-CN" sz="2800" dirty="0">
                <a:latin typeface="楷体" panose="02010609060101010101" pitchFamily="49" charset="-122"/>
                <a:ea typeface="楷体" panose="02010609060101010101" pitchFamily="49" charset="-122"/>
                <a:sym typeface="+mn-ea"/>
              </a:rPr>
              <a:t>K-means</a:t>
            </a:r>
            <a:r>
              <a:rPr lang="zh-CN" altLang="en-US" sz="2800" dirty="0">
                <a:latin typeface="楷体" panose="02010609060101010101" pitchFamily="49" charset="-122"/>
                <a:ea typeface="楷体" panose="02010609060101010101" pitchFamily="49" charset="-122"/>
                <a:sym typeface="+mn-ea"/>
              </a:rPr>
              <a:t>聚类</a:t>
            </a:r>
            <a:r>
              <a:rPr lang="zh-CN" altLang="en-US" sz="2800" dirty="0" smtClean="0">
                <a:latin typeface="楷体" panose="02010609060101010101" pitchFamily="49" charset="-122"/>
                <a:ea typeface="楷体" panose="02010609060101010101" pitchFamily="49" charset="-122"/>
                <a:sym typeface="+mn-ea"/>
              </a:rPr>
              <a:t>算法是</a:t>
            </a:r>
            <a:r>
              <a:rPr lang="zh-CN" altLang="en-US" sz="2800" dirty="0">
                <a:latin typeface="楷体" panose="02010609060101010101" pitchFamily="49" charset="-122"/>
                <a:ea typeface="楷体" panose="02010609060101010101" pitchFamily="49" charset="-122"/>
                <a:sym typeface="+mn-ea"/>
              </a:rPr>
              <a:t>其中比较经典的一种算法。</a:t>
            </a:r>
            <a:r>
              <a:rPr lang="en-US" altLang="zh-CN" sz="2800" dirty="0">
                <a:latin typeface="楷体" panose="02010609060101010101" pitchFamily="49" charset="-122"/>
                <a:ea typeface="楷体" panose="02010609060101010101" pitchFamily="49" charset="-122"/>
                <a:sym typeface="+mn-ea"/>
              </a:rPr>
              <a:t>K-means</a:t>
            </a:r>
            <a:r>
              <a:rPr lang="zh-CN" altLang="en-US" sz="2800" dirty="0">
                <a:latin typeface="楷体" panose="02010609060101010101" pitchFamily="49" charset="-122"/>
                <a:ea typeface="楷体" panose="02010609060101010101" pitchFamily="49" charset="-122"/>
                <a:sym typeface="+mn-ea"/>
              </a:rPr>
              <a:t>聚类是数据挖掘的重要分支</a:t>
            </a:r>
            <a:r>
              <a:rPr lang="zh-CN" altLang="en-US" sz="2800" dirty="0" smtClean="0">
                <a:latin typeface="楷体" panose="02010609060101010101" pitchFamily="49" charset="-122"/>
                <a:ea typeface="楷体" panose="02010609060101010101" pitchFamily="49" charset="-122"/>
                <a:sym typeface="+mn-ea"/>
              </a:rPr>
              <a:t>，也</a:t>
            </a:r>
            <a:r>
              <a:rPr lang="zh-CN" altLang="en-US" sz="2800" dirty="0">
                <a:latin typeface="楷体" panose="02010609060101010101" pitchFamily="49" charset="-122"/>
                <a:ea typeface="楷体" panose="02010609060101010101" pitchFamily="49" charset="-122"/>
                <a:sym typeface="+mn-ea"/>
              </a:rPr>
              <a:t>是实际应用中最常用的聚类算法之一。</a:t>
            </a:r>
            <a:endParaRPr lang="zh-CN" altLang="en-US" sz="2800" dirty="0">
              <a:latin typeface="楷体" panose="02010609060101010101" pitchFamily="49" charset="-122"/>
              <a:ea typeface="楷体" panose="02010609060101010101" pitchFamily="49" charset="-122"/>
            </a:endParaRPr>
          </a:p>
          <a:p>
            <a:endParaRPr lang="zh-CN" altLang="en-US" sz="2800" dirty="0">
              <a:latin typeface="楷体" panose="02010609060101010101" pitchFamily="49" charset="-122"/>
              <a:ea typeface="楷体" panose="020106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424086"/>
            <a:ext cx="8911687" cy="1280890"/>
          </a:xfrm>
        </p:spPr>
        <p:txBody>
          <a:bodyPr/>
          <a:lstStyle/>
          <a:p>
            <a:r>
              <a:rPr lang="en-US" altLang="zh-CN" dirty="0">
                <a:latin typeface="楷体" panose="02010609060101010101" pitchFamily="49" charset="-122"/>
                <a:ea typeface="楷体" panose="02010609060101010101" pitchFamily="49" charset="-122"/>
              </a:rPr>
              <a:t>8.2  K-means </a:t>
            </a:r>
            <a:r>
              <a:rPr lang="zh-CN" altLang="en-US" dirty="0">
                <a:latin typeface="楷体" panose="02010609060101010101" pitchFamily="49" charset="-122"/>
                <a:ea typeface="楷体" panose="02010609060101010101" pitchFamily="49" charset="-122"/>
              </a:rPr>
              <a:t>聚类算法原理</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1855470" y="1149350"/>
            <a:ext cx="9648825" cy="5265420"/>
          </a:xfrm>
        </p:spPr>
        <p:txBody>
          <a:bodyPr>
            <a:noAutofit/>
          </a:bodyPr>
          <a:lstStyle/>
          <a:p>
            <a:pPr algn="just">
              <a:lnSpc>
                <a:spcPct val="110000"/>
              </a:lnSpc>
            </a:pPr>
            <a:r>
              <a:rPr lang="en-US" altLang="zh-CN" sz="2800" dirty="0">
                <a:latin typeface="楷体" panose="02010609060101010101" pitchFamily="49" charset="-122"/>
                <a:ea typeface="楷体" panose="02010609060101010101" pitchFamily="49" charset="-122"/>
              </a:rPr>
              <a:t>K-means</a:t>
            </a:r>
            <a:r>
              <a:rPr lang="zh-CN" altLang="en-US" sz="2800" dirty="0">
                <a:latin typeface="楷体" panose="02010609060101010101" pitchFamily="49" charset="-122"/>
                <a:ea typeface="楷体" panose="02010609060101010101" pitchFamily="49" charset="-122"/>
              </a:rPr>
              <a:t>聚类算法的最终目标就是根据输入</a:t>
            </a:r>
            <a:r>
              <a:rPr lang="zh-CN" altLang="en-US" sz="2800" b="1" dirty="0">
                <a:solidFill>
                  <a:srgbClr val="C00000"/>
                </a:solidFill>
                <a:latin typeface="楷体" panose="02010609060101010101" pitchFamily="49" charset="-122"/>
                <a:ea typeface="楷体" panose="02010609060101010101" pitchFamily="49" charset="-122"/>
              </a:rPr>
              <a:t>参数</a:t>
            </a:r>
            <a:r>
              <a:rPr lang="en-US" altLang="zh-CN" sz="2800" b="1" dirty="0" smtClean="0">
                <a:solidFill>
                  <a:srgbClr val="C00000"/>
                </a:solidFill>
                <a:latin typeface="楷体" panose="02010609060101010101" pitchFamily="49" charset="-122"/>
                <a:ea typeface="楷体" panose="02010609060101010101" pitchFamily="49" charset="-122"/>
              </a:rPr>
              <a:t>k</a:t>
            </a:r>
            <a:r>
              <a:rPr lang="zh-CN" altLang="en-US" sz="2800" dirty="0" smtClean="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把数据对象分成</a:t>
            </a:r>
            <a:r>
              <a:rPr lang="en-US" altLang="zh-CN" sz="2800" dirty="0">
                <a:latin typeface="楷体" panose="02010609060101010101" pitchFamily="49" charset="-122"/>
                <a:ea typeface="楷体" panose="02010609060101010101" pitchFamily="49" charset="-122"/>
              </a:rPr>
              <a:t>k</a:t>
            </a:r>
            <a:r>
              <a:rPr lang="zh-CN" altLang="en-US" sz="2800" dirty="0">
                <a:latin typeface="楷体" panose="02010609060101010101" pitchFamily="49" charset="-122"/>
                <a:ea typeface="楷体" panose="02010609060101010101" pitchFamily="49" charset="-122"/>
              </a:rPr>
              <a:t>个簇</a:t>
            </a:r>
            <a:r>
              <a:rPr lang="zh-CN" altLang="en-US" sz="2800" dirty="0" smtClean="0">
                <a:latin typeface="楷体" panose="02010609060101010101" pitchFamily="49" charset="-122"/>
                <a:ea typeface="楷体" panose="02010609060101010101" pitchFamily="49" charset="-122"/>
              </a:rPr>
              <a:t>。基本</a:t>
            </a:r>
            <a:r>
              <a:rPr lang="zh-CN" altLang="en-US" sz="2800" dirty="0">
                <a:latin typeface="楷体" panose="02010609060101010101" pitchFamily="49" charset="-122"/>
                <a:ea typeface="楷体" panose="02010609060101010101" pitchFamily="49" charset="-122"/>
              </a:rPr>
              <a:t>思想：</a:t>
            </a:r>
            <a:endParaRPr lang="zh-CN" altLang="en-US" sz="2800" dirty="0">
              <a:latin typeface="楷体" panose="02010609060101010101" pitchFamily="49" charset="-122"/>
              <a:ea typeface="楷体" panose="02010609060101010101" pitchFamily="49" charset="-122"/>
            </a:endParaRPr>
          </a:p>
          <a:p>
            <a:pPr algn="just">
              <a:lnSpc>
                <a:spcPct val="110000"/>
              </a:lnSpc>
            </a:pPr>
            <a:r>
              <a:rPr lang="zh-CN" altLang="en-US" sz="2800" dirty="0">
                <a:latin typeface="楷体" panose="02010609060101010101" pitchFamily="49" charset="-122"/>
                <a:ea typeface="楷体" panose="02010609060101010101" pitchFamily="49" charset="-122"/>
              </a:rPr>
              <a:t>首先指定需要划分的簇的个数</a:t>
            </a:r>
            <a:r>
              <a:rPr lang="en-US" altLang="zh-CN" sz="2800" dirty="0">
                <a:latin typeface="楷体" panose="02010609060101010101" pitchFamily="49" charset="-122"/>
                <a:ea typeface="楷体" panose="02010609060101010101" pitchFamily="49" charset="-122"/>
              </a:rPr>
              <a:t>k</a:t>
            </a:r>
            <a:r>
              <a:rPr lang="zh-CN" altLang="en-US" sz="2800" dirty="0">
                <a:latin typeface="楷体" panose="02010609060101010101" pitchFamily="49" charset="-122"/>
                <a:ea typeface="楷体" panose="02010609060101010101" pitchFamily="49" charset="-122"/>
              </a:rPr>
              <a:t>值</a:t>
            </a:r>
            <a:r>
              <a:rPr lang="en-US" altLang="zh-CN"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algn="just">
              <a:lnSpc>
                <a:spcPct val="110000"/>
              </a:lnSpc>
            </a:pPr>
            <a:r>
              <a:rPr lang="zh-CN" altLang="en-US" sz="2800" dirty="0">
                <a:latin typeface="楷体" panose="02010609060101010101" pitchFamily="49" charset="-122"/>
                <a:ea typeface="楷体" panose="02010609060101010101" pitchFamily="49" charset="-122"/>
              </a:rPr>
              <a:t>然后随机地选择</a:t>
            </a:r>
            <a:r>
              <a:rPr lang="en-US" altLang="zh-CN" sz="2800" dirty="0">
                <a:latin typeface="楷体" panose="02010609060101010101" pitchFamily="49" charset="-122"/>
                <a:ea typeface="楷体" panose="02010609060101010101" pitchFamily="49" charset="-122"/>
              </a:rPr>
              <a:t>k</a:t>
            </a:r>
            <a:r>
              <a:rPr lang="zh-CN" altLang="en-US" sz="2800" dirty="0">
                <a:latin typeface="楷体" panose="02010609060101010101" pitchFamily="49" charset="-122"/>
                <a:ea typeface="楷体" panose="02010609060101010101" pitchFamily="49" charset="-122"/>
              </a:rPr>
              <a:t>个初始数据对象点作为初始的聚类中心</a:t>
            </a:r>
            <a:r>
              <a:rPr lang="en-US" altLang="zh-CN"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algn="just">
              <a:lnSpc>
                <a:spcPct val="110000"/>
              </a:lnSpc>
            </a:pPr>
            <a:r>
              <a:rPr lang="zh-CN" altLang="en-US" sz="2800" dirty="0">
                <a:latin typeface="楷体" panose="02010609060101010101" pitchFamily="49" charset="-122"/>
                <a:ea typeface="楷体" panose="02010609060101010101" pitchFamily="49" charset="-122"/>
              </a:rPr>
              <a:t>第三，计算其余的各个数据对象与这</a:t>
            </a:r>
            <a:r>
              <a:rPr lang="en-US" altLang="zh-CN" sz="2800" dirty="0">
                <a:latin typeface="楷体" panose="02010609060101010101" pitchFamily="49" charset="-122"/>
                <a:ea typeface="楷体" panose="02010609060101010101" pitchFamily="49" charset="-122"/>
              </a:rPr>
              <a:t>k</a:t>
            </a:r>
            <a:r>
              <a:rPr lang="zh-CN" altLang="en-US" sz="2800" dirty="0">
                <a:latin typeface="楷体" panose="02010609060101010101" pitchFamily="49" charset="-122"/>
                <a:ea typeface="楷体" panose="02010609060101010101" pitchFamily="49" charset="-122"/>
              </a:rPr>
              <a:t>个初始聚类中心的</a:t>
            </a:r>
            <a:r>
              <a:rPr lang="zh-CN" altLang="en-US" sz="2800" b="1" dirty="0">
                <a:solidFill>
                  <a:srgbClr val="C00000"/>
                </a:solidFill>
                <a:latin typeface="楷体" panose="02010609060101010101" pitchFamily="49" charset="-122"/>
                <a:ea typeface="楷体" panose="02010609060101010101" pitchFamily="49" charset="-122"/>
              </a:rPr>
              <a:t>相似性</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这里采用</a:t>
            </a:r>
            <a:r>
              <a:rPr lang="zh-CN" altLang="en-US" sz="2800" b="1" dirty="0">
                <a:solidFill>
                  <a:srgbClr val="C00000"/>
                </a:solidFill>
                <a:latin typeface="楷体" panose="02010609060101010101" pitchFamily="49" charset="-122"/>
                <a:ea typeface="楷体" panose="02010609060101010101" pitchFamily="49" charset="-122"/>
              </a:rPr>
              <a:t>距离</a:t>
            </a:r>
            <a:r>
              <a:rPr lang="zh-CN" altLang="en-US" sz="2800" dirty="0">
                <a:latin typeface="楷体" panose="02010609060101010101" pitchFamily="49" charset="-122"/>
                <a:ea typeface="楷体" panose="02010609060101010101" pitchFamily="49" charset="-122"/>
              </a:rPr>
              <a:t>作为相似性度量</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，把数据对象划归到距离它最近的那个中心所处在的簇类中</a:t>
            </a:r>
            <a:r>
              <a:rPr lang="en-US" altLang="zh-CN"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algn="just">
              <a:lnSpc>
                <a:spcPct val="110000"/>
              </a:lnSpc>
            </a:pPr>
            <a:r>
              <a:rPr lang="zh-CN" altLang="en-US" sz="2800" dirty="0">
                <a:latin typeface="楷体" panose="02010609060101010101" pitchFamily="49" charset="-122"/>
                <a:ea typeface="楷体" panose="02010609060101010101" pitchFamily="49" charset="-122"/>
              </a:rPr>
              <a:t>最后，调整新类并且重新计算出新类的中心。如果两次计算出来的聚类中心未曾发生任何的变化，那么就可以说明数据对象的调整己经结束。</a:t>
            </a:r>
            <a:endParaRPr lang="zh-CN" altLang="en-US" sz="28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 	</a:t>
            </a:r>
            <a:endParaRPr lang="en-US" altLang="zh-CN"/>
          </a:p>
        </p:txBody>
      </p:sp>
      <p:pic>
        <p:nvPicPr>
          <p:cNvPr id="4" name="图片 3" descr="9BJXKO@I69X[_81`MKW$2XM"/>
          <p:cNvPicPr>
            <a:picLocks noChangeAspect="1"/>
          </p:cNvPicPr>
          <p:nvPr>
            <p:custDataLst>
              <p:tags r:id="rId1"/>
            </p:custDataLst>
          </p:nvPr>
        </p:nvPicPr>
        <p:blipFill>
          <a:blip r:embed="rId2"/>
          <a:stretch>
            <a:fillRect/>
          </a:stretch>
        </p:blipFill>
        <p:spPr>
          <a:xfrm>
            <a:off x="2322830" y="448945"/>
            <a:ext cx="8435975" cy="2811780"/>
          </a:xfrm>
          <a:prstGeom prst="rect">
            <a:avLst/>
          </a:prstGeom>
        </p:spPr>
      </p:pic>
      <p:pic>
        <p:nvPicPr>
          <p:cNvPr id="5" name="图片 4" descr="~(3GO5W~C4@O(E`W~PKXVWN"/>
          <p:cNvPicPr>
            <a:picLocks noChangeAspect="1"/>
          </p:cNvPicPr>
          <p:nvPr/>
        </p:nvPicPr>
        <p:blipFill>
          <a:blip r:embed="rId3"/>
          <a:stretch>
            <a:fillRect/>
          </a:stretch>
        </p:blipFill>
        <p:spPr>
          <a:xfrm>
            <a:off x="2188845" y="3475355"/>
            <a:ext cx="8634095" cy="29451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68575" y="211773"/>
            <a:ext cx="8915400" cy="6015037"/>
          </a:xfrm>
        </p:spPr>
        <p:txBody>
          <a:bodyPr>
            <a:noAutofit/>
          </a:bodyPr>
          <a:lstStyle/>
          <a:p>
            <a:endParaRPr lang="en-US" altLang="zh-CN" sz="2400" dirty="0" smtClean="0">
              <a:latin typeface="楷体" panose="02010609060101010101" pitchFamily="49" charset="-122"/>
              <a:ea typeface="楷体" panose="02010609060101010101" pitchFamily="49" charset="-122"/>
            </a:endParaRPr>
          </a:p>
          <a:p>
            <a:r>
              <a:rPr lang="zh-CN" altLang="en-US" sz="2800" dirty="0" smtClean="0">
                <a:latin typeface="楷体" panose="02010609060101010101" pitchFamily="49" charset="-122"/>
                <a:ea typeface="楷体" panose="02010609060101010101" pitchFamily="49" charset="-122"/>
              </a:rPr>
              <a:t>传统</a:t>
            </a:r>
            <a:r>
              <a:rPr lang="zh-CN" altLang="en-US" sz="2800" dirty="0">
                <a:latin typeface="楷体" panose="02010609060101010101" pitchFamily="49" charset="-122"/>
                <a:ea typeface="楷体" panose="02010609060101010101" pitchFamily="49" charset="-122"/>
              </a:rPr>
              <a:t>的</a:t>
            </a:r>
            <a:r>
              <a:rPr lang="en-US" altLang="zh-CN" sz="2800" dirty="0">
                <a:latin typeface="楷体" panose="02010609060101010101" pitchFamily="49" charset="-122"/>
                <a:ea typeface="楷体" panose="02010609060101010101" pitchFamily="49" charset="-122"/>
              </a:rPr>
              <a:t>K-means</a:t>
            </a:r>
            <a:r>
              <a:rPr lang="zh-CN" altLang="en-US" sz="2800" dirty="0">
                <a:latin typeface="楷体" panose="02010609060101010101" pitchFamily="49" charset="-122"/>
                <a:ea typeface="楷体" panose="02010609060101010101" pitchFamily="49" charset="-122"/>
              </a:rPr>
              <a:t>算法的具体的工作步骤如下</a:t>
            </a:r>
            <a:r>
              <a:rPr lang="en-US" altLang="zh-CN"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marL="0" indent="0">
              <a:buNone/>
            </a:pPr>
            <a:r>
              <a:rPr lang="en-US" altLang="zh-CN" sz="2800" dirty="0" smtClean="0">
                <a:latin typeface="楷体" panose="02010609060101010101" pitchFamily="49" charset="-122"/>
                <a:ea typeface="楷体" panose="02010609060101010101" pitchFamily="49" charset="-122"/>
              </a:rPr>
              <a:t>	</a:t>
            </a:r>
            <a:r>
              <a:rPr lang="zh-CN" altLang="en-US" sz="2800" dirty="0" smtClean="0">
                <a:latin typeface="楷体" panose="02010609060101010101" pitchFamily="49" charset="-122"/>
                <a:ea typeface="楷体" panose="02010609060101010101" pitchFamily="49" charset="-122"/>
              </a:rPr>
              <a:t>输入</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初始数据集</a:t>
            </a:r>
            <a:r>
              <a:rPr lang="en-US" altLang="zh-CN" sz="2800" dirty="0">
                <a:latin typeface="楷体" panose="02010609060101010101" pitchFamily="49" charset="-122"/>
                <a:ea typeface="楷体" panose="02010609060101010101" pitchFamily="49" charset="-122"/>
              </a:rPr>
              <a:t>DATA</a:t>
            </a:r>
            <a:r>
              <a:rPr lang="zh-CN" altLang="en-US" sz="2800" dirty="0">
                <a:latin typeface="楷体" panose="02010609060101010101" pitchFamily="49" charset="-122"/>
                <a:ea typeface="楷体" panose="02010609060101010101" pitchFamily="49" charset="-122"/>
              </a:rPr>
              <a:t>和簇的数目</a:t>
            </a:r>
            <a:r>
              <a:rPr lang="en-US" altLang="zh-CN" sz="2800" dirty="0">
                <a:latin typeface="楷体" panose="02010609060101010101" pitchFamily="49" charset="-122"/>
                <a:ea typeface="楷体" panose="02010609060101010101" pitchFamily="49" charset="-122"/>
              </a:rPr>
              <a:t>k</a:t>
            </a:r>
            <a:endParaRPr lang="en-US" altLang="zh-CN" sz="2800" dirty="0">
              <a:latin typeface="楷体" panose="02010609060101010101" pitchFamily="49" charset="-122"/>
              <a:ea typeface="楷体" panose="02010609060101010101" pitchFamily="49" charset="-122"/>
            </a:endParaRPr>
          </a:p>
          <a:p>
            <a:pPr marL="0" indent="0">
              <a:buNone/>
            </a:pPr>
            <a:r>
              <a:rPr lang="en-US" altLang="zh-CN" sz="2800" dirty="0" smtClean="0">
                <a:latin typeface="楷体" panose="02010609060101010101" pitchFamily="49" charset="-122"/>
                <a:ea typeface="楷体" panose="02010609060101010101" pitchFamily="49" charset="-122"/>
              </a:rPr>
              <a:t>	</a:t>
            </a:r>
            <a:r>
              <a:rPr lang="zh-CN" altLang="en-US" sz="2800" dirty="0" smtClean="0">
                <a:latin typeface="楷体" panose="02010609060101010101" pitchFamily="49" charset="-122"/>
                <a:ea typeface="楷体" panose="02010609060101010101" pitchFamily="49" charset="-122"/>
              </a:rPr>
              <a:t>输出</a:t>
            </a:r>
            <a:r>
              <a:rPr lang="en-US" altLang="zh-CN" sz="2800" dirty="0">
                <a:latin typeface="楷体" panose="02010609060101010101" pitchFamily="49" charset="-122"/>
                <a:ea typeface="楷体" panose="02010609060101010101" pitchFamily="49" charset="-122"/>
              </a:rPr>
              <a:t>:k</a:t>
            </a:r>
            <a:r>
              <a:rPr lang="zh-CN" altLang="en-US" sz="2800" dirty="0">
                <a:latin typeface="楷体" panose="02010609060101010101" pitchFamily="49" charset="-122"/>
                <a:ea typeface="楷体" panose="02010609060101010101" pitchFamily="49" charset="-122"/>
              </a:rPr>
              <a:t>个簇，满足平方误差准则函数收敛</a:t>
            </a:r>
            <a:endParaRPr lang="zh-CN" altLang="en-US" sz="2800" dirty="0">
              <a:latin typeface="楷体" panose="02010609060101010101" pitchFamily="49" charset="-122"/>
              <a:ea typeface="楷体" panose="02010609060101010101" pitchFamily="49" charset="-122"/>
            </a:endParaRPr>
          </a:p>
          <a:p>
            <a:pPr marL="0" indent="0">
              <a:buNone/>
            </a:pPr>
            <a:r>
              <a:rPr lang="en-US" altLang="zh-CN" sz="2800" dirty="0" smtClean="0">
                <a:latin typeface="楷体" panose="02010609060101010101" pitchFamily="49" charset="-122"/>
                <a:ea typeface="楷体" panose="02010609060101010101" pitchFamily="49" charset="-122"/>
              </a:rPr>
              <a:t>	</a:t>
            </a:r>
            <a:r>
              <a:rPr lang="zh-CN" altLang="en-US" sz="2800" dirty="0" smtClean="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）任意选择</a:t>
            </a:r>
            <a:r>
              <a:rPr lang="en-US" altLang="zh-CN" sz="2800" b="1" dirty="0">
                <a:solidFill>
                  <a:srgbClr val="C00000"/>
                </a:solidFill>
                <a:latin typeface="楷体" panose="02010609060101010101" pitchFamily="49" charset="-122"/>
                <a:ea typeface="楷体" panose="02010609060101010101" pitchFamily="49" charset="-122"/>
              </a:rPr>
              <a:t>k</a:t>
            </a:r>
            <a:r>
              <a:rPr lang="zh-CN" altLang="en-US" sz="2800" b="1" dirty="0">
                <a:solidFill>
                  <a:srgbClr val="C00000"/>
                </a:solidFill>
                <a:latin typeface="楷体" panose="02010609060101010101" pitchFamily="49" charset="-122"/>
                <a:ea typeface="楷体" panose="02010609060101010101" pitchFamily="49" charset="-122"/>
              </a:rPr>
              <a:t>个</a:t>
            </a:r>
            <a:r>
              <a:rPr lang="zh-CN" altLang="en-US" sz="2800" dirty="0">
                <a:latin typeface="楷体" panose="02010609060101010101" pitchFamily="49" charset="-122"/>
                <a:ea typeface="楷体" panose="02010609060101010101" pitchFamily="49" charset="-122"/>
              </a:rPr>
              <a:t>数据对象作为初始聚类中心</a:t>
            </a:r>
            <a:endParaRPr lang="zh-CN" altLang="en-US" sz="2800" dirty="0">
              <a:latin typeface="楷体" panose="02010609060101010101" pitchFamily="49" charset="-122"/>
              <a:ea typeface="楷体" panose="02010609060101010101" pitchFamily="49" charset="-122"/>
            </a:endParaRPr>
          </a:p>
          <a:p>
            <a:pPr marL="0" indent="0">
              <a:buNone/>
            </a:pPr>
            <a:r>
              <a:rPr lang="en-US" altLang="zh-CN" sz="2800" dirty="0" smtClean="0">
                <a:latin typeface="楷体" panose="02010609060101010101" pitchFamily="49" charset="-122"/>
                <a:ea typeface="楷体" panose="02010609060101010101" pitchFamily="49" charset="-122"/>
              </a:rPr>
              <a:t>	</a:t>
            </a:r>
            <a:r>
              <a:rPr lang="zh-CN" altLang="en-US" sz="2800" dirty="0" smtClean="0">
                <a:latin typeface="楷体" panose="02010609060101010101" pitchFamily="49" charset="-122"/>
                <a:ea typeface="楷体" panose="02010609060101010101" pitchFamily="49" charset="-122"/>
              </a:rPr>
              <a:t>（</a:t>
            </a:r>
            <a:r>
              <a:rPr lang="en-US" altLang="zh-CN" sz="2800" dirty="0" smtClean="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Repeat</a:t>
            </a:r>
            <a:endParaRPr lang="en-US" altLang="zh-CN" sz="2800" dirty="0">
              <a:latin typeface="楷体" panose="02010609060101010101" pitchFamily="49" charset="-122"/>
              <a:ea typeface="楷体" panose="02010609060101010101" pitchFamily="49" charset="-122"/>
            </a:endParaRPr>
          </a:p>
          <a:p>
            <a:pPr marL="0" indent="0">
              <a:buNone/>
            </a:pPr>
            <a:r>
              <a:rPr lang="en-US" altLang="zh-CN" sz="2800" dirty="0" smtClean="0">
                <a:latin typeface="楷体" panose="02010609060101010101" pitchFamily="49" charset="-122"/>
                <a:ea typeface="楷体" panose="02010609060101010101" pitchFamily="49" charset="-122"/>
              </a:rPr>
              <a:t>	</a:t>
            </a:r>
            <a:r>
              <a:rPr lang="zh-CN" altLang="en-US" sz="2800" dirty="0" smtClean="0">
                <a:latin typeface="楷体" panose="02010609060101010101" pitchFamily="49" charset="-122"/>
                <a:ea typeface="楷体" panose="02010609060101010101" pitchFamily="49" charset="-122"/>
              </a:rPr>
              <a:t>（</a:t>
            </a:r>
            <a:r>
              <a:rPr lang="en-US" altLang="zh-CN" sz="2800" dirty="0" smtClean="0">
                <a:latin typeface="楷体" panose="02010609060101010101" pitchFamily="49" charset="-122"/>
                <a:ea typeface="楷体" panose="02010609060101010101" pitchFamily="49" charset="-122"/>
              </a:rPr>
              <a:t>3</a:t>
            </a:r>
            <a:r>
              <a:rPr lang="zh-CN" altLang="en-US" sz="2800" dirty="0">
                <a:latin typeface="楷体" panose="02010609060101010101" pitchFamily="49" charset="-122"/>
                <a:ea typeface="楷体" panose="02010609060101010101" pitchFamily="49" charset="-122"/>
              </a:rPr>
              <a:t>）根据簇中对象的平均值，将每个对象赋给</a:t>
            </a:r>
            <a:r>
              <a:rPr lang="zh-CN" altLang="en-US" sz="2800" b="1" dirty="0">
                <a:solidFill>
                  <a:srgbClr val="C00000"/>
                </a:solidFill>
                <a:latin typeface="楷体" panose="02010609060101010101" pitchFamily="49" charset="-122"/>
                <a:ea typeface="楷体" panose="02010609060101010101" pitchFamily="49" charset="-122"/>
              </a:rPr>
              <a:t>最类似</a:t>
            </a:r>
            <a:r>
              <a:rPr lang="zh-CN" altLang="en-US" sz="2800" dirty="0">
                <a:latin typeface="楷体" panose="02010609060101010101" pitchFamily="49" charset="-122"/>
                <a:ea typeface="楷体" panose="02010609060101010101" pitchFamily="49" charset="-122"/>
              </a:rPr>
              <a:t>的簇</a:t>
            </a:r>
            <a:endParaRPr lang="zh-CN" altLang="en-US" sz="2800" dirty="0">
              <a:latin typeface="楷体" panose="02010609060101010101" pitchFamily="49" charset="-122"/>
              <a:ea typeface="楷体" panose="02010609060101010101" pitchFamily="49" charset="-122"/>
            </a:endParaRPr>
          </a:p>
          <a:p>
            <a:pPr marL="0" indent="0">
              <a:buNone/>
            </a:pPr>
            <a:r>
              <a:rPr lang="en-US" altLang="zh-CN" sz="2800" dirty="0" smtClean="0">
                <a:latin typeface="楷体" panose="02010609060101010101" pitchFamily="49" charset="-122"/>
                <a:ea typeface="楷体" panose="02010609060101010101" pitchFamily="49" charset="-122"/>
              </a:rPr>
              <a:t>	</a:t>
            </a:r>
            <a:r>
              <a:rPr lang="zh-CN" altLang="en-US" sz="2800" dirty="0" smtClean="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4</a:t>
            </a:r>
            <a:r>
              <a:rPr lang="zh-CN" altLang="en-US" sz="2800" dirty="0">
                <a:latin typeface="楷体" panose="02010609060101010101" pitchFamily="49" charset="-122"/>
                <a:ea typeface="楷体" panose="02010609060101010101" pitchFamily="49" charset="-122"/>
              </a:rPr>
              <a:t>）更新簇的平均值，即</a:t>
            </a:r>
            <a:r>
              <a:rPr lang="zh-CN" altLang="en-US" sz="2800" b="1" dirty="0">
                <a:solidFill>
                  <a:srgbClr val="C00000"/>
                </a:solidFill>
                <a:latin typeface="楷体" panose="02010609060101010101" pitchFamily="49" charset="-122"/>
                <a:ea typeface="楷体" panose="02010609060101010101" pitchFamily="49" charset="-122"/>
              </a:rPr>
              <a:t>计算每个对象簇中对象的平均值</a:t>
            </a:r>
            <a:endParaRPr lang="zh-CN" altLang="en-US" sz="2800" dirty="0">
              <a:latin typeface="楷体" panose="02010609060101010101" pitchFamily="49" charset="-122"/>
              <a:ea typeface="楷体" panose="02010609060101010101" pitchFamily="49" charset="-122"/>
            </a:endParaRPr>
          </a:p>
          <a:p>
            <a:pPr marL="0" indent="0">
              <a:buNone/>
            </a:pPr>
            <a:r>
              <a:rPr lang="en-US" altLang="zh-CN" sz="2800" dirty="0" smtClean="0">
                <a:latin typeface="楷体" panose="02010609060101010101" pitchFamily="49" charset="-122"/>
                <a:ea typeface="楷体" panose="02010609060101010101" pitchFamily="49" charset="-122"/>
              </a:rPr>
              <a:t>	</a:t>
            </a:r>
            <a:r>
              <a:rPr lang="zh-CN" altLang="en-US" sz="2800" dirty="0" smtClean="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5</a:t>
            </a:r>
            <a:r>
              <a:rPr lang="zh-CN" altLang="en-US" sz="2800" dirty="0">
                <a:latin typeface="楷体" panose="02010609060101010101" pitchFamily="49" charset="-122"/>
                <a:ea typeface="楷体" panose="02010609060101010101" pitchFamily="49" charset="-122"/>
              </a:rPr>
              <a:t>）计算聚类</a:t>
            </a:r>
            <a:r>
              <a:rPr lang="zh-CN" altLang="en-US" sz="2800" b="1" dirty="0">
                <a:solidFill>
                  <a:srgbClr val="C00000"/>
                </a:solidFill>
                <a:latin typeface="楷体" panose="02010609060101010101" pitchFamily="49" charset="-122"/>
                <a:ea typeface="楷体" panose="02010609060101010101" pitchFamily="49" charset="-122"/>
              </a:rPr>
              <a:t>准则函数</a:t>
            </a:r>
            <a:r>
              <a:rPr lang="en-US" altLang="zh-CN" sz="2800" b="1" dirty="0">
                <a:solidFill>
                  <a:srgbClr val="C00000"/>
                </a:solidFill>
                <a:latin typeface="楷体" panose="02010609060101010101" pitchFamily="49" charset="-122"/>
                <a:ea typeface="楷体" panose="02010609060101010101" pitchFamily="49" charset="-122"/>
              </a:rPr>
              <a:t>E</a:t>
            </a:r>
            <a:endParaRPr lang="en-US" altLang="zh-CN" sz="2800" dirty="0">
              <a:latin typeface="楷体" panose="02010609060101010101" pitchFamily="49" charset="-122"/>
              <a:ea typeface="楷体" panose="02010609060101010101" pitchFamily="49" charset="-122"/>
            </a:endParaRPr>
          </a:p>
          <a:p>
            <a:pPr marL="0" indent="0">
              <a:buNone/>
            </a:pPr>
            <a:r>
              <a:rPr lang="en-US" altLang="zh-CN" sz="2800" dirty="0" smtClean="0">
                <a:latin typeface="楷体" panose="02010609060101010101" pitchFamily="49" charset="-122"/>
                <a:ea typeface="楷体" panose="02010609060101010101" pitchFamily="49" charset="-122"/>
              </a:rPr>
              <a:t>	</a:t>
            </a:r>
            <a:r>
              <a:rPr lang="zh-CN" altLang="en-US" sz="2800" dirty="0" smtClean="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6</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Until</a:t>
            </a:r>
            <a:r>
              <a:rPr lang="zh-CN" altLang="en-US" sz="2800" dirty="0">
                <a:latin typeface="楷体" panose="02010609060101010101" pitchFamily="49" charset="-122"/>
                <a:ea typeface="楷体" panose="02010609060101010101" pitchFamily="49" charset="-122"/>
              </a:rPr>
              <a:t>准则函数</a:t>
            </a:r>
            <a:r>
              <a:rPr lang="en-US" altLang="zh-CN" sz="2800" dirty="0">
                <a:latin typeface="楷体" panose="02010609060101010101" pitchFamily="49" charset="-122"/>
                <a:ea typeface="楷体" panose="02010609060101010101" pitchFamily="49" charset="-122"/>
              </a:rPr>
              <a:t>E</a:t>
            </a:r>
            <a:r>
              <a:rPr lang="zh-CN" altLang="en-US" sz="2800" dirty="0">
                <a:latin typeface="楷体" panose="02010609060101010101" pitchFamily="49" charset="-122"/>
                <a:ea typeface="楷体" panose="02010609060101010101" pitchFamily="49" charset="-122"/>
              </a:rPr>
              <a:t>值不再进行</a:t>
            </a:r>
            <a:r>
              <a:rPr lang="zh-CN" altLang="en-US" sz="2800" dirty="0" smtClean="0">
                <a:latin typeface="楷体" panose="02010609060101010101" pitchFamily="49" charset="-122"/>
                <a:ea typeface="楷体" panose="02010609060101010101" pitchFamily="49" charset="-122"/>
              </a:rPr>
              <a:t>变化</a:t>
            </a:r>
            <a:endParaRPr lang="zh-CN" altLang="en-US" sz="2800" dirty="0" smtClean="0">
              <a:latin typeface="楷体" panose="02010609060101010101" pitchFamily="49" charset="-122"/>
              <a:ea typeface="楷体" panose="02010609060101010101" pitchFamily="49" charset="-122"/>
            </a:endParaRPr>
          </a:p>
        </p:txBody>
      </p:sp>
      <p:sp>
        <p:nvSpPr>
          <p:cNvPr id="2" name="文本框 1"/>
          <p:cNvSpPr txBox="1"/>
          <p:nvPr/>
        </p:nvSpPr>
        <p:spPr>
          <a:xfrm>
            <a:off x="7414260" y="5074285"/>
            <a:ext cx="4069715" cy="645160"/>
          </a:xfrm>
          <a:prstGeom prst="rect">
            <a:avLst/>
          </a:prstGeom>
          <a:solidFill>
            <a:schemeClr val="accent6">
              <a:lumMod val="20000"/>
              <a:lumOff val="80000"/>
            </a:schemeClr>
          </a:solidFill>
          <a:ln>
            <a:solidFill>
              <a:schemeClr val="tx1">
                <a:lumMod val="95000"/>
                <a:lumOff val="5000"/>
              </a:schemeClr>
            </a:solidFill>
          </a:ln>
        </p:spPr>
        <p:txBody>
          <a:bodyPr wrap="square" rtlCol="0">
            <a:spAutoFit/>
          </a:bodyPr>
          <a:p>
            <a:r>
              <a:rPr lang="zh-CN" altLang="en-US" b="1">
                <a:solidFill>
                  <a:srgbClr val="C00000"/>
                </a:solidFill>
              </a:rPr>
              <a:t>每个类的所有样本点与其类中心的误差的平方和</a:t>
            </a:r>
            <a:endParaRPr lang="zh-CN" altLang="en-US" b="1">
              <a:solidFill>
                <a:srgbClr val="C00000"/>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50795" y="-317"/>
            <a:ext cx="8915400" cy="6672262"/>
          </a:xfrm>
        </p:spPr>
        <p:txBody>
          <a:bodyPr>
            <a:noAutofit/>
          </a:bodyPr>
          <a:lstStyle/>
          <a:p>
            <a:endParaRPr lang="en-US" altLang="zh-CN" sz="2400" dirty="0" smtClean="0">
              <a:latin typeface="楷体" panose="02010609060101010101" pitchFamily="49" charset="-122"/>
              <a:ea typeface="楷体" panose="02010609060101010101" pitchFamily="49" charset="-122"/>
            </a:endParaRPr>
          </a:p>
          <a:p>
            <a:r>
              <a:rPr lang="en-US" altLang="zh-CN" sz="2400" dirty="0">
                <a:latin typeface="楷体" panose="02010609060101010101" pitchFamily="49" charset="-122"/>
                <a:ea typeface="楷体" panose="02010609060101010101" pitchFamily="49" charset="-122"/>
              </a:rPr>
              <a:t>K-means</a:t>
            </a:r>
            <a:r>
              <a:rPr lang="zh-CN" altLang="en-US" sz="2400" dirty="0">
                <a:latin typeface="楷体" panose="02010609060101010101" pitchFamily="49" charset="-122"/>
                <a:ea typeface="楷体" panose="02010609060101010101" pitchFamily="49" charset="-122"/>
              </a:rPr>
              <a:t>算法的工作流程如</a:t>
            </a:r>
            <a:r>
              <a:rPr lang="zh-CN" altLang="en-US" sz="2400" dirty="0" smtClean="0">
                <a:latin typeface="楷体" panose="02010609060101010101" pitchFamily="49" charset="-122"/>
                <a:ea typeface="楷体" panose="02010609060101010101" pitchFamily="49" charset="-122"/>
              </a:rPr>
              <a:t>图所</a:t>
            </a:r>
            <a:r>
              <a:rPr lang="zh-CN" altLang="en-US" sz="2400" dirty="0">
                <a:latin typeface="楷体" panose="02010609060101010101" pitchFamily="49" charset="-122"/>
                <a:ea typeface="楷体" panose="02010609060101010101" pitchFamily="49" charset="-122"/>
              </a:rPr>
              <a:t>示</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p:txBody>
      </p:sp>
      <p:pic>
        <p:nvPicPr>
          <p:cNvPr id="5" name="Picture 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459480" y="840105"/>
            <a:ext cx="6924675" cy="6017895"/>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498725" y="107951"/>
            <a:ext cx="8915400" cy="6400800"/>
          </a:xfrm>
        </p:spPr>
        <p:txBody>
          <a:bodyPr>
            <a:noAutofit/>
          </a:bodyPr>
          <a:lstStyle/>
          <a:p>
            <a:endParaRPr lang="en-US" altLang="zh-CN" sz="2400" dirty="0" smtClean="0">
              <a:latin typeface="楷体" panose="02010609060101010101" pitchFamily="49" charset="-122"/>
              <a:ea typeface="楷体" panose="02010609060101010101" pitchFamily="49" charset="-122"/>
            </a:endParaRPr>
          </a:p>
          <a:p>
            <a:r>
              <a:rPr lang="en-US" altLang="zh-CN" sz="2400" dirty="0">
                <a:latin typeface="楷体" panose="02010609060101010101" pitchFamily="49" charset="-122"/>
                <a:ea typeface="楷体" panose="02010609060101010101" pitchFamily="49" charset="-122"/>
              </a:rPr>
              <a:t>K-Means</a:t>
            </a:r>
            <a:r>
              <a:rPr lang="zh-CN" altLang="en-US" sz="2400" dirty="0">
                <a:latin typeface="楷体" panose="02010609060101010101" pitchFamily="49" charset="-122"/>
                <a:ea typeface="楷体" panose="02010609060101010101" pitchFamily="49" charset="-122"/>
              </a:rPr>
              <a:t>算法的工作框架如下</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p:txBody>
      </p:sp>
      <p:pic>
        <p:nvPicPr>
          <p:cNvPr id="4" name="Picture 2"/>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012315" y="1096645"/>
            <a:ext cx="9888220" cy="5551170"/>
          </a:xfrm>
          <a:prstGeom prst="rect">
            <a:avLst/>
          </a:prstGeom>
          <a:noFill/>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359025" y="371158"/>
            <a:ext cx="8915400" cy="5329237"/>
          </a:xfrm>
        </p:spPr>
        <p:txBody>
          <a:bodyPr>
            <a:noAutofit/>
          </a:bodyPr>
          <a:lstStyle/>
          <a:p>
            <a:pPr algn="just"/>
            <a:endParaRPr lang="en-US" altLang="zh-CN" sz="2800" dirty="0" smtClean="0">
              <a:latin typeface="楷体" panose="02010609060101010101" pitchFamily="49" charset="-122"/>
              <a:ea typeface="楷体" panose="02010609060101010101" pitchFamily="49" charset="-122"/>
            </a:endParaRPr>
          </a:p>
          <a:p>
            <a:pPr algn="just"/>
            <a:r>
              <a:rPr lang="zh-CN" altLang="en-US" sz="2800" dirty="0">
                <a:latin typeface="楷体" panose="02010609060101010101" pitchFamily="49" charset="-122"/>
                <a:ea typeface="楷体" panose="02010609060101010101" pitchFamily="49" charset="-122"/>
              </a:rPr>
              <a:t>从该算法的框架能够得出</a:t>
            </a:r>
            <a:r>
              <a:rPr lang="en-US" altLang="zh-CN" sz="2800" dirty="0">
                <a:latin typeface="楷体" panose="02010609060101010101" pitchFamily="49" charset="-122"/>
                <a:ea typeface="楷体" panose="02010609060101010101" pitchFamily="49" charset="-122"/>
              </a:rPr>
              <a:t>:K-Means</a:t>
            </a:r>
            <a:r>
              <a:rPr lang="zh-CN" altLang="en-US" sz="2800" dirty="0">
                <a:latin typeface="楷体" panose="02010609060101010101" pitchFamily="49" charset="-122"/>
                <a:ea typeface="楷体" panose="02010609060101010101" pitchFamily="49" charset="-122"/>
              </a:rPr>
              <a:t>算法的特点就是</a:t>
            </a:r>
            <a:r>
              <a:rPr lang="zh-CN" altLang="en-US" sz="2800" dirty="0">
                <a:solidFill>
                  <a:schemeClr val="tx1"/>
                </a:solidFill>
                <a:latin typeface="楷体" panose="02010609060101010101" pitchFamily="49" charset="-122"/>
                <a:ea typeface="楷体" panose="02010609060101010101" pitchFamily="49" charset="-122"/>
              </a:rPr>
              <a:t>调整一个数据样本后就修改一次聚类中心以及聚类准则函数的值</a:t>
            </a:r>
            <a:r>
              <a:rPr lang="zh-CN" altLang="en-US" sz="2800" dirty="0">
                <a:latin typeface="楷体" panose="02010609060101010101" pitchFamily="49" charset="-122"/>
                <a:ea typeface="楷体" panose="02010609060101010101" pitchFamily="49" charset="-122"/>
              </a:rPr>
              <a:t>，当</a:t>
            </a:r>
            <a:r>
              <a:rPr lang="en-US" altLang="zh-CN" sz="2800" dirty="0">
                <a:latin typeface="楷体" panose="02010609060101010101" pitchFamily="49" charset="-122"/>
                <a:ea typeface="楷体" panose="02010609060101010101" pitchFamily="49" charset="-122"/>
              </a:rPr>
              <a:t>n</a:t>
            </a:r>
            <a:r>
              <a:rPr lang="zh-CN" altLang="en-US" sz="2800" dirty="0">
                <a:latin typeface="楷体" panose="02010609060101010101" pitchFamily="49" charset="-122"/>
                <a:ea typeface="楷体" panose="02010609060101010101" pitchFamily="49" charset="-122"/>
              </a:rPr>
              <a:t>个数据样本完全被调整完后表示一次迭代完成，这样就会得到新的簇和聚类中心的值。若在一次迭代完成之后，聚类准则函数的值没有发生变化，那么表明该算法已经收敛，在迭代过程中值逐渐缩小，直到达到最小值为止。该算法的本质是把每一个样本点划分到离它最近的聚类中心所在的类</a:t>
            </a:r>
            <a:r>
              <a:rPr lang="zh-CN" altLang="en-US" sz="2800" dirty="0" smtClean="0">
                <a:latin typeface="楷体" panose="02010609060101010101" pitchFamily="49" charset="-122"/>
                <a:ea typeface="楷体" panose="02010609060101010101" pitchFamily="49" charset="-122"/>
              </a:rPr>
              <a:t>。</a:t>
            </a:r>
            <a:endParaRPr lang="en-US" altLang="zh-CN" sz="2800" dirty="0" smtClean="0">
              <a:latin typeface="楷体" panose="02010609060101010101" pitchFamily="49" charset="-122"/>
              <a:ea typeface="楷体" panose="02010609060101010101" pitchFamily="49" charset="-122"/>
            </a:endParaRPr>
          </a:p>
          <a:p>
            <a:pPr algn="just"/>
            <a:r>
              <a:rPr lang="en-US" altLang="zh-CN" sz="2800" dirty="0">
                <a:latin typeface="楷体" panose="02010609060101010101" pitchFamily="49" charset="-122"/>
                <a:ea typeface="楷体" panose="02010609060101010101" pitchFamily="49" charset="-122"/>
              </a:rPr>
              <a:t>K-Means</a:t>
            </a:r>
            <a:r>
              <a:rPr lang="zh-CN" altLang="en-US" sz="2800" dirty="0">
                <a:latin typeface="楷体" panose="02010609060101010101" pitchFamily="49" charset="-122"/>
                <a:ea typeface="楷体" panose="02010609060101010101" pitchFamily="49" charset="-122"/>
              </a:rPr>
              <a:t>聚类算法其</a:t>
            </a:r>
            <a:r>
              <a:rPr lang="zh-CN" altLang="en-US" sz="2800" b="1" dirty="0">
                <a:solidFill>
                  <a:srgbClr val="C00000"/>
                </a:solidFill>
                <a:latin typeface="楷体" panose="02010609060101010101" pitchFamily="49" charset="-122"/>
                <a:ea typeface="楷体" panose="02010609060101010101" pitchFamily="49" charset="-122"/>
              </a:rPr>
              <a:t>本质是一个最优化求解的问题</a:t>
            </a:r>
            <a:r>
              <a:rPr lang="zh-CN" altLang="en-US" sz="2800" dirty="0">
                <a:latin typeface="楷体" panose="02010609060101010101" pitchFamily="49" charset="-122"/>
                <a:ea typeface="楷体" panose="02010609060101010101" pitchFamily="49" charset="-122"/>
              </a:rPr>
              <a:t>，目标函数虽然有很多局部最小值点，但是只有一个全局最小值点。之所以只有一个全局最小值点是由于目标函数总是按照误差平方准则函数变小的轨迹来进行查找的。</a:t>
            </a:r>
            <a:endParaRPr lang="zh-CN" altLang="en-US" sz="2800" dirty="0" smtClean="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03500" y="1671668"/>
            <a:ext cx="8915400" cy="3086100"/>
          </a:xfrm>
        </p:spPr>
        <p:txBody>
          <a:bodyPr>
            <a:noAutofit/>
          </a:bodyPr>
          <a:lstStyle/>
          <a:p>
            <a:pPr algn="just"/>
            <a:endParaRPr lang="en-US" altLang="zh-CN" sz="2400" dirty="0" smtClean="0">
              <a:latin typeface="楷体" panose="02010609060101010101" pitchFamily="49" charset="-122"/>
              <a:ea typeface="楷体" panose="02010609060101010101" pitchFamily="49" charset="-122"/>
            </a:endParaRPr>
          </a:p>
          <a:p>
            <a:pPr algn="just"/>
            <a:r>
              <a:rPr lang="en-US" altLang="zh-CN" sz="2800" dirty="0">
                <a:latin typeface="楷体" panose="02010609060101010101" pitchFamily="49" charset="-122"/>
                <a:ea typeface="楷体" panose="02010609060101010101" pitchFamily="49" charset="-122"/>
              </a:rPr>
              <a:t>K-Means</a:t>
            </a:r>
            <a:r>
              <a:rPr lang="zh-CN" altLang="en-US" sz="2800" dirty="0">
                <a:latin typeface="楷体" panose="02010609060101010101" pitchFamily="49" charset="-122"/>
                <a:ea typeface="楷体" panose="02010609060101010101" pitchFamily="49" charset="-122"/>
              </a:rPr>
              <a:t>算法对聚类中心采取的是迭代更新的方法，根据</a:t>
            </a:r>
            <a:r>
              <a:rPr lang="en-US" altLang="zh-CN" sz="2800" dirty="0">
                <a:latin typeface="楷体" panose="02010609060101010101" pitchFamily="49" charset="-122"/>
                <a:ea typeface="楷体" panose="02010609060101010101" pitchFamily="49" charset="-122"/>
              </a:rPr>
              <a:t>k</a:t>
            </a:r>
            <a:r>
              <a:rPr lang="zh-CN" altLang="en-US" sz="2800" dirty="0">
                <a:latin typeface="楷体" panose="02010609060101010101" pitchFamily="49" charset="-122"/>
                <a:ea typeface="楷体" panose="02010609060101010101" pitchFamily="49" charset="-122"/>
              </a:rPr>
              <a:t>个聚类中心，将周围的点划分成</a:t>
            </a:r>
            <a:r>
              <a:rPr lang="en-US" altLang="zh-CN" sz="2800" dirty="0">
                <a:latin typeface="楷体" panose="02010609060101010101" pitchFamily="49" charset="-122"/>
                <a:ea typeface="楷体" panose="02010609060101010101" pitchFamily="49" charset="-122"/>
              </a:rPr>
              <a:t>k</a:t>
            </a:r>
            <a:r>
              <a:rPr lang="zh-CN" altLang="en-US" sz="2800" dirty="0">
                <a:latin typeface="楷体" panose="02010609060101010101" pitchFamily="49" charset="-122"/>
                <a:ea typeface="楷体" panose="02010609060101010101" pitchFamily="49" charset="-122"/>
              </a:rPr>
              <a:t>个簇</a:t>
            </a:r>
            <a:r>
              <a:rPr lang="en-US" altLang="zh-CN" sz="2800" dirty="0">
                <a:latin typeface="楷体" panose="02010609060101010101" pitchFamily="49" charset="-122"/>
                <a:ea typeface="楷体" panose="02010609060101010101" pitchFamily="49" charset="-122"/>
              </a:rPr>
              <a:t>;</a:t>
            </a:r>
            <a:r>
              <a:rPr lang="zh-CN" altLang="en-US" sz="2800" b="1" dirty="0">
                <a:solidFill>
                  <a:srgbClr val="C00000"/>
                </a:solidFill>
                <a:latin typeface="楷体" panose="02010609060101010101" pitchFamily="49" charset="-122"/>
                <a:ea typeface="楷体" panose="02010609060101010101" pitchFamily="49" charset="-122"/>
              </a:rPr>
              <a:t>在每一次的迭代中将重新计算的每个簇的质心</a:t>
            </a:r>
            <a:r>
              <a:rPr lang="zh-CN" altLang="en-US" sz="2800" dirty="0">
                <a:latin typeface="楷体" panose="02010609060101010101" pitchFamily="49" charset="-122"/>
                <a:ea typeface="楷体" panose="02010609060101010101" pitchFamily="49" charset="-122"/>
              </a:rPr>
              <a:t>，即簇中所有点的均值，作为下一次迭代的参照点。也就是说，每一次的迭代都会使选取的参照点越来越接近簇的几何中心也就是说簇心，所以</a:t>
            </a:r>
            <a:r>
              <a:rPr lang="zh-CN" altLang="en-US" sz="2800" b="1" dirty="0">
                <a:solidFill>
                  <a:srgbClr val="C00000"/>
                </a:solidFill>
                <a:latin typeface="楷体" panose="02010609060101010101" pitchFamily="49" charset="-122"/>
                <a:ea typeface="楷体" panose="02010609060101010101" pitchFamily="49" charset="-122"/>
              </a:rPr>
              <a:t>目标函数如果越来越小，那么聚类的效果也会越来越好</a:t>
            </a:r>
            <a:r>
              <a:rPr lang="zh-CN" altLang="en-US" sz="2800" dirty="0">
                <a:latin typeface="楷体" panose="02010609060101010101" pitchFamily="49" charset="-122"/>
                <a:ea typeface="楷体" panose="02010609060101010101" pitchFamily="49" charset="-122"/>
              </a:rPr>
              <a:t>。</a:t>
            </a:r>
            <a:endParaRPr lang="zh-CN" altLang="en-US" sz="2800" dirty="0" smtClean="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另一个问题：距离</a:t>
            </a:r>
            <a:endParaRPr lang="zh-CN" altLang="en-US"/>
          </a:p>
        </p:txBody>
      </p:sp>
      <p:sp>
        <p:nvSpPr>
          <p:cNvPr id="3" name="内容占位符 2"/>
          <p:cNvSpPr>
            <a:spLocks noGrp="1"/>
          </p:cNvSpPr>
          <p:nvPr>
            <p:ph idx="1"/>
          </p:nvPr>
        </p:nvSpPr>
        <p:spPr/>
        <p:txBody>
          <a:bodyPr/>
          <a:p>
            <a:r>
              <a:rPr lang="en-US" altLang="zh-CN" sz="2800"/>
              <a:t>K-means</a:t>
            </a:r>
            <a:r>
              <a:rPr lang="zh-CN" altLang="en-US" sz="2800"/>
              <a:t>方法用距离来定义相似性，但什么是</a:t>
            </a:r>
            <a:r>
              <a:rPr lang="en-US" altLang="zh-CN" sz="2800"/>
              <a:t>“</a:t>
            </a:r>
            <a:r>
              <a:rPr lang="zh-CN" altLang="en-US" sz="2800"/>
              <a:t>距离</a:t>
            </a:r>
            <a:r>
              <a:rPr lang="en-US" altLang="zh-CN" sz="2800"/>
              <a:t>”</a:t>
            </a:r>
            <a:r>
              <a:rPr lang="zh-CN" altLang="en-US" sz="2800"/>
              <a:t>？</a:t>
            </a:r>
            <a:endParaRPr lang="zh-CN" altLang="en-US" sz="2800"/>
          </a:p>
          <a:p>
            <a:endParaRPr lang="zh-CN" altLang="en-US" sz="2800"/>
          </a:p>
          <a:p>
            <a:r>
              <a:rPr lang="zh-CN" altLang="en-US" sz="2800"/>
              <a:t>距离本身的定义也不止一种。</a:t>
            </a:r>
            <a:endParaRPr lang="zh-CN" altLang="en-US" sz="2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04940" y="184055"/>
            <a:ext cx="8911687" cy="1280890"/>
          </a:xfrm>
        </p:spPr>
        <p:txBody>
          <a:bodyPr>
            <a:normAutofit/>
          </a:bodyPr>
          <a:lstStyle/>
          <a:p>
            <a:r>
              <a:rPr lang="zh-CN" altLang="en-US" dirty="0" smtClean="0">
                <a:latin typeface="Cambria" panose="02040503050406030204" pitchFamily="18" charset="0"/>
              </a:rPr>
              <a:t>距离计算</a:t>
            </a:r>
            <a:endParaRPr lang="zh-CN" altLang="en-US" dirty="0">
              <a:latin typeface="Cambria" panose="02040503050406030204" pitchFamily="18" charset="0"/>
            </a:endParaRPr>
          </a:p>
        </p:txBody>
      </p:sp>
      <p:sp>
        <p:nvSpPr>
          <p:cNvPr id="5" name="内容占位符 3"/>
          <p:cNvSpPr txBox="1"/>
          <p:nvPr/>
        </p:nvSpPr>
        <p:spPr>
          <a:xfrm>
            <a:off x="2204905" y="1464870"/>
            <a:ext cx="3960440" cy="648072"/>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rgbClr val="83AA67"/>
              </a:buClr>
              <a:buSzPct val="100000"/>
              <a:buFont typeface="Wingdings" panose="05000000000000000000" pitchFamily="2" charset="2"/>
              <a:buNone/>
              <a:defRPr sz="24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en-US" altLang="zh-CN" sz="2800" dirty="0" smtClean="0">
                <a:latin typeface="Cambria" panose="02040503050406030204" pitchFamily="18" charset="0"/>
                <a:ea typeface="Cambria" panose="02040503050406030204" pitchFamily="18" charset="0"/>
              </a:rPr>
              <a:t>1.</a:t>
            </a:r>
            <a:r>
              <a:rPr lang="zh-CN" altLang="zh-CN" sz="2800" dirty="0" smtClean="0">
                <a:latin typeface="Cambria" panose="02040503050406030204" pitchFamily="18" charset="0"/>
              </a:rPr>
              <a:t>闵可夫</a:t>
            </a:r>
            <a:r>
              <a:rPr lang="zh-CN" altLang="zh-CN" sz="2800" dirty="0">
                <a:latin typeface="Cambria" panose="02040503050406030204" pitchFamily="18" charset="0"/>
              </a:rPr>
              <a:t>斯基</a:t>
            </a:r>
            <a:r>
              <a:rPr lang="zh-CN" altLang="zh-CN" sz="2800" dirty="0" smtClean="0">
                <a:latin typeface="Cambria" panose="02040503050406030204" pitchFamily="18" charset="0"/>
              </a:rPr>
              <a:t>距离</a:t>
            </a:r>
            <a:endParaRPr lang="zh-CN" altLang="zh-CN" sz="2800" dirty="0" smtClean="0">
              <a:latin typeface="Cambria" panose="02040503050406030204" pitchFamily="18" charset="0"/>
            </a:endParaRPr>
          </a:p>
        </p:txBody>
      </p:sp>
      <p:sp>
        <p:nvSpPr>
          <p:cNvPr id="7" name="内容占位符 2"/>
          <p:cNvSpPr>
            <a:spLocks noGrp="1"/>
          </p:cNvSpPr>
          <p:nvPr>
            <p:ph idx="1"/>
          </p:nvPr>
        </p:nvSpPr>
        <p:spPr>
          <a:xfrm>
            <a:off x="2204717" y="2595393"/>
            <a:ext cx="8346723" cy="1493775"/>
          </a:xfrm>
        </p:spPr>
        <p:txBody>
          <a:bodyPr>
            <a:normAutofit/>
          </a:bodyPr>
          <a:lstStyle/>
          <a:p>
            <a:pPr>
              <a:lnSpc>
                <a:spcPct val="150000"/>
              </a:lnSpc>
            </a:pPr>
            <a:r>
              <a:rPr lang="zh-CN" altLang="en-US" sz="2000" dirty="0">
                <a:latin typeface="Cambria" panose="02040503050406030204" pitchFamily="18" charset="0"/>
              </a:rPr>
              <a:t>闵可夫斯基距离（</a:t>
            </a:r>
            <a:r>
              <a:rPr lang="en-US" altLang="zh-CN" sz="2000" dirty="0" err="1">
                <a:latin typeface="Cambria" panose="02040503050406030204" pitchFamily="18" charset="0"/>
                <a:ea typeface="Cambria" panose="02040503050406030204" pitchFamily="18" charset="0"/>
              </a:rPr>
              <a:t>Minkowski</a:t>
            </a:r>
            <a:r>
              <a:rPr lang="en-US" altLang="zh-CN" sz="2000" dirty="0">
                <a:latin typeface="Cambria" panose="02040503050406030204" pitchFamily="18" charset="0"/>
                <a:ea typeface="Cambria" panose="02040503050406030204" pitchFamily="18" charset="0"/>
              </a:rPr>
              <a:t> </a:t>
            </a:r>
            <a:r>
              <a:rPr lang="en-US" altLang="zh-CN" sz="2000" dirty="0" smtClean="0">
                <a:latin typeface="Cambria" panose="02040503050406030204" pitchFamily="18" charset="0"/>
                <a:ea typeface="Cambria" panose="02040503050406030204" pitchFamily="18" charset="0"/>
              </a:rPr>
              <a:t>Distance</a:t>
            </a:r>
            <a:r>
              <a:rPr lang="zh-CN" altLang="en-US" sz="2000" dirty="0">
                <a:latin typeface="Cambria" panose="02040503050406030204" pitchFamily="18" charset="0"/>
              </a:rPr>
              <a:t>）是一种常见的方法，用于衡量数值点之间距离。</a:t>
            </a:r>
            <a:r>
              <a:rPr lang="zh-CN" altLang="en-US" sz="2000" dirty="0" smtClean="0">
                <a:latin typeface="Cambria" panose="02040503050406030204" pitchFamily="18" charset="0"/>
              </a:rPr>
              <a:t>假设                                           ，                           是</a:t>
            </a:r>
            <a:r>
              <a:rPr lang="en-US" altLang="zh-CN" sz="2000" i="1" dirty="0">
                <a:latin typeface="Cambria" panose="02040503050406030204" pitchFamily="18" charset="0"/>
                <a:ea typeface="Cambria" panose="02040503050406030204" pitchFamily="18" charset="0"/>
              </a:rPr>
              <a:t>n</a:t>
            </a:r>
            <a:r>
              <a:rPr lang="en-US" altLang="zh-CN" sz="2000" dirty="0">
                <a:latin typeface="Cambria" panose="02040503050406030204" pitchFamily="18" charset="0"/>
                <a:ea typeface="Cambria" panose="02040503050406030204" pitchFamily="18" charset="0"/>
              </a:rPr>
              <a:t> </a:t>
            </a:r>
            <a:r>
              <a:rPr lang="zh-CN" altLang="en-US" sz="2000" dirty="0">
                <a:latin typeface="Cambria" panose="02040503050406030204" pitchFamily="18" charset="0"/>
              </a:rPr>
              <a:t>维空间的两个向量，那么，闵可夫斯基距离定义为：</a:t>
            </a:r>
            <a:endParaRPr lang="zh-CN" altLang="en-US" sz="2000" dirty="0">
              <a:latin typeface="Cambria" panose="02040503050406030204" pitchFamily="18" charset="0"/>
              <a:ea typeface="Cambria" panose="02040503050406030204" pitchFamily="18" charset="0"/>
            </a:endParaRPr>
          </a:p>
        </p:txBody>
      </p:sp>
      <p:graphicFrame>
        <p:nvGraphicFramePr>
          <p:cNvPr id="14" name="对象 13"/>
          <p:cNvGraphicFramePr>
            <a:graphicFrameLocks noChangeAspect="1"/>
          </p:cNvGraphicFramePr>
          <p:nvPr/>
        </p:nvGraphicFramePr>
        <p:xfrm>
          <a:off x="5231524" y="3168535"/>
          <a:ext cx="2292350" cy="346076"/>
        </p:xfrm>
        <a:graphic>
          <a:graphicData uri="http://schemas.openxmlformats.org/presentationml/2006/ole">
            <mc:AlternateContent xmlns:mc="http://schemas.openxmlformats.org/markup-compatibility/2006">
              <mc:Choice xmlns:v="urn:schemas-microsoft-com:vml" Requires="v">
                <p:oleObj spid="_x0000_s12747" name="Equation" r:id="rId1" imgW="37795200" imgH="8534400" progId="Equation.DSMT4">
                  <p:embed/>
                </p:oleObj>
              </mc:Choice>
              <mc:Fallback>
                <p:oleObj name="Equation" r:id="rId1" imgW="37795200" imgH="8534400" progId="Equation.DSMT4">
                  <p:embed/>
                  <p:pic>
                    <p:nvPicPr>
                      <p:cNvPr id="0" name="Object 6"/>
                      <p:cNvPicPr>
                        <a:picLocks noChangeAspect="1" noChangeArrowheads="1"/>
                      </p:cNvPicPr>
                      <p:nvPr/>
                    </p:nvPicPr>
                    <p:blipFill>
                      <a:blip r:embed="rId2"/>
                      <a:srcRect/>
                      <a:stretch>
                        <a:fillRect/>
                      </a:stretch>
                    </p:blipFill>
                    <p:spPr bwMode="auto">
                      <a:xfrm>
                        <a:off x="5231524" y="3168535"/>
                        <a:ext cx="2292350" cy="346076"/>
                      </a:xfrm>
                      <a:prstGeom prst="rect">
                        <a:avLst/>
                      </a:prstGeom>
                      <a:noFill/>
                    </p:spPr>
                  </p:pic>
                </p:oleObj>
              </mc:Fallback>
            </mc:AlternateContent>
          </a:graphicData>
        </a:graphic>
      </p:graphicFrame>
      <p:sp>
        <p:nvSpPr>
          <p:cNvPr id="15" name="Rectangle 9"/>
          <p:cNvSpPr>
            <a:spLocks noChangeArrowheads="1"/>
          </p:cNvSpPr>
          <p:nvPr/>
        </p:nvSpPr>
        <p:spPr bwMode="auto">
          <a:xfrm>
            <a:off x="1143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Cambria" panose="02040503050406030204" pitchFamily="18" charset="0"/>
            </a:endParaRPr>
          </a:p>
        </p:txBody>
      </p:sp>
      <p:graphicFrame>
        <p:nvGraphicFramePr>
          <p:cNvPr id="16" name="对象 15"/>
          <p:cNvGraphicFramePr>
            <a:graphicFrameLocks noChangeAspect="1"/>
          </p:cNvGraphicFramePr>
          <p:nvPr/>
        </p:nvGraphicFramePr>
        <p:xfrm>
          <a:off x="7664021" y="3168382"/>
          <a:ext cx="1616076" cy="346076"/>
        </p:xfrm>
        <a:graphic>
          <a:graphicData uri="http://schemas.openxmlformats.org/presentationml/2006/ole">
            <mc:AlternateContent xmlns:mc="http://schemas.openxmlformats.org/markup-compatibility/2006">
              <mc:Choice xmlns:v="urn:schemas-microsoft-com:vml" Requires="v">
                <p:oleObj spid="_x0000_s12748" name="Equation" r:id="rId3" imgW="39014400" imgH="8534400" progId="Equation.DSMT4">
                  <p:embed/>
                </p:oleObj>
              </mc:Choice>
              <mc:Fallback>
                <p:oleObj name="Equation" r:id="rId3" imgW="39014400" imgH="8534400" progId="Equation.DSMT4">
                  <p:embed/>
                  <p:pic>
                    <p:nvPicPr>
                      <p:cNvPr id="0" name="Object 8"/>
                      <p:cNvPicPr>
                        <a:picLocks noChangeAspect="1" noChangeArrowheads="1"/>
                      </p:cNvPicPr>
                      <p:nvPr/>
                    </p:nvPicPr>
                    <p:blipFill>
                      <a:blip r:embed="rId4"/>
                      <a:srcRect/>
                      <a:stretch>
                        <a:fillRect/>
                      </a:stretch>
                    </p:blipFill>
                    <p:spPr bwMode="auto">
                      <a:xfrm>
                        <a:off x="7664021" y="3168382"/>
                        <a:ext cx="1616076" cy="3460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11"/>
          <p:cNvSpPr>
            <a:spLocks noChangeArrowheads="1"/>
          </p:cNvSpPr>
          <p:nvPr/>
        </p:nvSpPr>
        <p:spPr bwMode="auto">
          <a:xfrm>
            <a:off x="1143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latin typeface="Cambria" panose="02040503050406030204" pitchFamily="18" charset="0"/>
            </a:endParaRPr>
          </a:p>
        </p:txBody>
      </p:sp>
      <p:graphicFrame>
        <p:nvGraphicFramePr>
          <p:cNvPr id="18" name="对象 17"/>
          <p:cNvGraphicFramePr>
            <a:graphicFrameLocks noChangeAspect="1"/>
          </p:cNvGraphicFramePr>
          <p:nvPr/>
        </p:nvGraphicFramePr>
        <p:xfrm>
          <a:off x="3923665" y="4361180"/>
          <a:ext cx="4140835" cy="755015"/>
        </p:xfrm>
        <a:graphic>
          <a:graphicData uri="http://schemas.openxmlformats.org/presentationml/2006/ole">
            <mc:AlternateContent xmlns:mc="http://schemas.openxmlformats.org/markup-compatibility/2006">
              <mc:Choice xmlns:v="urn:schemas-microsoft-com:vml" Requires="v">
                <p:oleObj spid="_x0000_s12749" name="Equation" r:id="rId5" imgW="73761600" imgH="13411200" progId="Equation.DSMT4">
                  <p:embed/>
                </p:oleObj>
              </mc:Choice>
              <mc:Fallback>
                <p:oleObj name="Equation" r:id="rId5" imgW="73761600" imgH="13411200" progId="Equation.DSMT4">
                  <p:embed/>
                  <p:pic>
                    <p:nvPicPr>
                      <p:cNvPr id="0" name="Object 10"/>
                      <p:cNvPicPr>
                        <a:picLocks noChangeAspect="1" noChangeArrowheads="1"/>
                      </p:cNvPicPr>
                      <p:nvPr/>
                    </p:nvPicPr>
                    <p:blipFill>
                      <a:blip r:embed="rId6"/>
                      <a:srcRect/>
                      <a:stretch>
                        <a:fillRect/>
                      </a:stretch>
                    </p:blipFill>
                    <p:spPr bwMode="auto">
                      <a:xfrm>
                        <a:off x="3923665" y="4361180"/>
                        <a:ext cx="4140835" cy="755015"/>
                      </a:xfrm>
                      <a:prstGeom prst="rect">
                        <a:avLst/>
                      </a:prstGeom>
                      <a:noFill/>
                    </p:spPr>
                  </p:pic>
                </p:oleObj>
              </mc:Fallback>
            </mc:AlternateContent>
          </a:graphicData>
        </a:graphic>
      </p:graphicFrame>
      <mc:AlternateContent xmlns:mc="http://schemas.openxmlformats.org/markup-compatibility/2006">
        <mc:Choice xmlns:a14="http://schemas.microsoft.com/office/drawing/2010/main" Requires="a14">
          <p:sp>
            <p:nvSpPr>
              <p:cNvPr id="19" name="内容占位符 2"/>
              <p:cNvSpPr>
                <a:spLocks noGrp="1"/>
              </p:cNvSpPr>
              <p:nvPr>
                <p:ph idx="1"/>
              </p:nvPr>
            </p:nvSpPr>
            <p:spPr>
              <a:xfrm>
                <a:off x="1061717" y="5290079"/>
                <a:ext cx="8346723" cy="919959"/>
              </a:xfrm>
            </p:spPr>
            <p:txBody>
              <a:bodyPr>
                <a:normAutofit fontScale="92500" lnSpcReduction="10000"/>
              </a:bodyPr>
              <a:lstStyle/>
              <a:p>
                <a:pPr>
                  <a:lnSpc>
                    <a:spcPct val="150000"/>
                  </a:lnSpc>
                </a:pPr>
                <a:r>
                  <a:rPr lang="zh-CN" altLang="zh-CN" dirty="0">
                    <a:latin typeface="Cambria" panose="02040503050406030204" pitchFamily="18" charset="0"/>
                  </a:rPr>
                  <a:t>该距离最常用的</a:t>
                </a:r>
                <a14:m>
                  <m:oMath xmlns:m="http://schemas.openxmlformats.org/officeDocument/2006/math">
                    <m:r>
                      <a:rPr lang="en-US" altLang="zh-CN" i="1">
                        <a:latin typeface="Cambria Math" panose="02040503050406030204" pitchFamily="18" charset="0"/>
                      </a:rPr>
                      <m:t>𝑝</m:t>
                    </m:r>
                  </m:oMath>
                </a14:m>
                <a:r>
                  <a:rPr lang="zh-CN" altLang="zh-CN" dirty="0">
                    <a:latin typeface="Cambria" panose="02040503050406030204" pitchFamily="18" charset="0"/>
                  </a:rPr>
                  <a:t>是</a:t>
                </a:r>
                <a:r>
                  <a:rPr lang="en-US" altLang="zh-CN" dirty="0">
                    <a:latin typeface="Cambria" panose="02040503050406030204" pitchFamily="18" charset="0"/>
                    <a:ea typeface="Cambria" panose="02040503050406030204" pitchFamily="18" charset="0"/>
                  </a:rPr>
                  <a:t>2</a:t>
                </a:r>
                <a:r>
                  <a:rPr lang="zh-CN" altLang="zh-CN" dirty="0">
                    <a:latin typeface="Cambria" panose="02040503050406030204" pitchFamily="18" charset="0"/>
                  </a:rPr>
                  <a:t>和</a:t>
                </a:r>
                <a:r>
                  <a:rPr lang="en-US" altLang="zh-CN" dirty="0">
                    <a:latin typeface="Cambria" panose="02040503050406030204" pitchFamily="18" charset="0"/>
                    <a:ea typeface="Cambria" panose="02040503050406030204" pitchFamily="18" charset="0"/>
                  </a:rPr>
                  <a:t>1</a:t>
                </a:r>
                <a:r>
                  <a:rPr lang="zh-CN" altLang="zh-CN" dirty="0">
                    <a:latin typeface="Cambria" panose="02040503050406030204" pitchFamily="18" charset="0"/>
                  </a:rPr>
                  <a:t>，前者是欧几里得距离，后者是曼哈顿距离。当</a:t>
                </a:r>
                <a14:m>
                  <m:oMath xmlns:m="http://schemas.openxmlformats.org/officeDocument/2006/math">
                    <m:r>
                      <a:rPr lang="en-US" altLang="zh-CN" i="1">
                        <a:latin typeface="Cambria Math" panose="02040503050406030204" pitchFamily="18" charset="0"/>
                      </a:rPr>
                      <m:t>𝑝</m:t>
                    </m:r>
                  </m:oMath>
                </a14:m>
                <a:r>
                  <a:rPr lang="zh-CN" altLang="zh-CN" dirty="0">
                    <a:latin typeface="Cambria" panose="02040503050406030204" pitchFamily="18" charset="0"/>
                  </a:rPr>
                  <a:t>趋近于无穷大时，闵可夫斯基距离转化成切比雪夫</a:t>
                </a:r>
                <a:r>
                  <a:rPr lang="zh-CN" altLang="zh-CN" dirty="0" smtClean="0">
                    <a:latin typeface="Cambria" panose="02040503050406030204" pitchFamily="18" charset="0"/>
                  </a:rPr>
                  <a:t>距离</a:t>
                </a:r>
                <a:r>
                  <a:rPr lang="zh-CN" altLang="en-US" dirty="0" smtClean="0">
                    <a:latin typeface="Cambria" panose="02040503050406030204" pitchFamily="18" charset="0"/>
                  </a:rPr>
                  <a:t>。</a:t>
                </a:r>
                <a:endParaRPr lang="en-US" altLang="zh-CN" dirty="0">
                  <a:latin typeface="Cambria" panose="02040503050406030204" pitchFamily="18" charset="0"/>
                  <a:ea typeface="Cambria" panose="02040503050406030204" pitchFamily="18" charset="0"/>
                </a:endParaRPr>
              </a:p>
            </p:txBody>
          </p:sp>
        </mc:Choice>
        <mc:Fallback>
          <p:sp>
            <p:nvSpPr>
              <p:cNvPr id="19" name="内容占位符 2"/>
              <p:cNvSpPr>
                <a:spLocks noGrp="1" noRot="1" noChangeAspect="1" noMove="1" noResize="1" noEditPoints="1" noAdjustHandles="1" noChangeArrowheads="1" noChangeShapeType="1" noTextEdit="1"/>
              </p:cNvSpPr>
              <p:nvPr>
                <p:ph idx="1"/>
              </p:nvPr>
            </p:nvSpPr>
            <p:spPr>
              <a:xfrm>
                <a:off x="2204720" y="5290185"/>
                <a:ext cx="9930130" cy="1094740"/>
              </a:xfrm>
              <a:blipFill rotWithShape="0">
                <a:blip r:embed="rId7"/>
                <a:stretch>
                  <a:fillRect l="-511" b="-5960"/>
                </a:stretch>
              </a:blipFill>
            </p:spPr>
            <p:txBody>
              <a:bodyPr/>
              <a:lstStyle/>
              <a:p>
                <a:r>
                  <a:rPr lang="zh-CN" altLang="en-US">
                    <a:noFill/>
                  </a:rPr>
                  <a:t> </a:t>
                </a:r>
                <a:endParaRPr lang="zh-CN" altLang="en-US">
                  <a:noFill/>
                </a:endParaRPr>
              </a:p>
            </p:txBody>
          </p:sp>
        </mc:Fallback>
      </mc:AlternateContent>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内容占位符 2"/>
          <p:cNvSpPr>
            <a:spLocks noGrp="1"/>
          </p:cNvSpPr>
          <p:nvPr>
            <p:ph idx="1"/>
          </p:nvPr>
        </p:nvSpPr>
        <p:spPr>
          <a:xfrm>
            <a:off x="2279575" y="2237909"/>
            <a:ext cx="8346723" cy="1229259"/>
          </a:xfrm>
        </p:spPr>
        <p:txBody>
          <a:bodyPr>
            <a:normAutofit/>
          </a:bodyPr>
          <a:lstStyle/>
          <a:p>
            <a:r>
              <a:rPr lang="zh-CN" altLang="en-US" sz="2000" dirty="0">
                <a:latin typeface="Cambria" panose="02040503050406030204" pitchFamily="18" charset="0"/>
              </a:rPr>
              <a:t>欧氏距离（</a:t>
            </a:r>
            <a:r>
              <a:rPr lang="en-US" altLang="zh-CN" sz="2000" dirty="0">
                <a:latin typeface="Cambria" panose="02040503050406030204" pitchFamily="18" charset="0"/>
                <a:ea typeface="Cambria" panose="02040503050406030204" pitchFamily="18" charset="0"/>
              </a:rPr>
              <a:t>Euclidean Distance</a:t>
            </a:r>
            <a:r>
              <a:rPr lang="zh-CN" altLang="en-US" sz="2000" dirty="0">
                <a:latin typeface="Cambria" panose="02040503050406030204" pitchFamily="18" charset="0"/>
              </a:rPr>
              <a:t>）最初用于计算欧几里德空间中两个点的距离。</a:t>
            </a:r>
            <a:r>
              <a:rPr lang="zh-CN" altLang="en-US" sz="2000" dirty="0" smtClean="0">
                <a:latin typeface="Cambria" panose="02040503050406030204" pitchFamily="18" charset="0"/>
              </a:rPr>
              <a:t>假设                                         ， </a:t>
            </a:r>
            <a:r>
              <a:rPr lang="en-US" altLang="zh-CN" sz="2000" dirty="0">
                <a:latin typeface="Cambria" panose="02040503050406030204" pitchFamily="18" charset="0"/>
                <a:ea typeface="Cambria" panose="02040503050406030204" pitchFamily="18" charset="0"/>
              </a:rPr>
              <a:t> </a:t>
            </a:r>
            <a:r>
              <a:rPr lang="en-US" altLang="zh-CN" sz="2000" dirty="0" smtClean="0">
                <a:latin typeface="Cambria" panose="02040503050406030204" pitchFamily="18" charset="0"/>
                <a:ea typeface="Cambria" panose="02040503050406030204" pitchFamily="18" charset="0"/>
              </a:rPr>
              <a:t>                           </a:t>
            </a:r>
            <a:r>
              <a:rPr lang="zh-CN" altLang="en-US" sz="2000" dirty="0" smtClean="0">
                <a:latin typeface="Cambria" panose="02040503050406030204" pitchFamily="18" charset="0"/>
              </a:rPr>
              <a:t>是</a:t>
            </a:r>
            <a:r>
              <a:rPr lang="en-US" altLang="zh-CN" sz="2000" i="1" dirty="0">
                <a:latin typeface="Cambria" panose="02040503050406030204" pitchFamily="18" charset="0"/>
                <a:ea typeface="Cambria" panose="02040503050406030204" pitchFamily="18" charset="0"/>
              </a:rPr>
              <a:t>n</a:t>
            </a:r>
            <a:r>
              <a:rPr lang="en-US" altLang="zh-CN" sz="2000" dirty="0">
                <a:latin typeface="Cambria" panose="02040503050406030204" pitchFamily="18" charset="0"/>
                <a:ea typeface="Cambria" panose="02040503050406030204" pitchFamily="18" charset="0"/>
              </a:rPr>
              <a:t> </a:t>
            </a:r>
            <a:r>
              <a:rPr lang="zh-CN" altLang="en-US" sz="2000" dirty="0">
                <a:latin typeface="Cambria" panose="02040503050406030204" pitchFamily="18" charset="0"/>
              </a:rPr>
              <a:t>维空间的两个向量，它们之间的欧几里德距离是：</a:t>
            </a:r>
            <a:endParaRPr lang="zh-CN" altLang="en-US" sz="2000" dirty="0">
              <a:latin typeface="Cambria" panose="02040503050406030204" pitchFamily="18" charset="0"/>
              <a:ea typeface="Cambria" panose="02040503050406030204" pitchFamily="18" charset="0"/>
            </a:endParaRPr>
          </a:p>
        </p:txBody>
      </p:sp>
      <p:sp>
        <p:nvSpPr>
          <p:cNvPr id="22" name="内容占位符 3"/>
          <p:cNvSpPr txBox="1"/>
          <p:nvPr/>
        </p:nvSpPr>
        <p:spPr>
          <a:xfrm>
            <a:off x="2279738" y="1245014"/>
            <a:ext cx="8346723" cy="648072"/>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rgbClr val="83AA67"/>
              </a:buClr>
              <a:buSzPct val="100000"/>
              <a:buFont typeface="Wingdings" panose="05000000000000000000" pitchFamily="2" charset="2"/>
              <a:buNone/>
              <a:defRPr sz="24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en-US" altLang="zh-CN" sz="3200" dirty="0" smtClean="0">
                <a:latin typeface="Cambria" panose="02040503050406030204" pitchFamily="18" charset="0"/>
              </a:rPr>
              <a:t>2. </a:t>
            </a:r>
            <a:r>
              <a:rPr lang="zh-CN" altLang="zh-CN" sz="3200" dirty="0" smtClean="0">
                <a:latin typeface="Cambria" panose="02040503050406030204" pitchFamily="18" charset="0"/>
              </a:rPr>
              <a:t>欧氏</a:t>
            </a:r>
            <a:r>
              <a:rPr lang="zh-CN" altLang="zh-CN" sz="3200" dirty="0">
                <a:latin typeface="Cambria" panose="02040503050406030204" pitchFamily="18" charset="0"/>
              </a:rPr>
              <a:t>距离</a:t>
            </a:r>
            <a:endParaRPr lang="zh-CN" altLang="zh-CN" sz="3200" dirty="0">
              <a:latin typeface="Cambria" panose="02040503050406030204" pitchFamily="18" charset="0"/>
            </a:endParaRPr>
          </a:p>
        </p:txBody>
      </p:sp>
      <p:graphicFrame>
        <p:nvGraphicFramePr>
          <p:cNvPr id="23" name="对象 22"/>
          <p:cNvGraphicFramePr>
            <a:graphicFrameLocks noChangeAspect="1"/>
          </p:cNvGraphicFramePr>
          <p:nvPr/>
        </p:nvGraphicFramePr>
        <p:xfrm>
          <a:off x="4265361" y="2537048"/>
          <a:ext cx="2292350" cy="346076"/>
        </p:xfrm>
        <a:graphic>
          <a:graphicData uri="http://schemas.openxmlformats.org/presentationml/2006/ole">
            <mc:AlternateContent xmlns:mc="http://schemas.openxmlformats.org/markup-compatibility/2006">
              <mc:Choice xmlns:v="urn:schemas-microsoft-com:vml" Requires="v">
                <p:oleObj spid="_x0000_s14761" name="Equation" r:id="rId1" imgW="37795200" imgH="8534400" progId="Equation.DSMT4">
                  <p:embed/>
                </p:oleObj>
              </mc:Choice>
              <mc:Fallback>
                <p:oleObj name="Equation" r:id="rId1" imgW="37795200" imgH="8534400" progId="Equation.DSMT4">
                  <p:embed/>
                  <p:pic>
                    <p:nvPicPr>
                      <p:cNvPr id="0" name="图片 14760"/>
                      <p:cNvPicPr>
                        <a:picLocks noChangeAspect="1" noChangeArrowheads="1"/>
                      </p:cNvPicPr>
                      <p:nvPr/>
                    </p:nvPicPr>
                    <p:blipFill>
                      <a:blip r:embed="rId2"/>
                      <a:srcRect/>
                      <a:stretch>
                        <a:fillRect/>
                      </a:stretch>
                    </p:blipFill>
                    <p:spPr bwMode="auto">
                      <a:xfrm>
                        <a:off x="4265361" y="2537048"/>
                        <a:ext cx="2292350" cy="346076"/>
                      </a:xfrm>
                      <a:prstGeom prst="rect">
                        <a:avLst/>
                      </a:prstGeom>
                      <a:noFill/>
                    </p:spPr>
                  </p:pic>
                </p:oleObj>
              </mc:Fallback>
            </mc:AlternateContent>
          </a:graphicData>
        </a:graphic>
      </p:graphicFrame>
      <p:graphicFrame>
        <p:nvGraphicFramePr>
          <p:cNvPr id="24" name="对象 23"/>
          <p:cNvGraphicFramePr>
            <a:graphicFrameLocks noChangeAspect="1"/>
          </p:cNvGraphicFramePr>
          <p:nvPr/>
        </p:nvGraphicFramePr>
        <p:xfrm>
          <a:off x="6689209" y="2536651"/>
          <a:ext cx="1616076" cy="346076"/>
        </p:xfrm>
        <a:graphic>
          <a:graphicData uri="http://schemas.openxmlformats.org/presentationml/2006/ole">
            <mc:AlternateContent xmlns:mc="http://schemas.openxmlformats.org/markup-compatibility/2006">
              <mc:Choice xmlns:v="urn:schemas-microsoft-com:vml" Requires="v">
                <p:oleObj spid="_x0000_s14762" name="Equation" r:id="rId3" imgW="39014400" imgH="8534400" progId="Equation.DSMT4">
                  <p:embed/>
                </p:oleObj>
              </mc:Choice>
              <mc:Fallback>
                <p:oleObj name="Equation" r:id="rId3" imgW="39014400" imgH="8534400" progId="Equation.DSMT4">
                  <p:embed/>
                  <p:pic>
                    <p:nvPicPr>
                      <p:cNvPr id="0" name="图片 14761"/>
                      <p:cNvPicPr>
                        <a:picLocks noChangeAspect="1" noChangeArrowheads="1"/>
                      </p:cNvPicPr>
                      <p:nvPr/>
                    </p:nvPicPr>
                    <p:blipFill>
                      <a:blip r:embed="rId4"/>
                      <a:srcRect/>
                      <a:stretch>
                        <a:fillRect/>
                      </a:stretch>
                    </p:blipFill>
                    <p:spPr bwMode="auto">
                      <a:xfrm>
                        <a:off x="6689209" y="2536651"/>
                        <a:ext cx="1616076" cy="3460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对象 24"/>
          <p:cNvGraphicFramePr>
            <a:graphicFrameLocks noChangeAspect="1"/>
          </p:cNvGraphicFramePr>
          <p:nvPr/>
        </p:nvGraphicFramePr>
        <p:xfrm>
          <a:off x="4265295" y="3736975"/>
          <a:ext cx="4918075" cy="801370"/>
        </p:xfrm>
        <a:graphic>
          <a:graphicData uri="http://schemas.openxmlformats.org/presentationml/2006/ole">
            <mc:AlternateContent xmlns:mc="http://schemas.openxmlformats.org/markup-compatibility/2006">
              <mc:Choice xmlns:v="urn:schemas-microsoft-com:vml" Requires="v">
                <p:oleObj spid="_x0000_s14763" name="Equation" r:id="rId5" imgW="71323200" imgH="11887200" progId="Equation.DSMT4">
                  <p:embed/>
                </p:oleObj>
              </mc:Choice>
              <mc:Fallback>
                <p:oleObj name="Equation" r:id="rId5" imgW="71323200" imgH="11887200" progId="Equation.DSMT4">
                  <p:embed/>
                  <p:pic>
                    <p:nvPicPr>
                      <p:cNvPr id="0" name="图片 14762"/>
                      <p:cNvPicPr>
                        <a:picLocks noChangeAspect="1" noChangeArrowheads="1"/>
                      </p:cNvPicPr>
                      <p:nvPr/>
                    </p:nvPicPr>
                    <p:blipFill>
                      <a:blip r:embed="rId6"/>
                      <a:srcRect/>
                      <a:stretch>
                        <a:fillRect/>
                      </a:stretch>
                    </p:blipFill>
                    <p:spPr bwMode="auto">
                      <a:xfrm>
                        <a:off x="4265295" y="3736975"/>
                        <a:ext cx="4918075" cy="8013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内容占位符 2"/>
          <p:cNvSpPr>
            <a:spLocks noGrp="1"/>
          </p:cNvSpPr>
          <p:nvPr>
            <p:ph idx="1"/>
          </p:nvPr>
        </p:nvSpPr>
        <p:spPr>
          <a:xfrm>
            <a:off x="2279576" y="5269747"/>
            <a:ext cx="8346723" cy="917017"/>
          </a:xfrm>
        </p:spPr>
        <p:txBody>
          <a:bodyPr>
            <a:noAutofit/>
          </a:bodyPr>
          <a:lstStyle/>
          <a:p>
            <a:r>
              <a:rPr lang="en-US" altLang="zh-CN" sz="2400" dirty="0" smtClean="0">
                <a:latin typeface="Cambria" panose="02040503050406030204" pitchFamily="18" charset="0"/>
                <a:ea typeface="Cambria" panose="02040503050406030204" pitchFamily="18" charset="0"/>
              </a:rPr>
              <a:t>n=2 </a:t>
            </a:r>
            <a:r>
              <a:rPr lang="zh-CN" altLang="zh-CN" sz="2400" dirty="0" smtClean="0">
                <a:latin typeface="Cambria" panose="02040503050406030204" pitchFamily="18" charset="0"/>
              </a:rPr>
              <a:t>欧几里德</a:t>
            </a:r>
            <a:r>
              <a:rPr lang="zh-CN" altLang="zh-CN" sz="2400" dirty="0">
                <a:latin typeface="Cambria" panose="02040503050406030204" pitchFamily="18" charset="0"/>
              </a:rPr>
              <a:t>距离</a:t>
            </a:r>
            <a:r>
              <a:rPr lang="zh-CN" altLang="zh-CN" sz="2800" dirty="0">
                <a:latin typeface="Cambria" panose="02040503050406030204" pitchFamily="18" charset="0"/>
              </a:rPr>
              <a:t>就是</a:t>
            </a:r>
            <a:r>
              <a:rPr lang="zh-CN" altLang="zh-CN" sz="2400" dirty="0">
                <a:latin typeface="Cambria" panose="02040503050406030204" pitchFamily="18" charset="0"/>
              </a:rPr>
              <a:t>平面上两个点的距离。如果将欧氏距离看作</a:t>
            </a:r>
            <a:r>
              <a:rPr lang="zh-CN" altLang="zh-CN" sz="2400" dirty="0" smtClean="0">
                <a:latin typeface="Cambria" panose="02040503050406030204" pitchFamily="18" charset="0"/>
              </a:rPr>
              <a:t>物品相似</a:t>
            </a:r>
            <a:r>
              <a:rPr lang="zh-CN" altLang="zh-CN" sz="2400" dirty="0">
                <a:latin typeface="Cambria" panose="02040503050406030204" pitchFamily="18" charset="0"/>
              </a:rPr>
              <a:t>程度，那么距离越近就越相似，也就是说距离越小，相似度越大。</a:t>
            </a:r>
            <a:endParaRPr lang="zh-CN" altLang="zh-CN" sz="2400" dirty="0">
              <a:latin typeface="Cambria" panose="02040503050406030204" pitchFamily="18" charset="0"/>
              <a:ea typeface="Cambria" panose="02040503050406030204" pitchFamily="18" charset="0"/>
            </a:endParaRPr>
          </a:p>
        </p:txBody>
      </p:sp>
      <p:sp>
        <p:nvSpPr>
          <p:cNvPr id="6" name="文本框 5"/>
          <p:cNvSpPr txBox="1"/>
          <p:nvPr/>
        </p:nvSpPr>
        <p:spPr>
          <a:xfrm>
            <a:off x="5113020" y="864870"/>
            <a:ext cx="5869305" cy="953135"/>
          </a:xfrm>
          <a:prstGeom prst="rect">
            <a:avLst/>
          </a:prstGeom>
          <a:noFill/>
        </p:spPr>
        <p:txBody>
          <a:bodyPr wrap="square" rtlCol="0">
            <a:spAutoFit/>
          </a:bodyPr>
          <a:p>
            <a:r>
              <a:rPr lang="zh-CN" altLang="en-US" sz="2800" b="1">
                <a:solidFill>
                  <a:srgbClr val="C00000"/>
                </a:solidFill>
              </a:rPr>
              <a:t>最常用的距离，</a:t>
            </a:r>
            <a:r>
              <a:rPr lang="zh-CN" altLang="zh-CN" sz="2800" dirty="0" smtClean="0">
                <a:solidFill>
                  <a:srgbClr val="C00000"/>
                </a:solidFill>
                <a:latin typeface="Cambria" panose="02040503050406030204" pitchFamily="18" charset="0"/>
                <a:sym typeface="+mn-ea"/>
              </a:rPr>
              <a:t>闵可夫</a:t>
            </a:r>
            <a:r>
              <a:rPr lang="zh-CN" altLang="zh-CN" sz="2800" dirty="0">
                <a:solidFill>
                  <a:srgbClr val="C00000"/>
                </a:solidFill>
                <a:latin typeface="Cambria" panose="02040503050406030204" pitchFamily="18" charset="0"/>
                <a:sym typeface="+mn-ea"/>
              </a:rPr>
              <a:t>斯基</a:t>
            </a:r>
            <a:r>
              <a:rPr lang="zh-CN" altLang="zh-CN" sz="2800" dirty="0" smtClean="0">
                <a:solidFill>
                  <a:srgbClr val="C00000"/>
                </a:solidFill>
                <a:latin typeface="Cambria" panose="02040503050406030204" pitchFamily="18" charset="0"/>
                <a:sym typeface="+mn-ea"/>
              </a:rPr>
              <a:t>距离的一种特殊形式</a:t>
            </a:r>
            <a:endParaRPr lang="zh-CN" altLang="zh-CN" sz="2800" b="1" dirty="0" smtClean="0">
              <a:solidFill>
                <a:srgbClr val="C00000"/>
              </a:solidFill>
              <a:latin typeface="Cambria" panose="02040503050406030204" pitchFamily="18" charset="0"/>
              <a:sym typeface="+mn-ea"/>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9" name="内容占位符 2"/>
              <p:cNvSpPr>
                <a:spLocks noGrp="1"/>
              </p:cNvSpPr>
              <p:nvPr>
                <p:ph idx="1"/>
              </p:nvPr>
            </p:nvSpPr>
            <p:spPr>
              <a:xfrm>
                <a:off x="1136575" y="3887598"/>
                <a:ext cx="6048674" cy="1989674"/>
              </a:xfrm>
            </p:spPr>
            <p:txBody>
              <a:bodyPr>
                <a:normAutofit/>
              </a:bodyPr>
              <a:lstStyle/>
              <a:p>
                <a:r>
                  <a:rPr lang="zh-CN" altLang="zh-CN" dirty="0">
                    <a:latin typeface="Cambria" panose="02040503050406030204" pitchFamily="18" charset="0"/>
                  </a:rPr>
                  <a:t>曼哈顿距离也称为城市街区距离</a:t>
                </a:r>
                <a:r>
                  <a:rPr lang="en-US" altLang="zh-CN" dirty="0">
                    <a:latin typeface="Cambria" panose="02040503050406030204" pitchFamily="18" charset="0"/>
                    <a:ea typeface="Cambria" panose="02040503050406030204" pitchFamily="18" charset="0"/>
                  </a:rPr>
                  <a:t>(City Block distance)</a:t>
                </a:r>
                <a:r>
                  <a:rPr lang="zh-CN" altLang="zh-CN" dirty="0">
                    <a:latin typeface="Cambria" panose="02040503050406030204" pitchFamily="18" charset="0"/>
                  </a:rPr>
                  <a:t>，或绝对距离</a:t>
                </a:r>
                <a:r>
                  <a:rPr lang="zh-CN" altLang="zh-CN" dirty="0" smtClean="0">
                    <a:latin typeface="Cambria" panose="02040503050406030204" pitchFamily="18" charset="0"/>
                  </a:rPr>
                  <a:t>。</a:t>
                </a:r>
                <a:r>
                  <a:rPr lang="zh-CN" altLang="en-US" dirty="0" smtClean="0">
                    <a:latin typeface="Cambria" panose="02040503050406030204" pitchFamily="18" charset="0"/>
                  </a:rPr>
                  <a:t>即在</a:t>
                </a:r>
                <a:r>
                  <a:rPr lang="zh-CN" altLang="zh-CN" dirty="0">
                    <a:latin typeface="Cambria" panose="02040503050406030204" pitchFamily="18" charset="0"/>
                  </a:rPr>
                  <a:t>在欧几里得空间的固定直角坐标系上两点所形成的线段对轴的投影距离</a:t>
                </a:r>
                <a:r>
                  <a:rPr lang="zh-CN" altLang="zh-CN" dirty="0" smtClean="0">
                    <a:latin typeface="Cambria" panose="02040503050406030204" pitchFamily="18" charset="0"/>
                  </a:rPr>
                  <a:t>总和</a:t>
                </a:r>
                <a:r>
                  <a:rPr lang="zh-CN" altLang="en-US" dirty="0" smtClean="0">
                    <a:latin typeface="Cambria" panose="02040503050406030204" pitchFamily="18" charset="0"/>
                  </a:rPr>
                  <a:t>。</a:t>
                </a:r>
                <a:r>
                  <a:rPr lang="zh-CN" altLang="zh-CN" dirty="0">
                    <a:latin typeface="Cambria" panose="02040503050406030204" pitchFamily="18" charset="0"/>
                  </a:rPr>
                  <a:t>坐标</a:t>
                </a:r>
                <a14:m>
                  <m:oMath xmlns:m="http://schemas.openxmlformats.org/officeDocument/2006/math">
                    <m:d>
                      <m:dPr>
                        <m:ctrlPr>
                          <a:rPr lang="zh-CN" altLang="zh-CN" i="1">
                            <a:latin typeface="Cambria Math"/>
                          </a:rPr>
                        </m:ctrlPr>
                      </m:dPr>
                      <m:e>
                        <m:sSub>
                          <m:sSubPr>
                            <m:ctrlPr>
                              <a:rPr lang="zh-CN" altLang="zh-CN" i="1">
                                <a:latin typeface="Cambria Math"/>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zh-CN" altLang="zh-CN" i="1">
                                <a:latin typeface="Cambria Math"/>
                              </a:rPr>
                            </m:ctrlPr>
                          </m:sSubPr>
                          <m:e>
                            <m:r>
                              <a:rPr lang="en-US" altLang="zh-CN" i="1">
                                <a:latin typeface="Cambria Math" panose="02040503050406030204" pitchFamily="18" charset="0"/>
                              </a:rPr>
                              <m:t>𝑦</m:t>
                            </m:r>
                          </m:e>
                          <m:sub>
                            <m:r>
                              <a:rPr lang="en-US" altLang="zh-CN" i="1">
                                <a:latin typeface="Cambria Math" panose="02040503050406030204" pitchFamily="18" charset="0"/>
                              </a:rPr>
                              <m:t>1</m:t>
                            </m:r>
                          </m:sub>
                        </m:sSub>
                      </m:e>
                    </m:d>
                  </m:oMath>
                </a14:m>
                <a:r>
                  <a:rPr lang="zh-CN" altLang="zh-CN" dirty="0">
                    <a:latin typeface="Cambria" panose="02040503050406030204" pitchFamily="18" charset="0"/>
                  </a:rPr>
                  <a:t>的点</a:t>
                </a:r>
                <a14:m>
                  <m:oMath xmlns:m="http://schemas.openxmlformats.org/officeDocument/2006/math">
                    <m:sSub>
                      <m:sSubPr>
                        <m:ctrlPr>
                          <a:rPr lang="zh-CN" altLang="zh-CN" i="1">
                            <a:latin typeface="Cambria Math"/>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oMath>
                </a14:m>
                <a:r>
                  <a:rPr lang="zh-CN" altLang="zh-CN" dirty="0">
                    <a:latin typeface="Cambria" panose="02040503050406030204" pitchFamily="18" charset="0"/>
                  </a:rPr>
                  <a:t>与坐标</a:t>
                </a:r>
                <a14:m>
                  <m:oMath xmlns:m="http://schemas.openxmlformats.org/officeDocument/2006/math">
                    <m:d>
                      <m:dPr>
                        <m:ctrlPr>
                          <a:rPr lang="zh-CN" altLang="zh-CN" i="1">
                            <a:latin typeface="Cambria Math"/>
                          </a:rPr>
                        </m:ctrlPr>
                      </m:dPr>
                      <m:e>
                        <m:sSub>
                          <m:sSubPr>
                            <m:ctrlPr>
                              <a:rPr lang="zh-CN" altLang="zh-CN" i="1">
                                <a:latin typeface="Cambria Math"/>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zh-CN" altLang="zh-CN" i="1">
                                <a:latin typeface="Cambria Math"/>
                              </a:rPr>
                            </m:ctrlPr>
                          </m:sSubPr>
                          <m:e>
                            <m:r>
                              <a:rPr lang="en-US" altLang="zh-CN" i="1">
                                <a:latin typeface="Cambria Math" panose="02040503050406030204" pitchFamily="18" charset="0"/>
                              </a:rPr>
                              <m:t>𝑦</m:t>
                            </m:r>
                          </m:e>
                          <m:sub>
                            <m:r>
                              <a:rPr lang="en-US" altLang="zh-CN" i="1">
                                <a:latin typeface="Cambria Math" panose="02040503050406030204" pitchFamily="18" charset="0"/>
                              </a:rPr>
                              <m:t>2</m:t>
                            </m:r>
                          </m:sub>
                        </m:sSub>
                      </m:e>
                    </m:d>
                  </m:oMath>
                </a14:m>
                <a:r>
                  <a:rPr lang="zh-CN" altLang="zh-CN" dirty="0">
                    <a:latin typeface="Cambria" panose="02040503050406030204" pitchFamily="18" charset="0"/>
                  </a:rPr>
                  <a:t>的点</a:t>
                </a:r>
                <a14:m>
                  <m:oMath xmlns:m="http://schemas.openxmlformats.org/officeDocument/2006/math">
                    <m:sSub>
                      <m:sSubPr>
                        <m:ctrlPr>
                          <a:rPr lang="zh-CN" altLang="zh-CN" i="1">
                            <a:latin typeface="Cambria Math"/>
                          </a:rPr>
                        </m:ctrlPr>
                      </m:sSubPr>
                      <m:e>
                        <m:r>
                          <a:rPr lang="en-US" altLang="zh-CN" i="1">
                            <a:latin typeface="Cambria Math" panose="02040503050406030204" pitchFamily="18" charset="0"/>
                          </a:rPr>
                          <m:t>𝑃</m:t>
                        </m:r>
                      </m:e>
                      <m:sub>
                        <m:r>
                          <a:rPr lang="en-US" altLang="zh-CN" i="1">
                            <a:latin typeface="Cambria Math" panose="02040503050406030204" pitchFamily="18" charset="0"/>
                          </a:rPr>
                          <m:t>2</m:t>
                        </m:r>
                      </m:sub>
                    </m:sSub>
                  </m:oMath>
                </a14:m>
                <a:r>
                  <a:rPr lang="zh-CN" altLang="zh-CN" dirty="0">
                    <a:latin typeface="Cambria" panose="02040503050406030204" pitchFamily="18" charset="0"/>
                  </a:rPr>
                  <a:t>的曼哈顿距离为：</a:t>
                </a:r>
                <a:endParaRPr lang="en-US" altLang="zh-CN" dirty="0">
                  <a:latin typeface="Cambria" panose="02040503050406030204" pitchFamily="18" charset="0"/>
                  <a:ea typeface="Cambria" panose="02040503050406030204" pitchFamily="18" charset="0"/>
                </a:endParaRPr>
              </a:p>
            </p:txBody>
          </p:sp>
        </mc:Choice>
        <mc:Fallback>
          <p:sp>
            <p:nvSpPr>
              <p:cNvPr id="19" name="内容占位符 2"/>
              <p:cNvSpPr>
                <a:spLocks noGrp="1" noRot="1" noChangeAspect="1" noMove="1" noResize="1" noEditPoints="1" noAdjustHandles="1" noChangeArrowheads="1" noChangeShapeType="1" noTextEdit="1"/>
              </p:cNvSpPr>
              <p:nvPr>
                <p:ph idx="1"/>
              </p:nvPr>
            </p:nvSpPr>
            <p:spPr>
              <a:xfrm>
                <a:off x="1480185" y="2098675"/>
                <a:ext cx="7374255" cy="2425700"/>
              </a:xfrm>
              <a:blipFill rotWithShape="0">
                <a:blip r:embed="rId1"/>
                <a:stretch>
                  <a:fillRect l="-906" r="-1007" b="-2761"/>
                </a:stretch>
              </a:blipFill>
            </p:spPr>
            <p:txBody>
              <a:bodyPr/>
              <a:lstStyle/>
              <a:p>
                <a:r>
                  <a:rPr lang="zh-CN" altLang="en-US">
                    <a:noFill/>
                  </a:rPr>
                  <a:t> </a:t>
                </a:r>
                <a:endParaRPr lang="zh-CN" altLang="en-US">
                  <a:noFill/>
                </a:endParaRPr>
              </a:p>
            </p:txBody>
          </p:sp>
        </mc:Fallback>
      </mc:AlternateContent>
      <p:sp>
        <p:nvSpPr>
          <p:cNvPr id="22" name="内容占位符 3"/>
          <p:cNvSpPr txBox="1"/>
          <p:nvPr/>
        </p:nvSpPr>
        <p:spPr>
          <a:xfrm>
            <a:off x="2282278" y="1014224"/>
            <a:ext cx="8346723" cy="648072"/>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rgbClr val="83AA67"/>
              </a:buClr>
              <a:buSzPct val="100000"/>
              <a:buFont typeface="Wingdings" panose="05000000000000000000" pitchFamily="2" charset="2"/>
              <a:buNone/>
              <a:defRPr sz="24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en-US" altLang="zh-CN" sz="3200" dirty="0" smtClean="0">
                <a:latin typeface="Cambria" panose="02040503050406030204" pitchFamily="18" charset="0"/>
                <a:ea typeface="Cambria" panose="02040503050406030204" pitchFamily="18" charset="0"/>
              </a:rPr>
              <a:t>3 </a:t>
            </a:r>
            <a:r>
              <a:rPr lang="zh-CN" altLang="en-US" sz="3200" dirty="0" smtClean="0">
                <a:latin typeface="Cambria" panose="02040503050406030204" pitchFamily="18" charset="0"/>
              </a:rPr>
              <a:t>曼哈顿</a:t>
            </a:r>
            <a:r>
              <a:rPr lang="zh-CN" altLang="zh-CN" sz="3200" dirty="0" smtClean="0">
                <a:latin typeface="Cambria" panose="02040503050406030204" pitchFamily="18" charset="0"/>
              </a:rPr>
              <a:t>距离</a:t>
            </a:r>
            <a:endParaRPr lang="zh-CN" altLang="zh-CN" sz="3200" dirty="0" smtClean="0">
              <a:latin typeface="Cambria" panose="02040503050406030204" pitchFamily="18" charset="0"/>
            </a:endParaRPr>
          </a:p>
        </p:txBody>
      </p:sp>
      <p:graphicFrame>
        <p:nvGraphicFramePr>
          <p:cNvPr id="29" name="对象 28"/>
          <p:cNvGraphicFramePr>
            <a:graphicFrameLocks noChangeAspect="1"/>
          </p:cNvGraphicFramePr>
          <p:nvPr/>
        </p:nvGraphicFramePr>
        <p:xfrm>
          <a:off x="2416175" y="4817745"/>
          <a:ext cx="5278755" cy="634365"/>
        </p:xfrm>
        <a:graphic>
          <a:graphicData uri="http://schemas.openxmlformats.org/presentationml/2006/ole">
            <mc:AlternateContent xmlns:mc="http://schemas.openxmlformats.org/markup-compatibility/2006">
              <mc:Choice xmlns:v="urn:schemas-microsoft-com:vml" Requires="v">
                <p:oleObj spid="_x0000_s13476" name="Equation" r:id="rId2" imgW="71018400" imgH="8534400" progId="Equation.DSMT4">
                  <p:embed/>
                </p:oleObj>
              </mc:Choice>
              <mc:Fallback>
                <p:oleObj name="Equation" r:id="rId2" imgW="71018400" imgH="8534400" progId="Equation.DSMT4">
                  <p:embed/>
                  <p:pic>
                    <p:nvPicPr>
                      <p:cNvPr id="0" name="图片 13475"/>
                      <p:cNvPicPr/>
                      <p:nvPr/>
                    </p:nvPicPr>
                    <p:blipFill>
                      <a:blip r:embed="rId3"/>
                      <a:stretch>
                        <a:fillRect/>
                      </a:stretch>
                    </p:blipFill>
                    <p:spPr>
                      <a:xfrm>
                        <a:off x="2416175" y="4817745"/>
                        <a:ext cx="5278755" cy="634365"/>
                      </a:xfrm>
                      <a:prstGeom prst="rect">
                        <a:avLst/>
                      </a:prstGeom>
                    </p:spPr>
                  </p:pic>
                </p:oleObj>
              </mc:Fallback>
            </mc:AlternateContent>
          </a:graphicData>
        </a:graphic>
      </p:graphicFrame>
      <p:pic>
        <p:nvPicPr>
          <p:cNvPr id="16" name="图片 15"/>
          <p:cNvPicPr/>
          <p:nvPr/>
        </p:nvPicPr>
        <p:blipFill>
          <a:blip r:embed="rId4">
            <a:extLst>
              <a:ext uri="{28A0092B-C50C-407E-A947-70E740481C1C}">
                <a14:useLocalDpi xmlns:a14="http://schemas.microsoft.com/office/drawing/2010/main" val="0"/>
              </a:ext>
            </a:extLst>
          </a:blip>
          <a:srcRect/>
          <a:stretch>
            <a:fillRect/>
          </a:stretch>
        </p:blipFill>
        <p:spPr bwMode="auto">
          <a:xfrm>
            <a:off x="9029289" y="2182571"/>
            <a:ext cx="2706215" cy="2493152"/>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9" name="内容占位符 2"/>
              <p:cNvSpPr>
                <a:spLocks noGrp="1"/>
              </p:cNvSpPr>
              <p:nvPr>
                <p:ph idx="1"/>
              </p:nvPr>
            </p:nvSpPr>
            <p:spPr>
              <a:xfrm>
                <a:off x="1132390" y="2501281"/>
                <a:ext cx="8480060" cy="1271239"/>
              </a:xfrm>
            </p:spPr>
            <p:txBody>
              <a:bodyPr>
                <a:noAutofit/>
              </a:bodyPr>
              <a:lstStyle/>
              <a:p>
                <a:r>
                  <a:rPr lang="zh-CN" altLang="zh-CN" dirty="0">
                    <a:latin typeface="Cambria" panose="02040503050406030204" pitchFamily="18" charset="0"/>
                  </a:rPr>
                  <a:t>闵可夫斯基距离定义中，当</a:t>
                </a:r>
                <a14:m>
                  <m:oMath xmlns:m="http://schemas.openxmlformats.org/officeDocument/2006/math">
                    <m:r>
                      <a:rPr lang="en-US" altLang="zh-CN" i="1">
                        <a:latin typeface="Cambria Math" panose="02040503050406030204" pitchFamily="18" charset="0"/>
                      </a:rPr>
                      <m:t>𝑝</m:t>
                    </m:r>
                    <m:r>
                      <a:rPr lang="en-US" altLang="zh-CN" i="1">
                        <a:latin typeface="Cambria Math" panose="02040503050406030204" pitchFamily="18" charset="0"/>
                      </a:rPr>
                      <m:t>=+</m:t>
                    </m:r>
                    <m:r>
                      <a:rPr lang="en-US" altLang="zh-CN">
                        <a:latin typeface="Cambria Math" panose="02040503050406030204" pitchFamily="18" charset="0"/>
                      </a:rPr>
                      <m:t>∞</m:t>
                    </m:r>
                  </m:oMath>
                </a14:m>
                <a:r>
                  <a:rPr lang="zh-CN" altLang="zh-CN" dirty="0">
                    <a:latin typeface="Cambria" panose="02040503050406030204" pitchFamily="18" charset="0"/>
                  </a:rPr>
                  <a:t>时，称为切比雪夫距离（</a:t>
                </a:r>
                <a:r>
                  <a:rPr lang="en-US" altLang="zh-CN" dirty="0">
                    <a:latin typeface="Cambria" panose="02040503050406030204" pitchFamily="18" charset="0"/>
                    <a:ea typeface="Cambria" panose="02040503050406030204" pitchFamily="18" charset="0"/>
                  </a:rPr>
                  <a:t>Chebyshev Distance</a:t>
                </a:r>
                <a:r>
                  <a:rPr lang="zh-CN" altLang="zh-CN" dirty="0">
                    <a:latin typeface="Cambria" panose="02040503050406030204" pitchFamily="18" charset="0"/>
                  </a:rPr>
                  <a:t>）。切比雪夫距离起源于国际象棋中国王的走法。“国王”每次只能往周围的</a:t>
                </a:r>
                <a:r>
                  <a:rPr lang="en-US" altLang="zh-CN" dirty="0">
                    <a:latin typeface="Cambria" panose="02040503050406030204" pitchFamily="18" charset="0"/>
                    <a:ea typeface="Cambria" panose="02040503050406030204" pitchFamily="18" charset="0"/>
                  </a:rPr>
                  <a:t>8</a:t>
                </a:r>
                <a:r>
                  <a:rPr lang="zh-CN" altLang="zh-CN" dirty="0">
                    <a:latin typeface="Cambria" panose="02040503050406030204" pitchFamily="18" charset="0"/>
                  </a:rPr>
                  <a:t>格中走一步，那么如果要从棋盘中</a:t>
                </a:r>
                <a14:m>
                  <m:oMath xmlns:m="http://schemas.openxmlformats.org/officeDocument/2006/math">
                    <m:r>
                      <a:rPr lang="en-US" altLang="zh-CN" i="1">
                        <a:latin typeface="Cambria Math" panose="02040503050406030204" pitchFamily="18" charset="0"/>
                      </a:rPr>
                      <m:t>𝐴</m:t>
                    </m:r>
                  </m:oMath>
                </a14:m>
                <a:r>
                  <a:rPr lang="zh-CN" altLang="zh-CN" dirty="0" smtClean="0">
                    <a:latin typeface="Cambria" panose="02040503050406030204" pitchFamily="18" charset="0"/>
                  </a:rPr>
                  <a:t>格</a:t>
                </a:r>
                <a:r>
                  <a:rPr lang="en-US" altLang="zh-CN" dirty="0" smtClean="0">
                    <a:latin typeface="Cambria" panose="02040503050406030204" pitchFamily="18" charset="0"/>
                    <a:ea typeface="Cambria" panose="02040503050406030204" pitchFamily="18" charset="0"/>
                  </a:rPr>
                  <a:t>               </a:t>
                </a:r>
                <a:r>
                  <a:rPr lang="zh-CN" altLang="zh-CN" dirty="0" smtClean="0">
                    <a:latin typeface="Cambria" panose="02040503050406030204" pitchFamily="18" charset="0"/>
                  </a:rPr>
                  <a:t>走到</a:t>
                </a:r>
                <a14:m>
                  <m:oMath xmlns:m="http://schemas.openxmlformats.org/officeDocument/2006/math">
                    <m:r>
                      <a:rPr lang="en-US" altLang="zh-CN" i="1">
                        <a:latin typeface="Cambria Math" panose="02040503050406030204" pitchFamily="18" charset="0"/>
                      </a:rPr>
                      <m:t>𝐵</m:t>
                    </m:r>
                  </m:oMath>
                </a14:m>
                <a:r>
                  <a:rPr lang="zh-CN" altLang="zh-CN" dirty="0" smtClean="0">
                    <a:latin typeface="Cambria" panose="02040503050406030204" pitchFamily="18" charset="0"/>
                  </a:rPr>
                  <a:t>格</a:t>
                </a:r>
                <a:endParaRPr lang="en-US" altLang="zh-CN" dirty="0">
                  <a:latin typeface="Cambria" panose="02040503050406030204" pitchFamily="18" charset="0"/>
                  <a:ea typeface="Cambria" panose="02040503050406030204" pitchFamily="18" charset="0"/>
                </a:endParaRPr>
              </a:p>
            </p:txBody>
          </p:sp>
        </mc:Choice>
        <mc:Fallback>
          <p:sp>
            <p:nvSpPr>
              <p:cNvPr id="19" name="内容占位符 2"/>
              <p:cNvSpPr>
                <a:spLocks noGrp="1" noRot="1" noChangeAspect="1" noMove="1" noResize="1" noEditPoints="1" noAdjustHandles="1" noChangeArrowheads="1" noChangeShapeType="1" noTextEdit="1"/>
              </p:cNvSpPr>
              <p:nvPr>
                <p:ph idx="1"/>
              </p:nvPr>
            </p:nvSpPr>
            <p:spPr>
              <a:xfrm>
                <a:off x="1414145" y="1778635"/>
                <a:ext cx="10504170" cy="1574800"/>
              </a:xfrm>
              <a:blipFill rotWithShape="0">
                <a:blip r:embed="rId1"/>
                <a:stretch>
                  <a:fillRect l="-647" b="-3828"/>
                </a:stretch>
              </a:blipFill>
            </p:spPr>
            <p:txBody>
              <a:bodyPr/>
              <a:lstStyle/>
              <a:p>
                <a:r>
                  <a:rPr lang="zh-CN" altLang="en-US">
                    <a:noFill/>
                  </a:rPr>
                  <a:t> </a:t>
                </a:r>
                <a:endParaRPr lang="zh-CN" altLang="en-US">
                  <a:noFill/>
                </a:endParaRPr>
              </a:p>
            </p:txBody>
          </p:sp>
        </mc:Fallback>
      </mc:AlternateContent>
      <p:sp>
        <p:nvSpPr>
          <p:cNvPr id="22" name="内容占位符 3"/>
          <p:cNvSpPr txBox="1"/>
          <p:nvPr/>
        </p:nvSpPr>
        <p:spPr>
          <a:xfrm>
            <a:off x="2408352" y="888385"/>
            <a:ext cx="5541113" cy="648072"/>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rgbClr val="83AA67"/>
              </a:buClr>
              <a:buSzPct val="100000"/>
              <a:buFont typeface="Wingdings" panose="05000000000000000000" pitchFamily="2" charset="2"/>
              <a:buNone/>
              <a:defRPr sz="24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en-US" altLang="zh-CN" sz="2800" dirty="0" smtClean="0">
                <a:latin typeface="Cambria" panose="02040503050406030204" pitchFamily="18" charset="0"/>
                <a:ea typeface="Cambria" panose="02040503050406030204" pitchFamily="18" charset="0"/>
              </a:rPr>
              <a:t>4 </a:t>
            </a:r>
            <a:r>
              <a:rPr lang="zh-CN" altLang="zh-CN" sz="2800" dirty="0" smtClean="0">
                <a:latin typeface="Cambria" panose="02040503050406030204" pitchFamily="18" charset="0"/>
              </a:rPr>
              <a:t>切比雪夫距离</a:t>
            </a:r>
            <a:endParaRPr lang="zh-CN" altLang="zh-CN" sz="2800" dirty="0" smtClean="0">
              <a:latin typeface="Cambria" panose="02040503050406030204" pitchFamily="18" charset="0"/>
            </a:endParaRPr>
          </a:p>
        </p:txBody>
      </p:sp>
      <mc:AlternateContent xmlns:mc="http://schemas.openxmlformats.org/markup-compatibility/2006">
        <mc:Choice xmlns:a14="http://schemas.microsoft.com/office/drawing/2010/main" Requires="a14">
          <p:sp>
            <p:nvSpPr>
              <p:cNvPr id="29" name="内容占位符 2"/>
              <p:cNvSpPr>
                <a:spLocks noGrp="1"/>
              </p:cNvSpPr>
              <p:nvPr>
                <p:ph idx="1"/>
              </p:nvPr>
            </p:nvSpPr>
            <p:spPr>
              <a:xfrm>
                <a:off x="1441492" y="3595365"/>
                <a:ext cx="8480060" cy="913755"/>
              </a:xfrm>
            </p:spPr>
            <p:txBody>
              <a:bodyPr>
                <a:noAutofit/>
              </a:bodyPr>
              <a:lstStyle/>
              <a:p>
                <a:pPr marL="0" indent="0">
                  <a:buNone/>
                </a:pPr>
                <a:r>
                  <a:rPr lang="zh-CN" altLang="en-US" dirty="0" smtClean="0">
                    <a:latin typeface="Cambria" panose="02040503050406030204" pitchFamily="18" charset="0"/>
                  </a:rPr>
                  <a:t>          最少要走几步？假设                                           ，                              </a:t>
                </a:r>
                <a:r>
                  <a:rPr lang="zh-CN" altLang="zh-CN" dirty="0" smtClean="0">
                    <a:latin typeface="Cambria" panose="02040503050406030204" pitchFamily="18" charset="0"/>
                  </a:rPr>
                  <a:t>是</a:t>
                </a:r>
                <a14:m>
                  <m:oMath xmlns:m="http://schemas.openxmlformats.org/officeDocument/2006/math">
                    <m:r>
                      <a:rPr lang="en-US" altLang="zh-CN" i="1">
                        <a:latin typeface="Cambria Math" panose="02040503050406030204" pitchFamily="18" charset="0"/>
                      </a:rPr>
                      <m:t>𝑛</m:t>
                    </m:r>
                    <m:r>
                      <a:rPr lang="en-US" altLang="zh-CN" i="1">
                        <a:latin typeface="Cambria Math" panose="02040503050406030204" pitchFamily="18" charset="0"/>
                      </a:rPr>
                      <m:t> </m:t>
                    </m:r>
                  </m:oMath>
                </a14:m>
                <a:r>
                  <a:rPr lang="zh-CN" altLang="zh-CN" dirty="0">
                    <a:latin typeface="Cambria" panose="02040503050406030204" pitchFamily="18" charset="0"/>
                  </a:rPr>
                  <a:t>维空间的两个向量，它们之间的切比雪夫距离是：</a:t>
                </a:r>
                <a:endParaRPr lang="en-US" altLang="zh-CN" dirty="0">
                  <a:latin typeface="Cambria" panose="02040503050406030204" pitchFamily="18" charset="0"/>
                  <a:ea typeface="Cambria" panose="02040503050406030204" pitchFamily="18" charset="0"/>
                </a:endParaRPr>
              </a:p>
            </p:txBody>
          </p:sp>
        </mc:Choice>
        <mc:Fallback>
          <p:sp>
            <p:nvSpPr>
              <p:cNvPr id="29" name="内容占位符 2"/>
              <p:cNvSpPr>
                <a:spLocks noGrp="1" noRot="1" noChangeAspect="1" noMove="1" noResize="1" noEditPoints="1" noAdjustHandles="1" noChangeArrowheads="1" noChangeShapeType="1" noTextEdit="1"/>
              </p:cNvSpPr>
              <p:nvPr>
                <p:ph idx="1"/>
              </p:nvPr>
            </p:nvSpPr>
            <p:spPr>
              <a:xfrm>
                <a:off x="1450340" y="3203575"/>
                <a:ext cx="10259060" cy="1105535"/>
              </a:xfrm>
              <a:blipFill rotWithShape="0">
                <a:blip r:embed="rId2"/>
                <a:stretch>
                  <a:fillRect l="-718" b="-4667"/>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mc:Choice xmlns:a14="http://schemas.microsoft.com/office/drawing/2010/main" Requires="a14">
          <p:sp>
            <p:nvSpPr>
              <p:cNvPr id="21" name="矩形 20"/>
              <p:cNvSpPr/>
              <p:nvPr/>
            </p:nvSpPr>
            <p:spPr>
              <a:xfrm>
                <a:off x="1265727" y="3667937"/>
                <a:ext cx="982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zh-CN" altLang="en-US" i="1">
                              <a:latin typeface="Cambria Math"/>
                            </a:rPr>
                          </m:ctrlPr>
                        </m:dPr>
                        <m:e>
                          <m:sSub>
                            <m:sSubPr>
                              <m:ctrlPr>
                                <a:rPr lang="zh-CN" altLang="en-US" i="1">
                                  <a:latin typeface="Cambria Math"/>
                                </a:rPr>
                              </m:ctrlPr>
                            </m:sSubPr>
                            <m:e>
                              <m:r>
                                <a:rPr lang="zh-CN" altLang="en-US" i="1">
                                  <a:latin typeface="Cambria Math" panose="02040503050406030204" pitchFamily="18" charset="0"/>
                                </a:rPr>
                                <m:t>𝑥</m:t>
                              </m:r>
                            </m:e>
                            <m:sub>
                              <m:r>
                                <a:rPr lang="en-US" altLang="zh-CN" i="1" smtClean="0">
                                  <a:latin typeface="Cambria Math" panose="02040503050406030204" pitchFamily="18" charset="0"/>
                                </a:rPr>
                                <m:t>2</m:t>
                              </m:r>
                            </m:sub>
                          </m:sSub>
                          <m:r>
                            <a:rPr lang="zh-CN" altLang="en-US" i="0">
                              <a:latin typeface="Cambria Math" panose="02040503050406030204" pitchFamily="18" charset="0"/>
                            </a:rPr>
                            <m:t>,</m:t>
                          </m:r>
                          <m:sSub>
                            <m:sSubPr>
                              <m:ctrlPr>
                                <a:rPr lang="zh-CN" altLang="en-US" i="1">
                                  <a:latin typeface="Cambria Math"/>
                                </a:rPr>
                              </m:ctrlPr>
                            </m:sSubPr>
                            <m:e>
                              <m:r>
                                <a:rPr lang="zh-CN" altLang="en-US" i="1">
                                  <a:latin typeface="Cambria Math" panose="02040503050406030204" pitchFamily="18" charset="0"/>
                                </a:rPr>
                                <m:t>𝑦</m:t>
                              </m:r>
                            </m:e>
                            <m:sub>
                              <m:r>
                                <a:rPr lang="en-US" altLang="zh-CN" i="1" smtClean="0">
                                  <a:latin typeface="Cambria Math" panose="02040503050406030204" pitchFamily="18" charset="0"/>
                                </a:rPr>
                                <m:t>2</m:t>
                              </m:r>
                            </m:sub>
                          </m:sSub>
                        </m:e>
                      </m:d>
                    </m:oMath>
                  </m:oMathPara>
                </a14:m>
                <a:endParaRPr lang="zh-CN" altLang="en-US" dirty="0">
                  <a:latin typeface="Cambria" panose="02040503050406030204" pitchFamily="18" charset="0"/>
                </a:endParaRPr>
              </a:p>
            </p:txBody>
          </p:sp>
        </mc:Choice>
        <mc:Fallback>
          <p:sp>
            <p:nvSpPr>
              <p:cNvPr id="21" name="矩形 20"/>
              <p:cNvSpPr>
                <a:spLocks noRot="1" noChangeAspect="1" noMove="1" noResize="1" noEditPoints="1" noAdjustHandles="1" noChangeArrowheads="1" noChangeShapeType="1" noTextEdit="1"/>
              </p:cNvSpPr>
              <p:nvPr/>
            </p:nvSpPr>
            <p:spPr>
              <a:xfrm>
                <a:off x="1136015" y="3288665"/>
                <a:ext cx="1188085" cy="447040"/>
              </a:xfrm>
              <a:prstGeom prst="rect">
                <a:avLst/>
              </a:prstGeom>
              <a:blipFill rotWithShape="0">
                <a:blip r:embed="rId3"/>
                <a:stretch>
                  <a:fillRect b="-8333"/>
                </a:stretch>
              </a:blipFill>
            </p:spPr>
            <p:txBody>
              <a:bodyPr/>
              <a:lstStyle/>
              <a:p>
                <a:r>
                  <a:rPr lang="zh-CN" altLang="en-US">
                    <a:noFill/>
                  </a:rPr>
                  <a:t> </a:t>
                </a:r>
                <a:endParaRPr lang="zh-CN" altLang="en-US">
                  <a:noFill/>
                </a:endParaRPr>
              </a:p>
            </p:txBody>
          </p:sp>
        </mc:Fallback>
      </mc:AlternateContent>
      <p:graphicFrame>
        <p:nvGraphicFramePr>
          <p:cNvPr id="24" name="对象 23"/>
          <p:cNvGraphicFramePr>
            <a:graphicFrameLocks noChangeAspect="1"/>
          </p:cNvGraphicFramePr>
          <p:nvPr/>
        </p:nvGraphicFramePr>
        <p:xfrm>
          <a:off x="5473065" y="3353435"/>
          <a:ext cx="2212975" cy="334010"/>
        </p:xfrm>
        <a:graphic>
          <a:graphicData uri="http://schemas.openxmlformats.org/presentationml/2006/ole">
            <mc:AlternateContent xmlns:mc="http://schemas.openxmlformats.org/markup-compatibility/2006">
              <mc:Choice xmlns:v="urn:schemas-microsoft-com:vml" Requires="v">
                <p:oleObj spid="_x0000_s17009" name="Equation" r:id="rId4" imgW="37795200" imgH="8534400" progId="Equation.DSMT4">
                  <p:embed/>
                </p:oleObj>
              </mc:Choice>
              <mc:Fallback>
                <p:oleObj name="Equation" r:id="rId4" imgW="37795200" imgH="8534400" progId="Equation.DSMT4">
                  <p:embed/>
                  <p:pic>
                    <p:nvPicPr>
                      <p:cNvPr id="0" name="图片 17008"/>
                      <p:cNvPicPr>
                        <a:picLocks noChangeAspect="1" noChangeArrowheads="1"/>
                      </p:cNvPicPr>
                      <p:nvPr/>
                    </p:nvPicPr>
                    <p:blipFill>
                      <a:blip r:embed="rId5"/>
                      <a:srcRect/>
                      <a:stretch>
                        <a:fillRect/>
                      </a:stretch>
                    </p:blipFill>
                    <p:spPr bwMode="auto">
                      <a:xfrm>
                        <a:off x="5473065" y="3353435"/>
                        <a:ext cx="2212975" cy="334010"/>
                      </a:xfrm>
                      <a:prstGeom prst="rect">
                        <a:avLst/>
                      </a:prstGeom>
                      <a:noFill/>
                    </p:spPr>
                  </p:pic>
                </p:oleObj>
              </mc:Fallback>
            </mc:AlternateContent>
          </a:graphicData>
        </a:graphic>
      </p:graphicFrame>
      <p:graphicFrame>
        <p:nvGraphicFramePr>
          <p:cNvPr id="27" name="对象 26"/>
          <p:cNvGraphicFramePr>
            <a:graphicFrameLocks noChangeAspect="1"/>
          </p:cNvGraphicFramePr>
          <p:nvPr/>
        </p:nvGraphicFramePr>
        <p:xfrm>
          <a:off x="7949565" y="3317240"/>
          <a:ext cx="1953895" cy="418465"/>
        </p:xfrm>
        <a:graphic>
          <a:graphicData uri="http://schemas.openxmlformats.org/presentationml/2006/ole">
            <mc:AlternateContent xmlns:mc="http://schemas.openxmlformats.org/markup-compatibility/2006">
              <mc:Choice xmlns:v="urn:schemas-microsoft-com:vml" Requires="v">
                <p:oleObj spid="_x0000_s17010" name="Equation" r:id="rId6" imgW="39014400" imgH="8534400" progId="Equation.DSMT4">
                  <p:embed/>
                </p:oleObj>
              </mc:Choice>
              <mc:Fallback>
                <p:oleObj name="Equation" r:id="rId6" imgW="39014400" imgH="8534400" progId="Equation.DSMT4">
                  <p:embed/>
                  <p:pic>
                    <p:nvPicPr>
                      <p:cNvPr id="0" name="图片 17009"/>
                      <p:cNvPicPr>
                        <a:picLocks noChangeAspect="1" noChangeArrowheads="1"/>
                      </p:cNvPicPr>
                      <p:nvPr/>
                    </p:nvPicPr>
                    <p:blipFill>
                      <a:blip r:embed="rId7"/>
                      <a:srcRect/>
                      <a:stretch>
                        <a:fillRect/>
                      </a:stretch>
                    </p:blipFill>
                    <p:spPr bwMode="auto">
                      <a:xfrm>
                        <a:off x="7949565" y="3317240"/>
                        <a:ext cx="1953895" cy="4184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nvGraphicFramePr>
        <p:xfrm>
          <a:off x="2807970" y="4518660"/>
          <a:ext cx="7159625" cy="1134745"/>
        </p:xfrm>
        <a:graphic>
          <a:graphicData uri="http://schemas.openxmlformats.org/presentationml/2006/ole">
            <mc:AlternateContent xmlns:mc="http://schemas.openxmlformats.org/markup-compatibility/2006">
              <mc:Choice xmlns:v="urn:schemas-microsoft-com:vml" Requires="v">
                <p:oleObj spid="_x0000_s17011" name="Equation" r:id="rId8" imgW="111556800" imgH="17678400" progId="Equation.DSMT4">
                  <p:embed/>
                </p:oleObj>
              </mc:Choice>
              <mc:Fallback>
                <p:oleObj name="Equation" r:id="rId8" imgW="111556800" imgH="17678400" progId="Equation.DSMT4">
                  <p:embed/>
                  <p:pic>
                    <p:nvPicPr>
                      <p:cNvPr id="0" name="Object 6"/>
                      <p:cNvPicPr>
                        <a:picLocks noChangeAspect="1" noChangeArrowheads="1"/>
                      </p:cNvPicPr>
                      <p:nvPr/>
                    </p:nvPicPr>
                    <p:blipFill>
                      <a:blip r:embed="rId9"/>
                      <a:srcRect/>
                      <a:stretch>
                        <a:fillRect/>
                      </a:stretch>
                    </p:blipFill>
                    <p:spPr bwMode="auto">
                      <a:xfrm>
                        <a:off x="2807970" y="4518660"/>
                        <a:ext cx="7159625" cy="11347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mc:Choice xmlns:a14="http://schemas.microsoft.com/office/drawing/2010/main" Requires="a14">
          <p:sp>
            <p:nvSpPr>
              <p:cNvPr id="28" name="矩形 27"/>
              <p:cNvSpPr/>
              <p:nvPr/>
            </p:nvSpPr>
            <p:spPr>
              <a:xfrm>
                <a:off x="7617296" y="3291462"/>
                <a:ext cx="96218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zh-CN" altLang="en-US" i="1">
                              <a:latin typeface="Cambria Math"/>
                            </a:rPr>
                          </m:ctrlPr>
                        </m:dPr>
                        <m:e>
                          <m:sSub>
                            <m:sSubPr>
                              <m:ctrlPr>
                                <a:rPr lang="zh-CN" altLang="en-US" i="1">
                                  <a:latin typeface="Cambria Math"/>
                                </a:rPr>
                              </m:ctrlPr>
                            </m:sSubPr>
                            <m:e>
                              <m:r>
                                <a:rPr lang="zh-CN" altLang="en-US" i="1">
                                  <a:latin typeface="Cambria Math" panose="02040503050406030204" pitchFamily="18" charset="0"/>
                                </a:rPr>
                                <m:t>𝑥</m:t>
                              </m:r>
                            </m:e>
                            <m:sub>
                              <m:r>
                                <a:rPr lang="en-US" altLang="zh-CN" i="1" smtClean="0">
                                  <a:latin typeface="Cambria Math" panose="02040503050406030204" pitchFamily="18" charset="0"/>
                                </a:rPr>
                                <m:t>1</m:t>
                              </m:r>
                            </m:sub>
                          </m:sSub>
                          <m:r>
                            <a:rPr lang="zh-CN" altLang="en-US" i="0">
                              <a:latin typeface="Cambria Math" panose="02040503050406030204" pitchFamily="18" charset="0"/>
                            </a:rPr>
                            <m:t>,</m:t>
                          </m:r>
                          <m:sSub>
                            <m:sSubPr>
                              <m:ctrlPr>
                                <a:rPr lang="zh-CN" altLang="en-US" i="1">
                                  <a:latin typeface="Cambria Math"/>
                                </a:rPr>
                              </m:ctrlPr>
                            </m:sSubPr>
                            <m:e>
                              <m:r>
                                <a:rPr lang="zh-CN" altLang="en-US" i="1">
                                  <a:latin typeface="Cambria Math" panose="02040503050406030204" pitchFamily="18" charset="0"/>
                                </a:rPr>
                                <m:t>𝑦</m:t>
                              </m:r>
                            </m:e>
                            <m:sub>
                              <m:r>
                                <a:rPr lang="en-US" altLang="zh-CN" i="1" smtClean="0">
                                  <a:latin typeface="Cambria Math" panose="02040503050406030204" pitchFamily="18" charset="0"/>
                                </a:rPr>
                                <m:t>1</m:t>
                              </m:r>
                            </m:sub>
                          </m:sSub>
                        </m:e>
                      </m:d>
                    </m:oMath>
                  </m:oMathPara>
                </a14:m>
                <a:endParaRPr lang="zh-CN" altLang="en-US" dirty="0">
                  <a:latin typeface="Cambria" panose="02040503050406030204" pitchFamily="18" charset="0"/>
                </a:endParaRPr>
              </a:p>
            </p:txBody>
          </p:sp>
        </mc:Choice>
        <mc:Fallback>
          <p:sp>
            <p:nvSpPr>
              <p:cNvPr id="28" name="矩形 27"/>
              <p:cNvSpPr>
                <a:spLocks noRot="1" noChangeAspect="1" noMove="1" noResize="1" noEditPoints="1" noAdjustHandles="1" noChangeArrowheads="1" noChangeShapeType="1" noTextEdit="1"/>
              </p:cNvSpPr>
              <p:nvPr/>
            </p:nvSpPr>
            <p:spPr>
              <a:xfrm>
                <a:off x="9670251" y="2837437"/>
                <a:ext cx="962186" cy="369332"/>
              </a:xfrm>
              <a:prstGeom prst="rect">
                <a:avLst/>
              </a:prstGeom>
              <a:blipFill rotWithShape="0">
                <a:blip r:embed="rId10"/>
                <a:stretch>
                  <a:fillRect b="-6557"/>
                </a:stretch>
              </a:blipFill>
            </p:spPr>
            <p:txBody>
              <a:bodyPr/>
              <a:lstStyle/>
              <a:p>
                <a:r>
                  <a:rPr lang="zh-CN" altLang="en-US">
                    <a:noFill/>
                  </a:rPr>
                  <a:t> </a:t>
                </a:r>
                <a:endParaRPr lang="zh-CN" altLang="en-US">
                  <a:noFill/>
                </a:endParaRPr>
              </a:p>
            </p:txBody>
          </p:sp>
        </mc:Fallback>
      </mc:AlternateContent>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424086"/>
            <a:ext cx="8911687" cy="1280890"/>
          </a:xfrm>
        </p:spPr>
        <p:txBody>
          <a:bodyPr/>
          <a:lstStyle/>
          <a:p>
            <a:r>
              <a:rPr lang="en-US" altLang="zh-CN" dirty="0" smtClean="0">
                <a:latin typeface="楷体" panose="02010609060101010101" pitchFamily="49" charset="-122"/>
                <a:ea typeface="楷体" panose="02010609060101010101" pitchFamily="49" charset="-122"/>
              </a:rPr>
              <a:t>8.3  </a:t>
            </a:r>
            <a:r>
              <a:rPr lang="en-US" altLang="zh-CN" dirty="0">
                <a:latin typeface="楷体" panose="02010609060101010101" pitchFamily="49" charset="-122"/>
                <a:ea typeface="楷体" panose="02010609060101010101" pitchFamily="49" charset="-122"/>
              </a:rPr>
              <a:t>K-means </a:t>
            </a:r>
            <a:r>
              <a:rPr lang="zh-CN" altLang="en-US" dirty="0">
                <a:latin typeface="楷体" panose="02010609060101010101" pitchFamily="49" charset="-122"/>
                <a:ea typeface="楷体" panose="02010609060101010101" pitchFamily="49" charset="-122"/>
              </a:rPr>
              <a:t>聚类</a:t>
            </a:r>
            <a:r>
              <a:rPr lang="zh-CN" altLang="en-US" dirty="0" smtClean="0">
                <a:latin typeface="楷体" panose="02010609060101010101" pitchFamily="49" charset="-122"/>
                <a:ea typeface="楷体" panose="02010609060101010101" pitchFamily="49" charset="-122"/>
              </a:rPr>
              <a:t>算法</a:t>
            </a:r>
            <a:r>
              <a:rPr lang="zh-CN" altLang="en-US" dirty="0">
                <a:latin typeface="楷体" panose="02010609060101010101" pitchFamily="49" charset="-122"/>
                <a:ea typeface="楷体" panose="02010609060101010101" pitchFamily="49" charset="-122"/>
              </a:rPr>
              <a:t>实例分析</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2603500" y="1219198"/>
            <a:ext cx="8915400" cy="5195890"/>
          </a:xfrm>
        </p:spPr>
        <p:txBody>
          <a:bodyPr>
            <a:noAutofit/>
          </a:bodyPr>
          <a:lstStyle/>
          <a:p>
            <a:pPr algn="just">
              <a:lnSpc>
                <a:spcPct val="150000"/>
              </a:lnSpc>
            </a:pPr>
            <a:r>
              <a:rPr lang="zh-CN" altLang="en-US" sz="2400" dirty="0" smtClean="0">
                <a:latin typeface="楷体" panose="02010609060101010101" pitchFamily="49" charset="-122"/>
                <a:ea typeface="楷体" panose="02010609060101010101" pitchFamily="49" charset="-122"/>
              </a:rPr>
              <a:t>实例</a:t>
            </a:r>
            <a:r>
              <a:rPr lang="en-US" altLang="zh-CN" sz="2400" dirty="0" smtClean="0">
                <a:latin typeface="楷体" panose="02010609060101010101" pitchFamily="49" charset="-122"/>
                <a:ea typeface="楷体" panose="02010609060101010101" pitchFamily="49" charset="-122"/>
              </a:rPr>
              <a:t>1</a:t>
            </a:r>
            <a:r>
              <a:rPr lang="zh-CN" altLang="zh-CN" sz="2400" dirty="0" smtClean="0">
                <a:latin typeface="楷体" panose="02010609060101010101" pitchFamily="49" charset="-122"/>
                <a:ea typeface="楷体" panose="02010609060101010101" pitchFamily="49" charset="-122"/>
              </a:rPr>
              <a:t>利用</a:t>
            </a:r>
            <a:r>
              <a:rPr lang="en-US" altLang="zh-CN" sz="2400" dirty="0">
                <a:latin typeface="楷体" panose="02010609060101010101" pitchFamily="49" charset="-122"/>
                <a:ea typeface="楷体" panose="02010609060101010101" pitchFamily="49" charset="-122"/>
              </a:rPr>
              <a:t>K-means</a:t>
            </a:r>
            <a:r>
              <a:rPr lang="zh-CN" altLang="zh-CN" sz="2400" dirty="0">
                <a:latin typeface="楷体" panose="02010609060101010101" pitchFamily="49" charset="-122"/>
                <a:ea typeface="楷体" panose="02010609060101010101" pitchFamily="49" charset="-122"/>
              </a:rPr>
              <a:t>方法，把</a:t>
            </a:r>
            <a:r>
              <a:rPr lang="en-US" altLang="zh-CN" sz="2400" dirty="0">
                <a:latin typeface="楷体" panose="02010609060101010101" pitchFamily="49" charset="-122"/>
                <a:ea typeface="楷体" panose="02010609060101010101" pitchFamily="49" charset="-122"/>
              </a:rPr>
              <a:t>A-L 12</a:t>
            </a:r>
            <a:r>
              <a:rPr lang="zh-CN" altLang="zh-CN" sz="2400" dirty="0">
                <a:latin typeface="楷体" panose="02010609060101010101" pitchFamily="49" charset="-122"/>
                <a:ea typeface="楷体" panose="02010609060101010101" pitchFamily="49" charset="-122"/>
              </a:rPr>
              <a:t>个数据分成两类。初始的随机点指定为</a:t>
            </a:r>
            <a:r>
              <a:rPr lang="en-US" altLang="zh-CN" sz="2400" dirty="0">
                <a:latin typeface="楷体" panose="02010609060101010101" pitchFamily="49" charset="-122"/>
                <a:ea typeface="楷体" panose="02010609060101010101" pitchFamily="49" charset="-122"/>
              </a:rPr>
              <a:t>M1(20</a:t>
            </a:r>
            <a:r>
              <a:rPr lang="zh-CN" altLang="zh-CN"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60),M2(80,80)</a:t>
            </a:r>
            <a:r>
              <a:rPr lang="zh-CN" altLang="zh-CN" sz="2400" dirty="0">
                <a:latin typeface="楷体" panose="02010609060101010101" pitchFamily="49" charset="-122"/>
                <a:ea typeface="楷体" panose="02010609060101010101" pitchFamily="49" charset="-122"/>
              </a:rPr>
              <a:t>。列出每一次分类结果及每一类中的平均值（中心点）如</a:t>
            </a:r>
            <a:r>
              <a:rPr lang="zh-CN" altLang="zh-CN" sz="2400" dirty="0" smtClean="0">
                <a:latin typeface="楷体" panose="02010609060101010101" pitchFamily="49" charset="-122"/>
                <a:ea typeface="楷体" panose="02010609060101010101" pitchFamily="49" charset="-122"/>
              </a:rPr>
              <a:t>表所示</a:t>
            </a:r>
            <a:endParaRPr lang="zh-CN" altLang="zh-CN" sz="2400" dirty="0">
              <a:latin typeface="楷体" panose="02010609060101010101" pitchFamily="49" charset="-122"/>
              <a:ea typeface="楷体" panose="02010609060101010101" pitchFamily="49" charset="-122"/>
            </a:endParaRPr>
          </a:p>
          <a:p>
            <a:pPr marL="0" indent="0" algn="just">
              <a:lnSpc>
                <a:spcPct val="150000"/>
              </a:lnSpc>
              <a:buNone/>
            </a:pPr>
            <a:endParaRPr lang="zh-CN" altLang="en-US" sz="2400" dirty="0">
              <a:latin typeface="楷体" panose="02010609060101010101" pitchFamily="49" charset="-122"/>
              <a:ea typeface="楷体" panose="02010609060101010101" pitchFamily="49" charset="-122"/>
            </a:endParaRPr>
          </a:p>
        </p:txBody>
      </p:sp>
      <p:graphicFrame>
        <p:nvGraphicFramePr>
          <p:cNvPr id="4" name="表格 3"/>
          <p:cNvGraphicFramePr>
            <a:graphicFrameLocks noGrp="1"/>
          </p:cNvGraphicFramePr>
          <p:nvPr/>
        </p:nvGraphicFramePr>
        <p:xfrm>
          <a:off x="3046409" y="3019937"/>
          <a:ext cx="8226001" cy="3495167"/>
        </p:xfrm>
        <a:graphic>
          <a:graphicData uri="http://schemas.openxmlformats.org/drawingml/2006/table">
            <a:tbl>
              <a:tblPr>
                <a:tableStyleId>{5C22544A-7EE6-4342-B048-85BDC9FD1C3A}</a:tableStyleId>
              </a:tblPr>
              <a:tblGrid>
                <a:gridCol w="1175143"/>
                <a:gridCol w="1175143"/>
                <a:gridCol w="1175143"/>
                <a:gridCol w="1175143"/>
                <a:gridCol w="1175143"/>
                <a:gridCol w="1175143"/>
                <a:gridCol w="1175143"/>
              </a:tblGrid>
              <a:tr h="268859">
                <a:tc>
                  <a:txBody>
                    <a:bodyPr/>
                    <a:lstStyle/>
                    <a:p>
                      <a:pPr algn="ctr">
                        <a:spcAft>
                          <a:spcPts val="0"/>
                        </a:spcAft>
                      </a:pPr>
                      <a:r>
                        <a:rPr lang="zh-CN" sz="1600" kern="0" dirty="0">
                          <a:effectLst/>
                        </a:rPr>
                        <a:t>坐标点</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X</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Y</a:t>
                      </a:r>
                      <a:endParaRPr lang="zh-CN" sz="1600" kern="100" dirty="0">
                        <a:effectLst/>
                        <a:latin typeface="Times New Roman" panose="02020603050405020304"/>
                        <a:ea typeface="宋体" panose="02010600030101010101" pitchFamily="2" charset="-122"/>
                      </a:endParaRPr>
                    </a:p>
                  </a:txBody>
                  <a:tcPr marL="68580" marR="68580" marT="0" marB="0" anchor="ctr"/>
                </a:tc>
                <a:tc gridSpan="2">
                  <a:txBody>
                    <a:bodyPr/>
                    <a:lstStyle/>
                    <a:p>
                      <a:pPr algn="ctr">
                        <a:spcAft>
                          <a:spcPts val="0"/>
                        </a:spcAft>
                      </a:pPr>
                      <a:r>
                        <a:rPr lang="zh-CN" sz="1600" kern="0" dirty="0">
                          <a:effectLst/>
                        </a:rPr>
                        <a:t>点</a:t>
                      </a:r>
                      <a:r>
                        <a:rPr lang="en-US" sz="1600" kern="0" dirty="0">
                          <a:effectLst/>
                        </a:rPr>
                        <a:t>M1</a:t>
                      </a:r>
                      <a:endParaRPr lang="zh-CN" sz="1600" kern="100" dirty="0">
                        <a:effectLst/>
                        <a:latin typeface="Times New Roman" panose="02020603050405020304"/>
                        <a:ea typeface="宋体" panose="02010600030101010101" pitchFamily="2" charset="-122"/>
                      </a:endParaRPr>
                    </a:p>
                  </a:txBody>
                  <a:tcPr marL="68580" marR="68580" marT="0" marB="0" anchor="ctr"/>
                </a:tc>
                <a:tc hMerge="1">
                  <a:tcPr/>
                </a:tc>
                <a:tc gridSpan="2">
                  <a:txBody>
                    <a:bodyPr/>
                    <a:lstStyle/>
                    <a:p>
                      <a:pPr algn="ctr">
                        <a:spcAft>
                          <a:spcPts val="0"/>
                        </a:spcAft>
                      </a:pPr>
                      <a:r>
                        <a:rPr lang="zh-CN" sz="1600" kern="0">
                          <a:effectLst/>
                        </a:rPr>
                        <a:t>点</a:t>
                      </a:r>
                      <a:r>
                        <a:rPr lang="en-US" sz="1600" kern="0">
                          <a:effectLst/>
                        </a:rPr>
                        <a:t>M2</a:t>
                      </a:r>
                      <a:endParaRPr lang="zh-CN" sz="1600" kern="100">
                        <a:effectLst/>
                        <a:latin typeface="Times New Roman" panose="02020603050405020304"/>
                        <a:ea typeface="宋体" panose="02010600030101010101" pitchFamily="2" charset="-122"/>
                      </a:endParaRPr>
                    </a:p>
                  </a:txBody>
                  <a:tcPr marL="68580" marR="68580" marT="0" marB="0" anchor="ctr"/>
                </a:tc>
                <a:tc hMerge="1">
                  <a:tcPr/>
                </a:tc>
              </a:tr>
              <a:tr h="268859">
                <a:tc>
                  <a:txBody>
                    <a:bodyPr/>
                    <a:lstStyle/>
                    <a:p>
                      <a:pPr algn="ctr">
                        <a:spcAft>
                          <a:spcPts val="0"/>
                        </a:spcAft>
                      </a:pPr>
                      <a:r>
                        <a:rPr lang="en-US" sz="1600" kern="0">
                          <a:effectLst/>
                        </a:rPr>
                        <a:t>A</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2.273</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68.367</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20</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60</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80</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80</a:t>
                      </a:r>
                      <a:endParaRPr lang="zh-CN" sz="1600" kern="100">
                        <a:effectLst/>
                        <a:latin typeface="Times New Roman" panose="02020603050405020304"/>
                        <a:ea typeface="宋体" panose="02010600030101010101" pitchFamily="2" charset="-122"/>
                      </a:endParaRPr>
                    </a:p>
                  </a:txBody>
                  <a:tcPr marL="68580" marR="68580" marT="0" marB="0" anchor="ctr"/>
                </a:tc>
              </a:tr>
              <a:tr h="268859">
                <a:tc>
                  <a:txBody>
                    <a:bodyPr/>
                    <a:lstStyle/>
                    <a:p>
                      <a:pPr algn="ctr">
                        <a:spcAft>
                          <a:spcPts val="0"/>
                        </a:spcAft>
                      </a:pPr>
                      <a:r>
                        <a:rPr lang="en-US" sz="1600" kern="0">
                          <a:effectLst/>
                        </a:rPr>
                        <a:t>B</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27.89</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83.127</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r>
              <a:tr h="268859">
                <a:tc>
                  <a:txBody>
                    <a:bodyPr/>
                    <a:lstStyle/>
                    <a:p>
                      <a:pPr algn="ctr">
                        <a:spcAft>
                          <a:spcPts val="0"/>
                        </a:spcAft>
                      </a:pPr>
                      <a:r>
                        <a:rPr lang="en-US" sz="1600" kern="0">
                          <a:effectLst/>
                        </a:rPr>
                        <a:t>C</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30.519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61.07</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r>
              <a:tr h="268859">
                <a:tc>
                  <a:txBody>
                    <a:bodyPr/>
                    <a:lstStyle/>
                    <a:p>
                      <a:pPr algn="ctr">
                        <a:spcAft>
                          <a:spcPts val="0"/>
                        </a:spcAft>
                      </a:pPr>
                      <a:r>
                        <a:rPr lang="en-US" sz="1600" kern="0">
                          <a:effectLst/>
                        </a:rPr>
                        <a:t>D</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62.049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69.343</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r>
              <a:tr h="268859">
                <a:tc>
                  <a:txBody>
                    <a:bodyPr/>
                    <a:lstStyle/>
                    <a:p>
                      <a:pPr algn="ctr">
                        <a:spcAft>
                          <a:spcPts val="0"/>
                        </a:spcAft>
                      </a:pPr>
                      <a:r>
                        <a:rPr lang="en-US" sz="1600" kern="0">
                          <a:effectLst/>
                        </a:rPr>
                        <a:t>E</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29.263</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68.748</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r>
              <a:tr h="268859">
                <a:tc>
                  <a:txBody>
                    <a:bodyPr/>
                    <a:lstStyle/>
                    <a:p>
                      <a:pPr algn="ctr">
                        <a:spcAft>
                          <a:spcPts val="0"/>
                        </a:spcAft>
                      </a:pPr>
                      <a:r>
                        <a:rPr lang="en-US" sz="1600" kern="0">
                          <a:effectLst/>
                        </a:rPr>
                        <a:t>F</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62.657</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90.094</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r>
              <a:tr h="268859">
                <a:tc>
                  <a:txBody>
                    <a:bodyPr/>
                    <a:lstStyle/>
                    <a:p>
                      <a:pPr algn="ctr">
                        <a:spcAft>
                          <a:spcPts val="0"/>
                        </a:spcAft>
                      </a:pPr>
                      <a:r>
                        <a:rPr lang="en-US" sz="1600" kern="0">
                          <a:effectLst/>
                        </a:rPr>
                        <a:t>G</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75.735</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62.761</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r>
              <a:tr h="268859">
                <a:tc>
                  <a:txBody>
                    <a:bodyPr/>
                    <a:lstStyle/>
                    <a:p>
                      <a:pPr algn="ctr">
                        <a:spcAft>
                          <a:spcPts val="0"/>
                        </a:spcAft>
                      </a:pPr>
                      <a:r>
                        <a:rPr lang="en-US" sz="1600" kern="0">
                          <a:effectLst/>
                        </a:rPr>
                        <a:t>H</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24.344</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43.816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r>
              <a:tr h="268859">
                <a:tc>
                  <a:txBody>
                    <a:bodyPr/>
                    <a:lstStyle/>
                    <a:p>
                      <a:pPr algn="ctr">
                        <a:spcAft>
                          <a:spcPts val="0"/>
                        </a:spcAft>
                      </a:pPr>
                      <a:r>
                        <a:rPr lang="en-US" sz="1600" kern="0">
                          <a:effectLst/>
                        </a:rPr>
                        <a:t>I</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17.667</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86.765</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r>
              <a:tr h="268859">
                <a:tc>
                  <a:txBody>
                    <a:bodyPr/>
                    <a:lstStyle/>
                    <a:p>
                      <a:pPr algn="ctr">
                        <a:spcAft>
                          <a:spcPts val="0"/>
                        </a:spcAft>
                      </a:pPr>
                      <a:r>
                        <a:rPr lang="en-US" sz="1600" kern="0">
                          <a:effectLst/>
                        </a:rPr>
                        <a:t>J</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68.816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76.874</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r>
              <a:tr h="268859">
                <a:tc>
                  <a:txBody>
                    <a:bodyPr/>
                    <a:lstStyle/>
                    <a:p>
                      <a:pPr algn="ctr">
                        <a:spcAft>
                          <a:spcPts val="0"/>
                        </a:spcAft>
                      </a:pPr>
                      <a:r>
                        <a:rPr lang="en-US" sz="1600" kern="0">
                          <a:effectLst/>
                        </a:rPr>
                        <a:t>K</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69.076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57.829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r>
              <a:tr h="268859">
                <a:tc>
                  <a:txBody>
                    <a:bodyPr/>
                    <a:lstStyle/>
                    <a:p>
                      <a:pPr algn="ctr">
                        <a:spcAft>
                          <a:spcPts val="0"/>
                        </a:spcAft>
                      </a:pPr>
                      <a:r>
                        <a:rPr lang="en-US" sz="1600" kern="0">
                          <a:effectLst/>
                        </a:rPr>
                        <a:t>L</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85.691</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88.114</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03500" y="442913"/>
            <a:ext cx="8915400" cy="5972175"/>
          </a:xfrm>
        </p:spPr>
        <p:txBody>
          <a:bodyPr>
            <a:noAutofit/>
          </a:bodyPr>
          <a:lstStyle/>
          <a:p>
            <a:pPr algn="just">
              <a:lnSpc>
                <a:spcPct val="150000"/>
              </a:lnSpc>
            </a:pPr>
            <a:r>
              <a:rPr lang="zh-CN" altLang="en-US" sz="2400" dirty="0">
                <a:latin typeface="楷体" panose="02010609060101010101" pitchFamily="49" charset="-122"/>
                <a:ea typeface="楷体" panose="02010609060101010101" pitchFamily="49" charset="-122"/>
              </a:rPr>
              <a:t>第一次分类</a:t>
            </a:r>
            <a:r>
              <a:rPr lang="en-US" altLang="zh-CN"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pPr algn="just">
              <a:lnSpc>
                <a:spcPct val="150000"/>
              </a:lnSpc>
            </a:pPr>
            <a:r>
              <a:rPr lang="zh-CN" altLang="en-US" sz="2400" dirty="0">
                <a:latin typeface="楷体" panose="02010609060101010101" pitchFamily="49" charset="-122"/>
                <a:ea typeface="楷体" panose="02010609060101010101" pitchFamily="49" charset="-122"/>
              </a:rPr>
              <a:t>依次计算出坐标点</a:t>
            </a:r>
            <a:r>
              <a:rPr lang="en-US" altLang="zh-CN" sz="2400" dirty="0">
                <a:latin typeface="楷体" panose="02010609060101010101" pitchFamily="49" charset="-122"/>
                <a:ea typeface="楷体" panose="02010609060101010101" pitchFamily="49" charset="-122"/>
              </a:rPr>
              <a:t>A-L</a:t>
            </a:r>
            <a:r>
              <a:rPr lang="zh-CN" altLang="en-US" sz="2400" dirty="0">
                <a:latin typeface="楷体" panose="02010609060101010101" pitchFamily="49" charset="-122"/>
                <a:ea typeface="楷体" panose="02010609060101010101" pitchFamily="49" charset="-122"/>
              </a:rPr>
              <a:t>到点</a:t>
            </a:r>
            <a:r>
              <a:rPr lang="en-US" altLang="zh-CN" sz="2400" dirty="0">
                <a:latin typeface="楷体" panose="02010609060101010101" pitchFamily="49" charset="-122"/>
                <a:ea typeface="楷体" panose="02010609060101010101" pitchFamily="49" charset="-122"/>
              </a:rPr>
              <a:t>M1</a:t>
            </a:r>
            <a:r>
              <a:rPr lang="zh-CN" altLang="en-US" sz="2400" dirty="0">
                <a:latin typeface="楷体" panose="02010609060101010101" pitchFamily="49" charset="-122"/>
                <a:ea typeface="楷体" panose="02010609060101010101" pitchFamily="49" charset="-122"/>
              </a:rPr>
              <a:t>和点</a:t>
            </a:r>
            <a:r>
              <a:rPr lang="en-US" altLang="zh-CN" sz="2400" dirty="0">
                <a:latin typeface="楷体" panose="02010609060101010101" pitchFamily="49" charset="-122"/>
                <a:ea typeface="楷体" panose="02010609060101010101" pitchFamily="49" charset="-122"/>
              </a:rPr>
              <a:t>M2</a:t>
            </a:r>
            <a:r>
              <a:rPr lang="zh-CN" altLang="en-US" sz="2400" dirty="0">
                <a:latin typeface="楷体" panose="02010609060101010101" pitchFamily="49" charset="-122"/>
                <a:ea typeface="楷体" panose="02010609060101010101" pitchFamily="49" charset="-122"/>
              </a:rPr>
              <a:t>的距离。将数据点到</a:t>
            </a:r>
            <a:r>
              <a:rPr lang="en-US" altLang="zh-CN" sz="2400" dirty="0">
                <a:latin typeface="楷体" panose="02010609060101010101" pitchFamily="49" charset="-122"/>
                <a:ea typeface="楷体" panose="02010609060101010101" pitchFamily="49" charset="-122"/>
              </a:rPr>
              <a:t>M1</a:t>
            </a:r>
            <a:r>
              <a:rPr lang="zh-CN" altLang="en-US" sz="2400" dirty="0">
                <a:latin typeface="楷体" panose="02010609060101010101" pitchFamily="49" charset="-122"/>
                <a:ea typeface="楷体" panose="02010609060101010101" pitchFamily="49" charset="-122"/>
              </a:rPr>
              <a:t>的距离与数据点到</a:t>
            </a:r>
            <a:r>
              <a:rPr lang="en-US" altLang="zh-CN" sz="2400" dirty="0">
                <a:latin typeface="楷体" panose="02010609060101010101" pitchFamily="49" charset="-122"/>
                <a:ea typeface="楷体" panose="02010609060101010101" pitchFamily="49" charset="-122"/>
              </a:rPr>
              <a:t>M2</a:t>
            </a:r>
            <a:r>
              <a:rPr lang="zh-CN" altLang="en-US" sz="2400" dirty="0">
                <a:latin typeface="楷体" panose="02010609060101010101" pitchFamily="49" charset="-122"/>
                <a:ea typeface="楷体" panose="02010609060101010101" pitchFamily="49" charset="-122"/>
              </a:rPr>
              <a:t>的距离比较并排序，判断各数据点归属于</a:t>
            </a:r>
            <a:r>
              <a:rPr lang="en-US" altLang="zh-CN" sz="2400" dirty="0">
                <a:latin typeface="楷体" panose="02010609060101010101" pitchFamily="49" charset="-122"/>
                <a:ea typeface="楷体" panose="02010609060101010101" pitchFamily="49" charset="-122"/>
              </a:rPr>
              <a:t>M1</a:t>
            </a:r>
            <a:r>
              <a:rPr lang="zh-CN" altLang="en-US" sz="2400" dirty="0">
                <a:latin typeface="楷体" panose="02010609060101010101" pitchFamily="49" charset="-122"/>
                <a:ea typeface="楷体" panose="02010609060101010101" pitchFamily="49" charset="-122"/>
              </a:rPr>
              <a:t>类还是</a:t>
            </a:r>
            <a:r>
              <a:rPr lang="en-US" altLang="zh-CN" sz="2400" dirty="0">
                <a:latin typeface="楷体" panose="02010609060101010101" pitchFamily="49" charset="-122"/>
                <a:ea typeface="楷体" panose="02010609060101010101" pitchFamily="49" charset="-122"/>
              </a:rPr>
              <a:t>M2</a:t>
            </a:r>
            <a:r>
              <a:rPr lang="zh-CN" altLang="en-US" sz="2400" dirty="0">
                <a:latin typeface="楷体" panose="02010609060101010101" pitchFamily="49" charset="-122"/>
                <a:ea typeface="楷体" panose="02010609060101010101" pitchFamily="49" charset="-122"/>
              </a:rPr>
              <a:t>类，如</a:t>
            </a:r>
            <a:r>
              <a:rPr lang="zh-CN" altLang="en-US" sz="2400" dirty="0" smtClean="0">
                <a:latin typeface="楷体" panose="02010609060101010101" pitchFamily="49" charset="-122"/>
                <a:ea typeface="楷体" panose="02010609060101010101" pitchFamily="49" charset="-122"/>
              </a:rPr>
              <a:t>表所示</a:t>
            </a:r>
            <a:endParaRPr lang="zh-CN" altLang="en-US" sz="2400" dirty="0">
              <a:latin typeface="楷体" panose="02010609060101010101" pitchFamily="49" charset="-122"/>
              <a:ea typeface="楷体" panose="02010609060101010101" pitchFamily="49" charset="-122"/>
            </a:endParaRPr>
          </a:p>
          <a:p>
            <a:pPr marL="0" indent="0" algn="just">
              <a:lnSpc>
                <a:spcPct val="150000"/>
              </a:lnSpc>
              <a:buNone/>
            </a:pPr>
            <a:endParaRPr lang="zh-CN" altLang="en-US" sz="2400" dirty="0">
              <a:latin typeface="楷体" panose="02010609060101010101" pitchFamily="49" charset="-122"/>
              <a:ea typeface="楷体" panose="02010609060101010101" pitchFamily="49" charset="-122"/>
            </a:endParaRPr>
          </a:p>
        </p:txBody>
      </p:sp>
      <p:graphicFrame>
        <p:nvGraphicFramePr>
          <p:cNvPr id="6" name="表格 5"/>
          <p:cNvGraphicFramePr>
            <a:graphicFrameLocks noGrp="1"/>
          </p:cNvGraphicFramePr>
          <p:nvPr/>
        </p:nvGraphicFramePr>
        <p:xfrm>
          <a:off x="2994025" y="2865120"/>
          <a:ext cx="8226002" cy="3704665"/>
        </p:xfrm>
        <a:graphic>
          <a:graphicData uri="http://schemas.openxmlformats.org/drawingml/2006/table">
            <a:tbl>
              <a:tblPr>
                <a:tableStyleId>{5C22544A-7EE6-4342-B048-85BDC9FD1C3A}</a:tableStyleId>
              </a:tblPr>
              <a:tblGrid>
                <a:gridCol w="997785"/>
                <a:gridCol w="997785"/>
                <a:gridCol w="997785"/>
                <a:gridCol w="1737915"/>
                <a:gridCol w="1737915"/>
                <a:gridCol w="1756817"/>
              </a:tblGrid>
              <a:tr h="529237">
                <a:tc>
                  <a:txBody>
                    <a:bodyPr/>
                    <a:lstStyle/>
                    <a:p>
                      <a:pPr algn="l">
                        <a:spcAft>
                          <a:spcPts val="0"/>
                        </a:spcAft>
                      </a:pPr>
                      <a:r>
                        <a:rPr lang="zh-CN"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X</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Y</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zh-CN" sz="1600" kern="0" dirty="0">
                          <a:effectLst/>
                        </a:rPr>
                        <a:t>点到</a:t>
                      </a:r>
                      <a:r>
                        <a:rPr lang="en-US" sz="1600" kern="0" dirty="0">
                          <a:effectLst/>
                        </a:rPr>
                        <a:t>M1</a:t>
                      </a:r>
                      <a:r>
                        <a:rPr lang="zh-CN" sz="1600" kern="0" dirty="0">
                          <a:effectLst/>
                        </a:rPr>
                        <a:t>的距离</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zh-CN" sz="1600" kern="0">
                          <a:effectLst/>
                        </a:rPr>
                        <a:t>点到</a:t>
                      </a:r>
                      <a:r>
                        <a:rPr lang="en-US" sz="1600" kern="0">
                          <a:effectLst/>
                        </a:rPr>
                        <a:t>M2</a:t>
                      </a:r>
                      <a:r>
                        <a:rPr lang="zh-CN" sz="1600" kern="0">
                          <a:effectLst/>
                        </a:rPr>
                        <a:t>的距离</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zh-CN" sz="1600" kern="0">
                          <a:effectLst/>
                        </a:rPr>
                        <a:t>归属于</a:t>
                      </a:r>
                      <a:r>
                        <a:rPr lang="en-US" sz="1600" kern="0">
                          <a:effectLst/>
                        </a:rPr>
                        <a:t>M1\M2</a:t>
                      </a:r>
                      <a:r>
                        <a:rPr lang="zh-CN" sz="1600" kern="0">
                          <a:effectLst/>
                        </a:rPr>
                        <a:t>点</a:t>
                      </a:r>
                      <a:endParaRPr lang="zh-CN" sz="1600" kern="100">
                        <a:effectLst/>
                        <a:latin typeface="Times New Roman" panose="02020603050405020304"/>
                        <a:ea typeface="宋体" panose="02010600030101010101" pitchFamily="2" charset="-122"/>
                      </a:endParaRPr>
                    </a:p>
                  </a:txBody>
                  <a:tcPr marL="68580" marR="68580" marT="0" marB="0" anchor="ctr"/>
                </a:tc>
              </a:tr>
              <a:tr h="264619">
                <a:tc>
                  <a:txBody>
                    <a:bodyPr/>
                    <a:lstStyle/>
                    <a:p>
                      <a:pPr algn="ctr">
                        <a:spcAft>
                          <a:spcPts val="0"/>
                        </a:spcAft>
                      </a:pPr>
                      <a:r>
                        <a:rPr lang="en-US" sz="1600" kern="0">
                          <a:effectLst/>
                        </a:rPr>
                        <a:t>A</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2.273</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68.367</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24.43583903</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66.38427669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M1</a:t>
                      </a:r>
                      <a:endParaRPr lang="zh-CN" sz="1600" kern="100">
                        <a:effectLst/>
                        <a:latin typeface="Times New Roman" panose="02020603050405020304"/>
                        <a:ea typeface="宋体" panose="02010600030101010101" pitchFamily="2" charset="-122"/>
                      </a:endParaRPr>
                    </a:p>
                  </a:txBody>
                  <a:tcPr marL="68580" marR="68580" marT="0" marB="0" anchor="ctr"/>
                </a:tc>
              </a:tr>
              <a:tr h="264619">
                <a:tc>
                  <a:txBody>
                    <a:bodyPr/>
                    <a:lstStyle/>
                    <a:p>
                      <a:pPr algn="ctr">
                        <a:spcAft>
                          <a:spcPts val="0"/>
                        </a:spcAft>
                      </a:pPr>
                      <a:r>
                        <a:rPr lang="en-US" sz="1600" kern="0">
                          <a:effectLst/>
                        </a:rPr>
                        <a:t>B</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27.89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83.127</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24.43583903</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52.20373769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M1</a:t>
                      </a:r>
                      <a:endParaRPr lang="zh-CN" sz="1600" kern="100">
                        <a:effectLst/>
                        <a:latin typeface="Times New Roman" panose="02020603050405020304"/>
                        <a:ea typeface="宋体" panose="02010600030101010101" pitchFamily="2" charset="-122"/>
                      </a:endParaRPr>
                    </a:p>
                  </a:txBody>
                  <a:tcPr marL="68580" marR="68580" marT="0" marB="0" anchor="ctr"/>
                </a:tc>
              </a:tr>
              <a:tr h="264619">
                <a:tc>
                  <a:txBody>
                    <a:bodyPr/>
                    <a:lstStyle/>
                    <a:p>
                      <a:pPr algn="ctr">
                        <a:spcAft>
                          <a:spcPts val="0"/>
                        </a:spcAft>
                      </a:pPr>
                      <a:r>
                        <a:rPr lang="en-US" sz="1600" kern="0">
                          <a:effectLst/>
                        </a:rPr>
                        <a:t>C</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30.519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61.07</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10.57328052</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52.97843204</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M1</a:t>
                      </a:r>
                      <a:endParaRPr lang="zh-CN" sz="1600" kern="100">
                        <a:effectLst/>
                        <a:latin typeface="Times New Roman" panose="02020603050405020304"/>
                        <a:ea typeface="宋体" panose="02010600030101010101" pitchFamily="2" charset="-122"/>
                      </a:endParaRPr>
                    </a:p>
                  </a:txBody>
                  <a:tcPr marL="68580" marR="68580" marT="0" marB="0" anchor="ctr"/>
                </a:tc>
              </a:tr>
              <a:tr h="264619">
                <a:tc>
                  <a:txBody>
                    <a:bodyPr/>
                    <a:lstStyle/>
                    <a:p>
                      <a:pPr algn="ctr">
                        <a:spcAft>
                          <a:spcPts val="0"/>
                        </a:spcAft>
                      </a:pPr>
                      <a:r>
                        <a:rPr lang="en-US" sz="1600" kern="0">
                          <a:effectLst/>
                        </a:rPr>
                        <a:t>E</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29.263</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68.748</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12.7409055</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51.96970919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M1</a:t>
                      </a:r>
                      <a:endParaRPr lang="zh-CN" sz="1600" kern="100">
                        <a:effectLst/>
                        <a:latin typeface="Times New Roman" panose="02020603050405020304"/>
                        <a:ea typeface="宋体" panose="02010600030101010101" pitchFamily="2" charset="-122"/>
                      </a:endParaRPr>
                    </a:p>
                  </a:txBody>
                  <a:tcPr marL="68580" marR="68580" marT="0" marB="0" anchor="ctr"/>
                </a:tc>
              </a:tr>
              <a:tr h="264619">
                <a:tc>
                  <a:txBody>
                    <a:bodyPr/>
                    <a:lstStyle/>
                    <a:p>
                      <a:pPr algn="ctr">
                        <a:spcAft>
                          <a:spcPts val="0"/>
                        </a:spcAft>
                      </a:pPr>
                      <a:r>
                        <a:rPr lang="en-US" sz="1600" kern="0">
                          <a:effectLst/>
                        </a:rPr>
                        <a:t>H</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24.344</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43.816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16.75685507</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66.38427669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M1</a:t>
                      </a:r>
                      <a:endParaRPr lang="zh-CN" sz="1600" kern="100">
                        <a:effectLst/>
                        <a:latin typeface="Times New Roman" panose="02020603050405020304"/>
                        <a:ea typeface="宋体" panose="02010600030101010101" pitchFamily="2" charset="-122"/>
                      </a:endParaRPr>
                    </a:p>
                  </a:txBody>
                  <a:tcPr marL="68580" marR="68580" marT="0" marB="0" anchor="ctr"/>
                </a:tc>
              </a:tr>
              <a:tr h="264619">
                <a:tc>
                  <a:txBody>
                    <a:bodyPr/>
                    <a:lstStyle/>
                    <a:p>
                      <a:pPr algn="ctr">
                        <a:spcAft>
                          <a:spcPts val="0"/>
                        </a:spcAft>
                      </a:pPr>
                      <a:r>
                        <a:rPr lang="en-US" sz="1600" kern="0">
                          <a:effectLst/>
                        </a:rPr>
                        <a:t>I</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17.667</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86.765</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26.86648682</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62.69902801</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M1</a:t>
                      </a:r>
                      <a:endParaRPr lang="zh-CN" sz="1600" kern="100">
                        <a:effectLst/>
                        <a:latin typeface="Times New Roman" panose="02020603050405020304"/>
                        <a:ea typeface="宋体" panose="02010600030101010101" pitchFamily="2" charset="-122"/>
                      </a:endParaRPr>
                    </a:p>
                  </a:txBody>
                  <a:tcPr marL="68580" marR="68580" marT="0" marB="0" anchor="ctr"/>
                </a:tc>
              </a:tr>
              <a:tr h="264619">
                <a:tc>
                  <a:txBody>
                    <a:bodyPr/>
                    <a:lstStyle/>
                    <a:p>
                      <a:pPr algn="ctr">
                        <a:spcAft>
                          <a:spcPts val="0"/>
                        </a:spcAft>
                      </a:pPr>
                      <a:r>
                        <a:rPr lang="en-US" sz="1600" kern="0">
                          <a:effectLst/>
                        </a:rPr>
                        <a:t>D</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62.049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69.343</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43.07447098</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20.87606404</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M2</a:t>
                      </a:r>
                      <a:endParaRPr lang="zh-CN" sz="1600" kern="100">
                        <a:effectLst/>
                        <a:latin typeface="Times New Roman" panose="02020603050405020304"/>
                        <a:ea typeface="宋体" panose="02010600030101010101" pitchFamily="2" charset="-122"/>
                      </a:endParaRPr>
                    </a:p>
                  </a:txBody>
                  <a:tcPr marL="68580" marR="68580" marT="0" marB="0" anchor="ctr"/>
                </a:tc>
              </a:tr>
              <a:tr h="264619">
                <a:tc>
                  <a:txBody>
                    <a:bodyPr/>
                    <a:lstStyle/>
                    <a:p>
                      <a:pPr algn="ctr">
                        <a:spcAft>
                          <a:spcPts val="0"/>
                        </a:spcAft>
                      </a:pPr>
                      <a:r>
                        <a:rPr lang="en-US" sz="1600" kern="0">
                          <a:effectLst/>
                        </a:rPr>
                        <a:t>F</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62.657</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90.094</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52.2041041</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20.06660123</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M2</a:t>
                      </a:r>
                      <a:endParaRPr lang="zh-CN" sz="1600" kern="100">
                        <a:effectLst/>
                        <a:latin typeface="Times New Roman" panose="02020603050405020304"/>
                        <a:ea typeface="宋体" panose="02010600030101010101" pitchFamily="2" charset="-122"/>
                      </a:endParaRPr>
                    </a:p>
                  </a:txBody>
                  <a:tcPr marL="68580" marR="68580" marT="0" marB="0" anchor="ctr"/>
                </a:tc>
              </a:tr>
              <a:tr h="264619">
                <a:tc>
                  <a:txBody>
                    <a:bodyPr/>
                    <a:lstStyle/>
                    <a:p>
                      <a:pPr algn="ctr">
                        <a:spcAft>
                          <a:spcPts val="0"/>
                        </a:spcAft>
                      </a:pPr>
                      <a:r>
                        <a:rPr lang="en-US" sz="1600" kern="0">
                          <a:effectLst/>
                        </a:rPr>
                        <a:t>G</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75.735</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62.761</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55.80334529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17.75875407</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M2</a:t>
                      </a:r>
                      <a:endParaRPr lang="zh-CN" sz="1600" kern="100">
                        <a:effectLst/>
                        <a:latin typeface="Times New Roman" panose="02020603050405020304"/>
                        <a:ea typeface="宋体" panose="02010600030101010101" pitchFamily="2" charset="-122"/>
                      </a:endParaRPr>
                    </a:p>
                  </a:txBody>
                  <a:tcPr marL="68580" marR="68580" marT="0" marB="0" anchor="ctr"/>
                </a:tc>
              </a:tr>
              <a:tr h="264619">
                <a:tc>
                  <a:txBody>
                    <a:bodyPr/>
                    <a:lstStyle/>
                    <a:p>
                      <a:pPr algn="ctr">
                        <a:spcAft>
                          <a:spcPts val="0"/>
                        </a:spcAft>
                      </a:pPr>
                      <a:r>
                        <a:rPr lang="en-US" sz="1600" kern="0">
                          <a:effectLst/>
                        </a:rPr>
                        <a:t>J</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68.816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76.874</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51.65010873</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11.61265396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M2</a:t>
                      </a:r>
                      <a:endParaRPr lang="zh-CN" sz="1600" kern="100">
                        <a:effectLst/>
                        <a:latin typeface="Times New Roman" panose="02020603050405020304"/>
                        <a:ea typeface="宋体" panose="02010600030101010101" pitchFamily="2" charset="-122"/>
                      </a:endParaRPr>
                    </a:p>
                  </a:txBody>
                  <a:tcPr marL="68580" marR="68580" marT="0" marB="0" anchor="ctr"/>
                </a:tc>
              </a:tr>
              <a:tr h="264619">
                <a:tc>
                  <a:txBody>
                    <a:bodyPr/>
                    <a:lstStyle/>
                    <a:p>
                      <a:pPr algn="ctr">
                        <a:spcAft>
                          <a:spcPts val="0"/>
                        </a:spcAft>
                      </a:pPr>
                      <a:r>
                        <a:rPr lang="en-US" sz="1600" kern="0">
                          <a:effectLst/>
                        </a:rPr>
                        <a:t>K</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69.076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57.829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49.12399635</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24.71612868</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M2</a:t>
                      </a:r>
                      <a:endParaRPr lang="zh-CN" sz="1600" kern="100" dirty="0">
                        <a:effectLst/>
                        <a:latin typeface="Times New Roman" panose="02020603050405020304"/>
                        <a:ea typeface="宋体" panose="02010600030101010101" pitchFamily="2" charset="-122"/>
                      </a:endParaRPr>
                    </a:p>
                  </a:txBody>
                  <a:tcPr marL="68580" marR="68580" marT="0" marB="0" anchor="ctr"/>
                </a:tc>
              </a:tr>
              <a:tr h="264619">
                <a:tc>
                  <a:txBody>
                    <a:bodyPr/>
                    <a:lstStyle/>
                    <a:p>
                      <a:pPr algn="ctr">
                        <a:spcAft>
                          <a:spcPts val="0"/>
                        </a:spcAft>
                      </a:pPr>
                      <a:r>
                        <a:rPr lang="en-US" sz="1600" kern="0">
                          <a:effectLst/>
                        </a:rPr>
                        <a:t>L</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85.691</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88.114</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71.45421245</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9.910826252</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M2</a:t>
                      </a:r>
                      <a:endParaRPr lang="zh-CN" sz="1600" kern="100" dirty="0">
                        <a:effectLst/>
                        <a:latin typeface="Times New Roman" panose="02020603050405020304"/>
                        <a:ea typeface="宋体" panose="02010600030101010101" pitchFamily="2" charset="-122"/>
                      </a:endParaRPr>
                    </a:p>
                  </a:txBody>
                  <a:tcPr marL="68580" marR="68580" marT="0" marB="0" anchor="ct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03500" y="442913"/>
            <a:ext cx="8915400" cy="6415087"/>
          </a:xfrm>
        </p:spPr>
        <p:txBody>
          <a:bodyPr>
            <a:noAutofit/>
          </a:bodyPr>
          <a:lstStyle/>
          <a:p>
            <a:pPr algn="just">
              <a:lnSpc>
                <a:spcPct val="150000"/>
              </a:lnSpc>
            </a:pPr>
            <a:r>
              <a:rPr lang="zh-CN" altLang="en-US" sz="2400" dirty="0">
                <a:latin typeface="楷体" panose="02010609060101010101" pitchFamily="49" charset="-122"/>
                <a:ea typeface="楷体" panose="02010609060101010101" pitchFamily="49" charset="-122"/>
              </a:rPr>
              <a:t>第一次分类结果如</a:t>
            </a:r>
            <a:r>
              <a:rPr lang="zh-CN" altLang="en-US" sz="2400" dirty="0" smtClean="0">
                <a:latin typeface="楷体" panose="02010609060101010101" pitchFamily="49" charset="-122"/>
                <a:ea typeface="楷体" panose="02010609060101010101" pitchFamily="49" charset="-122"/>
              </a:rPr>
              <a:t>表所示</a:t>
            </a:r>
            <a:endParaRPr lang="en-US" altLang="zh-CN" sz="2400" dirty="0" smtClean="0">
              <a:latin typeface="楷体" panose="02010609060101010101" pitchFamily="49" charset="-122"/>
              <a:ea typeface="楷体" panose="02010609060101010101" pitchFamily="49" charset="-122"/>
            </a:endParaRPr>
          </a:p>
          <a:p>
            <a:pPr algn="just">
              <a:lnSpc>
                <a:spcPct val="150000"/>
              </a:lnSpc>
            </a:pPr>
            <a:endParaRPr lang="en-US" altLang="zh-CN" sz="2400" dirty="0" smtClean="0">
              <a:latin typeface="楷体" panose="02010609060101010101" pitchFamily="49" charset="-122"/>
              <a:ea typeface="楷体" panose="02010609060101010101" pitchFamily="49" charset="-122"/>
            </a:endParaRPr>
          </a:p>
        </p:txBody>
      </p:sp>
      <p:graphicFrame>
        <p:nvGraphicFramePr>
          <p:cNvPr id="10" name="表格 9"/>
          <p:cNvGraphicFramePr>
            <a:graphicFrameLocks noGrp="1"/>
          </p:cNvGraphicFramePr>
          <p:nvPr/>
        </p:nvGraphicFramePr>
        <p:xfrm>
          <a:off x="3041650" y="1293175"/>
          <a:ext cx="8225999" cy="4607562"/>
        </p:xfrm>
        <a:graphic>
          <a:graphicData uri="http://schemas.openxmlformats.org/drawingml/2006/table">
            <a:tbl>
              <a:tblPr>
                <a:tableStyleId>{5C22544A-7EE6-4342-B048-85BDC9FD1C3A}</a:tableStyleId>
              </a:tblPr>
              <a:tblGrid>
                <a:gridCol w="1611851"/>
                <a:gridCol w="1026786"/>
                <a:gridCol w="1332972"/>
                <a:gridCol w="259378"/>
                <a:gridCol w="1725939"/>
                <a:gridCol w="1026786"/>
                <a:gridCol w="1242287"/>
              </a:tblGrid>
              <a:tr h="521252">
                <a:tc gridSpan="3">
                  <a:txBody>
                    <a:bodyPr/>
                    <a:lstStyle/>
                    <a:p>
                      <a:pPr algn="ctr">
                        <a:spcAft>
                          <a:spcPts val="0"/>
                        </a:spcAft>
                      </a:pPr>
                      <a:r>
                        <a:rPr lang="en-US" sz="1600" kern="0" dirty="0">
                          <a:effectLst/>
                        </a:rPr>
                        <a:t>M1</a:t>
                      </a:r>
                      <a:r>
                        <a:rPr lang="zh-CN" sz="1600" kern="0" dirty="0">
                          <a:effectLst/>
                        </a:rPr>
                        <a:t>类</a:t>
                      </a:r>
                      <a:endParaRPr lang="zh-CN" sz="1600" kern="100" dirty="0">
                        <a:effectLst/>
                        <a:latin typeface="Times New Roman" panose="02020603050405020304"/>
                        <a:ea typeface="宋体" panose="02010600030101010101" pitchFamily="2" charset="-122"/>
                      </a:endParaRPr>
                    </a:p>
                  </a:txBody>
                  <a:tcPr marL="68580" marR="68580" marT="0" marB="0" anchor="ctr"/>
                </a:tc>
                <a:tc hMerge="1">
                  <a:tcPr/>
                </a:tc>
                <a:tc hMerge="1">
                  <a:tcPr/>
                </a:tc>
                <a:tc>
                  <a:txBody>
                    <a:bodyPr/>
                    <a:lstStyle/>
                    <a:p>
                      <a:pPr algn="l">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gridSpan="3">
                  <a:txBody>
                    <a:bodyPr/>
                    <a:lstStyle/>
                    <a:p>
                      <a:pPr algn="ctr">
                        <a:spcAft>
                          <a:spcPts val="0"/>
                        </a:spcAft>
                      </a:pPr>
                      <a:r>
                        <a:rPr lang="en-US" sz="1600" kern="0">
                          <a:effectLst/>
                        </a:rPr>
                        <a:t>M2</a:t>
                      </a:r>
                      <a:r>
                        <a:rPr lang="zh-CN" sz="1600" kern="0">
                          <a:effectLst/>
                        </a:rPr>
                        <a:t>类</a:t>
                      </a:r>
                      <a:endParaRPr lang="zh-CN" sz="1600" kern="100">
                        <a:effectLst/>
                        <a:latin typeface="Times New Roman" panose="02020603050405020304"/>
                        <a:ea typeface="宋体" panose="02010600030101010101" pitchFamily="2" charset="-122"/>
                      </a:endParaRPr>
                    </a:p>
                  </a:txBody>
                  <a:tcPr marL="68580" marR="68580" marT="0" marB="0" anchor="ctr"/>
                </a:tc>
                <a:tc hMerge="1">
                  <a:tcPr/>
                </a:tc>
                <a:tc hMerge="1">
                  <a:tcPr/>
                </a:tc>
              </a:tr>
              <a:tr h="521252">
                <a:tc>
                  <a:txBody>
                    <a:bodyPr/>
                    <a:lstStyle/>
                    <a:p>
                      <a:pPr algn="ctr">
                        <a:spcAft>
                          <a:spcPts val="0"/>
                        </a:spcAft>
                      </a:pPr>
                      <a:r>
                        <a:rPr lang="en-US" sz="1600" kern="0" dirty="0">
                          <a:effectLst/>
                        </a:rPr>
                        <a:t>A</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2.273</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68.367</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D</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62.049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69.343</a:t>
                      </a:r>
                      <a:endParaRPr lang="zh-CN" sz="1600" kern="100">
                        <a:effectLst/>
                        <a:latin typeface="Times New Roman" panose="02020603050405020304"/>
                        <a:ea typeface="宋体" panose="02010600030101010101" pitchFamily="2" charset="-122"/>
                      </a:endParaRPr>
                    </a:p>
                  </a:txBody>
                  <a:tcPr marL="68580" marR="68580" marT="0" marB="0" anchor="ctr"/>
                </a:tc>
              </a:tr>
              <a:tr h="521252">
                <a:tc>
                  <a:txBody>
                    <a:bodyPr/>
                    <a:lstStyle/>
                    <a:p>
                      <a:pPr algn="ctr">
                        <a:spcAft>
                          <a:spcPts val="0"/>
                        </a:spcAft>
                      </a:pPr>
                      <a:r>
                        <a:rPr lang="en-US" sz="1600" kern="0">
                          <a:effectLst/>
                        </a:rPr>
                        <a:t>B</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27.89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83.127</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F</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62.657</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90.094</a:t>
                      </a:r>
                      <a:endParaRPr lang="zh-CN" sz="1600" kern="100">
                        <a:effectLst/>
                        <a:latin typeface="Times New Roman" panose="02020603050405020304"/>
                        <a:ea typeface="宋体" panose="02010600030101010101" pitchFamily="2" charset="-122"/>
                      </a:endParaRPr>
                    </a:p>
                  </a:txBody>
                  <a:tcPr marL="68580" marR="68580" marT="0" marB="0" anchor="ctr"/>
                </a:tc>
              </a:tr>
              <a:tr h="521252">
                <a:tc>
                  <a:txBody>
                    <a:bodyPr/>
                    <a:lstStyle/>
                    <a:p>
                      <a:pPr algn="ctr">
                        <a:spcAft>
                          <a:spcPts val="0"/>
                        </a:spcAft>
                      </a:pPr>
                      <a:r>
                        <a:rPr lang="en-US" sz="1600" kern="0">
                          <a:effectLst/>
                        </a:rPr>
                        <a:t>C</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30.519</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61.07</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G</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75.735</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62.761</a:t>
                      </a:r>
                      <a:endParaRPr lang="zh-CN" sz="1600" kern="100">
                        <a:effectLst/>
                        <a:latin typeface="Times New Roman" panose="02020603050405020304"/>
                        <a:ea typeface="宋体" panose="02010600030101010101" pitchFamily="2" charset="-122"/>
                      </a:endParaRPr>
                    </a:p>
                  </a:txBody>
                  <a:tcPr marL="68580" marR="68580" marT="0" marB="0" anchor="ctr"/>
                </a:tc>
              </a:tr>
              <a:tr h="521252">
                <a:tc>
                  <a:txBody>
                    <a:bodyPr/>
                    <a:lstStyle/>
                    <a:p>
                      <a:pPr algn="ctr">
                        <a:spcAft>
                          <a:spcPts val="0"/>
                        </a:spcAft>
                      </a:pPr>
                      <a:r>
                        <a:rPr lang="en-US" sz="1600" kern="0">
                          <a:effectLst/>
                        </a:rPr>
                        <a:t>E</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29.263</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68.748</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J</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68.816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76.874</a:t>
                      </a:r>
                      <a:endParaRPr lang="zh-CN" sz="1600" kern="100">
                        <a:effectLst/>
                        <a:latin typeface="Times New Roman" panose="02020603050405020304"/>
                        <a:ea typeface="宋体" panose="02010600030101010101" pitchFamily="2" charset="-122"/>
                      </a:endParaRPr>
                    </a:p>
                  </a:txBody>
                  <a:tcPr marL="68580" marR="68580" marT="0" marB="0" anchor="ctr"/>
                </a:tc>
              </a:tr>
              <a:tr h="521252">
                <a:tc>
                  <a:txBody>
                    <a:bodyPr/>
                    <a:lstStyle/>
                    <a:p>
                      <a:pPr algn="ctr">
                        <a:spcAft>
                          <a:spcPts val="0"/>
                        </a:spcAft>
                      </a:pPr>
                      <a:r>
                        <a:rPr lang="en-US" sz="1600" kern="0">
                          <a:effectLst/>
                        </a:rPr>
                        <a:t>H</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24.344</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43.816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K</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69.076</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57.829</a:t>
                      </a:r>
                      <a:endParaRPr lang="zh-CN" sz="1600" kern="100">
                        <a:effectLst/>
                        <a:latin typeface="Times New Roman" panose="02020603050405020304"/>
                        <a:ea typeface="宋体" panose="02010600030101010101" pitchFamily="2" charset="-122"/>
                      </a:endParaRPr>
                    </a:p>
                  </a:txBody>
                  <a:tcPr marL="68580" marR="68580" marT="0" marB="0" anchor="ctr"/>
                </a:tc>
              </a:tr>
              <a:tr h="521252">
                <a:tc>
                  <a:txBody>
                    <a:bodyPr/>
                    <a:lstStyle/>
                    <a:p>
                      <a:pPr algn="ctr">
                        <a:spcAft>
                          <a:spcPts val="0"/>
                        </a:spcAft>
                      </a:pPr>
                      <a:r>
                        <a:rPr lang="en-US" sz="1600" kern="0">
                          <a:effectLst/>
                        </a:rPr>
                        <a:t>I</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17.667</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86.765</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L</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85.691</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88.114</a:t>
                      </a:r>
                      <a:endParaRPr lang="zh-CN" sz="1600" kern="100">
                        <a:effectLst/>
                        <a:latin typeface="Times New Roman" panose="02020603050405020304"/>
                        <a:ea typeface="宋体" panose="02010600030101010101" pitchFamily="2" charset="-122"/>
                      </a:endParaRPr>
                    </a:p>
                  </a:txBody>
                  <a:tcPr marL="68580" marR="68580" marT="0" marB="0" anchor="ctr"/>
                </a:tc>
              </a:tr>
              <a:tr h="958798">
                <a:tc>
                  <a:txBody>
                    <a:bodyPr/>
                    <a:lstStyle/>
                    <a:p>
                      <a:pPr algn="ctr">
                        <a:spcAft>
                          <a:spcPts val="0"/>
                        </a:spcAft>
                      </a:pPr>
                      <a:r>
                        <a:rPr lang="en-US" sz="1600" kern="0">
                          <a:effectLst/>
                        </a:rPr>
                        <a:t>M1</a:t>
                      </a:r>
                      <a:r>
                        <a:rPr lang="zh-CN" sz="1600" kern="0">
                          <a:effectLst/>
                        </a:rPr>
                        <a:t>类中心</a:t>
                      </a:r>
                      <a:r>
                        <a:rPr lang="en-US" sz="1600" kern="0">
                          <a:effectLst/>
                        </a:rPr>
                        <a:t>M1'</a:t>
                      </a:r>
                      <a:r>
                        <a:rPr lang="zh-CN" sz="1600" kern="0">
                          <a:effectLst/>
                        </a:rPr>
                        <a:t>点</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21.99267</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68.64883333</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M2</a:t>
                      </a:r>
                      <a:r>
                        <a:rPr lang="zh-CN" sz="1600" kern="0">
                          <a:effectLst/>
                        </a:rPr>
                        <a:t>类中心</a:t>
                      </a:r>
                      <a:r>
                        <a:rPr lang="en-US" sz="1600" kern="0">
                          <a:effectLst/>
                        </a:rPr>
                        <a:t>M2'</a:t>
                      </a:r>
                      <a:r>
                        <a:rPr lang="zh-CN" sz="1600" kern="0">
                          <a:effectLst/>
                        </a:rPr>
                        <a:t>点</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70.67067</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74.1691667</a:t>
                      </a:r>
                      <a:endParaRPr lang="zh-CN" sz="1600" kern="100" dirty="0">
                        <a:effectLst/>
                        <a:latin typeface="Times New Roman" panose="02020603050405020304"/>
                        <a:ea typeface="宋体" panose="02010600030101010101" pitchFamily="2" charset="-122"/>
                      </a:endParaRPr>
                    </a:p>
                  </a:txBody>
                  <a:tcPr marL="68580" marR="68580" marT="0" marB="0" anchor="ct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03500" y="442913"/>
            <a:ext cx="8915400" cy="6415087"/>
          </a:xfrm>
        </p:spPr>
        <p:txBody>
          <a:bodyPr>
            <a:noAutofit/>
          </a:bodyPr>
          <a:lstStyle/>
          <a:p>
            <a:pPr algn="just">
              <a:lnSpc>
                <a:spcPct val="150000"/>
              </a:lnSpc>
            </a:pPr>
            <a:r>
              <a:rPr lang="zh-CN" altLang="en-US" sz="2400" dirty="0" smtClean="0">
                <a:latin typeface="楷体" panose="02010609060101010101" pitchFamily="49" charset="-122"/>
                <a:ea typeface="楷体" panose="02010609060101010101" pitchFamily="49" charset="-122"/>
              </a:rPr>
              <a:t>第一次分类结果绘制</a:t>
            </a:r>
            <a:r>
              <a:rPr lang="zh-CN" altLang="en-US" sz="2400" dirty="0">
                <a:latin typeface="楷体" panose="02010609060101010101" pitchFamily="49" charset="-122"/>
                <a:ea typeface="楷体" panose="02010609060101010101" pitchFamily="49" charset="-122"/>
              </a:rPr>
              <a:t>的散点图如</a:t>
            </a:r>
            <a:r>
              <a:rPr lang="zh-CN" altLang="en-US" sz="2400" dirty="0" smtClean="0">
                <a:latin typeface="楷体" panose="02010609060101010101" pitchFamily="49" charset="-122"/>
                <a:ea typeface="楷体" panose="02010609060101010101" pitchFamily="49" charset="-122"/>
              </a:rPr>
              <a:t>图</a:t>
            </a:r>
            <a:endParaRPr lang="en-US" altLang="zh-CN" sz="2400" dirty="0" smtClean="0">
              <a:latin typeface="楷体" panose="02010609060101010101" pitchFamily="49" charset="-122"/>
              <a:ea typeface="楷体" panose="02010609060101010101" pitchFamily="49" charset="-122"/>
            </a:endParaRPr>
          </a:p>
        </p:txBody>
      </p:sp>
      <p:pic>
        <p:nvPicPr>
          <p:cNvPr id="4" name="图表 4"/>
          <p:cNvPicPr/>
          <p:nvPr/>
        </p:nvPicPr>
        <p:blipFill>
          <a:blip r:embed="rId1">
            <a:extLst>
              <a:ext uri="{28A0092B-C50C-407E-A947-70E740481C1C}">
                <a14:useLocalDpi xmlns:a14="http://schemas.microsoft.com/office/drawing/2010/main" val="0"/>
              </a:ext>
            </a:extLst>
          </a:blip>
          <a:srcRect/>
          <a:stretch>
            <a:fillRect/>
          </a:stretch>
        </p:blipFill>
        <p:spPr bwMode="auto">
          <a:xfrm>
            <a:off x="2981324" y="1271587"/>
            <a:ext cx="8226000" cy="5172075"/>
          </a:xfrm>
          <a:prstGeom prst="rect">
            <a:avLst/>
          </a:prstGeom>
          <a:solidFill>
            <a:srgbClr val="FFFFFF"/>
          </a:solidFill>
          <a:ln>
            <a:noFill/>
          </a:ln>
        </p:spPr>
      </p:pic>
      <p:sp>
        <p:nvSpPr>
          <p:cNvPr id="2" name="椭圆 1"/>
          <p:cNvSpPr/>
          <p:nvPr/>
        </p:nvSpPr>
        <p:spPr>
          <a:xfrm>
            <a:off x="3641725" y="2877820"/>
            <a:ext cx="153035" cy="161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椭圆 4"/>
          <p:cNvSpPr/>
          <p:nvPr/>
        </p:nvSpPr>
        <p:spPr>
          <a:xfrm>
            <a:off x="4797425" y="2080895"/>
            <a:ext cx="153035" cy="161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椭圆 5"/>
          <p:cNvSpPr/>
          <p:nvPr/>
        </p:nvSpPr>
        <p:spPr>
          <a:xfrm>
            <a:off x="5540375" y="2242820"/>
            <a:ext cx="153035" cy="161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椭圆 6"/>
          <p:cNvSpPr/>
          <p:nvPr/>
        </p:nvSpPr>
        <p:spPr>
          <a:xfrm>
            <a:off x="5635625" y="2877820"/>
            <a:ext cx="153035" cy="161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椭圆 7"/>
          <p:cNvSpPr/>
          <p:nvPr/>
        </p:nvSpPr>
        <p:spPr>
          <a:xfrm>
            <a:off x="5750560" y="3204845"/>
            <a:ext cx="153035" cy="161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椭圆 8"/>
          <p:cNvSpPr/>
          <p:nvPr/>
        </p:nvSpPr>
        <p:spPr>
          <a:xfrm>
            <a:off x="5302250" y="3976370"/>
            <a:ext cx="153035" cy="161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03500" y="442913"/>
            <a:ext cx="8915400" cy="5972175"/>
          </a:xfrm>
        </p:spPr>
        <p:txBody>
          <a:bodyPr>
            <a:noAutofit/>
          </a:bodyPr>
          <a:lstStyle/>
          <a:p>
            <a:pPr algn="just">
              <a:lnSpc>
                <a:spcPct val="150000"/>
              </a:lnSpc>
            </a:pPr>
            <a:r>
              <a:rPr lang="zh-CN" altLang="en-US" sz="2400" dirty="0">
                <a:latin typeface="楷体" panose="02010609060101010101" pitchFamily="49" charset="-122"/>
                <a:ea typeface="楷体" panose="02010609060101010101" pitchFamily="49" charset="-122"/>
              </a:rPr>
              <a:t>第二次分类</a:t>
            </a:r>
            <a:endParaRPr lang="zh-CN" altLang="en-US" sz="2400" dirty="0">
              <a:latin typeface="楷体" panose="02010609060101010101" pitchFamily="49" charset="-122"/>
              <a:ea typeface="楷体" panose="02010609060101010101" pitchFamily="49" charset="-122"/>
            </a:endParaRPr>
          </a:p>
          <a:p>
            <a:pPr algn="just">
              <a:lnSpc>
                <a:spcPct val="150000"/>
              </a:lnSpc>
            </a:pPr>
            <a:r>
              <a:rPr lang="zh-CN" altLang="en-US" sz="2400" dirty="0">
                <a:latin typeface="楷体" panose="02010609060101010101" pitchFamily="49" charset="-122"/>
                <a:ea typeface="楷体" panose="02010609060101010101" pitchFamily="49" charset="-122"/>
              </a:rPr>
              <a:t>使用</a:t>
            </a:r>
            <a:r>
              <a:rPr lang="en-US" altLang="zh-CN" sz="2400" dirty="0">
                <a:latin typeface="楷体" panose="02010609060101010101" pitchFamily="49" charset="-122"/>
                <a:ea typeface="楷体" panose="02010609060101010101" pitchFamily="49" charset="-122"/>
              </a:rPr>
              <a:t>AVERAGE</a:t>
            </a:r>
            <a:r>
              <a:rPr lang="zh-CN" altLang="en-US" sz="2400" dirty="0">
                <a:latin typeface="楷体" panose="02010609060101010101" pitchFamily="49" charset="-122"/>
                <a:ea typeface="楷体" panose="02010609060101010101" pitchFamily="49" charset="-122"/>
              </a:rPr>
              <a:t>函数求第一次分类后各类的质心</a:t>
            </a:r>
            <a:r>
              <a:rPr lang="en-US" altLang="zh-CN" sz="2400" dirty="0">
                <a:latin typeface="楷体" panose="02010609060101010101" pitchFamily="49" charset="-122"/>
                <a:ea typeface="楷体" panose="02010609060101010101" pitchFamily="49" charset="-122"/>
              </a:rPr>
              <a:t>M1’</a:t>
            </a:r>
            <a:r>
              <a:rPr lang="zh-CN" altLang="en-US" sz="2400" dirty="0">
                <a:latin typeface="楷体" panose="02010609060101010101" pitchFamily="49" charset="-122"/>
                <a:ea typeface="楷体" panose="02010609060101010101" pitchFamily="49" charset="-122"/>
              </a:rPr>
              <a:t>和</a:t>
            </a:r>
            <a:r>
              <a:rPr lang="en-US" altLang="zh-CN" sz="2400" dirty="0">
                <a:latin typeface="楷体" panose="02010609060101010101" pitchFamily="49" charset="-122"/>
                <a:ea typeface="楷体" panose="02010609060101010101" pitchFamily="49" charset="-122"/>
              </a:rPr>
              <a:t>M2’</a:t>
            </a:r>
            <a:r>
              <a:rPr lang="zh-CN" altLang="en-US" sz="2400" dirty="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a:p>
            <a:pPr algn="just">
              <a:lnSpc>
                <a:spcPct val="150000"/>
              </a:lnSpc>
            </a:pPr>
            <a:r>
              <a:rPr lang="zh-CN" altLang="en-US" sz="2400" dirty="0">
                <a:latin typeface="楷体" panose="02010609060101010101" pitchFamily="49" charset="-122"/>
                <a:ea typeface="楷体" panose="02010609060101010101" pitchFamily="49" charset="-122"/>
              </a:rPr>
              <a:t>依据第一次分类时的</a:t>
            </a:r>
            <a:r>
              <a:rPr lang="zh-CN" altLang="en-US" sz="2400" dirty="0" smtClean="0">
                <a:latin typeface="楷体" panose="02010609060101010101" pitchFamily="49" charset="-122"/>
                <a:ea typeface="楷体" panose="02010609060101010101" pitchFamily="49" charset="-122"/>
              </a:rPr>
              <a:t>步骤得到</a:t>
            </a:r>
            <a:r>
              <a:rPr lang="zh-CN" altLang="en-US" sz="2400" dirty="0">
                <a:latin typeface="楷体" panose="02010609060101010101" pitchFamily="49" charset="-122"/>
                <a:ea typeface="楷体" panose="02010609060101010101" pitchFamily="49" charset="-122"/>
              </a:rPr>
              <a:t>了第二次分类的结果，如</a:t>
            </a:r>
            <a:r>
              <a:rPr lang="zh-CN" altLang="en-US" sz="2400" dirty="0" smtClean="0">
                <a:latin typeface="楷体" panose="02010609060101010101" pitchFamily="49" charset="-122"/>
                <a:ea typeface="楷体" panose="02010609060101010101" pitchFamily="49" charset="-122"/>
              </a:rPr>
              <a:t>表所示</a:t>
            </a:r>
            <a:endParaRPr lang="zh-CN" altLang="en-US" sz="2400" dirty="0">
              <a:latin typeface="楷体" panose="02010609060101010101" pitchFamily="49" charset="-122"/>
              <a:ea typeface="楷体" panose="02010609060101010101" pitchFamily="49" charset="-122"/>
            </a:endParaRPr>
          </a:p>
          <a:p>
            <a:pPr marL="0" indent="0" algn="just">
              <a:lnSpc>
                <a:spcPct val="150000"/>
              </a:lnSpc>
              <a:buNone/>
            </a:pPr>
            <a:endParaRPr lang="zh-CN" altLang="en-US" sz="2400" dirty="0">
              <a:latin typeface="楷体" panose="02010609060101010101" pitchFamily="49" charset="-122"/>
              <a:ea typeface="楷体" panose="02010609060101010101" pitchFamily="49" charset="-122"/>
            </a:endParaRPr>
          </a:p>
        </p:txBody>
      </p:sp>
      <p:graphicFrame>
        <p:nvGraphicFramePr>
          <p:cNvPr id="2" name="表格 1"/>
          <p:cNvGraphicFramePr>
            <a:graphicFrameLocks noGrp="1"/>
          </p:cNvGraphicFramePr>
          <p:nvPr/>
        </p:nvGraphicFramePr>
        <p:xfrm>
          <a:off x="3070224" y="2528886"/>
          <a:ext cx="8225999" cy="3848241"/>
        </p:xfrm>
        <a:graphic>
          <a:graphicData uri="http://schemas.openxmlformats.org/drawingml/2006/table">
            <a:tbl>
              <a:tblPr>
                <a:tableStyleId>{5C22544A-7EE6-4342-B048-85BDC9FD1C3A}</a:tableStyleId>
              </a:tblPr>
              <a:tblGrid>
                <a:gridCol w="1114673"/>
                <a:gridCol w="1114673"/>
                <a:gridCol w="1114673"/>
                <a:gridCol w="1939070"/>
                <a:gridCol w="1939070"/>
                <a:gridCol w="1003840"/>
              </a:tblGrid>
              <a:tr h="491265">
                <a:tc>
                  <a:txBody>
                    <a:bodyPr/>
                    <a:lstStyle/>
                    <a:p>
                      <a:pPr algn="ctr">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X</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Y</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zh-CN" sz="1600" kern="0">
                          <a:effectLst/>
                        </a:rPr>
                        <a:t>到</a:t>
                      </a:r>
                      <a:r>
                        <a:rPr lang="en-US" sz="1600" kern="0">
                          <a:effectLst/>
                        </a:rPr>
                        <a:t>M1'</a:t>
                      </a:r>
                      <a:r>
                        <a:rPr lang="zh-CN" sz="1600" kern="0">
                          <a:effectLst/>
                        </a:rPr>
                        <a:t>点的距离</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zh-CN" sz="1600" kern="0">
                          <a:effectLst/>
                        </a:rPr>
                        <a:t>到</a:t>
                      </a:r>
                      <a:r>
                        <a:rPr lang="en-US" sz="1600" kern="0">
                          <a:effectLst/>
                        </a:rPr>
                        <a:t>M2'</a:t>
                      </a:r>
                      <a:r>
                        <a:rPr lang="zh-CN" sz="1600" kern="0">
                          <a:effectLst/>
                        </a:rPr>
                        <a:t>点的距离</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M1'/M2'</a:t>
                      </a:r>
                      <a:endParaRPr lang="zh-CN" sz="1600" kern="100">
                        <a:effectLst/>
                        <a:latin typeface="Times New Roman" panose="02020603050405020304"/>
                        <a:ea typeface="宋体" panose="02010600030101010101" pitchFamily="2" charset="-122"/>
                      </a:endParaRPr>
                    </a:p>
                  </a:txBody>
                  <a:tcPr marL="68580" marR="68580" marT="0" marB="0" anchor="ctr"/>
                </a:tc>
              </a:tr>
              <a:tr h="279748">
                <a:tc>
                  <a:txBody>
                    <a:bodyPr/>
                    <a:lstStyle/>
                    <a:p>
                      <a:pPr algn="ctr">
                        <a:spcAft>
                          <a:spcPts val="0"/>
                        </a:spcAft>
                      </a:pPr>
                      <a:r>
                        <a:rPr lang="en-US" sz="1600" kern="0">
                          <a:effectLst/>
                        </a:rPr>
                        <a:t>A</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2.273</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68.367</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19.72168383</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68.6433277</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M1</a:t>
                      </a:r>
                      <a:endParaRPr lang="zh-CN" sz="1600" kern="100">
                        <a:effectLst/>
                        <a:latin typeface="Times New Roman" panose="02020603050405020304"/>
                        <a:ea typeface="宋体" panose="02010600030101010101" pitchFamily="2" charset="-122"/>
                      </a:endParaRPr>
                    </a:p>
                  </a:txBody>
                  <a:tcPr marL="68580" marR="68580" marT="0" marB="0" anchor="ctr"/>
                </a:tc>
              </a:tr>
              <a:tr h="279748">
                <a:tc>
                  <a:txBody>
                    <a:bodyPr/>
                    <a:lstStyle/>
                    <a:p>
                      <a:pPr algn="ctr">
                        <a:spcAft>
                          <a:spcPts val="0"/>
                        </a:spcAft>
                      </a:pPr>
                      <a:r>
                        <a:rPr lang="en-US" sz="1600" kern="0">
                          <a:effectLst/>
                        </a:rPr>
                        <a:t>B</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27.89</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83.127</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15.63316691</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43.7084482</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M1</a:t>
                      </a:r>
                      <a:endParaRPr lang="zh-CN" sz="1600" kern="100">
                        <a:effectLst/>
                        <a:latin typeface="Times New Roman" panose="02020603050405020304"/>
                        <a:ea typeface="宋体" panose="02010600030101010101" pitchFamily="2" charset="-122"/>
                      </a:endParaRPr>
                    </a:p>
                  </a:txBody>
                  <a:tcPr marL="68580" marR="68580" marT="0" marB="0" anchor="ctr"/>
                </a:tc>
              </a:tr>
              <a:tr h="279748">
                <a:tc>
                  <a:txBody>
                    <a:bodyPr/>
                    <a:lstStyle/>
                    <a:p>
                      <a:pPr algn="ctr">
                        <a:spcAft>
                          <a:spcPts val="0"/>
                        </a:spcAft>
                      </a:pPr>
                      <a:r>
                        <a:rPr lang="en-US" sz="1600" kern="0">
                          <a:effectLst/>
                        </a:rPr>
                        <a:t>C</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30.519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61.07</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11.40775909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42.23440373</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M1</a:t>
                      </a:r>
                      <a:endParaRPr lang="zh-CN" sz="1600" kern="100">
                        <a:effectLst/>
                        <a:latin typeface="Times New Roman" panose="02020603050405020304"/>
                        <a:ea typeface="宋体" panose="02010600030101010101" pitchFamily="2" charset="-122"/>
                      </a:endParaRPr>
                    </a:p>
                  </a:txBody>
                  <a:tcPr marL="68580" marR="68580" marT="0" marB="0" anchor="ctr"/>
                </a:tc>
              </a:tr>
              <a:tr h="279748">
                <a:tc>
                  <a:txBody>
                    <a:bodyPr/>
                    <a:lstStyle/>
                    <a:p>
                      <a:pPr algn="ctr">
                        <a:spcAft>
                          <a:spcPts val="0"/>
                        </a:spcAft>
                      </a:pPr>
                      <a:r>
                        <a:rPr lang="en-US" sz="1600" kern="0">
                          <a:effectLst/>
                        </a:rPr>
                        <a:t>E</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29.263</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68.748</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7.271006326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41.76103709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M1</a:t>
                      </a:r>
                      <a:endParaRPr lang="zh-CN" sz="1600" kern="100">
                        <a:effectLst/>
                        <a:latin typeface="Times New Roman" panose="02020603050405020304"/>
                        <a:ea typeface="宋体" panose="02010600030101010101" pitchFamily="2" charset="-122"/>
                      </a:endParaRPr>
                    </a:p>
                  </a:txBody>
                  <a:tcPr marL="68580" marR="68580" marT="0" marB="0" anchor="ctr"/>
                </a:tc>
              </a:tr>
              <a:tr h="279748">
                <a:tc>
                  <a:txBody>
                    <a:bodyPr/>
                    <a:lstStyle/>
                    <a:p>
                      <a:pPr algn="ctr">
                        <a:spcAft>
                          <a:spcPts val="0"/>
                        </a:spcAft>
                      </a:pPr>
                      <a:r>
                        <a:rPr lang="en-US" sz="1600" kern="0">
                          <a:effectLst/>
                        </a:rPr>
                        <a:t>H</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24.344</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43.816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24.94390103</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55.38479288</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M1</a:t>
                      </a:r>
                      <a:endParaRPr lang="zh-CN" sz="1600" kern="100">
                        <a:effectLst/>
                        <a:latin typeface="Times New Roman" panose="02020603050405020304"/>
                        <a:ea typeface="宋体" panose="02010600030101010101" pitchFamily="2" charset="-122"/>
                      </a:endParaRPr>
                    </a:p>
                  </a:txBody>
                  <a:tcPr marL="68580" marR="68580" marT="0" marB="0" anchor="ctr"/>
                </a:tc>
              </a:tr>
              <a:tr h="279748">
                <a:tc>
                  <a:txBody>
                    <a:bodyPr/>
                    <a:lstStyle/>
                    <a:p>
                      <a:pPr algn="ctr">
                        <a:spcAft>
                          <a:spcPts val="0"/>
                        </a:spcAft>
                      </a:pPr>
                      <a:r>
                        <a:rPr lang="en-US" sz="1600" kern="0">
                          <a:effectLst/>
                        </a:rPr>
                        <a:t>I</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17.667</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86.765</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18.62544057</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54.4797574</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M1</a:t>
                      </a:r>
                      <a:endParaRPr lang="zh-CN" sz="1600" kern="100">
                        <a:effectLst/>
                        <a:latin typeface="Times New Roman" panose="02020603050405020304"/>
                        <a:ea typeface="宋体" panose="02010600030101010101" pitchFamily="2" charset="-122"/>
                      </a:endParaRPr>
                    </a:p>
                  </a:txBody>
                  <a:tcPr marL="68580" marR="68580" marT="0" marB="0" anchor="ctr"/>
                </a:tc>
              </a:tr>
              <a:tr h="279748">
                <a:tc>
                  <a:txBody>
                    <a:bodyPr/>
                    <a:lstStyle/>
                    <a:p>
                      <a:pPr algn="ctr">
                        <a:spcAft>
                          <a:spcPts val="0"/>
                        </a:spcAft>
                      </a:pPr>
                      <a:r>
                        <a:rPr lang="en-US" sz="1600" kern="0">
                          <a:effectLst/>
                        </a:rPr>
                        <a:t>D</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62.049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69.343</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40.06234448</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9.880542012</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M2</a:t>
                      </a:r>
                      <a:endParaRPr lang="zh-CN" sz="1600" kern="100">
                        <a:effectLst/>
                        <a:latin typeface="Times New Roman" panose="02020603050405020304"/>
                        <a:ea typeface="宋体" panose="02010600030101010101" pitchFamily="2" charset="-122"/>
                      </a:endParaRPr>
                    </a:p>
                  </a:txBody>
                  <a:tcPr marL="68580" marR="68580" marT="0" marB="0" anchor="ctr"/>
                </a:tc>
              </a:tr>
              <a:tr h="279748">
                <a:tc>
                  <a:txBody>
                    <a:bodyPr/>
                    <a:lstStyle/>
                    <a:p>
                      <a:pPr algn="ctr">
                        <a:spcAft>
                          <a:spcPts val="0"/>
                        </a:spcAft>
                      </a:pPr>
                      <a:r>
                        <a:rPr lang="en-US" sz="1600" kern="0">
                          <a:effectLst/>
                        </a:rPr>
                        <a:t>F</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62.657</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90.094</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45.97263371</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17.82748208</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M2</a:t>
                      </a:r>
                      <a:endParaRPr lang="zh-CN" sz="1600" kern="100">
                        <a:effectLst/>
                        <a:latin typeface="Times New Roman" panose="02020603050405020304"/>
                        <a:ea typeface="宋体" panose="02010600030101010101" pitchFamily="2" charset="-122"/>
                      </a:endParaRPr>
                    </a:p>
                  </a:txBody>
                  <a:tcPr marL="68580" marR="68580" marT="0" marB="0" anchor="ctr"/>
                </a:tc>
              </a:tr>
              <a:tr h="279748">
                <a:tc>
                  <a:txBody>
                    <a:bodyPr/>
                    <a:lstStyle/>
                    <a:p>
                      <a:pPr algn="ctr">
                        <a:spcAft>
                          <a:spcPts val="0"/>
                        </a:spcAft>
                      </a:pPr>
                      <a:r>
                        <a:rPr lang="en-US" sz="1600" kern="0">
                          <a:effectLst/>
                        </a:rPr>
                        <a:t>G</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75.735</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62.761</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54.06389346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12.4817379</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M2</a:t>
                      </a:r>
                      <a:endParaRPr lang="zh-CN" sz="1600" kern="100">
                        <a:effectLst/>
                        <a:latin typeface="Times New Roman" panose="02020603050405020304"/>
                        <a:ea typeface="宋体" panose="02010600030101010101" pitchFamily="2" charset="-122"/>
                      </a:endParaRPr>
                    </a:p>
                  </a:txBody>
                  <a:tcPr marL="68580" marR="68580" marT="0" marB="0" anchor="ctr"/>
                </a:tc>
              </a:tr>
              <a:tr h="279748">
                <a:tc>
                  <a:txBody>
                    <a:bodyPr/>
                    <a:lstStyle/>
                    <a:p>
                      <a:pPr algn="ctr">
                        <a:spcAft>
                          <a:spcPts val="0"/>
                        </a:spcAft>
                      </a:pPr>
                      <a:r>
                        <a:rPr lang="en-US" sz="1600" kern="0">
                          <a:effectLst/>
                        </a:rPr>
                        <a:t>J</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68.816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76.874</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47.54027402</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3.279619816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M2</a:t>
                      </a:r>
                      <a:endParaRPr lang="zh-CN" sz="1600" kern="100" dirty="0">
                        <a:effectLst/>
                        <a:latin typeface="Times New Roman" panose="02020603050405020304"/>
                        <a:ea typeface="宋体" panose="02010600030101010101" pitchFamily="2" charset="-122"/>
                      </a:endParaRPr>
                    </a:p>
                  </a:txBody>
                  <a:tcPr marL="68580" marR="68580" marT="0" marB="0" anchor="ctr"/>
                </a:tc>
              </a:tr>
              <a:tr h="279748">
                <a:tc>
                  <a:txBody>
                    <a:bodyPr/>
                    <a:lstStyle/>
                    <a:p>
                      <a:pPr algn="ctr">
                        <a:spcAft>
                          <a:spcPts val="0"/>
                        </a:spcAft>
                      </a:pPr>
                      <a:r>
                        <a:rPr lang="en-US" sz="1600" kern="0">
                          <a:effectLst/>
                        </a:rPr>
                        <a:t>K</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69.076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57.829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48.31054424</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16.41779912</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M2</a:t>
                      </a:r>
                      <a:endParaRPr lang="zh-CN" sz="1600" kern="100" dirty="0">
                        <a:effectLst/>
                        <a:latin typeface="Times New Roman" panose="02020603050405020304"/>
                        <a:ea typeface="宋体" panose="02010600030101010101" pitchFamily="2" charset="-122"/>
                      </a:endParaRPr>
                    </a:p>
                  </a:txBody>
                  <a:tcPr marL="68580" marR="68580" marT="0" marB="0" anchor="ctr"/>
                </a:tc>
              </a:tr>
              <a:tr h="279748">
                <a:tc>
                  <a:txBody>
                    <a:bodyPr/>
                    <a:lstStyle/>
                    <a:p>
                      <a:pPr algn="ctr">
                        <a:spcAft>
                          <a:spcPts val="0"/>
                        </a:spcAft>
                      </a:pPr>
                      <a:r>
                        <a:rPr lang="en-US" sz="1600" kern="0">
                          <a:effectLst/>
                        </a:rPr>
                        <a:t>L</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85.691</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88.114</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66.60608146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20.49557506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M2</a:t>
                      </a:r>
                      <a:endParaRPr lang="zh-CN" sz="1600" kern="100" dirty="0">
                        <a:effectLst/>
                        <a:latin typeface="Times New Roman" panose="02020603050405020304"/>
                        <a:ea typeface="宋体" panose="02010600030101010101" pitchFamily="2" charset="-122"/>
                      </a:endParaRPr>
                    </a:p>
                  </a:txBody>
                  <a:tcPr marL="68580" marR="68580" marT="0" marB="0" anchor="ctr"/>
                </a:tc>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03500" y="442913"/>
            <a:ext cx="8915400" cy="6415087"/>
          </a:xfrm>
        </p:spPr>
        <p:txBody>
          <a:bodyPr>
            <a:noAutofit/>
          </a:bodyPr>
          <a:lstStyle/>
          <a:p>
            <a:pPr algn="just">
              <a:lnSpc>
                <a:spcPct val="150000"/>
              </a:lnSpc>
            </a:pPr>
            <a:r>
              <a:rPr lang="zh-CN" altLang="en-US" sz="2400" dirty="0" smtClean="0">
                <a:latin typeface="楷体" panose="02010609060101010101" pitchFamily="49" charset="-122"/>
                <a:ea typeface="楷体" panose="02010609060101010101" pitchFamily="49" charset="-122"/>
              </a:rPr>
              <a:t>第二次</a:t>
            </a:r>
            <a:r>
              <a:rPr lang="zh-CN" altLang="en-US" sz="2400" dirty="0">
                <a:latin typeface="楷体" panose="02010609060101010101" pitchFamily="49" charset="-122"/>
                <a:ea typeface="楷体" panose="02010609060101010101" pitchFamily="49" charset="-122"/>
              </a:rPr>
              <a:t>分类结果如</a:t>
            </a:r>
            <a:r>
              <a:rPr lang="zh-CN" altLang="en-US" sz="2400" dirty="0" smtClean="0">
                <a:latin typeface="楷体" panose="02010609060101010101" pitchFamily="49" charset="-122"/>
                <a:ea typeface="楷体" panose="02010609060101010101" pitchFamily="49" charset="-122"/>
              </a:rPr>
              <a:t>表所示</a:t>
            </a:r>
            <a:endParaRPr lang="en-US" altLang="zh-CN" sz="2400" dirty="0" smtClean="0">
              <a:latin typeface="楷体" panose="02010609060101010101" pitchFamily="49" charset="-122"/>
              <a:ea typeface="楷体" panose="02010609060101010101" pitchFamily="49" charset="-122"/>
            </a:endParaRPr>
          </a:p>
          <a:p>
            <a:pPr algn="just">
              <a:lnSpc>
                <a:spcPct val="150000"/>
              </a:lnSpc>
            </a:pPr>
            <a:endParaRPr lang="en-US" altLang="zh-CN" sz="2400" dirty="0" smtClean="0">
              <a:latin typeface="楷体" panose="02010609060101010101" pitchFamily="49" charset="-122"/>
              <a:ea typeface="楷体" panose="02010609060101010101" pitchFamily="49" charset="-122"/>
            </a:endParaRPr>
          </a:p>
        </p:txBody>
      </p:sp>
      <p:graphicFrame>
        <p:nvGraphicFramePr>
          <p:cNvPr id="2" name="表格 1"/>
          <p:cNvGraphicFramePr>
            <a:graphicFrameLocks noGrp="1"/>
          </p:cNvGraphicFramePr>
          <p:nvPr/>
        </p:nvGraphicFramePr>
        <p:xfrm>
          <a:off x="3055937" y="1371602"/>
          <a:ext cx="8226001" cy="4757739"/>
        </p:xfrm>
        <a:graphic>
          <a:graphicData uri="http://schemas.openxmlformats.org/drawingml/2006/table">
            <a:tbl>
              <a:tblPr>
                <a:tableStyleId>{5C22544A-7EE6-4342-B048-85BDC9FD1C3A}</a:tableStyleId>
              </a:tblPr>
              <a:tblGrid>
                <a:gridCol w="522799"/>
                <a:gridCol w="1683184"/>
                <a:gridCol w="1839710"/>
                <a:gridCol w="280705"/>
                <a:gridCol w="486276"/>
                <a:gridCol w="1644575"/>
                <a:gridCol w="1768752"/>
              </a:tblGrid>
              <a:tr h="679677">
                <a:tc gridSpan="3">
                  <a:txBody>
                    <a:bodyPr/>
                    <a:lstStyle/>
                    <a:p>
                      <a:pPr algn="ctr">
                        <a:spcAft>
                          <a:spcPts val="0"/>
                        </a:spcAft>
                      </a:pPr>
                      <a:r>
                        <a:rPr lang="en-US" sz="1600" kern="0" dirty="0">
                          <a:effectLst/>
                        </a:rPr>
                        <a:t>M1</a:t>
                      </a:r>
                      <a:r>
                        <a:rPr lang="zh-CN" sz="1600" kern="0" dirty="0">
                          <a:effectLst/>
                        </a:rPr>
                        <a:t>’类</a:t>
                      </a:r>
                      <a:endParaRPr lang="zh-CN" sz="1600" kern="100" dirty="0">
                        <a:effectLst/>
                        <a:latin typeface="Times New Roman" panose="02020603050405020304"/>
                        <a:ea typeface="宋体" panose="02010600030101010101" pitchFamily="2" charset="-122"/>
                      </a:endParaRPr>
                    </a:p>
                  </a:txBody>
                  <a:tcPr marL="68580" marR="68580" marT="0" marB="0" anchor="ctr"/>
                </a:tc>
                <a:tc hMerge="1">
                  <a:tcPr/>
                </a:tc>
                <a:tc hMerge="1">
                  <a:tcPr/>
                </a:tc>
                <a:tc>
                  <a:txBody>
                    <a:bodyPr/>
                    <a:lstStyle/>
                    <a:p>
                      <a:pPr algn="l">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gridSpan="3">
                  <a:txBody>
                    <a:bodyPr/>
                    <a:lstStyle/>
                    <a:p>
                      <a:pPr algn="ctr">
                        <a:spcAft>
                          <a:spcPts val="0"/>
                        </a:spcAft>
                      </a:pPr>
                      <a:r>
                        <a:rPr lang="en-US" sz="1600" kern="0" dirty="0">
                          <a:effectLst/>
                        </a:rPr>
                        <a:t>M2</a:t>
                      </a:r>
                      <a:r>
                        <a:rPr lang="zh-CN" sz="1600" kern="0" dirty="0">
                          <a:effectLst/>
                        </a:rPr>
                        <a:t>’类</a:t>
                      </a:r>
                      <a:endParaRPr lang="zh-CN" sz="1600" kern="100" dirty="0">
                        <a:effectLst/>
                        <a:latin typeface="Times New Roman" panose="02020603050405020304"/>
                        <a:ea typeface="宋体" panose="02010600030101010101" pitchFamily="2" charset="-122"/>
                      </a:endParaRPr>
                    </a:p>
                  </a:txBody>
                  <a:tcPr marL="68580" marR="68580" marT="0" marB="0" anchor="ctr"/>
                </a:tc>
                <a:tc hMerge="1">
                  <a:tcPr/>
                </a:tc>
                <a:tc hMerge="1">
                  <a:tcPr/>
                </a:tc>
              </a:tr>
              <a:tr h="679677">
                <a:tc>
                  <a:txBody>
                    <a:bodyPr/>
                    <a:lstStyle/>
                    <a:p>
                      <a:pPr algn="ctr">
                        <a:spcAft>
                          <a:spcPts val="0"/>
                        </a:spcAft>
                      </a:pPr>
                      <a:r>
                        <a:rPr lang="en-US" sz="1600" kern="0" dirty="0">
                          <a:effectLst/>
                        </a:rPr>
                        <a:t>A</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2.273</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68.367</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D</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62.049</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69.343</a:t>
                      </a:r>
                      <a:endParaRPr lang="zh-CN" sz="1600" kern="100">
                        <a:effectLst/>
                        <a:latin typeface="Times New Roman" panose="02020603050405020304"/>
                        <a:ea typeface="宋体" panose="02010600030101010101" pitchFamily="2" charset="-122"/>
                      </a:endParaRPr>
                    </a:p>
                  </a:txBody>
                  <a:tcPr marL="68580" marR="68580" marT="0" marB="0" anchor="ctr"/>
                </a:tc>
              </a:tr>
              <a:tr h="679677">
                <a:tc>
                  <a:txBody>
                    <a:bodyPr/>
                    <a:lstStyle/>
                    <a:p>
                      <a:pPr algn="ctr">
                        <a:spcAft>
                          <a:spcPts val="0"/>
                        </a:spcAft>
                      </a:pPr>
                      <a:r>
                        <a:rPr lang="en-US" sz="1600" kern="0">
                          <a:effectLst/>
                        </a:rPr>
                        <a:t>B</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27.89</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83.127</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F</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62.657</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90.094</a:t>
                      </a:r>
                      <a:endParaRPr lang="zh-CN" sz="1600" kern="100" dirty="0">
                        <a:effectLst/>
                        <a:latin typeface="Times New Roman" panose="02020603050405020304"/>
                        <a:ea typeface="宋体" panose="02010600030101010101" pitchFamily="2" charset="-122"/>
                      </a:endParaRPr>
                    </a:p>
                  </a:txBody>
                  <a:tcPr marL="68580" marR="68580" marT="0" marB="0" anchor="ctr"/>
                </a:tc>
              </a:tr>
              <a:tr h="679677">
                <a:tc>
                  <a:txBody>
                    <a:bodyPr/>
                    <a:lstStyle/>
                    <a:p>
                      <a:pPr algn="ctr">
                        <a:spcAft>
                          <a:spcPts val="0"/>
                        </a:spcAft>
                      </a:pPr>
                      <a:r>
                        <a:rPr lang="en-US" sz="1600" kern="0">
                          <a:effectLst/>
                        </a:rPr>
                        <a:t>C</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30.519</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61.07</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en-US" sz="1600" kern="0" dirty="0">
                          <a:effectLst/>
                        </a:rPr>
                        <a:t> </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G</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75.735</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62.761</a:t>
                      </a:r>
                      <a:endParaRPr lang="zh-CN" sz="1600" kern="100" dirty="0">
                        <a:effectLst/>
                        <a:latin typeface="Times New Roman" panose="02020603050405020304"/>
                        <a:ea typeface="宋体" panose="02010600030101010101" pitchFamily="2" charset="-122"/>
                      </a:endParaRPr>
                    </a:p>
                  </a:txBody>
                  <a:tcPr marL="68580" marR="68580" marT="0" marB="0" anchor="ctr"/>
                </a:tc>
              </a:tr>
              <a:tr h="679677">
                <a:tc>
                  <a:txBody>
                    <a:bodyPr/>
                    <a:lstStyle/>
                    <a:p>
                      <a:pPr algn="ctr">
                        <a:spcAft>
                          <a:spcPts val="0"/>
                        </a:spcAft>
                      </a:pPr>
                      <a:r>
                        <a:rPr lang="en-US" sz="1600" kern="0">
                          <a:effectLst/>
                        </a:rPr>
                        <a:t>E</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29.263</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68.748</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J</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68.816</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76.874</a:t>
                      </a:r>
                      <a:endParaRPr lang="zh-CN" sz="1600" kern="100" dirty="0">
                        <a:effectLst/>
                        <a:latin typeface="Times New Roman" panose="02020603050405020304"/>
                        <a:ea typeface="宋体" panose="02010600030101010101" pitchFamily="2" charset="-122"/>
                      </a:endParaRPr>
                    </a:p>
                  </a:txBody>
                  <a:tcPr marL="68580" marR="68580" marT="0" marB="0" anchor="ctr"/>
                </a:tc>
              </a:tr>
              <a:tr h="679677">
                <a:tc>
                  <a:txBody>
                    <a:bodyPr/>
                    <a:lstStyle/>
                    <a:p>
                      <a:pPr algn="ctr">
                        <a:spcAft>
                          <a:spcPts val="0"/>
                        </a:spcAft>
                      </a:pPr>
                      <a:r>
                        <a:rPr lang="en-US" sz="1600" kern="0">
                          <a:effectLst/>
                        </a:rPr>
                        <a:t>H</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24.344</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43.816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K</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69.076</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57.829</a:t>
                      </a:r>
                      <a:endParaRPr lang="zh-CN" sz="1600" kern="100" dirty="0">
                        <a:effectLst/>
                        <a:latin typeface="Times New Roman" panose="02020603050405020304"/>
                        <a:ea typeface="宋体" panose="02010600030101010101" pitchFamily="2" charset="-122"/>
                      </a:endParaRPr>
                    </a:p>
                  </a:txBody>
                  <a:tcPr marL="68580" marR="68580" marT="0" marB="0" anchor="ctr"/>
                </a:tc>
              </a:tr>
              <a:tr h="679677">
                <a:tc>
                  <a:txBody>
                    <a:bodyPr/>
                    <a:lstStyle/>
                    <a:p>
                      <a:pPr algn="ctr">
                        <a:spcAft>
                          <a:spcPts val="0"/>
                        </a:spcAft>
                      </a:pPr>
                      <a:r>
                        <a:rPr lang="en-US" sz="1600" kern="0">
                          <a:effectLst/>
                        </a:rPr>
                        <a:t>I</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17.667</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86.765</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l">
                        <a:spcAft>
                          <a:spcPts val="0"/>
                        </a:spcAft>
                      </a:pPr>
                      <a:r>
                        <a:rPr lang="en-US" sz="1600" kern="0">
                          <a:effectLst/>
                        </a:rPr>
                        <a:t> </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L</a:t>
                      </a:r>
                      <a:endParaRPr lang="zh-CN" sz="1600" kern="100" dirty="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a:effectLst/>
                        </a:rPr>
                        <a:t>85.691</a:t>
                      </a:r>
                      <a:endParaRPr lang="zh-CN" sz="1600" kern="100">
                        <a:effectLst/>
                        <a:latin typeface="Times New Roman" panose="02020603050405020304"/>
                        <a:ea typeface="宋体" panose="02010600030101010101" pitchFamily="2" charset="-122"/>
                      </a:endParaRPr>
                    </a:p>
                  </a:txBody>
                  <a:tcPr marL="68580" marR="68580" marT="0" marB="0" anchor="ctr"/>
                </a:tc>
                <a:tc>
                  <a:txBody>
                    <a:bodyPr/>
                    <a:lstStyle/>
                    <a:p>
                      <a:pPr algn="ctr">
                        <a:spcAft>
                          <a:spcPts val="0"/>
                        </a:spcAft>
                      </a:pPr>
                      <a:r>
                        <a:rPr lang="en-US" sz="1600" kern="0" dirty="0">
                          <a:effectLst/>
                        </a:rPr>
                        <a:t>88.114</a:t>
                      </a:r>
                      <a:endParaRPr lang="zh-CN" sz="1600" kern="100" dirty="0">
                        <a:effectLst/>
                        <a:latin typeface="Times New Roman" panose="02020603050405020304"/>
                        <a:ea typeface="宋体" panose="02010600030101010101" pitchFamily="2" charset="-122"/>
                      </a:endParaRPr>
                    </a:p>
                  </a:txBody>
                  <a:tcPr marL="68580" marR="68580" marT="0" marB="0" anchor="ctr"/>
                </a:tc>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03500" y="442913"/>
            <a:ext cx="8915400" cy="6415087"/>
          </a:xfrm>
        </p:spPr>
        <p:txBody>
          <a:bodyPr>
            <a:noAutofit/>
          </a:bodyPr>
          <a:lstStyle/>
          <a:p>
            <a:pPr algn="just">
              <a:lnSpc>
                <a:spcPct val="150000"/>
              </a:lnSpc>
            </a:pPr>
            <a:r>
              <a:rPr lang="zh-CN" altLang="en-US" sz="2400" dirty="0" smtClean="0">
                <a:latin typeface="楷体" panose="02010609060101010101" pitchFamily="49" charset="-122"/>
                <a:ea typeface="楷体" panose="02010609060101010101" pitchFamily="49" charset="-122"/>
              </a:rPr>
              <a:t>第</a:t>
            </a:r>
            <a:r>
              <a:rPr lang="zh-CN" altLang="en-US" sz="2400" dirty="0">
                <a:latin typeface="楷体" panose="02010609060101010101" pitchFamily="49" charset="-122"/>
                <a:ea typeface="楷体" panose="02010609060101010101" pitchFamily="49" charset="-122"/>
              </a:rPr>
              <a:t>二</a:t>
            </a:r>
            <a:r>
              <a:rPr lang="zh-CN" altLang="en-US" sz="2400" dirty="0" smtClean="0">
                <a:latin typeface="楷体" panose="02010609060101010101" pitchFamily="49" charset="-122"/>
                <a:ea typeface="楷体" panose="02010609060101010101" pitchFamily="49" charset="-122"/>
              </a:rPr>
              <a:t>次分类结果绘制</a:t>
            </a:r>
            <a:r>
              <a:rPr lang="zh-CN" altLang="en-US" sz="2400" dirty="0">
                <a:latin typeface="楷体" panose="02010609060101010101" pitchFamily="49" charset="-122"/>
                <a:ea typeface="楷体" panose="02010609060101010101" pitchFamily="49" charset="-122"/>
              </a:rPr>
              <a:t>的散点图如</a:t>
            </a:r>
            <a:r>
              <a:rPr lang="zh-CN" altLang="en-US" sz="2400" dirty="0" smtClean="0">
                <a:latin typeface="楷体" panose="02010609060101010101" pitchFamily="49" charset="-122"/>
                <a:ea typeface="楷体" panose="02010609060101010101" pitchFamily="49" charset="-122"/>
              </a:rPr>
              <a:t>图</a:t>
            </a:r>
            <a:endParaRPr lang="en-US" altLang="zh-CN" sz="2400" dirty="0" smtClean="0">
              <a:latin typeface="楷体" panose="02010609060101010101" pitchFamily="49" charset="-122"/>
              <a:ea typeface="楷体" panose="02010609060101010101" pitchFamily="49" charset="-122"/>
            </a:endParaRPr>
          </a:p>
        </p:txBody>
      </p:sp>
      <p:pic>
        <p:nvPicPr>
          <p:cNvPr id="5" name="图表 5"/>
          <p:cNvPicPr/>
          <p:nvPr/>
        </p:nvPicPr>
        <p:blipFill>
          <a:blip r:embed="rId1">
            <a:extLst>
              <a:ext uri="{28A0092B-C50C-407E-A947-70E740481C1C}">
                <a14:useLocalDpi xmlns:a14="http://schemas.microsoft.com/office/drawing/2010/main" val="0"/>
              </a:ext>
            </a:extLst>
          </a:blip>
          <a:srcRect/>
          <a:stretch>
            <a:fillRect/>
          </a:stretch>
        </p:blipFill>
        <p:spPr bwMode="auto">
          <a:xfrm>
            <a:off x="3009898" y="1143000"/>
            <a:ext cx="8226000" cy="4429125"/>
          </a:xfrm>
          <a:prstGeom prst="rect">
            <a:avLst/>
          </a:prstGeom>
          <a:solidFill>
            <a:srgbClr val="FFFFFF"/>
          </a:solidFill>
          <a:ln>
            <a:noFill/>
          </a:ln>
        </p:spPr>
      </p:pic>
      <p:sp>
        <p:nvSpPr>
          <p:cNvPr id="6" name="内容占位符 2"/>
          <p:cNvSpPr txBox="1"/>
          <p:nvPr/>
        </p:nvSpPr>
        <p:spPr>
          <a:xfrm>
            <a:off x="2709648" y="5572126"/>
            <a:ext cx="8826500" cy="111442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pPr algn="just">
              <a:lnSpc>
                <a:spcPct val="150000"/>
              </a:lnSpc>
            </a:pPr>
            <a:r>
              <a:rPr lang="zh-CN" altLang="en-US" sz="2400" dirty="0" smtClean="0">
                <a:latin typeface="楷体" panose="02010609060101010101" pitchFamily="49" charset="-122"/>
                <a:ea typeface="楷体" panose="02010609060101010101" pitchFamily="49" charset="-122"/>
              </a:rPr>
              <a:t>根据以上分析过程，可以明显看出第二次聚类结果和第一次聚类结果没有发生变化，由此可以确定聚类结束</a:t>
            </a:r>
            <a:r>
              <a:rPr lang="en-US" altLang="zh-CN" sz="2400" dirty="0" smtClean="0">
                <a:latin typeface="楷体" panose="02010609060101010101" pitchFamily="49" charset="-122"/>
                <a:ea typeface="楷体" panose="02010609060101010101" pitchFamily="49" charset="-122"/>
              </a:rPr>
              <a:t>.</a:t>
            </a:r>
            <a:endParaRPr lang="zh-CN" altLang="en-US" sz="2400" dirty="0">
              <a:latin typeface="楷体" panose="02010609060101010101" pitchFamily="49" charset="-122"/>
              <a:ea typeface="楷体" panose="02010609060101010101" pitchFamily="49" charset="-122"/>
            </a:endParaRPr>
          </a:p>
        </p:txBody>
      </p:sp>
      <p:sp>
        <p:nvSpPr>
          <p:cNvPr id="9" name="椭圆 8"/>
          <p:cNvSpPr/>
          <p:nvPr/>
        </p:nvSpPr>
        <p:spPr>
          <a:xfrm>
            <a:off x="3730625" y="2499995"/>
            <a:ext cx="153035" cy="161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椭圆 1"/>
          <p:cNvSpPr/>
          <p:nvPr/>
        </p:nvSpPr>
        <p:spPr>
          <a:xfrm>
            <a:off x="4845050" y="1814195"/>
            <a:ext cx="153035" cy="161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椭圆 3"/>
          <p:cNvSpPr/>
          <p:nvPr/>
        </p:nvSpPr>
        <p:spPr>
          <a:xfrm>
            <a:off x="5568950" y="1976120"/>
            <a:ext cx="153035" cy="161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椭圆 6"/>
          <p:cNvSpPr/>
          <p:nvPr/>
        </p:nvSpPr>
        <p:spPr>
          <a:xfrm>
            <a:off x="5721985" y="2499995"/>
            <a:ext cx="153035" cy="161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椭圆 7"/>
          <p:cNvSpPr/>
          <p:nvPr/>
        </p:nvSpPr>
        <p:spPr>
          <a:xfrm>
            <a:off x="5721985" y="2785745"/>
            <a:ext cx="153035" cy="161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椭圆 9"/>
          <p:cNvSpPr/>
          <p:nvPr/>
        </p:nvSpPr>
        <p:spPr>
          <a:xfrm>
            <a:off x="5311775" y="3471545"/>
            <a:ext cx="153035" cy="1619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603500" y="385763"/>
            <a:ext cx="8915400" cy="6029325"/>
          </a:xfrm>
        </p:spPr>
        <p:txBody>
          <a:bodyPr>
            <a:noAutofit/>
          </a:bodyPr>
          <a:lstStyle/>
          <a:p>
            <a:pPr algn="just">
              <a:lnSpc>
                <a:spcPct val="150000"/>
              </a:lnSpc>
            </a:pPr>
            <a:r>
              <a:rPr lang="zh-CN" altLang="en-US" sz="2400" dirty="0" smtClean="0">
                <a:latin typeface="楷体" panose="02010609060101010101" pitchFamily="49" charset="-122"/>
                <a:ea typeface="楷体" panose="02010609060101010101" pitchFamily="49" charset="-122"/>
              </a:rPr>
              <a:t>实例</a:t>
            </a:r>
            <a:r>
              <a:rPr lang="en-US" altLang="zh-CN" sz="2400" dirty="0" smtClean="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设有数据样本集合</a:t>
            </a:r>
            <a:r>
              <a:rPr lang="zh-CN" altLang="en-US" sz="2400" dirty="0" smtClean="0">
                <a:latin typeface="楷体" panose="02010609060101010101" pitchFamily="49" charset="-122"/>
                <a:ea typeface="楷体" panose="02010609060101010101" pitchFamily="49" charset="-122"/>
              </a:rPr>
              <a:t>为</a:t>
            </a:r>
            <a:r>
              <a:rPr lang="en-US" altLang="zh-CN" sz="2400" dirty="0" smtClean="0">
                <a:latin typeface="楷体" panose="02010609060101010101" pitchFamily="49" charset="-122"/>
                <a:ea typeface="楷体" panose="02010609060101010101" pitchFamily="49" charset="-122"/>
              </a:rPr>
              <a:t>X={1,5,10,9,26,32,16,21</a:t>
            </a:r>
            <a:r>
              <a:rPr lang="en-US" altLang="zh-CN" sz="2400" dirty="0">
                <a:latin typeface="楷体" panose="02010609060101010101" pitchFamily="49" charset="-122"/>
                <a:ea typeface="楷体" panose="02010609060101010101" pitchFamily="49" charset="-122"/>
              </a:rPr>
              <a:t>,</a:t>
            </a:r>
            <a:r>
              <a:rPr lang="en-US" altLang="zh-CN" sz="2400" dirty="0" smtClean="0">
                <a:latin typeface="楷体" panose="02010609060101010101" pitchFamily="49" charset="-122"/>
                <a:ea typeface="楷体" panose="02010609060101010101" pitchFamily="49" charset="-122"/>
              </a:rPr>
              <a:t>14}</a:t>
            </a:r>
            <a:r>
              <a:rPr lang="zh-CN" altLang="en-US" sz="2400" dirty="0" smtClean="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a:t>
            </a:r>
            <a:r>
              <a:rPr lang="zh-CN" altLang="en-US" sz="2400" dirty="0" smtClean="0">
                <a:latin typeface="楷体" panose="02010609060101010101" pitchFamily="49" charset="-122"/>
                <a:ea typeface="楷体" panose="02010609060101010101" pitchFamily="49" charset="-122"/>
              </a:rPr>
              <a:t>将</a:t>
            </a:r>
            <a:r>
              <a:rPr lang="en-US" altLang="zh-CN" sz="2400" dirty="0" smtClean="0">
                <a:latin typeface="楷体" panose="02010609060101010101" pitchFamily="49" charset="-122"/>
                <a:ea typeface="楷体" panose="02010609060101010101" pitchFamily="49" charset="-122"/>
              </a:rPr>
              <a:t>X</a:t>
            </a:r>
            <a:r>
              <a:rPr lang="zh-CN" altLang="en-US" sz="2400" dirty="0" smtClean="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聚为</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类，</a:t>
            </a:r>
            <a:r>
              <a:rPr lang="zh-CN" altLang="en-US" sz="2400" dirty="0" smtClean="0">
                <a:latin typeface="楷体" panose="02010609060101010101" pitchFamily="49" charset="-122"/>
                <a:ea typeface="楷体" panose="02010609060101010101" pitchFamily="49" charset="-122"/>
              </a:rPr>
              <a:t>即</a:t>
            </a:r>
            <a:r>
              <a:rPr lang="en-US" altLang="zh-CN" sz="2400" dirty="0" smtClean="0">
                <a:latin typeface="楷体" panose="02010609060101010101" pitchFamily="49" charset="-122"/>
                <a:ea typeface="楷体" panose="02010609060101010101" pitchFamily="49" charset="-122"/>
              </a:rPr>
              <a:t>k=3</a:t>
            </a:r>
            <a:r>
              <a:rPr lang="zh-CN" altLang="en-US" sz="2400" dirty="0" smtClean="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随机选择前三个数值为初始的聚类中心，即 </a:t>
            </a:r>
            <a:r>
              <a:rPr lang="en-US" altLang="zh-CN" sz="2400" dirty="0" smtClean="0">
                <a:latin typeface="楷体" panose="02010609060101010101" pitchFamily="49" charset="-122"/>
                <a:ea typeface="楷体" panose="02010609060101010101" pitchFamily="49" charset="-122"/>
              </a:rPr>
              <a:t>z1=1,z2=5,z3=10</a:t>
            </a:r>
            <a:r>
              <a:rPr lang="zh-CN" altLang="en-US" sz="2400" dirty="0" smtClean="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（采用欧氏距离进行计算。</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r>
              <a:rPr lang="zh-CN" altLang="zh-CN" sz="2400" dirty="0">
                <a:latin typeface="楷体" panose="02010609060101010101" pitchFamily="49" charset="-122"/>
                <a:ea typeface="楷体" panose="02010609060101010101" pitchFamily="49" charset="-122"/>
              </a:rPr>
              <a:t>第一次迭代：按照三个聚类中心将样本集合分为三</a:t>
            </a:r>
            <a:r>
              <a:rPr lang="zh-CN" altLang="zh-CN" sz="2400" dirty="0" smtClean="0">
                <a:latin typeface="楷体" panose="02010609060101010101" pitchFamily="49" charset="-122"/>
                <a:ea typeface="楷体" panose="02010609060101010101" pitchFamily="49" charset="-122"/>
              </a:rPr>
              <a:t>个</a:t>
            </a:r>
            <a:r>
              <a:rPr lang="en-US" altLang="zh-CN" sz="2400" dirty="0" smtClean="0">
                <a:latin typeface="楷体" panose="02010609060101010101" pitchFamily="49" charset="-122"/>
                <a:ea typeface="楷体" panose="02010609060101010101" pitchFamily="49" charset="-122"/>
              </a:rPr>
              <a:t>{1}</a:t>
            </a:r>
            <a:r>
              <a:rPr lang="en-US" altLang="zh-CN" sz="2400" dirty="0">
                <a:latin typeface="楷体" panose="02010609060101010101" pitchFamily="49" charset="-122"/>
                <a:ea typeface="楷体" panose="02010609060101010101" pitchFamily="49" charset="-122"/>
              </a:rPr>
              <a:t>,</a:t>
            </a:r>
            <a:r>
              <a:rPr lang="en-US" altLang="zh-CN" sz="2400" dirty="0" smtClean="0">
                <a:latin typeface="楷体" panose="02010609060101010101" pitchFamily="49" charset="-122"/>
                <a:ea typeface="楷体" panose="02010609060101010101" pitchFamily="49" charset="-122"/>
              </a:rPr>
              <a:t>{5},{10,9,26,32,16,21,14} </a:t>
            </a:r>
            <a:r>
              <a:rPr lang="zh-CN" altLang="zh-CN" sz="2400" dirty="0">
                <a:latin typeface="楷体" panose="02010609060101010101" pitchFamily="49" charset="-122"/>
                <a:ea typeface="楷体" panose="02010609060101010101" pitchFamily="49" charset="-122"/>
              </a:rPr>
              <a:t>。对于产生的簇分别计算平均值，得到平均值点填入第</a:t>
            </a:r>
            <a:r>
              <a:rPr lang="en-US" altLang="zh-CN" sz="2400" dirty="0">
                <a:latin typeface="楷体" panose="02010609060101010101" pitchFamily="49" charset="-122"/>
                <a:ea typeface="楷体" panose="02010609060101010101" pitchFamily="49" charset="-122"/>
              </a:rPr>
              <a:t>2</a:t>
            </a:r>
            <a:r>
              <a:rPr lang="zh-CN" altLang="zh-CN" sz="2400" dirty="0">
                <a:latin typeface="楷体" panose="02010609060101010101" pitchFamily="49" charset="-122"/>
                <a:ea typeface="楷体" panose="02010609060101010101" pitchFamily="49" charset="-122"/>
              </a:rPr>
              <a:t>步的</a:t>
            </a:r>
            <a:r>
              <a:rPr lang="en-US" altLang="zh-CN" sz="2400" dirty="0">
                <a:latin typeface="楷体" panose="02010609060101010101" pitchFamily="49" charset="-122"/>
                <a:ea typeface="楷体" panose="02010609060101010101" pitchFamily="49" charset="-122"/>
              </a:rPr>
              <a:t> </a:t>
            </a:r>
            <a:r>
              <a:rPr lang="en-US" altLang="zh-CN" sz="2400" dirty="0" smtClean="0">
                <a:latin typeface="楷体" panose="02010609060101010101" pitchFamily="49" charset="-122"/>
                <a:ea typeface="楷体" panose="02010609060101010101" pitchFamily="49" charset="-122"/>
              </a:rPr>
              <a:t>z1,z2,z3</a:t>
            </a:r>
            <a:r>
              <a:rPr lang="zh-CN" altLang="zh-CN" sz="2400" dirty="0" smtClean="0">
                <a:latin typeface="楷体" panose="02010609060101010101" pitchFamily="49" charset="-122"/>
                <a:ea typeface="楷体" panose="02010609060101010101" pitchFamily="49" charset="-122"/>
              </a:rPr>
              <a:t>栏</a:t>
            </a:r>
            <a:r>
              <a:rPr lang="zh-CN" altLang="zh-CN" sz="2400" dirty="0">
                <a:latin typeface="楷体" panose="02010609060101010101" pitchFamily="49" charset="-122"/>
                <a:ea typeface="楷体" panose="02010609060101010101" pitchFamily="49" charset="-122"/>
              </a:rPr>
              <a:t>中。</a:t>
            </a:r>
            <a:endParaRPr lang="zh-CN" altLang="zh-CN" sz="2400" dirty="0">
              <a:latin typeface="楷体" panose="02010609060101010101" pitchFamily="49" charset="-122"/>
              <a:ea typeface="楷体" panose="02010609060101010101" pitchFamily="49" charset="-122"/>
            </a:endParaRPr>
          </a:p>
          <a:p>
            <a:r>
              <a:rPr lang="zh-CN" altLang="zh-CN" sz="2400" dirty="0">
                <a:latin typeface="楷体" panose="02010609060101010101" pitchFamily="49" charset="-122"/>
                <a:ea typeface="楷体" panose="02010609060101010101" pitchFamily="49" charset="-122"/>
              </a:rPr>
              <a:t>第二次迭代：通过平均值调整对象所在的簇，重新聚类。即将所有点按距离平均值点</a:t>
            </a:r>
            <a:r>
              <a:rPr lang="en-US" altLang="zh-CN" sz="2400" dirty="0">
                <a:latin typeface="楷体" panose="02010609060101010101" pitchFamily="49" charset="-122"/>
                <a:ea typeface="楷体" panose="02010609060101010101" pitchFamily="49" charset="-122"/>
              </a:rPr>
              <a:t>1,5,18.3</a:t>
            </a:r>
            <a:r>
              <a:rPr lang="zh-CN" altLang="zh-CN" sz="2400" dirty="0">
                <a:latin typeface="楷体" panose="02010609060101010101" pitchFamily="49" charset="-122"/>
                <a:ea typeface="楷体" panose="02010609060101010101" pitchFamily="49" charset="-122"/>
              </a:rPr>
              <a:t>最近的原则重新分配，得到三个新的簇</a:t>
            </a:r>
            <a:r>
              <a:rPr lang="zh-CN" altLang="zh-CN" sz="2400" dirty="0" smtClean="0">
                <a:latin typeface="楷体" panose="02010609060101010101" pitchFamily="49" charset="-122"/>
                <a:ea typeface="楷体" panose="02010609060101010101" pitchFamily="49" charset="-122"/>
              </a:rPr>
              <a:t>：</a:t>
            </a:r>
            <a:r>
              <a:rPr lang="en-US" altLang="zh-CN" sz="2400" dirty="0" smtClean="0">
                <a:latin typeface="楷体" panose="02010609060101010101" pitchFamily="49" charset="-122"/>
                <a:ea typeface="楷体" panose="02010609060101010101" pitchFamily="49" charset="-122"/>
              </a:rPr>
              <a:t>{1},{5,10,9},{26,32,16,21,14} </a:t>
            </a:r>
            <a:r>
              <a:rPr lang="zh-CN" altLang="zh-CN" sz="2400" dirty="0">
                <a:latin typeface="楷体" panose="02010609060101010101" pitchFamily="49" charset="-122"/>
                <a:ea typeface="楷体" panose="02010609060101010101" pitchFamily="49" charset="-122"/>
              </a:rPr>
              <a:t>。填入第</a:t>
            </a:r>
            <a:r>
              <a:rPr lang="en-US" altLang="zh-CN" sz="2400" dirty="0" smtClean="0">
                <a:latin typeface="楷体" panose="02010609060101010101" pitchFamily="49" charset="-122"/>
                <a:ea typeface="楷体" panose="02010609060101010101" pitchFamily="49" charset="-122"/>
              </a:rPr>
              <a:t>2</a:t>
            </a:r>
            <a:r>
              <a:rPr lang="zh-CN" altLang="en-US" sz="2400" dirty="0" smtClean="0">
                <a:latin typeface="楷体" panose="02010609060101010101" pitchFamily="49" charset="-122"/>
                <a:ea typeface="楷体" panose="02010609060101010101" pitchFamily="49" charset="-122"/>
              </a:rPr>
              <a:t>步的</a:t>
            </a:r>
            <a:r>
              <a:rPr lang="en-US" altLang="zh-CN" sz="2400" dirty="0" smtClean="0">
                <a:latin typeface="楷体" panose="02010609060101010101" pitchFamily="49" charset="-122"/>
                <a:ea typeface="楷体" panose="02010609060101010101" pitchFamily="49" charset="-122"/>
              </a:rPr>
              <a:t>C1,C2,C3</a:t>
            </a:r>
            <a:r>
              <a:rPr lang="zh-CN" altLang="zh-CN" sz="2400" dirty="0" smtClean="0">
                <a:latin typeface="楷体" panose="02010609060101010101" pitchFamily="49" charset="-122"/>
                <a:ea typeface="楷体" panose="02010609060101010101" pitchFamily="49" charset="-122"/>
              </a:rPr>
              <a:t>栏中。重新计算簇平均值点，得到新的平均值点为</a:t>
            </a:r>
            <a:r>
              <a:rPr lang="en-US" altLang="zh-CN" sz="2400" dirty="0" smtClean="0">
                <a:latin typeface="楷体" panose="02010609060101010101" pitchFamily="49" charset="-122"/>
                <a:ea typeface="楷体" panose="02010609060101010101" pitchFamily="49" charset="-122"/>
              </a:rPr>
              <a:t>1,8,21.8</a:t>
            </a:r>
            <a:r>
              <a:rPr lang="zh-CN" altLang="zh-CN" sz="2400" dirty="0" smtClean="0">
                <a:latin typeface="楷体" panose="02010609060101010101" pitchFamily="49" charset="-122"/>
                <a:ea typeface="楷体" panose="02010609060101010101" pitchFamily="49" charset="-122"/>
              </a:rPr>
              <a:t>。</a:t>
            </a:r>
            <a:endParaRPr lang="zh-CN" altLang="zh-CN" sz="2400" dirty="0" smtClean="0">
              <a:latin typeface="楷体" panose="02010609060101010101" pitchFamily="49" charset="-122"/>
              <a:ea typeface="楷体" panose="02010609060101010101" pitchFamily="49" charset="-122"/>
            </a:endParaRPr>
          </a:p>
          <a:p>
            <a:r>
              <a:rPr lang="zh-CN" altLang="zh-CN" sz="2400" dirty="0" smtClean="0">
                <a:latin typeface="楷体" panose="02010609060101010101" pitchFamily="49" charset="-122"/>
                <a:ea typeface="楷体" panose="02010609060101010101" pitchFamily="49" charset="-122"/>
              </a:rPr>
              <a:t>以此类推</a:t>
            </a:r>
            <a:r>
              <a:rPr lang="zh-CN" altLang="zh-CN" sz="2400" dirty="0">
                <a:latin typeface="楷体" panose="02010609060101010101" pitchFamily="49" charset="-122"/>
                <a:ea typeface="楷体" panose="02010609060101010101" pitchFamily="49" charset="-122"/>
              </a:rPr>
              <a:t>，第五次迭代时，得到的三个簇与第四次迭代的结果相同，而且准则函数</a:t>
            </a:r>
            <a:r>
              <a:rPr lang="en-US" altLang="zh-CN" sz="2400" dirty="0">
                <a:latin typeface="楷体" panose="02010609060101010101" pitchFamily="49" charset="-122"/>
                <a:ea typeface="楷体" panose="02010609060101010101" pitchFamily="49" charset="-122"/>
              </a:rPr>
              <a:t>E</a:t>
            </a:r>
            <a:r>
              <a:rPr lang="zh-CN" altLang="zh-CN" sz="2400" dirty="0">
                <a:latin typeface="楷体" panose="02010609060101010101" pitchFamily="49" charset="-122"/>
                <a:ea typeface="楷体" panose="02010609060101010101" pitchFamily="49" charset="-122"/>
              </a:rPr>
              <a:t>收敛，迭代结束。结果如</a:t>
            </a:r>
            <a:r>
              <a:rPr lang="zh-CN" altLang="zh-CN" sz="2400" dirty="0" smtClean="0">
                <a:latin typeface="楷体" panose="02010609060101010101" pitchFamily="49" charset="-122"/>
                <a:ea typeface="楷体" panose="02010609060101010101" pitchFamily="49" charset="-122"/>
              </a:rPr>
              <a:t>表所</a:t>
            </a:r>
            <a:r>
              <a:rPr lang="zh-CN" altLang="zh-CN" sz="2400" dirty="0">
                <a:latin typeface="楷体" panose="02010609060101010101" pitchFamily="49" charset="-122"/>
                <a:ea typeface="楷体" panose="02010609060101010101" pitchFamily="49" charset="-122"/>
              </a:rPr>
              <a:t>示。</a:t>
            </a:r>
            <a:endParaRPr lang="zh-CN" altLang="zh-CN" sz="2400" dirty="0">
              <a:latin typeface="楷体" panose="02010609060101010101" pitchFamily="49" charset="-122"/>
              <a:ea typeface="楷体" panose="02010609060101010101" pitchFamily="49" charset="-122"/>
            </a:endParaRPr>
          </a:p>
          <a:p>
            <a:pPr algn="just">
              <a:lnSpc>
                <a:spcPct val="150000"/>
              </a:lnSpc>
            </a:pPr>
            <a:endParaRPr lang="zh-CN" altLang="en-US" sz="24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5"/>
          <p:cNvPicPr>
            <a:picLocks noGrp="1"/>
          </p:cNvPicPr>
          <p:nvPr>
            <p:ph idx="1"/>
          </p:nvPr>
        </p:nvPicPr>
        <p:blipFill>
          <a:blip r:embed="rId1" cstate="print">
            <a:extLst>
              <a:ext uri="{28A0092B-C50C-407E-A947-70E740481C1C}">
                <a14:useLocalDpi xmlns:a14="http://schemas.microsoft.com/office/drawing/2010/main" val="0"/>
              </a:ext>
            </a:extLst>
          </a:blip>
          <a:srcRect/>
          <a:stretch>
            <a:fillRect/>
          </a:stretch>
        </p:blipFill>
        <p:spPr bwMode="auto">
          <a:xfrm>
            <a:off x="2051584" y="748547"/>
            <a:ext cx="9374706" cy="5360906"/>
          </a:xfrm>
          <a:prstGeom prst="rect">
            <a:avLst/>
          </a:prstGeom>
          <a:noFill/>
          <a:ln>
            <a:noFill/>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424086"/>
            <a:ext cx="8911687" cy="1280890"/>
          </a:xfrm>
        </p:spPr>
        <p:txBody>
          <a:bodyPr/>
          <a:lstStyle/>
          <a:p>
            <a:r>
              <a:rPr lang="en-US" altLang="zh-CN" dirty="0" smtClean="0">
                <a:latin typeface="楷体" panose="02010609060101010101" pitchFamily="49" charset="-122"/>
                <a:ea typeface="楷体" panose="02010609060101010101" pitchFamily="49" charset="-122"/>
              </a:rPr>
              <a:t>8.4  K-means</a:t>
            </a:r>
            <a:r>
              <a:rPr lang="zh-CN" altLang="en-US" dirty="0" smtClean="0">
                <a:latin typeface="楷体" panose="02010609060101010101" pitchFamily="49" charset="-122"/>
                <a:ea typeface="楷体" panose="02010609060101010101" pitchFamily="49" charset="-122"/>
              </a:rPr>
              <a:t>聚类算法源程序分析</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2603500" y="1219198"/>
            <a:ext cx="8915400" cy="5138740"/>
          </a:xfrm>
        </p:spPr>
        <p:txBody>
          <a:bodyPr>
            <a:noAutofit/>
          </a:bodyPr>
          <a:lstStyle/>
          <a:p>
            <a:pPr algn="just">
              <a:lnSpc>
                <a:spcPct val="150000"/>
              </a:lnSpc>
            </a:pPr>
            <a:r>
              <a:rPr lang="zh-CN" altLang="en-US" sz="2400" dirty="0" smtClean="0">
                <a:latin typeface="楷体" panose="02010609060101010101" pitchFamily="49" charset="-122"/>
                <a:ea typeface="楷体" panose="02010609060101010101" pitchFamily="49" charset="-122"/>
              </a:rPr>
              <a:t>源程序见</a:t>
            </a:r>
            <a:r>
              <a:rPr lang="zh-CN" altLang="en-US" sz="2400" dirty="0" smtClean="0">
                <a:latin typeface="楷体" panose="02010609060101010101" pitchFamily="49" charset="-122"/>
                <a:ea typeface="楷体" panose="02010609060101010101" pitchFamily="49" charset="-122"/>
              </a:rPr>
              <a:t>第</a:t>
            </a:r>
            <a:r>
              <a:rPr lang="en-US" altLang="zh-CN" sz="2400" dirty="0" smtClean="0">
                <a:latin typeface="楷体" panose="02010609060101010101" pitchFamily="49" charset="-122"/>
                <a:ea typeface="楷体" panose="02010609060101010101" pitchFamily="49" charset="-122"/>
              </a:rPr>
              <a:t>164</a:t>
            </a:r>
            <a:r>
              <a:rPr lang="zh-CN" altLang="en-US" sz="2400" dirty="0" smtClean="0">
                <a:latin typeface="楷体" panose="02010609060101010101" pitchFamily="49" charset="-122"/>
                <a:ea typeface="楷体" panose="02010609060101010101" pitchFamily="49" charset="-122"/>
              </a:rPr>
              <a:t>页</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a:p>
            <a:pPr algn="just">
              <a:lnSpc>
                <a:spcPct val="150000"/>
              </a:lnSpc>
            </a:pPr>
            <a:r>
              <a:rPr lang="zh-CN" altLang="en-US" sz="2400" dirty="0">
                <a:latin typeface="楷体" panose="02010609060101010101" pitchFamily="49" charset="-122"/>
                <a:ea typeface="楷体" panose="02010609060101010101" pitchFamily="49" charset="-122"/>
              </a:rPr>
              <a:t>结果分析</a:t>
            </a:r>
            <a:r>
              <a:rPr lang="zh-CN" altLang="en-US" sz="2400" dirty="0" smtClean="0">
                <a:latin typeface="楷体" panose="02010609060101010101" pitchFamily="49" charset="-122"/>
                <a:ea typeface="楷体" panose="02010609060101010101" pitchFamily="49" charset="-122"/>
              </a:rPr>
              <a:t>：见</a:t>
            </a:r>
            <a:r>
              <a:rPr lang="zh-CN" altLang="en-US" sz="2400" dirty="0" smtClean="0">
                <a:latin typeface="楷体" panose="02010609060101010101" pitchFamily="49" charset="-122"/>
                <a:ea typeface="楷体" panose="02010609060101010101" pitchFamily="49" charset="-122"/>
              </a:rPr>
              <a:t>第</a:t>
            </a:r>
            <a:r>
              <a:rPr lang="en-US" altLang="zh-CN" sz="2400" dirty="0" smtClean="0">
                <a:latin typeface="楷体" panose="02010609060101010101" pitchFamily="49" charset="-122"/>
                <a:ea typeface="楷体" panose="02010609060101010101" pitchFamily="49" charset="-122"/>
              </a:rPr>
              <a:t>170</a:t>
            </a:r>
            <a:r>
              <a:rPr lang="zh-CN" altLang="en-US" sz="2400" dirty="0" smtClean="0">
                <a:latin typeface="楷体" panose="02010609060101010101" pitchFamily="49" charset="-122"/>
                <a:ea typeface="楷体" panose="02010609060101010101" pitchFamily="49" charset="-122"/>
              </a:rPr>
              <a:t>页</a:t>
            </a:r>
            <a:r>
              <a:rPr lang="zh-CN" altLang="en-US" sz="2400" dirty="0" smtClean="0">
                <a:latin typeface="楷体" panose="02010609060101010101" pitchFamily="49" charset="-122"/>
                <a:ea typeface="楷体" panose="02010609060101010101" pitchFamily="49" charset="-122"/>
              </a:rPr>
              <a:t>。</a:t>
            </a:r>
            <a:endParaRPr lang="en-US" altLang="zh-CN" sz="2400" dirty="0" smtClean="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424086"/>
            <a:ext cx="8911687" cy="1280890"/>
          </a:xfrm>
        </p:spPr>
        <p:txBody>
          <a:bodyPr/>
          <a:lstStyle/>
          <a:p>
            <a:r>
              <a:rPr lang="en-US" altLang="zh-CN" dirty="0" smtClean="0">
                <a:latin typeface="楷体" panose="02010609060101010101" pitchFamily="49" charset="-122"/>
                <a:ea typeface="楷体" panose="02010609060101010101" pitchFamily="49" charset="-122"/>
              </a:rPr>
              <a:t>8.5 K-means</a:t>
            </a:r>
            <a:r>
              <a:rPr lang="zh-CN" altLang="en-US" dirty="0" smtClean="0">
                <a:latin typeface="楷体" panose="02010609060101010101" pitchFamily="49" charset="-122"/>
                <a:ea typeface="楷体" panose="02010609060101010101" pitchFamily="49" charset="-122"/>
              </a:rPr>
              <a:t>聚类算法特点及应用</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2603500" y="1219198"/>
            <a:ext cx="8915400" cy="5138740"/>
          </a:xfrm>
        </p:spPr>
        <p:txBody>
          <a:bodyPr>
            <a:noAutofit/>
          </a:bodyPr>
          <a:lstStyle/>
          <a:p>
            <a:pPr algn="just">
              <a:lnSpc>
                <a:spcPct val="150000"/>
              </a:lnSpc>
            </a:pPr>
            <a:r>
              <a:rPr lang="en-US" altLang="zh-CN" sz="2400" dirty="0" smtClean="0">
                <a:latin typeface="楷体" panose="02010609060101010101" pitchFamily="49" charset="-122"/>
                <a:ea typeface="楷体" panose="02010609060101010101" pitchFamily="49" charset="-122"/>
              </a:rPr>
              <a:t>8.5.1 K-means</a:t>
            </a:r>
            <a:r>
              <a:rPr lang="zh-CN" altLang="en-US" sz="2400" dirty="0" smtClean="0">
                <a:latin typeface="楷体" panose="02010609060101010101" pitchFamily="49" charset="-122"/>
                <a:ea typeface="楷体" panose="02010609060101010101" pitchFamily="49" charset="-122"/>
              </a:rPr>
              <a:t>聚类算法特点</a:t>
            </a:r>
            <a:endParaRPr lang="en-US" altLang="zh-CN" sz="2400" dirty="0">
              <a:latin typeface="楷体" panose="02010609060101010101" pitchFamily="49" charset="-122"/>
              <a:ea typeface="楷体" panose="02010609060101010101" pitchFamily="49" charset="-122"/>
            </a:endParaRPr>
          </a:p>
          <a:p>
            <a:pPr algn="just">
              <a:lnSpc>
                <a:spcPct val="150000"/>
              </a:lnSpc>
            </a:pPr>
            <a:r>
              <a:rPr lang="zh-CN" altLang="en-US" sz="2400" dirty="0" smtClean="0">
                <a:latin typeface="楷体" panose="02010609060101010101" pitchFamily="49" charset="-122"/>
                <a:ea typeface="楷体" panose="02010609060101010101" pitchFamily="49" charset="-122"/>
              </a:rPr>
              <a:t>优点</a:t>
            </a:r>
            <a:endParaRPr lang="en-US" altLang="zh-CN" sz="2400" dirty="0" smtClean="0">
              <a:latin typeface="楷体" panose="02010609060101010101" pitchFamily="49" charset="-122"/>
              <a:ea typeface="楷体" panose="02010609060101010101" pitchFamily="49" charset="-122"/>
            </a:endParaRPr>
          </a:p>
          <a:p>
            <a:pPr marL="0" indent="0" algn="just">
              <a:buNone/>
            </a:pPr>
            <a:r>
              <a:rPr lang="en-US" altLang="zh-CN" sz="2400" dirty="0" smtClean="0">
                <a:latin typeface="楷体" panose="02010609060101010101" pitchFamily="49" charset="-122"/>
                <a:ea typeface="楷体" panose="02010609060101010101" pitchFamily="49" charset="-122"/>
              </a:rPr>
              <a:t>	</a:t>
            </a:r>
            <a:r>
              <a:rPr lang="zh-CN" altLang="zh-CN" sz="2400" dirty="0" smtClean="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a:t>
            </a:r>
            <a:r>
              <a:rPr lang="zh-CN" altLang="zh-CN"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K-means</a:t>
            </a:r>
            <a:r>
              <a:rPr lang="zh-CN" altLang="zh-CN" sz="2400" dirty="0">
                <a:latin typeface="楷体" panose="02010609060101010101" pitchFamily="49" charset="-122"/>
                <a:ea typeface="楷体" panose="02010609060101010101" pitchFamily="49" charset="-122"/>
              </a:rPr>
              <a:t>聚类算法是解决聚类问题的一种经典算法，算法</a:t>
            </a:r>
            <a:r>
              <a:rPr lang="zh-CN" altLang="zh-CN" sz="2400" b="1" dirty="0">
                <a:solidFill>
                  <a:srgbClr val="C00000"/>
                </a:solidFill>
                <a:latin typeface="楷体" panose="02010609060101010101" pitchFamily="49" charset="-122"/>
                <a:ea typeface="楷体" panose="02010609060101010101" pitchFamily="49" charset="-122"/>
              </a:rPr>
              <a:t>简单、快速</a:t>
            </a:r>
            <a:r>
              <a:rPr lang="zh-CN" altLang="zh-CN" sz="2400" dirty="0">
                <a:latin typeface="楷体" panose="02010609060101010101" pitchFamily="49" charset="-122"/>
                <a:ea typeface="楷体" panose="02010609060101010101" pitchFamily="49" charset="-122"/>
              </a:rPr>
              <a:t>。</a:t>
            </a:r>
            <a:endParaRPr lang="zh-CN" altLang="zh-CN" sz="2400" dirty="0">
              <a:latin typeface="楷体" panose="02010609060101010101" pitchFamily="49" charset="-122"/>
              <a:ea typeface="楷体" panose="02010609060101010101" pitchFamily="49" charset="-122"/>
            </a:endParaRPr>
          </a:p>
          <a:p>
            <a:pPr marL="0" indent="0" algn="just">
              <a:buNone/>
            </a:pPr>
            <a:r>
              <a:rPr lang="en-US" altLang="zh-CN" sz="2400" dirty="0" smtClean="0">
                <a:latin typeface="楷体" panose="02010609060101010101" pitchFamily="49" charset="-122"/>
                <a:ea typeface="楷体" panose="02010609060101010101" pitchFamily="49" charset="-122"/>
              </a:rPr>
              <a:t>	</a:t>
            </a:r>
            <a:r>
              <a:rPr lang="zh-CN" altLang="zh-CN" sz="2400" dirty="0" smtClean="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2</a:t>
            </a:r>
            <a:r>
              <a:rPr lang="zh-CN" altLang="zh-CN" sz="2400" dirty="0">
                <a:latin typeface="楷体" panose="02010609060101010101" pitchFamily="49" charset="-122"/>
                <a:ea typeface="楷体" panose="02010609060101010101" pitchFamily="49" charset="-122"/>
              </a:rPr>
              <a:t>）对处理大数据集，该算法是相对可伸缩的和高效率的，因为它的</a:t>
            </a:r>
            <a:r>
              <a:rPr lang="zh-CN" altLang="zh-CN" sz="2400" b="1" dirty="0">
                <a:solidFill>
                  <a:srgbClr val="C00000"/>
                </a:solidFill>
                <a:latin typeface="楷体" panose="02010609060101010101" pitchFamily="49" charset="-122"/>
                <a:ea typeface="楷体" panose="02010609060101010101" pitchFamily="49" charset="-122"/>
              </a:rPr>
              <a:t>复杂度</a:t>
            </a:r>
            <a:r>
              <a:rPr lang="zh-CN" altLang="zh-CN" sz="2400" dirty="0">
                <a:latin typeface="楷体" panose="02010609060101010101" pitchFamily="49" charset="-122"/>
                <a:ea typeface="楷体" panose="02010609060101010101" pitchFamily="49" charset="-122"/>
              </a:rPr>
              <a:t>大约</a:t>
            </a:r>
            <a:r>
              <a:rPr lang="zh-CN" altLang="zh-CN" sz="2400" dirty="0" smtClean="0">
                <a:latin typeface="楷体" panose="02010609060101010101" pitchFamily="49" charset="-122"/>
                <a:ea typeface="楷体" panose="02010609060101010101" pitchFamily="49" charset="-122"/>
              </a:rPr>
              <a:t>是</a:t>
            </a:r>
            <a:r>
              <a:rPr lang="en-US" altLang="zh-CN" sz="2400" b="1" dirty="0" smtClean="0">
                <a:solidFill>
                  <a:srgbClr val="C00000"/>
                </a:solidFill>
                <a:latin typeface="楷体" panose="02010609060101010101" pitchFamily="49" charset="-122"/>
                <a:ea typeface="楷体" panose="02010609060101010101" pitchFamily="49" charset="-122"/>
              </a:rPr>
              <a:t>O(</a:t>
            </a:r>
            <a:r>
              <a:rPr lang="en-US" altLang="zh-CN" sz="2400" b="1" dirty="0" err="1" smtClean="0">
                <a:solidFill>
                  <a:srgbClr val="C00000"/>
                </a:solidFill>
                <a:latin typeface="楷体" panose="02010609060101010101" pitchFamily="49" charset="-122"/>
                <a:ea typeface="楷体" panose="02010609060101010101" pitchFamily="49" charset="-122"/>
              </a:rPr>
              <a:t>nkt</a:t>
            </a:r>
            <a:r>
              <a:rPr lang="en-US" altLang="zh-CN" sz="2400" b="1" dirty="0" smtClean="0">
                <a:solidFill>
                  <a:srgbClr val="C00000"/>
                </a:solidFill>
                <a:latin typeface="楷体" panose="02010609060101010101" pitchFamily="49" charset="-122"/>
                <a:ea typeface="楷体" panose="02010609060101010101" pitchFamily="49" charset="-122"/>
              </a:rPr>
              <a:t>)</a:t>
            </a:r>
            <a:r>
              <a:rPr lang="zh-CN" altLang="zh-CN" sz="2400" dirty="0" smtClean="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其中</a:t>
            </a:r>
            <a:r>
              <a:rPr lang="en-US" altLang="zh-CN" sz="2400" dirty="0">
                <a:latin typeface="楷体" panose="02010609060101010101" pitchFamily="49" charset="-122"/>
                <a:ea typeface="楷体" panose="02010609060101010101" pitchFamily="49" charset="-122"/>
              </a:rPr>
              <a:t>n</a:t>
            </a:r>
            <a:r>
              <a:rPr lang="zh-CN" altLang="zh-CN" sz="2400" dirty="0">
                <a:latin typeface="楷体" panose="02010609060101010101" pitchFamily="49" charset="-122"/>
                <a:ea typeface="楷体" panose="02010609060101010101" pitchFamily="49" charset="-122"/>
              </a:rPr>
              <a:t>是所有对象的数目，</a:t>
            </a:r>
            <a:r>
              <a:rPr lang="en-US" altLang="zh-CN" sz="2400" dirty="0">
                <a:latin typeface="楷体" panose="02010609060101010101" pitchFamily="49" charset="-122"/>
                <a:ea typeface="楷体" panose="02010609060101010101" pitchFamily="49" charset="-122"/>
              </a:rPr>
              <a:t>k</a:t>
            </a:r>
            <a:r>
              <a:rPr lang="zh-CN" altLang="zh-CN" sz="2400" dirty="0">
                <a:latin typeface="楷体" panose="02010609060101010101" pitchFamily="49" charset="-122"/>
                <a:ea typeface="楷体" panose="02010609060101010101" pitchFamily="49" charset="-122"/>
              </a:rPr>
              <a:t>是簇的数目，</a:t>
            </a:r>
            <a:r>
              <a:rPr lang="en-US" altLang="zh-CN" sz="2400" dirty="0">
                <a:latin typeface="楷体" panose="02010609060101010101" pitchFamily="49" charset="-122"/>
                <a:ea typeface="楷体" panose="02010609060101010101" pitchFamily="49" charset="-122"/>
              </a:rPr>
              <a:t>t</a:t>
            </a:r>
            <a:r>
              <a:rPr lang="zh-CN" altLang="zh-CN" sz="2400" dirty="0">
                <a:latin typeface="楷体" panose="02010609060101010101" pitchFamily="49" charset="-122"/>
                <a:ea typeface="楷体" panose="02010609060101010101" pitchFamily="49" charset="-122"/>
              </a:rPr>
              <a:t>是迭代的次数。通常</a:t>
            </a:r>
            <a:r>
              <a:rPr lang="zh-CN" altLang="zh-CN" sz="2400" dirty="0" smtClean="0">
                <a:latin typeface="楷体" panose="02010609060101010101" pitchFamily="49" charset="-122"/>
                <a:ea typeface="楷体" panose="02010609060101010101" pitchFamily="49" charset="-122"/>
              </a:rPr>
              <a:t>地</a:t>
            </a:r>
            <a:r>
              <a:rPr lang="en-US" altLang="zh-CN" sz="2400" dirty="0" smtClean="0">
                <a:latin typeface="楷体" panose="02010609060101010101" pitchFamily="49" charset="-122"/>
                <a:ea typeface="楷体" panose="02010609060101010101" pitchFamily="49" charset="-122"/>
              </a:rPr>
              <a:t>k&lt;&lt;n</a:t>
            </a:r>
            <a:r>
              <a:rPr lang="zh-CN" altLang="zh-CN" sz="2400" dirty="0" smtClean="0">
                <a:latin typeface="楷体" panose="02010609060101010101" pitchFamily="49" charset="-122"/>
                <a:ea typeface="楷体" panose="02010609060101010101" pitchFamily="49" charset="-122"/>
              </a:rPr>
              <a:t>。</a:t>
            </a:r>
            <a:r>
              <a:rPr lang="zh-CN" altLang="zh-CN" sz="2400" dirty="0">
                <a:latin typeface="楷体" panose="02010609060101010101" pitchFamily="49" charset="-122"/>
                <a:ea typeface="楷体" panose="02010609060101010101" pitchFamily="49" charset="-122"/>
              </a:rPr>
              <a:t>这个算法经常以局部最优结束。</a:t>
            </a:r>
            <a:endParaRPr lang="zh-CN" altLang="zh-CN" sz="2400" dirty="0">
              <a:latin typeface="楷体" panose="02010609060101010101" pitchFamily="49" charset="-122"/>
              <a:ea typeface="楷体" panose="02010609060101010101" pitchFamily="49" charset="-122"/>
            </a:endParaRPr>
          </a:p>
          <a:p>
            <a:pPr marL="0" indent="0" algn="just">
              <a:buNone/>
            </a:pPr>
            <a:r>
              <a:rPr lang="en-US" altLang="zh-CN" sz="2400" dirty="0" smtClean="0">
                <a:latin typeface="楷体" panose="02010609060101010101" pitchFamily="49" charset="-122"/>
                <a:ea typeface="楷体" panose="02010609060101010101" pitchFamily="49" charset="-122"/>
              </a:rPr>
              <a:t>	</a:t>
            </a:r>
            <a:r>
              <a:rPr lang="zh-CN" altLang="zh-CN" sz="2400" dirty="0" smtClean="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3</a:t>
            </a:r>
            <a:r>
              <a:rPr lang="zh-CN" altLang="zh-CN" sz="2400" dirty="0">
                <a:latin typeface="楷体" panose="02010609060101010101" pitchFamily="49" charset="-122"/>
                <a:ea typeface="楷体" panose="02010609060101010101" pitchFamily="49" charset="-122"/>
              </a:rPr>
              <a:t>）算法尝试找出使平方误差函数值最小的</a:t>
            </a:r>
            <a:r>
              <a:rPr lang="en-US" altLang="zh-CN" sz="2400" dirty="0">
                <a:latin typeface="楷体" panose="02010609060101010101" pitchFamily="49" charset="-122"/>
                <a:ea typeface="楷体" panose="02010609060101010101" pitchFamily="49" charset="-122"/>
              </a:rPr>
              <a:t>k</a:t>
            </a:r>
            <a:r>
              <a:rPr lang="zh-CN" altLang="zh-CN" sz="2400" dirty="0">
                <a:latin typeface="楷体" panose="02010609060101010101" pitchFamily="49" charset="-122"/>
                <a:ea typeface="楷体" panose="02010609060101010101" pitchFamily="49" charset="-122"/>
              </a:rPr>
              <a:t>个划分。当簇是密集的、球状或团状的，而簇与簇之间区别明显时，它的聚类效果较好。</a:t>
            </a:r>
            <a:endParaRPr lang="zh-CN" altLang="zh-CN" sz="2400" dirty="0">
              <a:latin typeface="楷体" panose="02010609060101010101" pitchFamily="49" charset="-122"/>
              <a:ea typeface="楷体" panose="02010609060101010101" pitchFamily="49" charset="-122"/>
            </a:endParaRPr>
          </a:p>
          <a:p>
            <a:pPr marL="0" indent="0" algn="just">
              <a:lnSpc>
                <a:spcPct val="150000"/>
              </a:lnSpc>
              <a:buNone/>
            </a:pPr>
            <a:endParaRPr lang="en-US" altLang="zh-CN" sz="2400" dirty="0" smtClean="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2589212" y="1714500"/>
            <a:ext cx="8915400" cy="3777622"/>
          </a:xfrm>
        </p:spPr>
        <p:txBody>
          <a:bodyPr/>
          <a:p>
            <a:r>
              <a:rPr lang="zh-CN" altLang="en-US" sz="2800"/>
              <a:t>为什么是</a:t>
            </a:r>
            <a:r>
              <a:rPr lang="en-US" altLang="zh-CN" sz="2800" b="1" dirty="0" smtClean="0">
                <a:solidFill>
                  <a:srgbClr val="C00000"/>
                </a:solidFill>
                <a:latin typeface="楷体" panose="02010609060101010101" pitchFamily="49" charset="-122"/>
                <a:ea typeface="楷体" panose="02010609060101010101" pitchFamily="49" charset="-122"/>
                <a:sym typeface="+mn-ea"/>
              </a:rPr>
              <a:t>O(</a:t>
            </a:r>
            <a:r>
              <a:rPr lang="en-US" altLang="zh-CN" sz="2800" b="1" dirty="0" err="1" smtClean="0">
                <a:solidFill>
                  <a:srgbClr val="C00000"/>
                </a:solidFill>
                <a:latin typeface="楷体" panose="02010609060101010101" pitchFamily="49" charset="-122"/>
                <a:ea typeface="楷体" panose="02010609060101010101" pitchFamily="49" charset="-122"/>
                <a:sym typeface="+mn-ea"/>
              </a:rPr>
              <a:t>nkt</a:t>
            </a:r>
            <a:r>
              <a:rPr lang="en-US" altLang="zh-CN" sz="2800" b="1" dirty="0" smtClean="0">
                <a:solidFill>
                  <a:srgbClr val="C00000"/>
                </a:solidFill>
                <a:latin typeface="楷体" panose="02010609060101010101" pitchFamily="49" charset="-122"/>
                <a:ea typeface="楷体" panose="02010609060101010101" pitchFamily="49" charset="-122"/>
                <a:sym typeface="+mn-ea"/>
              </a:rPr>
              <a:t>)</a:t>
            </a:r>
            <a:r>
              <a:rPr lang="zh-CN" altLang="en-US" sz="2800" b="1" dirty="0" smtClean="0">
                <a:solidFill>
                  <a:srgbClr val="C00000"/>
                </a:solidFill>
                <a:latin typeface="楷体" panose="02010609060101010101" pitchFamily="49" charset="-122"/>
                <a:ea typeface="楷体" panose="02010609060101010101" pitchFamily="49" charset="-122"/>
                <a:sym typeface="+mn-ea"/>
              </a:rPr>
              <a:t>？</a:t>
            </a:r>
            <a:endParaRPr lang="zh-CN" altLang="en-US" sz="2800" b="1" dirty="0" smtClean="0">
              <a:solidFill>
                <a:srgbClr val="C00000"/>
              </a:solidFill>
              <a:latin typeface="楷体" panose="02010609060101010101" pitchFamily="49" charset="-122"/>
              <a:ea typeface="楷体" panose="02010609060101010101" pitchFamily="49" charset="-122"/>
              <a:sym typeface="+mn-ea"/>
            </a:endParaRPr>
          </a:p>
        </p:txBody>
      </p:sp>
      <p:sp>
        <p:nvSpPr>
          <p:cNvPr id="4" name="文本框 3"/>
          <p:cNvSpPr txBox="1"/>
          <p:nvPr/>
        </p:nvSpPr>
        <p:spPr>
          <a:xfrm>
            <a:off x="2755265" y="2815590"/>
            <a:ext cx="7755255" cy="2676525"/>
          </a:xfrm>
          <a:prstGeom prst="rect">
            <a:avLst/>
          </a:prstGeom>
          <a:solidFill>
            <a:schemeClr val="accent6">
              <a:lumMod val="40000"/>
              <a:lumOff val="60000"/>
            </a:schemeClr>
          </a:solidFill>
          <a:ln>
            <a:solidFill>
              <a:schemeClr val="tx1"/>
            </a:solidFill>
          </a:ln>
        </p:spPr>
        <p:txBody>
          <a:bodyPr wrap="square" rtlCol="0">
            <a:spAutoFit/>
          </a:bodyPr>
          <a:p>
            <a:r>
              <a:rPr lang="zh-CN" altLang="zh-CN" sz="2400" b="1" dirty="0">
                <a:latin typeface="Cambria" panose="02040503050406030204" pitchFamily="18" charset="0"/>
                <a:sym typeface="+mn-ea"/>
              </a:rPr>
              <a:t>首先，在样本分配聚类阶段，需要计算</a:t>
            </a:r>
            <a:r>
              <a:rPr lang="en-US" altLang="zh-CN" sz="2400" b="1" i="1" dirty="0" err="1" smtClean="0">
                <a:latin typeface="Cambria" panose="02040503050406030204" pitchFamily="18" charset="0"/>
                <a:ea typeface="Cambria" panose="02040503050406030204" pitchFamily="18" charset="0"/>
                <a:sym typeface="+mn-ea"/>
              </a:rPr>
              <a:t>k</a:t>
            </a:r>
            <a:r>
              <a:rPr lang="en-US" altLang="zh-CN" sz="2400" b="1" dirty="0" err="1" smtClean="0">
                <a:latin typeface="Cambria" panose="02040503050406030204" pitchFamily="18" charset="0"/>
                <a:ea typeface="Cambria" panose="02040503050406030204" pitchFamily="18" charset="0"/>
                <a:sym typeface="+mn-ea"/>
              </a:rPr>
              <a:t>×</a:t>
            </a:r>
            <a:r>
              <a:rPr lang="en-US" altLang="zh-CN" sz="2400" b="1" i="1" dirty="0" err="1" smtClean="0">
                <a:latin typeface="Cambria" panose="02040503050406030204" pitchFamily="18" charset="0"/>
                <a:ea typeface="Cambria" panose="02040503050406030204" pitchFamily="18" charset="0"/>
                <a:sym typeface="+mn-ea"/>
              </a:rPr>
              <a:t>n</a:t>
            </a:r>
            <a:r>
              <a:rPr lang="zh-CN" altLang="zh-CN" sz="2400" b="1" dirty="0">
                <a:latin typeface="Cambria" panose="02040503050406030204" pitchFamily="18" charset="0"/>
                <a:sym typeface="+mn-ea"/>
              </a:rPr>
              <a:t>次欧氏距离，其中</a:t>
            </a:r>
            <a:r>
              <a:rPr lang="en-US" altLang="zh-CN" sz="2400" b="1" i="1" dirty="0">
                <a:latin typeface="Cambria" panose="02040503050406030204" pitchFamily="18" charset="0"/>
                <a:ea typeface="Cambria" panose="02040503050406030204" pitchFamily="18" charset="0"/>
                <a:sym typeface="+mn-ea"/>
              </a:rPr>
              <a:t>k</a:t>
            </a:r>
            <a:r>
              <a:rPr lang="zh-CN" altLang="zh-CN" sz="2400" b="1" dirty="0">
                <a:latin typeface="Cambria" panose="02040503050406030204" pitchFamily="18" charset="0"/>
                <a:sym typeface="+mn-ea"/>
              </a:rPr>
              <a:t>是指聚类个数，</a:t>
            </a:r>
            <a:r>
              <a:rPr lang="en-US" altLang="zh-CN" sz="2400" b="1" i="1" dirty="0">
                <a:latin typeface="Cambria" panose="02040503050406030204" pitchFamily="18" charset="0"/>
                <a:ea typeface="Cambria" panose="02040503050406030204" pitchFamily="18" charset="0"/>
                <a:sym typeface="+mn-ea"/>
              </a:rPr>
              <a:t>n</a:t>
            </a:r>
            <a:r>
              <a:rPr lang="zh-CN" altLang="zh-CN" sz="2400" b="1" dirty="0">
                <a:latin typeface="Cambria" panose="02040503050406030204" pitchFamily="18" charset="0"/>
                <a:sym typeface="+mn-ea"/>
              </a:rPr>
              <a:t>是样本个数，时间复杂度为</a:t>
            </a:r>
            <a:r>
              <a:rPr lang="en-US" altLang="zh-CN" sz="2400" b="1" dirty="0">
                <a:latin typeface="Cambria" panose="02040503050406030204" pitchFamily="18" charset="0"/>
                <a:ea typeface="Cambria" panose="02040503050406030204" pitchFamily="18" charset="0"/>
                <a:sym typeface="+mn-ea"/>
              </a:rPr>
              <a:t>O</a:t>
            </a:r>
            <a:r>
              <a:rPr lang="zh-CN" altLang="zh-CN" sz="2400" b="1" dirty="0">
                <a:latin typeface="Cambria" panose="02040503050406030204" pitchFamily="18" charset="0"/>
                <a:sym typeface="+mn-ea"/>
              </a:rPr>
              <a:t>（</a:t>
            </a:r>
            <a:r>
              <a:rPr lang="en-US" altLang="zh-CN" sz="2400" b="1" i="1" dirty="0" err="1" smtClean="0">
                <a:latin typeface="Cambria" panose="02040503050406030204" pitchFamily="18" charset="0"/>
                <a:ea typeface="Cambria" panose="02040503050406030204" pitchFamily="18" charset="0"/>
                <a:sym typeface="+mn-ea"/>
              </a:rPr>
              <a:t>k</a:t>
            </a:r>
            <a:r>
              <a:rPr lang="en-US" altLang="zh-CN" sz="2400" b="1" dirty="0" err="1" smtClean="0">
                <a:latin typeface="Cambria" panose="02040503050406030204" pitchFamily="18" charset="0"/>
                <a:ea typeface="Cambria" panose="02040503050406030204" pitchFamily="18" charset="0"/>
                <a:sym typeface="+mn-ea"/>
              </a:rPr>
              <a:t>×</a:t>
            </a:r>
            <a:r>
              <a:rPr lang="en-US" altLang="zh-CN" sz="2400" b="1" i="1" dirty="0" err="1" smtClean="0">
                <a:latin typeface="Cambria" panose="02040503050406030204" pitchFamily="18" charset="0"/>
                <a:ea typeface="Cambria" panose="02040503050406030204" pitchFamily="18" charset="0"/>
                <a:sym typeface="+mn-ea"/>
              </a:rPr>
              <a:t>n</a:t>
            </a:r>
            <a:r>
              <a:rPr lang="zh-CN" altLang="zh-CN" sz="2400" b="1" dirty="0">
                <a:latin typeface="Cambria" panose="02040503050406030204" pitchFamily="18" charset="0"/>
                <a:sym typeface="+mn-ea"/>
              </a:rPr>
              <a:t>）；其次，在更新聚类中心阶段，时间复杂度为</a:t>
            </a:r>
            <a:r>
              <a:rPr lang="en-US" altLang="zh-CN" sz="2400" b="1" dirty="0">
                <a:latin typeface="Cambria" panose="02040503050406030204" pitchFamily="18" charset="0"/>
                <a:ea typeface="Cambria" panose="02040503050406030204" pitchFamily="18" charset="0"/>
                <a:sym typeface="+mn-ea"/>
              </a:rPr>
              <a:t>O</a:t>
            </a:r>
            <a:r>
              <a:rPr lang="zh-CN" altLang="zh-CN" sz="2400" b="1" dirty="0">
                <a:latin typeface="Cambria" panose="02040503050406030204" pitchFamily="18" charset="0"/>
                <a:sym typeface="+mn-ea"/>
              </a:rPr>
              <a:t>（</a:t>
            </a:r>
            <a:r>
              <a:rPr lang="en-US" altLang="zh-CN" sz="2400" b="1" i="1" dirty="0">
                <a:latin typeface="Cambria" panose="02040503050406030204" pitchFamily="18" charset="0"/>
                <a:ea typeface="Cambria" panose="02040503050406030204" pitchFamily="18" charset="0"/>
                <a:sym typeface="+mn-ea"/>
              </a:rPr>
              <a:t>n</a:t>
            </a:r>
            <a:r>
              <a:rPr lang="zh-CN" altLang="zh-CN" sz="2400" b="1" dirty="0">
                <a:latin typeface="Cambria" panose="02040503050406030204" pitchFamily="18" charset="0"/>
                <a:sym typeface="+mn-ea"/>
              </a:rPr>
              <a:t>）。如果迭代次数为</a:t>
            </a:r>
            <a:r>
              <a:rPr lang="en-US" altLang="zh-CN" sz="2400" b="1" i="1" dirty="0">
                <a:latin typeface="Cambria" panose="02040503050406030204" pitchFamily="18" charset="0"/>
                <a:ea typeface="Cambria" panose="02040503050406030204" pitchFamily="18" charset="0"/>
                <a:sym typeface="+mn-ea"/>
              </a:rPr>
              <a:t>t</a:t>
            </a:r>
            <a:r>
              <a:rPr lang="zh-CN" altLang="zh-CN" sz="2400" b="1" dirty="0">
                <a:latin typeface="Cambria" panose="02040503050406030204" pitchFamily="18" charset="0"/>
                <a:sym typeface="+mn-ea"/>
              </a:rPr>
              <a:t>，则算法的计算复杂度为</a:t>
            </a:r>
            <a:r>
              <a:rPr lang="en-US" altLang="zh-CN" sz="2400" b="1" dirty="0" smtClean="0">
                <a:latin typeface="Cambria" panose="02040503050406030204" pitchFamily="18" charset="0"/>
                <a:ea typeface="Cambria" panose="02040503050406030204" pitchFamily="18" charset="0"/>
                <a:sym typeface="+mn-ea"/>
              </a:rPr>
              <a:t>O(</a:t>
            </a:r>
            <a:r>
              <a:rPr lang="en-US" altLang="zh-CN" sz="2400" b="1" i="1" dirty="0" err="1" smtClean="0">
                <a:latin typeface="Cambria" panose="02040503050406030204" pitchFamily="18" charset="0"/>
                <a:ea typeface="Cambria" panose="02040503050406030204" pitchFamily="18" charset="0"/>
                <a:sym typeface="+mn-ea"/>
              </a:rPr>
              <a:t>k</a:t>
            </a:r>
            <a:r>
              <a:rPr lang="en-US" altLang="zh-CN" sz="2400" b="1" dirty="0" err="1" smtClean="0">
                <a:latin typeface="Cambria" panose="02040503050406030204" pitchFamily="18" charset="0"/>
                <a:ea typeface="Cambria" panose="02040503050406030204" pitchFamily="18" charset="0"/>
                <a:sym typeface="+mn-ea"/>
              </a:rPr>
              <a:t>×</a:t>
            </a:r>
            <a:r>
              <a:rPr lang="en-US" altLang="zh-CN" sz="2400" b="1" i="1" dirty="0" err="1" smtClean="0">
                <a:latin typeface="Cambria" panose="02040503050406030204" pitchFamily="18" charset="0"/>
                <a:ea typeface="Cambria" panose="02040503050406030204" pitchFamily="18" charset="0"/>
                <a:sym typeface="+mn-ea"/>
              </a:rPr>
              <a:t>n</a:t>
            </a:r>
            <a:r>
              <a:rPr lang="en-US" altLang="zh-CN" sz="2400" b="1" dirty="0" err="1" smtClean="0">
                <a:latin typeface="Cambria" panose="02040503050406030204" pitchFamily="18" charset="0"/>
                <a:ea typeface="Cambria" panose="02040503050406030204" pitchFamily="18" charset="0"/>
                <a:sym typeface="+mn-ea"/>
              </a:rPr>
              <a:t>×</a:t>
            </a:r>
            <a:r>
              <a:rPr lang="en-US" altLang="zh-CN" sz="2400" b="1" i="1" dirty="0" err="1" smtClean="0">
                <a:latin typeface="Cambria" panose="02040503050406030204" pitchFamily="18" charset="0"/>
                <a:ea typeface="Cambria" panose="02040503050406030204" pitchFamily="18" charset="0"/>
                <a:sym typeface="+mn-ea"/>
              </a:rPr>
              <a:t>t</a:t>
            </a:r>
            <a:r>
              <a:rPr lang="en-US" altLang="zh-CN" sz="2400" b="1" dirty="0">
                <a:latin typeface="Cambria" panose="02040503050406030204" pitchFamily="18" charset="0"/>
                <a:ea typeface="Cambria" panose="02040503050406030204" pitchFamily="18" charset="0"/>
                <a:sym typeface="+mn-ea"/>
              </a:rPr>
              <a:t>)</a:t>
            </a:r>
            <a:r>
              <a:rPr lang="zh-CN" altLang="zh-CN" sz="2400" b="1" dirty="0">
                <a:latin typeface="Cambria" panose="02040503050406030204" pitchFamily="18" charset="0"/>
                <a:sym typeface="+mn-ea"/>
              </a:rPr>
              <a:t>。</a:t>
            </a:r>
            <a:r>
              <a:rPr lang="zh-CN" altLang="zh-CN" sz="2400" b="1" dirty="0" smtClean="0">
                <a:latin typeface="Cambria" panose="02040503050406030204" pitchFamily="18" charset="0"/>
                <a:sym typeface="+mn-ea"/>
              </a:rPr>
              <a:t>因此</a:t>
            </a:r>
            <a:r>
              <a:rPr lang="en-US" altLang="zh-CN" sz="2400" b="1" i="1" dirty="0" smtClean="0">
                <a:latin typeface="Cambria" panose="02040503050406030204" pitchFamily="18" charset="0"/>
                <a:ea typeface="Cambria" panose="02040503050406030204" pitchFamily="18" charset="0"/>
                <a:sym typeface="+mn-ea"/>
              </a:rPr>
              <a:t>k</a:t>
            </a:r>
            <a:r>
              <a:rPr lang="en-US" altLang="zh-CN" sz="2400" b="1" dirty="0" smtClean="0">
                <a:latin typeface="Cambria" panose="02040503050406030204" pitchFamily="18" charset="0"/>
                <a:ea typeface="Cambria" panose="02040503050406030204" pitchFamily="18" charset="0"/>
                <a:sym typeface="+mn-ea"/>
              </a:rPr>
              <a:t>-means</a:t>
            </a:r>
            <a:r>
              <a:rPr lang="zh-CN" altLang="zh-CN" sz="2400" b="1" dirty="0">
                <a:latin typeface="Cambria" panose="02040503050406030204" pitchFamily="18" charset="0"/>
                <a:sym typeface="+mn-ea"/>
              </a:rPr>
              <a:t>针对样本个数</a:t>
            </a:r>
            <a:r>
              <a:rPr lang="en-US" altLang="zh-CN" sz="2400" b="1" dirty="0">
                <a:latin typeface="Cambria" panose="02040503050406030204" pitchFamily="18" charset="0"/>
                <a:ea typeface="Cambria" panose="02040503050406030204" pitchFamily="18" charset="0"/>
                <a:sym typeface="+mn-ea"/>
              </a:rPr>
              <a:t>n</a:t>
            </a:r>
            <a:r>
              <a:rPr lang="zh-CN" altLang="zh-CN" sz="2400" b="1" dirty="0">
                <a:latin typeface="Cambria" panose="02040503050406030204" pitchFamily="18" charset="0"/>
                <a:sym typeface="+mn-ea"/>
              </a:rPr>
              <a:t>具有线性的计算复杂度，是一种非常有效的大数据聚类算法。</a:t>
            </a:r>
            <a:endParaRPr lang="zh-CN" altLang="zh-CN" sz="2400" b="1" dirty="0">
              <a:latin typeface="Cambria" panose="02040503050406030204" pitchFamily="18" charset="0"/>
            </a:endParaRPr>
          </a:p>
          <a:p>
            <a:endParaRPr lang="zh-CN" altLang="zh-CN" sz="2400" b="1" dirty="0">
              <a:latin typeface="Cambria" panose="020405030504060302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135505" y="1050290"/>
            <a:ext cx="9368790" cy="4581525"/>
          </a:xfrm>
        </p:spPr>
        <p:txBody>
          <a:bodyPr>
            <a:noAutofit/>
          </a:bodyPr>
          <a:p>
            <a:pPr marL="285750" indent="-285750" defTabSz="457200">
              <a:lnSpc>
                <a:spcPct val="150000"/>
              </a:lnSpc>
              <a:spcBef>
                <a:spcPct val="20000"/>
              </a:spcBef>
              <a:spcAft>
                <a:spcPts val="600"/>
              </a:spcAft>
              <a:buClr>
                <a:srgbClr val="83AA67"/>
              </a:buClr>
              <a:buSzPct val="100000"/>
              <a:buFont typeface="Wingdings" panose="05000000000000000000" pitchFamily="2" charset="2"/>
              <a:buChar char="n"/>
            </a:pPr>
            <a:r>
              <a:rPr lang="en-US" altLang="zh-CN" sz="2800" dirty="0" smtClean="0">
                <a:latin typeface="Cambria" panose="02040503050406030204" pitchFamily="18" charset="0"/>
                <a:ea typeface="Cambria" panose="02040503050406030204" pitchFamily="18" charset="0"/>
                <a:sym typeface="+mn-ea"/>
              </a:rPr>
              <a:t>k-means</a:t>
            </a:r>
            <a:r>
              <a:rPr lang="zh-CN" altLang="zh-CN" sz="2800" dirty="0">
                <a:latin typeface="Cambria" panose="02040503050406030204" pitchFamily="18" charset="0"/>
                <a:sym typeface="+mn-ea"/>
              </a:rPr>
              <a:t>算法缺点分析</a:t>
            </a:r>
            <a:r>
              <a:rPr lang="zh-CN" altLang="en-US" sz="2800" dirty="0" smtClean="0">
                <a:latin typeface="Cambria" panose="02040503050406030204" pitchFamily="18" charset="0"/>
                <a:sym typeface="+mn-ea"/>
              </a:rPr>
              <a:t>：</a:t>
            </a:r>
            <a:endParaRPr lang="en-US" altLang="zh-CN" sz="2800" dirty="0" smtClean="0">
              <a:latin typeface="Cambria" panose="02040503050406030204" pitchFamily="18" charset="0"/>
              <a:ea typeface="Cambria" panose="02040503050406030204" pitchFamily="18" charset="0"/>
            </a:endParaRPr>
          </a:p>
          <a:p>
            <a:pPr marL="742950" lvl="1" indent="-285750">
              <a:lnSpc>
                <a:spcPct val="150000"/>
              </a:lnSpc>
              <a:buClr>
                <a:schemeClr val="accent2"/>
              </a:buClr>
              <a:buSzPct val="144000"/>
              <a:buFont typeface="Arial" panose="020B0604020202020204" pitchFamily="34" charset="0"/>
              <a:buChar char="•"/>
            </a:pPr>
            <a:r>
              <a:rPr lang="zh-CN" altLang="zh-CN" sz="2800" dirty="0" smtClean="0">
                <a:latin typeface="Cambria" panose="02040503050406030204" pitchFamily="18" charset="0"/>
                <a:sym typeface="+mn-ea"/>
              </a:rPr>
              <a:t>聚类</a:t>
            </a:r>
            <a:r>
              <a:rPr lang="zh-CN" altLang="zh-CN" sz="2800" b="1" dirty="0">
                <a:solidFill>
                  <a:srgbClr val="C00000"/>
                </a:solidFill>
                <a:latin typeface="Cambria" panose="02040503050406030204" pitchFamily="18" charset="0"/>
                <a:sym typeface="+mn-ea"/>
              </a:rPr>
              <a:t>个数</a:t>
            </a:r>
            <a:r>
              <a:rPr lang="en-US" altLang="zh-CN" sz="2800" b="1" i="1" dirty="0">
                <a:solidFill>
                  <a:srgbClr val="C00000"/>
                </a:solidFill>
                <a:latin typeface="Cambria" panose="02040503050406030204" pitchFamily="18" charset="0"/>
                <a:ea typeface="Cambria" panose="02040503050406030204" pitchFamily="18" charset="0"/>
                <a:sym typeface="+mn-ea"/>
              </a:rPr>
              <a:t>k</a:t>
            </a:r>
            <a:r>
              <a:rPr lang="zh-CN" altLang="zh-CN" sz="2800" dirty="0">
                <a:latin typeface="Cambria" panose="02040503050406030204" pitchFamily="18" charset="0"/>
                <a:sym typeface="+mn-ea"/>
              </a:rPr>
              <a:t>依赖于用户参数的</a:t>
            </a:r>
            <a:r>
              <a:rPr lang="zh-CN" altLang="zh-CN" sz="2800" dirty="0" smtClean="0">
                <a:latin typeface="Cambria" panose="02040503050406030204" pitchFamily="18" charset="0"/>
                <a:sym typeface="+mn-ea"/>
              </a:rPr>
              <a:t>指定</a:t>
            </a:r>
            <a:r>
              <a:rPr lang="zh-CN" altLang="en-US" sz="2800" dirty="0" smtClean="0">
                <a:latin typeface="Cambria" panose="02040503050406030204" pitchFamily="18" charset="0"/>
                <a:sym typeface="+mn-ea"/>
              </a:rPr>
              <a:t>；</a:t>
            </a:r>
            <a:endParaRPr lang="en-US" altLang="zh-CN" sz="2800" dirty="0" smtClean="0">
              <a:latin typeface="Cambria" panose="02040503050406030204" pitchFamily="18" charset="0"/>
              <a:ea typeface="Cambria" panose="02040503050406030204" pitchFamily="18" charset="0"/>
            </a:endParaRPr>
          </a:p>
          <a:p>
            <a:pPr marL="742950" lvl="1" indent="-285750">
              <a:lnSpc>
                <a:spcPct val="150000"/>
              </a:lnSpc>
              <a:buClr>
                <a:schemeClr val="accent2"/>
              </a:buClr>
              <a:buSzPct val="144000"/>
              <a:buFont typeface="Arial" panose="020B0604020202020204" pitchFamily="34" charset="0"/>
              <a:buChar char="•"/>
            </a:pPr>
            <a:r>
              <a:rPr lang="zh-CN" altLang="zh-CN" sz="2800" dirty="0" smtClean="0">
                <a:latin typeface="Cambria" panose="02040503050406030204" pitchFamily="18" charset="0"/>
                <a:sym typeface="+mn-ea"/>
              </a:rPr>
              <a:t>基于</a:t>
            </a:r>
            <a:r>
              <a:rPr lang="zh-CN" altLang="zh-CN" sz="2800" dirty="0">
                <a:latin typeface="Cambria" panose="02040503050406030204" pitchFamily="18" charset="0"/>
                <a:sym typeface="+mn-ea"/>
              </a:rPr>
              <a:t>距离的聚类算法只能发现球状簇，很难发现其他形状的</a:t>
            </a:r>
            <a:r>
              <a:rPr lang="zh-CN" altLang="zh-CN" sz="2800" dirty="0" smtClean="0">
                <a:latin typeface="Cambria" panose="02040503050406030204" pitchFamily="18" charset="0"/>
                <a:sym typeface="+mn-ea"/>
              </a:rPr>
              <a:t>簇</a:t>
            </a:r>
            <a:r>
              <a:rPr lang="zh-CN" altLang="en-US" sz="2800" dirty="0" smtClean="0">
                <a:latin typeface="Cambria" panose="02040503050406030204" pitchFamily="18" charset="0"/>
                <a:sym typeface="+mn-ea"/>
              </a:rPr>
              <a:t>；</a:t>
            </a:r>
            <a:endParaRPr lang="zh-CN" altLang="en-US" sz="2800" dirty="0" smtClean="0">
              <a:latin typeface="Cambria" panose="02040503050406030204" pitchFamily="18" charset="0"/>
              <a:sym typeface="+mn-ea"/>
            </a:endParaRPr>
          </a:p>
          <a:p>
            <a:pPr marL="742950" lvl="1" indent="-285750">
              <a:lnSpc>
                <a:spcPct val="150000"/>
              </a:lnSpc>
              <a:buClr>
                <a:schemeClr val="accent2"/>
              </a:buClr>
              <a:buSzPct val="144000"/>
              <a:buFont typeface="Arial" panose="020B0604020202020204" pitchFamily="34" charset="0"/>
              <a:buChar char="•"/>
            </a:pPr>
            <a:endParaRPr lang="en-US" altLang="zh-CN" sz="2800" dirty="0" smtClean="0">
              <a:latin typeface="Cambria" panose="02040503050406030204" pitchFamily="18" charset="0"/>
              <a:ea typeface="Cambria" panose="02040503050406030204" pitchFamily="18" charset="0"/>
            </a:endParaRPr>
          </a:p>
          <a:p>
            <a:pPr marL="742950" lvl="1" indent="-285750">
              <a:lnSpc>
                <a:spcPct val="150000"/>
              </a:lnSpc>
              <a:buClr>
                <a:schemeClr val="accent2"/>
              </a:buClr>
              <a:buSzPct val="144000"/>
              <a:buFont typeface="Arial" panose="020B0604020202020204" pitchFamily="34" charset="0"/>
              <a:buChar char="•"/>
            </a:pPr>
            <a:endParaRPr lang="en-US" altLang="zh-CN" sz="2800" dirty="0" smtClean="0">
              <a:latin typeface="Cambria" panose="02040503050406030204" pitchFamily="18" charset="0"/>
              <a:ea typeface="Cambria" panose="02040503050406030204" pitchFamily="18" charset="0"/>
            </a:endParaRPr>
          </a:p>
          <a:p>
            <a:pPr marL="742950" lvl="1" indent="-285750">
              <a:lnSpc>
                <a:spcPct val="150000"/>
              </a:lnSpc>
              <a:buClr>
                <a:schemeClr val="accent2"/>
              </a:buClr>
              <a:buSzPct val="144000"/>
              <a:buFont typeface="Arial" panose="020B0604020202020204" pitchFamily="34" charset="0"/>
              <a:buChar char="•"/>
            </a:pPr>
            <a:r>
              <a:rPr lang="zh-CN" altLang="zh-CN" sz="2800" b="1" dirty="0" smtClean="0">
                <a:solidFill>
                  <a:srgbClr val="C00000"/>
                </a:solidFill>
                <a:latin typeface="Cambria" panose="02040503050406030204" pitchFamily="18" charset="0"/>
                <a:sym typeface="+mn-ea"/>
              </a:rPr>
              <a:t>初始</a:t>
            </a:r>
            <a:r>
              <a:rPr lang="zh-CN" altLang="zh-CN" sz="2800" b="1" dirty="0">
                <a:solidFill>
                  <a:srgbClr val="C00000"/>
                </a:solidFill>
                <a:latin typeface="Cambria" panose="02040503050406030204" pitchFamily="18" charset="0"/>
                <a:sym typeface="+mn-ea"/>
              </a:rPr>
              <a:t>中心随机选取，导致结果波动较大</a:t>
            </a:r>
            <a:r>
              <a:rPr lang="zh-CN" altLang="zh-CN" sz="2800" dirty="0">
                <a:latin typeface="Cambria" panose="02040503050406030204" pitchFamily="18" charset="0"/>
                <a:sym typeface="+mn-ea"/>
              </a:rPr>
              <a:t>，稳定性较差</a:t>
            </a:r>
            <a:r>
              <a:rPr lang="zh-CN" altLang="zh-CN" sz="2800" dirty="0" smtClean="0">
                <a:latin typeface="Cambria" panose="02040503050406030204" pitchFamily="18" charset="0"/>
                <a:sym typeface="+mn-ea"/>
              </a:rPr>
              <a:t>。</a:t>
            </a:r>
            <a:endParaRPr lang="en-US" altLang="zh-CN" sz="2800" dirty="0" smtClean="0">
              <a:latin typeface="Cambria" panose="02040503050406030204" pitchFamily="18" charset="0"/>
              <a:ea typeface="Cambria" panose="02040503050406030204" pitchFamily="18" charset="0"/>
            </a:endParaRPr>
          </a:p>
          <a:p>
            <a:endParaRPr lang="en-US" altLang="zh-CN" sz="2800" dirty="0" smtClean="0">
              <a:latin typeface="Cambria" panose="02040503050406030204" pitchFamily="18" charset="0"/>
              <a:ea typeface="Cambria" panose="02040503050406030204" pitchFamily="18" charset="0"/>
            </a:endParaRPr>
          </a:p>
        </p:txBody>
      </p:sp>
      <p:pic>
        <p:nvPicPr>
          <p:cNvPr id="6" name="图片 5" descr="]9FDK90N5VQ4SOOBVDUZL(T"/>
          <p:cNvPicPr>
            <a:picLocks noChangeAspect="1"/>
          </p:cNvPicPr>
          <p:nvPr/>
        </p:nvPicPr>
        <p:blipFill>
          <a:blip r:embed="rId1"/>
          <a:stretch>
            <a:fillRect/>
          </a:stretch>
        </p:blipFill>
        <p:spPr>
          <a:xfrm>
            <a:off x="3479165" y="4055110"/>
            <a:ext cx="2041525" cy="1436370"/>
          </a:xfrm>
          <a:prstGeom prst="rect">
            <a:avLst/>
          </a:prstGeom>
        </p:spPr>
      </p:pic>
      <p:pic>
        <p:nvPicPr>
          <p:cNvPr id="7" name="图片 6" descr="_X8227W32[$YOQR7)_{2%LQ"/>
          <p:cNvPicPr>
            <a:picLocks noChangeAspect="1"/>
          </p:cNvPicPr>
          <p:nvPr/>
        </p:nvPicPr>
        <p:blipFill>
          <a:blip r:embed="rId2"/>
          <a:stretch>
            <a:fillRect/>
          </a:stretch>
        </p:blipFill>
        <p:spPr>
          <a:xfrm>
            <a:off x="5885815" y="4055110"/>
            <a:ext cx="2208530" cy="1576070"/>
          </a:xfrm>
          <a:prstGeom prst="rect">
            <a:avLst/>
          </a:prstGeom>
        </p:spPr>
      </p:pic>
      <p:pic>
        <p:nvPicPr>
          <p:cNvPr id="8" name="图片 7" descr="HT6%9M3L[Y$D)I@RW}2WN$W"/>
          <p:cNvPicPr>
            <a:picLocks noChangeAspect="1"/>
          </p:cNvPicPr>
          <p:nvPr/>
        </p:nvPicPr>
        <p:blipFill>
          <a:blip r:embed="rId3"/>
          <a:stretch>
            <a:fillRect/>
          </a:stretch>
        </p:blipFill>
        <p:spPr>
          <a:xfrm>
            <a:off x="8376920" y="4055110"/>
            <a:ext cx="2315845" cy="172339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X~KO(2OHU7BSJR9S9JSY8~I"/>
          <p:cNvPicPr>
            <a:picLocks noChangeAspect="1"/>
          </p:cNvPicPr>
          <p:nvPr>
            <p:ph idx="1"/>
          </p:nvPr>
        </p:nvPicPr>
        <p:blipFill>
          <a:blip r:embed="rId1"/>
          <a:stretch>
            <a:fillRect/>
          </a:stretch>
        </p:blipFill>
        <p:spPr>
          <a:xfrm>
            <a:off x="3011170" y="906145"/>
            <a:ext cx="7071360" cy="2757170"/>
          </a:xfrm>
          <a:prstGeom prst="rect">
            <a:avLst/>
          </a:prstGeom>
        </p:spPr>
      </p:pic>
      <p:pic>
        <p:nvPicPr>
          <p:cNvPr id="5" name="图片 4" descr="Y97F`]H]0VH7{4J$JW7ZY{T"/>
          <p:cNvPicPr>
            <a:picLocks noChangeAspect="1"/>
          </p:cNvPicPr>
          <p:nvPr/>
        </p:nvPicPr>
        <p:blipFill>
          <a:blip r:embed="rId2"/>
          <a:stretch>
            <a:fillRect/>
          </a:stretch>
        </p:blipFill>
        <p:spPr>
          <a:xfrm>
            <a:off x="3073400" y="3796665"/>
            <a:ext cx="6946265" cy="2461260"/>
          </a:xfrm>
          <a:prstGeom prst="rect">
            <a:avLst/>
          </a:prstGeom>
        </p:spPr>
      </p:pic>
      <p:sp>
        <p:nvSpPr>
          <p:cNvPr id="6" name="文本框 5"/>
          <p:cNvSpPr txBox="1"/>
          <p:nvPr/>
        </p:nvSpPr>
        <p:spPr>
          <a:xfrm>
            <a:off x="10616565" y="1499235"/>
            <a:ext cx="1226820" cy="1198880"/>
          </a:xfrm>
          <a:prstGeom prst="rect">
            <a:avLst/>
          </a:prstGeom>
          <a:noFill/>
        </p:spPr>
        <p:txBody>
          <a:bodyPr wrap="square" rtlCol="0">
            <a:spAutoFit/>
          </a:bodyPr>
          <a:p>
            <a:r>
              <a:rPr lang="zh-CN" altLang="en-US" sz="2400" b="1"/>
              <a:t>第一种随机初始</a:t>
            </a:r>
            <a:endParaRPr lang="zh-CN" altLang="en-US" sz="2400" b="1"/>
          </a:p>
        </p:txBody>
      </p:sp>
      <p:sp>
        <p:nvSpPr>
          <p:cNvPr id="7" name="文本框 6"/>
          <p:cNvSpPr txBox="1"/>
          <p:nvPr/>
        </p:nvSpPr>
        <p:spPr>
          <a:xfrm>
            <a:off x="10483215" y="4704715"/>
            <a:ext cx="1226820" cy="1198880"/>
          </a:xfrm>
          <a:prstGeom prst="rect">
            <a:avLst/>
          </a:prstGeom>
          <a:noFill/>
        </p:spPr>
        <p:txBody>
          <a:bodyPr wrap="square" rtlCol="0">
            <a:spAutoFit/>
          </a:bodyPr>
          <a:p>
            <a:r>
              <a:rPr lang="zh-CN" altLang="en-US" sz="2400" b="1"/>
              <a:t>第二种随机初始</a:t>
            </a:r>
            <a:endParaRPr lang="zh-CN" altLang="en-US" sz="2400" b="1"/>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3200"/>
              <a:t>如何解决问题</a:t>
            </a:r>
            <a:endParaRPr lang="zh-CN" altLang="en-US" sz="3200"/>
          </a:p>
        </p:txBody>
      </p:sp>
      <p:sp>
        <p:nvSpPr>
          <p:cNvPr id="3" name="内容占位符 2"/>
          <p:cNvSpPr>
            <a:spLocks noGrp="1"/>
          </p:cNvSpPr>
          <p:nvPr>
            <p:ph idx="1"/>
          </p:nvPr>
        </p:nvSpPr>
        <p:spPr>
          <a:xfrm>
            <a:off x="2522537" y="1752600"/>
            <a:ext cx="8915400" cy="3777622"/>
          </a:xfrm>
        </p:spPr>
        <p:txBody>
          <a:bodyPr>
            <a:normAutofit fontScale="80000"/>
          </a:bodyPr>
          <a:p>
            <a:r>
              <a:rPr lang="en-US" altLang="zh-CN" sz="2800"/>
              <a:t>1. </a:t>
            </a:r>
            <a:r>
              <a:rPr lang="zh-CN" altLang="en-US" sz="2800"/>
              <a:t>怎么决定</a:t>
            </a:r>
            <a:r>
              <a:rPr lang="en-US" altLang="zh-CN" sz="2800"/>
              <a:t>K</a:t>
            </a:r>
            <a:r>
              <a:rPr lang="zh-CN" altLang="en-US" sz="2800"/>
              <a:t>的值？</a:t>
            </a:r>
            <a:endParaRPr lang="zh-CN" altLang="en-US" sz="2800"/>
          </a:p>
          <a:p>
            <a:pPr marL="0" indent="0">
              <a:buNone/>
            </a:pPr>
            <a:r>
              <a:rPr lang="zh-CN" altLang="en-US" sz="2800" b="1">
                <a:solidFill>
                  <a:srgbClr val="C00000"/>
                </a:solidFill>
              </a:rPr>
              <a:t>    手肘法</a:t>
            </a:r>
            <a:endParaRPr lang="zh-CN" altLang="en-US" sz="2800" b="1">
              <a:solidFill>
                <a:srgbClr val="C00000"/>
              </a:solidFill>
            </a:endParaRPr>
          </a:p>
          <a:p>
            <a:pPr marL="0" indent="0">
              <a:buNone/>
            </a:pPr>
            <a:r>
              <a:rPr lang="zh-CN" altLang="en-US" sz="2800" b="1">
                <a:solidFill>
                  <a:schemeClr val="tx1"/>
                </a:solidFill>
              </a:rPr>
              <a:t>手肘法的核心指标是SSE(sum of the squared errors，误差平方和)，</a:t>
            </a:r>
            <a:endParaRPr lang="zh-CN" altLang="en-US" sz="2800" b="1">
              <a:solidFill>
                <a:schemeClr val="tx1"/>
              </a:solidFill>
            </a:endParaRPr>
          </a:p>
          <a:p>
            <a:pPr marL="0" indent="0">
              <a:buNone/>
            </a:pPr>
            <a:endParaRPr lang="zh-CN" altLang="en-US" sz="2800" b="1">
              <a:solidFill>
                <a:schemeClr val="tx1"/>
              </a:solidFill>
            </a:endParaRPr>
          </a:p>
          <a:p>
            <a:pPr marL="0" indent="0">
              <a:buNone/>
            </a:pPr>
            <a:endParaRPr lang="zh-CN" altLang="en-US" sz="2800" b="1">
              <a:solidFill>
                <a:schemeClr val="tx1"/>
              </a:solidFill>
            </a:endParaRPr>
          </a:p>
          <a:p>
            <a:pPr marL="0" indent="0">
              <a:buNone/>
            </a:pPr>
            <a:endParaRPr lang="zh-CN" altLang="en-US" sz="2800" b="1">
              <a:solidFill>
                <a:schemeClr val="tx1"/>
              </a:solidFill>
            </a:endParaRPr>
          </a:p>
          <a:p>
            <a:pPr marL="0" indent="0">
              <a:buNone/>
            </a:pPr>
            <a:r>
              <a:rPr lang="zh-CN" altLang="en-US" sz="2800" b="1">
                <a:solidFill>
                  <a:schemeClr val="tx1"/>
                </a:solidFill>
              </a:rPr>
              <a:t>其中，Ci是第i个簇，p是Ci中的样本点，mi是Ci的质心（Ci中所有样本的均值），SSE是所有样本的聚类误差，代表了聚类效果的好坏。</a:t>
            </a:r>
            <a:endParaRPr lang="zh-CN" altLang="en-US" sz="2800" b="1">
              <a:solidFill>
                <a:schemeClr val="tx1"/>
              </a:solidFill>
            </a:endParaRPr>
          </a:p>
        </p:txBody>
      </p:sp>
      <p:pic>
        <p:nvPicPr>
          <p:cNvPr id="5" name="图片 5" descr="https://img-blog.csdn.net/20180111174114444?watermark/2/text/aHR0cDovL2Jsb2cuY3Nkbi5uZXQvcXFfMTU3Mzg1MDE=/font/5a6L5L2T/fontsize/400/fill/I0JBQkFCMA==/dissolve/70/gravity/SouthEas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4415155" y="3289300"/>
            <a:ext cx="2730500" cy="914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026920" y="1381125"/>
            <a:ext cx="8915400" cy="4888865"/>
          </a:xfrm>
        </p:spPr>
        <p:txBody>
          <a:bodyPr>
            <a:normAutofit lnSpcReduction="10000"/>
          </a:bodyPr>
          <a:p>
            <a:r>
              <a:rPr lang="zh-CN" altLang="en-US" sz="2800" b="1">
                <a:solidFill>
                  <a:srgbClr val="C00000"/>
                </a:solidFill>
              </a:rPr>
              <a:t>核心思想</a:t>
            </a:r>
            <a:r>
              <a:rPr lang="zh-CN" altLang="en-US" sz="2800" b="1"/>
              <a:t>：随着聚类数k的增大，样本划分会更加精细，每个簇的聚合程度会逐渐提高，误差平方和SSE自然会逐渐变小。</a:t>
            </a:r>
            <a:endParaRPr lang="zh-CN" altLang="en-US" sz="2800" b="1"/>
          </a:p>
          <a:p>
            <a:endParaRPr lang="zh-CN" altLang="en-US" sz="2800" b="1"/>
          </a:p>
          <a:p>
            <a:r>
              <a:rPr lang="zh-CN" altLang="en-US" sz="2800" b="1"/>
              <a:t>但在这个逐渐变小的过程中，</a:t>
            </a:r>
            <a:r>
              <a:rPr lang="en-US" altLang="zh-CN" sz="2800" b="1"/>
              <a:t>SSE</a:t>
            </a:r>
            <a:r>
              <a:rPr lang="zh-CN" altLang="en-US" sz="2800" b="1"/>
              <a:t>并非随着</a:t>
            </a:r>
            <a:r>
              <a:rPr lang="en-US" altLang="zh-CN" sz="2800" b="1"/>
              <a:t>K</a:t>
            </a:r>
            <a:r>
              <a:rPr lang="zh-CN" altLang="en-US" sz="2800" b="1"/>
              <a:t>增长</a:t>
            </a:r>
            <a:r>
              <a:rPr lang="zh-CN" altLang="en-US" sz="2800" b="1"/>
              <a:t>而线性下降。当k小于真实聚类数时，由于k的增大会大幅增加每个簇的聚合程度，故SSE的下降幅度会很大，而当k到达真实聚类数时，再增加k所得到的聚合程度回报会迅速变小，所以SSE的下降幅度会骤减，然后随着k值的继续增大而趋于平缓，形成类似手肘的形状。</a:t>
            </a:r>
            <a:endParaRPr lang="zh-CN" altLang="en-US" sz="2800" b="1"/>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图片 4" descr="https://img-blog.csdn.net/20180111213929011?watermark/2/text/aHR0cDovL2Jsb2cuY3Nkbi5uZXQvcXFfMTU3Mzg1MDE=/font/5a6L5L2T/fontsize/400/fill/I0JBQkFCMA==/dissolve/70/gravity/SouthEast"/>
          <p:cNvPicPr>
            <a:picLocks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2185670" y="1309370"/>
            <a:ext cx="7127875" cy="5346700"/>
          </a:xfrm>
          <a:prstGeom prst="rect">
            <a:avLst/>
          </a:prstGeom>
          <a:noFill/>
          <a:ln>
            <a:noFill/>
          </a:ln>
        </p:spPr>
      </p:pic>
      <p:sp>
        <p:nvSpPr>
          <p:cNvPr id="5" name="文本框 4"/>
          <p:cNvSpPr txBox="1"/>
          <p:nvPr/>
        </p:nvSpPr>
        <p:spPr>
          <a:xfrm>
            <a:off x="5619115" y="3815715"/>
            <a:ext cx="2150110" cy="1014730"/>
          </a:xfrm>
          <a:prstGeom prst="rect">
            <a:avLst/>
          </a:prstGeom>
          <a:solidFill>
            <a:schemeClr val="accent6">
              <a:lumMod val="20000"/>
              <a:lumOff val="80000"/>
            </a:schemeClr>
          </a:solidFill>
          <a:ln>
            <a:solidFill>
              <a:schemeClr val="tx1"/>
            </a:solidFill>
          </a:ln>
        </p:spPr>
        <p:txBody>
          <a:bodyPr wrap="square" rtlCol="0">
            <a:spAutoFit/>
          </a:bodyPr>
          <a:p>
            <a:r>
              <a:rPr lang="en-US" altLang="zh-CN" sz="2000" b="1"/>
              <a:t>“</a:t>
            </a:r>
            <a:r>
              <a:rPr lang="zh-CN" altLang="en-US" sz="2000" b="1"/>
              <a:t>手肘</a:t>
            </a:r>
            <a:r>
              <a:rPr lang="en-US" altLang="zh-CN" sz="2000" b="1"/>
              <a:t>”</a:t>
            </a:r>
            <a:r>
              <a:rPr lang="zh-CN" altLang="en-US" sz="2000" b="1"/>
              <a:t>的拐点在</a:t>
            </a:r>
            <a:r>
              <a:rPr lang="en-US" altLang="zh-CN" sz="2000" b="1"/>
              <a:t>k=4</a:t>
            </a:r>
            <a:r>
              <a:rPr lang="zh-CN" altLang="en-US" sz="2000" b="1"/>
              <a:t>，所以认为</a:t>
            </a:r>
            <a:r>
              <a:rPr lang="en-US" altLang="zh-CN" sz="2000" b="1"/>
              <a:t>k</a:t>
            </a:r>
            <a:r>
              <a:rPr lang="zh-CN" altLang="en-US" sz="2000" b="1"/>
              <a:t>应取</a:t>
            </a:r>
            <a:r>
              <a:rPr lang="en-US" altLang="zh-CN" sz="2000" b="1"/>
              <a:t>4</a:t>
            </a:r>
            <a:endParaRPr lang="en-US" altLang="zh-CN" sz="2000" b="1"/>
          </a:p>
        </p:txBody>
      </p:sp>
      <p:sp>
        <p:nvSpPr>
          <p:cNvPr id="6" name="文本框 5"/>
          <p:cNvSpPr txBox="1"/>
          <p:nvPr/>
        </p:nvSpPr>
        <p:spPr>
          <a:xfrm>
            <a:off x="9674860" y="1755775"/>
            <a:ext cx="2092325" cy="4154170"/>
          </a:xfrm>
          <a:prstGeom prst="rect">
            <a:avLst/>
          </a:prstGeom>
          <a:noFill/>
        </p:spPr>
        <p:txBody>
          <a:bodyPr wrap="square" rtlCol="0">
            <a:spAutoFit/>
          </a:bodyPr>
          <a:p>
            <a:r>
              <a:rPr lang="zh-CN" altLang="en-US" sz="2400" b="1"/>
              <a:t>让k从1开始取值直到取到你认为合适的上限(这里我们选取上限为8)，对每一个k值进行聚类并且记下对应的SSE，然后画出k和SSE的关系图</a:t>
            </a:r>
            <a:endParaRPr lang="zh-CN" altLang="en-US" sz="2400" b="1"/>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446337" y="1219200"/>
            <a:ext cx="8915400" cy="3777622"/>
          </a:xfrm>
        </p:spPr>
        <p:txBody>
          <a:bodyPr/>
          <a:p>
            <a:r>
              <a:rPr lang="en-US" altLang="zh-CN" sz="2800"/>
              <a:t>2. </a:t>
            </a:r>
            <a:r>
              <a:rPr lang="zh-CN" altLang="en-US" sz="2800"/>
              <a:t>怎么解决随机质心对算法的影响？</a:t>
            </a:r>
            <a:endParaRPr lang="zh-CN" altLang="en-US" sz="2800"/>
          </a:p>
          <a:p>
            <a:endParaRPr lang="zh-CN" altLang="en-US" sz="2800"/>
          </a:p>
          <a:p>
            <a:pPr marL="0" indent="0">
              <a:buNone/>
            </a:pPr>
            <a:r>
              <a:rPr lang="zh-CN" altLang="en-US" sz="2800"/>
              <a:t>    对</a:t>
            </a:r>
            <a:r>
              <a:rPr lang="en-US" altLang="zh-CN" sz="2800"/>
              <a:t>K-means</a:t>
            </a:r>
            <a:r>
              <a:rPr lang="zh-CN" altLang="en-US" sz="2800"/>
              <a:t>做出改进：</a:t>
            </a:r>
            <a:r>
              <a:rPr lang="en-US" altLang="zh-CN" sz="2800"/>
              <a:t>K-means++</a:t>
            </a:r>
            <a:endParaRPr lang="en-US" altLang="zh-CN" sz="2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内容占位符 3"/>
          <p:cNvSpPr txBox="1"/>
          <p:nvPr/>
        </p:nvSpPr>
        <p:spPr>
          <a:xfrm>
            <a:off x="2424937" y="716315"/>
            <a:ext cx="5541113" cy="648072"/>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rgbClr val="83AA67"/>
              </a:buClr>
              <a:buSzPct val="100000"/>
              <a:buFont typeface="Wingdings" panose="05000000000000000000" pitchFamily="2" charset="2"/>
              <a:buNone/>
              <a:defRPr sz="2400" kern="1200" cap="none" baseline="0">
                <a:solidFill>
                  <a:schemeClr val="accent3">
                    <a:lumMod val="50000"/>
                  </a:schemeClr>
                </a:solidFill>
                <a:effectLst/>
                <a:latin typeface="Microsoft Sans Serif" panose="020B0604020202020204" pitchFamily="34" charset="0"/>
                <a:ea typeface="华文楷体" panose="02010600040101010101" pitchFamily="2" charset="-122"/>
                <a:cs typeface="+mn-cs"/>
              </a:defRPr>
            </a:lvl1pPr>
            <a:lvl2pPr marL="742950" indent="-285750" algn="l" defTabSz="457200" rtl="0" eaLnBrk="1" latinLnBrk="0" hangingPunct="1">
              <a:spcBef>
                <a:spcPct val="20000"/>
              </a:spcBef>
              <a:spcAft>
                <a:spcPts val="600"/>
              </a:spcAft>
              <a:buClr>
                <a:srgbClr val="CD4223"/>
              </a:buClr>
              <a:buSzPct val="144000"/>
              <a:buFont typeface="Arial" panose="020B0604020202020204"/>
              <a:buChar char="•"/>
              <a:defRPr sz="1800" kern="1200" cap="none" baseline="0">
                <a:solidFill>
                  <a:schemeClr val="tx1"/>
                </a:solidFill>
                <a:effectLst/>
                <a:latin typeface="Microsoft Sans Serif" panose="020B0604020202020204" pitchFamily="34" charset="0"/>
                <a:ea typeface="华文楷体" panose="02010600040101010101" pitchFamily="2" charset="-122"/>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a:lstStyle>
          <a:p>
            <a:r>
              <a:rPr lang="zh-CN" altLang="zh-CN" sz="2800" b="1" dirty="0" smtClean="0">
                <a:latin typeface="Cambria" panose="02040503050406030204" pitchFamily="18" charset="0"/>
              </a:rPr>
              <a:t>算法改进</a:t>
            </a:r>
            <a:r>
              <a:rPr lang="en-US" altLang="zh-CN" sz="2800" b="1" i="1" dirty="0" smtClean="0">
                <a:latin typeface="Cambria" panose="02040503050406030204" pitchFamily="18" charset="0"/>
                <a:ea typeface="Cambria" panose="02040503050406030204" pitchFamily="18" charset="0"/>
              </a:rPr>
              <a:t>k</a:t>
            </a:r>
            <a:r>
              <a:rPr lang="en-US" altLang="zh-CN" sz="2800" b="1" dirty="0" smtClean="0">
                <a:latin typeface="Cambria" panose="02040503050406030204" pitchFamily="18" charset="0"/>
                <a:ea typeface="Cambria" panose="02040503050406030204" pitchFamily="18" charset="0"/>
              </a:rPr>
              <a:t>-Means</a:t>
            </a:r>
            <a:r>
              <a:rPr lang="en-US" altLang="zh-CN" sz="2800" b="1" dirty="0">
                <a:latin typeface="Cambria" panose="02040503050406030204" pitchFamily="18" charset="0"/>
                <a:ea typeface="Cambria" panose="02040503050406030204" pitchFamily="18" charset="0"/>
              </a:rPr>
              <a:t>++</a:t>
            </a:r>
            <a:endParaRPr lang="en-US" altLang="zh-CN" sz="2800" b="1" dirty="0">
              <a:latin typeface="Cambria" panose="02040503050406030204" pitchFamily="18" charset="0"/>
              <a:ea typeface="Cambria" panose="02040503050406030204" pitchFamily="18" charset="0"/>
            </a:endParaRPr>
          </a:p>
        </p:txBody>
      </p:sp>
      <mc:AlternateContent xmlns:mc="http://schemas.openxmlformats.org/markup-compatibility/2006">
        <mc:Choice xmlns:a14="http://schemas.microsoft.com/office/drawing/2010/main" Requires="a14">
          <p:sp>
            <p:nvSpPr>
              <p:cNvPr id="7" name="文本框 6"/>
              <p:cNvSpPr txBox="1"/>
              <p:nvPr/>
            </p:nvSpPr>
            <p:spPr>
              <a:xfrm>
                <a:off x="1064568" y="1553725"/>
                <a:ext cx="8640960" cy="4708981"/>
              </a:xfrm>
              <a:prstGeom prst="rect">
                <a:avLst/>
              </a:prstGeom>
              <a:noFill/>
            </p:spPr>
            <p:txBody>
              <a:bodyPr wrap="square" rtlCol="0">
                <a:spAutoFit/>
              </a:bodyPr>
              <a:lstStyle/>
              <a:p>
                <a:pPr marL="342900" indent="-342900">
                  <a:lnSpc>
                    <a:spcPct val="150000"/>
                  </a:lnSpc>
                  <a:buClr>
                    <a:schemeClr val="accent2"/>
                  </a:buClr>
                  <a:buSzPct val="144000"/>
                  <a:buFont typeface="Arial" panose="020B0604020202020204" pitchFamily="34" charset="0"/>
                  <a:buChar char="•"/>
                </a:pPr>
                <a:r>
                  <a:rPr lang="zh-CN" altLang="en-US" sz="2000" dirty="0" smtClean="0">
                    <a:latin typeface="Cambria" panose="02040503050406030204" pitchFamily="18" charset="0"/>
                  </a:rPr>
                  <a:t>（</a:t>
                </a:r>
                <a:r>
                  <a:rPr lang="en-US" altLang="zh-CN" sz="2000" dirty="0" smtClean="0">
                    <a:latin typeface="Cambria" panose="02040503050406030204" pitchFamily="18" charset="0"/>
                  </a:rPr>
                  <a:t>1</a:t>
                </a:r>
                <a:r>
                  <a:rPr lang="zh-CN" altLang="en-US" sz="2000" dirty="0" smtClean="0">
                    <a:latin typeface="Cambria" panose="02040503050406030204" pitchFamily="18" charset="0"/>
                  </a:rPr>
                  <a:t>）从</a:t>
                </a:r>
                <a:r>
                  <a:rPr lang="zh-CN" altLang="en-US" sz="2000" dirty="0">
                    <a:latin typeface="Cambria" panose="02040503050406030204" pitchFamily="18" charset="0"/>
                  </a:rPr>
                  <a:t>样本空间中随机挑选一点作为第一个初始</a:t>
                </a:r>
                <a:r>
                  <a:rPr lang="zh-CN" altLang="en-US" sz="2000" dirty="0" smtClean="0">
                    <a:latin typeface="Cambria" panose="02040503050406030204" pitchFamily="18" charset="0"/>
                  </a:rPr>
                  <a:t>质心</a:t>
                </a:r>
                <a:r>
                  <a:rPr lang="zh-CN" altLang="en-US" sz="2000" dirty="0">
                    <a:latin typeface="Cambria" panose="02040503050406030204" pitchFamily="18" charset="0"/>
                  </a:rPr>
                  <a:t>；</a:t>
                </a:r>
              </a:p>
              <a:p>
                <a:pPr marL="342900" indent="-342900">
                  <a:lnSpc>
                    <a:spcPct val="150000"/>
                  </a:lnSpc>
                  <a:buClr>
                    <a:schemeClr val="accent2"/>
                  </a:buClr>
                  <a:buSzPct val="144000"/>
                  <a:buFont typeface="Arial" panose="020B0604020202020204" pitchFamily="34" charset="0"/>
                  <a:buChar char="•"/>
                </a:pPr>
                <a:r>
                  <a:rPr lang="zh-CN" altLang="en-US" sz="2000" dirty="0" smtClean="0">
                    <a:latin typeface="Cambria" panose="02040503050406030204" pitchFamily="18" charset="0"/>
                  </a:rPr>
                  <a:t>（</a:t>
                </a:r>
                <a:r>
                  <a:rPr lang="en-US" altLang="zh-CN" sz="2000" dirty="0" smtClean="0">
                    <a:latin typeface="Cambria" panose="02040503050406030204" pitchFamily="18" charset="0"/>
                  </a:rPr>
                  <a:t>2</a:t>
                </a:r>
                <a:r>
                  <a:rPr lang="zh-CN" altLang="en-US" sz="2000" dirty="0">
                    <a:latin typeface="Cambria" panose="02040503050406030204" pitchFamily="18" charset="0"/>
                  </a:rPr>
                  <a:t>）</a:t>
                </a:r>
                <a:r>
                  <a:rPr lang="zh-CN" altLang="en-US" sz="2000" dirty="0" smtClean="0">
                    <a:latin typeface="Cambria" panose="02040503050406030204" pitchFamily="18" charset="0"/>
                  </a:rPr>
                  <a:t>计算</a:t>
                </a:r>
                <a:r>
                  <a:rPr lang="zh-CN" altLang="en-US" sz="2000" dirty="0" smtClean="0">
                    <a:latin typeface="Cambria" panose="02040503050406030204" pitchFamily="18" charset="0"/>
                  </a:rPr>
                  <a:t>样本点</a:t>
                </a:r>
                <a14:m>
                  <m:oMath xmlns:m="http://schemas.openxmlformats.org/officeDocument/2006/math">
                    <m:r>
                      <a:rPr lang="en-US" altLang="zh-CN" sz="2000" b="0" i="1" smtClean="0">
                        <a:latin typeface="Cambria Math"/>
                      </a:rPr>
                      <m:t>𝑥</m:t>
                    </m:r>
                  </m:oMath>
                </a14:m>
                <a:r>
                  <a:rPr lang="zh-CN" altLang="en-US" sz="2000" dirty="0">
                    <a:latin typeface="Cambria" panose="02040503050406030204" pitchFamily="18" charset="0"/>
                  </a:rPr>
                  <a:t>与当前已有质心的距离，挑选最近的距离</a:t>
                </a:r>
                <a:r>
                  <a:rPr lang="en-US" altLang="zh-CN" sz="2000" dirty="0">
                    <a:latin typeface="Cambria" panose="02040503050406030204" pitchFamily="18" charset="0"/>
                    <a:ea typeface="Cambria" panose="02040503050406030204" pitchFamily="18" charset="0"/>
                  </a:rPr>
                  <a:t>D(</a:t>
                </a:r>
                <a:r>
                  <a:rPr lang="en-US" altLang="zh-CN" sz="2000" i="1" dirty="0">
                    <a:latin typeface="Cambria" panose="02040503050406030204" pitchFamily="18" charset="0"/>
                    <a:ea typeface="Cambria" panose="02040503050406030204" pitchFamily="18" charset="0"/>
                  </a:rPr>
                  <a:t>x</a:t>
                </a:r>
                <a:r>
                  <a:rPr lang="en-US" altLang="zh-CN" sz="2000" dirty="0" smtClean="0">
                    <a:latin typeface="Cambria" panose="02040503050406030204" pitchFamily="18" charset="0"/>
                    <a:ea typeface="Cambria" panose="02040503050406030204" pitchFamily="18" charset="0"/>
                  </a:rPr>
                  <a:t>)</a:t>
                </a:r>
                <a:r>
                  <a:rPr lang="zh-CN" altLang="en-US" sz="2000" dirty="0" smtClean="0">
                    <a:latin typeface="Cambria" panose="02040503050406030204" pitchFamily="18" charset="0"/>
                  </a:rPr>
                  <a:t>；</a:t>
                </a:r>
                <a:endParaRPr lang="zh-CN" altLang="en-US" sz="2000" dirty="0">
                  <a:latin typeface="Cambria" panose="02040503050406030204" pitchFamily="18" charset="0"/>
                </a:endParaRPr>
              </a:p>
              <a:p>
                <a:pPr marL="342900" indent="-342900">
                  <a:lnSpc>
                    <a:spcPct val="150000"/>
                  </a:lnSpc>
                  <a:buClr>
                    <a:schemeClr val="accent2"/>
                  </a:buClr>
                  <a:buSzPct val="144000"/>
                  <a:buFont typeface="Arial" panose="020B0604020202020204" pitchFamily="34" charset="0"/>
                  <a:buChar char="•"/>
                </a:pPr>
                <a:r>
                  <a:rPr lang="zh-CN" altLang="en-US" sz="2000" dirty="0" smtClean="0">
                    <a:latin typeface="Cambria" panose="02040503050406030204" pitchFamily="18" charset="0"/>
                  </a:rPr>
                  <a:t>（</a:t>
                </a:r>
                <a:r>
                  <a:rPr lang="en-US" altLang="zh-CN" sz="2000" dirty="0" smtClean="0">
                    <a:latin typeface="Cambria" panose="02040503050406030204" pitchFamily="18" charset="0"/>
                  </a:rPr>
                  <a:t>3</a:t>
                </a:r>
                <a:r>
                  <a:rPr lang="zh-CN" altLang="en-US" sz="2000" dirty="0" smtClean="0">
                    <a:latin typeface="Cambria" panose="02040503050406030204" pitchFamily="18" charset="0"/>
                  </a:rPr>
                  <a:t>）计算样本</a:t>
                </a:r>
                <a14:m>
                  <m:oMath xmlns:m="http://schemas.openxmlformats.org/officeDocument/2006/math">
                    <m:r>
                      <m:rPr>
                        <m:nor/>
                      </m:rPr>
                      <a:rPr lang="zh-CN" altLang="en-US" sz="2000" dirty="0">
                        <a:latin typeface="Cambria" panose="02040503050406030204" pitchFamily="18" charset="0"/>
                      </a:rPr>
                      <m:t>点</m:t>
                    </m:r>
                    <m:r>
                      <a:rPr lang="en-US" altLang="zh-CN" sz="2000" b="0" i="1" smtClean="0">
                        <a:latin typeface="Cambria Math"/>
                      </a:rPr>
                      <m:t>𝑥</m:t>
                    </m:r>
                  </m:oMath>
                </a14:m>
                <a:r>
                  <a:rPr lang="zh-CN" altLang="en-US" sz="2000" dirty="0">
                    <a:latin typeface="Cambria" panose="02040503050406030204" pitchFamily="18" charset="0"/>
                  </a:rPr>
                  <a:t>被选为下一个质心的概率，距离已有质心越远的点成为下一个质心的可能性越大，概率计算公式为</a:t>
                </a:r>
                <a:r>
                  <a:rPr lang="zh-CN" altLang="en-US" sz="2000" dirty="0" smtClean="0">
                    <a:latin typeface="Cambria" panose="02040503050406030204" pitchFamily="18" charset="0"/>
                  </a:rPr>
                  <a:t>：</a:t>
                </a:r>
                <a:endParaRPr lang="en-US" altLang="zh-CN" sz="2000" dirty="0" smtClean="0">
                  <a:latin typeface="Cambria" panose="02040503050406030204" pitchFamily="18" charset="0"/>
                </a:endParaRPr>
              </a:p>
              <a:p>
                <a:pPr marL="342900" indent="-342900">
                  <a:lnSpc>
                    <a:spcPct val="150000"/>
                  </a:lnSpc>
                  <a:buClr>
                    <a:schemeClr val="accent2"/>
                  </a:buClr>
                  <a:buSzPct val="144000"/>
                  <a:buFont typeface="Arial" panose="020B0604020202020204" pitchFamily="34" charset="0"/>
                  <a:buChar char="•"/>
                </a:pPr>
                <a:endParaRPr lang="zh-CN" altLang="en-US" sz="2000" dirty="0">
                  <a:latin typeface="Cambria" panose="02040503050406030204" pitchFamily="18" charset="0"/>
                </a:endParaRPr>
              </a:p>
              <a:p>
                <a:pPr>
                  <a:lnSpc>
                    <a:spcPct val="150000"/>
                  </a:lnSpc>
                  <a:buClr>
                    <a:schemeClr val="accent2"/>
                  </a:buClr>
                  <a:buSzPct val="144000"/>
                </a:pPr>
                <a:endParaRPr lang="zh-CN" altLang="en-US" sz="2000" dirty="0">
                  <a:latin typeface="Cambria" panose="02040503050406030204" pitchFamily="18" charset="0"/>
                </a:endParaRPr>
              </a:p>
              <a:p>
                <a:pPr marL="342900" indent="-342900">
                  <a:lnSpc>
                    <a:spcPct val="150000"/>
                  </a:lnSpc>
                  <a:buClr>
                    <a:schemeClr val="accent2"/>
                  </a:buClr>
                  <a:buSzPct val="144000"/>
                  <a:buFont typeface="Arial" panose="020B0604020202020204" pitchFamily="34" charset="0"/>
                  <a:buChar char="•"/>
                </a:pPr>
                <a:r>
                  <a:rPr lang="zh-CN" altLang="en-US" sz="2000" dirty="0" smtClean="0">
                    <a:latin typeface="Cambria" panose="02040503050406030204" pitchFamily="18" charset="0"/>
                  </a:rPr>
                  <a:t>（</a:t>
                </a:r>
                <a:r>
                  <a:rPr lang="en-US" altLang="zh-CN" sz="2000" dirty="0" smtClean="0">
                    <a:latin typeface="Cambria" panose="02040503050406030204" pitchFamily="18" charset="0"/>
                  </a:rPr>
                  <a:t>4</a:t>
                </a:r>
                <a:r>
                  <a:rPr lang="zh-CN" altLang="en-US" sz="2000" dirty="0" smtClean="0">
                    <a:latin typeface="Cambria" panose="02040503050406030204" pitchFamily="18" charset="0"/>
                  </a:rPr>
                  <a:t>）为样本点</a:t>
                </a:r>
                <a14:m>
                  <m:oMath xmlns:m="http://schemas.openxmlformats.org/officeDocument/2006/math">
                    <m:r>
                      <a:rPr lang="en-US" altLang="zh-CN" sz="2000" b="0" i="1" smtClean="0">
                        <a:latin typeface="Cambria Math"/>
                      </a:rPr>
                      <m:t>𝑥</m:t>
                    </m:r>
                  </m:oMath>
                </a14:m>
                <a:r>
                  <a:rPr lang="zh-CN" altLang="en-US" sz="2000" dirty="0" smtClean="0">
                    <a:latin typeface="Cambria" panose="02040503050406030204" pitchFamily="18" charset="0"/>
                  </a:rPr>
                  <a:t>计算</a:t>
                </a:r>
                <a:r>
                  <a:rPr lang="zh-CN" altLang="en-US" sz="2000" dirty="0">
                    <a:latin typeface="Cambria" panose="02040503050406030204" pitchFamily="18" charset="0"/>
                  </a:rPr>
                  <a:t>概率</a:t>
                </a:r>
                <a:r>
                  <a:rPr lang="en-US" altLang="zh-CN" sz="2000" i="1" dirty="0">
                    <a:latin typeface="Cambria" panose="02040503050406030204" pitchFamily="18" charset="0"/>
                    <a:ea typeface="Cambria" panose="02040503050406030204" pitchFamily="18" charset="0"/>
                  </a:rPr>
                  <a:t>P</a:t>
                </a:r>
                <a:r>
                  <a:rPr lang="en-US" altLang="zh-CN" sz="2000" dirty="0">
                    <a:latin typeface="Cambria" panose="02040503050406030204" pitchFamily="18" charset="0"/>
                    <a:ea typeface="Cambria" panose="02040503050406030204" pitchFamily="18" charset="0"/>
                  </a:rPr>
                  <a:t>(</a:t>
                </a:r>
                <a:r>
                  <a:rPr lang="en-US" altLang="zh-CN" sz="2000" i="1" dirty="0">
                    <a:latin typeface="Cambria" panose="02040503050406030204" pitchFamily="18" charset="0"/>
                    <a:ea typeface="Cambria" panose="02040503050406030204" pitchFamily="18" charset="0"/>
                  </a:rPr>
                  <a:t>x</a:t>
                </a:r>
                <a:r>
                  <a:rPr lang="en-US" altLang="zh-CN" sz="2000" dirty="0">
                    <a:latin typeface="Cambria" panose="02040503050406030204" pitchFamily="18" charset="0"/>
                    <a:ea typeface="Cambria" panose="02040503050406030204" pitchFamily="18" charset="0"/>
                  </a:rPr>
                  <a:t>)</a:t>
                </a:r>
                <a:r>
                  <a:rPr lang="zh-CN" altLang="en-US" sz="2000" dirty="0">
                    <a:latin typeface="Cambria" panose="02040503050406030204" pitchFamily="18" charset="0"/>
                  </a:rPr>
                  <a:t>的累加和</a:t>
                </a:r>
                <a:r>
                  <a:rPr lang="en-US" altLang="zh-CN" sz="2000" dirty="0">
                    <a:latin typeface="Cambria" panose="02040503050406030204" pitchFamily="18" charset="0"/>
                    <a:ea typeface="Cambria" panose="02040503050406030204" pitchFamily="18" charset="0"/>
                  </a:rPr>
                  <a:t>sum</a:t>
                </a:r>
                <a:r>
                  <a:rPr lang="zh-CN" altLang="en-US" sz="2000" dirty="0">
                    <a:latin typeface="Cambria" panose="02040503050406030204" pitchFamily="18" charset="0"/>
                  </a:rPr>
                  <a:t>，使用轮盘法选出下一个</a:t>
                </a:r>
                <a:r>
                  <a:rPr lang="zh-CN" altLang="en-US" sz="2000" dirty="0" smtClean="0">
                    <a:latin typeface="Cambria" panose="02040503050406030204" pitchFamily="18" charset="0"/>
                  </a:rPr>
                  <a:t>质心</a:t>
                </a:r>
                <a:r>
                  <a:rPr lang="zh-CN" altLang="en-US" sz="2000" dirty="0" smtClean="0">
                    <a:latin typeface="Cambria" panose="02040503050406030204" pitchFamily="18" charset="0"/>
                  </a:rPr>
                  <a:t>：</a:t>
                </a:r>
                <a:endParaRPr lang="en-US" altLang="zh-CN" sz="2000" dirty="0" smtClean="0">
                  <a:latin typeface="Cambria" panose="02040503050406030204" pitchFamily="18" charset="0"/>
                </a:endParaRPr>
              </a:p>
              <a:p>
                <a:pPr lvl="1">
                  <a:lnSpc>
                    <a:spcPct val="150000"/>
                  </a:lnSpc>
                  <a:buClr>
                    <a:schemeClr val="accent2"/>
                  </a:buClr>
                  <a:buSzPct val="144000"/>
                </a:pPr>
                <a:r>
                  <a:rPr lang="zh-CN" altLang="en-US" sz="2000" dirty="0" smtClean="0">
                    <a:latin typeface="Cambria" panose="02040503050406030204" pitchFamily="18" charset="0"/>
                  </a:rPr>
                  <a:t>选取</a:t>
                </a:r>
                <a:r>
                  <a:rPr lang="en-US" altLang="zh-CN" sz="2000" dirty="0">
                    <a:latin typeface="Cambria" panose="02040503050406030204" pitchFamily="18" charset="0"/>
                    <a:ea typeface="Cambria" panose="02040503050406030204" pitchFamily="18" charset="0"/>
                  </a:rPr>
                  <a:t>[0,1]</a:t>
                </a:r>
                <a:r>
                  <a:rPr lang="zh-CN" altLang="en-US" sz="2000" dirty="0">
                    <a:latin typeface="Cambria" panose="02040503050406030204" pitchFamily="18" charset="0"/>
                  </a:rPr>
                  <a:t>中的一个随机值，判断它落在哪个样本点的</a:t>
                </a:r>
                <a:r>
                  <a:rPr lang="en-US" altLang="zh-CN" sz="2000" dirty="0">
                    <a:latin typeface="Cambria" panose="02040503050406030204" pitchFamily="18" charset="0"/>
                    <a:ea typeface="Cambria" panose="02040503050406030204" pitchFamily="18" charset="0"/>
                  </a:rPr>
                  <a:t>sum</a:t>
                </a:r>
                <a:r>
                  <a:rPr lang="zh-CN" altLang="en-US" sz="2000" dirty="0">
                    <a:latin typeface="Cambria" panose="02040503050406030204" pitchFamily="18" charset="0"/>
                  </a:rPr>
                  <a:t>区间内</a:t>
                </a:r>
                <a:r>
                  <a:rPr lang="zh-CN" altLang="en-US" sz="2000" dirty="0" smtClean="0">
                    <a:latin typeface="Cambria" panose="02040503050406030204" pitchFamily="18" charset="0"/>
                  </a:rPr>
                  <a:t>。</a:t>
                </a:r>
                <a:endParaRPr lang="en-US" altLang="zh-CN" sz="2000" dirty="0" smtClean="0">
                  <a:latin typeface="Cambria" panose="02040503050406030204" pitchFamily="18" charset="0"/>
                </a:endParaRPr>
              </a:p>
              <a:p>
                <a:pPr lvl="1">
                  <a:lnSpc>
                    <a:spcPct val="150000"/>
                  </a:lnSpc>
                  <a:buClr>
                    <a:schemeClr val="accent2"/>
                  </a:buClr>
                  <a:buSzPct val="144000"/>
                </a:pPr>
                <a:r>
                  <a:rPr lang="zh-CN" altLang="en-US" sz="2000" dirty="0" smtClean="0">
                    <a:latin typeface="Cambria" panose="02040503050406030204" pitchFamily="18" charset="0"/>
                  </a:rPr>
                  <a:t>显然</a:t>
                </a:r>
                <a:r>
                  <a:rPr lang="zh-CN" altLang="en-US" sz="2000" dirty="0">
                    <a:latin typeface="Cambria" panose="02040503050406030204" pitchFamily="18" charset="0"/>
                  </a:rPr>
                  <a:t>，</a:t>
                </a:r>
                <a:r>
                  <a:rPr lang="en-US" altLang="zh-CN" sz="2000" i="1" dirty="0">
                    <a:latin typeface="Cambria" panose="02040503050406030204" pitchFamily="18" charset="0"/>
                    <a:ea typeface="Cambria" panose="02040503050406030204" pitchFamily="18" charset="0"/>
                  </a:rPr>
                  <a:t>P</a:t>
                </a:r>
                <a:r>
                  <a:rPr lang="en-US" altLang="zh-CN" sz="2000" dirty="0">
                    <a:latin typeface="Cambria" panose="02040503050406030204" pitchFamily="18" charset="0"/>
                    <a:ea typeface="Cambria" panose="02040503050406030204" pitchFamily="18" charset="0"/>
                  </a:rPr>
                  <a:t>(</a:t>
                </a:r>
                <a:r>
                  <a:rPr lang="en-US" altLang="zh-CN" sz="2000" i="1" dirty="0">
                    <a:latin typeface="Cambria" panose="02040503050406030204" pitchFamily="18" charset="0"/>
                    <a:ea typeface="Cambria" panose="02040503050406030204" pitchFamily="18" charset="0"/>
                  </a:rPr>
                  <a:t>x</a:t>
                </a:r>
                <a:r>
                  <a:rPr lang="en-US" altLang="zh-CN" sz="2000" dirty="0">
                    <a:latin typeface="Cambria" panose="02040503050406030204" pitchFamily="18" charset="0"/>
                    <a:ea typeface="Cambria" panose="02040503050406030204" pitchFamily="18" charset="0"/>
                  </a:rPr>
                  <a:t>)</a:t>
                </a:r>
                <a:r>
                  <a:rPr lang="zh-CN" altLang="en-US" sz="2000" dirty="0">
                    <a:latin typeface="Cambria" panose="02040503050406030204" pitchFamily="18" charset="0"/>
                  </a:rPr>
                  <a:t>越</a:t>
                </a:r>
                <a:r>
                  <a:rPr lang="zh-CN" altLang="en-US" sz="2000" dirty="0" smtClean="0">
                    <a:latin typeface="Cambria" panose="02040503050406030204" pitchFamily="18" charset="0"/>
                  </a:rPr>
                  <a:t>大，样本点</a:t>
                </a:r>
                <a:r>
                  <a:rPr lang="zh-CN" altLang="en-US" sz="2000" dirty="0">
                    <a:latin typeface="Cambria" panose="02040503050406030204" pitchFamily="18" charset="0"/>
                  </a:rPr>
                  <a:t>被选为下一个质心的可能性</a:t>
                </a:r>
                <a:r>
                  <a:rPr lang="zh-CN" altLang="en-US" sz="2000" dirty="0" smtClean="0">
                    <a:latin typeface="Cambria" panose="02040503050406030204" pitchFamily="18" charset="0"/>
                  </a:rPr>
                  <a:t>也就越</a:t>
                </a:r>
                <a:r>
                  <a:rPr lang="zh-CN" altLang="en-US" sz="2000" dirty="0" smtClean="0">
                    <a:latin typeface="Cambria" panose="02040503050406030204" pitchFamily="18" charset="0"/>
                  </a:rPr>
                  <a:t>大；</a:t>
                </a:r>
                <a:endParaRPr lang="zh-CN" altLang="en-US" sz="2000" dirty="0">
                  <a:latin typeface="Cambria" panose="02040503050406030204" pitchFamily="18" charset="0"/>
                </a:endParaRPr>
              </a:p>
              <a:p>
                <a:pPr marL="342900" indent="-342900">
                  <a:lnSpc>
                    <a:spcPct val="150000"/>
                  </a:lnSpc>
                  <a:buClr>
                    <a:schemeClr val="accent2"/>
                  </a:buClr>
                  <a:buSzPct val="144000"/>
                  <a:buFont typeface="Arial" panose="020B0604020202020204" pitchFamily="34" charset="0"/>
                  <a:buChar char="•"/>
                </a:pPr>
                <a:r>
                  <a:rPr lang="zh-CN" altLang="en-US" sz="2000" dirty="0" smtClean="0">
                    <a:latin typeface="Cambria" panose="02040503050406030204" pitchFamily="18" charset="0"/>
                  </a:rPr>
                  <a:t>（</a:t>
                </a:r>
                <a:r>
                  <a:rPr lang="en-US" altLang="zh-CN" sz="2000" dirty="0" smtClean="0">
                    <a:latin typeface="Cambria" panose="02040503050406030204" pitchFamily="18" charset="0"/>
                  </a:rPr>
                  <a:t>5</a:t>
                </a:r>
                <a:r>
                  <a:rPr lang="zh-CN" altLang="en-US" sz="2000" dirty="0" smtClean="0">
                    <a:latin typeface="Cambria" panose="02040503050406030204" pitchFamily="18" charset="0"/>
                  </a:rPr>
                  <a:t>）重复第（</a:t>
                </a:r>
                <a:r>
                  <a:rPr lang="en-US" altLang="zh-CN" sz="2000" dirty="0" smtClean="0">
                    <a:latin typeface="Cambria" panose="02040503050406030204" pitchFamily="18" charset="0"/>
                    <a:ea typeface="Cambria" panose="02040503050406030204" pitchFamily="18" charset="0"/>
                  </a:rPr>
                  <a:t>2</a:t>
                </a:r>
                <a:r>
                  <a:rPr lang="zh-CN" altLang="en-US" sz="2000" dirty="0" smtClean="0">
                    <a:latin typeface="Cambria" panose="02040503050406030204" pitchFamily="18" charset="0"/>
                    <a:ea typeface="Cambria" panose="02040503050406030204" pitchFamily="18" charset="0"/>
                  </a:rPr>
                  <a:t>）</a:t>
                </a:r>
                <a:r>
                  <a:rPr lang="zh-CN" altLang="en-US" sz="2000" dirty="0" smtClean="0">
                    <a:latin typeface="Cambria" panose="02040503050406030204" pitchFamily="18" charset="0"/>
                  </a:rPr>
                  <a:t>、（</a:t>
                </a:r>
                <a:r>
                  <a:rPr lang="en-US" altLang="zh-CN" sz="2000" dirty="0" smtClean="0">
                    <a:latin typeface="Cambria" panose="02040503050406030204" pitchFamily="18" charset="0"/>
                    <a:ea typeface="Cambria" panose="02040503050406030204" pitchFamily="18" charset="0"/>
                  </a:rPr>
                  <a:t>3</a:t>
                </a:r>
                <a:r>
                  <a:rPr lang="zh-CN" altLang="en-US" sz="2000" dirty="0" smtClean="0">
                    <a:latin typeface="Cambria" panose="02040503050406030204" pitchFamily="18" charset="0"/>
                    <a:ea typeface="Cambria" panose="02040503050406030204" pitchFamily="18" charset="0"/>
                  </a:rPr>
                  <a:t>）</a:t>
                </a:r>
                <a:r>
                  <a:rPr lang="zh-CN" altLang="en-US" sz="2000" dirty="0" smtClean="0">
                    <a:latin typeface="Cambria" panose="02040503050406030204" pitchFamily="18" charset="0"/>
                  </a:rPr>
                  <a:t>、（</a:t>
                </a:r>
                <a:r>
                  <a:rPr lang="en-US" altLang="zh-CN" sz="2000" dirty="0" smtClean="0">
                    <a:latin typeface="Cambria" panose="02040503050406030204" pitchFamily="18" charset="0"/>
                    <a:ea typeface="Cambria" panose="02040503050406030204" pitchFamily="18" charset="0"/>
                  </a:rPr>
                  <a:t>4</a:t>
                </a:r>
                <a:r>
                  <a:rPr lang="zh-CN" altLang="en-US" sz="2000" dirty="0" smtClean="0">
                    <a:latin typeface="Cambria" panose="02040503050406030204" pitchFamily="18" charset="0"/>
                    <a:ea typeface="Cambria" panose="02040503050406030204" pitchFamily="18" charset="0"/>
                  </a:rPr>
                  <a:t>）</a:t>
                </a:r>
                <a:r>
                  <a:rPr lang="zh-CN" altLang="en-US" sz="2000" dirty="0" smtClean="0">
                    <a:latin typeface="Cambria" panose="02040503050406030204" pitchFamily="18" charset="0"/>
                  </a:rPr>
                  <a:t>步，选出所有</a:t>
                </a:r>
                <a:r>
                  <a:rPr lang="zh-CN" altLang="en-US" sz="2000" dirty="0">
                    <a:latin typeface="Cambria" panose="02040503050406030204" pitchFamily="18" charset="0"/>
                  </a:rPr>
                  <a:t>的</a:t>
                </a:r>
                <a:r>
                  <a:rPr lang="en-US" altLang="zh-CN" sz="2000" i="1" dirty="0">
                    <a:latin typeface="Cambria" panose="02040503050406030204" pitchFamily="18" charset="0"/>
                    <a:ea typeface="Cambria" panose="02040503050406030204" pitchFamily="18" charset="0"/>
                  </a:rPr>
                  <a:t>k</a:t>
                </a:r>
                <a:r>
                  <a:rPr lang="zh-CN" altLang="en-US" sz="2000" dirty="0" smtClean="0">
                    <a:latin typeface="Cambria" panose="02040503050406030204" pitchFamily="18" charset="0"/>
                  </a:rPr>
                  <a:t>个</a:t>
                </a:r>
                <a:r>
                  <a:rPr lang="zh-CN" altLang="en-US" sz="2000" dirty="0" smtClean="0">
                    <a:latin typeface="Cambria" panose="02040503050406030204" pitchFamily="18" charset="0"/>
                  </a:rPr>
                  <a:t>初始质心</a:t>
                </a:r>
                <a:r>
                  <a:rPr lang="zh-CN" altLang="en-US" sz="2000" dirty="0" smtClean="0">
                    <a:latin typeface="Cambria" panose="02040503050406030204" pitchFamily="18" charset="0"/>
                  </a:rPr>
                  <a:t>。</a:t>
                </a:r>
                <a:endParaRPr lang="zh-CN" altLang="en-US" sz="2000" dirty="0">
                  <a:latin typeface="Cambria"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2207260" y="1553845"/>
                <a:ext cx="9314180" cy="5076190"/>
              </a:xfrm>
              <a:prstGeom prst="rect">
                <a:avLst/>
              </a:prstGeom>
              <a:blipFill rotWithShape="1">
                <a:blip r:embed="rId1"/>
                <a:stretch>
                  <a:fillRect l="-1341" t="-907" r="-3599" b="-1684"/>
                </a:stretch>
              </a:blipFill>
            </p:spPr>
            <p:txBody>
              <a:bodyPr/>
              <a:lstStyle/>
              <a:p>
                <a:r>
                  <a:rPr lang="zh-CN" altLang="en-US">
                    <a:noFill/>
                  </a:rPr>
                  <a:t> </a:t>
                </a:r>
                <a:endParaRPr lang="zh-CN" altLang="en-US">
                  <a:noFill/>
                </a:endParaRPr>
              </a:p>
            </p:txBody>
          </p:sp>
        </mc:Fallback>
      </mc:AlternateContent>
      <p:sp>
        <p:nvSpPr>
          <p:cNvPr id="4" name="Rectangle 69"/>
          <p:cNvSpPr>
            <a:spLocks noChangeArrowheads="1"/>
          </p:cNvSpPr>
          <p:nvPr/>
        </p:nvSpPr>
        <p:spPr bwMode="auto">
          <a:xfrm>
            <a:off x="1143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8" name="Rectangle 72"/>
          <p:cNvSpPr>
            <a:spLocks noChangeArrowheads="1"/>
          </p:cNvSpPr>
          <p:nvPr/>
        </p:nvSpPr>
        <p:spPr bwMode="auto">
          <a:xfrm>
            <a:off x="1143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9" name="对象 8"/>
          <p:cNvGraphicFramePr>
            <a:graphicFrameLocks noChangeAspect="1"/>
          </p:cNvGraphicFramePr>
          <p:nvPr/>
        </p:nvGraphicFramePr>
        <p:xfrm>
          <a:off x="8765540" y="3345838"/>
          <a:ext cx="2160240" cy="1124753"/>
        </p:xfrm>
        <a:graphic>
          <a:graphicData uri="http://schemas.openxmlformats.org/presentationml/2006/ole">
            <mc:AlternateContent xmlns:mc="http://schemas.openxmlformats.org/markup-compatibility/2006">
              <mc:Choice xmlns:v="urn:schemas-microsoft-com:vml" Requires="v">
                <p:oleObj spid="_x0000_s21599" name="Equation" r:id="rId2" imgW="1180465" imgH="622300" progId="Equation.DSMT4">
                  <p:embed/>
                </p:oleObj>
              </mc:Choice>
              <mc:Fallback>
                <p:oleObj name="Equation" r:id="rId2" imgW="1180465" imgH="622300" progId="Equation.DSMT4">
                  <p:embed/>
                  <p:pic>
                    <p:nvPicPr>
                      <p:cNvPr id="0" name="Object 7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5540" y="3345838"/>
                        <a:ext cx="2160240" cy="1124753"/>
                      </a:xfrm>
                      <a:prstGeom prst="rect">
                        <a:avLst/>
                      </a:prstGeom>
                      <a:noFill/>
                    </p:spPr>
                  </p:pic>
                </p:oleObj>
              </mc:Fallback>
            </mc:AlternateContent>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424086"/>
            <a:ext cx="8911687" cy="1280890"/>
          </a:xfrm>
        </p:spPr>
        <p:txBody>
          <a:bodyPr/>
          <a:lstStyle/>
          <a:p>
            <a:r>
              <a:rPr lang="en-US" altLang="zh-CN" dirty="0" smtClean="0">
                <a:latin typeface="楷体" panose="02010609060101010101" pitchFamily="49" charset="-122"/>
                <a:ea typeface="楷体" panose="02010609060101010101" pitchFamily="49" charset="-122"/>
              </a:rPr>
              <a:t>8.5 K-means</a:t>
            </a:r>
            <a:r>
              <a:rPr lang="zh-CN" altLang="en-US" dirty="0" smtClean="0">
                <a:latin typeface="楷体" panose="02010609060101010101" pitchFamily="49" charset="-122"/>
                <a:ea typeface="楷体" panose="02010609060101010101" pitchFamily="49" charset="-122"/>
              </a:rPr>
              <a:t>聚类算法特点及应用</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2603500" y="1219198"/>
            <a:ext cx="8915400" cy="5253040"/>
          </a:xfrm>
        </p:spPr>
        <p:txBody>
          <a:bodyPr>
            <a:noAutofit/>
          </a:bodyPr>
          <a:lstStyle/>
          <a:p>
            <a:pPr algn="just">
              <a:lnSpc>
                <a:spcPct val="150000"/>
              </a:lnSpc>
            </a:pPr>
            <a:r>
              <a:rPr lang="en-US" altLang="zh-CN" sz="2400" dirty="0" smtClean="0">
                <a:latin typeface="楷体" panose="02010609060101010101" pitchFamily="49" charset="-122"/>
                <a:ea typeface="楷体" panose="02010609060101010101" pitchFamily="49" charset="-122"/>
              </a:rPr>
              <a:t>8.5.1 K-means</a:t>
            </a:r>
            <a:r>
              <a:rPr lang="zh-CN" altLang="en-US" sz="2400" dirty="0" smtClean="0">
                <a:latin typeface="楷体" panose="02010609060101010101" pitchFamily="49" charset="-122"/>
                <a:ea typeface="楷体" panose="02010609060101010101" pitchFamily="49" charset="-122"/>
              </a:rPr>
              <a:t>聚类算法应用</a:t>
            </a:r>
            <a:endParaRPr lang="en-US" altLang="zh-CN" sz="2400" dirty="0">
              <a:latin typeface="楷体" panose="02010609060101010101" pitchFamily="49" charset="-122"/>
              <a:ea typeface="楷体" panose="02010609060101010101" pitchFamily="49" charset="-122"/>
            </a:endParaRPr>
          </a:p>
          <a:p>
            <a:pPr algn="just">
              <a:lnSpc>
                <a:spcPct val="150000"/>
              </a:lnSpc>
            </a:pPr>
            <a:r>
              <a:rPr lang="en-US" altLang="zh-CN" sz="2400" dirty="0">
                <a:latin typeface="楷体" panose="02010609060101010101" pitchFamily="49" charset="-122"/>
                <a:ea typeface="楷体" panose="02010609060101010101" pitchFamily="49" charset="-122"/>
              </a:rPr>
              <a:t>1 K-means </a:t>
            </a:r>
            <a:r>
              <a:rPr lang="zh-CN" altLang="en-US" sz="2400" dirty="0">
                <a:latin typeface="楷体" panose="02010609060101010101" pitchFamily="49" charset="-122"/>
                <a:ea typeface="楷体" panose="02010609060101010101" pitchFamily="49" charset="-122"/>
              </a:rPr>
              <a:t>算法在散货船代货运系统中的应用</a:t>
            </a:r>
            <a:endParaRPr lang="zh-CN" altLang="en-US" sz="2400" dirty="0">
              <a:latin typeface="楷体" panose="02010609060101010101" pitchFamily="49" charset="-122"/>
              <a:ea typeface="楷体" panose="02010609060101010101" pitchFamily="49" charset="-122"/>
            </a:endParaRPr>
          </a:p>
          <a:p>
            <a:pPr algn="just">
              <a:lnSpc>
                <a:spcPct val="150000"/>
              </a:lnSpc>
            </a:pPr>
            <a:r>
              <a:rPr lang="zh-CN" altLang="en-US" sz="2400" dirty="0">
                <a:latin typeface="楷体" panose="02010609060101010101" pitchFamily="49" charset="-122"/>
                <a:ea typeface="楷体" panose="02010609060101010101" pitchFamily="49" charset="-122"/>
              </a:rPr>
              <a:t>在散货船代货运系统使用的过程中，动态业务数据的处理及实时分析有助于决策者制定有效的策略。航线是船代公司考虑成本时着重考虑的因素，航线的繁忙程度对船代公司的资源分配和经营策略的制定十分重要。</a:t>
            </a:r>
            <a:r>
              <a:rPr lang="en-US" altLang="zh-CN" sz="2400" dirty="0">
                <a:latin typeface="楷体" panose="02010609060101010101" pitchFamily="49" charset="-122"/>
                <a:ea typeface="楷体" panose="02010609060101010101" pitchFamily="49" charset="-122"/>
              </a:rPr>
              <a:t>K-means </a:t>
            </a:r>
            <a:r>
              <a:rPr lang="zh-CN" altLang="en-US" sz="2400" dirty="0">
                <a:latin typeface="楷体" panose="02010609060101010101" pitchFamily="49" charset="-122"/>
                <a:ea typeface="楷体" panose="02010609060101010101" pitchFamily="49" charset="-122"/>
              </a:rPr>
              <a:t>算法简单、快速而且能有效地处理大型数据库，是数据挖掘中解决聚类问题的一种经典算法，将其应用于散货船代货运方面的航线繁忙度的分析，得出航线繁忙度分析结果的意义。</a:t>
            </a:r>
            <a:endParaRPr lang="zh-CN" altLang="en-US" sz="2400" dirty="0">
              <a:latin typeface="楷体" panose="02010609060101010101" pitchFamily="49" charset="-122"/>
              <a:ea typeface="楷体" panose="02010609060101010101" pitchFamily="49" charset="-122"/>
            </a:endParaRPr>
          </a:p>
          <a:p>
            <a:pPr marL="0" indent="0" algn="just">
              <a:lnSpc>
                <a:spcPct val="150000"/>
              </a:lnSpc>
              <a:buNone/>
            </a:pPr>
            <a:endParaRPr lang="en-US" altLang="zh-CN" sz="2400" dirty="0" smtClean="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424086"/>
            <a:ext cx="8911687" cy="1280890"/>
          </a:xfrm>
        </p:spPr>
        <p:txBody>
          <a:bodyPr/>
          <a:lstStyle/>
          <a:p>
            <a:r>
              <a:rPr lang="en-US" altLang="zh-CN" dirty="0" smtClean="0">
                <a:latin typeface="楷体" panose="02010609060101010101" pitchFamily="49" charset="-122"/>
                <a:ea typeface="楷体" panose="02010609060101010101" pitchFamily="49" charset="-122"/>
              </a:rPr>
              <a:t>8.5 K-means</a:t>
            </a:r>
            <a:r>
              <a:rPr lang="zh-CN" altLang="en-US" dirty="0" smtClean="0">
                <a:latin typeface="楷体" panose="02010609060101010101" pitchFamily="49" charset="-122"/>
                <a:ea typeface="楷体" panose="02010609060101010101" pitchFamily="49" charset="-122"/>
              </a:rPr>
              <a:t>聚类算法特点及应用</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2603500" y="1219198"/>
            <a:ext cx="8915400" cy="5253040"/>
          </a:xfrm>
        </p:spPr>
        <p:txBody>
          <a:bodyPr>
            <a:noAutofit/>
          </a:bodyPr>
          <a:lstStyle/>
          <a:p>
            <a:pPr algn="just">
              <a:lnSpc>
                <a:spcPct val="150000"/>
              </a:lnSpc>
            </a:pPr>
            <a:r>
              <a:rPr lang="en-US" altLang="zh-CN" sz="2400" dirty="0" smtClean="0">
                <a:latin typeface="楷体" panose="02010609060101010101" pitchFamily="49" charset="-122"/>
                <a:ea typeface="楷体" panose="02010609060101010101" pitchFamily="49" charset="-122"/>
              </a:rPr>
              <a:t>8.5.1 K-means</a:t>
            </a:r>
            <a:r>
              <a:rPr lang="zh-CN" altLang="en-US" sz="2400" dirty="0" smtClean="0">
                <a:latin typeface="楷体" panose="02010609060101010101" pitchFamily="49" charset="-122"/>
                <a:ea typeface="楷体" panose="02010609060101010101" pitchFamily="49" charset="-122"/>
              </a:rPr>
              <a:t>聚类算法应用</a:t>
            </a:r>
            <a:endParaRPr lang="en-US" altLang="zh-CN" sz="2400" dirty="0">
              <a:latin typeface="楷体" panose="02010609060101010101" pitchFamily="49" charset="-122"/>
              <a:ea typeface="楷体" panose="02010609060101010101" pitchFamily="49" charset="-122"/>
            </a:endParaRPr>
          </a:p>
          <a:p>
            <a:pPr algn="just">
              <a:lnSpc>
                <a:spcPct val="150000"/>
              </a:lnSpc>
            </a:pPr>
            <a:r>
              <a:rPr lang="en-US" altLang="zh-CN" sz="2400" dirty="0">
                <a:latin typeface="楷体" panose="02010609060101010101" pitchFamily="49" charset="-122"/>
                <a:ea typeface="楷体" panose="02010609060101010101" pitchFamily="49" charset="-122"/>
              </a:rPr>
              <a:t>2 K-Means </a:t>
            </a:r>
            <a:r>
              <a:rPr lang="zh-CN" altLang="en-US" sz="2400" dirty="0">
                <a:latin typeface="楷体" panose="02010609060101010101" pitchFamily="49" charset="-122"/>
                <a:ea typeface="楷体" panose="02010609060101010101" pitchFamily="49" charset="-122"/>
              </a:rPr>
              <a:t>算法在客户细分中的应用</a:t>
            </a:r>
            <a:endParaRPr lang="zh-CN" altLang="en-US" sz="2400" dirty="0">
              <a:latin typeface="楷体" panose="02010609060101010101" pitchFamily="49" charset="-122"/>
              <a:ea typeface="楷体" panose="02010609060101010101" pitchFamily="49" charset="-122"/>
            </a:endParaRPr>
          </a:p>
          <a:p>
            <a:pPr algn="just">
              <a:lnSpc>
                <a:spcPct val="150000"/>
              </a:lnSpc>
            </a:pPr>
            <a:r>
              <a:rPr lang="zh-CN" altLang="en-US" sz="2400" dirty="0" smtClean="0">
                <a:latin typeface="楷体" panose="02010609060101010101" pitchFamily="49" charset="-122"/>
                <a:ea typeface="楷体" panose="02010609060101010101" pitchFamily="49" charset="-122"/>
              </a:rPr>
              <a:t>随着</a:t>
            </a:r>
            <a:r>
              <a:rPr lang="zh-CN" altLang="en-US" sz="2400" dirty="0">
                <a:latin typeface="楷体" panose="02010609060101010101" pitchFamily="49" charset="-122"/>
                <a:ea typeface="楷体" panose="02010609060101010101" pitchFamily="49" charset="-122"/>
              </a:rPr>
              <a:t>技术的进步与客户需求的日趋多样化</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以及企业产品的不断创新</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传统的客户细分方法显现出了明显的缺点</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即使同是高端客户</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客户对同一产品或服务的需求也存在着明显差别</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客户对产品或服务的要求日趋理性和严格。需要一种新的细分方法。客户细分通常用聚类分析方法来实现</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其中</a:t>
            </a:r>
            <a:r>
              <a:rPr lang="en-US" altLang="zh-CN" sz="2400" dirty="0">
                <a:latin typeface="楷体" panose="02010609060101010101" pitchFamily="49" charset="-122"/>
                <a:ea typeface="楷体" panose="02010609060101010101" pitchFamily="49" charset="-122"/>
              </a:rPr>
              <a:t>K-Means</a:t>
            </a:r>
            <a:r>
              <a:rPr lang="zh-CN" altLang="en-US" sz="2400" dirty="0">
                <a:latin typeface="楷体" panose="02010609060101010101" pitchFamily="49" charset="-122"/>
                <a:ea typeface="楷体" panose="02010609060101010101" pitchFamily="49" charset="-122"/>
              </a:rPr>
              <a:t>算法是实践中最为常用的数据挖掘算法之一</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在处理大数据量方面有绝对优势</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而且可以取得较好的效果。</a:t>
            </a:r>
            <a:endParaRPr lang="zh-CN" altLang="en-US" sz="2400" dirty="0">
              <a:latin typeface="楷体" panose="02010609060101010101" pitchFamily="49" charset="-122"/>
              <a:ea typeface="楷体" panose="02010609060101010101" pitchFamily="49" charset="-122"/>
            </a:endParaRPr>
          </a:p>
          <a:p>
            <a:pPr marL="0" indent="0" algn="just">
              <a:lnSpc>
                <a:spcPct val="150000"/>
              </a:lnSpc>
              <a:buNone/>
            </a:pPr>
            <a:endParaRPr lang="en-US" altLang="zh-CN" sz="2400" dirty="0" smtClean="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92925" y="424086"/>
            <a:ext cx="8911687" cy="1280890"/>
          </a:xfrm>
        </p:spPr>
        <p:txBody>
          <a:bodyPr/>
          <a:lstStyle/>
          <a:p>
            <a:r>
              <a:rPr lang="en-US" altLang="zh-CN" dirty="0" smtClean="0">
                <a:latin typeface="楷体" panose="02010609060101010101" pitchFamily="49" charset="-122"/>
                <a:ea typeface="楷体" panose="02010609060101010101" pitchFamily="49" charset="-122"/>
              </a:rPr>
              <a:t>8.6 </a:t>
            </a:r>
            <a:r>
              <a:rPr lang="zh-CN" altLang="en-US" dirty="0" smtClean="0">
                <a:latin typeface="楷体" panose="02010609060101010101" pitchFamily="49" charset="-122"/>
                <a:ea typeface="楷体" panose="02010609060101010101" pitchFamily="49" charset="-122"/>
              </a:rPr>
              <a:t>小结</a:t>
            </a:r>
            <a:endParaRPr lang="zh-CN" altLang="en-US" dirty="0">
              <a:latin typeface="楷体" panose="02010609060101010101" pitchFamily="49" charset="-122"/>
              <a:ea typeface="楷体" panose="02010609060101010101" pitchFamily="49" charset="-122"/>
            </a:endParaRPr>
          </a:p>
        </p:txBody>
      </p:sp>
      <p:sp>
        <p:nvSpPr>
          <p:cNvPr id="3" name="内容占位符 2"/>
          <p:cNvSpPr>
            <a:spLocks noGrp="1"/>
          </p:cNvSpPr>
          <p:nvPr>
            <p:ph idx="1"/>
          </p:nvPr>
        </p:nvSpPr>
        <p:spPr>
          <a:xfrm>
            <a:off x="2603500" y="1428750"/>
            <a:ext cx="8915400" cy="5043488"/>
          </a:xfrm>
        </p:spPr>
        <p:txBody>
          <a:bodyPr>
            <a:noAutofit/>
          </a:bodyPr>
          <a:lstStyle/>
          <a:p>
            <a:pPr algn="just">
              <a:lnSpc>
                <a:spcPct val="150000"/>
              </a:lnSpc>
            </a:pPr>
            <a:r>
              <a:rPr lang="zh-CN" altLang="en-US" sz="2800" dirty="0">
                <a:latin typeface="楷体" panose="02010609060101010101" pitchFamily="49" charset="-122"/>
                <a:ea typeface="楷体" panose="02010609060101010101" pitchFamily="49" charset="-122"/>
              </a:rPr>
              <a:t>本章详细地介绍了</a:t>
            </a:r>
            <a:r>
              <a:rPr lang="en-US" altLang="zh-CN" sz="2800" dirty="0">
                <a:latin typeface="楷体" panose="02010609060101010101" pitchFamily="49" charset="-122"/>
                <a:ea typeface="楷体" panose="02010609060101010101" pitchFamily="49" charset="-122"/>
              </a:rPr>
              <a:t>K-means</a:t>
            </a:r>
            <a:r>
              <a:rPr lang="zh-CN" altLang="en-US" sz="2800" dirty="0">
                <a:latin typeface="楷体" panose="02010609060101010101" pitchFamily="49" charset="-122"/>
                <a:ea typeface="楷体" panose="02010609060101010101" pitchFamily="49" charset="-122"/>
              </a:rPr>
              <a:t>算法的基本概念、基本原理</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并用实例来进行了说明</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同时还分析了</a:t>
            </a:r>
            <a:r>
              <a:rPr lang="en-US" altLang="zh-CN" sz="2800" dirty="0">
                <a:latin typeface="楷体" panose="02010609060101010101" pitchFamily="49" charset="-122"/>
                <a:ea typeface="楷体" panose="02010609060101010101" pitchFamily="49" charset="-122"/>
              </a:rPr>
              <a:t>K-means</a:t>
            </a:r>
            <a:r>
              <a:rPr lang="zh-CN" altLang="en-US" sz="2800" dirty="0">
                <a:latin typeface="楷体" panose="02010609060101010101" pitchFamily="49" charset="-122"/>
                <a:ea typeface="楷体" panose="02010609060101010101" pitchFamily="49" charset="-122"/>
              </a:rPr>
              <a:t>算法的一个具体的源程序，并介绍了该算法的特点和存在的缺陷</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最后介绍了</a:t>
            </a:r>
            <a:r>
              <a:rPr lang="en-US" altLang="zh-CN" sz="2800" dirty="0">
                <a:latin typeface="楷体" panose="02010609060101010101" pitchFamily="49" charset="-122"/>
                <a:ea typeface="楷体" panose="02010609060101010101" pitchFamily="49" charset="-122"/>
              </a:rPr>
              <a:t>K-means</a:t>
            </a:r>
            <a:r>
              <a:rPr lang="zh-CN" altLang="en-US" sz="2800" dirty="0">
                <a:latin typeface="楷体" panose="02010609060101010101" pitchFamily="49" charset="-122"/>
                <a:ea typeface="楷体" panose="02010609060101010101" pitchFamily="49" charset="-122"/>
              </a:rPr>
              <a:t>算法的应用</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从中可以看出</a:t>
            </a:r>
            <a:r>
              <a:rPr lang="en-US" altLang="zh-CN" sz="2800" dirty="0">
                <a:latin typeface="楷体" panose="02010609060101010101" pitchFamily="49" charset="-122"/>
                <a:ea typeface="楷体" panose="02010609060101010101" pitchFamily="49" charset="-122"/>
              </a:rPr>
              <a:t>K-means</a:t>
            </a:r>
            <a:r>
              <a:rPr lang="zh-CN" altLang="en-US" sz="2800" dirty="0">
                <a:latin typeface="楷体" panose="02010609060101010101" pitchFamily="49" charset="-122"/>
                <a:ea typeface="楷体" panose="02010609060101010101" pitchFamily="49" charset="-122"/>
              </a:rPr>
              <a:t>算法的应用非常广泛。</a:t>
            </a:r>
            <a:endParaRPr lang="zh-CN" altLang="en-US" sz="2800" dirty="0" smtClean="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5949,&quot;width&quot;:5949}"/>
</p:tagLst>
</file>

<file path=ppt/tags/tag2.xml><?xml version="1.0" encoding="utf-8"?>
<p:tagLst xmlns:p="http://schemas.openxmlformats.org/presentationml/2006/main">
  <p:tag name="KSO_WM_UNIT_PLACING_PICTURE_USER_VIEWPORT" val="{&quot;height&quot;:3420,&quot;width&quot;:10260}"/>
</p:tagLst>
</file>

<file path=ppt/theme/theme1.xml><?xml version="1.0" encoding="utf-8"?>
<a:theme xmlns:a="http://schemas.openxmlformats.org/drawingml/2006/main" name="丝状">
  <a:themeElements>
    <a:clrScheme name="丝状">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丝状">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丝状">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5916</Words>
  <Application>WPS 演示</Application>
  <PresentationFormat>自定义</PresentationFormat>
  <Paragraphs>901</Paragraphs>
  <Slides>39</Slides>
  <Notes>0</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11</vt:i4>
      </vt:variant>
      <vt:variant>
        <vt:lpstr>幻灯片标题</vt:lpstr>
      </vt:variant>
      <vt:variant>
        <vt:i4>39</vt:i4>
      </vt:variant>
    </vt:vector>
  </HeadingPairs>
  <TitlesOfParts>
    <vt:vector size="66" baseType="lpstr">
      <vt:lpstr>Arial</vt:lpstr>
      <vt:lpstr>宋体</vt:lpstr>
      <vt:lpstr>Wingdings</vt:lpstr>
      <vt:lpstr>Wingdings 3</vt:lpstr>
      <vt:lpstr>Arial</vt:lpstr>
      <vt:lpstr>楷体</vt:lpstr>
      <vt:lpstr>Times New Roman</vt:lpstr>
      <vt:lpstr>微软雅黑</vt:lpstr>
      <vt:lpstr>Arial Unicode MS</vt:lpstr>
      <vt:lpstr>幼圆</vt:lpstr>
      <vt:lpstr>Century Gothic</vt:lpstr>
      <vt:lpstr>Calibri</vt:lpstr>
      <vt:lpstr>Cambria</vt:lpstr>
      <vt:lpstr>Microsoft Sans Serif</vt:lpstr>
      <vt:lpstr>华文楷体</vt:lpstr>
      <vt:lpstr>丝状</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第8章   K-means聚类算法</vt:lpstr>
      <vt:lpstr>PowerPoint 演示文稿</vt:lpstr>
      <vt:lpstr>PowerPoint 演示文稿</vt:lpstr>
      <vt:lpstr>8.1  简介</vt:lpstr>
      <vt:lpstr>PowerPoint 演示文稿</vt:lpstr>
      <vt:lpstr>8.2  K-means 聚类算法原理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8.2 距离计算</vt:lpstr>
      <vt:lpstr>8.2 距离计算</vt:lpstr>
      <vt:lpstr>8.2 距离计算</vt:lpstr>
      <vt:lpstr>8.2 距离计算</vt:lpstr>
      <vt:lpstr>8.3  K-means 聚类算法实例分析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8.4  K-means聚类算法源程序分析</vt:lpstr>
      <vt:lpstr>8.5 K-means聚类算法特点及应用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8.3 k-Means聚类</vt:lpstr>
      <vt:lpstr>8.5 K-means聚类算法特点及应用</vt:lpstr>
      <vt:lpstr>8.5 K-means聚类算法特点及应用</vt:lpstr>
      <vt:lpstr>8.6 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dc:creator>
  <cp:lastModifiedBy>Administrator</cp:lastModifiedBy>
  <cp:revision>59</cp:revision>
  <dcterms:created xsi:type="dcterms:W3CDTF">2019-12-16T01:20:00Z</dcterms:created>
  <dcterms:modified xsi:type="dcterms:W3CDTF">2020-12-09T08:40:47Z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2052-11.1.0.10132</vt:lpwstr>
  </property>
</Properties>
</file>