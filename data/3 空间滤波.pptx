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7"/>
  </p:handoutMasterIdLst>
  <p:sldIdLst>
    <p:sldId id="323" r:id="rId3"/>
    <p:sldId id="460" r:id="rId4"/>
    <p:sldId id="453" r:id="rId6"/>
    <p:sldId id="398" r:id="rId7"/>
    <p:sldId id="454" r:id="rId8"/>
    <p:sldId id="344" r:id="rId9"/>
    <p:sldId id="345" r:id="rId10"/>
    <p:sldId id="461" r:id="rId11"/>
    <p:sldId id="346" r:id="rId12"/>
    <p:sldId id="378" r:id="rId13"/>
    <p:sldId id="348" r:id="rId14"/>
    <p:sldId id="347" r:id="rId15"/>
    <p:sldId id="308" r:id="rId16"/>
    <p:sldId id="309" r:id="rId17"/>
    <p:sldId id="444" r:id="rId18"/>
    <p:sldId id="445" r:id="rId19"/>
    <p:sldId id="474" r:id="rId20"/>
    <p:sldId id="379" r:id="rId21"/>
    <p:sldId id="380" r:id="rId22"/>
    <p:sldId id="381" r:id="rId23"/>
    <p:sldId id="384" r:id="rId24"/>
    <p:sldId id="383" r:id="rId25"/>
    <p:sldId id="448" r:id="rId26"/>
    <p:sldId id="354" r:id="rId27"/>
    <p:sldId id="355" r:id="rId28"/>
    <p:sldId id="449" r:id="rId29"/>
    <p:sldId id="451" r:id="rId30"/>
    <p:sldId id="452" r:id="rId31"/>
    <p:sldId id="472" r:id="rId32"/>
    <p:sldId id="463" r:id="rId33"/>
    <p:sldId id="464" r:id="rId34"/>
    <p:sldId id="465" r:id="rId35"/>
    <p:sldId id="466" r:id="rId36"/>
    <p:sldId id="467" r:id="rId37"/>
    <p:sldId id="468" r:id="rId38"/>
    <p:sldId id="469" r:id="rId39"/>
    <p:sldId id="470" r:id="rId40"/>
    <p:sldId id="471" r:id="rId41"/>
    <p:sldId id="456" r:id="rId42"/>
    <p:sldId id="475" r:id="rId43"/>
    <p:sldId id="476" r:id="rId44"/>
    <p:sldId id="477" r:id="rId45"/>
    <p:sldId id="478" r:id="rId46"/>
  </p:sldIdLst>
  <p:sldSz cx="9144000" cy="6858000" type="screen4x3"/>
  <p:notesSz cx="6858000" cy="9144000"/>
  <p:custDataLst>
    <p:tags r:id="rId5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80" userDrawn="1">
          <p15:clr>
            <a:srgbClr val="A4A3A4"/>
          </p15:clr>
        </p15:guide>
        <p15:guide id="2" pos="2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C2CA"/>
    <a:srgbClr val="660E0E"/>
    <a:srgbClr val="996600"/>
    <a:srgbClr val="FF6600"/>
    <a:srgbClr val="000066"/>
    <a:srgbClr val="00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65"/>
    <p:restoredTop sz="94161"/>
  </p:normalViewPr>
  <p:slideViewPr>
    <p:cSldViewPr snapToGrid="0" showGuides="1">
      <p:cViewPr varScale="1">
        <p:scale>
          <a:sx n="82" d="100"/>
          <a:sy n="82" d="100"/>
        </p:scale>
        <p:origin x="1291" y="72"/>
      </p:cViewPr>
      <p:guideLst>
        <p:guide orient="horz" pos="4280"/>
        <p:guide pos="27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3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ea typeface="+mn-ea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ea typeface="+mn-ea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ea typeface="+mn-ea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份目录展示了空间滤波相关内容的结构。从引言出发，为我们开启了空间滤波知识的大门，让我们明白空间滤波在空间域处理中的作用，包括图像平滑、增强和边缘提取。空间图像平滑像是给图像做一次细致的打磨，去除那些粗糙的部分，让图像变得更加柔和、细腻。空间图像增强则像是给图像注入活力，突出图像中的关键信息，让图像更具视觉冲击力。空间图像边缘提取如同精准勾勒出图像的轮廓，帮助我们识别出图像中物体的边界。这几个部分层层递进，共同构建了空间滤波的知识体系，让我们能全面深入地了解空间滤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注意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特定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这两个字，说明了本章讨论的技术是面向对象的，不同应用领域所用的方法可能会有很大的不同。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注意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特定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这两个字，说明了本章讨论的技术是面向对象的，不同应用领域所用的方法可能会有很大的不同。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注意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特定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这两个字，说明了本章讨论的技术是面向对象的，不同应用领域所用的方法可能会有很大的不同。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839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滤波有时也称为卷积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911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平均后的曲线形状有什么变化？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931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如果是</a:t>
            </a:r>
            <a:r>
              <a:rPr lang="en-US" altLang="zh-CN" dirty="0"/>
              <a:t>5x5</a:t>
            </a:r>
            <a:r>
              <a:rPr lang="zh-CN" altLang="en-US" dirty="0"/>
              <a:t>的光滑滤波器，应该具有什么样的形状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本次演讲对滤波相关内容进行总结。滤波有其概念及三种基本任务，其中图像平滑是重要的一环。而滤波器可分为线性滤波器和非线性滤波器。</a:t>
            </a:r>
            <a:r>
              <a:rPr lang="en-US" altLang="zh-CN"/>
              <a:t>
</a:t>
            </a:r>
            <a:r>
              <a:rPr lang="zh-CN" altLang="en-US"/>
              <a:t>在线性滤波器里，基本线性滤波发挥着作用，其中高斯滤波器针对高斯噪声有着良好的处理效果。高斯噪声在图像中较为常见，它会使图像变得模糊，而高斯滤波器就像一位</a:t>
            </a:r>
            <a:r>
              <a:rPr lang="en-US" altLang="zh-CN"/>
              <a:t>“</a:t>
            </a:r>
            <a:r>
              <a:rPr lang="zh-CN" altLang="en-US"/>
              <a:t>降噪魔法师</a:t>
            </a:r>
            <a:r>
              <a:rPr lang="en-US" altLang="zh-CN"/>
              <a:t>”</a:t>
            </a:r>
            <a:r>
              <a:rPr lang="zh-CN" altLang="en-US"/>
              <a:t>，能够有效地去除这种噪声，让图像恢复清晰。</a:t>
            </a:r>
            <a:r>
              <a:rPr lang="en-US" altLang="zh-CN"/>
              <a:t>
</a:t>
            </a:r>
            <a:r>
              <a:rPr lang="zh-CN" altLang="en-US"/>
              <a:t>非线性滤波器方面，中值滤波器是代表，它对椒盐噪声有很好的去除能力。椒盐噪声就如同图像中的</a:t>
            </a:r>
            <a:r>
              <a:rPr lang="en-US" altLang="zh-CN"/>
              <a:t>“</a:t>
            </a:r>
            <a:r>
              <a:rPr lang="zh-CN" altLang="en-US"/>
              <a:t>小斑点</a:t>
            </a:r>
            <a:r>
              <a:rPr lang="en-US" altLang="zh-CN"/>
              <a:t>”</a:t>
            </a:r>
            <a:r>
              <a:rPr lang="zh-CN" altLang="en-US"/>
              <a:t>，会严重影响图像的质量，中值滤波器能够精准地识别并去除这些</a:t>
            </a:r>
            <a:r>
              <a:rPr lang="en-US" altLang="zh-CN"/>
              <a:t>“</a:t>
            </a:r>
            <a:r>
              <a:rPr lang="zh-CN" altLang="en-US"/>
              <a:t>小斑点</a:t>
            </a:r>
            <a:r>
              <a:rPr lang="en-US" altLang="zh-CN"/>
              <a:t>”</a:t>
            </a:r>
            <a:r>
              <a:rPr lang="zh-CN" altLang="en-US"/>
              <a:t>，让图像变得干净整洁。</a:t>
            </a:r>
            <a:r>
              <a:rPr lang="en-US" altLang="zh-CN"/>
              <a:t>
</a:t>
            </a:r>
            <a:r>
              <a:rPr lang="zh-CN" altLang="en-US"/>
              <a:t>总之，不同的滤波器针对不同类型的噪声，各自发挥着独特的作用，为图像的处理和优化提供了有力的支持。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1177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各向同性：平等对待各个方向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1198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本次演讲对滤波相关内容进行总结。滤波有其概念及三种基本任务，其中图像平滑是重要的一环。而滤波器可分为线性滤波器和非线性滤波器。</a:t>
            </a:r>
            <a:r>
              <a:rPr lang="en-US" altLang="zh-CN"/>
              <a:t>
</a:t>
            </a:r>
            <a:r>
              <a:rPr lang="zh-CN" altLang="en-US"/>
              <a:t>在线性滤波器里，基本线性滤波发挥着作用，其中高斯滤波器针对高斯噪声有着良好的处理效果。高斯噪声在图像中较为常见，它会使图像变得模糊，而高斯滤波器就像一位</a:t>
            </a:r>
            <a:r>
              <a:rPr lang="en-US" altLang="zh-CN"/>
              <a:t>“</a:t>
            </a:r>
            <a:r>
              <a:rPr lang="zh-CN" altLang="en-US"/>
              <a:t>降噪魔法师</a:t>
            </a:r>
            <a:r>
              <a:rPr lang="en-US" altLang="zh-CN"/>
              <a:t>”</a:t>
            </a:r>
            <a:r>
              <a:rPr lang="zh-CN" altLang="en-US"/>
              <a:t>，能够有效地去除这种噪声，让图像恢复清晰。</a:t>
            </a:r>
            <a:r>
              <a:rPr lang="en-US" altLang="zh-CN"/>
              <a:t>
</a:t>
            </a:r>
            <a:r>
              <a:rPr lang="zh-CN" altLang="en-US"/>
              <a:t>非线性滤波器方面，中值滤波器是代表，它对椒盐噪声有很好的去除能力。椒盐噪声就如同图像中的</a:t>
            </a:r>
            <a:r>
              <a:rPr lang="en-US" altLang="zh-CN"/>
              <a:t>“</a:t>
            </a:r>
            <a:r>
              <a:rPr lang="zh-CN" altLang="en-US"/>
              <a:t>小斑点</a:t>
            </a:r>
            <a:r>
              <a:rPr lang="en-US" altLang="zh-CN"/>
              <a:t>”</a:t>
            </a:r>
            <a:r>
              <a:rPr lang="zh-CN" altLang="en-US"/>
              <a:t>，会严重影响图像的质量，中值滤波器能够精准地识别并去除这些</a:t>
            </a:r>
            <a:r>
              <a:rPr lang="en-US" altLang="zh-CN"/>
              <a:t>“</a:t>
            </a:r>
            <a:r>
              <a:rPr lang="zh-CN" altLang="en-US"/>
              <a:t>小斑点</a:t>
            </a:r>
            <a:r>
              <a:rPr lang="en-US" altLang="zh-CN"/>
              <a:t>”</a:t>
            </a:r>
            <a:r>
              <a:rPr lang="zh-CN" altLang="en-US"/>
              <a:t>，让图像变得干净整洁。</a:t>
            </a:r>
            <a:r>
              <a:rPr lang="en-US" altLang="zh-CN"/>
              <a:t>
</a:t>
            </a:r>
            <a:r>
              <a:rPr lang="zh-CN" altLang="en-US"/>
              <a:t>总之，不同的滤波器针对不同类型的噪声，各自发挥着独特的作用，为图像的处理和优化提供了有力的支持。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9359BB-EAFC-4D20-8693-005211E66DB8}" type="slidenum">
              <a:rPr lang="en-US" smtClean="0"/>
            </a:fld>
            <a:endParaRPr lang="en-US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1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38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8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/>
            <a:fld id="{9A0DB2DC-4C9A-4742-B13C-FB6460FD3503}" type="slidenum">
              <a:rPr lang="zh-CN" altLang="en-US" dirty="0">
                <a:latin typeface="Arial Black" panose="020B0A04020102020204" pitchFamily="34" charset="0"/>
              </a:rPr>
            </a:fld>
            <a:endParaRPr lang="zh-CN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03C6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FA0"/>
                </a:solidFill>
                <a:latin typeface="Arial MT"/>
                <a:cs typeface="Arial MT"/>
              </a:defRPr>
            </a:lvl1pPr>
          </a:lstStyle>
          <a:p>
            <a:pPr marL="28575">
              <a:lnSpc>
                <a:spcPts val="1070"/>
              </a:lnSpc>
            </a:pPr>
            <a:fld id="{81D60167-4931-47E6-BA6A-407CBD079E47}" type="slidenum">
              <a:rPr lang="en-US" altLang="zh-CN" spc="-4" smtClean="0"/>
            </a:fld>
            <a:endParaRPr lang="en-US" altLang="zh-CN" spc="-4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003C69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FA0"/>
                </a:solidFill>
                <a:latin typeface="Arial MT"/>
                <a:cs typeface="Arial MT"/>
              </a:defRPr>
            </a:lvl1pPr>
          </a:lstStyle>
          <a:p>
            <a:pPr marL="28575">
              <a:lnSpc>
                <a:spcPts val="1070"/>
              </a:lnSpc>
            </a:pPr>
            <a:fld id="{81D60167-4931-47E6-BA6A-407CBD079E47}" type="slidenum">
              <a:rPr lang="en-US" altLang="zh-CN" spc="-4" smtClean="0"/>
            </a:fld>
            <a:endParaRPr lang="en-US" altLang="zh-CN" spc="-4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 Black" panose="020B0A0402010202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7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9.wmf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3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14.bin"/><Relationship Id="rId4" Type="http://schemas.openxmlformats.org/officeDocument/2006/relationships/image" Target="../media/image42.png"/><Relationship Id="rId3" Type="http://schemas.openxmlformats.org/officeDocument/2006/relationships/oleObject" Target="../embeddings/oleObject13.bin"/><Relationship Id="rId2" Type="http://schemas.openxmlformats.org/officeDocument/2006/relationships/image" Target="../media/image41.png"/><Relationship Id="rId1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w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tags" Target="../tags/tag4.xml"/><Relationship Id="rId2" Type="http://schemas.openxmlformats.org/officeDocument/2006/relationships/image" Target="../media/image60.png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4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19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9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66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21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wmf"/><Relationship Id="rId1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wmf"/><Relationship Id="rId1" Type="http://schemas.openxmlformats.org/officeDocument/2006/relationships/oleObject" Target="../embeddings/oleObject2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73.png"/><Relationship Id="rId1" Type="http://schemas.openxmlformats.org/officeDocument/2006/relationships/tags" Target="../tags/tag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4.wmf"/><Relationship Id="rId1" Type="http://schemas.openxmlformats.org/officeDocument/2006/relationships/oleObject" Target="../embeddings/oleObject26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80.jpeg"/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image" Target="../media/image77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3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82.wmf"/><Relationship Id="rId1" Type="http://schemas.openxmlformats.org/officeDocument/2006/relationships/oleObject" Target="../embeddings/oleObject28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5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84.wmf"/><Relationship Id="rId1" Type="http://schemas.openxmlformats.org/officeDocument/2006/relationships/oleObject" Target="../embeddings/oleObject30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6.wmf"/><Relationship Id="rId1" Type="http://schemas.openxmlformats.org/officeDocument/2006/relationships/oleObject" Target="../embeddings/oleObject3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303905" y="2107565"/>
            <a:ext cx="4055110" cy="2209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ctr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+mn-lt"/>
                <a:ea typeface="+mn-ea"/>
                <a:cs typeface="+mn-cs"/>
                <a:sym typeface="+mn-ea"/>
              </a:rPr>
              <a:t>空间滤波</a:t>
            </a:r>
            <a:br>
              <a:rPr kumimoji="0" lang="zh-CN" altLang="en-US" sz="2900" b="0" i="0" u="none" strike="noStrike" kern="0" cap="none" spc="0" normalizeH="0" baseline="0" dirty="0">
                <a:latin typeface="+mn-lt"/>
                <a:ea typeface="+mn-ea"/>
                <a:cs typeface="+mn-cs"/>
              </a:rPr>
            </a:br>
            <a:endParaRPr kumimoji="0" lang="zh-CN" altLang="en-US" sz="2900" b="0" i="0" u="none" strike="noStrike" kern="0" cap="none" spc="0" normalizeH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84805" y="3429000"/>
            <a:ext cx="61595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900" b="0" kern="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 </a:t>
            </a:r>
            <a:r>
              <a:rPr lang="zh-CN" altLang="en-US" sz="2900" b="0" kern="0" dirty="0">
                <a:solidFill>
                  <a:schemeClr val="bg1"/>
                </a:solidFill>
                <a:latin typeface="+mn-lt"/>
                <a:ea typeface="+mn-ea"/>
                <a:sym typeface="+mn-ea"/>
              </a:rPr>
              <a:t>Spatial Filtering</a:t>
            </a:r>
            <a:endParaRPr lang="zh-CN" altLang="en-US" sz="2900" b="0" kern="0" dirty="0">
              <a:solidFill>
                <a:schemeClr val="bg1"/>
              </a:solidFill>
              <a:latin typeface="+mn-lt"/>
              <a:ea typeface="+mn-ea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97990"/>
            <a:ext cx="8229600" cy="3886200"/>
          </a:xfrm>
        </p:spPr>
        <p:txBody>
          <a:bodyPr/>
          <a:lstStyle/>
          <a:p>
            <a:r>
              <a:rPr lang="en-US" altLang="zh-CN"/>
              <a:t>1 </a:t>
            </a:r>
            <a:r>
              <a:rPr lang="zh-CN" altLang="en-US"/>
              <a:t>引言</a:t>
            </a:r>
            <a:endParaRPr lang="zh-CN" altLang="en-US"/>
          </a:p>
          <a:p>
            <a:r>
              <a:rPr lang="en-US" altLang="zh-CN"/>
              <a:t>2 </a:t>
            </a:r>
            <a:r>
              <a:rPr lang="zh-CN" altLang="en-US"/>
              <a:t>空间</a:t>
            </a:r>
            <a:r>
              <a:rPr lang="zh-CN" altLang="en-US"/>
              <a:t>图像平滑</a:t>
            </a:r>
            <a:endParaRPr lang="zh-CN" altLang="en-US"/>
          </a:p>
          <a:p>
            <a:r>
              <a:rPr lang="en-US" altLang="zh-CN"/>
              <a:t>3 </a:t>
            </a:r>
            <a:r>
              <a:rPr lang="zh-CN" altLang="en-US">
                <a:sym typeface="+mn-ea"/>
              </a:rPr>
              <a:t>空间图像边缘提取</a:t>
            </a:r>
            <a:endParaRPr lang="zh-CN" altLang="en-US"/>
          </a:p>
          <a:p>
            <a:r>
              <a:rPr lang="en-US" altLang="zh-CN"/>
              <a:t>4 </a:t>
            </a:r>
            <a:r>
              <a:rPr lang="zh-CN" altLang="en-US">
                <a:sym typeface="+mn-ea"/>
              </a:rPr>
              <a:t>空间图像增强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196850"/>
            <a:ext cx="8229600" cy="847725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b="1" dirty="0">
                <a:solidFill>
                  <a:srgbClr val="7030A0"/>
                </a:solidFill>
              </a:rPr>
              <a:t>1 </a:t>
            </a:r>
            <a:r>
              <a:rPr lang="zh-CN" altLang="en-US" sz="2800" b="1" dirty="0">
                <a:solidFill>
                  <a:srgbClr val="7030A0"/>
                </a:solidFill>
              </a:rPr>
              <a:t>引言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044575"/>
            <a:ext cx="3844925" cy="50990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ym typeface="+mn-ea"/>
              </a:rPr>
              <a:t>空间滤波</a:t>
            </a:r>
            <a:r>
              <a:rPr lang="zh-CN" altLang="en-US" sz="2400" dirty="0">
                <a:sym typeface="+mn-ea"/>
              </a:rPr>
              <a:t>在空间域处理</a:t>
            </a:r>
            <a:endParaRPr lang="zh-CN" altLang="en-US" sz="2400" dirty="0">
              <a:solidFill>
                <a:srgbClr val="000066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/>
              <a:t>可用于图像平滑、图像增强和边缘检测</a:t>
            </a:r>
            <a:endParaRPr lang="zh-CN" altLang="en-US" sz="24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63440" y="1371600"/>
            <a:ext cx="3352800" cy="5026025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 l="47682"/>
          <a:stretch>
            <a:fillRect/>
          </a:stretch>
        </p:blipFill>
        <p:spPr bwMode="auto">
          <a:xfrm>
            <a:off x="6263640" y="1371600"/>
            <a:ext cx="1755775" cy="5029200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196850"/>
            <a:ext cx="8229600" cy="847725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b="1" dirty="0">
                <a:solidFill>
                  <a:srgbClr val="7030A0"/>
                </a:solidFill>
                <a:sym typeface="+mn-ea"/>
              </a:rPr>
              <a:t>1 </a:t>
            </a:r>
            <a:r>
              <a:rPr lang="zh-CN" altLang="en-US" sz="2800" b="1" dirty="0">
                <a:solidFill>
                  <a:srgbClr val="7030A0"/>
                </a:solidFill>
                <a:sym typeface="+mn-ea"/>
              </a:rPr>
              <a:t>引言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044576"/>
            <a:ext cx="8274050" cy="50990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ym typeface="+mn-ea"/>
              </a:rPr>
              <a:t>空间滤波</a:t>
            </a:r>
            <a:r>
              <a:rPr lang="zh-CN" altLang="en-US" sz="2400" dirty="0">
                <a:sym typeface="+mn-ea"/>
              </a:rPr>
              <a:t>在空间域处理</a:t>
            </a:r>
            <a:endParaRPr lang="zh-CN" altLang="en-US" sz="2400" dirty="0">
              <a:solidFill>
                <a:srgbClr val="000066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/>
              <a:t>可用于图像平滑、图像增强和边缘提取</a:t>
            </a:r>
            <a:endParaRPr lang="zh-CN" altLang="en-US" sz="2400" dirty="0" smtClean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246936" y="2651176"/>
          <a:ext cx="4543721" cy="21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" r:id="rId2" imgW="6572250" imgH="3124200" progId="Paint.Picture">
                  <p:embed/>
                </p:oleObj>
              </mc:Choice>
              <mc:Fallback>
                <p:oleObj name="" r:id="rId2" imgW="6572250" imgH="312420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46936" y="2651176"/>
                        <a:ext cx="4543721" cy="21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3979851" y="4811446"/>
            <a:ext cx="1252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 dirty="0">
                <a:sym typeface="+mn-ea"/>
              </a:rPr>
              <a:t>空间滤波</a:t>
            </a:r>
            <a:endParaRPr lang="zh-CN" altLang="en-US" sz="1800" dirty="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15211" y="5179746"/>
            <a:ext cx="42068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/>
              <a:t>https://kaiminghe.github.io/eccv10/index.html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196850"/>
            <a:ext cx="8229600" cy="847725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en-US" altLang="zh-CN" sz="2800" b="1" dirty="0">
                <a:solidFill>
                  <a:srgbClr val="7030A0"/>
                </a:solidFill>
                <a:sym typeface="+mn-ea"/>
              </a:rPr>
              <a:t>1 </a:t>
            </a:r>
            <a:r>
              <a:rPr lang="zh-CN" altLang="en-US" sz="2800" b="1" dirty="0">
                <a:solidFill>
                  <a:srgbClr val="7030A0"/>
                </a:solidFill>
                <a:sym typeface="+mn-ea"/>
              </a:rPr>
              <a:t>引言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044576"/>
            <a:ext cx="8274050" cy="50990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ym typeface="+mn-ea"/>
              </a:rPr>
              <a:t>空间滤波</a:t>
            </a:r>
            <a:r>
              <a:rPr lang="zh-CN" altLang="en-US" sz="2400" dirty="0">
                <a:sym typeface="+mn-ea"/>
              </a:rPr>
              <a:t>在空间域处理</a:t>
            </a:r>
            <a:endParaRPr lang="zh-CN" altLang="en-US" sz="2400" dirty="0">
              <a:solidFill>
                <a:srgbClr val="000066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/>
              <a:t>可用于图像平滑、图像增强和边缘检测</a:t>
            </a:r>
            <a:endParaRPr lang="zh-CN" altLang="en-US" sz="2400" dirty="0"/>
          </a:p>
        </p:txBody>
      </p:sp>
      <p:pic>
        <p:nvPicPr>
          <p:cNvPr id="64516" name="Picture 2" descr="C:\Users\xuli\Desktop\SIGGRAPH_2011\homepage\L0smoothing\results\NPR\ori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" y="2437765"/>
            <a:ext cx="3145155" cy="41935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4" name="Picture 2" descr="C:\Users\xuli\Desktop\SIGGRAPH_2011\homepage\L0smoothing\results\NPR\sketc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38400"/>
            <a:ext cx="3143885" cy="41929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/>
          </p:nvPr>
        </p:nvSpPr>
        <p:spPr>
          <a:xfrm>
            <a:off x="457200" y="578498"/>
            <a:ext cx="8229600" cy="51435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2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空间滤波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基础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457200" y="1304082"/>
            <a:ext cx="8229600" cy="47561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 smtClean="0"/>
              <a:t>空间滤波是</a:t>
            </a:r>
            <a:r>
              <a:rPr lang="zh-CN" altLang="en-US" sz="2800" dirty="0"/>
              <a:t>直接对图像</a:t>
            </a:r>
            <a:r>
              <a:rPr lang="zh-CN" altLang="en-US" sz="2800" dirty="0" smtClean="0"/>
              <a:t>像素处理</a:t>
            </a:r>
            <a:r>
              <a:rPr lang="zh-CN" altLang="en-US" sz="2800" dirty="0"/>
              <a:t>的操作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 smtClean="0"/>
              <a:t>利用像素</a:t>
            </a:r>
            <a:r>
              <a:rPr lang="zh-CN" altLang="en-US" sz="2800" dirty="0"/>
              <a:t>周围的像素信息对像素灰度</a:t>
            </a:r>
            <a:r>
              <a:rPr lang="zh-CN" altLang="en-US" sz="2800" dirty="0" smtClean="0"/>
              <a:t>值调整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滤波器（</a:t>
            </a:r>
            <a:r>
              <a:rPr lang="en-US" altLang="zh-CN" sz="2800" dirty="0"/>
              <a:t>filter</a:t>
            </a:r>
            <a:r>
              <a:rPr lang="zh-CN" altLang="en-US" sz="2800" dirty="0"/>
              <a:t>）的概念。滤波器有时也叫掩模（</a:t>
            </a:r>
            <a:r>
              <a:rPr lang="en-US" altLang="zh-CN" sz="2800" dirty="0"/>
              <a:t>mask</a:t>
            </a:r>
            <a:r>
              <a:rPr lang="zh-CN" altLang="en-US" sz="2800" dirty="0"/>
              <a:t>）、核（</a:t>
            </a:r>
            <a:r>
              <a:rPr lang="en-US" altLang="zh-CN" sz="2800" dirty="0"/>
              <a:t>kernel</a:t>
            </a:r>
            <a:r>
              <a:rPr lang="zh-CN" altLang="en-US" sz="2800" dirty="0"/>
              <a:t>）、模板（</a:t>
            </a:r>
            <a:r>
              <a:rPr lang="en-US" altLang="zh-CN" sz="2800" dirty="0"/>
              <a:t>template</a:t>
            </a:r>
            <a:r>
              <a:rPr lang="zh-CN" altLang="en-US" sz="2800" dirty="0"/>
              <a:t>）或窗口（</a:t>
            </a:r>
            <a:r>
              <a:rPr lang="en-US" altLang="zh-CN" sz="2800" dirty="0"/>
              <a:t>window</a:t>
            </a:r>
            <a:r>
              <a:rPr lang="zh-CN" altLang="en-US" sz="2800" dirty="0"/>
              <a:t>）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493713" y="390756"/>
            <a:ext cx="80549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空间域线性滤波的基本公式：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25" name="Object 6"/>
          <p:cNvGraphicFramePr>
            <a:graphicFrameLocks noChangeAspect="1"/>
          </p:cNvGraphicFramePr>
          <p:nvPr/>
        </p:nvGraphicFramePr>
        <p:xfrm>
          <a:off x="735014" y="854306"/>
          <a:ext cx="5740431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公式" r:id="rId1" imgW="62788800" imgH="10668000" progId="Equation.3">
                  <p:embed/>
                </p:oleObj>
              </mc:Choice>
              <mc:Fallback>
                <p:oleObj name="公式" r:id="rId1" imgW="62788800" imgH="106680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5014" y="854306"/>
                        <a:ext cx="5740431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Text Box 9"/>
          <p:cNvSpPr txBox="1"/>
          <p:nvPr/>
        </p:nvSpPr>
        <p:spPr>
          <a:xfrm>
            <a:off x="538163" y="1973493"/>
            <a:ext cx="3408685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w(s, t)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滤波器的系数，也叫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掩模系数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给出了滤波器的大小，常见的情况是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a=b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是一个奇整数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，如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7190"/>
            <a:ext cx="3921125" cy="4787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8480" y="4126865"/>
            <a:ext cx="371157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0" dirty="0">
                <a:ea typeface="+mn-ea"/>
              </a:rPr>
              <a:t>像素</a:t>
            </a:r>
            <a:r>
              <a:rPr lang="en-US" altLang="zh-CN" sz="2400" b="0" dirty="0">
                <a:ea typeface="+mn-ea"/>
              </a:rPr>
              <a:t>(</a:t>
            </a:r>
            <a:r>
              <a:rPr lang="zh-CN" altLang="en-US" sz="2400" b="0" dirty="0">
                <a:ea typeface="+mn-ea"/>
              </a:rPr>
              <a:t>x,y</a:t>
            </a:r>
            <a:r>
              <a:rPr lang="en-US" altLang="zh-CN" sz="2400" b="0" dirty="0">
                <a:ea typeface="+mn-ea"/>
              </a:rPr>
              <a:t>)</a:t>
            </a:r>
            <a:r>
              <a:rPr lang="zh-CN" altLang="en-US" sz="2400" b="0" dirty="0">
                <a:ea typeface="+mn-ea"/>
                <a:sym typeface="+mn-ea"/>
              </a:rPr>
              <a:t>的新灰度值</a:t>
            </a:r>
            <a:r>
              <a:rPr lang="en-US" altLang="zh-CN" sz="2400" b="0" dirty="0">
                <a:ea typeface="+mn-ea"/>
                <a:sym typeface="+mn-ea"/>
              </a:rPr>
              <a:t>g(x,y)</a:t>
            </a:r>
            <a:r>
              <a:rPr lang="zh-CN" altLang="en-US" sz="2400" b="0" dirty="0">
                <a:ea typeface="+mn-ea"/>
                <a:sym typeface="+mn-ea"/>
              </a:rPr>
              <a:t>是其周围像素的原灰度值加权混合。</a:t>
            </a:r>
            <a:endParaRPr lang="zh-CN" altLang="en-US" sz="2400" b="0" dirty="0">
              <a:ea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493713" y="390756"/>
            <a:ext cx="80549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空间域线性滤波的基本公式：</a:t>
            </a:r>
            <a:endParaRPr kumimoji="0" lang="zh-CN" altLang="en-US" kern="1200" cap="none" spc="0" normalizeH="0" baseline="0" noProof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25" name="Object 6"/>
          <p:cNvGraphicFramePr>
            <a:graphicFrameLocks noChangeAspect="1"/>
          </p:cNvGraphicFramePr>
          <p:nvPr/>
        </p:nvGraphicFramePr>
        <p:xfrm>
          <a:off x="735014" y="854306"/>
          <a:ext cx="5740431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4" name="公式" r:id="rId1" imgW="62788800" imgH="10668000" progId="Equation.3">
                  <p:embed/>
                </p:oleObj>
              </mc:Choice>
              <mc:Fallback>
                <p:oleObj name="公式" r:id="rId1" imgW="62788800" imgH="106680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5014" y="854306"/>
                        <a:ext cx="5740431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Text Box 9"/>
          <p:cNvSpPr txBox="1"/>
          <p:nvPr/>
        </p:nvSpPr>
        <p:spPr>
          <a:xfrm>
            <a:off x="369570" y="1973580"/>
            <a:ext cx="357759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该公式为卷积操作，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为卷积核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，即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847" y="1520889"/>
            <a:ext cx="4292083" cy="5240134"/>
          </a:xfrm>
          <a:prstGeom prst="rect">
            <a:avLst/>
          </a:prstGeom>
        </p:spPr>
      </p:pic>
      <p:graphicFrame>
        <p:nvGraphicFramePr>
          <p:cNvPr id="85000" name="Object 6"/>
          <p:cNvGraphicFramePr>
            <a:graphicFrameLocks noChangeAspect="1"/>
          </p:cNvGraphicFramePr>
          <p:nvPr/>
        </p:nvGraphicFramePr>
        <p:xfrm>
          <a:off x="566103" y="2893060"/>
          <a:ext cx="300228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5" name="" r:id="rId4" imgW="1600200" imgH="203200" progId="Equation.3">
                  <p:embed/>
                </p:oleObj>
              </mc:Choice>
              <mc:Fallback>
                <p:oleObj name="" r:id="rId4" imgW="1600200" imgH="2032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6103" y="2893060"/>
                        <a:ext cx="300228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/>
          <p:cNvSpPr txBox="1"/>
          <p:nvPr/>
        </p:nvSpPr>
        <p:spPr>
          <a:xfrm>
            <a:off x="369570" y="3470910"/>
            <a:ext cx="357759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将该操作作用于图像上每一个像素，得到滤波后的图像。</a:t>
            </a:r>
            <a:endParaRPr lang="zh-CN" altLang="en-US" sz="2400" dirty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Text Box 3"/>
          <p:cNvSpPr txBox="1"/>
          <p:nvPr/>
        </p:nvSpPr>
        <p:spPr>
          <a:xfrm>
            <a:off x="566738" y="3319463"/>
            <a:ext cx="79676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滤波器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8" name="Rectangle 4"/>
          <p:cNvSpPr/>
          <p:nvPr/>
        </p:nvSpPr>
        <p:spPr>
          <a:xfrm>
            <a:off x="-14287" y="5670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82949" name="Text Box 6"/>
          <p:cNvSpPr txBox="1"/>
          <p:nvPr/>
        </p:nvSpPr>
        <p:spPr>
          <a:xfrm>
            <a:off x="611188" y="4973638"/>
            <a:ext cx="7764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则对              </a:t>
            </a:r>
            <a:r>
              <a:rPr lang="en-US" altLang="zh-CN" sz="2400" dirty="0">
                <a:latin typeface="Times New Roman" panose="02020603050405020304" pitchFamily="18" charset="0"/>
              </a:rPr>
              <a:t>=(1,1), </a:t>
            </a:r>
            <a:r>
              <a:rPr lang="zh-CN" altLang="en-US" sz="2400" dirty="0">
                <a:latin typeface="Times New Roman" panose="02020603050405020304" pitchFamily="18" charset="0"/>
              </a:rPr>
              <a:t>有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82950" name="Rectangle 7"/>
          <p:cNvSpPr/>
          <p:nvPr/>
        </p:nvSpPr>
        <p:spPr>
          <a:xfrm>
            <a:off x="-14287" y="51800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2951" name="Object 9"/>
          <p:cNvGraphicFramePr>
            <a:graphicFrameLocks noChangeAspect="1"/>
          </p:cNvGraphicFramePr>
          <p:nvPr/>
        </p:nvGraphicFramePr>
        <p:xfrm>
          <a:off x="1944688" y="3432175"/>
          <a:ext cx="5038725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9" name="" r:id="rId1" imgW="2501900" imgH="711200" progId="Equation.3">
                  <p:embed/>
                </p:oleObj>
              </mc:Choice>
              <mc:Fallback>
                <p:oleObj name="" r:id="rId1" imgW="2501900" imgH="7112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44688" y="3432175"/>
                        <a:ext cx="5038725" cy="1414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Rectangle 12"/>
          <p:cNvSpPr/>
          <p:nvPr/>
        </p:nvSpPr>
        <p:spPr>
          <a:xfrm>
            <a:off x="0" y="30162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2953" name="Object 11"/>
          <p:cNvGraphicFramePr>
            <a:graphicFrameLocks noChangeAspect="1"/>
          </p:cNvGraphicFramePr>
          <p:nvPr/>
        </p:nvGraphicFramePr>
        <p:xfrm>
          <a:off x="1381125" y="4945063"/>
          <a:ext cx="9001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" name="" r:id="rId3" imgW="368300" imgH="203200" progId="Equation.3">
                  <p:embed/>
                </p:oleObj>
              </mc:Choice>
              <mc:Fallback>
                <p:oleObj name="" r:id="rId3" imgW="368300" imgH="2032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1125" y="4945063"/>
                        <a:ext cx="900113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4" name="Object 13"/>
          <p:cNvGraphicFramePr>
            <a:graphicFrameLocks noChangeAspect="1"/>
          </p:cNvGraphicFramePr>
          <p:nvPr/>
        </p:nvGraphicFramePr>
        <p:xfrm>
          <a:off x="1987550" y="5324475"/>
          <a:ext cx="5016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1" name="" r:id="rId5" imgW="2032000" imgH="431800" progId="Equation.3">
                  <p:embed/>
                </p:oleObj>
              </mc:Choice>
              <mc:Fallback>
                <p:oleObj name="" r:id="rId5" imgW="2032000" imgH="4318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7550" y="5324475"/>
                        <a:ext cx="501650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Rectangle 17"/>
          <p:cNvSpPr/>
          <p:nvPr/>
        </p:nvSpPr>
        <p:spPr>
          <a:xfrm>
            <a:off x="-14287" y="56705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2956" name="Object 20"/>
          <p:cNvGraphicFramePr>
            <a:graphicFrameLocks noGrp="1" noChangeAspect="1"/>
          </p:cNvGraphicFramePr>
          <p:nvPr>
            <p:ph idx="1"/>
          </p:nvPr>
        </p:nvGraphicFramePr>
        <p:xfrm>
          <a:off x="963613" y="896938"/>
          <a:ext cx="6415087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2" name="" r:id="rId7" imgW="3327400" imgH="1143000" progId="Equation.3">
                  <p:embed/>
                </p:oleObj>
              </mc:Choice>
              <mc:Fallback>
                <p:oleObj name="" r:id="rId7" imgW="3327400" imgH="11430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963613" y="896938"/>
                        <a:ext cx="6415087" cy="2203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/>
          </p:cNvSpPr>
          <p:nvPr>
            <p:ph type="title"/>
          </p:nvPr>
        </p:nvSpPr>
        <p:spPr>
          <a:xfrm>
            <a:off x="581025" y="121298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200" b="1" dirty="0"/>
              <a:t>空间滤波时对边界的处理方法</a:t>
            </a:r>
            <a:endParaRPr lang="zh-CN" altLang="en-US" sz="3200" b="1" dirty="0"/>
          </a:p>
        </p:txBody>
      </p:sp>
      <p:sp>
        <p:nvSpPr>
          <p:cNvPr id="88067" name="Rectangle 3"/>
          <p:cNvSpPr/>
          <p:nvPr/>
        </p:nvSpPr>
        <p:spPr>
          <a:xfrm>
            <a:off x="504825" y="1264298"/>
            <a:ext cx="3240088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-285750" algn="just" defTabSz="914400" eaLnBrk="1" hangingPunct="1">
              <a:spcBef>
                <a:spcPct val="0"/>
              </a:spcBef>
              <a:buClrTx/>
              <a:buSzTx/>
              <a:buFontTx/>
              <a:buNone/>
              <a:tabLst>
                <a:tab pos="285750" algn="l"/>
              </a:tabLst>
            </a:pPr>
            <a:r>
              <a:rPr lang="zh-CN" altLang="en-US" sz="1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</a:rPr>
              <a:t>a)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altLang="zh-C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重复边沿值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0" lvl="0" indent="-285750" algn="just" defTabSz="914400">
              <a:spcBef>
                <a:spcPct val="0"/>
              </a:spcBef>
              <a:buClrTx/>
              <a:buSzTx/>
              <a:buFontTx/>
              <a:buNone/>
              <a:tabLst>
                <a:tab pos="285750" algn="l"/>
              </a:tabLst>
            </a:pPr>
            <a:r>
              <a:rPr lang="zh-CN" altLang="en-US" sz="2400" dirty="0">
                <a:latin typeface="Times New Roman" panose="02020603050405020304" pitchFamily="18" charset="0"/>
              </a:rPr>
              <a:t>    (</a:t>
            </a:r>
            <a:r>
              <a:rPr lang="en-US" altLang="zh-CN" sz="2400" dirty="0">
                <a:latin typeface="Times New Roman" panose="02020603050405020304" pitchFamily="18" charset="0"/>
              </a:rPr>
              <a:t>b)    </a:t>
            </a:r>
            <a:r>
              <a:rPr lang="zh-CN" altLang="en-US" sz="2400" dirty="0">
                <a:latin typeface="Times New Roman" panose="02020603050405020304" pitchFamily="18" charset="0"/>
              </a:rPr>
              <a:t>卷绕输入图象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0" lvl="0" indent="-285750" algn="just" defTabSz="914400">
              <a:spcBef>
                <a:spcPct val="0"/>
              </a:spcBef>
              <a:buClrTx/>
              <a:buSzTx/>
              <a:buFontTx/>
              <a:buNone/>
              <a:tabLst>
                <a:tab pos="285750" algn="l"/>
              </a:tabLst>
            </a:pPr>
            <a:r>
              <a:rPr lang="zh-CN" altLang="en-US" sz="2400" dirty="0">
                <a:latin typeface="Times New Roman" panose="02020603050405020304" pitchFamily="18" charset="0"/>
              </a:rPr>
              <a:t>    (</a:t>
            </a:r>
            <a:r>
              <a:rPr lang="en-US" altLang="zh-CN" sz="2400" dirty="0">
                <a:latin typeface="Times New Roman" panose="02020603050405020304" pitchFamily="18" charset="0"/>
              </a:rPr>
              <a:t>c)     </a:t>
            </a:r>
            <a:r>
              <a:rPr lang="zh-CN" altLang="en-US" sz="2400" dirty="0">
                <a:latin typeface="Times New Roman" panose="02020603050405020304" pitchFamily="18" charset="0"/>
              </a:rPr>
              <a:t>补零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0" lvl="0" indent="-285750" algn="just" defTabSz="914400">
              <a:spcBef>
                <a:spcPct val="0"/>
              </a:spcBef>
              <a:buClrTx/>
              <a:buSzTx/>
              <a:buFontTx/>
              <a:buNone/>
              <a:tabLst>
                <a:tab pos="285750" algn="l"/>
              </a:tabLst>
            </a:pPr>
            <a:r>
              <a:rPr lang="zh-CN" altLang="en-US" sz="2400" dirty="0">
                <a:latin typeface="Times New Roman" panose="02020603050405020304" pitchFamily="18" charset="0"/>
              </a:rPr>
              <a:t>   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806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414838" y="952500"/>
          <a:ext cx="4608512" cy="590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4" name="" r:id="rId1" imgW="4559935" imgH="5843270" progId="Photoshop.Image.5">
                  <p:embed/>
                </p:oleObj>
              </mc:Choice>
              <mc:Fallback>
                <p:oleObj name="" r:id="rId1" imgW="4559935" imgH="5843270" progId="Photoshop.Image.5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4414838" y="952500"/>
                        <a:ext cx="4608512" cy="5905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xfrm>
            <a:off x="457200" y="1638300"/>
            <a:ext cx="8229600" cy="127635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平滑的主要作用是</a:t>
            </a:r>
            <a:r>
              <a:rPr lang="zh-CN" altLang="en-US" sz="2400">
                <a:sym typeface="+mn-ea"/>
              </a:rPr>
              <a:t>减弱图像中的随机噪声、平滑灰度变化，从而突出整体趋势而弱化细节。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sz="2400" dirty="0">
                <a:solidFill>
                  <a:schemeClr val="tx2"/>
                </a:solidFill>
              </a:rPr>
              <a:t>平滑滤波器分线性和非线性两种。</a:t>
            </a:r>
            <a:endParaRPr lang="en-US" altLang="zh-CN" sz="2400" dirty="0">
              <a:solidFill>
                <a:schemeClr val="hlink"/>
              </a:solidFill>
            </a:endParaRPr>
          </a:p>
        </p:txBody>
      </p:sp>
      <p:sp>
        <p:nvSpPr>
          <p:cNvPr id="90116" name="Text Box 4"/>
          <p:cNvSpPr txBox="1"/>
          <p:nvPr/>
        </p:nvSpPr>
        <p:spPr>
          <a:xfrm>
            <a:off x="507683" y="517525"/>
            <a:ext cx="812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空间图像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+mn-ea"/>
              </a:rPr>
              <a:t>平滑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775" y="1862455"/>
            <a:ext cx="4877435" cy="2124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64" name="Text Box 7"/>
          <p:cNvSpPr txBox="1"/>
          <p:nvPr/>
        </p:nvSpPr>
        <p:spPr>
          <a:xfrm>
            <a:off x="579438" y="1364298"/>
            <a:ext cx="77946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常用的线性光滑滤波器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5" name="Rectangle 9"/>
          <p:cNvSpPr/>
          <p:nvPr/>
        </p:nvSpPr>
        <p:spPr>
          <a:xfrm>
            <a:off x="0" y="2852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2166" name="Object 8"/>
          <p:cNvGraphicFramePr>
            <a:graphicFrameLocks noChangeAspect="1"/>
          </p:cNvGraphicFramePr>
          <p:nvPr/>
        </p:nvGraphicFramePr>
        <p:xfrm>
          <a:off x="2296795" y="4446905"/>
          <a:ext cx="3917315" cy="1454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0" name="" r:id="rId2" imgW="2247900" imgH="838200" progId="Equation.3">
                  <p:embed/>
                </p:oleObj>
              </mc:Choice>
              <mc:Fallback>
                <p:oleObj name="" r:id="rId2" imgW="2247900" imgH="8382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6795" y="4446905"/>
                        <a:ext cx="3917315" cy="1454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7" name="Text Box 10"/>
          <p:cNvSpPr txBox="1"/>
          <p:nvPr/>
        </p:nvSpPr>
        <p:spPr>
          <a:xfrm>
            <a:off x="798513" y="4064000"/>
            <a:ext cx="1987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一般公式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5955" y="62039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线性平滑滤波器</a:t>
            </a:r>
            <a:endParaRPr lang="zh-CN" altLang="en-US" sz="28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Text Box 5"/>
          <p:cNvSpPr txBox="1"/>
          <p:nvPr/>
        </p:nvSpPr>
        <p:spPr>
          <a:xfrm>
            <a:off x="4769498" y="1308716"/>
            <a:ext cx="4302125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用各种尺寸的滤波器平滑图像时对图像细节和噪声的影响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421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73" y="485464"/>
            <a:ext cx="4097189" cy="61063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21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498" y="4952191"/>
            <a:ext cx="4302125" cy="1411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4"/>
          <p:cNvSpPr txBox="1"/>
          <p:nvPr/>
        </p:nvSpPr>
        <p:spPr>
          <a:xfrm>
            <a:off x="855663" y="1058863"/>
            <a:ext cx="7388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提取感兴趣目标的例子：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Hubble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望远镜的图像处理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523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5938" y="4754563"/>
            <a:ext cx="5853112" cy="598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25" y="1847850"/>
            <a:ext cx="7473950" cy="2689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718" y="1157018"/>
            <a:ext cx="3486626" cy="377825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0"/>
              </a:spcBef>
            </a:pPr>
            <a:r>
              <a:rPr lang="zh-CN" altLang="en-US" sz="2400" spc="-4" dirty="0" smtClean="0">
                <a:solidFill>
                  <a:schemeClr val="tx1"/>
                </a:solidFill>
              </a:rPr>
              <a:t>高斯滤波器</a:t>
            </a:r>
            <a:endParaRPr lang="zh-CN" altLang="en-US" sz="2400" spc="-4" dirty="0" smtClean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79178" y="543464"/>
            <a:ext cx="3686930" cy="26502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0812" y="3784553"/>
            <a:ext cx="2957057" cy="21890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150" y="2433320"/>
            <a:ext cx="2408555" cy="5803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9281" y="6137888"/>
            <a:ext cx="1435133" cy="2565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93629" y="3365441"/>
            <a:ext cx="2027969" cy="2412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9275" y="4876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线性平滑滤波器</a:t>
            </a:r>
            <a:endParaRPr lang="zh-CN" altLang="en-US" sz="28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3365183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3x3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高斯滤波器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权重矩阵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3740" y="1753870"/>
            <a:ext cx="25146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高斯函数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675" y="3997960"/>
            <a:ext cx="2565400" cy="9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810" y="924243"/>
            <a:ext cx="2812415" cy="439420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0"/>
              </a:spcBef>
            </a:pPr>
            <a:r>
              <a:rPr lang="zh-CN" altLang="en-US" sz="2800" spc="-4" dirty="0"/>
              <a:t>高斯滤波效果</a:t>
            </a:r>
            <a:endParaRPr lang="zh-CN" altLang="en-US" sz="2800" spc="-4" dirty="0"/>
          </a:p>
        </p:txBody>
      </p:sp>
      <p:sp>
        <p:nvSpPr>
          <p:cNvPr id="3" name="object 3"/>
          <p:cNvSpPr txBox="1"/>
          <p:nvPr/>
        </p:nvSpPr>
        <p:spPr>
          <a:xfrm>
            <a:off x="482084" y="5169564"/>
            <a:ext cx="1366272" cy="20582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75" dirty="0">
                <a:solidFill>
                  <a:srgbClr val="003C69"/>
                </a:solidFill>
                <a:latin typeface="Arial MT"/>
                <a:cs typeface="Arial MT"/>
              </a:rPr>
              <a:t>Original</a:t>
            </a:r>
            <a:r>
              <a:rPr sz="1275" spc="293" dirty="0">
                <a:solidFill>
                  <a:srgbClr val="003C69"/>
                </a:solidFill>
                <a:latin typeface="Arial MT"/>
                <a:cs typeface="Arial MT"/>
              </a:rPr>
              <a:t> </a:t>
            </a:r>
            <a:r>
              <a:rPr sz="1275" dirty="0">
                <a:solidFill>
                  <a:srgbClr val="003C69"/>
                </a:solidFill>
                <a:latin typeface="Arial MT"/>
                <a:cs typeface="Arial MT"/>
              </a:rPr>
              <a:t>image</a:t>
            </a:r>
            <a:endParaRPr sz="1275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39581" y="2048721"/>
            <a:ext cx="2034387" cy="3051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9999" y="2049268"/>
            <a:ext cx="2034341" cy="30515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3171" y="2048721"/>
            <a:ext cx="2034402" cy="30514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3480" y="2044711"/>
            <a:ext cx="2034372" cy="30514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6891" y="5210780"/>
            <a:ext cx="1335881" cy="23574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21290" y="5210779"/>
            <a:ext cx="1335881" cy="2357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28909" y="5180088"/>
            <a:ext cx="1335881" cy="235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 sz="2740"/>
          </a:p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0410" y="1577340"/>
            <a:ext cx="4832985" cy="2116455"/>
          </a:xfrm>
        </p:spPr>
        <p:txBody>
          <a:bodyPr wrap="square"/>
          <a:lstStyle/>
          <a:p>
            <a:r>
              <a:rPr lang="zh-CN" altLang="en-US"/>
              <a:t>空间滤波基本概念</a:t>
            </a:r>
            <a:endParaRPr lang="zh-CN" altLang="en-US"/>
          </a:p>
          <a:p>
            <a:pPr lvl="1"/>
            <a:r>
              <a:rPr lang="zh-CN" altLang="en-US"/>
              <a:t>滤波器</a:t>
            </a:r>
            <a:endParaRPr lang="zh-CN" altLang="en-US"/>
          </a:p>
          <a:p>
            <a:pPr>
              <a:buFont typeface="Wingdings" panose="05000000000000000000" charset="0"/>
              <a:buChar char="n"/>
            </a:pPr>
            <a:r>
              <a:rPr lang="zh-CN" altLang="en-US" sz="3200"/>
              <a:t>线性平滑滤波</a:t>
            </a:r>
            <a:endParaRPr lang="zh-CN" altLang="en-US" sz="3200"/>
          </a:p>
          <a:p>
            <a:pPr lvl="1"/>
            <a:r>
              <a:rPr lang="zh-CN" altLang="en-US" sz="3200">
                <a:sym typeface="+mn-ea"/>
              </a:rPr>
              <a:t>均值滤波</a:t>
            </a:r>
            <a:endParaRPr lang="zh-CN" altLang="en-US" sz="3200"/>
          </a:p>
          <a:p>
            <a:pPr lvl="1"/>
            <a:r>
              <a:rPr lang="zh-CN" altLang="en-US" sz="3200">
                <a:sym typeface="+mn-ea"/>
              </a:rPr>
              <a:t>高斯</a:t>
            </a:r>
            <a:r>
              <a:rPr lang="zh-CN" altLang="en-US" sz="3200">
                <a:sym typeface="+mn-ea"/>
              </a:rPr>
              <a:t>滤波</a:t>
            </a:r>
            <a:endParaRPr lang="zh-CN" altLang="en-US" sz="3200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/>
          <p:nvPr/>
        </p:nvSpPr>
        <p:spPr>
          <a:xfrm>
            <a:off x="684213" y="1143000"/>
            <a:ext cx="809625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ahoma" panose="020B0604030504040204" pitchFamily="34" charset="0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  </a:t>
            </a:r>
            <a:r>
              <a:rPr lang="zh-CN" altLang="en-US" sz="2400" dirty="0">
                <a:latin typeface="Tahoma" panose="020B0604030504040204" pitchFamily="34" charset="0"/>
              </a:rPr>
              <a:t> 排序统计滤波器是一种</a:t>
            </a:r>
            <a:r>
              <a:rPr lang="zh-CN" altLang="en-US" sz="2400" b="1" dirty="0">
                <a:latin typeface="Tahoma" panose="020B0604030504040204" pitchFamily="34" charset="0"/>
              </a:rPr>
              <a:t>非</a:t>
            </a:r>
            <a:r>
              <a:rPr lang="zh-CN" altLang="en-US" sz="2400" dirty="0">
                <a:latin typeface="Tahoma" panose="020B0604030504040204" pitchFamily="34" charset="0"/>
              </a:rPr>
              <a:t>线性的、</a:t>
            </a:r>
            <a:r>
              <a:rPr lang="zh-CN" altLang="en-US" sz="2400" b="1" dirty="0">
                <a:latin typeface="Tahoma" panose="020B0604030504040204" pitchFamily="34" charset="0"/>
              </a:rPr>
              <a:t>非</a:t>
            </a:r>
            <a:r>
              <a:rPr lang="zh-CN" altLang="en-US" sz="2400" dirty="0">
                <a:latin typeface="Tahoma" panose="020B0604030504040204" pitchFamily="34" charset="0"/>
              </a:rPr>
              <a:t>卷积滤波器。</a:t>
            </a:r>
            <a:endParaRPr lang="zh-CN" altLang="en-US" sz="2400" dirty="0"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ahoma" panose="020B0604030504040204" pitchFamily="34" charset="0"/>
              </a:rPr>
              <a:t>②</a:t>
            </a:r>
            <a:r>
              <a:rPr lang="zh-CN" altLang="en-US" sz="2400" dirty="0">
                <a:latin typeface="Times New Roman" panose="02020603050405020304" pitchFamily="18" charset="0"/>
              </a:rPr>
              <a:t>  </a:t>
            </a:r>
            <a:r>
              <a:rPr lang="zh-CN" altLang="en-US" sz="2400" dirty="0">
                <a:latin typeface="Tahoma" panose="020B0604030504040204" pitchFamily="34" charset="0"/>
              </a:rPr>
              <a:t> 排序统计滤波器在滤波器包围的像素范围内排序，然后由统计排序结果决定的值代替中心像素的值。按排序输出的位置分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ahoma" panose="020B0604030504040204" pitchFamily="34" charset="0"/>
              </a:rPr>
              <a:t>可分为：中值滤波、最大值滤波、最小值滤波。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sp>
        <p:nvSpPr>
          <p:cNvPr id="96260" name="Text Box 10"/>
          <p:cNvSpPr txBox="1"/>
          <p:nvPr/>
        </p:nvSpPr>
        <p:spPr>
          <a:xfrm>
            <a:off x="550863" y="2981325"/>
            <a:ext cx="7940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96261" name="Text Box 11"/>
          <p:cNvSpPr txBox="1"/>
          <p:nvPr/>
        </p:nvSpPr>
        <p:spPr>
          <a:xfrm>
            <a:off x="493713" y="2994025"/>
            <a:ext cx="79375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     </a:t>
            </a:r>
            <a:r>
              <a:rPr lang="zh-CN" altLang="en-US" sz="2400" dirty="0">
                <a:latin typeface="Times New Roman" panose="02020603050405020304" pitchFamily="18" charset="0"/>
              </a:rPr>
              <a:t>中值滤波和均值滤波的比较（带椒盐噪声的电路板的</a:t>
            </a:r>
            <a:r>
              <a:rPr lang="en-US" altLang="zh-CN" sz="2400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光图像的去噪）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pic>
        <p:nvPicPr>
          <p:cNvPr id="962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075" y="3822700"/>
            <a:ext cx="6776085" cy="303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84530" y="463550"/>
            <a:ext cx="50780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非线性平滑滤波器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--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统计排序</a:t>
            </a:r>
            <a:endParaRPr lang="zh-CN" altLang="en-US" sz="2800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419100" y="975043"/>
            <a:ext cx="8229600" cy="33131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b="1" dirty="0"/>
              <a:t>   </a:t>
            </a:r>
            <a:r>
              <a:rPr lang="en-US" altLang="zh-CN" dirty="0"/>
              <a:t>     </a:t>
            </a:r>
            <a:r>
              <a:rPr lang="zh-CN" altLang="en-US" sz="2400" dirty="0"/>
              <a:t>将图像上每个像素点的值用该点一个邻域内各点值的中值代替。</a:t>
            </a:r>
            <a:endParaRPr lang="zh-CN" altLang="en-US" sz="2400" dirty="0"/>
          </a:p>
          <a:p>
            <a:pPr eaLnBrk="1" hangingPunct="1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         </a:t>
            </a:r>
            <a:r>
              <a:rPr lang="zh-CN" altLang="en-US" sz="2400" dirty="0"/>
              <a:t>中值的定义：假设邻域内有几个点                     </a:t>
            </a:r>
            <a:r>
              <a:rPr lang="en-US" altLang="zh-CN" sz="2400" dirty="0"/>
              <a:t>  </a:t>
            </a:r>
            <a:r>
              <a:rPr lang="zh-CN" altLang="en-US" sz="2400" dirty="0"/>
              <a:t>，把</a:t>
            </a:r>
            <a:r>
              <a:rPr lang="en-US" altLang="zh-CN" sz="2400" dirty="0"/>
              <a:t>n</a:t>
            </a:r>
            <a:r>
              <a:rPr lang="zh-CN" altLang="en-US" sz="2400" dirty="0"/>
              <a:t>个数按值的大小顺序排列如下：</a:t>
            </a:r>
            <a:endParaRPr lang="zh-CN" altLang="en-US" sz="2800" dirty="0"/>
          </a:p>
          <a:p>
            <a:pPr algn="just" eaLnBrk="1" hangingPunct="1">
              <a:buNone/>
            </a:pPr>
            <a:r>
              <a:rPr lang="zh-CN" altLang="en-US" dirty="0"/>
              <a:t>   </a:t>
            </a:r>
            <a:endParaRPr lang="zh-CN" altLang="en-US" dirty="0"/>
          </a:p>
        </p:txBody>
      </p:sp>
      <p:pic>
        <p:nvPicPr>
          <p:cNvPr id="97283" name="Picture 3" descr="image0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125" y="2763838"/>
            <a:ext cx="3657600" cy="57308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7284" name="Object 5"/>
          <p:cNvGraphicFramePr>
            <a:graphicFrameLocks noChangeAspect="1"/>
          </p:cNvGraphicFramePr>
          <p:nvPr/>
        </p:nvGraphicFramePr>
        <p:xfrm>
          <a:off x="5929948" y="1824038"/>
          <a:ext cx="19621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" r:id="rId2" imgW="774065" imgH="241300" progId="Equation.3">
                  <p:embed/>
                </p:oleObj>
              </mc:Choice>
              <mc:Fallback>
                <p:oleObj name="" r:id="rId2" imgW="774065" imgH="2413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29948" y="1824038"/>
                        <a:ext cx="1962150" cy="601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5" name="Rectangle 6"/>
          <p:cNvSpPr/>
          <p:nvPr/>
        </p:nvSpPr>
        <p:spPr>
          <a:xfrm>
            <a:off x="560705" y="451168"/>
            <a:ext cx="82089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中值滤波器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pic>
        <p:nvPicPr>
          <p:cNvPr id="98307" name="Picture 3" descr="image0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" y="3429000"/>
            <a:ext cx="7347585" cy="17449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96950" y="5266055"/>
            <a:ext cx="5610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0" dirty="0">
                <a:sym typeface="+mn-ea"/>
              </a:rPr>
              <a:t>则     称为序列                     </a:t>
            </a:r>
            <a:r>
              <a:rPr lang="en-US" altLang="zh-CN" b="0" dirty="0">
                <a:sym typeface="+mn-ea"/>
              </a:rPr>
              <a:t>       </a:t>
            </a:r>
            <a:r>
              <a:rPr lang="zh-CN" altLang="en-US" b="0" dirty="0" smtClean="0">
                <a:sym typeface="+mn-ea"/>
              </a:rPr>
              <a:t>的</a:t>
            </a:r>
            <a:r>
              <a:rPr lang="zh-CN" altLang="en-US" b="0" dirty="0">
                <a:sym typeface="+mn-ea"/>
              </a:rPr>
              <a:t>中值</a:t>
            </a:r>
            <a:endParaRPr lang="zh-CN" altLang="en-US" b="0" dirty="0">
              <a:sym typeface="+mn-ea"/>
            </a:endParaRPr>
          </a:p>
        </p:txBody>
      </p:sp>
      <p:pic>
        <p:nvPicPr>
          <p:cNvPr id="98308" name="Picture 4" descr="image0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75" y="5173663"/>
            <a:ext cx="439738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309" name="Picture 5" descr="image06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2125" y="5143659"/>
            <a:ext cx="2133600" cy="639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792788" y="3506162"/>
            <a:ext cx="1531744" cy="6248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80010" algn="ctr">
              <a:spcBef>
                <a:spcPts val="75"/>
              </a:spcBef>
            </a:pPr>
            <a:r>
              <a:rPr lang="zh-CN" sz="2000" spc="-4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计算局部邻域内的中值</a:t>
            </a:r>
            <a:endParaRPr lang="zh-CN" sz="2000" spc="-4" dirty="0">
              <a:solidFill>
                <a:srgbClr val="003C69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30212" y="4231943"/>
            <a:ext cx="2192694" cy="3168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sz="2000" spc="-4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修改后的图像</a:t>
            </a:r>
            <a:endParaRPr lang="zh-CN" sz="2000" spc="-4" dirty="0">
              <a:solidFill>
                <a:srgbClr val="003C69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675" y="4430599"/>
            <a:ext cx="1829629" cy="3168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sz="2000" spc="-4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局部图像数据</a:t>
            </a:r>
            <a:endParaRPr lang="zh-CN" sz="2000" spc="-4" dirty="0">
              <a:solidFill>
                <a:srgbClr val="003C69"/>
              </a:solidFill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534350" y="3193752"/>
          <a:ext cx="1241050" cy="1026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828"/>
                <a:gridCol w="465394"/>
                <a:gridCol w="387828"/>
              </a:tblGrid>
              <a:tr h="317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</a:tr>
              <a:tr h="3915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4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</a:tr>
              <a:tr h="3176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282946" y="3745912"/>
            <a:ext cx="1412747" cy="30975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282272" y="3822843"/>
            <a:ext cx="1236821" cy="114300"/>
            <a:chOff x="7043029" y="3042365"/>
            <a:chExt cx="1649095" cy="152400"/>
          </a:xfrm>
        </p:grpSpPr>
        <p:sp>
          <p:nvSpPr>
            <p:cNvPr id="10" name="object 10"/>
            <p:cNvSpPr/>
            <p:nvPr/>
          </p:nvSpPr>
          <p:spPr>
            <a:xfrm>
              <a:off x="7068429" y="3118438"/>
              <a:ext cx="1496695" cy="7620"/>
            </a:xfrm>
            <a:custGeom>
              <a:avLst/>
              <a:gdLst/>
              <a:ahLst/>
              <a:cxnLst/>
              <a:rect l="l" t="t" r="r" b="b"/>
              <a:pathLst>
                <a:path w="1496695" h="7619">
                  <a:moveTo>
                    <a:pt x="0" y="7378"/>
                  </a:moveTo>
                  <a:lnTo>
                    <a:pt x="1496339" y="0"/>
                  </a:lnTo>
                </a:path>
              </a:pathLst>
            </a:custGeom>
            <a:ln w="50800">
              <a:solidFill>
                <a:srgbClr val="003C6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538986" y="3042365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4" h="152400">
                  <a:moveTo>
                    <a:pt x="0" y="0"/>
                  </a:moveTo>
                  <a:lnTo>
                    <a:pt x="761" y="152400"/>
                  </a:lnTo>
                  <a:lnTo>
                    <a:pt x="152780" y="75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C69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276551" y="3357572"/>
          <a:ext cx="2393008" cy="10332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061"/>
                <a:gridCol w="357412"/>
                <a:gridCol w="339266"/>
                <a:gridCol w="1337269"/>
              </a:tblGrid>
              <a:tr h="344402">
                <a:tc>
                  <a:txBody>
                    <a:bodyPr/>
                    <a:lstStyle/>
                    <a:p>
                      <a:pPr marR="31115" algn="ctr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10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5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B w="76200">
                      <a:solidFill>
                        <a:srgbClr val="003C69"/>
                      </a:solidFill>
                      <a:prstDash val="solid"/>
                    </a:lnB>
                  </a:tcPr>
                </a:tc>
              </a:tr>
              <a:tr h="178608">
                <a:tc rowSpan="2">
                  <a:txBody>
                    <a:bodyPr/>
                    <a:lstStyle/>
                    <a:p>
                      <a:pPr marL="128270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4</a:t>
                      </a:r>
                      <a:endParaRPr sz="20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3350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6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algn="ctr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B w="76200">
                      <a:solidFill>
                        <a:srgbClr val="003C69"/>
                      </a:solidFill>
                      <a:prstDash val="solid"/>
                    </a:lnB>
                  </a:tcPr>
                </a:tc>
              </a:tr>
              <a:tr h="165794">
                <a:tc vMerge="1">
                  <a:tcPr marL="0" marR="0" marT="3048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vMerge="1">
                  <a:tcPr marL="0" marR="0" marT="3048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vMerge="1">
                  <a:tcPr marL="0" marR="0" marT="3048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T w="76200">
                      <a:solidFill>
                        <a:srgbClr val="003C69"/>
                      </a:solidFill>
                      <a:prstDash val="solid"/>
                    </a:lnT>
                  </a:tcPr>
                </a:tc>
              </a:tr>
              <a:tr h="344402">
                <a:tc>
                  <a:txBody>
                    <a:bodyPr/>
                    <a:lstStyle/>
                    <a:p>
                      <a:pPr marR="33655" algn="ctr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1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91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Calibri" panose="020F0502020204030204"/>
                          <a:cs typeface="Calibri" panose="020F0502020204030204"/>
                        </a:rPr>
                        <a:t>8</a:t>
                      </a:r>
                      <a:endParaRPr sz="2000" dirty="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3C69"/>
                      </a:solidFill>
                      <a:prstDash val="solid"/>
                    </a:lnL>
                    <a:lnR w="9525">
                      <a:solidFill>
                        <a:srgbClr val="003C69"/>
                      </a:solidFill>
                      <a:prstDash val="solid"/>
                    </a:lnR>
                    <a:lnT w="9525">
                      <a:solidFill>
                        <a:srgbClr val="003C69"/>
                      </a:solidFill>
                      <a:prstDash val="solid"/>
                    </a:lnT>
                    <a:lnB w="9525">
                      <a:solidFill>
                        <a:srgbClr val="003C69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9525">
                      <a:solidFill>
                        <a:srgbClr val="003C69"/>
                      </a:solidFill>
                      <a:prstDash val="solid"/>
                    </a:lnL>
                    <a:lnT w="76200">
                      <a:solidFill>
                        <a:srgbClr val="003C6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2523744" y="3745912"/>
            <a:ext cx="1413034" cy="310038"/>
            <a:chOff x="3364991" y="2939790"/>
            <a:chExt cx="1884045" cy="413384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4991" y="2939790"/>
              <a:ext cx="1883663" cy="4130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61083" y="3042365"/>
              <a:ext cx="153035" cy="152400"/>
            </a:xfrm>
            <a:custGeom>
              <a:avLst/>
              <a:gdLst/>
              <a:ahLst/>
              <a:cxnLst/>
              <a:rect l="l" t="t" r="r" b="b"/>
              <a:pathLst>
                <a:path w="153035" h="152400">
                  <a:moveTo>
                    <a:pt x="0" y="0"/>
                  </a:moveTo>
                  <a:lnTo>
                    <a:pt x="762" y="152400"/>
                  </a:lnTo>
                  <a:lnTo>
                    <a:pt x="152781" y="754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C69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97285" name="Rectangle 6"/>
          <p:cNvSpPr/>
          <p:nvPr/>
        </p:nvSpPr>
        <p:spPr>
          <a:xfrm>
            <a:off x="560705" y="451168"/>
            <a:ext cx="8208963" cy="891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中值滤波器</a:t>
            </a:r>
            <a:endParaRPr lang="zh-CN" altLang="en-US" sz="2800" dirty="0"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ahoma" panose="020B0604030504040204" pitchFamily="34" charset="0"/>
              </a:rPr>
              <a:t>       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760" y="1038860"/>
            <a:ext cx="78613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ym typeface="+mn-ea"/>
              </a:rPr>
              <a:t>        </a:t>
            </a:r>
            <a:r>
              <a:rPr lang="zh-CN" altLang="en-US" dirty="0">
                <a:sym typeface="+mn-ea"/>
              </a:rPr>
              <a:t>将数字图象上每个点的值用该点的一个邻域中各点值的中值代替。</a:t>
            </a:r>
            <a:endParaRPr lang="zh-CN" altLang="en-US" dirty="0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1370" y="245618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例子</a:t>
            </a:r>
            <a:endParaRPr lang="zh-CN" altLang="en-US" dirty="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17320" y="4988560"/>
            <a:ext cx="4572000" cy="1045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33350">
              <a:lnSpc>
                <a:spcPct val="150000"/>
              </a:lnSpc>
              <a:spcBef>
                <a:spcPts val="240"/>
              </a:spcBef>
            </a:pPr>
            <a:r>
              <a:rPr lang="zh-CN" sz="2000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  <a:sym typeface="+mn-ea"/>
              </a:rPr>
              <a:t>由小到大排序为</a:t>
            </a:r>
            <a:r>
              <a:rPr lang="en-US" altLang="zh-CN" sz="2000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  <a:sym typeface="+mn-ea"/>
              </a:rPr>
              <a:t> </a:t>
            </a:r>
            <a:r>
              <a:rPr sz="2000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  <a:sym typeface="+mn-ea"/>
              </a:rPr>
              <a:t>1</a:t>
            </a:r>
            <a:r>
              <a:rPr lang="en-US" sz="2000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  <a:sym typeface="+mn-ea"/>
              </a:rPr>
              <a:t> 1 1 3 4 5 6 8 10</a:t>
            </a:r>
            <a:endParaRPr lang="en-US" sz="2000" dirty="0">
              <a:solidFill>
                <a:srgbClr val="003C69"/>
              </a:solidFill>
              <a:latin typeface="Calibri" panose="020F0502020204030204"/>
              <a:cs typeface="Calibri" panose="020F0502020204030204"/>
              <a:sym typeface="+mn-ea"/>
            </a:endParaRPr>
          </a:p>
          <a:p>
            <a:pPr marL="133350">
              <a:lnSpc>
                <a:spcPct val="150000"/>
              </a:lnSpc>
              <a:spcBef>
                <a:spcPts val="240"/>
              </a:spcBef>
            </a:pPr>
            <a:r>
              <a:rPr lang="zh-CN" altLang="en-US" sz="2000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  <a:sym typeface="+mn-ea"/>
              </a:rPr>
              <a:t>中间值为</a:t>
            </a:r>
            <a:r>
              <a:rPr lang="en-US" altLang="zh-CN" sz="2000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  <a:sym typeface="+mn-ea"/>
              </a:rPr>
              <a:t>4</a:t>
            </a:r>
            <a:endParaRPr lang="en-US" altLang="zh-CN" sz="2000" dirty="0">
              <a:solidFill>
                <a:srgbClr val="003C69"/>
              </a:solidFill>
              <a:latin typeface="Calibri" panose="020F0502020204030204"/>
              <a:cs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466725" y="879475"/>
            <a:ext cx="8447405" cy="125285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3600" b="1" dirty="0"/>
              <a:t>   </a:t>
            </a:r>
            <a:r>
              <a:rPr lang="zh-CN" altLang="en-US" sz="2800" b="1" dirty="0"/>
              <a:t>中值滤波器比均值滤波器更适合去除加性椒盐噪声。</a:t>
            </a:r>
            <a:endParaRPr lang="zh-CN" altLang="en-US" sz="2800" b="1" dirty="0"/>
          </a:p>
        </p:txBody>
      </p:sp>
      <p:graphicFrame>
        <p:nvGraphicFramePr>
          <p:cNvPr id="102403" name="Object 3"/>
          <p:cNvGraphicFramePr>
            <a:graphicFrameLocks noChangeAspect="1"/>
          </p:cNvGraphicFramePr>
          <p:nvPr/>
        </p:nvGraphicFramePr>
        <p:xfrm>
          <a:off x="545465" y="2247900"/>
          <a:ext cx="2712720" cy="2674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8" name="" r:id="rId1" imgW="1816100" imgH="1790700" progId="Photoshop.Image.5">
                  <p:embed/>
                </p:oleObj>
              </mc:Choice>
              <mc:Fallback>
                <p:oleObj name="" r:id="rId1" imgW="1816100" imgH="1790700" progId="Photoshop.Image.5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5465" y="2247900"/>
                        <a:ext cx="2712720" cy="26746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4"/>
          <p:cNvGraphicFramePr>
            <a:graphicFrameLocks noChangeAspect="1"/>
          </p:cNvGraphicFramePr>
          <p:nvPr/>
        </p:nvGraphicFramePr>
        <p:xfrm>
          <a:off x="3300095" y="2247900"/>
          <a:ext cx="2692400" cy="2674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9" name="" r:id="rId3" imgW="1866900" imgH="1854200" progId="Photoshop.Image.5">
                  <p:embed/>
                </p:oleObj>
              </mc:Choice>
              <mc:Fallback>
                <p:oleObj name="" r:id="rId3" imgW="1866900" imgH="1854200" progId="Photoshop.Image.5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0095" y="2247900"/>
                        <a:ext cx="2692400" cy="26746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5" name="Object 5"/>
          <p:cNvGraphicFramePr>
            <a:graphicFrameLocks noChangeAspect="1"/>
          </p:cNvGraphicFramePr>
          <p:nvPr/>
        </p:nvGraphicFramePr>
        <p:xfrm>
          <a:off x="6034405" y="2247900"/>
          <a:ext cx="2710815" cy="2665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0" name="" r:id="rId5" imgW="3835400" imgH="3771900" progId="Photoshop.Image.5">
                  <p:embed/>
                </p:oleObj>
              </mc:Choice>
              <mc:Fallback>
                <p:oleObj name="" r:id="rId5" imgW="3835400" imgH="3771900" progId="Photoshop.Image.5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4405" y="2247900"/>
                        <a:ext cx="2710815" cy="2665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6" name="Rectangle 6" descr="Rectangle: Click to edit Master text styles&#10;Second level&#10;Third level&#10;Fourth level&#10;Fifth level"/>
          <p:cNvSpPr/>
          <p:nvPr/>
        </p:nvSpPr>
        <p:spPr>
          <a:xfrm>
            <a:off x="755650" y="5272088"/>
            <a:ext cx="8229600" cy="12525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endParaRPr lang="zh-CN" altLang="en-US" sz="2800" b="1" dirty="0"/>
          </a:p>
        </p:txBody>
      </p:sp>
      <p:sp>
        <p:nvSpPr>
          <p:cNvPr id="102407" name="Rectangle 7"/>
          <p:cNvSpPr/>
          <p:nvPr/>
        </p:nvSpPr>
        <p:spPr>
          <a:xfrm>
            <a:off x="799624" y="4984433"/>
            <a:ext cx="196977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ahoma" panose="020B0604030504040204" pitchFamily="34" charset="0"/>
              </a:rPr>
              <a:t>加性椒盐噪声图</a:t>
            </a:r>
            <a:endParaRPr lang="zh-CN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102408" name="Rectangle 8"/>
          <p:cNvSpPr/>
          <p:nvPr/>
        </p:nvSpPr>
        <p:spPr>
          <a:xfrm>
            <a:off x="3607912" y="4984433"/>
            <a:ext cx="196977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ahoma" panose="020B0604030504040204" pitchFamily="34" charset="0"/>
              </a:rPr>
              <a:t>中值滤波器结果</a:t>
            </a:r>
            <a:endParaRPr lang="zh-CN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102409" name="Rectangle 9"/>
          <p:cNvSpPr/>
          <p:nvPr/>
        </p:nvSpPr>
        <p:spPr>
          <a:xfrm>
            <a:off x="6405087" y="4912995"/>
            <a:ext cx="196977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ahoma" panose="020B0604030504040204" pitchFamily="34" charset="0"/>
              </a:rPr>
              <a:t>均值滤波器结果</a:t>
            </a:r>
            <a:endParaRPr lang="zh-CN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1926" y="6333134"/>
            <a:ext cx="71437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为什么中值滤波可以去除椒盐噪声？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952500"/>
            <a:ext cx="8229600" cy="31115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sz="2800" b="1" dirty="0"/>
              <a:t>第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百分点的滤波器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① 中值代表序列中第50个百分点的数值；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② 第1个和第100个百分点可用于最小值和最大值滤波器；</a:t>
            </a:r>
            <a:endParaRPr lang="zh-CN" altLang="en-US" sz="2800" dirty="0"/>
          </a:p>
          <a:p>
            <a:pPr eaLnBrk="1" hangingPunct="1">
              <a:buNone/>
            </a:pPr>
            <a:r>
              <a:rPr lang="zh-CN" altLang="en-US" sz="2800" dirty="0"/>
              <a:t>同理，可以构造</a:t>
            </a:r>
            <a:r>
              <a:rPr lang="zh-CN" altLang="en-US" sz="2800" b="1" dirty="0"/>
              <a:t>第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百分点的滤波器，</a:t>
            </a:r>
            <a:r>
              <a:rPr lang="zh-CN" altLang="en-US" sz="2800" dirty="0"/>
              <a:t>通常，</a:t>
            </a:r>
            <a:endParaRPr lang="zh-CN" altLang="en-US" sz="2800" dirty="0"/>
          </a:p>
        </p:txBody>
      </p:sp>
      <p:pic>
        <p:nvPicPr>
          <p:cNvPr id="101379" name="Picture 3" descr="image0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15" y="3629025"/>
            <a:ext cx="4038600" cy="1093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875" y="825818"/>
            <a:ext cx="3559810" cy="439420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0"/>
              </a:spcBef>
            </a:pPr>
            <a:r>
              <a:rPr lang="en-US" altLang="zh-CN" sz="2800" spc="-8" dirty="0" smtClean="0">
                <a:solidFill>
                  <a:srgbClr val="7030A0"/>
                </a:solidFill>
              </a:rPr>
              <a:t>3 </a:t>
            </a:r>
            <a:r>
              <a:rPr lang="zh-CN" altLang="en-US" sz="2800" spc="-8" dirty="0" smtClean="0">
                <a:solidFill>
                  <a:srgbClr val="7030A0"/>
                </a:solidFill>
              </a:rPr>
              <a:t>空间</a:t>
            </a:r>
            <a:r>
              <a:rPr lang="zh-CN" altLang="en-US" sz="2800" spc="-8" dirty="0" smtClean="0">
                <a:solidFill>
                  <a:srgbClr val="7030A0"/>
                </a:solidFill>
              </a:rPr>
              <a:t>图像边缘提取</a:t>
            </a:r>
            <a:endParaRPr lang="zh-CN" altLang="en-US" sz="2800" spc="-8" dirty="0" smtClean="0">
              <a:solidFill>
                <a:srgbClr val="7030A0"/>
              </a:solidFill>
            </a:endParaRPr>
          </a:p>
        </p:txBody>
      </p:sp>
      <p:pic>
        <p:nvPicPr>
          <p:cNvPr id="6758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90" y="1846580"/>
            <a:ext cx="3707130" cy="2473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330" y="1873250"/>
            <a:ext cx="3667125" cy="2446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Text Box 4"/>
          <p:cNvSpPr txBox="1"/>
          <p:nvPr/>
        </p:nvSpPr>
        <p:spPr>
          <a:xfrm>
            <a:off x="522288" y="928688"/>
            <a:ext cx="812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6740" name="Text Box 5"/>
          <p:cNvSpPr txBox="1"/>
          <p:nvPr/>
        </p:nvSpPr>
        <p:spPr>
          <a:xfrm>
            <a:off x="536575" y="713423"/>
            <a:ext cx="8215313" cy="1337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基于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sym typeface="+mn-ea"/>
              </a:rPr>
              <a:t>一阶微分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的图像边缘提取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 一阶微分在灰度的跳跃性间断处（边界处）有较强的响应，图像情形考虑二维函数的梯度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6741" name="Rectangle 7"/>
          <p:cNvSpPr/>
          <p:nvPr/>
        </p:nvSpPr>
        <p:spPr>
          <a:xfrm>
            <a:off x="0" y="2871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6742" name="Object 6"/>
          <p:cNvGraphicFramePr>
            <a:graphicFrameLocks noChangeAspect="1"/>
          </p:cNvGraphicFramePr>
          <p:nvPr/>
        </p:nvGraphicFramePr>
        <p:xfrm>
          <a:off x="2746375" y="2110105"/>
          <a:ext cx="32639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1" name="" r:id="rId1" imgW="1511300" imgH="444500" progId="Equation.3">
                  <p:embed/>
                </p:oleObj>
              </mc:Choice>
              <mc:Fallback>
                <p:oleObj name="" r:id="rId1" imgW="1511300" imgH="4445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6375" y="2110105"/>
                        <a:ext cx="3263900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3" name="Text Box 8"/>
          <p:cNvSpPr txBox="1"/>
          <p:nvPr/>
        </p:nvSpPr>
        <p:spPr>
          <a:xfrm>
            <a:off x="422275" y="3124200"/>
            <a:ext cx="846201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如何用图像显示二维函数的梯度？这需要定义一个标量：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模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。这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也是图像处理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中常用的量。常用的有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模</a:t>
            </a:r>
            <a:endParaRPr lang="zh-CN" altLang="en-US" sz="2400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744" name="Rectangle 10"/>
          <p:cNvSpPr/>
          <p:nvPr/>
        </p:nvSpPr>
        <p:spPr>
          <a:xfrm>
            <a:off x="0" y="2868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6745" name="Object 9"/>
          <p:cNvGraphicFramePr>
            <a:graphicFrameLocks noChangeAspect="1"/>
          </p:cNvGraphicFramePr>
          <p:nvPr/>
        </p:nvGraphicFramePr>
        <p:xfrm>
          <a:off x="2414588" y="4012248"/>
          <a:ext cx="47529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2" name="" r:id="rId3" imgW="2044700" imgH="381000" progId="Equation.3">
                  <p:embed/>
                </p:oleObj>
              </mc:Choice>
              <mc:Fallback>
                <p:oleObj name="" r:id="rId3" imgW="2044700" imgH="3810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4588" y="4012248"/>
                        <a:ext cx="4752975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6" name="Text Box 11"/>
          <p:cNvSpPr txBox="1"/>
          <p:nvPr/>
        </p:nvSpPr>
        <p:spPr>
          <a:xfrm>
            <a:off x="522605" y="4968240"/>
            <a:ext cx="7794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模具有各向同性的性质，但计算不方便。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Text Box 3"/>
          <p:cNvSpPr txBox="1"/>
          <p:nvPr/>
        </p:nvSpPr>
        <p:spPr>
          <a:xfrm>
            <a:off x="522288" y="928688"/>
            <a:ext cx="812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88" name="Text Box 4"/>
          <p:cNvSpPr txBox="1"/>
          <p:nvPr/>
        </p:nvSpPr>
        <p:spPr>
          <a:xfrm>
            <a:off x="536575" y="957263"/>
            <a:ext cx="8215313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</a:rPr>
              <a:t>为了克服计算复杂的困难，在某些情况下，用</a:t>
            </a:r>
            <a:r>
              <a:rPr lang="en-US" altLang="zh-CN" sz="2400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模可以减少计算量，并且不影响结果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8789" name="Rectangle 5"/>
          <p:cNvSpPr/>
          <p:nvPr/>
        </p:nvSpPr>
        <p:spPr>
          <a:xfrm>
            <a:off x="0" y="2871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8790" name="Text Box 7"/>
          <p:cNvSpPr txBox="1"/>
          <p:nvPr/>
        </p:nvSpPr>
        <p:spPr>
          <a:xfrm>
            <a:off x="379412" y="2511425"/>
            <a:ext cx="8372475" cy="10156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注意：通常在不引起混淆的情况下，把梯度的模称为梯度。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8791" name="Rectangle 8"/>
          <p:cNvSpPr/>
          <p:nvPr/>
        </p:nvSpPr>
        <p:spPr>
          <a:xfrm>
            <a:off x="0" y="28686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8793" name="Rectangle 12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8794" name="Object 11"/>
          <p:cNvGraphicFramePr>
            <a:graphicFrameLocks noChangeAspect="1"/>
          </p:cNvGraphicFramePr>
          <p:nvPr/>
        </p:nvGraphicFramePr>
        <p:xfrm>
          <a:off x="3063875" y="1795463"/>
          <a:ext cx="27432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6" name="" r:id="rId1" imgW="1219200" imgH="330200" progId="Equation.3">
                  <p:embed/>
                </p:oleObj>
              </mc:Choice>
              <mc:Fallback>
                <p:oleObj name="" r:id="rId1" imgW="1219200" imgH="3302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3875" y="1795463"/>
                        <a:ext cx="2743200" cy="65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5" name="Rectangle 15"/>
          <p:cNvSpPr/>
          <p:nvPr/>
        </p:nvSpPr>
        <p:spPr>
          <a:xfrm>
            <a:off x="0" y="32432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8797" name="Rectangle 17"/>
          <p:cNvSpPr/>
          <p:nvPr/>
        </p:nvSpPr>
        <p:spPr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8800" name="Rectangle 20"/>
          <p:cNvSpPr/>
          <p:nvPr/>
        </p:nvSpPr>
        <p:spPr>
          <a:xfrm>
            <a:off x="0" y="32623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37585" y="3860800"/>
            <a:ext cx="4302760" cy="1884045"/>
            <a:chOff x="4716733" y="4005071"/>
            <a:chExt cx="5736801" cy="241477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70540" y="4005071"/>
              <a:ext cx="3682994" cy="24147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33" y="4982566"/>
              <a:ext cx="1066800" cy="4699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9445" y="528638"/>
            <a:ext cx="4813935" cy="439420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0"/>
              </a:spcBef>
            </a:pPr>
            <a:r>
              <a:rPr lang="zh-CN" altLang="en-US" sz="2800" spc="-4" dirty="0" smtClean="0">
                <a:solidFill>
                  <a:schemeClr val="tx1"/>
                </a:solidFill>
              </a:rPr>
              <a:t>基于一阶</a:t>
            </a:r>
            <a:r>
              <a:rPr lang="zh-CN" altLang="en-US" sz="2800" spc="-4" dirty="0" smtClean="0">
                <a:solidFill>
                  <a:schemeClr val="tx1"/>
                </a:solidFill>
              </a:rPr>
              <a:t>微分的边缘提取效果</a:t>
            </a:r>
            <a:endParaRPr lang="zh-CN" altLang="en-US" sz="2800" spc="-4" dirty="0" smtClean="0">
              <a:solidFill>
                <a:schemeClr val="tx1"/>
              </a:solidFill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110" y="1754505"/>
            <a:ext cx="2831465" cy="19900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980" y="3860800"/>
            <a:ext cx="2855595" cy="18846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7904" y="1754814"/>
            <a:ext cx="2762030" cy="197453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62125" y="2378999"/>
            <a:ext cx="419100" cy="7334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2125" y="4375100"/>
            <a:ext cx="419100" cy="7905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85493" y="2729856"/>
            <a:ext cx="180971" cy="32384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4914900" y="5745386"/>
            <a:ext cx="1600200" cy="141064"/>
          </a:xfrm>
          <a:prstGeom prst="rect">
            <a:avLst/>
          </a:prstGeom>
        </p:spPr>
        <p:txBody>
          <a:bodyPr vert="horz" wrap="square" lIns="0" tIns="0" rIns="0" bIns="0" numCol="1" rtlCol="0" anchor="b" anchorCtr="0" compatLnSpc="1">
            <a:spAutoFit/>
          </a:bodyPr>
          <a:lstStyle/>
          <a:p>
            <a:pPr marL="28575">
              <a:lnSpc>
                <a:spcPts val="1070"/>
              </a:lnSpc>
            </a:pPr>
            <a:fld id="{81D60167-4931-47E6-BA6A-407CBD079E47}" type="slidenum">
              <a:rPr spc="-4" dirty="0"/>
            </a:fld>
            <a:endParaRPr spc="-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020" y="654685"/>
            <a:ext cx="4906010" cy="501015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0"/>
              </a:spcBef>
            </a:pPr>
            <a:r>
              <a:rPr lang="zh-CN" sz="3200" spc="-8" dirty="0"/>
              <a:t>基于</a:t>
            </a:r>
            <a:r>
              <a:rPr sz="3200" spc="-8" dirty="0"/>
              <a:t>Sobel</a:t>
            </a:r>
            <a:r>
              <a:rPr sz="3200" spc="-49" dirty="0"/>
              <a:t> </a:t>
            </a:r>
            <a:r>
              <a:rPr lang="zh-CN" altLang="en-US" sz="3200" spc="-49" dirty="0" smtClean="0"/>
              <a:t>算子的边缘提取</a:t>
            </a:r>
            <a:endParaRPr lang="zh-CN" altLang="en-US" sz="3200" spc="-49" dirty="0" smtClean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1845" y="2213306"/>
          <a:ext cx="1731579" cy="1834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193"/>
                <a:gridCol w="577193"/>
                <a:gridCol w="577193"/>
              </a:tblGrid>
              <a:tr h="37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335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-1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28575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812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28575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28575">
                      <a:solidFill>
                        <a:srgbClr val="003C69"/>
                      </a:solidFill>
                      <a:prstDash val="solid"/>
                    </a:lnR>
                    <a:lnT w="28575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773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335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-2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429" marB="0">
                    <a:lnL w="28575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812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429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429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2857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7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7335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-1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28575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812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28575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2857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28575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37160" y="2213305"/>
          <a:ext cx="1606476" cy="1834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492"/>
                <a:gridCol w="535492"/>
                <a:gridCol w="535492"/>
              </a:tblGrid>
              <a:tr h="37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-1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28575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-2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28575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-1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28575">
                      <a:solidFill>
                        <a:srgbClr val="003C69"/>
                      </a:solidFill>
                      <a:prstDash val="solid"/>
                    </a:lnR>
                    <a:lnT w="28575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773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429" marB="0">
                    <a:lnL w="28575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429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429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2857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12700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78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28575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12700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28575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003C6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3C69"/>
                      </a:solidFill>
                      <a:prstDash val="solid"/>
                    </a:lnL>
                    <a:lnR w="28575">
                      <a:solidFill>
                        <a:srgbClr val="003C69"/>
                      </a:solidFill>
                      <a:prstDash val="solid"/>
                    </a:lnR>
                    <a:lnT w="12700">
                      <a:solidFill>
                        <a:srgbClr val="003C69"/>
                      </a:solidFill>
                      <a:prstDash val="solid"/>
                    </a:lnT>
                    <a:lnB w="28575">
                      <a:solidFill>
                        <a:srgbClr val="003C69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48081" y="1155846"/>
            <a:ext cx="2558939" cy="460291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1845" y="4172109"/>
            <a:ext cx="1735494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spc="-4" dirty="0" smtClean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x-</a:t>
            </a:r>
            <a:r>
              <a:rPr lang="zh-CN" altLang="en-US" spc="-4" dirty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方向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7160" y="4158252"/>
            <a:ext cx="1646757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spc="-4" dirty="0" smtClean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y-</a:t>
            </a:r>
            <a:r>
              <a:rPr lang="zh-CN" altLang="en-US" spc="-4" dirty="0" smtClean="0">
                <a:solidFill>
                  <a:srgbClr val="003C69"/>
                </a:solidFill>
                <a:latin typeface="Calibri" panose="020F0502020204030204"/>
                <a:cs typeface="Calibri" panose="020F0502020204030204"/>
              </a:rPr>
              <a:t>方向</a:t>
            </a:r>
            <a:endParaRPr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1443355"/>
            <a:ext cx="427355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/>
              <a:t>Sobel </a:t>
            </a:r>
            <a:r>
              <a:rPr lang="zh-CN" altLang="en-US" sz="2000"/>
              <a:t>算子，通过对图像进行卷积，近似求出图像在 </a:t>
            </a:r>
            <a:r>
              <a:rPr lang="en-US" altLang="zh-CN" sz="2000"/>
              <a:t>x </a:t>
            </a:r>
            <a:r>
              <a:rPr lang="zh-CN" altLang="en-US" sz="2000"/>
              <a:t>和 </a:t>
            </a:r>
            <a:r>
              <a:rPr lang="en-US" altLang="zh-CN" sz="2000"/>
              <a:t>y </a:t>
            </a:r>
            <a:r>
              <a:rPr lang="zh-CN" altLang="en-US" sz="2000"/>
              <a:t>方向的梯度。</a:t>
            </a:r>
            <a:endParaRPr lang="zh-CN" altLang="en-US" sz="2000"/>
          </a:p>
        </p:txBody>
      </p:sp>
      <p:sp>
        <p:nvSpPr>
          <p:cNvPr id="17" name="文本框 16"/>
          <p:cNvSpPr txBox="1"/>
          <p:nvPr/>
        </p:nvSpPr>
        <p:spPr>
          <a:xfrm>
            <a:off x="573405" y="4647565"/>
            <a:ext cx="470662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设</a:t>
            </a:r>
            <a:r>
              <a:rPr lang="en-US" altLang="zh-CN" sz="1600"/>
              <a:t>x</a:t>
            </a:r>
            <a:r>
              <a:rPr lang="zh-CN" altLang="en-US" sz="1600"/>
              <a:t>方向上的卷积核为</a:t>
            </a:r>
            <a:r>
              <a:rPr lang="en-US" altLang="zh-CN" sz="1600"/>
              <a:t>Kx</a:t>
            </a:r>
            <a:r>
              <a:rPr lang="zh-CN" altLang="en-US" sz="1600"/>
              <a:t>，</a:t>
            </a:r>
            <a:r>
              <a:rPr lang="en-US" altLang="zh-CN" sz="1600"/>
              <a:t>y</a:t>
            </a:r>
            <a:r>
              <a:rPr lang="zh-CN" altLang="en-US" sz="1600"/>
              <a:t>方向的卷积核为</a:t>
            </a:r>
            <a:r>
              <a:rPr lang="en-US" altLang="zh-CN" sz="1600"/>
              <a:t>Ky</a:t>
            </a:r>
            <a:r>
              <a:rPr lang="zh-CN" altLang="en-US" sz="1600"/>
              <a:t>，</a:t>
            </a:r>
            <a:r>
              <a:rPr lang="zh-CN" altLang="en-US" sz="1600"/>
              <a:t>图像为</a:t>
            </a:r>
            <a:r>
              <a:rPr lang="en-US" altLang="zh-CN" sz="1600" i="1"/>
              <a:t>I(x,y)</a:t>
            </a:r>
            <a:r>
              <a:rPr lang="zh-CN" altLang="en-US" sz="1600"/>
              <a:t>，</a:t>
            </a:r>
            <a:r>
              <a:rPr lang="en-US" altLang="zh-CN" sz="1600"/>
              <a:t> </a:t>
            </a:r>
            <a:r>
              <a:rPr lang="zh-CN" altLang="en-US" sz="1600"/>
              <a:t>用这两个核分别和图像做卷积</a:t>
            </a:r>
            <a:endParaRPr lang="zh-CN" altLang="en-US" sz="1600"/>
          </a:p>
        </p:txBody>
      </p:sp>
      <p:graphicFrame>
        <p:nvGraphicFramePr>
          <p:cNvPr id="18" name="对象 17"/>
          <p:cNvGraphicFramePr/>
          <p:nvPr/>
        </p:nvGraphicFramePr>
        <p:xfrm>
          <a:off x="626110" y="5231130"/>
          <a:ext cx="3945890" cy="75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5" name="" r:id="rId2" imgW="3232150" imgH="615950" progId="Paint.Picture">
                  <p:embed/>
                </p:oleObj>
              </mc:Choice>
              <mc:Fallback>
                <p:oleObj name="" r:id="rId2" imgW="3232150" imgH="615950" progId="Paint.Picture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6110" y="5231130"/>
                        <a:ext cx="3945890" cy="7505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965" y="746443"/>
            <a:ext cx="4673600" cy="439420"/>
          </a:xfrm>
          <a:prstGeom prst="rect">
            <a:avLst/>
          </a:prstGeom>
        </p:spPr>
        <p:txBody>
          <a:bodyPr vert="horz" wrap="square" lIns="0" tIns="9049" rIns="0" bIns="0" rtlCol="0" anchor="ctr" anchorCtr="0">
            <a:spAutoFit/>
          </a:bodyPr>
          <a:lstStyle/>
          <a:p>
            <a:pPr marL="9525">
              <a:spcBef>
                <a:spcPts val="70"/>
              </a:spcBef>
            </a:pPr>
            <a:r>
              <a:rPr sz="2800" spc="-8" dirty="0">
                <a:solidFill>
                  <a:schemeClr val="tx1"/>
                </a:solidFill>
              </a:rPr>
              <a:t>Sobel</a:t>
            </a:r>
            <a:r>
              <a:rPr sz="2800" spc="-4" dirty="0">
                <a:solidFill>
                  <a:schemeClr val="tx1"/>
                </a:solidFill>
              </a:rPr>
              <a:t> </a:t>
            </a:r>
            <a:r>
              <a:rPr lang="zh-CN" sz="2800" spc="-4" dirty="0">
                <a:solidFill>
                  <a:schemeClr val="tx1"/>
                </a:solidFill>
              </a:rPr>
              <a:t>算子边缘提取示例</a:t>
            </a:r>
            <a:endParaRPr lang="zh-CN" sz="2800" spc="-4" dirty="0">
              <a:solidFill>
                <a:schemeClr val="tx1"/>
              </a:solidFill>
            </a:endParaRPr>
          </a:p>
        </p:txBody>
      </p:sp>
      <p:pic>
        <p:nvPicPr>
          <p:cNvPr id="3" name="object 3"/>
          <p:cNvPicPr/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3071985" y="1982844"/>
            <a:ext cx="2384744" cy="3577130"/>
          </a:xfrm>
          <a:prstGeom prst="rect">
            <a:avLst/>
          </a:prstGeom>
        </p:spPr>
      </p:pic>
      <p:pic>
        <p:nvPicPr>
          <p:cNvPr id="4" name="object 4"/>
          <p:cNvPicPr/>
          <p:nvPr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382660" y="2003217"/>
            <a:ext cx="2368304" cy="3552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95351" y="1387353"/>
            <a:ext cx="2786009" cy="4179205"/>
          </a:xfrm>
          <a:prstGeom prst="rect">
            <a:avLst/>
          </a:prstGeom>
        </p:spPr>
      </p:pic>
      <p:sp>
        <p:nvSpPr>
          <p:cNvPr id="6" name="object 6"/>
          <p:cNvSpPr txBox="1"/>
          <p:nvPr>
            <p:custDataLst>
              <p:tags r:id="rId6"/>
            </p:custDataLst>
          </p:nvPr>
        </p:nvSpPr>
        <p:spPr>
          <a:xfrm>
            <a:off x="662305" y="1706880"/>
            <a:ext cx="1934210" cy="286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sz="1800" spc="-4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lang="zh-CN" sz="1800" spc="-4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方向</a:t>
            </a:r>
            <a:endParaRPr lang="zh-CN" sz="1800" spc="-4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>
            <p:custDataLst>
              <p:tags r:id="rId7"/>
            </p:custDataLst>
          </p:nvPr>
        </p:nvSpPr>
        <p:spPr>
          <a:xfrm>
            <a:off x="3340100" y="1711960"/>
            <a:ext cx="2116455" cy="286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sz="1800" spc="-4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lang="zh-CN" sz="1800" spc="-4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方向</a:t>
            </a:r>
            <a:endParaRPr lang="zh-CN" sz="1800" spc="-4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15100" y="1099841"/>
            <a:ext cx="1972445" cy="2863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zh-CN" altLang="en-US"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梯度幅值</a:t>
            </a:r>
            <a:endParaRPr lang="zh-CN" altLang="en-US" sz="18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 sz="2740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2480" y="1658620"/>
            <a:ext cx="7299325" cy="41541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/>
              <a:t>非线性滤波与边缘提取</a:t>
            </a:r>
            <a:endParaRPr lang="zh-CN" altLang="en-US"/>
          </a:p>
          <a:p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/>
              <a:t>统计排序滤波：邻域排序，用统计量替换中心像素（非线性、非卷积）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/>
              <a:t>中值</a:t>
            </a:r>
            <a:r>
              <a:rPr lang="en-US" altLang="zh-CN"/>
              <a:t>/</a:t>
            </a:r>
            <a:r>
              <a:rPr lang="zh-CN" altLang="en-US"/>
              <a:t>百分点滤波：中值能有效去椒盐噪声并保边；</a:t>
            </a:r>
            <a:r>
              <a:rPr lang="en-US" altLang="zh-CN"/>
              <a:t>  X </a:t>
            </a:r>
            <a:r>
              <a:rPr lang="zh-CN" altLang="en-US"/>
              <a:t>百分点可调，</a:t>
            </a:r>
            <a:r>
              <a:rPr lang="en-US" altLang="zh-CN"/>
              <a:t>X&lt;50</a:t>
            </a:r>
            <a:r>
              <a:rPr lang="zh-CN" altLang="en-US"/>
              <a:t>偏暗，</a:t>
            </a:r>
            <a:r>
              <a:rPr lang="en-US" altLang="zh-CN"/>
              <a:t>X&gt;50</a:t>
            </a:r>
            <a:r>
              <a:rPr lang="zh-CN" altLang="en-US"/>
              <a:t>偏亮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/>
              <a:t>边缘提取：边缘</a:t>
            </a:r>
            <a:r>
              <a:rPr lang="en-US" altLang="zh-CN"/>
              <a:t>=</a:t>
            </a:r>
            <a:r>
              <a:rPr lang="zh-CN" altLang="en-US"/>
              <a:t>灰度突变；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</a:t>
            </a:r>
            <a:r>
              <a:rPr lang="zh-CN" altLang="en-US"/>
              <a:t>用梯度检测，常用 </a:t>
            </a:r>
            <a:r>
              <a:rPr lang="en-US" altLang="zh-CN"/>
              <a:t>∣G∣≈∣Gx∣+∣Gy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Sobel </a:t>
            </a:r>
            <a:r>
              <a:rPr lang="zh-CN" altLang="en-US"/>
              <a:t>用两方向卷积核求梯度并融合得到边缘图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Text Box 4"/>
          <p:cNvSpPr txBox="1"/>
          <p:nvPr/>
        </p:nvSpPr>
        <p:spPr>
          <a:xfrm>
            <a:off x="434658" y="518795"/>
            <a:ext cx="8550275" cy="24841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空间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图像增强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 增强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的目的和平滑相反，是为了突出图像中的细节或增强被模糊的细节。</a:t>
            </a:r>
            <a:endParaRPr lang="zh-CN" altLang="en-US" sz="2400" dirty="0">
              <a:solidFill>
                <a:srgbClr val="FF6600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对图像像素邻域作线性平均（求和、积分），可以得到光滑图像的效果。如果用“求差、微分”的方法，应该得到相反的结果。直观上看也是如此。那么如何“求差”？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8" name="Text Box 6"/>
          <p:cNvSpPr txBox="1"/>
          <p:nvPr/>
        </p:nvSpPr>
        <p:spPr>
          <a:xfrm>
            <a:off x="434975" y="3060700"/>
            <a:ext cx="8302625" cy="906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一维情况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先考虑离散数据差分（微分）的定义。一阶微分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429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3430" name="Object 7"/>
          <p:cNvGraphicFramePr>
            <a:graphicFrameLocks noChangeAspect="1"/>
          </p:cNvGraphicFramePr>
          <p:nvPr/>
        </p:nvGraphicFramePr>
        <p:xfrm>
          <a:off x="3221038" y="3948113"/>
          <a:ext cx="23907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9" name="" r:id="rId1" imgW="1307465" imgH="393700" progId="Equation.3">
                  <p:embed/>
                </p:oleObj>
              </mc:Choice>
              <mc:Fallback>
                <p:oleObj name="" r:id="rId1" imgW="1307465" imgH="3937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21038" y="3948113"/>
                        <a:ext cx="2390775" cy="715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1" name="Text Box 9"/>
          <p:cNvSpPr txBox="1"/>
          <p:nvPr/>
        </p:nvSpPr>
        <p:spPr>
          <a:xfrm>
            <a:off x="754063" y="4760913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二阶微分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03432" name="Rectangle 11"/>
          <p:cNvSpPr/>
          <p:nvPr/>
        </p:nvSpPr>
        <p:spPr>
          <a:xfrm>
            <a:off x="0" y="31432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3433" name="Object 10"/>
          <p:cNvGraphicFramePr>
            <a:graphicFrameLocks noChangeAspect="1"/>
          </p:cNvGraphicFramePr>
          <p:nvPr/>
        </p:nvGraphicFramePr>
        <p:xfrm>
          <a:off x="2655888" y="4972050"/>
          <a:ext cx="42465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0" name="" r:id="rId3" imgW="2070100" imgH="419100" progId="Equation.3">
                  <p:embed/>
                </p:oleObj>
              </mc:Choice>
              <mc:Fallback>
                <p:oleObj name="" r:id="rId3" imgW="2070100" imgH="4191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5888" y="4972050"/>
                        <a:ext cx="4246562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990" y="1257935"/>
            <a:ext cx="6661785" cy="5336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452" name="Text Box 4"/>
          <p:cNvSpPr txBox="1"/>
          <p:nvPr/>
        </p:nvSpPr>
        <p:spPr>
          <a:xfrm>
            <a:off x="739775" y="782638"/>
            <a:ext cx="73437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一个简单例子说明图像不同部分对微分操作的响应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/>
          <p:cNvSpPr txBox="1"/>
          <p:nvPr/>
        </p:nvSpPr>
        <p:spPr>
          <a:xfrm>
            <a:off x="579438" y="987425"/>
            <a:ext cx="81137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7524" name="Rectangle 4"/>
          <p:cNvSpPr>
            <a:spLocks noGrp="1"/>
          </p:cNvSpPr>
          <p:nvPr>
            <p:ph type="title"/>
          </p:nvPr>
        </p:nvSpPr>
        <p:spPr>
          <a:xfrm>
            <a:off x="457200" y="776288"/>
            <a:ext cx="8229600" cy="1298575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009900"/>
                </a:solidFill>
              </a:rPr>
              <a:t>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基于二阶微分的图像增强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——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拉普拉斯算子</a:t>
            </a:r>
            <a:b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sz="2400" dirty="0">
                <a:solidFill>
                  <a:srgbClr val="009900"/>
                </a:solidFill>
              </a:rPr>
              <a:t>        </a:t>
            </a:r>
            <a:r>
              <a:rPr lang="zh-CN" altLang="en-US" sz="2400" dirty="0">
                <a:solidFill>
                  <a:schemeClr val="tx2"/>
                </a:solidFill>
              </a:rPr>
              <a:t>对连续函数情形，最简单且各向同性的二阶微分算子是拉普拉斯（</a:t>
            </a:r>
            <a:r>
              <a:rPr lang="en-US" altLang="zh-CN" sz="2400" dirty="0">
                <a:solidFill>
                  <a:schemeClr val="tx2"/>
                </a:solidFill>
              </a:rPr>
              <a:t>Laplacian</a:t>
            </a:r>
            <a:r>
              <a:rPr lang="zh-CN" altLang="en-US" sz="2400" dirty="0">
                <a:solidFill>
                  <a:schemeClr val="tx2"/>
                </a:solidFill>
              </a:rPr>
              <a:t>）算子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107525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7526" name="Object 8"/>
          <p:cNvGraphicFramePr>
            <a:graphicFrameLocks noChangeAspect="1"/>
          </p:cNvGraphicFramePr>
          <p:nvPr/>
        </p:nvGraphicFramePr>
        <p:xfrm>
          <a:off x="2960688" y="2190750"/>
          <a:ext cx="28511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" r:id="rId1" imgW="1155065" imgH="444500" progId="Equation.3">
                  <p:embed/>
                </p:oleObj>
              </mc:Choice>
              <mc:Fallback>
                <p:oleObj name="" r:id="rId1" imgW="1155065" imgH="4445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0688" y="2190750"/>
                        <a:ext cx="2851150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7" name="Text Box 10"/>
          <p:cNvSpPr txBox="1"/>
          <p:nvPr/>
        </p:nvSpPr>
        <p:spPr>
          <a:xfrm>
            <a:off x="522288" y="3224213"/>
            <a:ext cx="2409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离散情况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8" name="Rectangle 12"/>
          <p:cNvSpPr/>
          <p:nvPr/>
        </p:nvSpPr>
        <p:spPr>
          <a:xfrm>
            <a:off x="0" y="32527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7529" name="Object 11"/>
          <p:cNvGraphicFramePr>
            <a:graphicFrameLocks noChangeAspect="1"/>
          </p:cNvGraphicFramePr>
          <p:nvPr/>
        </p:nvGraphicFramePr>
        <p:xfrm>
          <a:off x="639763" y="5575300"/>
          <a:ext cx="78263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" r:id="rId3" imgW="4076700" imgH="228600" progId="Equation.3">
                  <p:embed/>
                </p:oleObj>
              </mc:Choice>
              <mc:Fallback>
                <p:oleObj name="" r:id="rId3" imgW="40767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9763" y="5575300"/>
                        <a:ext cx="7826375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0" name="Rectangle 14"/>
          <p:cNvSpPr/>
          <p:nvPr/>
        </p:nvSpPr>
        <p:spPr>
          <a:xfrm>
            <a:off x="0" y="31337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7531" name="Object 13"/>
          <p:cNvGraphicFramePr>
            <a:graphicFrameLocks noChangeAspect="1"/>
          </p:cNvGraphicFramePr>
          <p:nvPr/>
        </p:nvGraphicFramePr>
        <p:xfrm>
          <a:off x="2033588" y="3556000"/>
          <a:ext cx="545782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" name="" r:id="rId5" imgW="2489200" imgH="419100" progId="Equation.3">
                  <p:embed/>
                </p:oleObj>
              </mc:Choice>
              <mc:Fallback>
                <p:oleObj name="" r:id="rId5" imgW="2489200" imgH="419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33588" y="3556000"/>
                        <a:ext cx="5457825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2" name="Rectangle 16"/>
          <p:cNvSpPr/>
          <p:nvPr/>
        </p:nvSpPr>
        <p:spPr>
          <a:xfrm>
            <a:off x="0" y="31146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7533" name="Object 15"/>
          <p:cNvGraphicFramePr>
            <a:graphicFrameLocks noChangeAspect="1"/>
          </p:cNvGraphicFramePr>
          <p:nvPr/>
        </p:nvGraphicFramePr>
        <p:xfrm>
          <a:off x="2017713" y="4652963"/>
          <a:ext cx="5373687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4" name="" r:id="rId7" imgW="2489200" imgH="444500" progId="Equation.3">
                  <p:embed/>
                </p:oleObj>
              </mc:Choice>
              <mc:Fallback>
                <p:oleObj name="" r:id="rId7" imgW="2489200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17713" y="4652963"/>
                        <a:ext cx="5373687" cy="868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4"/>
          <p:cNvSpPr txBox="1"/>
          <p:nvPr/>
        </p:nvSpPr>
        <p:spPr>
          <a:xfrm>
            <a:off x="725488" y="711200"/>
            <a:ext cx="782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  <a:latin typeface="Times New Roman" panose="02020603050405020304" pitchFamily="18" charset="0"/>
              </a:rPr>
              <a:t>用滤波器的形式来表示：</a:t>
            </a:r>
            <a:endParaRPr lang="zh-CN" altLang="en-US" sz="24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854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238" y="1168400"/>
            <a:ext cx="5184775" cy="515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54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050" y="2146300"/>
            <a:ext cx="1528763" cy="3471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Text Box 4"/>
          <p:cNvSpPr txBox="1"/>
          <p:nvPr/>
        </p:nvSpPr>
        <p:spPr>
          <a:xfrm>
            <a:off x="593725" y="4021138"/>
            <a:ext cx="7823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拉普拉斯图像增强的基本方法为：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2" name="Rectangle 6"/>
          <p:cNvSpPr/>
          <p:nvPr/>
        </p:nvSpPr>
        <p:spPr>
          <a:xfrm>
            <a:off x="0" y="30527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958850" y="4779963"/>
          <a:ext cx="6967538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" name="" r:id="rId1" imgW="3098800" imgH="469900" progId="Equation.3">
                  <p:embed/>
                </p:oleObj>
              </mc:Choice>
              <mc:Fallback>
                <p:oleObj name="" r:id="rId1" imgW="3098800" imgH="469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8850" y="4779963"/>
                        <a:ext cx="6967538" cy="1055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4" name="Text Box 7"/>
          <p:cNvSpPr txBox="1"/>
          <p:nvPr/>
        </p:nvSpPr>
        <p:spPr>
          <a:xfrm>
            <a:off x="566738" y="709930"/>
            <a:ext cx="7981950" cy="31076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>
              <a:spcBef>
                <a:spcPct val="500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从滤波器的表示可以看出这种滤波对图像的突变有比较强的响应（即在突变的位置有较大的输出值），对灰度变化缓慢的区域滤波响应的值会变得很小（变暗）。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ct val="500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2400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拉普拉斯算子提取图像中变化剧烈的细节信息，产生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的图像将是在暗背景上的一些灰色边线和一些突变点。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0">
              <a:spcBef>
                <a:spcPct val="50000"/>
              </a:spcBef>
              <a:buClrTx/>
              <a:buSzTx/>
              <a:buFont typeface="Wingdings" panose="05000000000000000000" charset="0"/>
              <a:buChar char="p"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将原始图像叠加到拉普拉斯变换后的图像，既可以保护拉普拉斯锐化处理的效果，同时又能复原背景信息。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Text Box 4"/>
          <p:cNvSpPr txBox="1"/>
          <p:nvPr/>
        </p:nvSpPr>
        <p:spPr>
          <a:xfrm>
            <a:off x="280670" y="640715"/>
            <a:ext cx="447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bg2"/>
                </a:solidFill>
                <a:latin typeface="Times New Roman" panose="02020603050405020304" pitchFamily="18" charset="0"/>
              </a:rPr>
              <a:t>拉普拉斯的</a:t>
            </a:r>
            <a:r>
              <a:rPr lang="zh-CN" altLang="en-US" sz="28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图象增强效果</a:t>
            </a: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0596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50380" t="67011"/>
          <a:stretch>
            <a:fillRect/>
          </a:stretch>
        </p:blipFill>
        <p:spPr>
          <a:xfrm>
            <a:off x="6063869" y="1739938"/>
            <a:ext cx="2850880" cy="327969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2"/>
          <a:srcRect l="25126" r="25072" b="66648"/>
          <a:stretch>
            <a:fillRect/>
          </a:stretch>
        </p:blipFill>
        <p:spPr>
          <a:xfrm>
            <a:off x="386683" y="1739938"/>
            <a:ext cx="2841703" cy="3293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2"/>
          <a:srcRect t="33548" r="50264" b="33323"/>
          <a:stretch>
            <a:fillRect/>
          </a:stretch>
        </p:blipFill>
        <p:spPr>
          <a:xfrm>
            <a:off x="3222166" y="1739938"/>
            <a:ext cx="2857100" cy="329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1141768" y="5019637"/>
            <a:ext cx="97282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0" dirty="0" smtClean="0">
                <a:solidFill>
                  <a:schemeClr val="bg2"/>
                </a:solidFill>
              </a:rPr>
              <a:t>(a)</a:t>
            </a:r>
            <a:r>
              <a:rPr lang="zh-CN" altLang="en-US" sz="2000" b="0" dirty="0" smtClean="0">
                <a:solidFill>
                  <a:schemeClr val="bg2"/>
                </a:solidFill>
              </a:rPr>
              <a:t>原图</a:t>
            </a:r>
            <a:endParaRPr lang="zh-CN" altLang="en-US" sz="2000" b="0" dirty="0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301902" y="5033088"/>
            <a:ext cx="149479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0" dirty="0" smtClean="0">
                <a:solidFill>
                  <a:schemeClr val="bg2"/>
                </a:solidFill>
              </a:rPr>
              <a:t>(b)</a:t>
            </a:r>
            <a:r>
              <a:rPr lang="zh-CN" altLang="en-US" sz="2000" b="0" dirty="0" smtClean="0">
                <a:solidFill>
                  <a:schemeClr val="bg2"/>
                </a:solidFill>
              </a:rPr>
              <a:t>细节提取</a:t>
            </a:r>
            <a:endParaRPr lang="zh-CN" altLang="en-US" sz="2000" b="0" dirty="0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7013833" y="5019637"/>
            <a:ext cx="148082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0" dirty="0" smtClean="0">
                <a:solidFill>
                  <a:schemeClr val="bg2"/>
                </a:solidFill>
              </a:rPr>
              <a:t>(c)</a:t>
            </a:r>
            <a:r>
              <a:rPr lang="zh-CN" altLang="en-US" sz="2000" b="0" dirty="0" smtClean="0">
                <a:solidFill>
                  <a:schemeClr val="bg2"/>
                </a:solidFill>
              </a:rPr>
              <a:t>增强效果</a:t>
            </a:r>
            <a:endParaRPr lang="zh-CN" altLang="en-US" sz="2000" b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Text Box 5"/>
          <p:cNvSpPr txBox="1"/>
          <p:nvPr/>
        </p:nvSpPr>
        <p:spPr>
          <a:xfrm>
            <a:off x="214604" y="525145"/>
            <a:ext cx="8817429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非锐化掩模的图像增强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 smtClean="0">
                <a:solidFill>
                  <a:schemeClr val="bg2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000" dirty="0" smtClean="0">
                <a:latin typeface="Times New Roman" panose="02020603050405020304" pitchFamily="18" charset="0"/>
              </a:rPr>
              <a:t>基本原理：从原始图像中减去一个模糊版本，得到图像的细节（也就是高频成分），然后将这些细节加回原图，最终增强图像的边缘和细节。</a:t>
            </a:r>
            <a:r>
              <a:rPr lang="en-US" altLang="zh-CN" sz="2400" dirty="0" smtClean="0"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644" name="Rectangle 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12652" name="Rectangle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828675" y="1964055"/>
          <a:ext cx="7415530" cy="410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" r:id="rId1" imgW="7200900" imgH="3990975" progId="Paint.Picture">
                  <p:embed/>
                </p:oleObj>
              </mc:Choice>
              <mc:Fallback>
                <p:oleObj name="" r:id="rId1" imgW="7200900" imgH="39909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8675" y="1964055"/>
                        <a:ext cx="7415530" cy="410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Text Box 5"/>
          <p:cNvSpPr txBox="1"/>
          <p:nvPr/>
        </p:nvSpPr>
        <p:spPr>
          <a:xfrm>
            <a:off x="465138" y="871538"/>
            <a:ext cx="81565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非锐化掩模的工作原理图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8" name="Rectangle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11366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25" y="1550988"/>
            <a:ext cx="3179763" cy="4646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7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225" y="1558925"/>
            <a:ext cx="1358900" cy="3467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5588"/>
            <a:ext cx="8229600" cy="1143000"/>
          </a:xfrm>
        </p:spPr>
        <p:txBody>
          <a:bodyPr/>
          <a:lstStyle/>
          <a:p>
            <a:r>
              <a:rPr lang="zh-CN" altLang="en-US" sz="3200" dirty="0" smtClean="0"/>
              <a:t>非锐化掩码的图像增强效果</a:t>
            </a:r>
            <a:endParaRPr lang="zh-CN" altLang="en-US" sz="3200" dirty="0" smtClean="0"/>
          </a:p>
        </p:txBody>
      </p:sp>
      <p:grpSp>
        <p:nvGrpSpPr>
          <p:cNvPr id="39940" name="Group 21"/>
          <p:cNvGrpSpPr/>
          <p:nvPr/>
        </p:nvGrpSpPr>
        <p:grpSpPr bwMode="auto">
          <a:xfrm>
            <a:off x="533400" y="1627187"/>
            <a:ext cx="2157413" cy="2182813"/>
            <a:chOff x="336" y="912"/>
            <a:chExt cx="1505" cy="1521"/>
          </a:xfrm>
        </p:grpSpPr>
        <p:pic>
          <p:nvPicPr>
            <p:cNvPr id="39964" name="Picture 4" descr="lena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336" y="912"/>
              <a:ext cx="1488" cy="1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65" name="Text Box 11"/>
            <p:cNvSpPr txBox="1">
              <a:spLocks noChangeArrowheads="1"/>
            </p:cNvSpPr>
            <p:nvPr/>
          </p:nvSpPr>
          <p:spPr bwMode="auto">
            <a:xfrm>
              <a:off x="1200" y="2199"/>
              <a:ext cx="641" cy="2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original</a:t>
              </a:r>
              <a:endParaRPr lang="en-US" sz="16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9941" name="Group 22"/>
          <p:cNvGrpSpPr/>
          <p:nvPr/>
        </p:nvGrpSpPr>
        <p:grpSpPr bwMode="auto">
          <a:xfrm>
            <a:off x="3581400" y="1627187"/>
            <a:ext cx="2166938" cy="2162175"/>
            <a:chOff x="2256" y="912"/>
            <a:chExt cx="1511" cy="1507"/>
          </a:xfrm>
        </p:grpSpPr>
        <p:pic>
          <p:nvPicPr>
            <p:cNvPr id="39962" name="Picture 5" descr="lenaG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256" y="912"/>
              <a:ext cx="1488" cy="1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63" name="Text Box 12"/>
            <p:cNvSpPr txBox="1">
              <a:spLocks noChangeArrowheads="1"/>
            </p:cNvSpPr>
            <p:nvPr/>
          </p:nvSpPr>
          <p:spPr bwMode="auto">
            <a:xfrm>
              <a:off x="2591" y="2185"/>
              <a:ext cx="1176" cy="2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smoothed (5x5)</a:t>
              </a:r>
              <a:endParaRPr lang="en-US" sz="1600" b="1">
                <a:solidFill>
                  <a:schemeClr val="bg1"/>
                </a:solidFill>
              </a:endParaRPr>
            </a:p>
          </p:txBody>
        </p:sp>
      </p:grpSp>
      <p:sp>
        <p:nvSpPr>
          <p:cNvPr id="39942" name="Text Box 17"/>
          <p:cNvSpPr txBox="1">
            <a:spLocks noChangeArrowheads="1"/>
          </p:cNvSpPr>
          <p:nvPr/>
        </p:nvSpPr>
        <p:spPr bwMode="auto">
          <a:xfrm>
            <a:off x="2971800" y="2505075"/>
            <a:ext cx="3540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/>
              <a:t>–</a:t>
            </a:r>
            <a:endParaRPr lang="en-US"/>
          </a:p>
        </p:txBody>
      </p:sp>
      <p:grpSp>
        <p:nvGrpSpPr>
          <p:cNvPr id="4" name="Group 27"/>
          <p:cNvGrpSpPr/>
          <p:nvPr/>
        </p:nvGrpSpPr>
        <p:grpSpPr bwMode="auto">
          <a:xfrm>
            <a:off x="5962650" y="1627187"/>
            <a:ext cx="2735263" cy="2149475"/>
            <a:chOff x="3756" y="912"/>
            <a:chExt cx="1723" cy="1354"/>
          </a:xfrm>
        </p:grpSpPr>
        <p:grpSp>
          <p:nvGrpSpPr>
            <p:cNvPr id="39958" name="Group 23"/>
            <p:cNvGrpSpPr/>
            <p:nvPr/>
          </p:nvGrpSpPr>
          <p:grpSpPr bwMode="auto">
            <a:xfrm>
              <a:off x="4128" y="912"/>
              <a:ext cx="1351" cy="1354"/>
              <a:chOff x="4128" y="912"/>
              <a:chExt cx="1496" cy="1499"/>
            </a:xfrm>
          </p:grpSpPr>
          <p:pic>
            <p:nvPicPr>
              <p:cNvPr id="39960" name="Picture 6" descr="lena_dif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28" y="912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9961" name="Text Box 15"/>
              <p:cNvSpPr txBox="1">
                <a:spLocks noChangeArrowheads="1"/>
              </p:cNvSpPr>
              <p:nvPr/>
            </p:nvSpPr>
            <p:spPr bwMode="auto">
              <a:xfrm>
                <a:off x="5124" y="2177"/>
                <a:ext cx="500" cy="2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detail</a:t>
                </a:r>
                <a:endParaRPr lang="en-US" sz="16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59" name="Text Box 18"/>
            <p:cNvSpPr txBox="1">
              <a:spLocks noChangeArrowheads="1"/>
            </p:cNvSpPr>
            <p:nvPr/>
          </p:nvSpPr>
          <p:spPr bwMode="auto">
            <a:xfrm>
              <a:off x="3756" y="1488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/>
                <a:t>=</a:t>
              </a:r>
              <a:endParaRPr lang="en-US"/>
            </a:p>
          </p:txBody>
        </p:sp>
      </p:grpSp>
      <p:grpSp>
        <p:nvGrpSpPr>
          <p:cNvPr id="6" name="Group 29"/>
          <p:cNvGrpSpPr/>
          <p:nvPr/>
        </p:nvGrpSpPr>
        <p:grpSpPr bwMode="auto">
          <a:xfrm>
            <a:off x="5943600" y="4419600"/>
            <a:ext cx="2743200" cy="2149475"/>
            <a:chOff x="3744" y="2784"/>
            <a:chExt cx="1728" cy="1354"/>
          </a:xfrm>
        </p:grpSpPr>
        <p:grpSp>
          <p:nvGrpSpPr>
            <p:cNvPr id="39954" name="Group 26"/>
            <p:cNvGrpSpPr/>
            <p:nvPr/>
          </p:nvGrpSpPr>
          <p:grpSpPr bwMode="auto">
            <a:xfrm>
              <a:off x="4128" y="2784"/>
              <a:ext cx="1344" cy="1354"/>
              <a:chOff x="4128" y="2784"/>
              <a:chExt cx="1488" cy="1499"/>
            </a:xfrm>
          </p:grpSpPr>
          <p:pic>
            <p:nvPicPr>
              <p:cNvPr id="39956" name="Picture 10" descr="lena_sharpened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128" y="2784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9957" name="Text Box 16"/>
              <p:cNvSpPr txBox="1">
                <a:spLocks noChangeArrowheads="1"/>
              </p:cNvSpPr>
              <p:nvPr/>
            </p:nvSpPr>
            <p:spPr bwMode="auto">
              <a:xfrm>
                <a:off x="4752" y="4049"/>
                <a:ext cx="844" cy="2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sharpened</a:t>
                </a:r>
                <a:endParaRPr lang="en-US" sz="16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55" name="Text Box 19"/>
            <p:cNvSpPr txBox="1">
              <a:spLocks noChangeArrowheads="1"/>
            </p:cNvSpPr>
            <p:nvPr/>
          </p:nvSpPr>
          <p:spPr bwMode="auto">
            <a:xfrm>
              <a:off x="3744" y="3360"/>
              <a:ext cx="228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/>
                <a:t>=</a:t>
              </a:r>
              <a:endParaRPr lang="en-US"/>
            </a:p>
          </p:txBody>
        </p:sp>
      </p:grpSp>
      <p:grpSp>
        <p:nvGrpSpPr>
          <p:cNvPr id="8" name="Group 28"/>
          <p:cNvGrpSpPr/>
          <p:nvPr/>
        </p:nvGrpSpPr>
        <p:grpSpPr bwMode="auto">
          <a:xfrm>
            <a:off x="533400" y="4419600"/>
            <a:ext cx="5192713" cy="2149475"/>
            <a:chOff x="336" y="2784"/>
            <a:chExt cx="3271" cy="1354"/>
          </a:xfrm>
        </p:grpSpPr>
        <p:grpSp>
          <p:nvGrpSpPr>
            <p:cNvPr id="39947" name="Group 24"/>
            <p:cNvGrpSpPr/>
            <p:nvPr/>
          </p:nvGrpSpPr>
          <p:grpSpPr bwMode="auto">
            <a:xfrm>
              <a:off x="336" y="2784"/>
              <a:ext cx="1359" cy="1354"/>
              <a:chOff x="336" y="2784"/>
              <a:chExt cx="1505" cy="1499"/>
            </a:xfrm>
          </p:grpSpPr>
          <p:pic>
            <p:nvPicPr>
              <p:cNvPr id="39952" name="Picture 8" descr="lena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336" y="2784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9953" name="Text Box 13"/>
              <p:cNvSpPr txBox="1">
                <a:spLocks noChangeArrowheads="1"/>
              </p:cNvSpPr>
              <p:nvPr/>
            </p:nvSpPr>
            <p:spPr bwMode="auto">
              <a:xfrm>
                <a:off x="1200" y="4049"/>
                <a:ext cx="641" cy="2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original</a:t>
                </a:r>
                <a:endParaRPr lang="en-US" sz="16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948" name="Group 25"/>
            <p:cNvGrpSpPr/>
            <p:nvPr/>
          </p:nvGrpSpPr>
          <p:grpSpPr bwMode="auto">
            <a:xfrm>
              <a:off x="2256" y="2784"/>
              <a:ext cx="1351" cy="1354"/>
              <a:chOff x="2256" y="2784"/>
              <a:chExt cx="1496" cy="1499"/>
            </a:xfrm>
          </p:grpSpPr>
          <p:pic>
            <p:nvPicPr>
              <p:cNvPr id="39950" name="Picture 9" descr="lena_diff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256" y="2784"/>
                <a:ext cx="1488" cy="14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9951" name="Text Box 14"/>
              <p:cNvSpPr txBox="1">
                <a:spLocks noChangeArrowheads="1"/>
              </p:cNvSpPr>
              <p:nvPr/>
            </p:nvSpPr>
            <p:spPr bwMode="auto">
              <a:xfrm>
                <a:off x="3252" y="4049"/>
                <a:ext cx="500" cy="2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sz="1600" b="1">
                    <a:solidFill>
                      <a:schemeClr val="bg1"/>
                    </a:solidFill>
                  </a:rPr>
                  <a:t>detail</a:t>
                </a:r>
                <a:endParaRPr lang="en-US" sz="16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49" name="Text Box 20"/>
            <p:cNvSpPr txBox="1">
              <a:spLocks noChangeArrowheads="1"/>
            </p:cNvSpPr>
            <p:nvPr/>
          </p:nvSpPr>
          <p:spPr bwMode="auto">
            <a:xfrm>
              <a:off x="1864" y="3360"/>
              <a:ext cx="273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/>
                <a:t>+ </a:t>
              </a:r>
              <a:endParaRPr lang="el-GR"/>
            </a:p>
          </p:txBody>
        </p:sp>
      </p:grpSp>
      <p:graphicFrame>
        <p:nvGraphicFramePr>
          <p:cNvPr id="2" name="对象 1"/>
          <p:cNvGraphicFramePr/>
          <p:nvPr/>
        </p:nvGraphicFramePr>
        <p:xfrm>
          <a:off x="3257550" y="5431155"/>
          <a:ext cx="252095" cy="29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" r:id="rId5" imgW="200025" imgH="266700" progId="Paint.Picture">
                  <p:embed/>
                </p:oleObj>
              </mc:Choice>
              <mc:Fallback>
                <p:oleObj name="" r:id="rId5" imgW="200025" imgH="2667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57550" y="5431155"/>
                        <a:ext cx="252095" cy="292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总结：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4832985" cy="2116455"/>
          </a:xfrm>
        </p:spPr>
        <p:txBody>
          <a:bodyPr wrap="square"/>
          <a:lstStyle/>
          <a:p>
            <a:r>
              <a:rPr lang="zh-CN" altLang="en-US"/>
              <a:t>图像</a:t>
            </a:r>
            <a:r>
              <a:rPr lang="zh-CN" altLang="en-US"/>
              <a:t>增强</a:t>
            </a:r>
            <a:endParaRPr lang="zh-CN" altLang="en-US"/>
          </a:p>
          <a:p>
            <a:pPr lvl="1"/>
            <a:r>
              <a:rPr lang="zh-CN" altLang="en-US"/>
              <a:t>拉普拉斯算子</a:t>
            </a:r>
            <a:endParaRPr lang="zh-CN" altLang="en-US"/>
          </a:p>
          <a:p>
            <a:pPr lvl="1"/>
            <a:r>
              <a:rPr lang="zh-CN" altLang="en-US"/>
              <a:t>非锐化掩码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79425" y="336809"/>
            <a:ext cx="8229600" cy="847725"/>
          </a:xfrm>
        </p:spPr>
        <p:txBody>
          <a:bodyPr vert="horz" wrap="square" lIns="91440" tIns="45720" rIns="91440" bIns="45720" anchor="ctr" anchorCtr="0"/>
          <a:lstStyle/>
          <a:p>
            <a:pPr algn="l" eaLnBrk="1" hangingPunct="1"/>
            <a:r>
              <a:rPr lang="zh-CN" altLang="en-US" sz="2800" b="1" dirty="0">
                <a:solidFill>
                  <a:srgbClr val="7030A0"/>
                </a:solidFill>
              </a:rPr>
              <a:t>实验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457200" y="1044576"/>
            <a:ext cx="8274050" cy="509905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 smtClean="0">
                <a:sym typeface="+mn-ea"/>
              </a:rPr>
              <a:t>1</a:t>
            </a:r>
            <a:r>
              <a:rPr lang="zh-CN" altLang="en-US" sz="2400" dirty="0" smtClean="0">
                <a:sym typeface="+mn-ea"/>
              </a:rPr>
              <a:t>）用中值滤波去除图像椒盐噪声</a:t>
            </a:r>
            <a:endParaRPr lang="en-US" altLang="zh-CN" sz="2400" dirty="0" smtClean="0"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 smtClean="0">
                <a:sym typeface="+mn-ea"/>
              </a:rPr>
              <a:t>2</a:t>
            </a:r>
            <a:r>
              <a:rPr lang="zh-CN" altLang="en-US" sz="2400" dirty="0" smtClean="0">
                <a:sym typeface="+mn-ea"/>
              </a:rPr>
              <a:t>）用拉普拉斯和</a:t>
            </a:r>
            <a:r>
              <a:rPr lang="zh-CN" altLang="en-US" sz="2400" dirty="0"/>
              <a:t>非锐化掩模</a:t>
            </a:r>
            <a:r>
              <a:rPr lang="zh-CN" altLang="en-US" sz="2400" dirty="0" smtClean="0">
                <a:sym typeface="+mn-ea"/>
              </a:rPr>
              <a:t>实现图像增强，其中图像平滑采用高斯滤波</a:t>
            </a:r>
            <a:endParaRPr lang="en-US" altLang="zh-CN" sz="2400" dirty="0" smtClean="0"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sz="2400" dirty="0" smtClean="0">
                <a:sym typeface="+mn-ea"/>
              </a:rPr>
              <a:t>3</a:t>
            </a:r>
            <a:r>
              <a:rPr lang="zh-CN" altLang="en-US" sz="2400" dirty="0" smtClean="0">
                <a:sym typeface="+mn-ea"/>
              </a:rPr>
              <a:t>）采用</a:t>
            </a:r>
            <a:r>
              <a:rPr lang="en-US" altLang="zh-CN" sz="2400" dirty="0" smtClean="0">
                <a:sym typeface="+mn-ea"/>
              </a:rPr>
              <a:t>Sobel</a:t>
            </a:r>
            <a:r>
              <a:rPr lang="zh-CN" altLang="en-US" sz="2400" dirty="0" smtClean="0">
                <a:sym typeface="+mn-ea"/>
              </a:rPr>
              <a:t>算子实现图像边缘提取</a:t>
            </a:r>
            <a:endParaRPr lang="zh-CN" altLang="en-US" sz="2400" dirty="0" smtClean="0"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5680"/>
          </a:xfrm>
        </p:spPr>
        <p:txBody>
          <a:bodyPr/>
          <a:lstStyle/>
          <a:p>
            <a:r>
              <a:rPr lang="zh-CN" altLang="en-US"/>
              <a:t>作业</a:t>
            </a:r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583565" y="1392555"/>
          <a:ext cx="5757545" cy="190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" name="" r:id="rId1" imgW="5753100" imgH="1905000" progId="Paint.Picture">
                  <p:embed/>
                </p:oleObj>
              </mc:Choice>
              <mc:Fallback>
                <p:oleObj name="" r:id="rId1" imgW="5753100" imgH="19050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3565" y="1392555"/>
                        <a:ext cx="5757545" cy="1906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583565" y="3429000"/>
          <a:ext cx="4584700" cy="317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" r:id="rId3" imgW="4581525" imgH="3171825" progId="Paint.Picture">
                  <p:embed/>
                </p:oleObj>
              </mc:Choice>
              <mc:Fallback>
                <p:oleObj name="" r:id="rId3" imgW="4581525" imgH="317182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3565" y="3429000"/>
                        <a:ext cx="4584700" cy="3174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5680"/>
          </a:xfrm>
        </p:spPr>
        <p:txBody>
          <a:bodyPr/>
          <a:lstStyle/>
          <a:p>
            <a:r>
              <a:rPr lang="zh-CN" altLang="en-US"/>
              <a:t>作业</a:t>
            </a:r>
            <a:endParaRPr lang="zh-CN" altLang="en-US"/>
          </a:p>
        </p:txBody>
      </p:sp>
      <p:graphicFrame>
        <p:nvGraphicFramePr>
          <p:cNvPr id="3" name="对象 2"/>
          <p:cNvGraphicFramePr/>
          <p:nvPr/>
        </p:nvGraphicFramePr>
        <p:xfrm>
          <a:off x="665480" y="1343025"/>
          <a:ext cx="4842510" cy="361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3" name="" r:id="rId1" imgW="4838700" imgH="3609975" progId="Paint.Picture">
                  <p:embed/>
                </p:oleObj>
              </mc:Choice>
              <mc:Fallback>
                <p:oleObj name="" r:id="rId1" imgW="4838700" imgH="360997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5480" y="1343025"/>
                        <a:ext cx="4842510" cy="361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722630" y="5227955"/>
          <a:ext cx="4937760" cy="734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4" name="" r:id="rId3" imgW="4933950" imgH="733425" progId="Paint.Picture">
                  <p:embed/>
                </p:oleObj>
              </mc:Choice>
              <mc:Fallback>
                <p:oleObj name="" r:id="rId3" imgW="4933950" imgH="733425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2630" y="5227955"/>
                        <a:ext cx="4937760" cy="734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5680"/>
          </a:xfrm>
        </p:spPr>
        <p:txBody>
          <a:bodyPr/>
          <a:lstStyle/>
          <a:p>
            <a:r>
              <a:rPr lang="zh-CN" altLang="en-US"/>
              <a:t>作业</a:t>
            </a:r>
            <a:endParaRPr lang="zh-CN" altLang="en-US"/>
          </a:p>
        </p:txBody>
      </p:sp>
      <p:graphicFrame>
        <p:nvGraphicFramePr>
          <p:cNvPr id="3" name="对象 2"/>
          <p:cNvGraphicFramePr/>
          <p:nvPr/>
        </p:nvGraphicFramePr>
        <p:xfrm>
          <a:off x="1042035" y="1530985"/>
          <a:ext cx="3460115" cy="2135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" r:id="rId1" imgW="3457575" imgH="2133600" progId="Paint.Picture">
                  <p:embed/>
                </p:oleObj>
              </mc:Choice>
              <mc:Fallback>
                <p:oleObj name="" r:id="rId1" imgW="3457575" imgH="21336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035" y="1530985"/>
                        <a:ext cx="3460115" cy="2135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303.39322834645674,&quot;left&quot;:30.130708661417323,&quot;top&quot;:134.4,&quot;width&quot;:399.5329921259842}"/>
</p:tagLst>
</file>

<file path=ppt/tags/tag4.xml><?xml version="1.0" encoding="utf-8"?>
<p:tagLst xmlns:p="http://schemas.openxmlformats.org/presentationml/2006/main">
  <p:tag name="KSO_WM_DIAGRAM_VIRTUALLY_FRAME" val="{&quot;height&quot;:303.39322834645674,&quot;left&quot;:30.130708661417323,&quot;top&quot;:134.4,&quot;width&quot;:399.5329921259842}"/>
</p:tagLst>
</file>

<file path=ppt/tags/tag5.xml><?xml version="1.0" encoding="utf-8"?>
<p:tagLst xmlns:p="http://schemas.openxmlformats.org/presentationml/2006/main">
  <p:tag name="KSO_WM_DIAGRAM_VIRTUALLY_FRAME" val="{&quot;height&quot;:303.39322834645674,&quot;left&quot;:30.130708661417323,&quot;top&quot;:134.4,&quot;width&quot;:399.5329921259842}"/>
</p:tagLst>
</file>

<file path=ppt/tags/tag6.xml><?xml version="1.0" encoding="utf-8"?>
<p:tagLst xmlns:p="http://schemas.openxmlformats.org/presentationml/2006/main">
  <p:tag name="KSO_WM_DIAGRAM_VIRTUALLY_FRAME" val="{&quot;height&quot;:303.39322834645674,&quot;left&quot;:30.130708661417323,&quot;top&quot;:134.4,&quot;width&quot;:399.5329921259842}"/>
</p:tagLst>
</file>

<file path=ppt/tags/tag7.xml><?xml version="1.0" encoding="utf-8"?>
<p:tagLst xmlns:p="http://schemas.openxmlformats.org/presentationml/2006/main">
  <p:tag name="KSO_WM_DIAGRAM_VIRTUALLY_FRAME" val="{&quot;height&quot;:290.80787401574804,&quot;left&quot;:30.447480314960632,&quot;top&quot;:137.00299212598424,&quot;width&quot;:671.5012598425196}"/>
</p:tagLst>
</file>

<file path=ppt/tags/tag8.xml><?xml version="1.0" encoding="utf-8"?>
<p:tagLst xmlns:p="http://schemas.openxmlformats.org/presentationml/2006/main">
  <p:tag name="KSO_WM_DIAGRAM_VIRTUALLY_FRAME" val="{&quot;height&quot;:290.80787401574804,&quot;left&quot;:30.447480314960632,&quot;top&quot;:137.00299212598424,&quot;width&quot;:671.5012598425196}"/>
</p:tagLst>
</file>

<file path=ppt/tags/tag9.xml><?xml version="1.0" encoding="utf-8"?>
<p:tagLst xmlns:p="http://schemas.openxmlformats.org/presentationml/2006/main">
  <p:tag name="KSO_WM_DIAGRAM_VIRTUALLY_FRAME" val="{&quot;height&quot;:290.80787401574804,&quot;left&quot;:30.447480314960632,&quot;top&quot;:137.00299212598424,&quot;width&quot;:671.5012598425196}"/>
</p:tagLst>
</file>

<file path=ppt/tags/tag10.xml><?xml version="1.0" encoding="utf-8"?>
<p:tagLst xmlns:p="http://schemas.openxmlformats.org/presentationml/2006/main">
  <p:tag name="KSO_WM_DIAGRAM_VIRTUALLY_FRAME" val="{&quot;height&quot;:290.80787401574804,&quot;left&quot;:30.447480314960632,&quot;top&quot;:137.00299212598424,&quot;width&quot;:671.5012598425196}"/>
</p:tagLst>
</file>

<file path=ppt/tags/tag11.xml><?xml version="1.0" encoding="utf-8"?>
<p:tagLst xmlns:p="http://schemas.openxmlformats.org/presentationml/2006/main">
  <p:tag name="KSO_WM_DIAGRAM_VIRTUALLY_FRAME" val="{&quot;height&quot;:290.80787401574804,&quot;left&quot;:30.447480314960632,&quot;top&quot;:137.00299212598424,&quot;width&quot;:671.5012598425196}"/>
</p:tagLst>
</file>

<file path=ppt/tags/tag12.xml><?xml version="1.0" encoding="utf-8"?>
<p:tagLst xmlns:p="http://schemas.openxmlformats.org/presentationml/2006/main">
  <p:tag name="KSO_WM_DIAGRAM_VIRTUALLY_FRAME" val="{&quot;height&quot;:290.80787401574804,&quot;left&quot;:30.447480314960632,&quot;top&quot;:137.00299212598424,&quot;width&quot;:671.5012598425196}"/>
</p:tagLst>
</file>

<file path=ppt/tags/tag13.xml><?xml version="1.0" encoding="utf-8"?>
<p:tagLst xmlns:p="http://schemas.openxmlformats.org/presentationml/2006/main">
  <p:tag name="COMMONDATA" val="eyJoZGlkIjoiYjQ4Y2I1Y2RlNWNmZmJlZjE1MTIzNGJlYTJiNGZhMTc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2630</Words>
  <Application>WPS 演示</Application>
  <PresentationFormat>全屏显示(4:3)</PresentationFormat>
  <Paragraphs>332</Paragraphs>
  <Slides>43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32</vt:i4>
      </vt:variant>
      <vt:variant>
        <vt:lpstr>幻灯片标题</vt:lpstr>
      </vt:variant>
      <vt:variant>
        <vt:i4>43</vt:i4>
      </vt:variant>
    </vt:vector>
  </HeadingPairs>
  <TitlesOfParts>
    <vt:vector size="90" baseType="lpstr">
      <vt:lpstr>Arial</vt:lpstr>
      <vt:lpstr>宋体</vt:lpstr>
      <vt:lpstr>Wingdings</vt:lpstr>
      <vt:lpstr>Times New Roman</vt:lpstr>
      <vt:lpstr>Arial Black</vt:lpstr>
      <vt:lpstr>Arial</vt:lpstr>
      <vt:lpstr>Arial MT</vt:lpstr>
      <vt:lpstr>Tahoma</vt:lpstr>
      <vt:lpstr>微软雅黑</vt:lpstr>
      <vt:lpstr>Arial Unicode MS</vt:lpstr>
      <vt:lpstr>Wingdings</vt:lpstr>
      <vt:lpstr>Calibri</vt:lpstr>
      <vt:lpstr>Times New Roman</vt:lpstr>
      <vt:lpstr>MS PGothic</vt:lpstr>
      <vt:lpstr>Pixel</vt:lpstr>
      <vt:lpstr>Paint.Picture</vt:lpstr>
      <vt:lpstr>Equation.3</vt:lpstr>
      <vt:lpstr>Equation.3</vt:lpstr>
      <vt:lpstr>Photoshop.Image.5</vt:lpstr>
      <vt:lpstr>Photoshop.Image.5</vt:lpstr>
      <vt:lpstr>Photoshop.Image.5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Photoshop.Image.5</vt:lpstr>
      <vt:lpstr>空间滤波 </vt:lpstr>
      <vt:lpstr>目录</vt:lpstr>
      <vt:lpstr>3.1 引言</vt:lpstr>
      <vt:lpstr>3.1 引言</vt:lpstr>
      <vt:lpstr>3.1 引言</vt:lpstr>
      <vt:lpstr>空间滤波基础</vt:lpstr>
      <vt:lpstr>PowerPoint 演示文稿</vt:lpstr>
      <vt:lpstr>PowerPoint 演示文稿</vt:lpstr>
      <vt:lpstr>PowerPoint 演示文稿</vt:lpstr>
      <vt:lpstr>空间滤波时对边界的处理方法</vt:lpstr>
      <vt:lpstr>PowerPoint 演示文稿</vt:lpstr>
      <vt:lpstr>PowerPoint 演示文稿</vt:lpstr>
      <vt:lpstr>PowerPoint 演示文稿</vt:lpstr>
      <vt:lpstr>PowerPoint 演示文稿</vt:lpstr>
      <vt:lpstr>高斯滤波器</vt:lpstr>
      <vt:lpstr>高斯滤波效果</vt:lpstr>
      <vt:lpstr>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空间图像边缘提取</vt:lpstr>
      <vt:lpstr>PowerPoint 演示文稿</vt:lpstr>
      <vt:lpstr>PowerPoint 演示文稿</vt:lpstr>
      <vt:lpstr>基于一阶微分的边缘提取效果</vt:lpstr>
      <vt:lpstr>基于Sobel 算子的边缘提取</vt:lpstr>
      <vt:lpstr>Sobel 算子边缘提取示例</vt:lpstr>
      <vt:lpstr>总结</vt:lpstr>
      <vt:lpstr>PowerPoint 演示文稿</vt:lpstr>
      <vt:lpstr>PowerPoint 演示文稿</vt:lpstr>
      <vt:lpstr> 基于二阶微分的图像增强——拉普拉斯算子         对连续函数情形，最简单且各向同性的二阶微分算子是拉普拉斯（Laplacian）算子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非锐化掩码的图像增强效果</vt:lpstr>
      <vt:lpstr>总结：</vt:lpstr>
      <vt:lpstr>实验3</vt:lpstr>
      <vt:lpstr>作业</vt:lpstr>
      <vt:lpstr>作业</vt:lpstr>
      <vt:lpstr>作业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Gonzalez</dc:creator>
  <cp:lastModifiedBy>WD</cp:lastModifiedBy>
  <cp:revision>470</cp:revision>
  <dcterms:created xsi:type="dcterms:W3CDTF">2001-12-06T17:51:00Z</dcterms:created>
  <dcterms:modified xsi:type="dcterms:W3CDTF">2026-06-02T06:08:18Z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E32DA69A886A44FDB826488CB6A355FD_13</vt:lpwstr>
  </property>
  <property fmtid="{D5CDD505-2E9C-101B-9397-08002B2CF9AE}" pid="3" name="KSOProductBuildVer">
    <vt:lpwstr>2052-12.1.0.26375</vt:lpwstr>
  </property>
</Properties>
</file>