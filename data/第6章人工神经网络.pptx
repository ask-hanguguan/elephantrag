
<file path=[Content_Types].xml><?xml version="1.0" encoding="utf-8"?>
<Types xmlns="http://schemas.openxmlformats.org/package/2006/content-types">
  <Default Extension="jpeg" ContentType="image/jpeg"/>
  <Default Extension="vml" ContentType="application/vnd.openxmlformats-officedocument.vmlDrawing"/>
  <Default Extension="doc" ContentType="application/msword"/>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95" r:id="rId5"/>
    <p:sldId id="258" r:id="rId6"/>
    <p:sldId id="259" r:id="rId7"/>
    <p:sldId id="260" r:id="rId8"/>
    <p:sldId id="296" r:id="rId9"/>
    <p:sldId id="261" r:id="rId10"/>
    <p:sldId id="302" r:id="rId11"/>
    <p:sldId id="262" r:id="rId12"/>
    <p:sldId id="297" r:id="rId13"/>
    <p:sldId id="263" r:id="rId14"/>
    <p:sldId id="303" r:id="rId15"/>
    <p:sldId id="298" r:id="rId16"/>
    <p:sldId id="342" r:id="rId17"/>
    <p:sldId id="264" r:id="rId18"/>
    <p:sldId id="299" r:id="rId19"/>
    <p:sldId id="265" r:id="rId20"/>
    <p:sldId id="266" r:id="rId21"/>
    <p:sldId id="305" r:id="rId22"/>
    <p:sldId id="267" r:id="rId23"/>
    <p:sldId id="268" r:id="rId24"/>
    <p:sldId id="269" r:id="rId25"/>
    <p:sldId id="304"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19.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35.wmf"/><Relationship Id="rId8" Type="http://schemas.openxmlformats.org/officeDocument/2006/relationships/image" Target="../media/image34.wmf"/><Relationship Id="rId7" Type="http://schemas.openxmlformats.org/officeDocument/2006/relationships/image" Target="../media/image33.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0" Type="http://schemas.openxmlformats.org/officeDocument/2006/relationships/image" Target="../media/image36.wmf"/><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2.wmf"/><Relationship Id="rId2" Type="http://schemas.openxmlformats.org/officeDocument/2006/relationships/image" Target="../media/image1.emf"/><Relationship Id="rId1" Type="http://schemas.openxmlformats.org/officeDocument/2006/relationships/oleObject" Target="../embeddings/Document1.doc"/></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Document2.doc"/></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7.wmf"/><Relationship Id="rId7" Type="http://schemas.openxmlformats.org/officeDocument/2006/relationships/oleObject" Target="../embeddings/oleObject4.bin"/><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8.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wmf"/><Relationship Id="rId3" Type="http://schemas.openxmlformats.org/officeDocument/2006/relationships/oleObject" Target="../embeddings/oleObject7.bin"/><Relationship Id="rId2" Type="http://schemas.openxmlformats.org/officeDocument/2006/relationships/image" Target="../media/image9.wmf"/><Relationship Id="rId1"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3.wmf"/><Relationship Id="rId3" Type="http://schemas.openxmlformats.org/officeDocument/2006/relationships/oleObject" Target="../embeddings/oleObject9.bin"/><Relationship Id="rId2" Type="http://schemas.openxmlformats.org/officeDocument/2006/relationships/image" Target="../media/image12.wmf"/><Relationship Id="rId1"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image" Target="../media/image15.wmf"/><Relationship Id="rId3" Type="http://schemas.openxmlformats.org/officeDocument/2006/relationships/oleObject" Target="../embeddings/oleObject11.bin"/><Relationship Id="rId2" Type="http://schemas.openxmlformats.org/officeDocument/2006/relationships/image" Target="../media/image14.wmf"/><Relationship Id="rId1"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Document3.doc"/></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6.bin"/><Relationship Id="rId4" Type="http://schemas.openxmlformats.org/officeDocument/2006/relationships/image" Target="../media/image18.wmf"/><Relationship Id="rId3" Type="http://schemas.openxmlformats.org/officeDocument/2006/relationships/oleObject" Target="../embeddings/oleObject15.bin"/><Relationship Id="rId2" Type="http://schemas.openxmlformats.org/officeDocument/2006/relationships/image" Target="../media/image17.wmf"/><Relationship Id="rId1"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3.wmf"/><Relationship Id="rId7" Type="http://schemas.openxmlformats.org/officeDocument/2006/relationships/oleObject" Target="../embeddings/oleObject20.bin"/><Relationship Id="rId6" Type="http://schemas.openxmlformats.org/officeDocument/2006/relationships/image" Target="../media/image22.wmf"/><Relationship Id="rId5" Type="http://schemas.openxmlformats.org/officeDocument/2006/relationships/oleObject" Target="../embeddings/oleObject19.bin"/><Relationship Id="rId4" Type="http://schemas.openxmlformats.org/officeDocument/2006/relationships/image" Target="../media/image21.wmf"/><Relationship Id="rId3" Type="http://schemas.openxmlformats.org/officeDocument/2006/relationships/oleObject" Target="../embeddings/oleObject18.bin"/><Relationship Id="rId2" Type="http://schemas.openxmlformats.org/officeDocument/2006/relationships/image" Target="../media/image20.wmf"/><Relationship Id="rId18" Type="http://schemas.openxmlformats.org/officeDocument/2006/relationships/vmlDrawing" Target="../drawings/vmlDrawing9.vml"/><Relationship Id="rId17" Type="http://schemas.openxmlformats.org/officeDocument/2006/relationships/slideLayout" Target="../slideLayouts/slideLayout2.xml"/><Relationship Id="rId16" Type="http://schemas.openxmlformats.org/officeDocument/2006/relationships/image" Target="../media/image26.png"/><Relationship Id="rId15" Type="http://schemas.openxmlformats.org/officeDocument/2006/relationships/image" Target="../media/image19.wmf"/><Relationship Id="rId14" Type="http://schemas.openxmlformats.org/officeDocument/2006/relationships/oleObject" Target="../embeddings/oleObject24.bin"/><Relationship Id="rId13" Type="http://schemas.openxmlformats.org/officeDocument/2006/relationships/oleObject" Target="../embeddings/oleObject23.bin"/><Relationship Id="rId12" Type="http://schemas.openxmlformats.org/officeDocument/2006/relationships/image" Target="../media/image25.wmf"/><Relationship Id="rId11" Type="http://schemas.openxmlformats.org/officeDocument/2006/relationships/oleObject" Target="../embeddings/oleObject22.bin"/><Relationship Id="rId10" Type="http://schemas.openxmlformats.org/officeDocument/2006/relationships/image" Target="../media/image24.wmf"/><Relationship Id="rId1"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Document4.doc"/></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0.wmf"/><Relationship Id="rId7" Type="http://schemas.openxmlformats.org/officeDocument/2006/relationships/oleObject" Target="../embeddings/oleObject28.bin"/><Relationship Id="rId6" Type="http://schemas.openxmlformats.org/officeDocument/2006/relationships/image" Target="../media/image29.wmf"/><Relationship Id="rId5" Type="http://schemas.openxmlformats.org/officeDocument/2006/relationships/oleObject" Target="../embeddings/oleObject27.bin"/><Relationship Id="rId4" Type="http://schemas.openxmlformats.org/officeDocument/2006/relationships/image" Target="../media/image28.wmf"/><Relationship Id="rId3" Type="http://schemas.openxmlformats.org/officeDocument/2006/relationships/oleObject" Target="../embeddings/oleObject26.bin"/><Relationship Id="rId22" Type="http://schemas.openxmlformats.org/officeDocument/2006/relationships/vmlDrawing" Target="../drawings/vmlDrawing11.vml"/><Relationship Id="rId21" Type="http://schemas.openxmlformats.org/officeDocument/2006/relationships/slideLayout" Target="../slideLayouts/slideLayout2.xml"/><Relationship Id="rId20" Type="http://schemas.openxmlformats.org/officeDocument/2006/relationships/image" Target="../media/image36.wmf"/><Relationship Id="rId2" Type="http://schemas.openxmlformats.org/officeDocument/2006/relationships/image" Target="../media/image27.wmf"/><Relationship Id="rId19" Type="http://schemas.openxmlformats.org/officeDocument/2006/relationships/oleObject" Target="../embeddings/oleObject34.bin"/><Relationship Id="rId18" Type="http://schemas.openxmlformats.org/officeDocument/2006/relationships/image" Target="../media/image35.wmf"/><Relationship Id="rId17" Type="http://schemas.openxmlformats.org/officeDocument/2006/relationships/oleObject" Target="../embeddings/oleObject33.bin"/><Relationship Id="rId16" Type="http://schemas.openxmlformats.org/officeDocument/2006/relationships/image" Target="../media/image34.wmf"/><Relationship Id="rId15" Type="http://schemas.openxmlformats.org/officeDocument/2006/relationships/oleObject" Target="../embeddings/oleObject32.bin"/><Relationship Id="rId14" Type="http://schemas.openxmlformats.org/officeDocument/2006/relationships/image" Target="../media/image33.wmf"/><Relationship Id="rId13" Type="http://schemas.openxmlformats.org/officeDocument/2006/relationships/oleObject" Target="../embeddings/oleObject31.bin"/><Relationship Id="rId12" Type="http://schemas.openxmlformats.org/officeDocument/2006/relationships/image" Target="../media/image32.wmf"/><Relationship Id="rId11" Type="http://schemas.openxmlformats.org/officeDocument/2006/relationships/oleObject" Target="../embeddings/oleObject30.bin"/><Relationship Id="rId10" Type="http://schemas.openxmlformats.org/officeDocument/2006/relationships/image" Target="../media/image31.wmf"/><Relationship Id="rId1" Type="http://schemas.openxmlformats.org/officeDocument/2006/relationships/oleObject" Target="../embeddings/oleObject2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16.emf"/><Relationship Id="rId2" Type="http://schemas.openxmlformats.org/officeDocument/2006/relationships/oleObject" Target="../embeddings/Document5.doc"/><Relationship Id="rId1" Type="http://schemas.openxmlformats.org/officeDocument/2006/relationships/image" Target="../media/image37.e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emf"/></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4.emf"/><Relationship Id="rId1" Type="http://schemas.openxmlformats.org/officeDocument/2006/relationships/oleObject" Target="../embeddings/Document6.doc"/></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2.xml"/><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oleObject" Target="../embeddings/Document7.doc"/></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emf"/><Relationship Id="rId1" Type="http://schemas.openxmlformats.org/officeDocument/2006/relationships/tags" Target="../tags/tag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e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e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emf"/><Relationship Id="rId1" Type="http://schemas.openxmlformats.org/officeDocument/2006/relationships/image" Target="../media/image52.e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55.emf"/><Relationship Id="rId1" Type="http://schemas.openxmlformats.org/officeDocument/2006/relationships/oleObject" Target="../embeddings/Document8.doc"/></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397443" y="1099820"/>
            <a:ext cx="8915399" cy="2262781"/>
          </a:xfrm>
        </p:spPr>
        <p:txBody>
          <a:bodyPr/>
          <a:lstStyle/>
          <a:p>
            <a:r>
              <a:rPr lang="zh-CN" altLang="en-US">
                <a:latin typeface="楷体" panose="02010609060101010101" charset="-122"/>
                <a:ea typeface="楷体" panose="02010609060101010101" charset="-122"/>
                <a:cs typeface="楷体" panose="02010609060101010101" charset="-122"/>
              </a:rPr>
              <a:t>第6章  人工神经网络算法</a:t>
            </a:r>
            <a:endParaRPr lang="zh-CN" altLang="en-US">
              <a:latin typeface="楷体" panose="02010609060101010101" charset="-122"/>
              <a:ea typeface="楷体" panose="02010609060101010101" charset="-122"/>
              <a:cs typeface="楷体" panose="02010609060101010101" charset="-122"/>
            </a:endParaRPr>
          </a:p>
        </p:txBody>
      </p:sp>
      <p:sp>
        <p:nvSpPr>
          <p:cNvPr id="3" name="副标题 2"/>
          <p:cNvSpPr>
            <a:spLocks noGrp="1"/>
          </p:cNvSpPr>
          <p:nvPr>
            <p:ph type="subTitle" idx="1"/>
          </p:nvPr>
        </p:nvSpPr>
        <p:spPr/>
        <p:txBody>
          <a:bodyP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charset="-122"/>
                <a:ea typeface="楷体" panose="02010609060101010101" charset="-122"/>
                <a:cs typeface="楷体" panose="02010609060101010101" charset="-122"/>
              </a:rPr>
              <a:t>6.1 基本概念</a:t>
            </a:r>
            <a:endParaRPr lang="zh-CN" altLang="en-US" dirty="0">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251710" y="1368425"/>
            <a:ext cx="8915400" cy="5306695"/>
          </a:xfrm>
        </p:spPr>
        <p:txBody>
          <a:bodyPr/>
          <a:lstStyle/>
          <a:p>
            <a:r>
              <a:rPr lang="zh-CN" altLang="en-US" sz="2400" dirty="0"/>
              <a:t>6.1.1生物神经元模型</a:t>
            </a:r>
            <a:endParaRPr lang="zh-CN" altLang="en-US" sz="2400" dirty="0"/>
          </a:p>
          <a:p>
            <a:pPr marL="0" indent="0">
              <a:buNone/>
            </a:pPr>
            <a:r>
              <a:rPr lang="zh-CN" altLang="en-US" sz="2400" dirty="0"/>
              <a:t>人的神经系统是由众多神经元相互连接而成的一个复杂系统，神经元又叫神经细胞,它是神经组织的基本单位。如图所示,神经元由</a:t>
            </a:r>
            <a:r>
              <a:rPr lang="zh-CN" altLang="en-US" sz="2400" b="1" dirty="0"/>
              <a:t>细胞体和延伸部分</a:t>
            </a:r>
            <a:r>
              <a:rPr lang="zh-CN" altLang="en-US" sz="2400" dirty="0"/>
              <a:t>组成，延伸部分按功能分为两类,一类称为</a:t>
            </a:r>
            <a:r>
              <a:rPr lang="zh-CN" altLang="en-US" sz="2400" b="1" dirty="0"/>
              <a:t>树突</a:t>
            </a:r>
            <a:r>
              <a:rPr lang="zh-CN" altLang="en-US" sz="2400" dirty="0"/>
              <a:t>,用来接受来自其他神经元的信息;另一类则用来传递和输出信息,称为</a:t>
            </a:r>
            <a:r>
              <a:rPr lang="zh-CN" altLang="en-US" sz="2400" b="1" dirty="0"/>
              <a:t>轴突</a:t>
            </a:r>
            <a:r>
              <a:rPr lang="zh-CN" altLang="en-US" sz="2400" dirty="0"/>
              <a:t>。神经元对信息的接受和传递都是通过突触来进行的，单个神经元可以从别的神经细胞接受多达上千个的突触输入，前一个神经元的信息经由其轴突传到末梢之后,通过突触对后面各个神经元产生影响。当若干突触输入时,其中有些是兴奋性的,有些是抑制性的,如果兴奋性突触活动强度总和超过抑制性突触活动强度总和,使得细胞体内电位超过某一阈值时,细胞体的膜会发生单发性的尖峰电位,这一尖峰电位将会沿着轴突传播到四周与其相联系的神经细胞。</a:t>
            </a:r>
            <a:endParaRPr lang="zh-CN" alt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graphicFrame>
        <p:nvGraphicFramePr>
          <p:cNvPr id="4" name="对象 -2147482624"/>
          <p:cNvGraphicFramePr>
            <a:graphicFrameLocks noChangeAspect="1"/>
          </p:cNvGraphicFramePr>
          <p:nvPr/>
        </p:nvGraphicFramePr>
        <p:xfrm>
          <a:off x="2460625" y="496570"/>
          <a:ext cx="7654290" cy="3326130"/>
        </p:xfrm>
        <a:graphic>
          <a:graphicData uri="http://schemas.openxmlformats.org/presentationml/2006/ole">
            <mc:AlternateContent xmlns:mc="http://schemas.openxmlformats.org/markup-compatibility/2006">
              <mc:Choice xmlns:v="urn:schemas-microsoft-com:vml" Requires="v">
                <p:oleObj spid="_x0000_s3076" name="" r:id="rId1" imgW="4030980" imgH="2240280" progId="Word.Document.8">
                  <p:embed/>
                </p:oleObj>
              </mc:Choice>
              <mc:Fallback>
                <p:oleObj name="" r:id="rId1" imgW="4030980" imgH="2240280" progId="Word.Document.8">
                  <p:embed/>
                  <p:pic>
                    <p:nvPicPr>
                      <p:cNvPr id="0" name="图片 3075"/>
                      <p:cNvPicPr/>
                      <p:nvPr/>
                    </p:nvPicPr>
                    <p:blipFill>
                      <a:blip r:embed="rId2"/>
                      <a:stretch>
                        <a:fillRect/>
                      </a:stretch>
                    </p:blipFill>
                    <p:spPr>
                      <a:xfrm>
                        <a:off x="2460625" y="496570"/>
                        <a:ext cx="7654290" cy="3326130"/>
                      </a:xfrm>
                      <a:prstGeom prst="rect">
                        <a:avLst/>
                      </a:prstGeom>
                      <a:noFill/>
                      <a:ln w="38100">
                        <a:noFill/>
                        <a:miter/>
                      </a:ln>
                    </p:spPr>
                  </p:pic>
                </p:oleObj>
              </mc:Fallback>
            </mc:AlternateContent>
          </a:graphicData>
        </a:graphic>
      </p:graphicFrame>
      <p:pic>
        <p:nvPicPr>
          <p:cNvPr id="286723" name="内容占位符 286722"/>
          <p:cNvPicPr>
            <a:picLocks noChangeAspect="1"/>
          </p:cNvPicPr>
          <p:nvPr>
            <p:ph idx="1"/>
          </p:nvPr>
        </p:nvPicPr>
        <p:blipFill>
          <a:blip r:embed="rId3"/>
          <a:srcRect b="19051"/>
          <a:stretch>
            <a:fillRect/>
          </a:stretch>
        </p:blipFill>
        <p:spPr>
          <a:xfrm>
            <a:off x="2715260" y="4189095"/>
            <a:ext cx="7649210" cy="232156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13865" y="930910"/>
            <a:ext cx="9389110" cy="4478020"/>
          </a:xfrm>
        </p:spPr>
        <p:txBody>
          <a:bodyPr/>
          <a:p>
            <a:r>
              <a:rPr lang="zh-CN" altLang="en-US" sz="2800">
                <a:latin typeface="楷体" panose="02010609060101010101" charset="-122"/>
                <a:ea typeface="楷体" panose="02010609060101010101" charset="-122"/>
                <a:cs typeface="楷体" panose="02010609060101010101" charset="-122"/>
              </a:rPr>
              <a:t>从生物控制论的观点来看,神经元作为控制和信息处理的基本单元,具有下列一些重要的功能和特性:</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时空整合功能;</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兴奋与抑制状态;</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脉冲与电位转换;</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神经纤维传导速度迅速;</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学习、遗忘和疲劳。</a:t>
            </a:r>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6.1.2人工神经元模型</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344737" y="1435100"/>
            <a:ext cx="8915400" cy="3777622"/>
          </a:xfrm>
        </p:spPr>
        <p:txBody>
          <a:bodyPr/>
          <a:p>
            <a:r>
              <a:rPr lang="zh-CN" altLang="en-US" sz="2400">
                <a:latin typeface="楷体" panose="02010609060101010101" charset="-122"/>
                <a:ea typeface="楷体" panose="02010609060101010101" charset="-122"/>
              </a:rPr>
              <a:t>人们通过研究发现,大脑之所以能够处理极其复杂的分析、推理工作,一方面是因为其神经元个数的庞大,另一方面还在于神经元能够对输入信号进行</a:t>
            </a:r>
            <a:r>
              <a:rPr lang="zh-CN" altLang="en-US" sz="2400" b="1">
                <a:latin typeface="楷体" panose="02010609060101010101" charset="-122"/>
                <a:ea typeface="楷体" panose="02010609060101010101" charset="-122"/>
              </a:rPr>
              <a:t>非线性处理</a:t>
            </a:r>
            <a:r>
              <a:rPr lang="zh-CN" altLang="en-US" sz="2400">
                <a:latin typeface="楷体" panose="02010609060101010101" charset="-122"/>
                <a:ea typeface="楷体" panose="02010609060101010101" charset="-122"/>
              </a:rPr>
              <a:t>。人工神经元模型就是用人工方法模拟生物神经元而形成的模型,是对生物神经元的抽象、模拟与简化，它是一个</a:t>
            </a:r>
            <a:r>
              <a:rPr lang="zh-CN" altLang="en-US" sz="2400" b="1">
                <a:solidFill>
                  <a:srgbClr val="C00000"/>
                </a:solidFill>
                <a:latin typeface="楷体" panose="02010609060101010101" charset="-122"/>
                <a:ea typeface="楷体" panose="02010609060101010101" charset="-122"/>
              </a:rPr>
              <a:t>多输入、单输出的非线性元件</a:t>
            </a:r>
            <a:r>
              <a:rPr lang="zh-CN" altLang="en-US" sz="2400">
                <a:latin typeface="楷体" panose="02010609060101010101" charset="-122"/>
                <a:ea typeface="楷体" panose="02010609060101010101" charset="-122"/>
              </a:rPr>
              <a:t>，单个神经元是前向型的。将人工神经元的基本模型和激励函数合在一起构成的人工神经元,就是著名的McCulloch-Pitts模型,简称为M-P模型</a:t>
            </a:r>
            <a:endParaRPr lang="zh-CN" altLang="en-US" sz="2400">
              <a:latin typeface="楷体" panose="02010609060101010101" charset="-122"/>
              <a:ea typeface="楷体" panose="02010609060101010101" charset="-122"/>
            </a:endParaRPr>
          </a:p>
        </p:txBody>
      </p:sp>
      <p:graphicFrame>
        <p:nvGraphicFramePr>
          <p:cNvPr id="4" name="对象 -2147482623"/>
          <p:cNvGraphicFramePr>
            <a:graphicFrameLocks noChangeAspect="1"/>
          </p:cNvGraphicFramePr>
          <p:nvPr/>
        </p:nvGraphicFramePr>
        <p:xfrm>
          <a:off x="4269740" y="4231005"/>
          <a:ext cx="6064885" cy="2521585"/>
        </p:xfrm>
        <a:graphic>
          <a:graphicData uri="http://schemas.openxmlformats.org/presentationml/2006/ole">
            <mc:AlternateContent xmlns:mc="http://schemas.openxmlformats.org/markup-compatibility/2006">
              <mc:Choice xmlns:v="urn:schemas-microsoft-com:vml" Requires="v">
                <p:oleObj spid="_x0000_s3076" name="" r:id="rId1" imgW="4762500" imgH="1982470" progId="Word.Document.8">
                  <p:embed/>
                </p:oleObj>
              </mc:Choice>
              <mc:Fallback>
                <p:oleObj name="" r:id="rId1" imgW="4762500" imgH="1982470" progId="Word.Document.8">
                  <p:embed/>
                  <p:pic>
                    <p:nvPicPr>
                      <p:cNvPr id="0" name="图片 3075"/>
                      <p:cNvPicPr/>
                      <p:nvPr/>
                    </p:nvPicPr>
                    <p:blipFill>
                      <a:blip r:embed="rId2"/>
                      <a:stretch>
                        <a:fillRect/>
                      </a:stretch>
                    </p:blipFill>
                    <p:spPr>
                      <a:xfrm>
                        <a:off x="4269740" y="4231005"/>
                        <a:ext cx="6064885" cy="2521585"/>
                      </a:xfrm>
                      <a:prstGeom prst="rect">
                        <a:avLst/>
                      </a:prstGeom>
                      <a:noFill/>
                      <a:ln w="38100">
                        <a:noFill/>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60195" y="640715"/>
            <a:ext cx="10407650" cy="5835015"/>
          </a:xfrm>
        </p:spPr>
        <p:txBody>
          <a:bodyPr>
            <a:noAutofit/>
          </a:bodyPr>
          <a:p>
            <a:r>
              <a:rPr lang="zh-CN" altLang="en-US" sz="2400">
                <a:latin typeface="楷体" panose="02010609060101010101" charset="-122"/>
                <a:ea typeface="楷体" panose="02010609060101010101" charset="-122"/>
                <a:cs typeface="楷体" panose="02010609060101010101" charset="-122"/>
              </a:rPr>
              <a:t>图表明,人工神经元具有许多的输入信号,针对每个输入都有一个加权系数称为</a:t>
            </a:r>
            <a:r>
              <a:rPr lang="zh-CN" altLang="en-US" sz="2400" b="1">
                <a:latin typeface="楷体" panose="02010609060101010101" charset="-122"/>
                <a:ea typeface="楷体" panose="02010609060101010101" charset="-122"/>
                <a:cs typeface="楷体" panose="02010609060101010101" charset="-122"/>
              </a:rPr>
              <a:t>权值(weights</a:t>
            </a:r>
            <a:r>
              <a:rPr lang="zh-CN" altLang="en-US" sz="2400">
                <a:latin typeface="楷体" panose="02010609060101010101" charset="-122"/>
                <a:ea typeface="楷体" panose="02010609060101010101" charset="-122"/>
                <a:cs typeface="楷体" panose="02010609060101010101" charset="-122"/>
              </a:rPr>
              <a:t>),权值的正负模拟了生物神经元中突触的兴奋和抑制,其大小则代表了突触的不同连接强度，而中间的神经元对所有的输入信号进行计算处理,然后将结果输出。在神经元中,对信号进行处理采用的是数学函数,通常称为</a:t>
            </a:r>
            <a:r>
              <a:rPr lang="zh-CN" altLang="en-US" sz="2400" b="1">
                <a:latin typeface="楷体" panose="02010609060101010101" charset="-122"/>
                <a:ea typeface="楷体" panose="02010609060101010101" charset="-122"/>
                <a:cs typeface="楷体" panose="02010609060101010101" charset="-122"/>
              </a:rPr>
              <a:t>激活函数</a:t>
            </a:r>
            <a:r>
              <a:rPr lang="zh-CN" altLang="en-US" sz="2400">
                <a:latin typeface="楷体" panose="02010609060101010101" charset="-122"/>
                <a:ea typeface="楷体" panose="02010609060101010101" charset="-122"/>
                <a:cs typeface="楷体" panose="02010609060101010101" charset="-122"/>
              </a:rPr>
              <a:t>、</a:t>
            </a:r>
            <a:r>
              <a:rPr lang="zh-CN" altLang="en-US" sz="2400" b="1">
                <a:latin typeface="楷体" panose="02010609060101010101" charset="-122"/>
                <a:ea typeface="楷体" panose="02010609060101010101" charset="-122"/>
                <a:cs typeface="楷体" panose="02010609060101010101" charset="-122"/>
              </a:rPr>
              <a:t>激励函数</a:t>
            </a:r>
            <a:r>
              <a:rPr lang="zh-CN" altLang="en-US" sz="2400">
                <a:latin typeface="楷体" panose="02010609060101010101" charset="-122"/>
                <a:ea typeface="楷体" panose="02010609060101010101" charset="-122"/>
                <a:cs typeface="楷体" panose="02010609060101010101" charset="-122"/>
              </a:rPr>
              <a:t>或挤压函数，其输入、输出关系可描述为</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r>
              <a:rPr lang="zh-CN" altLang="en-US" sz="2400">
                <a:latin typeface="楷体" panose="02010609060101010101" charset="-122"/>
                <a:ea typeface="楷体" panose="02010609060101010101" charset="-122"/>
                <a:cs typeface="楷体" panose="02010609060101010101" charset="-122"/>
              </a:rPr>
              <a:t>式中是                        从其它神经元传来的输入信号;    是该神经元的阈值;     表示从神经元i到神经元j的连接权值;     为激活函数或挤压函数。由于神经元采用了不同的激活函数,使得神经元具有不同的信息处理特性,而</a:t>
            </a:r>
            <a:r>
              <a:rPr lang="zh-CN" altLang="en-US" sz="2400" b="1">
                <a:latin typeface="楷体" panose="02010609060101010101" charset="-122"/>
                <a:ea typeface="楷体" panose="02010609060101010101" charset="-122"/>
                <a:cs typeface="楷体" panose="02010609060101010101" charset="-122"/>
              </a:rPr>
              <a:t>神经元的信息处理特性是决定神经网络整体性能的主要因素之一</a:t>
            </a:r>
            <a:r>
              <a:rPr lang="zh-CN" altLang="en-US" sz="2400">
                <a:latin typeface="楷体" panose="02010609060101010101" charset="-122"/>
                <a:ea typeface="楷体" panose="02010609060101010101" charset="-122"/>
                <a:cs typeface="楷体" panose="02010609060101010101" charset="-122"/>
              </a:rPr>
              <a:t>,因此激活函数具有重要的意义。下面介绍四种常用的激活函数形式。</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621"/>
          <p:cNvGraphicFramePr>
            <a:graphicFrameLocks noChangeAspect="1"/>
          </p:cNvGraphicFramePr>
          <p:nvPr/>
        </p:nvGraphicFramePr>
        <p:xfrm>
          <a:off x="4841875" y="2613025"/>
          <a:ext cx="3013710" cy="1631315"/>
        </p:xfrm>
        <a:graphic>
          <a:graphicData uri="http://schemas.openxmlformats.org/presentationml/2006/ole">
            <mc:AlternateContent xmlns:mc="http://schemas.openxmlformats.org/markup-compatibility/2006">
              <mc:Choice xmlns:v="urn:schemas-microsoft-com:vml" Requires="v">
                <p:oleObj spid="_x0000_s3076" name="" r:id="rId1" imgW="1409065" imgH="761365" progId="Equation.DSMT4">
                  <p:embed/>
                </p:oleObj>
              </mc:Choice>
              <mc:Fallback>
                <p:oleObj name="" r:id="rId1" imgW="1409065" imgH="761365" progId="Equation.DSMT4">
                  <p:embed/>
                  <p:pic>
                    <p:nvPicPr>
                      <p:cNvPr id="0" name="图片 3075"/>
                      <p:cNvPicPr/>
                      <p:nvPr/>
                    </p:nvPicPr>
                    <p:blipFill>
                      <a:blip r:embed="rId2"/>
                      <a:stretch>
                        <a:fillRect/>
                      </a:stretch>
                    </p:blipFill>
                    <p:spPr>
                      <a:xfrm>
                        <a:off x="4841875" y="2613025"/>
                        <a:ext cx="3013710" cy="1631315"/>
                      </a:xfrm>
                      <a:prstGeom prst="rect">
                        <a:avLst/>
                      </a:prstGeom>
                      <a:noFill/>
                      <a:ln w="38100">
                        <a:noFill/>
                        <a:miter/>
                      </a:ln>
                    </p:spPr>
                  </p:pic>
                </p:oleObj>
              </mc:Fallback>
            </mc:AlternateContent>
          </a:graphicData>
        </a:graphic>
      </p:graphicFrame>
      <p:graphicFrame>
        <p:nvGraphicFramePr>
          <p:cNvPr id="4" name="对象 -2147482619"/>
          <p:cNvGraphicFramePr>
            <a:graphicFrameLocks noChangeAspect="1"/>
          </p:cNvGraphicFramePr>
          <p:nvPr/>
        </p:nvGraphicFramePr>
        <p:xfrm>
          <a:off x="3420745" y="4318000"/>
          <a:ext cx="2263140" cy="575945"/>
        </p:xfrm>
        <a:graphic>
          <a:graphicData uri="http://schemas.openxmlformats.org/presentationml/2006/ole">
            <mc:AlternateContent xmlns:mc="http://schemas.openxmlformats.org/markup-compatibility/2006">
              <mc:Choice xmlns:v="urn:schemas-microsoft-com:vml" Requires="v">
                <p:oleObj spid="_x0000_s5" name="" r:id="rId3" imgW="989965" imgH="254000" progId="Equation.DSMT4">
                  <p:embed/>
                </p:oleObj>
              </mc:Choice>
              <mc:Fallback>
                <p:oleObj name="" r:id="rId3" imgW="989965" imgH="254000" progId="Equation.DSMT4">
                  <p:embed/>
                  <p:pic>
                    <p:nvPicPr>
                      <p:cNvPr id="0" name="图片 3"/>
                      <p:cNvPicPr/>
                      <p:nvPr/>
                    </p:nvPicPr>
                    <p:blipFill>
                      <a:blip r:embed="rId4"/>
                      <a:stretch>
                        <a:fillRect/>
                      </a:stretch>
                    </p:blipFill>
                    <p:spPr>
                      <a:xfrm>
                        <a:off x="3420745" y="4318000"/>
                        <a:ext cx="2263140" cy="575945"/>
                      </a:xfrm>
                      <a:prstGeom prst="rect">
                        <a:avLst/>
                      </a:prstGeom>
                      <a:noFill/>
                      <a:ln w="38100">
                        <a:noFill/>
                        <a:miter/>
                      </a:ln>
                    </p:spPr>
                  </p:pic>
                </p:oleObj>
              </mc:Fallback>
            </mc:AlternateContent>
          </a:graphicData>
        </a:graphic>
      </p:graphicFrame>
      <p:graphicFrame>
        <p:nvGraphicFramePr>
          <p:cNvPr id="6" name="对象 -2147482618"/>
          <p:cNvGraphicFramePr>
            <a:graphicFrameLocks noChangeAspect="1"/>
          </p:cNvGraphicFramePr>
          <p:nvPr/>
        </p:nvGraphicFramePr>
        <p:xfrm>
          <a:off x="10808970" y="4370705"/>
          <a:ext cx="317500" cy="470535"/>
        </p:xfrm>
        <a:graphic>
          <a:graphicData uri="http://schemas.openxmlformats.org/presentationml/2006/ole">
            <mc:AlternateContent xmlns:mc="http://schemas.openxmlformats.org/markup-compatibility/2006">
              <mc:Choice xmlns:v="urn:schemas-microsoft-com:vml" Requires="v">
                <p:oleObj spid="_x0000_s7" name="" r:id="rId5" imgW="165100" imgH="241300" progId="Equation.DSMT4">
                  <p:embed/>
                </p:oleObj>
              </mc:Choice>
              <mc:Fallback>
                <p:oleObj name="" r:id="rId5" imgW="165100" imgH="241300" progId="Equation.DSMT4">
                  <p:embed/>
                  <p:pic>
                    <p:nvPicPr>
                      <p:cNvPr id="0" name="图片 4"/>
                      <p:cNvPicPr/>
                      <p:nvPr/>
                    </p:nvPicPr>
                    <p:blipFill>
                      <a:blip r:embed="rId6"/>
                      <a:stretch>
                        <a:fillRect/>
                      </a:stretch>
                    </p:blipFill>
                    <p:spPr>
                      <a:xfrm>
                        <a:off x="10808970" y="4370705"/>
                        <a:ext cx="317500" cy="470535"/>
                      </a:xfrm>
                      <a:prstGeom prst="rect">
                        <a:avLst/>
                      </a:prstGeom>
                      <a:noFill/>
                      <a:ln w="38100">
                        <a:noFill/>
                        <a:miter/>
                      </a:ln>
                    </p:spPr>
                  </p:pic>
                </p:oleObj>
              </mc:Fallback>
            </mc:AlternateContent>
          </a:graphicData>
        </a:graphic>
      </p:graphicFrame>
      <p:graphicFrame>
        <p:nvGraphicFramePr>
          <p:cNvPr id="8" name="对象 -2147482617"/>
          <p:cNvGraphicFramePr>
            <a:graphicFrameLocks noChangeAspect="1"/>
          </p:cNvGraphicFramePr>
          <p:nvPr/>
        </p:nvGraphicFramePr>
        <p:xfrm>
          <a:off x="4572635" y="4780280"/>
          <a:ext cx="428625" cy="511810"/>
        </p:xfrm>
        <a:graphic>
          <a:graphicData uri="http://schemas.openxmlformats.org/presentationml/2006/ole">
            <mc:AlternateContent xmlns:mc="http://schemas.openxmlformats.org/markup-compatibility/2006">
              <mc:Choice xmlns:v="urn:schemas-microsoft-com:vml" Requires="v">
                <p:oleObj spid="_x0000_s9" name="" r:id="rId7" imgW="203200" imgH="241300" progId="Equation.DSMT4">
                  <p:embed/>
                </p:oleObj>
              </mc:Choice>
              <mc:Fallback>
                <p:oleObj name="" r:id="rId7" imgW="203200" imgH="241300" progId="Equation.DSMT4">
                  <p:embed/>
                  <p:pic>
                    <p:nvPicPr>
                      <p:cNvPr id="0" name="图片 5"/>
                      <p:cNvPicPr/>
                      <p:nvPr/>
                    </p:nvPicPr>
                    <p:blipFill>
                      <a:blip r:embed="rId8"/>
                      <a:stretch>
                        <a:fillRect/>
                      </a:stretch>
                    </p:blipFill>
                    <p:spPr>
                      <a:xfrm>
                        <a:off x="4572635" y="4780280"/>
                        <a:ext cx="428625" cy="511810"/>
                      </a:xfrm>
                      <a:prstGeom prst="rect">
                        <a:avLst/>
                      </a:prstGeom>
                      <a:noFill/>
                      <a:ln w="38100">
                        <a:noFill/>
                        <a:miter/>
                      </a:ln>
                    </p:spPr>
                  </p:pic>
                </p:oleObj>
              </mc:Fallback>
            </mc:AlternateContent>
          </a:graphicData>
        </a:graphic>
      </p:graphicFrame>
      <p:graphicFrame>
        <p:nvGraphicFramePr>
          <p:cNvPr id="10" name="对象 -2147482616"/>
          <p:cNvGraphicFramePr>
            <a:graphicFrameLocks noChangeAspect="1"/>
          </p:cNvGraphicFramePr>
          <p:nvPr/>
        </p:nvGraphicFramePr>
        <p:xfrm>
          <a:off x="10259060" y="4780280"/>
          <a:ext cx="549910" cy="558800"/>
        </p:xfrm>
        <a:graphic>
          <a:graphicData uri="http://schemas.openxmlformats.org/presentationml/2006/ole">
            <mc:AlternateContent xmlns:mc="http://schemas.openxmlformats.org/markup-compatibility/2006">
              <mc:Choice xmlns:v="urn:schemas-microsoft-com:vml" Requires="v">
                <p:oleObj spid="_x0000_s11" name="" r:id="rId9" imgW="330200" imgH="254000" progId="Equation.DSMT4">
                  <p:embed/>
                </p:oleObj>
              </mc:Choice>
              <mc:Fallback>
                <p:oleObj name="" r:id="rId9" imgW="330200" imgH="254000" progId="Equation.DSMT4">
                  <p:embed/>
                  <p:pic>
                    <p:nvPicPr>
                      <p:cNvPr id="0" name="图片 6"/>
                      <p:cNvPicPr/>
                      <p:nvPr/>
                    </p:nvPicPr>
                    <p:blipFill>
                      <a:blip r:embed="rId10"/>
                      <a:stretch>
                        <a:fillRect/>
                      </a:stretch>
                    </p:blipFill>
                    <p:spPr>
                      <a:xfrm>
                        <a:off x="10259060" y="4780280"/>
                        <a:ext cx="549910" cy="558800"/>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60195" y="640715"/>
            <a:ext cx="10407650" cy="5835015"/>
          </a:xfrm>
        </p:spPr>
        <p:txBody>
          <a:bodyPr>
            <a:normAutofit/>
          </a:bodyPr>
          <a:p>
            <a:r>
              <a:rPr lang="zh-CN" altLang="en-US" sz="2400">
                <a:latin typeface="楷体" panose="02010609060101010101" charset="-122"/>
                <a:ea typeface="楷体" panose="02010609060101010101" charset="-122"/>
                <a:cs typeface="楷体" panose="02010609060101010101" charset="-122"/>
              </a:rPr>
              <a:t>（1）阈值型函数，即       为阶跃函数。</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具有这一作用方式的神经元称为阈值型神经元,是神经元模型中最简单的一种,经典的M-P模型神经元就属于这一类。</a:t>
            </a:r>
            <a:endParaRPr lang="zh-CN" altLang="en-US" sz="2400">
              <a:latin typeface="楷体" panose="02010609060101010101" charset="-122"/>
              <a:ea typeface="楷体" panose="02010609060101010101" charset="-122"/>
              <a:cs typeface="楷体" panose="02010609060101010101" charset="-122"/>
            </a:endParaRPr>
          </a:p>
          <a:p>
            <a:r>
              <a:rPr lang="zh-CN" altLang="en-US" sz="2400">
                <a:latin typeface="楷体" panose="02010609060101010101" charset="-122"/>
                <a:ea typeface="楷体" panose="02010609060101010101" charset="-122"/>
                <a:cs typeface="楷体" panose="02010609060101010101" charset="-122"/>
              </a:rPr>
              <a:t>（2）分段线性函数。此函数特点是:神经元的输入与输出在一定区间内满足线性关系。这类函数也称为伪线性函数,表达式如下:</a:t>
            </a:r>
            <a:endParaRPr lang="zh-CN" altLang="en-US" sz="2400"/>
          </a:p>
          <a:p>
            <a:endParaRPr lang="zh-CN" altLang="en-US"/>
          </a:p>
          <a:p>
            <a:endParaRPr lang="zh-CN" altLang="en-US"/>
          </a:p>
        </p:txBody>
      </p:sp>
      <p:graphicFrame>
        <p:nvGraphicFramePr>
          <p:cNvPr id="12" name="对象 -2147482615"/>
          <p:cNvGraphicFramePr>
            <a:graphicFrameLocks noChangeAspect="1"/>
          </p:cNvGraphicFramePr>
          <p:nvPr/>
        </p:nvGraphicFramePr>
        <p:xfrm>
          <a:off x="5041265" y="640715"/>
          <a:ext cx="723265" cy="503555"/>
        </p:xfrm>
        <a:graphic>
          <a:graphicData uri="http://schemas.openxmlformats.org/presentationml/2006/ole">
            <mc:AlternateContent xmlns:mc="http://schemas.openxmlformats.org/markup-compatibility/2006">
              <mc:Choice xmlns:v="urn:schemas-microsoft-com:vml" Requires="v">
                <p:oleObj spid="_x0000_s13" name="" r:id="rId1" imgW="368300" imgH="254000" progId="Equation.DSMT4">
                  <p:embed/>
                </p:oleObj>
              </mc:Choice>
              <mc:Fallback>
                <p:oleObj name="" r:id="rId1" imgW="368300" imgH="254000" progId="Equation.DSMT4">
                  <p:embed/>
                  <p:pic>
                    <p:nvPicPr>
                      <p:cNvPr id="0" name="图片 7"/>
                      <p:cNvPicPr/>
                      <p:nvPr/>
                    </p:nvPicPr>
                    <p:blipFill>
                      <a:blip r:embed="rId2"/>
                      <a:stretch>
                        <a:fillRect/>
                      </a:stretch>
                    </p:blipFill>
                    <p:spPr>
                      <a:xfrm>
                        <a:off x="5041265" y="640715"/>
                        <a:ext cx="723265" cy="503555"/>
                      </a:xfrm>
                      <a:prstGeom prst="rect">
                        <a:avLst/>
                      </a:prstGeom>
                      <a:noFill/>
                      <a:ln w="38100">
                        <a:noFill/>
                        <a:miter/>
                      </a:ln>
                    </p:spPr>
                  </p:pic>
                </p:oleObj>
              </mc:Fallback>
            </mc:AlternateContent>
          </a:graphicData>
        </a:graphic>
      </p:graphicFrame>
      <p:graphicFrame>
        <p:nvGraphicFramePr>
          <p:cNvPr id="14" name="对象 -2147482614"/>
          <p:cNvGraphicFramePr>
            <a:graphicFrameLocks noChangeAspect="1"/>
          </p:cNvGraphicFramePr>
          <p:nvPr/>
        </p:nvGraphicFramePr>
        <p:xfrm>
          <a:off x="4417695" y="1492250"/>
          <a:ext cx="2355215" cy="1050925"/>
        </p:xfrm>
        <a:graphic>
          <a:graphicData uri="http://schemas.openxmlformats.org/presentationml/2006/ole">
            <mc:AlternateContent xmlns:mc="http://schemas.openxmlformats.org/markup-compatibility/2006">
              <mc:Choice xmlns:v="urn:schemas-microsoft-com:vml" Requires="v">
                <p:oleObj spid="_x0000_s15" name="" r:id="rId3" imgW="1028700" imgH="457200" progId="Equation.DSMT4">
                  <p:embed/>
                </p:oleObj>
              </mc:Choice>
              <mc:Fallback>
                <p:oleObj name="" r:id="rId3" imgW="1028700" imgH="457200" progId="Equation.DSMT4">
                  <p:embed/>
                  <p:pic>
                    <p:nvPicPr>
                      <p:cNvPr id="0" name="图片 8"/>
                      <p:cNvPicPr/>
                      <p:nvPr/>
                    </p:nvPicPr>
                    <p:blipFill>
                      <a:blip r:embed="rId4"/>
                      <a:stretch>
                        <a:fillRect/>
                      </a:stretch>
                    </p:blipFill>
                    <p:spPr>
                      <a:xfrm>
                        <a:off x="4417695" y="1492250"/>
                        <a:ext cx="2355215" cy="1050925"/>
                      </a:xfrm>
                      <a:prstGeom prst="rect">
                        <a:avLst/>
                      </a:prstGeom>
                      <a:noFill/>
                      <a:ln w="38100">
                        <a:noFill/>
                        <a:miter/>
                      </a:ln>
                    </p:spPr>
                  </p:pic>
                </p:oleObj>
              </mc:Fallback>
            </mc:AlternateContent>
          </a:graphicData>
        </a:graphic>
      </p:graphicFrame>
      <p:pic>
        <p:nvPicPr>
          <p:cNvPr id="16" name="图片 15"/>
          <p:cNvPicPr>
            <a:picLocks noChangeAspect="1"/>
          </p:cNvPicPr>
          <p:nvPr/>
        </p:nvPicPr>
        <p:blipFill>
          <a:blip r:embed="rId5"/>
          <a:stretch>
            <a:fillRect/>
          </a:stretch>
        </p:blipFill>
        <p:spPr>
          <a:xfrm>
            <a:off x="4282440" y="4460240"/>
            <a:ext cx="3052445" cy="1442085"/>
          </a:xfrm>
          <a:prstGeom prst="rect">
            <a:avLst/>
          </a:prstGeom>
        </p:spPr>
      </p:pic>
      <p:grpSp>
        <p:nvGrpSpPr>
          <p:cNvPr id="2185" name="组合 2184"/>
          <p:cNvGrpSpPr/>
          <p:nvPr/>
        </p:nvGrpSpPr>
        <p:grpSpPr>
          <a:xfrm>
            <a:off x="8503285" y="604203"/>
            <a:ext cx="7924800" cy="1295400"/>
            <a:chOff x="576" y="1728"/>
            <a:chExt cx="4992" cy="816"/>
          </a:xfrm>
        </p:grpSpPr>
        <p:grpSp>
          <p:nvGrpSpPr>
            <p:cNvPr id="2186" name="组合 2185"/>
            <p:cNvGrpSpPr/>
            <p:nvPr/>
          </p:nvGrpSpPr>
          <p:grpSpPr>
            <a:xfrm>
              <a:off x="576" y="1728"/>
              <a:ext cx="2160" cy="816"/>
              <a:chOff x="1440" y="1728"/>
              <a:chExt cx="2160" cy="816"/>
            </a:xfrm>
          </p:grpSpPr>
          <p:cxnSp>
            <p:nvCxnSpPr>
              <p:cNvPr id="2187" name="直接连接符 2186"/>
              <p:cNvCxnSpPr/>
              <p:nvPr/>
            </p:nvCxnSpPr>
            <p:spPr>
              <a:xfrm>
                <a:off x="1440" y="2400"/>
                <a:ext cx="1896" cy="14"/>
              </a:xfrm>
              <a:prstGeom prst="line">
                <a:avLst/>
              </a:prstGeom>
              <a:ln w="9525" cap="flat" cmpd="sng">
                <a:solidFill>
                  <a:srgbClr val="000000"/>
                </a:solidFill>
                <a:prstDash val="solid"/>
                <a:headEnd type="none" w="med" len="med"/>
                <a:tailEnd type="triangle" w="med" len="med"/>
              </a:ln>
            </p:spPr>
          </p:cxnSp>
          <p:cxnSp>
            <p:nvCxnSpPr>
              <p:cNvPr id="2188" name="直接连接符 2187"/>
              <p:cNvCxnSpPr/>
              <p:nvPr/>
            </p:nvCxnSpPr>
            <p:spPr>
              <a:xfrm flipV="1">
                <a:off x="2400" y="1728"/>
                <a:ext cx="0" cy="748"/>
              </a:xfrm>
              <a:prstGeom prst="line">
                <a:avLst/>
              </a:prstGeom>
              <a:ln w="9525" cap="flat" cmpd="sng">
                <a:solidFill>
                  <a:srgbClr val="000000"/>
                </a:solidFill>
                <a:prstDash val="solid"/>
                <a:headEnd type="none" w="med" len="med"/>
                <a:tailEnd type="triangle" w="med" len="med"/>
              </a:ln>
            </p:spPr>
          </p:cxnSp>
          <p:cxnSp>
            <p:nvCxnSpPr>
              <p:cNvPr id="2189" name="直接连接符 2188"/>
              <p:cNvCxnSpPr/>
              <p:nvPr/>
            </p:nvCxnSpPr>
            <p:spPr>
              <a:xfrm>
                <a:off x="1824" y="2400"/>
                <a:ext cx="576" cy="0"/>
              </a:xfrm>
              <a:prstGeom prst="line">
                <a:avLst/>
              </a:prstGeom>
              <a:ln w="38100" cap="flat" cmpd="sng">
                <a:solidFill>
                  <a:srgbClr val="993366"/>
                </a:solidFill>
                <a:prstDash val="solid"/>
                <a:headEnd type="none" w="med" len="med"/>
                <a:tailEnd type="none" w="med" len="med"/>
              </a:ln>
            </p:spPr>
          </p:cxnSp>
          <p:cxnSp>
            <p:nvCxnSpPr>
              <p:cNvPr id="2190" name="直接连接符 2189"/>
              <p:cNvCxnSpPr/>
              <p:nvPr/>
            </p:nvCxnSpPr>
            <p:spPr>
              <a:xfrm>
                <a:off x="2400" y="1977"/>
                <a:ext cx="504" cy="0"/>
              </a:xfrm>
              <a:prstGeom prst="line">
                <a:avLst/>
              </a:prstGeom>
              <a:ln w="38100" cap="flat" cmpd="sng">
                <a:solidFill>
                  <a:srgbClr val="993366"/>
                </a:solidFill>
                <a:prstDash val="solid"/>
                <a:headEnd type="none" w="med" len="med"/>
                <a:tailEnd type="none" w="med" len="med"/>
              </a:ln>
            </p:spPr>
          </p:cxnSp>
          <p:sp>
            <p:nvSpPr>
              <p:cNvPr id="2191" name="椭圆 2190"/>
              <p:cNvSpPr/>
              <p:nvPr/>
            </p:nvSpPr>
            <p:spPr>
              <a:xfrm>
                <a:off x="3408" y="2304"/>
                <a:ext cx="192" cy="144"/>
              </a:xfrm>
              <a:prstGeom prst="ellipse">
                <a:avLst/>
              </a:prstGeom>
              <a:noFill/>
              <a:ln w="9525">
                <a:noFill/>
              </a:ln>
            </p:spPr>
            <p:txBody>
              <a:bodyPr wrap="none" anchor="ctr"/>
              <a:p>
                <a:pPr algn="ctr" eaLnBrk="0" hangingPunct="0"/>
                <a:r>
                  <a:rPr lang="en-US" altLang="zh-CN" sz="1800" b="1">
                    <a:latin typeface="Tahoma" panose="020B0604030504040204" pitchFamily="34" charset="0"/>
                    <a:ea typeface="华文仿宋" panose="02010600040101010101" charset="-122"/>
                  </a:rPr>
                  <a:t>σ</a:t>
                </a:r>
                <a:endParaRPr lang="en-US" altLang="zh-CN" sz="1800" b="1">
                  <a:latin typeface="Tahoma" panose="020B0604030504040204" pitchFamily="34" charset="0"/>
                  <a:ea typeface="华文仿宋" panose="02010600040101010101" charset="-122"/>
                </a:endParaRPr>
              </a:p>
            </p:txBody>
          </p:sp>
          <p:sp>
            <p:nvSpPr>
              <p:cNvPr id="2192" name="椭圆 2191"/>
              <p:cNvSpPr/>
              <p:nvPr/>
            </p:nvSpPr>
            <p:spPr>
              <a:xfrm>
                <a:off x="2448" y="1728"/>
                <a:ext cx="192" cy="144"/>
              </a:xfrm>
              <a:prstGeom prst="ellipse">
                <a:avLst/>
              </a:prstGeom>
              <a:noFill/>
              <a:ln w="9525">
                <a:noFill/>
              </a:ln>
            </p:spPr>
            <p:txBody>
              <a:bodyPr wrap="none" anchor="ctr"/>
              <a:p>
                <a:pPr algn="ctr" eaLnBrk="0" hangingPunct="0"/>
                <a:r>
                  <a:rPr lang="en-US" altLang="zh-CN" sz="1800" b="1">
                    <a:latin typeface="Tahoma" panose="020B0604030504040204" pitchFamily="34" charset="0"/>
                    <a:ea typeface="华文仿宋" panose="02010600040101010101" charset="-122"/>
                  </a:rPr>
                  <a:t> f(σ)</a:t>
                </a:r>
                <a:endParaRPr lang="en-US" altLang="zh-CN" sz="1800" b="1">
                  <a:latin typeface="Tahoma" panose="020B0604030504040204" pitchFamily="34" charset="0"/>
                  <a:ea typeface="华文仿宋" panose="02010600040101010101" charset="-122"/>
                </a:endParaRPr>
              </a:p>
            </p:txBody>
          </p:sp>
          <p:sp>
            <p:nvSpPr>
              <p:cNvPr id="2193" name="椭圆 2192"/>
              <p:cNvSpPr/>
              <p:nvPr/>
            </p:nvSpPr>
            <p:spPr>
              <a:xfrm>
                <a:off x="2256" y="1920"/>
                <a:ext cx="96" cy="96"/>
              </a:xfrm>
              <a:prstGeom prst="ellipse">
                <a:avLst/>
              </a:prstGeom>
              <a:noFill/>
              <a:ln w="9525">
                <a:noFill/>
              </a:ln>
            </p:spPr>
            <p:txBody>
              <a:bodyPr wrap="none" anchor="ctr"/>
              <a:p>
                <a:pPr algn="ctr" eaLnBrk="0" hangingPunct="0"/>
                <a:r>
                  <a:rPr lang="en-US" altLang="zh-CN" sz="1800" b="1">
                    <a:solidFill>
                      <a:srgbClr val="FF0000"/>
                    </a:solidFill>
                    <a:latin typeface="Tahoma" panose="020B0604030504040204" pitchFamily="34" charset="0"/>
                    <a:ea typeface="华文仿宋" panose="02010600040101010101" charset="-122"/>
                  </a:rPr>
                  <a:t>1</a:t>
                </a:r>
                <a:endParaRPr lang="en-US" altLang="zh-CN" sz="1800" b="1">
                  <a:solidFill>
                    <a:srgbClr val="FF0000"/>
                  </a:solidFill>
                  <a:latin typeface="Tahoma" panose="020B0604030504040204" pitchFamily="34" charset="0"/>
                  <a:ea typeface="华文仿宋" panose="02010600040101010101" charset="-122"/>
                </a:endParaRPr>
              </a:p>
            </p:txBody>
          </p:sp>
          <p:sp>
            <p:nvSpPr>
              <p:cNvPr id="2194" name="椭圆 2193"/>
              <p:cNvSpPr/>
              <p:nvPr/>
            </p:nvSpPr>
            <p:spPr>
              <a:xfrm>
                <a:off x="2256" y="2448"/>
                <a:ext cx="96" cy="96"/>
              </a:xfrm>
              <a:prstGeom prst="ellipse">
                <a:avLst/>
              </a:prstGeom>
              <a:noFill/>
              <a:ln w="9525">
                <a:noFill/>
              </a:ln>
            </p:spPr>
            <p:txBody>
              <a:bodyPr wrap="none" anchor="ctr"/>
              <a:p>
                <a:pPr algn="ctr" eaLnBrk="0" hangingPunct="0"/>
                <a:r>
                  <a:rPr lang="en-US" altLang="zh-CN" sz="1800" b="1">
                    <a:solidFill>
                      <a:srgbClr val="FF0000"/>
                    </a:solidFill>
                    <a:latin typeface="Tahoma" panose="020B0604030504040204" pitchFamily="34" charset="0"/>
                    <a:ea typeface="华文仿宋" panose="02010600040101010101" charset="-122"/>
                  </a:rPr>
                  <a:t>0</a:t>
                </a:r>
                <a:endParaRPr lang="en-US" altLang="zh-CN" sz="1800" b="1">
                  <a:solidFill>
                    <a:srgbClr val="FF0000"/>
                  </a:solidFill>
                  <a:latin typeface="Tahoma" panose="020B0604030504040204" pitchFamily="34" charset="0"/>
                  <a:ea typeface="华文仿宋" panose="02010600040101010101" charset="-122"/>
                </a:endParaRPr>
              </a:p>
            </p:txBody>
          </p:sp>
        </p:grpSp>
        <p:sp>
          <p:nvSpPr>
            <p:cNvPr id="2195" name="矩形 2194"/>
            <p:cNvSpPr/>
            <p:nvPr/>
          </p:nvSpPr>
          <p:spPr>
            <a:xfrm>
              <a:off x="2832" y="2160"/>
              <a:ext cx="2739" cy="231"/>
            </a:xfrm>
            <a:prstGeom prst="rect">
              <a:avLst/>
            </a:prstGeom>
            <a:noFill/>
            <a:ln w="9525">
              <a:noFill/>
            </a:ln>
          </p:spPr>
          <p:txBody>
            <a:bodyPr>
              <a:spAutoFit/>
            </a:bodyPr>
            <a:p>
              <a:pPr eaLnBrk="0" hangingPunct="0">
                <a:spcBef>
                  <a:spcPct val="50000"/>
                </a:spcBef>
              </a:pPr>
              <a:r>
                <a:rPr lang="zh-CN" altLang="en-US" sz="1800" b="1">
                  <a:ea typeface="华文仿宋" panose="02010600040101010101" charset="-122"/>
                </a:rPr>
                <a:t>图</a:t>
              </a:r>
              <a:r>
                <a:rPr lang="zh-CN" altLang="en-US" sz="1800" b="1">
                  <a:latin typeface="Tahoma" panose="020B0604030504040204" pitchFamily="34" charset="0"/>
                  <a:ea typeface="华文仿宋" panose="02010600040101010101" charset="-122"/>
                </a:rPr>
                <a:t> </a:t>
              </a:r>
              <a:r>
                <a:rPr lang="en-US" altLang="zh-CN" sz="1800" b="1">
                  <a:latin typeface="Tahoma" panose="020B0604030504040204" pitchFamily="34" charset="0"/>
                  <a:ea typeface="华文仿宋" panose="02010600040101010101" charset="-122"/>
                </a:rPr>
                <a:t>5-3  </a:t>
              </a:r>
              <a:r>
                <a:rPr lang="zh-CN" altLang="en-US" sz="1800" b="1">
                  <a:ea typeface="华文仿宋" panose="02010600040101010101" charset="-122"/>
                </a:rPr>
                <a:t>阈值型神经元的输入／输出特性</a:t>
              </a:r>
              <a:r>
                <a:rPr lang="zh-CN" altLang="en-US" sz="1800">
                  <a:latin typeface="Tahoma" panose="020B0604030504040204" pitchFamily="34" charset="0"/>
                  <a:ea typeface="华文仿宋" panose="02010600040101010101" charset="-122"/>
                </a:rPr>
                <a:t> </a:t>
              </a:r>
              <a:endParaRPr lang="zh-CN" altLang="en-US" sz="1800">
                <a:latin typeface="Tahoma" panose="020B0604030504040204" pitchFamily="34" charset="0"/>
                <a:ea typeface="华文仿宋" panose="02010600040101010101" charset="-122"/>
              </a:endParaRPr>
            </a:p>
          </p:txBody>
        </p:sp>
      </p:grpSp>
      <p:grpSp>
        <p:nvGrpSpPr>
          <p:cNvPr id="2206" name="组合 2205"/>
          <p:cNvGrpSpPr/>
          <p:nvPr/>
        </p:nvGrpSpPr>
        <p:grpSpPr>
          <a:xfrm>
            <a:off x="8550910" y="4299585"/>
            <a:ext cx="9118600" cy="2057400"/>
            <a:chOff x="528" y="1152"/>
            <a:chExt cx="5232" cy="1296"/>
          </a:xfrm>
        </p:grpSpPr>
        <p:grpSp>
          <p:nvGrpSpPr>
            <p:cNvPr id="2207" name="组合 2206"/>
            <p:cNvGrpSpPr/>
            <p:nvPr/>
          </p:nvGrpSpPr>
          <p:grpSpPr>
            <a:xfrm>
              <a:off x="528" y="1253"/>
              <a:ext cx="1944" cy="1195"/>
              <a:chOff x="744" y="1253"/>
              <a:chExt cx="1728" cy="624"/>
            </a:xfrm>
          </p:grpSpPr>
          <p:cxnSp>
            <p:nvCxnSpPr>
              <p:cNvPr id="2208" name="直接连接符 2207"/>
              <p:cNvCxnSpPr/>
              <p:nvPr/>
            </p:nvCxnSpPr>
            <p:spPr>
              <a:xfrm>
                <a:off x="744" y="1752"/>
                <a:ext cx="1728" cy="0"/>
              </a:xfrm>
              <a:prstGeom prst="line">
                <a:avLst/>
              </a:prstGeom>
              <a:ln w="9525" cap="flat" cmpd="sng">
                <a:solidFill>
                  <a:srgbClr val="000000"/>
                </a:solidFill>
                <a:prstDash val="solid"/>
                <a:headEnd type="none" w="med" len="med"/>
                <a:tailEnd type="triangle" w="med" len="med"/>
              </a:ln>
            </p:spPr>
          </p:cxnSp>
          <p:cxnSp>
            <p:nvCxnSpPr>
              <p:cNvPr id="2209" name="直接连接符 2208"/>
              <p:cNvCxnSpPr/>
              <p:nvPr/>
            </p:nvCxnSpPr>
            <p:spPr>
              <a:xfrm flipV="1">
                <a:off x="1536" y="1253"/>
                <a:ext cx="0" cy="624"/>
              </a:xfrm>
              <a:prstGeom prst="line">
                <a:avLst/>
              </a:prstGeom>
              <a:ln w="9525" cap="flat" cmpd="sng">
                <a:solidFill>
                  <a:srgbClr val="000000"/>
                </a:solidFill>
                <a:prstDash val="solid"/>
                <a:headEnd type="none" w="med" len="med"/>
                <a:tailEnd type="triangle" w="med" len="med"/>
              </a:ln>
            </p:spPr>
          </p:cxnSp>
          <p:cxnSp>
            <p:nvCxnSpPr>
              <p:cNvPr id="2210" name="直接连接符 2209"/>
              <p:cNvCxnSpPr/>
              <p:nvPr/>
            </p:nvCxnSpPr>
            <p:spPr>
              <a:xfrm>
                <a:off x="1104" y="1752"/>
                <a:ext cx="432" cy="0"/>
              </a:xfrm>
              <a:prstGeom prst="line">
                <a:avLst/>
              </a:prstGeom>
              <a:ln w="38100" cap="flat" cmpd="sng">
                <a:solidFill>
                  <a:srgbClr val="993366"/>
                </a:solidFill>
                <a:prstDash val="solid"/>
                <a:headEnd type="none" w="med" len="med"/>
                <a:tailEnd type="none" w="med" len="med"/>
              </a:ln>
            </p:spPr>
          </p:cxnSp>
          <p:cxnSp>
            <p:nvCxnSpPr>
              <p:cNvPr id="2211" name="直接连接符 2210"/>
              <p:cNvCxnSpPr/>
              <p:nvPr/>
            </p:nvCxnSpPr>
            <p:spPr>
              <a:xfrm flipV="1">
                <a:off x="1536" y="1440"/>
                <a:ext cx="216" cy="312"/>
              </a:xfrm>
              <a:prstGeom prst="line">
                <a:avLst/>
              </a:prstGeom>
              <a:ln w="38100" cap="flat" cmpd="sng">
                <a:solidFill>
                  <a:srgbClr val="993366"/>
                </a:solidFill>
                <a:prstDash val="solid"/>
                <a:headEnd type="none" w="med" len="med"/>
                <a:tailEnd type="none" w="med" len="med"/>
              </a:ln>
            </p:spPr>
          </p:cxnSp>
          <p:cxnSp>
            <p:nvCxnSpPr>
              <p:cNvPr id="2212" name="直接连接符 2211"/>
              <p:cNvCxnSpPr/>
              <p:nvPr/>
            </p:nvCxnSpPr>
            <p:spPr>
              <a:xfrm>
                <a:off x="1752" y="1440"/>
                <a:ext cx="504" cy="0"/>
              </a:xfrm>
              <a:prstGeom prst="line">
                <a:avLst/>
              </a:prstGeom>
              <a:ln w="38100" cap="flat" cmpd="sng">
                <a:solidFill>
                  <a:srgbClr val="993366"/>
                </a:solidFill>
                <a:prstDash val="solid"/>
                <a:headEnd type="none" w="med" len="med"/>
                <a:tailEnd type="none" w="med" len="med"/>
              </a:ln>
            </p:spPr>
          </p:cxnSp>
          <p:cxnSp>
            <p:nvCxnSpPr>
              <p:cNvPr id="2213" name="直接连接符 2212"/>
              <p:cNvCxnSpPr/>
              <p:nvPr/>
            </p:nvCxnSpPr>
            <p:spPr>
              <a:xfrm>
                <a:off x="1536" y="1440"/>
                <a:ext cx="216" cy="0"/>
              </a:xfrm>
              <a:prstGeom prst="line">
                <a:avLst/>
              </a:prstGeom>
              <a:ln w="9525" cap="flat" cmpd="sng">
                <a:solidFill>
                  <a:srgbClr val="000000"/>
                </a:solidFill>
                <a:prstDash val="dash"/>
                <a:headEnd type="none" w="med" len="med"/>
                <a:tailEnd type="none" w="med" len="med"/>
              </a:ln>
            </p:spPr>
          </p:cxnSp>
        </p:grpSp>
        <p:sp>
          <p:nvSpPr>
            <p:cNvPr id="2214" name="矩形 2213"/>
            <p:cNvSpPr/>
            <p:nvPr/>
          </p:nvSpPr>
          <p:spPr>
            <a:xfrm>
              <a:off x="2640" y="2160"/>
              <a:ext cx="3123" cy="231"/>
            </a:xfrm>
            <a:prstGeom prst="rect">
              <a:avLst/>
            </a:prstGeom>
            <a:noFill/>
            <a:ln w="9525">
              <a:noFill/>
            </a:ln>
          </p:spPr>
          <p:txBody>
            <a:bodyPr>
              <a:spAutoFit/>
            </a:bodyPr>
            <a:p>
              <a:pPr eaLnBrk="0" hangingPunct="0">
                <a:spcBef>
                  <a:spcPct val="50000"/>
                </a:spcBef>
              </a:pPr>
              <a:r>
                <a:rPr lang="zh-CN" altLang="en-US" sz="1800" b="1">
                  <a:ea typeface="华文仿宋" panose="02010600040101010101" charset="-122"/>
                </a:rPr>
                <a:t>图</a:t>
              </a:r>
              <a:r>
                <a:rPr lang="zh-CN" altLang="en-US" sz="1800" b="1">
                  <a:latin typeface="Tahoma" panose="020B0604030504040204" pitchFamily="34" charset="0"/>
                  <a:ea typeface="华文仿宋" panose="02010600040101010101" charset="-122"/>
                </a:rPr>
                <a:t> </a:t>
              </a:r>
              <a:r>
                <a:rPr lang="en-US" altLang="zh-CN" sz="1800" b="1">
                  <a:latin typeface="Tahoma" panose="020B0604030504040204" pitchFamily="34" charset="0"/>
                  <a:ea typeface="华文仿宋" panose="02010600040101010101" charset="-122"/>
                </a:rPr>
                <a:t>5</a:t>
              </a:r>
              <a:r>
                <a:rPr lang="en-US" altLang="zh-CN" sz="1800" b="1">
                  <a:ea typeface="华文仿宋" panose="02010600040101010101" charset="-122"/>
                </a:rPr>
                <a:t>-</a:t>
              </a:r>
              <a:r>
                <a:rPr lang="en-US" altLang="zh-CN" sz="1800" b="1">
                  <a:latin typeface="Tahoma" panose="020B0604030504040204" pitchFamily="34" charset="0"/>
                  <a:ea typeface="华文仿宋" panose="02010600040101010101" charset="-122"/>
                </a:rPr>
                <a:t>4   </a:t>
              </a:r>
              <a:r>
                <a:rPr lang="zh-CN" altLang="en-US" sz="1800" b="1">
                  <a:latin typeface="Tahoma" panose="020B0604030504040204" pitchFamily="34" charset="0"/>
                  <a:ea typeface="华文仿宋" panose="02010600040101010101" charset="-122"/>
                </a:rPr>
                <a:t>分段</a:t>
              </a:r>
              <a:r>
                <a:rPr lang="zh-CN" altLang="en-US" sz="1800" b="1">
                  <a:ea typeface="华文仿宋" panose="02010600040101010101" charset="-122"/>
                </a:rPr>
                <a:t>线性饱和型神经元的输入／输出特性</a:t>
              </a:r>
              <a:r>
                <a:rPr lang="zh-CN" altLang="en-US" sz="1800" b="1">
                  <a:latin typeface="Tahoma" panose="020B0604030504040204" pitchFamily="34" charset="0"/>
                  <a:ea typeface="华文仿宋" panose="02010600040101010101" charset="-122"/>
                </a:rPr>
                <a:t> </a:t>
              </a:r>
              <a:endParaRPr lang="zh-CN" altLang="en-US" sz="1800" b="1">
                <a:latin typeface="Tahoma" panose="020B0604030504040204" pitchFamily="34" charset="0"/>
                <a:ea typeface="华文仿宋" panose="02010600040101010101" charset="-122"/>
              </a:endParaRPr>
            </a:p>
          </p:txBody>
        </p:sp>
        <p:sp>
          <p:nvSpPr>
            <p:cNvPr id="2215" name="椭圆 2214"/>
            <p:cNvSpPr/>
            <p:nvPr/>
          </p:nvSpPr>
          <p:spPr>
            <a:xfrm>
              <a:off x="1056" y="1152"/>
              <a:ext cx="240" cy="240"/>
            </a:xfrm>
            <a:prstGeom prst="ellipse">
              <a:avLst/>
            </a:prstGeom>
            <a:noFill/>
            <a:ln w="9525">
              <a:noFill/>
            </a:ln>
          </p:spPr>
          <p:txBody>
            <a:bodyPr wrap="none" anchor="ctr"/>
            <a:p>
              <a:pPr algn="ctr" eaLnBrk="0" hangingPunct="0"/>
              <a:r>
                <a:rPr lang="en-US" altLang="zh-CN" sz="1800" b="1">
                  <a:latin typeface="Tahoma" panose="020B0604030504040204" pitchFamily="34" charset="0"/>
                  <a:ea typeface="华文仿宋" panose="02010600040101010101" charset="-122"/>
                </a:rPr>
                <a:t>f(σ)</a:t>
              </a:r>
              <a:endParaRPr lang="en-US" altLang="zh-CN" sz="1800" b="1">
                <a:latin typeface="Tahoma" panose="020B0604030504040204" pitchFamily="34" charset="0"/>
                <a:ea typeface="华文仿宋" panose="02010600040101010101" charset="-122"/>
              </a:endParaRPr>
            </a:p>
          </p:txBody>
        </p:sp>
        <p:sp>
          <p:nvSpPr>
            <p:cNvPr id="2216" name="椭圆 2215"/>
            <p:cNvSpPr/>
            <p:nvPr/>
          </p:nvSpPr>
          <p:spPr>
            <a:xfrm>
              <a:off x="2448" y="2064"/>
              <a:ext cx="240" cy="240"/>
            </a:xfrm>
            <a:prstGeom prst="ellipse">
              <a:avLst/>
            </a:prstGeom>
            <a:noFill/>
            <a:ln w="9525">
              <a:noFill/>
            </a:ln>
          </p:spPr>
          <p:txBody>
            <a:bodyPr wrap="none" anchor="ctr"/>
            <a:p>
              <a:pPr algn="ctr" eaLnBrk="0" hangingPunct="0"/>
              <a:r>
                <a:rPr lang="en-US" altLang="zh-CN" sz="1800" b="1">
                  <a:latin typeface="Tahoma" panose="020B0604030504040204" pitchFamily="34" charset="0"/>
                  <a:ea typeface="华文仿宋" panose="02010600040101010101" charset="-122"/>
                </a:rPr>
                <a:t>σ</a:t>
              </a:r>
              <a:endParaRPr lang="en-US" altLang="zh-CN" sz="1800" b="1">
                <a:latin typeface="Tahoma" panose="020B0604030504040204" pitchFamily="34" charset="0"/>
                <a:ea typeface="华文仿宋" panose="02010600040101010101" charset="-122"/>
              </a:endParaRPr>
            </a:p>
          </p:txBody>
        </p:sp>
        <p:sp>
          <p:nvSpPr>
            <p:cNvPr id="2217" name="椭圆 2216"/>
            <p:cNvSpPr/>
            <p:nvPr/>
          </p:nvSpPr>
          <p:spPr>
            <a:xfrm>
              <a:off x="1152" y="2208"/>
              <a:ext cx="240" cy="240"/>
            </a:xfrm>
            <a:prstGeom prst="ellipse">
              <a:avLst/>
            </a:prstGeom>
            <a:noFill/>
            <a:ln w="9525">
              <a:noFill/>
            </a:ln>
          </p:spPr>
          <p:txBody>
            <a:bodyPr wrap="none" anchor="ctr"/>
            <a:p>
              <a:pPr algn="ctr" eaLnBrk="0" hangingPunct="0"/>
              <a:r>
                <a:rPr lang="en-US" altLang="zh-CN" sz="1800" b="1">
                  <a:solidFill>
                    <a:srgbClr val="FF0000"/>
                  </a:solidFill>
                  <a:latin typeface="Tahoma" panose="020B0604030504040204" pitchFamily="34" charset="0"/>
                  <a:ea typeface="华文仿宋" panose="02010600040101010101" charset="-122"/>
                </a:rPr>
                <a:t>0</a:t>
              </a:r>
              <a:endParaRPr lang="en-US" altLang="zh-CN" sz="1800" b="1">
                <a:solidFill>
                  <a:srgbClr val="FF0000"/>
                </a:solidFill>
                <a:latin typeface="Tahoma" panose="020B0604030504040204" pitchFamily="34" charset="0"/>
                <a:ea typeface="华文仿宋" panose="02010600040101010101" charset="-122"/>
              </a:endParaRPr>
            </a:p>
          </p:txBody>
        </p:sp>
        <p:sp>
          <p:nvSpPr>
            <p:cNvPr id="2218" name="椭圆 2217"/>
            <p:cNvSpPr/>
            <p:nvPr/>
          </p:nvSpPr>
          <p:spPr>
            <a:xfrm>
              <a:off x="1104" y="1536"/>
              <a:ext cx="240" cy="240"/>
            </a:xfrm>
            <a:prstGeom prst="ellipse">
              <a:avLst/>
            </a:prstGeom>
            <a:noFill/>
            <a:ln w="9525">
              <a:noFill/>
            </a:ln>
          </p:spPr>
          <p:txBody>
            <a:bodyPr wrap="none" anchor="ctr"/>
            <a:p>
              <a:pPr algn="ctr" eaLnBrk="0" hangingPunct="0"/>
              <a:r>
                <a:rPr lang="en-US" altLang="zh-CN" sz="1800" b="1">
                  <a:solidFill>
                    <a:srgbClr val="FF0000"/>
                  </a:solidFill>
                  <a:latin typeface="Tahoma" panose="020B0604030504040204" pitchFamily="34" charset="0"/>
                  <a:ea typeface="华文仿宋" panose="02010600040101010101" charset="-122"/>
                </a:rPr>
                <a:t>1</a:t>
              </a:r>
              <a:endParaRPr lang="en-US" altLang="zh-CN" sz="1800" b="1">
                <a:solidFill>
                  <a:srgbClr val="FF0000"/>
                </a:solidFill>
                <a:latin typeface="Tahoma" panose="020B0604030504040204" pitchFamily="34" charset="0"/>
                <a:ea typeface="华文仿宋" panose="02010600040101010101"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childTnLst>
                                    <p:set>
                                      <p:cBhvr additive="base">
                                        <p:cTn id="6" dur="1" fill="hold">
                                          <p:stCondLst>
                                            <p:cond delay="0"/>
                                          </p:stCondLst>
                                        </p:cTn>
                                        <p:tgtEl>
                                          <p:spTgt spid="2185"/>
                                        </p:tgtEl>
                                        <p:attrNameLst>
                                          <p:attrName>style.visibility</p:attrName>
                                        </p:attrNameLst>
                                      </p:cBhvr>
                                      <p:to>
                                        <p:strVal val="visible"/>
                                      </p:to>
                                    </p:set>
                                    <p:animEffect transition="in" filter="dissolve">
                                      <p:cBhvr additive="base">
                                        <p:cTn id="7" dur="500"/>
                                        <p:tgtEl>
                                          <p:spTgt spid="218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childTnLst>
                                    <p:set>
                                      <p:cBhvr additive="base">
                                        <p:cTn id="11" dur="1" fill="hold">
                                          <p:stCondLst>
                                            <p:cond delay="0"/>
                                          </p:stCondLst>
                                        </p:cTn>
                                        <p:tgtEl>
                                          <p:spTgt spid="2206"/>
                                        </p:tgtEl>
                                        <p:attrNameLst>
                                          <p:attrName>style.visibility</p:attrName>
                                        </p:attrNameLst>
                                      </p:cBhvr>
                                      <p:to>
                                        <p:strVal val="visible"/>
                                      </p:to>
                                    </p:set>
                                    <p:animEffect transition="in" filter="dissolve">
                                      <p:cBhvr additive="base">
                                        <p:cTn id="12" dur="500"/>
                                        <p:tgtEl>
                                          <p:spTgt spid="2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97050" y="612775"/>
            <a:ext cx="9668510" cy="5285740"/>
          </a:xfrm>
        </p:spPr>
        <p:txBody>
          <a:bodyPr>
            <a:noAutofit/>
          </a:bodyPr>
          <a:p>
            <a:r>
              <a:rPr lang="zh-CN" altLang="en-US" sz="2400">
                <a:latin typeface="楷体" panose="02010609060101010101" charset="-122"/>
                <a:ea typeface="楷体" panose="02010609060101010101" charset="-122"/>
                <a:cs typeface="楷体" panose="02010609060101010101" charset="-122"/>
              </a:rPr>
              <a:t>（3）Sigmoid函数。Sigmoid函数也叫S型函数,通常是在(0,1)或（-l,1）内连续取值的单调可微分函数，它是一类非常重要的激活函数,无论神经网络用于分类、函数逼近或优化,Sigmoid函数都是常用的激活函数。常用指数或正切等一类曲线表示:</a:t>
            </a:r>
            <a:endParaRPr lang="zh-CN" altLang="en-US" sz="2400">
              <a:latin typeface="楷体" panose="02010609060101010101" charset="-122"/>
              <a:ea typeface="楷体" panose="02010609060101010101" charset="-122"/>
              <a:cs typeface="楷体" panose="02010609060101010101" charset="-122"/>
            </a:endParaRPr>
          </a:p>
          <a:p>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                      或                          </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其中又称为Sigmoid函数的增益,其值决定了函数非饱和段的斜率, 越大, 曲线越陡。</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610"/>
          <p:cNvGraphicFramePr>
            <a:graphicFrameLocks noChangeAspect="1"/>
          </p:cNvGraphicFramePr>
          <p:nvPr/>
        </p:nvGraphicFramePr>
        <p:xfrm>
          <a:off x="2453640" y="2266950"/>
          <a:ext cx="2058670" cy="836295"/>
        </p:xfrm>
        <a:graphic>
          <a:graphicData uri="http://schemas.openxmlformats.org/presentationml/2006/ole">
            <mc:AlternateContent xmlns:mc="http://schemas.openxmlformats.org/markup-compatibility/2006">
              <mc:Choice xmlns:v="urn:schemas-microsoft-com:vml" Requires="v">
                <p:oleObj spid="_x0000_s3076" name="" r:id="rId1" imgW="965200" imgH="393700" progId="Equation.DSMT4">
                  <p:embed/>
                </p:oleObj>
              </mc:Choice>
              <mc:Fallback>
                <p:oleObj name="" r:id="rId1" imgW="965200" imgH="393700" progId="Equation.DSMT4">
                  <p:embed/>
                  <p:pic>
                    <p:nvPicPr>
                      <p:cNvPr id="0" name="图片 3075"/>
                      <p:cNvPicPr/>
                      <p:nvPr/>
                    </p:nvPicPr>
                    <p:blipFill>
                      <a:blip r:embed="rId2"/>
                      <a:stretch>
                        <a:fillRect/>
                      </a:stretch>
                    </p:blipFill>
                    <p:spPr>
                      <a:xfrm>
                        <a:off x="2453640" y="2266950"/>
                        <a:ext cx="2058670" cy="836295"/>
                      </a:xfrm>
                      <a:prstGeom prst="rect">
                        <a:avLst/>
                      </a:prstGeom>
                      <a:noFill/>
                      <a:ln w="38100">
                        <a:noFill/>
                        <a:miter/>
                      </a:ln>
                    </p:spPr>
                  </p:pic>
                </p:oleObj>
              </mc:Fallback>
            </mc:AlternateContent>
          </a:graphicData>
        </a:graphic>
      </p:graphicFrame>
      <p:graphicFrame>
        <p:nvGraphicFramePr>
          <p:cNvPr id="4" name="对象 -2147482609"/>
          <p:cNvGraphicFramePr>
            <a:graphicFrameLocks noChangeAspect="1"/>
          </p:cNvGraphicFramePr>
          <p:nvPr/>
        </p:nvGraphicFramePr>
        <p:xfrm>
          <a:off x="5356225" y="2148205"/>
          <a:ext cx="2181860" cy="955040"/>
        </p:xfrm>
        <a:graphic>
          <a:graphicData uri="http://schemas.openxmlformats.org/presentationml/2006/ole">
            <mc:AlternateContent xmlns:mc="http://schemas.openxmlformats.org/markup-compatibility/2006">
              <mc:Choice xmlns:v="urn:schemas-microsoft-com:vml" Requires="v">
                <p:oleObj spid="_x0000_s5" name="" r:id="rId3" imgW="965200" imgH="419100" progId="Equation.DSMT4">
                  <p:embed/>
                </p:oleObj>
              </mc:Choice>
              <mc:Fallback>
                <p:oleObj name="" r:id="rId3" imgW="965200" imgH="419100" progId="Equation.DSMT4">
                  <p:embed/>
                  <p:pic>
                    <p:nvPicPr>
                      <p:cNvPr id="0" name="图片 3"/>
                      <p:cNvPicPr/>
                      <p:nvPr/>
                    </p:nvPicPr>
                    <p:blipFill>
                      <a:blip r:embed="rId4"/>
                      <a:stretch>
                        <a:fillRect/>
                      </a:stretch>
                    </p:blipFill>
                    <p:spPr>
                      <a:xfrm>
                        <a:off x="5356225" y="2148205"/>
                        <a:ext cx="2181860" cy="955040"/>
                      </a:xfrm>
                      <a:prstGeom prst="rect">
                        <a:avLst/>
                      </a:prstGeom>
                      <a:no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97050" y="612775"/>
            <a:ext cx="9668510" cy="5285740"/>
          </a:xfrm>
        </p:spPr>
        <p:txBody>
          <a:bodyPr>
            <a:noAutofit/>
          </a:bodyPr>
          <a:p>
            <a:r>
              <a:rPr lang="zh-CN" altLang="en-US" sz="2400">
                <a:latin typeface="楷体" panose="02010609060101010101" charset="-122"/>
                <a:ea typeface="楷体" panose="02010609060101010101" charset="-122"/>
                <a:cs typeface="楷体" panose="02010609060101010101" charset="-122"/>
              </a:rPr>
              <a:t>（4）高斯函数。高斯函数(也称钟型函数)也是极为重要的一类激活函数,常用于径向基神经网络(RBF网络),其表达式为:</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                                               </a:t>
            </a:r>
            <a:endParaRPr lang="zh-CN" altLang="en-US" sz="2000">
              <a:latin typeface="楷体" panose="02010609060101010101" charset="-122"/>
              <a:ea typeface="楷体" panose="02010609060101010101" charset="-122"/>
              <a:cs typeface="楷体" panose="02010609060101010101" charset="-122"/>
            </a:endParaRPr>
          </a:p>
          <a:p>
            <a:endParaRPr lang="zh-CN" altLang="en-US" sz="2000">
              <a:latin typeface="楷体" panose="02010609060101010101" charset="-122"/>
              <a:ea typeface="楷体" panose="02010609060101010101" charset="-122"/>
              <a:cs typeface="楷体" panose="02010609060101010101" charset="-122"/>
            </a:endParaRPr>
          </a:p>
          <a:p>
            <a:endParaRPr lang="zh-CN" altLang="en-US" sz="2000">
              <a:latin typeface="楷体" panose="02010609060101010101" charset="-122"/>
              <a:ea typeface="楷体" panose="02010609060101010101" charset="-122"/>
              <a:cs typeface="楷体" panose="02010609060101010101" charset="-122"/>
            </a:endParaRPr>
          </a:p>
          <a:p>
            <a:pPr marL="0" indent="0">
              <a:buNone/>
            </a:pPr>
            <a:r>
              <a:rPr lang="en-US" altLang="zh-CN" sz="2400">
                <a:latin typeface="楷体" panose="02010609060101010101" charset="-122"/>
                <a:ea typeface="楷体" panose="02010609060101010101" charset="-122"/>
                <a:cs typeface="楷体" panose="02010609060101010101" charset="-122"/>
              </a:rPr>
              <a:t>	</a:t>
            </a:r>
            <a:r>
              <a:rPr lang="zh-CN" altLang="en-US" sz="2400">
                <a:latin typeface="楷体" panose="02010609060101010101" charset="-122"/>
                <a:ea typeface="楷体" panose="02010609060101010101" charset="-122"/>
                <a:cs typeface="楷体" panose="02010609060101010101" charset="-122"/>
              </a:rPr>
              <a:t>式中   称为高斯函数的宽度或扩展常数。  越大,函数曲线就越平坦;反之，  越小，函数曲线就越陡峭。</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6" name="对象 -2147482605"/>
          <p:cNvGraphicFramePr>
            <a:graphicFrameLocks noChangeAspect="1"/>
          </p:cNvGraphicFramePr>
          <p:nvPr/>
        </p:nvGraphicFramePr>
        <p:xfrm>
          <a:off x="4858385" y="1323340"/>
          <a:ext cx="1997075" cy="1125220"/>
        </p:xfrm>
        <a:graphic>
          <a:graphicData uri="http://schemas.openxmlformats.org/presentationml/2006/ole">
            <mc:AlternateContent xmlns:mc="http://schemas.openxmlformats.org/markup-compatibility/2006">
              <mc:Choice xmlns:v="urn:schemas-microsoft-com:vml" Requires="v">
                <p:oleObj spid="_x0000_s7" name="" r:id="rId1" imgW="698500" imgH="393700" progId="Equation.DSMT4">
                  <p:embed/>
                </p:oleObj>
              </mc:Choice>
              <mc:Fallback>
                <p:oleObj name="" r:id="rId1" imgW="698500" imgH="393700" progId="Equation.DSMT4">
                  <p:embed/>
                  <p:pic>
                    <p:nvPicPr>
                      <p:cNvPr id="0" name="图片 4"/>
                      <p:cNvPicPr/>
                      <p:nvPr/>
                    </p:nvPicPr>
                    <p:blipFill>
                      <a:blip r:embed="rId2"/>
                      <a:stretch>
                        <a:fillRect/>
                      </a:stretch>
                    </p:blipFill>
                    <p:spPr>
                      <a:xfrm>
                        <a:off x="4858385" y="1323340"/>
                        <a:ext cx="1997075" cy="1125220"/>
                      </a:xfrm>
                      <a:prstGeom prst="rect">
                        <a:avLst/>
                      </a:prstGeom>
                      <a:noFill/>
                      <a:ln w="38100">
                        <a:noFill/>
                        <a:miter/>
                      </a:ln>
                    </p:spPr>
                  </p:pic>
                </p:oleObj>
              </mc:Fallback>
            </mc:AlternateContent>
          </a:graphicData>
        </a:graphic>
      </p:graphicFrame>
      <p:graphicFrame>
        <p:nvGraphicFramePr>
          <p:cNvPr id="8" name="对象 -2147482603"/>
          <p:cNvGraphicFramePr>
            <a:graphicFrameLocks noChangeAspect="1"/>
          </p:cNvGraphicFramePr>
          <p:nvPr/>
        </p:nvGraphicFramePr>
        <p:xfrm>
          <a:off x="3070225" y="2775585"/>
          <a:ext cx="267970" cy="389890"/>
        </p:xfrm>
        <a:graphic>
          <a:graphicData uri="http://schemas.openxmlformats.org/presentationml/2006/ole">
            <mc:AlternateContent xmlns:mc="http://schemas.openxmlformats.org/markup-compatibility/2006">
              <mc:Choice xmlns:v="urn:schemas-microsoft-com:vml" Requires="v">
                <p:oleObj spid="_x0000_s9" name="" r:id="rId3" imgW="139700" imgH="177800" progId="Equation.DSMT4">
                  <p:embed/>
                </p:oleObj>
              </mc:Choice>
              <mc:Fallback>
                <p:oleObj name="" r:id="rId3" imgW="139700" imgH="177800" progId="Equation.DSMT4">
                  <p:embed/>
                  <p:pic>
                    <p:nvPicPr>
                      <p:cNvPr id="0" name="图片 5"/>
                      <p:cNvPicPr/>
                      <p:nvPr/>
                    </p:nvPicPr>
                    <p:blipFill>
                      <a:blip r:embed="rId4"/>
                      <a:stretch>
                        <a:fillRect/>
                      </a:stretch>
                    </p:blipFill>
                    <p:spPr>
                      <a:xfrm>
                        <a:off x="3070225" y="2775585"/>
                        <a:ext cx="267970" cy="389890"/>
                      </a:xfrm>
                      <a:prstGeom prst="rect">
                        <a:avLst/>
                      </a:prstGeom>
                      <a:noFill/>
                      <a:ln w="38100">
                        <a:noFill/>
                        <a:miter/>
                      </a:ln>
                    </p:spPr>
                  </p:pic>
                </p:oleObj>
              </mc:Fallback>
            </mc:AlternateContent>
          </a:graphicData>
        </a:graphic>
      </p:graphicFrame>
      <p:graphicFrame>
        <p:nvGraphicFramePr>
          <p:cNvPr id="10" name="对象 9"/>
          <p:cNvGraphicFramePr>
            <a:graphicFrameLocks noChangeAspect="1"/>
          </p:cNvGraphicFramePr>
          <p:nvPr/>
        </p:nvGraphicFramePr>
        <p:xfrm>
          <a:off x="7886700" y="2832735"/>
          <a:ext cx="280035" cy="332740"/>
        </p:xfrm>
        <a:graphic>
          <a:graphicData uri="http://schemas.openxmlformats.org/presentationml/2006/ole">
            <mc:AlternateContent xmlns:mc="http://schemas.openxmlformats.org/markup-compatibility/2006">
              <mc:Choice xmlns:v="urn:schemas-microsoft-com:vml" Requires="v">
                <p:oleObj spid="_x0000_s11" name="" r:id="rId5" imgW="139700" imgH="177800" progId="Equation.DSMT4">
                  <p:embed/>
                </p:oleObj>
              </mc:Choice>
              <mc:Fallback>
                <p:oleObj name="" r:id="rId5" imgW="139700" imgH="177800" progId="Equation.DSMT4">
                  <p:embed/>
                  <p:pic>
                    <p:nvPicPr>
                      <p:cNvPr id="0" name="图片 7"/>
                      <p:cNvPicPr/>
                      <p:nvPr/>
                    </p:nvPicPr>
                    <p:blipFill>
                      <a:blip r:embed="rId4"/>
                      <a:stretch>
                        <a:fillRect/>
                      </a:stretch>
                    </p:blipFill>
                    <p:spPr>
                      <a:xfrm>
                        <a:off x="7886700" y="2832735"/>
                        <a:ext cx="280035" cy="332740"/>
                      </a:xfrm>
                      <a:prstGeom prst="rect">
                        <a:avLst/>
                      </a:prstGeom>
                      <a:noFill/>
                      <a:ln w="38100">
                        <a:noFill/>
                        <a:miter/>
                      </a:ln>
                    </p:spPr>
                  </p:pic>
                </p:oleObj>
              </mc:Fallback>
            </mc:AlternateContent>
          </a:graphicData>
        </a:graphic>
      </p:graphicFrame>
      <p:graphicFrame>
        <p:nvGraphicFramePr>
          <p:cNvPr id="12" name="对象 11"/>
          <p:cNvGraphicFramePr>
            <a:graphicFrameLocks noChangeAspect="1"/>
          </p:cNvGraphicFramePr>
          <p:nvPr/>
        </p:nvGraphicFramePr>
        <p:xfrm>
          <a:off x="3338195" y="3260725"/>
          <a:ext cx="264795" cy="337185"/>
        </p:xfrm>
        <a:graphic>
          <a:graphicData uri="http://schemas.openxmlformats.org/presentationml/2006/ole">
            <mc:AlternateContent xmlns:mc="http://schemas.openxmlformats.org/markup-compatibility/2006">
              <mc:Choice xmlns:v="urn:schemas-microsoft-com:vml" Requires="v">
                <p:oleObj spid="_x0000_s13" name="" r:id="rId6" imgW="139700" imgH="177800" progId="Equation.DSMT4">
                  <p:embed/>
                </p:oleObj>
              </mc:Choice>
              <mc:Fallback>
                <p:oleObj name="" r:id="rId6" imgW="139700" imgH="177800" progId="Equation.DSMT4">
                  <p:embed/>
                  <p:pic>
                    <p:nvPicPr>
                      <p:cNvPr id="0" name="图片 9"/>
                      <p:cNvPicPr/>
                      <p:nvPr/>
                    </p:nvPicPr>
                    <p:blipFill>
                      <a:blip r:embed="rId4"/>
                      <a:stretch>
                        <a:fillRect/>
                      </a:stretch>
                    </p:blipFill>
                    <p:spPr>
                      <a:xfrm>
                        <a:off x="3338195" y="3260725"/>
                        <a:ext cx="264795" cy="337185"/>
                      </a:xfrm>
                      <a:prstGeom prst="rect">
                        <a:avLst/>
                      </a:prstGeom>
                      <a:noFill/>
                      <a:ln w="38100">
                        <a:noFill/>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6.1.3主要的神经网络模型</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188210" y="1452880"/>
            <a:ext cx="9316085" cy="4458335"/>
          </a:xfrm>
        </p:spPr>
        <p:txBody>
          <a:bodyPr>
            <a:noAutofit/>
          </a:bodyPr>
          <a:p>
            <a:r>
              <a:rPr lang="zh-CN" altLang="en-US" sz="2800">
                <a:latin typeface="楷体" panose="02010609060101010101" charset="-122"/>
                <a:ea typeface="楷体" panose="02010609060101010101" charset="-122"/>
                <a:cs typeface="楷体" panose="02010609060101010101" charset="-122"/>
              </a:rPr>
              <a:t>人工神经网络是由大量的神经元按照大规模并行的方式通过一定的</a:t>
            </a:r>
            <a:r>
              <a:rPr lang="zh-CN" altLang="en-US" sz="2800" b="1">
                <a:solidFill>
                  <a:srgbClr val="C00000"/>
                </a:solidFill>
                <a:latin typeface="楷体" panose="02010609060101010101" charset="-122"/>
                <a:ea typeface="楷体" panose="02010609060101010101" charset="-122"/>
                <a:cs typeface="楷体" panose="02010609060101010101" charset="-122"/>
              </a:rPr>
              <a:t>拓扑结构连接而成的网络</a:t>
            </a:r>
            <a:r>
              <a:rPr lang="zh-CN" altLang="en-US" sz="2800">
                <a:latin typeface="楷体" panose="02010609060101010101" charset="-122"/>
                <a:ea typeface="楷体" panose="02010609060101010101" charset="-122"/>
                <a:cs typeface="楷体" panose="02010609060101010101" charset="-122"/>
              </a:rPr>
              <a:t>。神经元只是单个的处理单元,并不能实现复杂的功能,只有大量神经元组成庞大的</a:t>
            </a:r>
            <a:r>
              <a:rPr lang="zh-CN" altLang="en-US" sz="2800" b="1">
                <a:solidFill>
                  <a:srgbClr val="C00000"/>
                </a:solidFill>
                <a:latin typeface="楷体" panose="02010609060101010101" charset="-122"/>
                <a:ea typeface="楷体" panose="02010609060101010101" charset="-122"/>
                <a:cs typeface="楷体" panose="02010609060101010101" charset="-122"/>
              </a:rPr>
              <a:t>神经网络</a:t>
            </a:r>
            <a:r>
              <a:rPr lang="zh-CN" altLang="en-US" sz="2800">
                <a:latin typeface="楷体" panose="02010609060101010101" charset="-122"/>
                <a:ea typeface="楷体" panose="02010609060101010101" charset="-122"/>
                <a:cs typeface="楷体" panose="02010609060101010101" charset="-122"/>
              </a:rPr>
              <a:t>,才能实现对复杂信息的处理与存储,并表现出各种优越的特性，因此必须按一定规则将神经元连接成神经网络,并使网络中各神经元的连接权按一定规则变化,这样一来也就产生了各式各样的神经网络模型。到目前为止,学术界的研究人员己经提出了近60种神经网络模型,我们可以按下述几个方面对其进行分类。</a:t>
            </a:r>
            <a:endParaRPr lang="zh-CN" altLang="en-US" sz="2800">
              <a:latin typeface="楷体" panose="02010609060101010101" charset="-122"/>
              <a:ea typeface="楷体" panose="02010609060101010101" charset="-122"/>
              <a:cs typeface="楷体" panose="02010609060101010101" charset="-122"/>
            </a:endParaRPr>
          </a:p>
          <a:p>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152650" y="1731645"/>
            <a:ext cx="9246870" cy="4039235"/>
          </a:xfrm>
        </p:spPr>
        <p:txBody>
          <a:bodyPr/>
          <a:p>
            <a:r>
              <a:rPr lang="zh-CN" altLang="en-US" sz="2800">
                <a:latin typeface="楷体" panose="02010609060101010101" charset="-122"/>
                <a:ea typeface="楷体" panose="02010609060101010101" charset="-122"/>
                <a:cs typeface="楷体" panose="02010609060101010101" charset="-122"/>
                <a:sym typeface="+mn-ea"/>
              </a:rPr>
              <a:t>（1）按神经网络的拓扑结构可以分为</a:t>
            </a:r>
            <a:r>
              <a:rPr lang="zh-CN" altLang="en-US" sz="2800" b="1">
                <a:latin typeface="楷体" panose="02010609060101010101" charset="-122"/>
                <a:ea typeface="楷体" panose="02010609060101010101" charset="-122"/>
                <a:cs typeface="楷体" panose="02010609060101010101" charset="-122"/>
                <a:sym typeface="+mn-ea"/>
              </a:rPr>
              <a:t>反馈神经网络</a:t>
            </a:r>
            <a:r>
              <a:rPr lang="zh-CN" altLang="en-US" sz="2800">
                <a:latin typeface="楷体" panose="02010609060101010101" charset="-122"/>
                <a:ea typeface="楷体" panose="02010609060101010101" charset="-122"/>
                <a:cs typeface="楷体" panose="02010609060101010101" charset="-122"/>
                <a:sym typeface="+mn-ea"/>
              </a:rPr>
              <a:t>模型和</a:t>
            </a:r>
            <a:r>
              <a:rPr lang="zh-CN" altLang="en-US" sz="2800" b="1">
                <a:latin typeface="楷体" panose="02010609060101010101" charset="-122"/>
                <a:ea typeface="楷体" panose="02010609060101010101" charset="-122"/>
                <a:cs typeface="楷体" panose="02010609060101010101" charset="-122"/>
                <a:sym typeface="+mn-ea"/>
              </a:rPr>
              <a:t>前向神经网络</a:t>
            </a:r>
            <a:r>
              <a:rPr lang="zh-CN" altLang="en-US" sz="2800">
                <a:latin typeface="楷体" panose="02010609060101010101" charset="-122"/>
                <a:ea typeface="楷体" panose="02010609060101010101" charset="-122"/>
                <a:cs typeface="楷体" panose="02010609060101010101" charset="-122"/>
                <a:sym typeface="+mn-ea"/>
              </a:rPr>
              <a:t>模型;</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sym typeface="+mn-ea"/>
              </a:rPr>
              <a:t>（2）按神经网络模型的性能可分为</a:t>
            </a:r>
            <a:r>
              <a:rPr lang="zh-CN" altLang="en-US" sz="2800" b="1">
                <a:latin typeface="楷体" panose="02010609060101010101" charset="-122"/>
                <a:ea typeface="楷体" panose="02010609060101010101" charset="-122"/>
                <a:cs typeface="楷体" panose="02010609060101010101" charset="-122"/>
                <a:sym typeface="+mn-ea"/>
              </a:rPr>
              <a:t>连续型</a:t>
            </a:r>
            <a:r>
              <a:rPr lang="zh-CN" altLang="en-US" sz="2800">
                <a:latin typeface="楷体" panose="02010609060101010101" charset="-122"/>
                <a:ea typeface="楷体" panose="02010609060101010101" charset="-122"/>
                <a:cs typeface="楷体" panose="02010609060101010101" charset="-122"/>
                <a:sym typeface="+mn-ea"/>
              </a:rPr>
              <a:t>与</a:t>
            </a:r>
            <a:r>
              <a:rPr lang="zh-CN" altLang="en-US" sz="2800" b="1">
                <a:latin typeface="楷体" panose="02010609060101010101" charset="-122"/>
                <a:ea typeface="楷体" panose="02010609060101010101" charset="-122"/>
                <a:cs typeface="楷体" panose="02010609060101010101" charset="-122"/>
                <a:sym typeface="+mn-ea"/>
              </a:rPr>
              <a:t>离散型</a:t>
            </a:r>
            <a:r>
              <a:rPr lang="zh-CN" altLang="en-US" sz="2800">
                <a:latin typeface="楷体" panose="02010609060101010101" charset="-122"/>
                <a:ea typeface="楷体" panose="02010609060101010101" charset="-122"/>
                <a:cs typeface="楷体" panose="02010609060101010101" charset="-122"/>
                <a:sym typeface="+mn-ea"/>
              </a:rPr>
              <a:t>神经网络模型,</a:t>
            </a:r>
            <a:r>
              <a:rPr lang="zh-CN" altLang="en-US" sz="2800" b="1">
                <a:latin typeface="楷体" panose="02010609060101010101" charset="-122"/>
                <a:ea typeface="楷体" panose="02010609060101010101" charset="-122"/>
                <a:cs typeface="楷体" panose="02010609060101010101" charset="-122"/>
                <a:sym typeface="+mn-ea"/>
              </a:rPr>
              <a:t>确定型</a:t>
            </a:r>
            <a:r>
              <a:rPr lang="zh-CN" altLang="en-US" sz="2800">
                <a:latin typeface="楷体" panose="02010609060101010101" charset="-122"/>
                <a:ea typeface="楷体" panose="02010609060101010101" charset="-122"/>
                <a:cs typeface="楷体" panose="02010609060101010101" charset="-122"/>
                <a:sym typeface="+mn-ea"/>
              </a:rPr>
              <a:t>与</a:t>
            </a:r>
            <a:r>
              <a:rPr lang="zh-CN" altLang="en-US" sz="2800" b="1">
                <a:latin typeface="楷体" panose="02010609060101010101" charset="-122"/>
                <a:ea typeface="楷体" panose="02010609060101010101" charset="-122"/>
                <a:cs typeface="楷体" panose="02010609060101010101" charset="-122"/>
                <a:sym typeface="+mn-ea"/>
              </a:rPr>
              <a:t>随机型</a:t>
            </a:r>
            <a:r>
              <a:rPr lang="zh-CN" altLang="en-US" sz="2800">
                <a:latin typeface="楷体" panose="02010609060101010101" charset="-122"/>
                <a:ea typeface="楷体" panose="02010609060101010101" charset="-122"/>
                <a:cs typeface="楷体" panose="02010609060101010101" charset="-122"/>
                <a:sym typeface="+mn-ea"/>
              </a:rPr>
              <a:t>神经网络模型;</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sym typeface="+mn-ea"/>
              </a:rPr>
              <a:t>（3）按学习方式可以分为</a:t>
            </a:r>
            <a:r>
              <a:rPr lang="zh-CN" altLang="en-US" sz="2800" b="1">
                <a:latin typeface="楷体" panose="02010609060101010101" charset="-122"/>
                <a:ea typeface="楷体" panose="02010609060101010101" charset="-122"/>
                <a:cs typeface="楷体" panose="02010609060101010101" charset="-122"/>
                <a:sym typeface="+mn-ea"/>
              </a:rPr>
              <a:t>有教师学习</a:t>
            </a:r>
            <a:r>
              <a:rPr lang="zh-CN" altLang="en-US" sz="2800">
                <a:latin typeface="楷体" panose="02010609060101010101" charset="-122"/>
                <a:ea typeface="楷体" panose="02010609060101010101" charset="-122"/>
                <a:cs typeface="楷体" panose="02010609060101010101" charset="-122"/>
                <a:sym typeface="+mn-ea"/>
              </a:rPr>
              <a:t>和</a:t>
            </a:r>
            <a:r>
              <a:rPr lang="zh-CN" altLang="en-US" sz="2800" b="1">
                <a:latin typeface="楷体" panose="02010609060101010101" charset="-122"/>
                <a:ea typeface="楷体" panose="02010609060101010101" charset="-122"/>
                <a:cs typeface="楷体" panose="02010609060101010101" charset="-122"/>
                <a:sym typeface="+mn-ea"/>
              </a:rPr>
              <a:t>无教师学习</a:t>
            </a:r>
            <a:r>
              <a:rPr lang="zh-CN" altLang="en-US" sz="2800">
                <a:latin typeface="楷体" panose="02010609060101010101" charset="-122"/>
                <a:ea typeface="楷体" panose="02010609060101010101" charset="-122"/>
                <a:cs typeface="楷体" panose="02010609060101010101" charset="-122"/>
                <a:sym typeface="+mn-ea"/>
              </a:rPr>
              <a:t>神经网络模型;</a:t>
            </a:r>
            <a:endParaRPr lang="zh-CN" altLang="en-US" sz="28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sym typeface="+mn-ea"/>
              </a:rPr>
              <a:t>（4）按连接突触性质可分为</a:t>
            </a:r>
            <a:r>
              <a:rPr lang="zh-CN" altLang="en-US" sz="2800" b="1">
                <a:latin typeface="楷体" panose="02010609060101010101" charset="-122"/>
                <a:ea typeface="楷体" panose="02010609060101010101" charset="-122"/>
                <a:cs typeface="楷体" panose="02010609060101010101" charset="-122"/>
                <a:sym typeface="+mn-ea"/>
              </a:rPr>
              <a:t>一阶线性关联</a:t>
            </a:r>
            <a:r>
              <a:rPr lang="zh-CN" altLang="en-US" sz="2800">
                <a:latin typeface="楷体" panose="02010609060101010101" charset="-122"/>
                <a:ea typeface="楷体" panose="02010609060101010101" charset="-122"/>
                <a:cs typeface="楷体" panose="02010609060101010101" charset="-122"/>
                <a:sym typeface="+mn-ea"/>
              </a:rPr>
              <a:t>和</a:t>
            </a:r>
            <a:r>
              <a:rPr lang="zh-CN" altLang="en-US" sz="2800" b="1">
                <a:latin typeface="楷体" panose="02010609060101010101" charset="-122"/>
                <a:ea typeface="楷体" panose="02010609060101010101" charset="-122"/>
                <a:cs typeface="楷体" panose="02010609060101010101" charset="-122"/>
                <a:sym typeface="+mn-ea"/>
              </a:rPr>
              <a:t>高阶非线性关联</a:t>
            </a:r>
            <a:r>
              <a:rPr lang="zh-CN" altLang="en-US" sz="2800">
                <a:latin typeface="楷体" panose="02010609060101010101" charset="-122"/>
                <a:ea typeface="楷体" panose="02010609060101010101" charset="-122"/>
                <a:cs typeface="楷体" panose="02010609060101010101" charset="-122"/>
                <a:sym typeface="+mn-ea"/>
              </a:rPr>
              <a:t>神经网络模型</a:t>
            </a:r>
            <a:endParaRPr lang="zh-CN" altLang="en-US" sz="2800">
              <a:latin typeface="楷体" panose="02010609060101010101" charset="-122"/>
              <a:ea typeface="楷体" panose="02010609060101010101" charset="-122"/>
              <a:cs typeface="楷体" panose="02010609060101010101" charset="-122"/>
            </a:endParaRPr>
          </a:p>
          <a:p>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59890" y="631190"/>
            <a:ext cx="10316845" cy="6089650"/>
          </a:xfrm>
        </p:spPr>
        <p:txBody>
          <a:bodyPr>
            <a:noAutofit/>
          </a:bodyPr>
          <a:p>
            <a:r>
              <a:rPr lang="zh-CN" altLang="en-US" sz="2800">
                <a:latin typeface="楷体" panose="02010609060101010101" charset="-122"/>
                <a:ea typeface="楷体" panose="02010609060101010101" charset="-122"/>
                <a:cs typeface="楷体" panose="02010609060101010101" charset="-122"/>
              </a:rPr>
              <a:t>目前使用的比较典型的一些神经网络模型主要有以下几类:</a:t>
            </a:r>
            <a:endParaRPr lang="zh-CN" altLang="en-US" sz="2000">
              <a:latin typeface="楷体" panose="02010609060101010101" charset="-122"/>
              <a:ea typeface="楷体" panose="02010609060101010101" charset="-122"/>
              <a:cs typeface="楷体" panose="02010609060101010101" charset="-122"/>
            </a:endParaRPr>
          </a:p>
          <a:p>
            <a:r>
              <a:rPr lang="zh-CN" altLang="en-US" sz="2800">
                <a:latin typeface="楷体" panose="02010609060101010101" charset="-122"/>
                <a:ea typeface="楷体" panose="02010609060101010101" charset="-122"/>
                <a:cs typeface="楷体" panose="02010609060101010101" charset="-122"/>
              </a:rPr>
              <a:t>1.误差后向传播(Back Propagation ，BP)神经网络</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en-US" altLang="zh-CN" sz="2800">
                <a:latin typeface="楷体" panose="02010609060101010101" charset="-122"/>
                <a:ea typeface="楷体" panose="02010609060101010101" charset="-122"/>
                <a:cs typeface="楷体" panose="02010609060101010101" charset="-122"/>
              </a:rPr>
              <a:t>	</a:t>
            </a:r>
            <a:r>
              <a:rPr lang="zh-CN" altLang="en-US" sz="2800">
                <a:latin typeface="楷体" panose="02010609060101010101" charset="-122"/>
                <a:ea typeface="楷体" panose="02010609060101010101" charset="-122"/>
                <a:cs typeface="楷体" panose="02010609060101010101" charset="-122"/>
              </a:rPr>
              <a:t>BP神经网络是</a:t>
            </a:r>
            <a:r>
              <a:rPr lang="zh-CN" altLang="en-US" sz="2800" b="1">
                <a:latin typeface="楷体" panose="02010609060101010101" charset="-122"/>
                <a:ea typeface="楷体" panose="02010609060101010101" charset="-122"/>
                <a:cs typeface="楷体" panose="02010609060101010101" charset="-122"/>
              </a:rPr>
              <a:t>前馈网络中最具代表性的网络类型</a:t>
            </a:r>
            <a:r>
              <a:rPr lang="zh-CN" altLang="en-US" sz="2800">
                <a:latin typeface="楷体" panose="02010609060101010101" charset="-122"/>
                <a:ea typeface="楷体" panose="02010609060101010101" charset="-122"/>
                <a:cs typeface="楷体" panose="02010609060101010101" charset="-122"/>
              </a:rPr>
              <a:t>。该类神经网络模型是一种多层映射神经网络,采用的是最小均方差的学习方式,是目前使用最广泛的神经网络模型之一，多层感知网络是一种具有三层或三层以上的阶层型神经网络。典型的多层感知网络是三层、前馈的阶层网络,即:输入层、隐含层(也称中间层)、输出层。相邻层之间的各神经元实现全连接,即下一层的每一个神经元与上一层的每个神经元都实现全连接,而且每层各神经元之间无连接。</a:t>
            </a:r>
            <a:endParaRPr lang="zh-CN" altLang="en-US" sz="2800">
              <a:latin typeface="楷体" panose="02010609060101010101" charset="-122"/>
              <a:ea typeface="楷体" panose="02010609060101010101" charset="-122"/>
              <a:cs typeface="楷体" panose="02010609060101010101" charset="-122"/>
            </a:endParaRPr>
          </a:p>
          <a:p>
            <a:pPr marL="0" indent="0">
              <a:buNone/>
            </a:pPr>
            <a:endParaRPr lang="zh-CN" altLang="en-US" sz="2800">
              <a:latin typeface="楷体" panose="02010609060101010101" charset="-122"/>
              <a:ea typeface="楷体" panose="02010609060101010101" charset="-122"/>
              <a:cs typeface="楷体" panose="02010609060101010101" charset="-122"/>
            </a:endParaRPr>
          </a:p>
        </p:txBody>
      </p:sp>
      <p:graphicFrame>
        <p:nvGraphicFramePr>
          <p:cNvPr id="2" name="对象 -2147482582"/>
          <p:cNvGraphicFramePr>
            <a:graphicFrameLocks noChangeAspect="1"/>
          </p:cNvGraphicFramePr>
          <p:nvPr/>
        </p:nvGraphicFramePr>
        <p:xfrm>
          <a:off x="4434205" y="4860290"/>
          <a:ext cx="4768215" cy="1997710"/>
        </p:xfrm>
        <a:graphic>
          <a:graphicData uri="http://schemas.openxmlformats.org/presentationml/2006/ole">
            <mc:AlternateContent xmlns:mc="http://schemas.openxmlformats.org/markup-compatibility/2006">
              <mc:Choice xmlns:v="urn:schemas-microsoft-com:vml" Requires="v">
                <p:oleObj spid="_x0000_s5" name="" r:id="rId1" imgW="5260975" imgH="2202180" progId="Word.Document.8">
                  <p:embed/>
                </p:oleObj>
              </mc:Choice>
              <mc:Fallback>
                <p:oleObj name="" r:id="rId1" imgW="5260975" imgH="2202180" progId="Word.Document.8">
                  <p:embed/>
                  <p:pic>
                    <p:nvPicPr>
                      <p:cNvPr id="0" name="图片 3075"/>
                      <p:cNvPicPr/>
                      <p:nvPr/>
                    </p:nvPicPr>
                    <p:blipFill>
                      <a:blip r:embed="rId2"/>
                      <a:stretch>
                        <a:fillRect/>
                      </a:stretch>
                    </p:blipFill>
                    <p:spPr>
                      <a:xfrm>
                        <a:off x="4434205" y="4860290"/>
                        <a:ext cx="4768215" cy="1997710"/>
                      </a:xfrm>
                      <a:prstGeom prst="rect">
                        <a:avLst/>
                      </a:prstGeom>
                      <a:noFill/>
                      <a:ln w="38100">
                        <a:noFill/>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59890" y="631190"/>
            <a:ext cx="10316845" cy="6089650"/>
          </a:xfrm>
        </p:spPr>
        <p:txBody>
          <a:bodyPr>
            <a:noAutofit/>
          </a:bodyPr>
          <a:p>
            <a:pPr marL="0" indent="0">
              <a:buNone/>
            </a:pPr>
            <a:r>
              <a:rPr lang="zh-CN" altLang="en-US" sz="2800">
                <a:latin typeface="楷体" panose="02010609060101010101" charset="-122"/>
                <a:ea typeface="楷体" panose="02010609060101010101" charset="-122"/>
                <a:cs typeface="楷体" panose="02010609060101010101" charset="-122"/>
              </a:rPr>
              <a:t>2.径向基函数(Radial Basis Function ，RBF)神经网络</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en-US" altLang="zh-CN" sz="2800">
                <a:latin typeface="楷体" panose="02010609060101010101" charset="-122"/>
                <a:ea typeface="楷体" panose="02010609060101010101" charset="-122"/>
                <a:cs typeface="楷体" panose="02010609060101010101" charset="-122"/>
              </a:rPr>
              <a:t>	</a:t>
            </a:r>
            <a:r>
              <a:rPr lang="zh-CN" altLang="en-US" sz="2800">
                <a:latin typeface="楷体" panose="02010609060101010101" charset="-122"/>
                <a:ea typeface="楷体" panose="02010609060101010101" charset="-122"/>
                <a:cs typeface="楷体" panose="02010609060101010101" charset="-122"/>
              </a:rPr>
              <a:t>除BP神经网络以外,径向基函数神经网络也是一类常用的前馈网络。一般情况下,RBF网络采用3层结构,层间的神经元的连接方式同BP网络类似,也是采用层间全连接、层内无连接方式。与BP神经网络最大的不同之处在于,RBF网络的隐节点的基函数采用距离函数(如欧氏距离),并使用径向基函数(如高斯函数)作为激活函数。</a:t>
            </a:r>
            <a:endParaRPr lang="zh-CN" altLang="en-US" sz="2800">
              <a:latin typeface="楷体" panose="02010609060101010101" charset="-122"/>
              <a:ea typeface="楷体" panose="02010609060101010101" charset="-122"/>
              <a:cs typeface="楷体" panose="02010609060101010101" charset="-122"/>
            </a:endParaRPr>
          </a:p>
          <a:p>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24685" y="247650"/>
            <a:ext cx="9421495" cy="4057015"/>
          </a:xfrm>
        </p:spPr>
        <p:txBody>
          <a:bodyPr>
            <a:noAutofit/>
          </a:bodyPr>
          <a:p>
            <a:r>
              <a:rPr lang="zh-CN" altLang="en-US" sz="2800">
                <a:latin typeface="楷体" panose="02010609060101010101" charset="-122"/>
                <a:ea typeface="楷体" panose="02010609060101010101" charset="-122"/>
                <a:cs typeface="楷体" panose="02010609060101010101" charset="-122"/>
                <a:sym typeface="+mn-ea"/>
              </a:rPr>
              <a:t>3.Hopfield网络</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en-US" altLang="zh-CN" sz="2800">
                <a:latin typeface="楷体" panose="02010609060101010101" charset="-122"/>
                <a:ea typeface="楷体" panose="02010609060101010101" charset="-122"/>
                <a:cs typeface="楷体" panose="02010609060101010101" charset="-122"/>
                <a:sym typeface="+mn-ea"/>
              </a:rPr>
              <a:t>	</a:t>
            </a:r>
            <a:r>
              <a:rPr lang="zh-CN" altLang="en-US" sz="2800">
                <a:latin typeface="楷体" panose="02010609060101010101" charset="-122"/>
                <a:ea typeface="楷体" panose="02010609060101010101" charset="-122"/>
                <a:cs typeface="楷体" panose="02010609060101010101" charset="-122"/>
                <a:sym typeface="+mn-ea"/>
              </a:rPr>
              <a:t>Hopfield网络作为一种</a:t>
            </a:r>
            <a:r>
              <a:rPr lang="zh-CN" altLang="en-US" sz="2800" b="1">
                <a:latin typeface="楷体" panose="02010609060101010101" charset="-122"/>
                <a:ea typeface="楷体" panose="02010609060101010101" charset="-122"/>
                <a:cs typeface="楷体" panose="02010609060101010101" charset="-122"/>
                <a:sym typeface="+mn-ea"/>
              </a:rPr>
              <a:t>单层对称全反馈神经网络</a:t>
            </a:r>
            <a:r>
              <a:rPr lang="zh-CN" altLang="en-US" sz="2800">
                <a:latin typeface="楷体" panose="02010609060101010101" charset="-122"/>
                <a:ea typeface="楷体" panose="02010609060101010101" charset="-122"/>
                <a:cs typeface="楷体" panose="02010609060101010101" charset="-122"/>
                <a:sym typeface="+mn-ea"/>
              </a:rPr>
              <a:t>,使用与层次型神经网络不同的结构特征和学习方法,模拟生物神经网络的记忆机理,获得了令人满意的结果。它是由相同的神经元构成的单层、并且不具学习功能的自联想网络。网络的权值按一定规则计算出来,一经确定就不再改变,而网络中各神经元的状态在运行过程中不断更新,网络演变到稳态时各神经元的状态便是问题之解。</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en-US" altLang="zh-CN" sz="2800">
                <a:latin typeface="楷体" panose="02010609060101010101" charset="-122"/>
                <a:ea typeface="楷体" panose="02010609060101010101" charset="-122"/>
                <a:cs typeface="楷体" panose="02010609060101010101" charset="-122"/>
                <a:sym typeface="+mn-ea"/>
              </a:rPr>
              <a:t>	</a:t>
            </a:r>
            <a:r>
              <a:rPr lang="zh-CN" altLang="en-US" sz="2800">
                <a:latin typeface="楷体" panose="02010609060101010101" charset="-122"/>
                <a:ea typeface="楷体" panose="02010609060101010101" charset="-122"/>
                <a:cs typeface="楷体" panose="02010609060101010101" charset="-122"/>
                <a:sym typeface="+mn-ea"/>
              </a:rPr>
              <a:t>Hopfield网络有离散型和连续型两种，其中离散型的激活函数为二值型的, 其输入、输出为{0,1}的反馈网络,主要用于联想记忆，而连续型Hopfield网络的激活函数的输入与输出之间的关系为连续可微的单调上升函数,主要用于优化计算。</a:t>
            </a:r>
            <a:endParaRPr lang="zh-CN" altLang="en-US" sz="2800">
              <a:latin typeface="楷体" panose="02010609060101010101" charset="-122"/>
              <a:ea typeface="楷体" panose="02010609060101010101" charset="-122"/>
              <a:cs typeface="楷体" panose="02010609060101010101"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3"/>
          <p:cNvSpPr/>
          <p:nvPr>
            <p:ph type="ftr" sz="quarter" idx="11"/>
          </p:nvPr>
        </p:nvSpPr>
        <p:spPr>
          <a:xfrm>
            <a:off x="4981892" y="4230808"/>
            <a:ext cx="7619999" cy="365125"/>
          </a:xfrm>
        </p:spPr>
        <p:txBody>
          <a:bodyPr/>
          <a:p>
            <a:pPr lvl="0" defTabSz="914400" rtl="0" eaLnBrk="1" latinLnBrk="0" hangingPunct="1">
              <a:lnSpc>
                <a:spcPct val="100000"/>
              </a:lnSpc>
              <a:spcBef>
                <a:spcPct val="0"/>
              </a:spcBef>
              <a:spcAft>
                <a:spcPct val="0"/>
              </a:spcAft>
              <a:buClrTx/>
              <a:buSzPct val="100000"/>
            </a:pPr>
            <a:r>
              <a:rPr lang="en-US" altLang="zh-CN"/>
              <a:t>.</a:t>
            </a:r>
            <a:endParaRPr lang="en-US" altLang="zh-CN" sz="1400" u="none">
              <a:solidFill>
                <a:schemeClr val="tx1"/>
              </a:solidFill>
              <a:latin typeface="Times New Roman" panose="02020603050405020304" pitchFamily="18" charset="0"/>
              <a:ea typeface="宋体" panose="02010600030101010101" pitchFamily="2" charset="-122"/>
            </a:endParaRPr>
          </a:p>
        </p:txBody>
      </p:sp>
      <p:grpSp>
        <p:nvGrpSpPr>
          <p:cNvPr id="2886" name="组合 2885"/>
          <p:cNvGrpSpPr/>
          <p:nvPr/>
        </p:nvGrpSpPr>
        <p:grpSpPr>
          <a:xfrm>
            <a:off x="2333625" y="1417320"/>
            <a:ext cx="5928995" cy="2614930"/>
            <a:chOff x="384" y="1872"/>
            <a:chExt cx="3120" cy="2016"/>
          </a:xfrm>
        </p:grpSpPr>
        <p:cxnSp>
          <p:nvCxnSpPr>
            <p:cNvPr id="2887" name="直接连接符 2886"/>
            <p:cNvCxnSpPr/>
            <p:nvPr/>
          </p:nvCxnSpPr>
          <p:spPr>
            <a:xfrm flipV="1">
              <a:off x="864" y="3456"/>
              <a:ext cx="0" cy="192"/>
            </a:xfrm>
            <a:prstGeom prst="line">
              <a:avLst/>
            </a:prstGeom>
            <a:ln w="9525" cap="flat" cmpd="sng">
              <a:solidFill>
                <a:srgbClr val="FC0128"/>
              </a:solidFill>
              <a:prstDash val="solid"/>
              <a:headEnd type="none" w="med" len="med"/>
              <a:tailEnd type="triangle" w="med" len="med"/>
            </a:ln>
          </p:spPr>
        </p:cxnSp>
        <p:grpSp>
          <p:nvGrpSpPr>
            <p:cNvPr id="2888" name="组合 2887"/>
            <p:cNvGrpSpPr/>
            <p:nvPr/>
          </p:nvGrpSpPr>
          <p:grpSpPr>
            <a:xfrm>
              <a:off x="384" y="1872"/>
              <a:ext cx="3120" cy="2016"/>
              <a:chOff x="816" y="1824"/>
              <a:chExt cx="3120" cy="2016"/>
            </a:xfrm>
          </p:grpSpPr>
          <p:sp>
            <p:nvSpPr>
              <p:cNvPr id="2889" name="椭圆 2888"/>
              <p:cNvSpPr/>
              <p:nvPr/>
            </p:nvSpPr>
            <p:spPr>
              <a:xfrm>
                <a:off x="2112" y="2064"/>
                <a:ext cx="288" cy="288"/>
              </a:xfrm>
              <a:prstGeom prst="ellipse">
                <a:avLst/>
              </a:prstGeom>
              <a:solidFill>
                <a:srgbClr val="0000FF"/>
              </a:solidFill>
              <a:ln w="9525" cap="flat" cmpd="sng">
                <a:solidFill>
                  <a:srgbClr val="0000FF"/>
                </a:solidFill>
                <a:prstDash val="solid"/>
                <a:headEnd type="none" w="med" len="med"/>
                <a:tailEnd type="none" w="med" len="med"/>
              </a:ln>
            </p:spPr>
            <p:txBody>
              <a:bodyPr/>
              <a:p>
                <a:endParaRPr lang="zh-CN" altLang="en-US"/>
              </a:p>
            </p:txBody>
          </p:sp>
          <p:sp>
            <p:nvSpPr>
              <p:cNvPr id="2890" name="椭圆 2889"/>
              <p:cNvSpPr/>
              <p:nvPr/>
            </p:nvSpPr>
            <p:spPr>
              <a:xfrm>
                <a:off x="1200" y="2064"/>
                <a:ext cx="288" cy="288"/>
              </a:xfrm>
              <a:prstGeom prst="ellipse">
                <a:avLst/>
              </a:prstGeom>
              <a:solidFill>
                <a:srgbClr val="0000FF"/>
              </a:solidFill>
              <a:ln w="9525" cap="flat" cmpd="sng">
                <a:solidFill>
                  <a:srgbClr val="0000FF"/>
                </a:solidFill>
                <a:prstDash val="solid"/>
                <a:headEnd type="none" w="med" len="med"/>
                <a:tailEnd type="none" w="med" len="med"/>
              </a:ln>
            </p:spPr>
            <p:txBody>
              <a:bodyPr/>
              <a:p>
                <a:endParaRPr lang="zh-CN" altLang="en-US"/>
              </a:p>
            </p:txBody>
          </p:sp>
          <p:sp>
            <p:nvSpPr>
              <p:cNvPr id="2891" name="椭圆 2890"/>
              <p:cNvSpPr/>
              <p:nvPr/>
            </p:nvSpPr>
            <p:spPr>
              <a:xfrm>
                <a:off x="3312" y="2064"/>
                <a:ext cx="288" cy="288"/>
              </a:xfrm>
              <a:prstGeom prst="ellipse">
                <a:avLst/>
              </a:prstGeom>
              <a:solidFill>
                <a:srgbClr val="0000FF"/>
              </a:solidFill>
              <a:ln w="9525" cap="flat" cmpd="sng">
                <a:solidFill>
                  <a:srgbClr val="0000FF"/>
                </a:solidFill>
                <a:prstDash val="solid"/>
                <a:headEnd type="none" w="med" len="med"/>
                <a:tailEnd type="none" w="med" len="med"/>
              </a:ln>
            </p:spPr>
            <p:txBody>
              <a:bodyPr/>
              <a:p>
                <a:endParaRPr lang="zh-CN" altLang="en-US"/>
              </a:p>
            </p:txBody>
          </p:sp>
          <p:sp>
            <p:nvSpPr>
              <p:cNvPr id="2892" name="椭圆 2891"/>
              <p:cNvSpPr/>
              <p:nvPr/>
            </p:nvSpPr>
            <p:spPr>
              <a:xfrm>
                <a:off x="1200" y="3120"/>
                <a:ext cx="288" cy="288"/>
              </a:xfrm>
              <a:prstGeom prst="ellipse">
                <a:avLst/>
              </a:prstGeom>
              <a:solidFill>
                <a:srgbClr val="00CC00"/>
              </a:solidFill>
              <a:ln w="9525" cap="flat" cmpd="sng">
                <a:solidFill>
                  <a:srgbClr val="00CC00"/>
                </a:solidFill>
                <a:prstDash val="solid"/>
                <a:headEnd type="none" w="med" len="med"/>
                <a:tailEnd type="none" w="med" len="med"/>
              </a:ln>
            </p:spPr>
            <p:txBody>
              <a:bodyPr/>
              <a:p>
                <a:endParaRPr lang="zh-CN" altLang="en-US"/>
              </a:p>
            </p:txBody>
          </p:sp>
          <p:sp>
            <p:nvSpPr>
              <p:cNvPr id="2893" name="椭圆 2892"/>
              <p:cNvSpPr/>
              <p:nvPr/>
            </p:nvSpPr>
            <p:spPr>
              <a:xfrm>
                <a:off x="2112" y="3072"/>
                <a:ext cx="288" cy="288"/>
              </a:xfrm>
              <a:prstGeom prst="ellipse">
                <a:avLst/>
              </a:prstGeom>
              <a:solidFill>
                <a:srgbClr val="00CC00"/>
              </a:solidFill>
              <a:ln w="9525" cap="flat" cmpd="sng">
                <a:solidFill>
                  <a:srgbClr val="00CC00"/>
                </a:solidFill>
                <a:prstDash val="solid"/>
                <a:headEnd type="none" w="med" len="med"/>
                <a:tailEnd type="none" w="med" len="med"/>
              </a:ln>
            </p:spPr>
            <p:txBody>
              <a:bodyPr/>
              <a:p>
                <a:endParaRPr lang="zh-CN" altLang="en-US"/>
              </a:p>
            </p:txBody>
          </p:sp>
          <p:sp>
            <p:nvSpPr>
              <p:cNvPr id="2894" name="椭圆 2893"/>
              <p:cNvSpPr/>
              <p:nvPr/>
            </p:nvSpPr>
            <p:spPr>
              <a:xfrm>
                <a:off x="3312" y="3072"/>
                <a:ext cx="288" cy="288"/>
              </a:xfrm>
              <a:prstGeom prst="ellipse">
                <a:avLst/>
              </a:prstGeom>
              <a:solidFill>
                <a:srgbClr val="00CC00"/>
              </a:solidFill>
              <a:ln w="9525" cap="flat" cmpd="sng">
                <a:solidFill>
                  <a:srgbClr val="00CC00"/>
                </a:solidFill>
                <a:prstDash val="solid"/>
                <a:headEnd type="none" w="med" len="med"/>
                <a:tailEnd type="none" w="med" len="med"/>
              </a:ln>
            </p:spPr>
            <p:txBody>
              <a:bodyPr/>
              <a:p>
                <a:endParaRPr lang="zh-CN" altLang="en-US"/>
              </a:p>
            </p:txBody>
          </p:sp>
          <p:sp>
            <p:nvSpPr>
              <p:cNvPr id="2895" name="矩形 2894"/>
              <p:cNvSpPr/>
              <p:nvPr/>
            </p:nvSpPr>
            <p:spPr>
              <a:xfrm>
                <a:off x="2544" y="2160"/>
                <a:ext cx="624" cy="144"/>
              </a:xfrm>
              <a:prstGeom prst="rect">
                <a:avLst/>
              </a:prstGeom>
              <a:noFill/>
              <a:ln w="9525">
                <a:noFill/>
              </a:ln>
            </p:spPr>
            <p:txBody>
              <a:bodyPr wrap="none" anchor="ctr"/>
              <a:p>
                <a:pPr algn="ctr" eaLnBrk="0" hangingPunct="0"/>
                <a:r>
                  <a:rPr lang="en-US" altLang="zh-CN">
                    <a:solidFill>
                      <a:srgbClr val="0000FF"/>
                    </a:solidFill>
                    <a:latin typeface="Tahoma" panose="020B0604030504040204" pitchFamily="34" charset="0"/>
                    <a:ea typeface="华文仿宋" panose="02010600040101010101" charset="-122"/>
                  </a:rPr>
                  <a:t>……</a:t>
                </a:r>
                <a:endParaRPr lang="en-US" altLang="zh-CN">
                  <a:solidFill>
                    <a:srgbClr val="0000FF"/>
                  </a:solidFill>
                  <a:latin typeface="Tahoma" panose="020B0604030504040204" pitchFamily="34" charset="0"/>
                  <a:ea typeface="华文仿宋" panose="02010600040101010101" charset="-122"/>
                </a:endParaRPr>
              </a:p>
            </p:txBody>
          </p:sp>
          <p:sp>
            <p:nvSpPr>
              <p:cNvPr id="2896" name="矩形 2895"/>
              <p:cNvSpPr/>
              <p:nvPr/>
            </p:nvSpPr>
            <p:spPr>
              <a:xfrm>
                <a:off x="2592" y="3120"/>
                <a:ext cx="624" cy="144"/>
              </a:xfrm>
              <a:prstGeom prst="rect">
                <a:avLst/>
              </a:prstGeom>
              <a:noFill/>
              <a:ln w="9525">
                <a:noFill/>
              </a:ln>
            </p:spPr>
            <p:txBody>
              <a:bodyPr wrap="none" anchor="ctr"/>
              <a:p>
                <a:pPr algn="ctr" eaLnBrk="0" hangingPunct="0"/>
                <a:r>
                  <a:rPr lang="en-US" altLang="zh-CN">
                    <a:solidFill>
                      <a:srgbClr val="00CC00"/>
                    </a:solidFill>
                    <a:latin typeface="Tahoma" panose="020B0604030504040204" pitchFamily="34" charset="0"/>
                    <a:ea typeface="华文仿宋" panose="02010600040101010101" charset="-122"/>
                  </a:rPr>
                  <a:t>……</a:t>
                </a:r>
                <a:endParaRPr lang="en-US" altLang="zh-CN">
                  <a:solidFill>
                    <a:srgbClr val="00CC00"/>
                  </a:solidFill>
                  <a:latin typeface="Tahoma" panose="020B0604030504040204" pitchFamily="34" charset="0"/>
                  <a:ea typeface="华文仿宋" panose="02010600040101010101" charset="-122"/>
                </a:endParaRPr>
              </a:p>
            </p:txBody>
          </p:sp>
          <p:cxnSp>
            <p:nvCxnSpPr>
              <p:cNvPr id="2897" name="直接连接符 2896"/>
              <p:cNvCxnSpPr/>
              <p:nvPr/>
            </p:nvCxnSpPr>
            <p:spPr>
              <a:xfrm flipV="1">
                <a:off x="1344" y="1824"/>
                <a:ext cx="0" cy="240"/>
              </a:xfrm>
              <a:prstGeom prst="line">
                <a:avLst/>
              </a:prstGeom>
              <a:ln w="38100" cap="flat" cmpd="sng">
                <a:solidFill>
                  <a:srgbClr val="0000FF"/>
                </a:solidFill>
                <a:prstDash val="solid"/>
                <a:headEnd type="none" w="med" len="med"/>
                <a:tailEnd type="triangle" w="med" len="med"/>
              </a:ln>
            </p:spPr>
          </p:cxnSp>
          <p:cxnSp>
            <p:nvCxnSpPr>
              <p:cNvPr id="2898" name="直接连接符 2897"/>
              <p:cNvCxnSpPr/>
              <p:nvPr/>
            </p:nvCxnSpPr>
            <p:spPr>
              <a:xfrm flipV="1">
                <a:off x="2256" y="1824"/>
                <a:ext cx="0" cy="240"/>
              </a:xfrm>
              <a:prstGeom prst="line">
                <a:avLst/>
              </a:prstGeom>
              <a:ln w="38100" cap="flat" cmpd="sng">
                <a:solidFill>
                  <a:srgbClr val="0000FF"/>
                </a:solidFill>
                <a:prstDash val="solid"/>
                <a:headEnd type="none" w="med" len="med"/>
                <a:tailEnd type="triangle" w="med" len="med"/>
              </a:ln>
            </p:spPr>
          </p:cxnSp>
          <p:cxnSp>
            <p:nvCxnSpPr>
              <p:cNvPr id="2899" name="直接连接符 2898"/>
              <p:cNvCxnSpPr/>
              <p:nvPr/>
            </p:nvCxnSpPr>
            <p:spPr>
              <a:xfrm flipV="1">
                <a:off x="3456" y="1824"/>
                <a:ext cx="0" cy="240"/>
              </a:xfrm>
              <a:prstGeom prst="line">
                <a:avLst/>
              </a:prstGeom>
              <a:ln w="38100" cap="flat" cmpd="sng">
                <a:solidFill>
                  <a:srgbClr val="0000FF"/>
                </a:solidFill>
                <a:prstDash val="solid"/>
                <a:headEnd type="none" w="med" len="med"/>
                <a:tailEnd type="triangle" w="med" len="med"/>
              </a:ln>
            </p:spPr>
          </p:cxnSp>
          <p:cxnSp>
            <p:nvCxnSpPr>
              <p:cNvPr id="2900" name="直接连接符 2899"/>
              <p:cNvCxnSpPr/>
              <p:nvPr/>
            </p:nvCxnSpPr>
            <p:spPr>
              <a:xfrm flipV="1">
                <a:off x="1344" y="2352"/>
                <a:ext cx="0" cy="768"/>
              </a:xfrm>
              <a:prstGeom prst="line">
                <a:avLst/>
              </a:prstGeom>
              <a:ln w="9525" cap="flat" cmpd="sng">
                <a:solidFill>
                  <a:srgbClr val="000000"/>
                </a:solidFill>
                <a:prstDash val="solid"/>
                <a:headEnd type="none" w="med" len="med"/>
                <a:tailEnd type="triangle" w="med" len="med"/>
              </a:ln>
            </p:spPr>
          </p:cxnSp>
          <p:cxnSp>
            <p:nvCxnSpPr>
              <p:cNvPr id="2901" name="直接连接符 2900"/>
              <p:cNvCxnSpPr/>
              <p:nvPr/>
            </p:nvCxnSpPr>
            <p:spPr>
              <a:xfrm flipV="1">
                <a:off x="1344" y="2352"/>
                <a:ext cx="2016" cy="720"/>
              </a:xfrm>
              <a:prstGeom prst="line">
                <a:avLst/>
              </a:prstGeom>
              <a:ln w="9525" cap="flat" cmpd="sng">
                <a:solidFill>
                  <a:srgbClr val="000000"/>
                </a:solidFill>
                <a:prstDash val="solid"/>
                <a:headEnd type="none" w="med" len="med"/>
                <a:tailEnd type="triangle" w="med" len="med"/>
              </a:ln>
            </p:spPr>
          </p:cxnSp>
          <p:cxnSp>
            <p:nvCxnSpPr>
              <p:cNvPr id="2902" name="直接连接符 2901"/>
              <p:cNvCxnSpPr/>
              <p:nvPr/>
            </p:nvCxnSpPr>
            <p:spPr>
              <a:xfrm flipV="1">
                <a:off x="1344" y="2304"/>
                <a:ext cx="768" cy="768"/>
              </a:xfrm>
              <a:prstGeom prst="line">
                <a:avLst/>
              </a:prstGeom>
              <a:ln w="9525" cap="flat" cmpd="sng">
                <a:solidFill>
                  <a:srgbClr val="000000"/>
                </a:solidFill>
                <a:prstDash val="solid"/>
                <a:headEnd type="none" w="med" len="med"/>
                <a:tailEnd type="triangle" w="med" len="med"/>
              </a:ln>
            </p:spPr>
          </p:cxnSp>
          <p:cxnSp>
            <p:nvCxnSpPr>
              <p:cNvPr id="2903" name="直接连接符 2902"/>
              <p:cNvCxnSpPr/>
              <p:nvPr/>
            </p:nvCxnSpPr>
            <p:spPr>
              <a:xfrm flipH="1" flipV="1">
                <a:off x="1392" y="2352"/>
                <a:ext cx="816" cy="720"/>
              </a:xfrm>
              <a:prstGeom prst="line">
                <a:avLst/>
              </a:prstGeom>
              <a:ln w="9525" cap="flat" cmpd="sng">
                <a:solidFill>
                  <a:srgbClr val="000000"/>
                </a:solidFill>
                <a:prstDash val="solid"/>
                <a:headEnd type="none" w="med" len="med"/>
                <a:tailEnd type="triangle" w="med" len="med"/>
              </a:ln>
            </p:spPr>
          </p:cxnSp>
          <p:cxnSp>
            <p:nvCxnSpPr>
              <p:cNvPr id="2904" name="直接连接符 2903"/>
              <p:cNvCxnSpPr/>
              <p:nvPr/>
            </p:nvCxnSpPr>
            <p:spPr>
              <a:xfrm flipH="1" flipV="1">
                <a:off x="2256" y="2400"/>
                <a:ext cx="0" cy="672"/>
              </a:xfrm>
              <a:prstGeom prst="line">
                <a:avLst/>
              </a:prstGeom>
              <a:ln w="9525" cap="flat" cmpd="sng">
                <a:solidFill>
                  <a:srgbClr val="000000"/>
                </a:solidFill>
                <a:prstDash val="solid"/>
                <a:headEnd type="none" w="med" len="med"/>
                <a:tailEnd type="triangle" w="med" len="med"/>
              </a:ln>
            </p:spPr>
          </p:cxnSp>
          <p:cxnSp>
            <p:nvCxnSpPr>
              <p:cNvPr id="2905" name="直接连接符 2904"/>
              <p:cNvCxnSpPr/>
              <p:nvPr/>
            </p:nvCxnSpPr>
            <p:spPr>
              <a:xfrm flipV="1">
                <a:off x="2256" y="2352"/>
                <a:ext cx="1200" cy="720"/>
              </a:xfrm>
              <a:prstGeom prst="line">
                <a:avLst/>
              </a:prstGeom>
              <a:ln w="9525" cap="flat" cmpd="sng">
                <a:solidFill>
                  <a:srgbClr val="000000"/>
                </a:solidFill>
                <a:prstDash val="solid"/>
                <a:headEnd type="none" w="med" len="med"/>
                <a:tailEnd type="triangle" w="med" len="med"/>
              </a:ln>
            </p:spPr>
          </p:cxnSp>
          <p:cxnSp>
            <p:nvCxnSpPr>
              <p:cNvPr id="2906" name="直接连接符 2905"/>
              <p:cNvCxnSpPr/>
              <p:nvPr/>
            </p:nvCxnSpPr>
            <p:spPr>
              <a:xfrm flipV="1">
                <a:off x="3456" y="2352"/>
                <a:ext cx="0" cy="720"/>
              </a:xfrm>
              <a:prstGeom prst="line">
                <a:avLst/>
              </a:prstGeom>
              <a:ln w="9525" cap="flat" cmpd="sng">
                <a:solidFill>
                  <a:srgbClr val="000000"/>
                </a:solidFill>
                <a:prstDash val="solid"/>
                <a:headEnd type="none" w="med" len="med"/>
                <a:tailEnd type="triangle" w="med" len="med"/>
              </a:ln>
            </p:spPr>
          </p:cxnSp>
          <p:cxnSp>
            <p:nvCxnSpPr>
              <p:cNvPr id="2907" name="直接连接符 2906"/>
              <p:cNvCxnSpPr/>
              <p:nvPr/>
            </p:nvCxnSpPr>
            <p:spPr>
              <a:xfrm flipH="1" flipV="1">
                <a:off x="2400" y="2304"/>
                <a:ext cx="1008" cy="720"/>
              </a:xfrm>
              <a:prstGeom prst="line">
                <a:avLst/>
              </a:prstGeom>
              <a:ln w="9525" cap="flat" cmpd="sng">
                <a:solidFill>
                  <a:srgbClr val="000000"/>
                </a:solidFill>
                <a:prstDash val="solid"/>
                <a:headEnd type="none" w="med" len="med"/>
                <a:tailEnd type="triangle" w="med" len="med"/>
              </a:ln>
            </p:spPr>
          </p:cxnSp>
          <p:cxnSp>
            <p:nvCxnSpPr>
              <p:cNvPr id="2908" name="直接连接符 2907"/>
              <p:cNvCxnSpPr/>
              <p:nvPr/>
            </p:nvCxnSpPr>
            <p:spPr>
              <a:xfrm flipH="1" flipV="1">
                <a:off x="1440" y="2304"/>
                <a:ext cx="1920" cy="768"/>
              </a:xfrm>
              <a:prstGeom prst="line">
                <a:avLst/>
              </a:prstGeom>
              <a:ln w="9525" cap="flat" cmpd="sng">
                <a:solidFill>
                  <a:srgbClr val="000000"/>
                </a:solidFill>
                <a:prstDash val="solid"/>
                <a:headEnd type="none" w="med" len="med"/>
                <a:tailEnd type="triangle" w="med" len="med"/>
              </a:ln>
            </p:spPr>
          </p:cxnSp>
          <p:cxnSp>
            <p:nvCxnSpPr>
              <p:cNvPr id="2909" name="直接连接符 2908"/>
              <p:cNvCxnSpPr/>
              <p:nvPr/>
            </p:nvCxnSpPr>
            <p:spPr>
              <a:xfrm flipH="1">
                <a:off x="912" y="2016"/>
                <a:ext cx="432" cy="0"/>
              </a:xfrm>
              <a:prstGeom prst="line">
                <a:avLst/>
              </a:prstGeom>
              <a:ln w="9525" cap="flat" cmpd="sng">
                <a:solidFill>
                  <a:srgbClr val="FC0128"/>
                </a:solidFill>
                <a:prstDash val="solid"/>
                <a:headEnd type="none" w="med" len="med"/>
                <a:tailEnd type="none" w="med" len="med"/>
              </a:ln>
            </p:spPr>
          </p:cxnSp>
          <p:cxnSp>
            <p:nvCxnSpPr>
              <p:cNvPr id="2910" name="直接连接符 2909"/>
              <p:cNvCxnSpPr/>
              <p:nvPr/>
            </p:nvCxnSpPr>
            <p:spPr>
              <a:xfrm>
                <a:off x="912" y="2016"/>
                <a:ext cx="0" cy="1584"/>
              </a:xfrm>
              <a:prstGeom prst="line">
                <a:avLst/>
              </a:prstGeom>
              <a:ln w="9525" cap="flat" cmpd="sng">
                <a:solidFill>
                  <a:srgbClr val="FC0128"/>
                </a:solidFill>
                <a:prstDash val="solid"/>
                <a:headEnd type="none" w="med" len="med"/>
                <a:tailEnd type="none" w="med" len="med"/>
              </a:ln>
            </p:spPr>
          </p:cxnSp>
          <p:cxnSp>
            <p:nvCxnSpPr>
              <p:cNvPr id="2911" name="直接连接符 2910"/>
              <p:cNvCxnSpPr/>
              <p:nvPr/>
            </p:nvCxnSpPr>
            <p:spPr>
              <a:xfrm>
                <a:off x="912" y="3600"/>
                <a:ext cx="384" cy="0"/>
              </a:xfrm>
              <a:prstGeom prst="line">
                <a:avLst/>
              </a:prstGeom>
              <a:ln w="9525" cap="flat" cmpd="sng">
                <a:solidFill>
                  <a:srgbClr val="FC0128"/>
                </a:solidFill>
                <a:prstDash val="solid"/>
                <a:headEnd type="none" w="med" len="med"/>
                <a:tailEnd type="none" w="med" len="med"/>
              </a:ln>
            </p:spPr>
          </p:cxnSp>
          <p:cxnSp>
            <p:nvCxnSpPr>
              <p:cNvPr id="2912" name="直接连接符 2911"/>
              <p:cNvCxnSpPr/>
              <p:nvPr/>
            </p:nvCxnSpPr>
            <p:spPr>
              <a:xfrm flipH="1">
                <a:off x="816" y="1920"/>
                <a:ext cx="1440" cy="0"/>
              </a:xfrm>
              <a:prstGeom prst="line">
                <a:avLst/>
              </a:prstGeom>
              <a:ln w="9525" cap="flat" cmpd="sng">
                <a:solidFill>
                  <a:srgbClr val="FC0128"/>
                </a:solidFill>
                <a:prstDash val="solid"/>
                <a:headEnd type="none" w="med" len="med"/>
                <a:tailEnd type="none" w="med" len="med"/>
              </a:ln>
            </p:spPr>
          </p:cxnSp>
          <p:cxnSp>
            <p:nvCxnSpPr>
              <p:cNvPr id="2913" name="直接连接符 2912"/>
              <p:cNvCxnSpPr/>
              <p:nvPr/>
            </p:nvCxnSpPr>
            <p:spPr>
              <a:xfrm>
                <a:off x="816" y="1920"/>
                <a:ext cx="0" cy="1920"/>
              </a:xfrm>
              <a:prstGeom prst="line">
                <a:avLst/>
              </a:prstGeom>
              <a:ln w="9525" cap="flat" cmpd="sng">
                <a:solidFill>
                  <a:srgbClr val="FC0128"/>
                </a:solidFill>
                <a:prstDash val="solid"/>
                <a:headEnd type="none" w="med" len="med"/>
                <a:tailEnd type="none" w="med" len="med"/>
              </a:ln>
            </p:spPr>
          </p:cxnSp>
          <p:cxnSp>
            <p:nvCxnSpPr>
              <p:cNvPr id="2914" name="直接连接符 2913"/>
              <p:cNvCxnSpPr/>
              <p:nvPr/>
            </p:nvCxnSpPr>
            <p:spPr>
              <a:xfrm>
                <a:off x="816" y="3840"/>
                <a:ext cx="1440" cy="0"/>
              </a:xfrm>
              <a:prstGeom prst="line">
                <a:avLst/>
              </a:prstGeom>
              <a:ln w="9525" cap="flat" cmpd="sng">
                <a:solidFill>
                  <a:srgbClr val="FC0128"/>
                </a:solidFill>
                <a:prstDash val="solid"/>
                <a:headEnd type="none" w="med" len="med"/>
                <a:tailEnd type="none" w="med" len="med"/>
              </a:ln>
            </p:spPr>
          </p:cxnSp>
          <p:cxnSp>
            <p:nvCxnSpPr>
              <p:cNvPr id="2915" name="直接连接符 2914"/>
              <p:cNvCxnSpPr/>
              <p:nvPr/>
            </p:nvCxnSpPr>
            <p:spPr>
              <a:xfrm flipV="1">
                <a:off x="2256" y="3360"/>
                <a:ext cx="0" cy="480"/>
              </a:xfrm>
              <a:prstGeom prst="line">
                <a:avLst/>
              </a:prstGeom>
              <a:ln w="9525" cap="flat" cmpd="sng">
                <a:solidFill>
                  <a:srgbClr val="FC0128"/>
                </a:solidFill>
                <a:prstDash val="solid"/>
                <a:headEnd type="none" w="med" len="med"/>
                <a:tailEnd type="triangle" w="med" len="med"/>
              </a:ln>
            </p:spPr>
          </p:cxnSp>
          <p:cxnSp>
            <p:nvCxnSpPr>
              <p:cNvPr id="2916" name="直接连接符 2915"/>
              <p:cNvCxnSpPr/>
              <p:nvPr/>
            </p:nvCxnSpPr>
            <p:spPr>
              <a:xfrm>
                <a:off x="3456" y="1968"/>
                <a:ext cx="480" cy="0"/>
              </a:xfrm>
              <a:prstGeom prst="line">
                <a:avLst/>
              </a:prstGeom>
              <a:ln w="9525" cap="flat" cmpd="sng">
                <a:solidFill>
                  <a:srgbClr val="FC0128"/>
                </a:solidFill>
                <a:prstDash val="solid"/>
                <a:headEnd type="none" w="med" len="med"/>
                <a:tailEnd type="none" w="med" len="med"/>
              </a:ln>
            </p:spPr>
          </p:cxnSp>
          <p:cxnSp>
            <p:nvCxnSpPr>
              <p:cNvPr id="2917" name="直接连接符 2916"/>
              <p:cNvCxnSpPr/>
              <p:nvPr/>
            </p:nvCxnSpPr>
            <p:spPr>
              <a:xfrm>
                <a:off x="3936" y="1968"/>
                <a:ext cx="0" cy="1632"/>
              </a:xfrm>
              <a:prstGeom prst="line">
                <a:avLst/>
              </a:prstGeom>
              <a:ln w="9525" cap="flat" cmpd="sng">
                <a:solidFill>
                  <a:srgbClr val="FC0128"/>
                </a:solidFill>
                <a:prstDash val="solid"/>
                <a:headEnd type="none" w="med" len="med"/>
                <a:tailEnd type="none" w="med" len="med"/>
              </a:ln>
            </p:spPr>
          </p:cxnSp>
          <p:cxnSp>
            <p:nvCxnSpPr>
              <p:cNvPr id="2918" name="直接连接符 2917"/>
              <p:cNvCxnSpPr/>
              <p:nvPr/>
            </p:nvCxnSpPr>
            <p:spPr>
              <a:xfrm flipH="1">
                <a:off x="3456" y="3600"/>
                <a:ext cx="480" cy="0"/>
              </a:xfrm>
              <a:prstGeom prst="line">
                <a:avLst/>
              </a:prstGeom>
              <a:ln w="9525" cap="flat" cmpd="sng">
                <a:solidFill>
                  <a:srgbClr val="FC0128"/>
                </a:solidFill>
                <a:prstDash val="solid"/>
                <a:headEnd type="none" w="med" len="med"/>
                <a:tailEnd type="none" w="med" len="med"/>
              </a:ln>
            </p:spPr>
          </p:cxnSp>
          <p:cxnSp>
            <p:nvCxnSpPr>
              <p:cNvPr id="2919" name="直接连接符 2918"/>
              <p:cNvCxnSpPr/>
              <p:nvPr/>
            </p:nvCxnSpPr>
            <p:spPr>
              <a:xfrm flipH="1" flipV="1">
                <a:off x="3456" y="3360"/>
                <a:ext cx="0" cy="240"/>
              </a:xfrm>
              <a:prstGeom prst="line">
                <a:avLst/>
              </a:prstGeom>
              <a:ln w="9525" cap="flat" cmpd="sng">
                <a:solidFill>
                  <a:srgbClr val="FC0128"/>
                </a:solidFill>
                <a:prstDash val="solid"/>
                <a:headEnd type="none" w="med" len="med"/>
                <a:tailEnd type="triangle" w="med" len="med"/>
              </a:ln>
            </p:spPr>
          </p:cxnSp>
        </p:grpSp>
      </p:grpSp>
      <p:sp>
        <p:nvSpPr>
          <p:cNvPr id="2920" name="矩形 2919"/>
          <p:cNvSpPr/>
          <p:nvPr/>
        </p:nvSpPr>
        <p:spPr>
          <a:xfrm>
            <a:off x="9381490" y="1417320"/>
            <a:ext cx="1460500" cy="249555"/>
          </a:xfrm>
          <a:prstGeom prst="rect">
            <a:avLst/>
          </a:prstGeom>
          <a:noFill/>
          <a:ln w="9525">
            <a:noFill/>
          </a:ln>
        </p:spPr>
        <p:txBody>
          <a:bodyPr wrap="none" anchor="ctr"/>
          <a:p>
            <a:pPr algn="ctr" eaLnBrk="0" hangingPunct="0"/>
            <a:r>
              <a:rPr lang="zh-CN" altLang="en-US" sz="1800" b="1">
                <a:solidFill>
                  <a:srgbClr val="0000FF"/>
                </a:solidFill>
                <a:latin typeface="Tahoma" panose="020B0604030504040204" pitchFamily="34" charset="0"/>
                <a:ea typeface="华文仿宋" panose="02010600040101010101" charset="-122"/>
              </a:rPr>
              <a:t>输出层</a:t>
            </a:r>
            <a:endParaRPr lang="zh-CN" altLang="en-US" sz="1800" b="1">
              <a:solidFill>
                <a:srgbClr val="0000FF"/>
              </a:solidFill>
              <a:latin typeface="Tahoma" panose="020B0604030504040204" pitchFamily="34" charset="0"/>
              <a:ea typeface="华文仿宋" panose="02010600040101010101" charset="-122"/>
            </a:endParaRPr>
          </a:p>
        </p:txBody>
      </p:sp>
      <p:sp>
        <p:nvSpPr>
          <p:cNvPr id="2922" name="矩形 2921"/>
          <p:cNvSpPr/>
          <p:nvPr/>
        </p:nvSpPr>
        <p:spPr>
          <a:xfrm>
            <a:off x="9140190" y="3474085"/>
            <a:ext cx="1460500" cy="247015"/>
          </a:xfrm>
          <a:prstGeom prst="rect">
            <a:avLst/>
          </a:prstGeom>
          <a:noFill/>
          <a:ln w="9525">
            <a:noFill/>
          </a:ln>
        </p:spPr>
        <p:txBody>
          <a:bodyPr wrap="none" anchor="ctr"/>
          <a:p>
            <a:pPr algn="ctr" eaLnBrk="0" hangingPunct="0"/>
            <a:r>
              <a:rPr lang="zh-CN" altLang="en-US" sz="1800" b="1">
                <a:solidFill>
                  <a:srgbClr val="0000FF"/>
                </a:solidFill>
                <a:latin typeface="Tahoma" panose="020B0604030504040204" pitchFamily="34" charset="0"/>
                <a:ea typeface="华文仿宋" panose="02010600040101010101" charset="-122"/>
              </a:rPr>
              <a:t>输入层</a:t>
            </a:r>
            <a:endParaRPr lang="zh-CN" altLang="en-US" sz="1800" b="1">
              <a:solidFill>
                <a:srgbClr val="0000FF"/>
              </a:solidFill>
              <a:latin typeface="Tahoma" panose="020B0604030504040204" pitchFamily="34" charset="0"/>
              <a:ea typeface="华文仿宋" panose="0201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79270" y="575945"/>
            <a:ext cx="10334625" cy="6090920"/>
          </a:xfrm>
        </p:spPr>
        <p:txBody>
          <a:bodyPr>
            <a:normAutofit/>
          </a:bodyPr>
          <a:p>
            <a:r>
              <a:rPr lang="zh-CN" altLang="en-US" sz="2000">
                <a:latin typeface="楷体" panose="02010609060101010101" charset="-122"/>
                <a:ea typeface="楷体" panose="02010609060101010101" charset="-122"/>
                <a:cs typeface="楷体" panose="02010609060101010101" charset="-122"/>
              </a:rPr>
              <a:t>4.随机型神经网络</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在BP算法和Hopfield算法中,导致网络学习过程陷入局部极小值的原因主要有两点:</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（1）网络结构上存在着输入与输出之间的非线性函数关系,从而使网络误差和能量函数所构成的空间是一个含有多极点的非线性空间;</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（2）网络误差和能量函数只能按单方面减小而不能有丝毫的上升趋势。</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随机型神经网络从解决网络收敛问题的第二点原因入手，其基本思想是:不但让网络的误差和能量函数向减小的方向变化,而且还可按某种方式向增大的方向变化,目的是使网络有可能跳出局部极小值而向全局最小点收敛。随机型神经网络的典型算法是模拟退火算法。</a:t>
            </a:r>
            <a:endParaRPr lang="zh-CN" altLang="en-US" sz="2000">
              <a:latin typeface="楷体" panose="02010609060101010101" charset="-122"/>
              <a:ea typeface="楷体" panose="02010609060101010101" charset="-122"/>
              <a:cs typeface="楷体" panose="02010609060101010101" charset="-122"/>
            </a:endParaRPr>
          </a:p>
          <a:p>
            <a:r>
              <a:rPr lang="zh-CN" altLang="en-US" sz="2000">
                <a:latin typeface="楷体" panose="02010609060101010101" charset="-122"/>
                <a:ea typeface="楷体" panose="02010609060101010101" charset="-122"/>
                <a:cs typeface="楷体" panose="02010609060101010101" charset="-122"/>
              </a:rPr>
              <a:t>5.Kohonen网络</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Kohonen网络的构想来源于人的视网膜及大脑皮层对刺激的反应机理，对于某一个输入模式,通过竞争在输出层中只激活一个相应的输出神经元，模式在输出层中将激活许多个神经元,从而形成一个反映输入数据的许多输入特征图形。</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Kohonen网络含有两层,输入缓冲层用于接收输入模式,输出层的神经元一般按正则二维阵列排列,每个输出神经元连接至所有输入神经元，连接权值形成与己知输出神经元相连的参考矢量的分量。Kohonen网络是一种以无导师方式进行网络训练的网络，它通过自身训练,自动对输入模式进行分类。</a:t>
            </a:r>
            <a:endParaRPr lang="zh-CN" altLang="en-US" sz="2000">
              <a:latin typeface="楷体" panose="02010609060101010101" charset="-122"/>
              <a:ea typeface="楷体" panose="02010609060101010101" charset="-122"/>
              <a:cs typeface="楷体" panose="02010609060101010101" charset="-122"/>
            </a:endParaRPr>
          </a:p>
          <a:p>
            <a:endParaRPr lang="zh-CN" altLang="en-US" sz="20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19910" y="490855"/>
            <a:ext cx="9543415" cy="5262245"/>
          </a:xfrm>
        </p:spPr>
        <p:txBody>
          <a:bodyPr>
            <a:noAutofit/>
          </a:bodyPr>
          <a:p>
            <a:r>
              <a:rPr lang="zh-CN" altLang="en-US" sz="2400">
                <a:latin typeface="楷体" panose="02010609060101010101" charset="-122"/>
                <a:ea typeface="楷体" panose="02010609060101010101" charset="-122"/>
                <a:cs typeface="楷体" panose="02010609060101010101" charset="-122"/>
                <a:sym typeface="+mn-ea"/>
              </a:rPr>
              <a:t>6.玻耳兹曼机</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玻耳兹曼机是由Hinton等人提出的，它的思想主要来源于统计物理学。在统计物理学中,经常基于能量来考虑状态的转移,状态向着能量最小的方向转移，在状态转移的过程中,由于热骚动引起系统的不稳定。统计物理学中的玻耳兹曼分布指出:能量越小的状态,发生的概率就越大,即系统趋向于能量最小的状态，而神经网络中的玻耳兹曼机就是利用了这种分布寻求最优。玻耳兹曼机本质上是建立在Hopfield网络基础上的,具有学习能力,能够通过一个模拟退火过程寻求解答。</a:t>
            </a:r>
            <a:endParaRPr lang="zh-CN" altLang="en-US" sz="2400">
              <a:latin typeface="楷体" panose="02010609060101010101" charset="-122"/>
              <a:ea typeface="楷体" panose="02010609060101010101" charset="-122"/>
              <a:cs typeface="楷体" panose="02010609060101010101" charset="-122"/>
            </a:endParaRPr>
          </a:p>
          <a:p>
            <a:r>
              <a:rPr lang="zh-CN" altLang="en-US" sz="2400">
                <a:latin typeface="楷体" panose="02010609060101010101" charset="-122"/>
                <a:ea typeface="楷体" panose="02010609060101010101" charset="-122"/>
                <a:cs typeface="楷体" panose="02010609060101010101" charset="-122"/>
                <a:sym typeface="+mn-ea"/>
              </a:rPr>
              <a:t>7.对向传播神经网络</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对向传播(Counter-Propagation)神经网络(CP网络),是美国神经计算机专家Robert Hecht-Nie1sen于1987年提出的。它是将Kohonen特征映射网络与Grossberg基本竞争型网络巧妙结合的一种新型特征映射网络。实际上,CP网络就是用无导师学习来解决网络隐含层的理想输出未知的问题,用有导师学习解决输出层按系统要求给出指定输出的问题，这一网络被有效地应用于模式分类、函数近似、统计分析和数据压缩等领域。</a:t>
            </a:r>
            <a:endParaRPr lang="zh-CN" altLang="en-US" sz="2400">
              <a:latin typeface="楷体" panose="02010609060101010101" charset="-122"/>
              <a:ea typeface="楷体" panose="02010609060101010101" charset="-122"/>
              <a:cs typeface="楷体" panose="02010609060101010101"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223990" y="379000"/>
            <a:ext cx="8911687" cy="1280890"/>
          </a:xfrm>
        </p:spPr>
        <p:txBody>
          <a:bodyPr/>
          <a:p>
            <a:r>
              <a:rPr lang="zh-CN" altLang="en-US">
                <a:latin typeface="楷体" panose="02010609060101010101" charset="-122"/>
                <a:ea typeface="楷体" panose="02010609060101010101" charset="-122"/>
                <a:cs typeface="楷体" panose="02010609060101010101" charset="-122"/>
              </a:rPr>
              <a:t>6.2 BP算法的原理</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1995170" y="1216025"/>
            <a:ext cx="9368790" cy="4839335"/>
          </a:xfrm>
        </p:spPr>
        <p:txBody>
          <a:bodyPr>
            <a:noAutofit/>
          </a:bodyPr>
          <a:p>
            <a:r>
              <a:rPr lang="zh-CN" altLang="en-US" sz="2400">
                <a:latin typeface="楷体" panose="02010609060101010101" charset="-122"/>
                <a:ea typeface="楷体" panose="02010609060101010101" charset="-122"/>
                <a:cs typeface="楷体" panose="02010609060101010101" charset="-122"/>
              </a:rPr>
              <a:t>6.2.1Delta学习规则的基本原理</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Delta学习规则又称梯度法或最速下降法,其要点是</a:t>
            </a:r>
            <a:r>
              <a:rPr lang="zh-CN" altLang="en-US" sz="2400" b="1">
                <a:solidFill>
                  <a:srgbClr val="C00000"/>
                </a:solidFill>
                <a:latin typeface="楷体" panose="02010609060101010101" charset="-122"/>
                <a:ea typeface="楷体" panose="02010609060101010101" charset="-122"/>
                <a:cs typeface="楷体" panose="02010609060101010101" charset="-122"/>
              </a:rPr>
              <a:t>改变单元间的连接权重来减小系统实际输出与期望输出间的误差</a:t>
            </a:r>
            <a:r>
              <a:rPr lang="zh-CN" altLang="en-US" sz="2400">
                <a:latin typeface="楷体" panose="02010609060101010101" charset="-122"/>
                <a:ea typeface="楷体" panose="02010609060101010101" charset="-122"/>
                <a:cs typeface="楷体" panose="02010609060101010101" charset="-122"/>
              </a:rPr>
              <a:t>。Delta学习规则是最常用的神经网络学习算法,主要应用在误差纠正学习过程中，它也是一种有导学习算法。</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假定神经元权值修正的目标是极小化标量函数法</a:t>
            </a:r>
            <a:r>
              <a:rPr lang="en-US" altLang="zh-CN" sz="2400">
                <a:latin typeface="楷体" panose="02010609060101010101" charset="-122"/>
                <a:ea typeface="楷体" panose="02010609060101010101" charset="-122"/>
                <a:cs typeface="楷体" panose="02010609060101010101" charset="-122"/>
              </a:rPr>
              <a:t>F</a:t>
            </a:r>
            <a:r>
              <a:rPr lang="zh-CN" altLang="en-US" sz="2400">
                <a:latin typeface="楷体" panose="02010609060101010101" charset="-122"/>
                <a:ea typeface="楷体" panose="02010609060101010101" charset="-122"/>
                <a:cs typeface="楷体" panose="02010609060101010101" charset="-122"/>
              </a:rPr>
              <a:t>（</a:t>
            </a:r>
            <a:r>
              <a:rPr lang="en-US" altLang="zh-CN" sz="2400">
                <a:latin typeface="楷体" panose="02010609060101010101" charset="-122"/>
                <a:ea typeface="楷体" panose="02010609060101010101" charset="-122"/>
                <a:cs typeface="楷体" panose="02010609060101010101" charset="-122"/>
              </a:rPr>
              <a:t>w</a:t>
            </a:r>
            <a:r>
              <a:rPr lang="zh-CN" altLang="en-US" sz="2400">
                <a:latin typeface="楷体" panose="02010609060101010101" charset="-122"/>
                <a:ea typeface="楷体" panose="02010609060101010101" charset="-122"/>
                <a:cs typeface="楷体" panose="02010609060101010101" charset="-122"/>
              </a:rPr>
              <a:t>）,其中函数</a:t>
            </a:r>
            <a:r>
              <a:rPr lang="en-US" altLang="zh-CN" sz="2400">
                <a:latin typeface="楷体" panose="02010609060101010101" charset="-122"/>
                <a:ea typeface="楷体" panose="02010609060101010101" charset="-122"/>
                <a:cs typeface="楷体" panose="02010609060101010101" charset="-122"/>
              </a:rPr>
              <a:t>F</a:t>
            </a:r>
            <a:r>
              <a:rPr lang="zh-CN" altLang="en-US" sz="2400">
                <a:latin typeface="楷体" panose="02010609060101010101" charset="-122"/>
                <a:ea typeface="楷体" panose="02010609060101010101" charset="-122"/>
                <a:cs typeface="楷体" panose="02010609060101010101" charset="-122"/>
              </a:rPr>
              <a:t>（）代表神经网络的</a:t>
            </a:r>
            <a:r>
              <a:rPr lang="zh-CN" altLang="en-US" sz="2400" b="1">
                <a:latin typeface="楷体" panose="02010609060101010101" charset="-122"/>
                <a:ea typeface="楷体" panose="02010609060101010101" charset="-122"/>
                <a:cs typeface="楷体" panose="02010609060101010101" charset="-122"/>
              </a:rPr>
              <a:t>误差目标函数</a:t>
            </a:r>
            <a:r>
              <a:rPr lang="zh-CN" altLang="en-US" sz="2400">
                <a:latin typeface="楷体" panose="02010609060101010101" charset="-122"/>
                <a:ea typeface="楷体" panose="02010609060101010101" charset="-122"/>
                <a:cs typeface="楷体" panose="02010609060101010101" charset="-122"/>
              </a:rPr>
              <a:t>,</a:t>
            </a:r>
            <a:r>
              <a:rPr lang="en-US" altLang="zh-CN" sz="2400">
                <a:latin typeface="楷体" panose="02010609060101010101" charset="-122"/>
                <a:ea typeface="楷体" panose="02010609060101010101" charset="-122"/>
                <a:cs typeface="楷体" panose="02010609060101010101" charset="-122"/>
              </a:rPr>
              <a:t>w</a:t>
            </a:r>
            <a:r>
              <a:rPr lang="zh-CN" altLang="en-US" sz="2400">
                <a:latin typeface="楷体" panose="02010609060101010101" charset="-122"/>
                <a:ea typeface="楷体" panose="02010609060101010101" charset="-122"/>
                <a:cs typeface="楷体" panose="02010609060101010101" charset="-122"/>
              </a:rPr>
              <a:t>代表神经网络中的某一连接权值，如果神经元的当前权值为</a:t>
            </a:r>
            <a:r>
              <a:rPr lang="en-US" altLang="zh-CN" sz="2400">
                <a:latin typeface="楷体" panose="02010609060101010101" charset="-122"/>
                <a:ea typeface="楷体" panose="02010609060101010101" charset="-122"/>
                <a:cs typeface="楷体" panose="02010609060101010101" charset="-122"/>
              </a:rPr>
              <a:t>w(t)</a:t>
            </a:r>
            <a:r>
              <a:rPr lang="zh-CN" altLang="en-US" sz="2400">
                <a:latin typeface="楷体" panose="02010609060101010101" charset="-122"/>
                <a:ea typeface="楷体" panose="02010609060101010101" charset="-122"/>
                <a:cs typeface="楷体" panose="02010609060101010101" charset="-122"/>
              </a:rPr>
              <a:t>,并且假设下一时刻的权值调节公式为</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式中,       表示当前时刻的权值修正方向。显然,我们期望每次权值修正都能满足</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4" name="对象 -2147482596"/>
          <p:cNvGraphicFramePr>
            <a:graphicFrameLocks noChangeAspect="1"/>
          </p:cNvGraphicFramePr>
          <p:nvPr/>
        </p:nvGraphicFramePr>
        <p:xfrm>
          <a:off x="4183380" y="4697730"/>
          <a:ext cx="3997960" cy="715010"/>
        </p:xfrm>
        <a:graphic>
          <a:graphicData uri="http://schemas.openxmlformats.org/presentationml/2006/ole">
            <mc:AlternateContent xmlns:mc="http://schemas.openxmlformats.org/markup-compatibility/2006">
              <mc:Choice xmlns:v="urn:schemas-microsoft-com:vml" Requires="v">
                <p:oleObj spid="_x0000_s3076" name="" r:id="rId1" imgW="1459865" imgH="254000" progId="Equation.DSMT4">
                  <p:embed/>
                </p:oleObj>
              </mc:Choice>
              <mc:Fallback>
                <p:oleObj name="" r:id="rId1" imgW="1459865" imgH="254000" progId="Equation.DSMT4">
                  <p:embed/>
                  <p:pic>
                    <p:nvPicPr>
                      <p:cNvPr id="0" name="图片 3075"/>
                      <p:cNvPicPr/>
                      <p:nvPr/>
                    </p:nvPicPr>
                    <p:blipFill>
                      <a:blip r:embed="rId2"/>
                      <a:stretch>
                        <a:fillRect/>
                      </a:stretch>
                    </p:blipFill>
                    <p:spPr>
                      <a:xfrm>
                        <a:off x="4183380" y="4697730"/>
                        <a:ext cx="3997960" cy="715010"/>
                      </a:xfrm>
                      <a:prstGeom prst="rect">
                        <a:avLst/>
                      </a:prstGeom>
                      <a:noFill/>
                      <a:ln w="38100">
                        <a:noFill/>
                        <a:miter/>
                      </a:ln>
                    </p:spPr>
                  </p:pic>
                </p:oleObj>
              </mc:Fallback>
            </mc:AlternateContent>
          </a:graphicData>
        </a:graphic>
      </p:graphicFrame>
      <p:graphicFrame>
        <p:nvGraphicFramePr>
          <p:cNvPr id="5" name="对象 -2147482401"/>
          <p:cNvGraphicFramePr>
            <a:graphicFrameLocks noChangeAspect="1"/>
          </p:cNvGraphicFramePr>
          <p:nvPr/>
        </p:nvGraphicFramePr>
        <p:xfrm>
          <a:off x="2973070" y="5522595"/>
          <a:ext cx="826770" cy="410210"/>
        </p:xfrm>
        <a:graphic>
          <a:graphicData uri="http://schemas.openxmlformats.org/presentationml/2006/ole">
            <mc:AlternateContent xmlns:mc="http://schemas.openxmlformats.org/markup-compatibility/2006">
              <mc:Choice xmlns:v="urn:schemas-microsoft-com:vml" Requires="v">
                <p:oleObj spid="_x0000_s6" name="" r:id="rId3" imgW="419100" imgH="254000" progId="Equation.DSMT4">
                  <p:embed/>
                </p:oleObj>
              </mc:Choice>
              <mc:Fallback>
                <p:oleObj name="" r:id="rId3" imgW="419100" imgH="254000" progId="Equation.DSMT4">
                  <p:embed/>
                  <p:pic>
                    <p:nvPicPr>
                      <p:cNvPr id="0" name="图片 3"/>
                      <p:cNvPicPr/>
                      <p:nvPr/>
                    </p:nvPicPr>
                    <p:blipFill>
                      <a:blip r:embed="rId4"/>
                      <a:stretch>
                        <a:fillRect/>
                      </a:stretch>
                    </p:blipFill>
                    <p:spPr>
                      <a:xfrm>
                        <a:off x="2973070" y="5522595"/>
                        <a:ext cx="826770" cy="410210"/>
                      </a:xfrm>
                      <a:prstGeom prst="rect">
                        <a:avLst/>
                      </a:prstGeom>
                      <a:noFill/>
                      <a:ln w="38100">
                        <a:noFill/>
                        <a:miter/>
                      </a:ln>
                    </p:spPr>
                  </p:pic>
                </p:oleObj>
              </mc:Fallback>
            </mc:AlternateContent>
          </a:graphicData>
        </a:graphic>
      </p:graphicFrame>
      <p:graphicFrame>
        <p:nvGraphicFramePr>
          <p:cNvPr id="7" name="对象 -2147482593"/>
          <p:cNvGraphicFramePr>
            <a:graphicFrameLocks noChangeAspect="1"/>
          </p:cNvGraphicFramePr>
          <p:nvPr/>
        </p:nvGraphicFramePr>
        <p:xfrm>
          <a:off x="4811395" y="6055360"/>
          <a:ext cx="3231515" cy="581660"/>
        </p:xfrm>
        <a:graphic>
          <a:graphicData uri="http://schemas.openxmlformats.org/presentationml/2006/ole">
            <mc:AlternateContent xmlns:mc="http://schemas.openxmlformats.org/markup-compatibility/2006">
              <mc:Choice xmlns:v="urn:schemas-microsoft-com:vml" Requires="v">
                <p:oleObj spid="_x0000_s8" name="" r:id="rId5" imgW="1447165" imgH="254000" progId="Equation.DSMT4">
                  <p:embed/>
                </p:oleObj>
              </mc:Choice>
              <mc:Fallback>
                <p:oleObj name="" r:id="rId5" imgW="1447165" imgH="254000" progId="Equation.DSMT4">
                  <p:embed/>
                  <p:pic>
                    <p:nvPicPr>
                      <p:cNvPr id="0" name="图片 4"/>
                      <p:cNvPicPr/>
                      <p:nvPr/>
                    </p:nvPicPr>
                    <p:blipFill>
                      <a:blip r:embed="rId6"/>
                      <a:stretch>
                        <a:fillRect/>
                      </a:stretch>
                    </p:blipFill>
                    <p:spPr>
                      <a:xfrm>
                        <a:off x="4811395" y="6055360"/>
                        <a:ext cx="3231515" cy="581660"/>
                      </a:xfrm>
                      <a:prstGeom prst="rect">
                        <a:avLst/>
                      </a:prstGeom>
                      <a:noFill/>
                      <a:ln w="38100">
                        <a:noFill/>
                        <a:miter/>
                      </a:ln>
                    </p:spPr>
                  </p:pic>
                </p:oleObj>
              </mc:Fallback>
            </mc:AlternateContent>
          </a:graphicData>
        </a:graphic>
      </p:graphicFrame>
      <p:sp>
        <p:nvSpPr>
          <p:cNvPr id="9" name="文本框 8"/>
          <p:cNvSpPr txBox="1"/>
          <p:nvPr/>
        </p:nvSpPr>
        <p:spPr>
          <a:xfrm>
            <a:off x="8042910" y="1444625"/>
            <a:ext cx="4034790" cy="1814830"/>
          </a:xfrm>
          <a:prstGeom prst="rect">
            <a:avLst/>
          </a:prstGeom>
          <a:solidFill>
            <a:schemeClr val="bg2">
              <a:lumMod val="90000"/>
            </a:schemeClr>
          </a:solidFill>
        </p:spPr>
        <p:txBody>
          <a:bodyPr wrap="square" rtlCol="0">
            <a:spAutoFit/>
          </a:bodyPr>
          <a:p>
            <a:r>
              <a:rPr lang="en-US" altLang="zh-CN" sz="2800" b="1">
                <a:solidFill>
                  <a:srgbClr val="C00000"/>
                </a:solidFill>
              </a:rPr>
              <a:t>F</a:t>
            </a:r>
            <a:r>
              <a:rPr lang="zh-CN" altLang="en-US" sz="2800" b="1">
                <a:solidFill>
                  <a:srgbClr val="C00000"/>
                </a:solidFill>
              </a:rPr>
              <a:t>（）函数：训练样本实际输入和目标输入之间差的平方和</a:t>
            </a:r>
            <a:endParaRPr lang="zh-CN" altLang="en-US" sz="2800" b="1">
              <a:solidFill>
                <a:srgbClr val="C00000"/>
              </a:solidFill>
            </a:endParaRPr>
          </a:p>
          <a:p>
            <a:endParaRPr lang="zh-CN" altLang="en-US" sz="2800" b="1">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99615" y="1026160"/>
            <a:ext cx="9479280" cy="5123815"/>
          </a:xfrm>
        </p:spPr>
        <p:txBody>
          <a:bodyPr>
            <a:noAutofit/>
          </a:bodyPr>
          <a:p>
            <a:r>
              <a:rPr lang="zh-CN" altLang="en-US" sz="2400">
                <a:latin typeface="楷体" panose="02010609060101010101" charset="-122"/>
                <a:ea typeface="楷体" panose="02010609060101010101" charset="-122"/>
                <a:cs typeface="楷体" panose="02010609060101010101" charset="-122"/>
              </a:rPr>
              <a:t>样神经网络输出的误差才会随着训练过程的进行而不断地向最小化的目标靠近。</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对            进行一阶泰勒公式展开,得</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式中                          ,即     在          时的梯度矢量。显然,如果取              式中,取较小的正数(称为学习率),即权值修正量沿网络误差曲面的负梯度方向取较小值，则式    </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的右边第二项必然小于零，式                    必然满足，这就是Delta学习规则的基本原理。   </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591"/>
          <p:cNvGraphicFramePr>
            <a:graphicFrameLocks noChangeAspect="1"/>
          </p:cNvGraphicFramePr>
          <p:nvPr/>
        </p:nvGraphicFramePr>
        <p:xfrm>
          <a:off x="2821305" y="1893570"/>
          <a:ext cx="1152525" cy="393700"/>
        </p:xfrm>
        <a:graphic>
          <a:graphicData uri="http://schemas.openxmlformats.org/presentationml/2006/ole">
            <mc:AlternateContent xmlns:mc="http://schemas.openxmlformats.org/markup-compatibility/2006">
              <mc:Choice xmlns:v="urn:schemas-microsoft-com:vml" Requires="v">
                <p:oleObj spid="_x0000_s3076" name="" r:id="rId1" imgW="761365" imgH="254000" progId="Equation.DSMT4">
                  <p:embed/>
                </p:oleObj>
              </mc:Choice>
              <mc:Fallback>
                <p:oleObj name="" r:id="rId1" imgW="761365" imgH="254000" progId="Equation.DSMT4">
                  <p:embed/>
                  <p:pic>
                    <p:nvPicPr>
                      <p:cNvPr id="0" name="图片 3075"/>
                      <p:cNvPicPr/>
                      <p:nvPr/>
                    </p:nvPicPr>
                    <p:blipFill>
                      <a:blip r:embed="rId2"/>
                      <a:stretch>
                        <a:fillRect/>
                      </a:stretch>
                    </p:blipFill>
                    <p:spPr>
                      <a:xfrm>
                        <a:off x="2821305" y="1893570"/>
                        <a:ext cx="1152525" cy="393700"/>
                      </a:xfrm>
                      <a:prstGeom prst="rect">
                        <a:avLst/>
                      </a:prstGeom>
                      <a:noFill/>
                      <a:ln w="38100">
                        <a:noFill/>
                        <a:miter/>
                      </a:ln>
                    </p:spPr>
                  </p:pic>
                </p:oleObj>
              </mc:Fallback>
            </mc:AlternateContent>
          </a:graphicData>
        </a:graphic>
      </p:graphicFrame>
      <p:graphicFrame>
        <p:nvGraphicFramePr>
          <p:cNvPr id="4" name="对象 -2147482590"/>
          <p:cNvGraphicFramePr>
            <a:graphicFrameLocks noChangeAspect="1"/>
          </p:cNvGraphicFramePr>
          <p:nvPr/>
        </p:nvGraphicFramePr>
        <p:xfrm>
          <a:off x="2821305" y="2404110"/>
          <a:ext cx="6956425" cy="538480"/>
        </p:xfrm>
        <a:graphic>
          <a:graphicData uri="http://schemas.openxmlformats.org/presentationml/2006/ole">
            <mc:AlternateContent xmlns:mc="http://schemas.openxmlformats.org/markup-compatibility/2006">
              <mc:Choice xmlns:v="urn:schemas-microsoft-com:vml" Requires="v">
                <p:oleObj spid="_x0000_s5" name="" r:id="rId3" imgW="3543300" imgH="279400" progId="Equation.DSMT4">
                  <p:embed/>
                </p:oleObj>
              </mc:Choice>
              <mc:Fallback>
                <p:oleObj name="" r:id="rId3" imgW="3543300" imgH="279400" progId="Equation.DSMT4">
                  <p:embed/>
                  <p:pic>
                    <p:nvPicPr>
                      <p:cNvPr id="0" name="图片 3"/>
                      <p:cNvPicPr/>
                      <p:nvPr/>
                    </p:nvPicPr>
                    <p:blipFill>
                      <a:blip r:embed="rId4"/>
                      <a:stretch>
                        <a:fillRect/>
                      </a:stretch>
                    </p:blipFill>
                    <p:spPr>
                      <a:xfrm>
                        <a:off x="2821305" y="2404110"/>
                        <a:ext cx="6956425" cy="538480"/>
                      </a:xfrm>
                      <a:prstGeom prst="rect">
                        <a:avLst/>
                      </a:prstGeom>
                      <a:noFill/>
                      <a:ln w="38100">
                        <a:noFill/>
                        <a:miter/>
                      </a:ln>
                    </p:spPr>
                  </p:pic>
                </p:oleObj>
              </mc:Fallback>
            </mc:AlternateContent>
          </a:graphicData>
        </a:graphic>
      </p:graphicFrame>
      <p:graphicFrame>
        <p:nvGraphicFramePr>
          <p:cNvPr id="6" name="对象 -2147482588"/>
          <p:cNvGraphicFramePr>
            <a:graphicFrameLocks noChangeAspect="1"/>
          </p:cNvGraphicFramePr>
          <p:nvPr/>
        </p:nvGraphicFramePr>
        <p:xfrm>
          <a:off x="2821305" y="3154680"/>
          <a:ext cx="2877820" cy="548005"/>
        </p:xfrm>
        <a:graphic>
          <a:graphicData uri="http://schemas.openxmlformats.org/presentationml/2006/ole">
            <mc:AlternateContent xmlns:mc="http://schemas.openxmlformats.org/markup-compatibility/2006">
              <mc:Choice xmlns:v="urn:schemas-microsoft-com:vml" Requires="v">
                <p:oleObj spid="_x0000_s7" name="" r:id="rId5" imgW="1536065" imgH="304800" progId="Equation.DSMT4">
                  <p:embed/>
                </p:oleObj>
              </mc:Choice>
              <mc:Fallback>
                <p:oleObj name="" r:id="rId5" imgW="1536065" imgH="304800" progId="Equation.DSMT4">
                  <p:embed/>
                  <p:pic>
                    <p:nvPicPr>
                      <p:cNvPr id="0" name="图片 4"/>
                      <p:cNvPicPr/>
                      <p:nvPr/>
                    </p:nvPicPr>
                    <p:blipFill>
                      <a:blip r:embed="rId6"/>
                      <a:stretch>
                        <a:fillRect/>
                      </a:stretch>
                    </p:blipFill>
                    <p:spPr>
                      <a:xfrm>
                        <a:off x="2821305" y="3154680"/>
                        <a:ext cx="2877820" cy="548005"/>
                      </a:xfrm>
                      <a:prstGeom prst="rect">
                        <a:avLst/>
                      </a:prstGeom>
                      <a:noFill/>
                      <a:ln w="38100">
                        <a:noFill/>
                        <a:miter/>
                      </a:ln>
                    </p:spPr>
                  </p:pic>
                </p:oleObj>
              </mc:Fallback>
            </mc:AlternateContent>
          </a:graphicData>
        </a:graphic>
      </p:graphicFrame>
      <p:graphicFrame>
        <p:nvGraphicFramePr>
          <p:cNvPr id="8" name="对象 -2147482587"/>
          <p:cNvGraphicFramePr>
            <a:graphicFrameLocks noChangeAspect="1"/>
          </p:cNvGraphicFramePr>
          <p:nvPr/>
        </p:nvGraphicFramePr>
        <p:xfrm>
          <a:off x="7136130" y="3340735"/>
          <a:ext cx="621030" cy="414020"/>
        </p:xfrm>
        <a:graphic>
          <a:graphicData uri="http://schemas.openxmlformats.org/presentationml/2006/ole">
            <mc:AlternateContent xmlns:mc="http://schemas.openxmlformats.org/markup-compatibility/2006">
              <mc:Choice xmlns:v="urn:schemas-microsoft-com:vml" Requires="v">
                <p:oleObj spid="_x0000_s9" name="" r:id="rId7" imgW="393700" imgH="254000" progId="Equation.DSMT4">
                  <p:embed/>
                </p:oleObj>
              </mc:Choice>
              <mc:Fallback>
                <p:oleObj name="" r:id="rId7" imgW="393700" imgH="254000" progId="Equation.DSMT4">
                  <p:embed/>
                  <p:pic>
                    <p:nvPicPr>
                      <p:cNvPr id="0" name="图片 5"/>
                      <p:cNvPicPr/>
                      <p:nvPr/>
                    </p:nvPicPr>
                    <p:blipFill>
                      <a:blip r:embed="rId8"/>
                      <a:stretch>
                        <a:fillRect/>
                      </a:stretch>
                    </p:blipFill>
                    <p:spPr>
                      <a:xfrm>
                        <a:off x="7136130" y="3340735"/>
                        <a:ext cx="621030" cy="414020"/>
                      </a:xfrm>
                      <a:prstGeom prst="rect">
                        <a:avLst/>
                      </a:prstGeom>
                      <a:noFill/>
                      <a:ln w="38100">
                        <a:noFill/>
                        <a:miter/>
                      </a:ln>
                    </p:spPr>
                  </p:pic>
                </p:oleObj>
              </mc:Fallback>
            </mc:AlternateContent>
          </a:graphicData>
        </a:graphic>
      </p:graphicFrame>
      <p:graphicFrame>
        <p:nvGraphicFramePr>
          <p:cNvPr id="10" name="对象 -2147482400"/>
          <p:cNvGraphicFramePr>
            <a:graphicFrameLocks noChangeAspect="1"/>
          </p:cNvGraphicFramePr>
          <p:nvPr/>
        </p:nvGraphicFramePr>
        <p:xfrm>
          <a:off x="8326120" y="3323590"/>
          <a:ext cx="1206500" cy="458470"/>
        </p:xfrm>
        <a:graphic>
          <a:graphicData uri="http://schemas.openxmlformats.org/presentationml/2006/ole">
            <mc:AlternateContent xmlns:mc="http://schemas.openxmlformats.org/markup-compatibility/2006">
              <mc:Choice xmlns:v="urn:schemas-microsoft-com:vml" Requires="v">
                <p:oleObj spid="_x0000_s11" name="" r:id="rId9" imgW="584200" imgH="254000" progId="Equation.DSMT4">
                  <p:embed/>
                </p:oleObj>
              </mc:Choice>
              <mc:Fallback>
                <p:oleObj name="" r:id="rId9" imgW="584200" imgH="254000" progId="Equation.DSMT4">
                  <p:embed/>
                  <p:pic>
                    <p:nvPicPr>
                      <p:cNvPr id="0" name="图片 6"/>
                      <p:cNvPicPr/>
                      <p:nvPr/>
                    </p:nvPicPr>
                    <p:blipFill>
                      <a:blip r:embed="rId10"/>
                      <a:stretch>
                        <a:fillRect/>
                      </a:stretch>
                    </p:blipFill>
                    <p:spPr>
                      <a:xfrm>
                        <a:off x="8326120" y="3323590"/>
                        <a:ext cx="1206500" cy="458470"/>
                      </a:xfrm>
                      <a:prstGeom prst="rect">
                        <a:avLst/>
                      </a:prstGeom>
                      <a:noFill/>
                      <a:ln w="38100">
                        <a:noFill/>
                        <a:miter/>
                      </a:ln>
                    </p:spPr>
                  </p:pic>
                </p:oleObj>
              </mc:Fallback>
            </mc:AlternateContent>
          </a:graphicData>
        </a:graphic>
      </p:graphicFrame>
      <p:graphicFrame>
        <p:nvGraphicFramePr>
          <p:cNvPr id="12" name="对象 -2147482399"/>
          <p:cNvGraphicFramePr>
            <a:graphicFrameLocks noChangeAspect="1"/>
          </p:cNvGraphicFramePr>
          <p:nvPr/>
        </p:nvGraphicFramePr>
        <p:xfrm>
          <a:off x="4619625" y="3702685"/>
          <a:ext cx="1695450" cy="442595"/>
        </p:xfrm>
        <a:graphic>
          <a:graphicData uri="http://schemas.openxmlformats.org/presentationml/2006/ole">
            <mc:AlternateContent xmlns:mc="http://schemas.openxmlformats.org/markup-compatibility/2006">
              <mc:Choice xmlns:v="urn:schemas-microsoft-com:vml" Requires="v">
                <p:oleObj spid="_x0000_s13" name="" r:id="rId11" imgW="1002665" imgH="254000" progId="Equation.DSMT4">
                  <p:embed/>
                </p:oleObj>
              </mc:Choice>
              <mc:Fallback>
                <p:oleObj name="" r:id="rId11" imgW="1002665" imgH="254000" progId="Equation.DSMT4">
                  <p:embed/>
                  <p:pic>
                    <p:nvPicPr>
                      <p:cNvPr id="0" name="图片 7"/>
                      <p:cNvPicPr/>
                      <p:nvPr/>
                    </p:nvPicPr>
                    <p:blipFill>
                      <a:blip r:embed="rId12"/>
                      <a:stretch>
                        <a:fillRect/>
                      </a:stretch>
                    </p:blipFill>
                    <p:spPr>
                      <a:xfrm>
                        <a:off x="4619625" y="3702685"/>
                        <a:ext cx="1695450" cy="442595"/>
                      </a:xfrm>
                      <a:prstGeom prst="rect">
                        <a:avLst/>
                      </a:prstGeom>
                      <a:noFill/>
                      <a:ln w="38100">
                        <a:noFill/>
                        <a:miter/>
                      </a:ln>
                    </p:spPr>
                  </p:pic>
                </p:oleObj>
              </mc:Fallback>
            </mc:AlternateContent>
          </a:graphicData>
        </a:graphic>
      </p:graphicFrame>
      <p:graphicFrame>
        <p:nvGraphicFramePr>
          <p:cNvPr id="14" name="对象 13"/>
          <p:cNvGraphicFramePr>
            <a:graphicFrameLocks noChangeAspect="1"/>
          </p:cNvGraphicFramePr>
          <p:nvPr/>
        </p:nvGraphicFramePr>
        <p:xfrm>
          <a:off x="3149600" y="4674235"/>
          <a:ext cx="6841490" cy="529590"/>
        </p:xfrm>
        <a:graphic>
          <a:graphicData uri="http://schemas.openxmlformats.org/presentationml/2006/ole">
            <mc:AlternateContent xmlns:mc="http://schemas.openxmlformats.org/markup-compatibility/2006">
              <mc:Choice xmlns:v="urn:schemas-microsoft-com:vml" Requires="v">
                <p:oleObj spid="_x0000_s15" name="" r:id="rId13" imgW="3543300" imgH="279400" progId="Equation.DSMT4">
                  <p:embed/>
                </p:oleObj>
              </mc:Choice>
              <mc:Fallback>
                <p:oleObj name="" r:id="rId13" imgW="3543300" imgH="279400" progId="Equation.DSMT4">
                  <p:embed/>
                  <p:pic>
                    <p:nvPicPr>
                      <p:cNvPr id="0" name="图片 9"/>
                      <p:cNvPicPr/>
                      <p:nvPr/>
                    </p:nvPicPr>
                    <p:blipFill>
                      <a:blip r:embed="rId4"/>
                      <a:stretch>
                        <a:fillRect/>
                      </a:stretch>
                    </p:blipFill>
                    <p:spPr>
                      <a:xfrm>
                        <a:off x="3149600" y="4674235"/>
                        <a:ext cx="6841490" cy="529590"/>
                      </a:xfrm>
                      <a:prstGeom prst="rect">
                        <a:avLst/>
                      </a:prstGeom>
                      <a:noFill/>
                      <a:ln w="38100">
                        <a:noFill/>
                        <a:miter/>
                      </a:ln>
                    </p:spPr>
                  </p:pic>
                </p:oleObj>
              </mc:Fallback>
            </mc:AlternateContent>
          </a:graphicData>
        </a:graphic>
      </p:graphicFrame>
      <p:graphicFrame>
        <p:nvGraphicFramePr>
          <p:cNvPr id="16" name="对象 -2147482398"/>
          <p:cNvGraphicFramePr>
            <a:graphicFrameLocks noChangeAspect="1"/>
          </p:cNvGraphicFramePr>
          <p:nvPr/>
        </p:nvGraphicFramePr>
        <p:xfrm>
          <a:off x="6346825" y="5558790"/>
          <a:ext cx="2584450" cy="465455"/>
        </p:xfrm>
        <a:graphic>
          <a:graphicData uri="http://schemas.openxmlformats.org/presentationml/2006/ole">
            <mc:AlternateContent xmlns:mc="http://schemas.openxmlformats.org/markup-compatibility/2006">
              <mc:Choice xmlns:v="urn:schemas-microsoft-com:vml" Requires="v">
                <p:oleObj spid="_x0000_s17" name="" r:id="rId14" imgW="1447165" imgH="254000" progId="Equation.DSMT4">
                  <p:embed/>
                </p:oleObj>
              </mc:Choice>
              <mc:Fallback>
                <p:oleObj name="" r:id="rId14" imgW="1447165" imgH="254000" progId="Equation.DSMT4">
                  <p:embed/>
                  <p:pic>
                    <p:nvPicPr>
                      <p:cNvPr id="0" name="图片 10"/>
                      <p:cNvPicPr/>
                      <p:nvPr/>
                    </p:nvPicPr>
                    <p:blipFill>
                      <a:blip r:embed="rId15"/>
                      <a:stretch>
                        <a:fillRect/>
                      </a:stretch>
                    </p:blipFill>
                    <p:spPr>
                      <a:xfrm>
                        <a:off x="6346825" y="5558790"/>
                        <a:ext cx="2584450" cy="465455"/>
                      </a:xfrm>
                      <a:prstGeom prst="rect">
                        <a:avLst/>
                      </a:prstGeom>
                      <a:noFill/>
                      <a:ln w="38100">
                        <a:noFill/>
                        <a:miter/>
                      </a:ln>
                    </p:spPr>
                  </p:pic>
                </p:oleObj>
              </mc:Fallback>
            </mc:AlternateContent>
          </a:graphicData>
        </a:graphic>
      </p:graphicFrame>
      <p:pic>
        <p:nvPicPr>
          <p:cNvPr id="19" name="图片 18" descr="DS${64TGKC~49S$5RK7O)M1"/>
          <p:cNvPicPr>
            <a:picLocks noChangeAspect="1"/>
          </p:cNvPicPr>
          <p:nvPr/>
        </p:nvPicPr>
        <p:blipFill>
          <a:blip r:embed="rId16"/>
          <a:srcRect t="7424"/>
          <a:stretch>
            <a:fillRect/>
          </a:stretch>
        </p:blipFill>
        <p:spPr>
          <a:xfrm>
            <a:off x="5339080" y="194310"/>
            <a:ext cx="5998210" cy="657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椭圆 9"/>
          <p:cNvSpPr/>
          <p:nvPr/>
        </p:nvSpPr>
        <p:spPr>
          <a:xfrm>
            <a:off x="6997700" y="3402330"/>
            <a:ext cx="122555" cy="1225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任意多边形 11"/>
          <p:cNvSpPr/>
          <p:nvPr/>
        </p:nvSpPr>
        <p:spPr>
          <a:xfrm>
            <a:off x="2894965" y="2785745"/>
            <a:ext cx="5781675" cy="1453515"/>
          </a:xfrm>
          <a:custGeom>
            <a:avLst/>
            <a:gdLst>
              <a:gd name="connisteX0" fmla="*/ 0 w 5781675"/>
              <a:gd name="connsiteY0" fmla="*/ 367030 h 1453444"/>
              <a:gd name="connisteX1" fmla="*/ 139700 w 5781675"/>
              <a:gd name="connsiteY1" fmla="*/ 349885 h 1453444"/>
              <a:gd name="connisteX2" fmla="*/ 209550 w 5781675"/>
              <a:gd name="connsiteY2" fmla="*/ 349885 h 1453444"/>
              <a:gd name="connisteX3" fmla="*/ 279400 w 5781675"/>
              <a:gd name="connsiteY3" fmla="*/ 349885 h 1453444"/>
              <a:gd name="connisteX4" fmla="*/ 366395 w 5781675"/>
              <a:gd name="connsiteY4" fmla="*/ 349885 h 1453444"/>
              <a:gd name="connisteX5" fmla="*/ 471805 w 5781675"/>
              <a:gd name="connsiteY5" fmla="*/ 349885 h 1453444"/>
              <a:gd name="connisteX6" fmla="*/ 558800 w 5781675"/>
              <a:gd name="connsiteY6" fmla="*/ 349885 h 1453444"/>
              <a:gd name="connisteX7" fmla="*/ 628650 w 5781675"/>
              <a:gd name="connsiteY7" fmla="*/ 349885 h 1453444"/>
              <a:gd name="connisteX8" fmla="*/ 698500 w 5781675"/>
              <a:gd name="connsiteY8" fmla="*/ 367030 h 1453444"/>
              <a:gd name="connisteX9" fmla="*/ 786130 w 5781675"/>
              <a:gd name="connsiteY9" fmla="*/ 401955 h 1453444"/>
              <a:gd name="connisteX10" fmla="*/ 855980 w 5781675"/>
              <a:gd name="connsiteY10" fmla="*/ 454660 h 1453444"/>
              <a:gd name="connisteX11" fmla="*/ 925830 w 5781675"/>
              <a:gd name="connsiteY11" fmla="*/ 489585 h 1453444"/>
              <a:gd name="connisteX12" fmla="*/ 995680 w 5781675"/>
              <a:gd name="connsiteY12" fmla="*/ 524510 h 1453444"/>
              <a:gd name="connisteX13" fmla="*/ 1082675 w 5781675"/>
              <a:gd name="connsiteY13" fmla="*/ 576580 h 1453444"/>
              <a:gd name="connisteX14" fmla="*/ 1170305 w 5781675"/>
              <a:gd name="connsiteY14" fmla="*/ 611505 h 1453444"/>
              <a:gd name="connisteX15" fmla="*/ 1240155 w 5781675"/>
              <a:gd name="connsiteY15" fmla="*/ 664210 h 1453444"/>
              <a:gd name="connisteX16" fmla="*/ 1310005 w 5781675"/>
              <a:gd name="connsiteY16" fmla="*/ 699135 h 1453444"/>
              <a:gd name="connisteX17" fmla="*/ 1379855 w 5781675"/>
              <a:gd name="connsiteY17" fmla="*/ 734060 h 1453444"/>
              <a:gd name="connisteX18" fmla="*/ 1449705 w 5781675"/>
              <a:gd name="connsiteY18" fmla="*/ 768985 h 1453444"/>
              <a:gd name="connisteX19" fmla="*/ 1536700 w 5781675"/>
              <a:gd name="connsiteY19" fmla="*/ 821055 h 1453444"/>
              <a:gd name="connisteX20" fmla="*/ 1607185 w 5781675"/>
              <a:gd name="connsiteY20" fmla="*/ 873760 h 1453444"/>
              <a:gd name="connisteX21" fmla="*/ 1677035 w 5781675"/>
              <a:gd name="connsiteY21" fmla="*/ 908685 h 1453444"/>
              <a:gd name="connisteX22" fmla="*/ 1746885 w 5781675"/>
              <a:gd name="connsiteY22" fmla="*/ 960755 h 1453444"/>
              <a:gd name="connisteX23" fmla="*/ 1816735 w 5781675"/>
              <a:gd name="connsiteY23" fmla="*/ 1013460 h 1453444"/>
              <a:gd name="connisteX24" fmla="*/ 1886585 w 5781675"/>
              <a:gd name="connsiteY24" fmla="*/ 1083310 h 1453444"/>
              <a:gd name="connisteX25" fmla="*/ 1973580 w 5781675"/>
              <a:gd name="connsiteY25" fmla="*/ 1135380 h 1453444"/>
              <a:gd name="connisteX26" fmla="*/ 2043430 w 5781675"/>
              <a:gd name="connsiteY26" fmla="*/ 1188085 h 1453444"/>
              <a:gd name="connisteX27" fmla="*/ 2113280 w 5781675"/>
              <a:gd name="connsiteY27" fmla="*/ 1223010 h 1453444"/>
              <a:gd name="connisteX28" fmla="*/ 2200910 w 5781675"/>
              <a:gd name="connsiteY28" fmla="*/ 1275080 h 1453444"/>
              <a:gd name="connisteX29" fmla="*/ 2270760 w 5781675"/>
              <a:gd name="connsiteY29" fmla="*/ 1310005 h 1453444"/>
              <a:gd name="connisteX30" fmla="*/ 2357755 w 5781675"/>
              <a:gd name="connsiteY30" fmla="*/ 1362710 h 1453444"/>
              <a:gd name="connisteX31" fmla="*/ 2427605 w 5781675"/>
              <a:gd name="connsiteY31" fmla="*/ 1379855 h 1453444"/>
              <a:gd name="connisteX32" fmla="*/ 2497455 w 5781675"/>
              <a:gd name="connsiteY32" fmla="*/ 1414780 h 1453444"/>
              <a:gd name="connisteX33" fmla="*/ 2620010 w 5781675"/>
              <a:gd name="connsiteY33" fmla="*/ 1432560 h 1453444"/>
              <a:gd name="connisteX34" fmla="*/ 2689860 w 5781675"/>
              <a:gd name="connsiteY34" fmla="*/ 1432560 h 1453444"/>
              <a:gd name="connisteX35" fmla="*/ 2812415 w 5781675"/>
              <a:gd name="connsiteY35" fmla="*/ 1450340 h 1453444"/>
              <a:gd name="connisteX36" fmla="*/ 2934335 w 5781675"/>
              <a:gd name="connsiteY36" fmla="*/ 1450340 h 1453444"/>
              <a:gd name="connisteX37" fmla="*/ 3004185 w 5781675"/>
              <a:gd name="connsiteY37" fmla="*/ 1450340 h 1453444"/>
              <a:gd name="connisteX38" fmla="*/ 3074035 w 5781675"/>
              <a:gd name="connsiteY38" fmla="*/ 1450340 h 1453444"/>
              <a:gd name="connisteX39" fmla="*/ 3161665 w 5781675"/>
              <a:gd name="connsiteY39" fmla="*/ 1450340 h 1453444"/>
              <a:gd name="connisteX40" fmla="*/ 3231515 w 5781675"/>
              <a:gd name="connsiteY40" fmla="*/ 1414780 h 1453444"/>
              <a:gd name="connisteX41" fmla="*/ 3301365 w 5781675"/>
              <a:gd name="connsiteY41" fmla="*/ 1379855 h 1453444"/>
              <a:gd name="connisteX42" fmla="*/ 3371215 w 5781675"/>
              <a:gd name="connsiteY42" fmla="*/ 1310005 h 1453444"/>
              <a:gd name="connisteX43" fmla="*/ 3458210 w 5781675"/>
              <a:gd name="connsiteY43" fmla="*/ 1257935 h 1453444"/>
              <a:gd name="connisteX44" fmla="*/ 3528060 w 5781675"/>
              <a:gd name="connsiteY44" fmla="*/ 1223010 h 1453444"/>
              <a:gd name="connisteX45" fmla="*/ 3597910 w 5781675"/>
              <a:gd name="connsiteY45" fmla="*/ 1188085 h 1453444"/>
              <a:gd name="connisteX46" fmla="*/ 3667760 w 5781675"/>
              <a:gd name="connsiteY46" fmla="*/ 1135380 h 1453444"/>
              <a:gd name="connisteX47" fmla="*/ 3737610 w 5781675"/>
              <a:gd name="connsiteY47" fmla="*/ 1065530 h 1453444"/>
              <a:gd name="connisteX48" fmla="*/ 3807460 w 5781675"/>
              <a:gd name="connsiteY48" fmla="*/ 995680 h 1453444"/>
              <a:gd name="connisteX49" fmla="*/ 3877310 w 5781675"/>
              <a:gd name="connsiteY49" fmla="*/ 925830 h 1453444"/>
              <a:gd name="connisteX50" fmla="*/ 3947160 w 5781675"/>
              <a:gd name="connsiteY50" fmla="*/ 890905 h 1453444"/>
              <a:gd name="connisteX51" fmla="*/ 4017010 w 5781675"/>
              <a:gd name="connsiteY51" fmla="*/ 821055 h 1453444"/>
              <a:gd name="connisteX52" fmla="*/ 4087495 w 5781675"/>
              <a:gd name="connsiteY52" fmla="*/ 751205 h 1453444"/>
              <a:gd name="connisteX53" fmla="*/ 4157345 w 5781675"/>
              <a:gd name="connsiteY53" fmla="*/ 716280 h 1453444"/>
              <a:gd name="connisteX54" fmla="*/ 4227195 w 5781675"/>
              <a:gd name="connsiteY54" fmla="*/ 681355 h 1453444"/>
              <a:gd name="connisteX55" fmla="*/ 4297045 w 5781675"/>
              <a:gd name="connsiteY55" fmla="*/ 629285 h 1453444"/>
              <a:gd name="connisteX56" fmla="*/ 4366895 w 5781675"/>
              <a:gd name="connsiteY56" fmla="*/ 594360 h 1453444"/>
              <a:gd name="connisteX57" fmla="*/ 4436745 w 5781675"/>
              <a:gd name="connsiteY57" fmla="*/ 541655 h 1453444"/>
              <a:gd name="connisteX58" fmla="*/ 4506595 w 5781675"/>
              <a:gd name="connsiteY58" fmla="*/ 471805 h 1453444"/>
              <a:gd name="connisteX59" fmla="*/ 4576445 w 5781675"/>
              <a:gd name="connsiteY59" fmla="*/ 436880 h 1453444"/>
              <a:gd name="connisteX60" fmla="*/ 4663440 w 5781675"/>
              <a:gd name="connsiteY60" fmla="*/ 384810 h 1453444"/>
              <a:gd name="connisteX61" fmla="*/ 4803140 w 5781675"/>
              <a:gd name="connsiteY61" fmla="*/ 349885 h 1453444"/>
              <a:gd name="connisteX62" fmla="*/ 4907915 w 5781675"/>
              <a:gd name="connsiteY62" fmla="*/ 314960 h 1453444"/>
              <a:gd name="connisteX63" fmla="*/ 4995545 w 5781675"/>
              <a:gd name="connsiteY63" fmla="*/ 280035 h 1453444"/>
              <a:gd name="connisteX64" fmla="*/ 5082540 w 5781675"/>
              <a:gd name="connsiteY64" fmla="*/ 262255 h 1453444"/>
              <a:gd name="connisteX65" fmla="*/ 5152390 w 5781675"/>
              <a:gd name="connsiteY65" fmla="*/ 245110 h 1453444"/>
              <a:gd name="connisteX66" fmla="*/ 5257800 w 5781675"/>
              <a:gd name="connsiteY66" fmla="*/ 209550 h 1453444"/>
              <a:gd name="connisteX67" fmla="*/ 5327650 w 5781675"/>
              <a:gd name="connsiteY67" fmla="*/ 192405 h 1453444"/>
              <a:gd name="connisteX68" fmla="*/ 5397500 w 5781675"/>
              <a:gd name="connsiteY68" fmla="*/ 157480 h 1453444"/>
              <a:gd name="connisteX69" fmla="*/ 5467350 w 5781675"/>
              <a:gd name="connsiteY69" fmla="*/ 139700 h 1453444"/>
              <a:gd name="connisteX70" fmla="*/ 5537200 w 5781675"/>
              <a:gd name="connsiteY70" fmla="*/ 87630 h 1453444"/>
              <a:gd name="connisteX71" fmla="*/ 5624195 w 5781675"/>
              <a:gd name="connsiteY71" fmla="*/ 52705 h 1453444"/>
              <a:gd name="connisteX72" fmla="*/ 5694045 w 5781675"/>
              <a:gd name="connsiteY72" fmla="*/ 34925 h 1453444"/>
              <a:gd name="connisteX73" fmla="*/ 5781675 w 5781675"/>
              <a:gd name="connsiteY73" fmla="*/ 0 h 145344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Lst>
            <a:rect l="l" t="t" r="r" b="b"/>
            <a:pathLst>
              <a:path w="5781675" h="1453444">
                <a:moveTo>
                  <a:pt x="0" y="367030"/>
                </a:moveTo>
                <a:cubicBezTo>
                  <a:pt x="26670" y="363855"/>
                  <a:pt x="97790" y="353060"/>
                  <a:pt x="139700" y="349885"/>
                </a:cubicBezTo>
                <a:cubicBezTo>
                  <a:pt x="181610" y="346710"/>
                  <a:pt x="181610" y="349885"/>
                  <a:pt x="209550" y="349885"/>
                </a:cubicBezTo>
                <a:cubicBezTo>
                  <a:pt x="237490" y="349885"/>
                  <a:pt x="248285" y="349885"/>
                  <a:pt x="279400" y="349885"/>
                </a:cubicBezTo>
                <a:cubicBezTo>
                  <a:pt x="310515" y="349885"/>
                  <a:pt x="327660" y="349885"/>
                  <a:pt x="366395" y="349885"/>
                </a:cubicBezTo>
                <a:cubicBezTo>
                  <a:pt x="405130" y="349885"/>
                  <a:pt x="433070" y="349885"/>
                  <a:pt x="471805" y="349885"/>
                </a:cubicBezTo>
                <a:cubicBezTo>
                  <a:pt x="510540" y="349885"/>
                  <a:pt x="527685" y="349885"/>
                  <a:pt x="558800" y="349885"/>
                </a:cubicBezTo>
                <a:cubicBezTo>
                  <a:pt x="589915" y="349885"/>
                  <a:pt x="600710" y="346710"/>
                  <a:pt x="628650" y="349885"/>
                </a:cubicBezTo>
                <a:cubicBezTo>
                  <a:pt x="656590" y="353060"/>
                  <a:pt x="666750" y="356870"/>
                  <a:pt x="698500" y="367030"/>
                </a:cubicBezTo>
                <a:cubicBezTo>
                  <a:pt x="730250" y="377190"/>
                  <a:pt x="754380" y="384175"/>
                  <a:pt x="786130" y="401955"/>
                </a:cubicBezTo>
                <a:cubicBezTo>
                  <a:pt x="817880" y="419735"/>
                  <a:pt x="828040" y="436880"/>
                  <a:pt x="855980" y="454660"/>
                </a:cubicBezTo>
                <a:cubicBezTo>
                  <a:pt x="883920" y="472440"/>
                  <a:pt x="897890" y="475615"/>
                  <a:pt x="925830" y="489585"/>
                </a:cubicBezTo>
                <a:cubicBezTo>
                  <a:pt x="953770" y="503555"/>
                  <a:pt x="964565" y="507365"/>
                  <a:pt x="995680" y="524510"/>
                </a:cubicBezTo>
                <a:cubicBezTo>
                  <a:pt x="1026795" y="541655"/>
                  <a:pt x="1047750" y="559435"/>
                  <a:pt x="1082675" y="576580"/>
                </a:cubicBezTo>
                <a:cubicBezTo>
                  <a:pt x="1117600" y="593725"/>
                  <a:pt x="1138555" y="593725"/>
                  <a:pt x="1170305" y="611505"/>
                </a:cubicBezTo>
                <a:cubicBezTo>
                  <a:pt x="1202055" y="629285"/>
                  <a:pt x="1212215" y="646430"/>
                  <a:pt x="1240155" y="664210"/>
                </a:cubicBezTo>
                <a:cubicBezTo>
                  <a:pt x="1268095" y="681990"/>
                  <a:pt x="1282065" y="685165"/>
                  <a:pt x="1310005" y="699135"/>
                </a:cubicBezTo>
                <a:cubicBezTo>
                  <a:pt x="1337945" y="713105"/>
                  <a:pt x="1351915" y="720090"/>
                  <a:pt x="1379855" y="734060"/>
                </a:cubicBezTo>
                <a:cubicBezTo>
                  <a:pt x="1407795" y="748030"/>
                  <a:pt x="1418590" y="751840"/>
                  <a:pt x="1449705" y="768985"/>
                </a:cubicBezTo>
                <a:cubicBezTo>
                  <a:pt x="1480820" y="786130"/>
                  <a:pt x="1504950" y="800100"/>
                  <a:pt x="1536700" y="821055"/>
                </a:cubicBezTo>
                <a:cubicBezTo>
                  <a:pt x="1568450" y="842010"/>
                  <a:pt x="1579245" y="855980"/>
                  <a:pt x="1607185" y="873760"/>
                </a:cubicBezTo>
                <a:cubicBezTo>
                  <a:pt x="1635125" y="891540"/>
                  <a:pt x="1649095" y="891540"/>
                  <a:pt x="1677035" y="908685"/>
                </a:cubicBezTo>
                <a:cubicBezTo>
                  <a:pt x="1704975" y="925830"/>
                  <a:pt x="1718945" y="939800"/>
                  <a:pt x="1746885" y="960755"/>
                </a:cubicBezTo>
                <a:cubicBezTo>
                  <a:pt x="1774825" y="981710"/>
                  <a:pt x="1788795" y="988695"/>
                  <a:pt x="1816735" y="1013460"/>
                </a:cubicBezTo>
                <a:cubicBezTo>
                  <a:pt x="1844675" y="1038225"/>
                  <a:pt x="1855470" y="1059180"/>
                  <a:pt x="1886585" y="1083310"/>
                </a:cubicBezTo>
                <a:cubicBezTo>
                  <a:pt x="1917700" y="1107440"/>
                  <a:pt x="1942465" y="1114425"/>
                  <a:pt x="1973580" y="1135380"/>
                </a:cubicBezTo>
                <a:cubicBezTo>
                  <a:pt x="2004695" y="1156335"/>
                  <a:pt x="2015490" y="1170305"/>
                  <a:pt x="2043430" y="1188085"/>
                </a:cubicBezTo>
                <a:cubicBezTo>
                  <a:pt x="2071370" y="1205865"/>
                  <a:pt x="2081530" y="1205865"/>
                  <a:pt x="2113280" y="1223010"/>
                </a:cubicBezTo>
                <a:cubicBezTo>
                  <a:pt x="2145030" y="1240155"/>
                  <a:pt x="2169160" y="1257935"/>
                  <a:pt x="2200910" y="1275080"/>
                </a:cubicBezTo>
                <a:cubicBezTo>
                  <a:pt x="2232660" y="1292225"/>
                  <a:pt x="2239645" y="1292225"/>
                  <a:pt x="2270760" y="1310005"/>
                </a:cubicBezTo>
                <a:cubicBezTo>
                  <a:pt x="2301875" y="1327785"/>
                  <a:pt x="2326640" y="1348740"/>
                  <a:pt x="2357755" y="1362710"/>
                </a:cubicBezTo>
                <a:cubicBezTo>
                  <a:pt x="2388870" y="1376680"/>
                  <a:pt x="2399665" y="1369695"/>
                  <a:pt x="2427605" y="1379855"/>
                </a:cubicBezTo>
                <a:cubicBezTo>
                  <a:pt x="2455545" y="1390015"/>
                  <a:pt x="2458720" y="1403985"/>
                  <a:pt x="2497455" y="1414780"/>
                </a:cubicBezTo>
                <a:cubicBezTo>
                  <a:pt x="2536190" y="1425575"/>
                  <a:pt x="2581275" y="1428750"/>
                  <a:pt x="2620010" y="1432560"/>
                </a:cubicBezTo>
                <a:cubicBezTo>
                  <a:pt x="2658745" y="1436370"/>
                  <a:pt x="2651125" y="1428750"/>
                  <a:pt x="2689860" y="1432560"/>
                </a:cubicBezTo>
                <a:cubicBezTo>
                  <a:pt x="2728595" y="1436370"/>
                  <a:pt x="2763520" y="1446530"/>
                  <a:pt x="2812415" y="1450340"/>
                </a:cubicBezTo>
                <a:cubicBezTo>
                  <a:pt x="2861310" y="1454150"/>
                  <a:pt x="2896235" y="1450340"/>
                  <a:pt x="2934335" y="1450340"/>
                </a:cubicBezTo>
                <a:cubicBezTo>
                  <a:pt x="2972435" y="1450340"/>
                  <a:pt x="2976245" y="1450340"/>
                  <a:pt x="3004185" y="1450340"/>
                </a:cubicBezTo>
                <a:cubicBezTo>
                  <a:pt x="3032125" y="1450340"/>
                  <a:pt x="3042285" y="1450340"/>
                  <a:pt x="3074035" y="1450340"/>
                </a:cubicBezTo>
                <a:cubicBezTo>
                  <a:pt x="3105785" y="1450340"/>
                  <a:pt x="3129915" y="1457325"/>
                  <a:pt x="3161665" y="1450340"/>
                </a:cubicBezTo>
                <a:cubicBezTo>
                  <a:pt x="3193415" y="1443355"/>
                  <a:pt x="3203575" y="1428750"/>
                  <a:pt x="3231515" y="1414780"/>
                </a:cubicBezTo>
                <a:cubicBezTo>
                  <a:pt x="3259455" y="1400810"/>
                  <a:pt x="3273425" y="1400810"/>
                  <a:pt x="3301365" y="1379855"/>
                </a:cubicBezTo>
                <a:cubicBezTo>
                  <a:pt x="3329305" y="1358900"/>
                  <a:pt x="3340100" y="1334135"/>
                  <a:pt x="3371215" y="1310005"/>
                </a:cubicBezTo>
                <a:cubicBezTo>
                  <a:pt x="3402330" y="1285875"/>
                  <a:pt x="3427095" y="1275080"/>
                  <a:pt x="3458210" y="1257935"/>
                </a:cubicBezTo>
                <a:cubicBezTo>
                  <a:pt x="3489325" y="1240790"/>
                  <a:pt x="3500120" y="1236980"/>
                  <a:pt x="3528060" y="1223010"/>
                </a:cubicBezTo>
                <a:cubicBezTo>
                  <a:pt x="3556000" y="1209040"/>
                  <a:pt x="3569970" y="1205865"/>
                  <a:pt x="3597910" y="1188085"/>
                </a:cubicBezTo>
                <a:cubicBezTo>
                  <a:pt x="3625850" y="1170305"/>
                  <a:pt x="3639820" y="1160145"/>
                  <a:pt x="3667760" y="1135380"/>
                </a:cubicBezTo>
                <a:cubicBezTo>
                  <a:pt x="3695700" y="1110615"/>
                  <a:pt x="3709670" y="1093470"/>
                  <a:pt x="3737610" y="1065530"/>
                </a:cubicBezTo>
                <a:cubicBezTo>
                  <a:pt x="3765550" y="1037590"/>
                  <a:pt x="3779520" y="1023620"/>
                  <a:pt x="3807460" y="995680"/>
                </a:cubicBezTo>
                <a:cubicBezTo>
                  <a:pt x="3835400" y="967740"/>
                  <a:pt x="3849370" y="946785"/>
                  <a:pt x="3877310" y="925830"/>
                </a:cubicBezTo>
                <a:cubicBezTo>
                  <a:pt x="3905250" y="904875"/>
                  <a:pt x="3919220" y="911860"/>
                  <a:pt x="3947160" y="890905"/>
                </a:cubicBezTo>
                <a:cubicBezTo>
                  <a:pt x="3975100" y="869950"/>
                  <a:pt x="3989070" y="848995"/>
                  <a:pt x="4017010" y="821055"/>
                </a:cubicBezTo>
                <a:cubicBezTo>
                  <a:pt x="4044950" y="793115"/>
                  <a:pt x="4059555" y="772160"/>
                  <a:pt x="4087495" y="751205"/>
                </a:cubicBezTo>
                <a:cubicBezTo>
                  <a:pt x="4115435" y="730250"/>
                  <a:pt x="4129405" y="730250"/>
                  <a:pt x="4157345" y="716280"/>
                </a:cubicBezTo>
                <a:cubicBezTo>
                  <a:pt x="4185285" y="702310"/>
                  <a:pt x="4199255" y="698500"/>
                  <a:pt x="4227195" y="681355"/>
                </a:cubicBezTo>
                <a:cubicBezTo>
                  <a:pt x="4255135" y="664210"/>
                  <a:pt x="4269105" y="646430"/>
                  <a:pt x="4297045" y="629285"/>
                </a:cubicBezTo>
                <a:cubicBezTo>
                  <a:pt x="4324985" y="612140"/>
                  <a:pt x="4338955" y="612140"/>
                  <a:pt x="4366895" y="594360"/>
                </a:cubicBezTo>
                <a:cubicBezTo>
                  <a:pt x="4394835" y="576580"/>
                  <a:pt x="4408805" y="566420"/>
                  <a:pt x="4436745" y="541655"/>
                </a:cubicBezTo>
                <a:cubicBezTo>
                  <a:pt x="4464685" y="516890"/>
                  <a:pt x="4478655" y="492760"/>
                  <a:pt x="4506595" y="471805"/>
                </a:cubicBezTo>
                <a:cubicBezTo>
                  <a:pt x="4534535" y="450850"/>
                  <a:pt x="4545330" y="454025"/>
                  <a:pt x="4576445" y="436880"/>
                </a:cubicBezTo>
                <a:cubicBezTo>
                  <a:pt x="4607560" y="419735"/>
                  <a:pt x="4618355" y="401955"/>
                  <a:pt x="4663440" y="384810"/>
                </a:cubicBezTo>
                <a:cubicBezTo>
                  <a:pt x="4708525" y="367665"/>
                  <a:pt x="4754245" y="363855"/>
                  <a:pt x="4803140" y="349885"/>
                </a:cubicBezTo>
                <a:cubicBezTo>
                  <a:pt x="4852035" y="335915"/>
                  <a:pt x="4869180" y="328930"/>
                  <a:pt x="4907915" y="314960"/>
                </a:cubicBezTo>
                <a:cubicBezTo>
                  <a:pt x="4946650" y="300990"/>
                  <a:pt x="4960620" y="290830"/>
                  <a:pt x="4995545" y="280035"/>
                </a:cubicBezTo>
                <a:cubicBezTo>
                  <a:pt x="5030470" y="269240"/>
                  <a:pt x="5051425" y="269240"/>
                  <a:pt x="5082540" y="262255"/>
                </a:cubicBezTo>
                <a:cubicBezTo>
                  <a:pt x="5113655" y="255270"/>
                  <a:pt x="5117465" y="255905"/>
                  <a:pt x="5152390" y="245110"/>
                </a:cubicBezTo>
                <a:cubicBezTo>
                  <a:pt x="5187315" y="234315"/>
                  <a:pt x="5222875" y="220345"/>
                  <a:pt x="5257800" y="209550"/>
                </a:cubicBezTo>
                <a:cubicBezTo>
                  <a:pt x="5292725" y="198755"/>
                  <a:pt x="5299710" y="202565"/>
                  <a:pt x="5327650" y="192405"/>
                </a:cubicBezTo>
                <a:cubicBezTo>
                  <a:pt x="5355590" y="182245"/>
                  <a:pt x="5369560" y="168275"/>
                  <a:pt x="5397500" y="157480"/>
                </a:cubicBezTo>
                <a:cubicBezTo>
                  <a:pt x="5425440" y="146685"/>
                  <a:pt x="5439410" y="153670"/>
                  <a:pt x="5467350" y="139700"/>
                </a:cubicBezTo>
                <a:cubicBezTo>
                  <a:pt x="5495290" y="125730"/>
                  <a:pt x="5506085" y="104775"/>
                  <a:pt x="5537200" y="87630"/>
                </a:cubicBezTo>
                <a:cubicBezTo>
                  <a:pt x="5568315" y="70485"/>
                  <a:pt x="5593080" y="63500"/>
                  <a:pt x="5624195" y="52705"/>
                </a:cubicBezTo>
                <a:cubicBezTo>
                  <a:pt x="5655310" y="41910"/>
                  <a:pt x="5662295" y="45720"/>
                  <a:pt x="5694045" y="34925"/>
                </a:cubicBezTo>
                <a:cubicBezTo>
                  <a:pt x="5725795" y="24130"/>
                  <a:pt x="5765800" y="6350"/>
                  <a:pt x="57816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3" name="直接箭头连接符 12"/>
          <p:cNvCxnSpPr/>
          <p:nvPr/>
        </p:nvCxnSpPr>
        <p:spPr>
          <a:xfrm flipH="1">
            <a:off x="6388100" y="3402330"/>
            <a:ext cx="732155" cy="501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2266315" y="4637405"/>
            <a:ext cx="7336155" cy="17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V="1">
            <a:off x="2597785" y="1144270"/>
            <a:ext cx="0" cy="37376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894965" y="864870"/>
            <a:ext cx="1746885" cy="1322070"/>
          </a:xfrm>
          <a:prstGeom prst="rect">
            <a:avLst/>
          </a:prstGeom>
          <a:noFill/>
        </p:spPr>
        <p:txBody>
          <a:bodyPr wrap="square" rtlCol="0">
            <a:spAutoFit/>
          </a:bodyPr>
          <a:p>
            <a:r>
              <a:rPr lang="zh-CN" altLang="en-US" sz="2000"/>
              <a:t>为了使得</a:t>
            </a:r>
            <a:r>
              <a:rPr lang="en-US" altLang="zh-CN" sz="2000"/>
              <a:t>F( )</a:t>
            </a:r>
            <a:r>
              <a:rPr lang="zh-CN" altLang="en-US" sz="2000"/>
              <a:t>最小化，每次都沿着负梯度方向往下走</a:t>
            </a:r>
            <a:endParaRPr lang="zh-CN" altLang="en-US" sz="2000"/>
          </a:p>
        </p:txBody>
      </p:sp>
      <p:sp>
        <p:nvSpPr>
          <p:cNvPr id="17" name="文本框 16"/>
          <p:cNvSpPr txBox="1"/>
          <p:nvPr/>
        </p:nvSpPr>
        <p:spPr>
          <a:xfrm>
            <a:off x="1846580" y="549910"/>
            <a:ext cx="664210" cy="368300"/>
          </a:xfrm>
          <a:prstGeom prst="rect">
            <a:avLst/>
          </a:prstGeom>
          <a:noFill/>
        </p:spPr>
        <p:txBody>
          <a:bodyPr wrap="square" rtlCol="0">
            <a:spAutoFit/>
          </a:bodyPr>
          <a:p>
            <a:r>
              <a:rPr lang="en-US" altLang="zh-CN"/>
              <a:t>F</a:t>
            </a:r>
            <a:r>
              <a:rPr lang="zh-CN" altLang="en-US"/>
              <a:t>（）</a:t>
            </a:r>
            <a:endParaRPr lang="zh-CN" altLang="en-US"/>
          </a:p>
        </p:txBody>
      </p:sp>
      <p:sp>
        <p:nvSpPr>
          <p:cNvPr id="18" name="文本框 17"/>
          <p:cNvSpPr txBox="1"/>
          <p:nvPr/>
        </p:nvSpPr>
        <p:spPr>
          <a:xfrm>
            <a:off x="9602470" y="4881880"/>
            <a:ext cx="664210" cy="368300"/>
          </a:xfrm>
          <a:prstGeom prst="rect">
            <a:avLst/>
          </a:prstGeom>
          <a:noFill/>
        </p:spPr>
        <p:txBody>
          <a:bodyPr wrap="square" rtlCol="0">
            <a:spAutoFit/>
          </a:bodyPr>
          <a:p>
            <a:r>
              <a:rPr lang="en-US"/>
              <a:t>w</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6.2.2 BP神经网络的结构</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065337" y="1399540"/>
            <a:ext cx="8915400" cy="3777622"/>
          </a:xfrm>
        </p:spPr>
        <p:txBody>
          <a:bodyPr/>
          <a:p>
            <a:r>
              <a:rPr lang="zh-CN" altLang="en-US" sz="2400">
                <a:latin typeface="楷体" panose="02010609060101010101" charset="-122"/>
                <a:ea typeface="楷体" panose="02010609060101010101" charset="-122"/>
                <a:cs typeface="楷体" panose="02010609060101010101" charset="-122"/>
              </a:rPr>
              <a:t>BP神经网络是具有三层或三层以上的阶层型神经网络,由输入层、隐含层和输出层构成,相邻层之间的神经元全互连,同一层内的神经元无连接，下面以图6-3所示的具有一个隐含层的三层BP网络来介绍BP算法的实现。</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4" name="对象 -2147482582"/>
          <p:cNvGraphicFramePr>
            <a:graphicFrameLocks noChangeAspect="1"/>
          </p:cNvGraphicFramePr>
          <p:nvPr/>
        </p:nvGraphicFramePr>
        <p:xfrm>
          <a:off x="2592705" y="3193415"/>
          <a:ext cx="7701915" cy="3226435"/>
        </p:xfrm>
        <a:graphic>
          <a:graphicData uri="http://schemas.openxmlformats.org/presentationml/2006/ole">
            <mc:AlternateContent xmlns:mc="http://schemas.openxmlformats.org/markup-compatibility/2006">
              <mc:Choice xmlns:v="urn:schemas-microsoft-com:vml" Requires="v">
                <p:oleObj spid="_x0000_s3076" name="" r:id="rId1" imgW="5260975" imgH="2202180" progId="Word.Document.8">
                  <p:embed/>
                </p:oleObj>
              </mc:Choice>
              <mc:Fallback>
                <p:oleObj name="" r:id="rId1" imgW="5260975" imgH="2202180" progId="Word.Document.8">
                  <p:embed/>
                  <p:pic>
                    <p:nvPicPr>
                      <p:cNvPr id="0" name="图片 3075"/>
                      <p:cNvPicPr/>
                      <p:nvPr/>
                    </p:nvPicPr>
                    <p:blipFill>
                      <a:blip r:embed="rId2"/>
                      <a:stretch>
                        <a:fillRect/>
                      </a:stretch>
                    </p:blipFill>
                    <p:spPr>
                      <a:xfrm>
                        <a:off x="2592705" y="3193415"/>
                        <a:ext cx="7701915" cy="3226435"/>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42440" y="730885"/>
            <a:ext cx="9023985" cy="4578350"/>
          </a:xfrm>
        </p:spPr>
        <p:txBody>
          <a:bodyPr/>
          <a:p>
            <a:r>
              <a:rPr lang="zh-CN" altLang="en-US" sz="2400">
                <a:latin typeface="楷体" panose="02010609060101010101" charset="-122"/>
                <a:ea typeface="楷体" panose="02010609060101010101" charset="-122"/>
                <a:cs typeface="楷体" panose="02010609060101010101" charset="-122"/>
              </a:rPr>
              <a:t>假设输入层、隐含层和输出层的单元数分别是</a:t>
            </a:r>
            <a:r>
              <a:rPr lang="en-US" altLang="zh-CN" sz="2400">
                <a:latin typeface="楷体" panose="02010609060101010101" charset="-122"/>
                <a:ea typeface="楷体" panose="02010609060101010101" charset="-122"/>
                <a:cs typeface="楷体" panose="02010609060101010101" charset="-122"/>
              </a:rPr>
              <a:t>I</a:t>
            </a:r>
            <a:r>
              <a:rPr lang="zh-CN" altLang="en-US" sz="2400">
                <a:latin typeface="楷体" panose="02010609060101010101" charset="-122"/>
                <a:ea typeface="楷体" panose="02010609060101010101" charset="-122"/>
                <a:cs typeface="楷体" panose="02010609060101010101" charset="-122"/>
              </a:rPr>
              <a:t>、</a:t>
            </a:r>
            <a:r>
              <a:rPr lang="en-US" altLang="zh-CN" sz="2400">
                <a:latin typeface="楷体" panose="02010609060101010101" charset="-122"/>
                <a:ea typeface="楷体" panose="02010609060101010101" charset="-122"/>
                <a:cs typeface="楷体" panose="02010609060101010101" charset="-122"/>
              </a:rPr>
              <a:t>J</a:t>
            </a:r>
            <a:r>
              <a:rPr lang="zh-CN" altLang="en-US" sz="2400">
                <a:latin typeface="楷体" panose="02010609060101010101" charset="-122"/>
                <a:ea typeface="楷体" panose="02010609060101010101" charset="-122"/>
                <a:cs typeface="楷体" panose="02010609060101010101" charset="-122"/>
              </a:rPr>
              <a:t>、</a:t>
            </a:r>
            <a:r>
              <a:rPr lang="en-US" altLang="zh-CN" sz="2400">
                <a:latin typeface="楷体" panose="02010609060101010101" charset="-122"/>
                <a:ea typeface="楷体" panose="02010609060101010101" charset="-122"/>
                <a:cs typeface="楷体" panose="02010609060101010101" charset="-122"/>
              </a:rPr>
              <a:t>K</a:t>
            </a:r>
            <a:r>
              <a:rPr lang="zh-CN" altLang="en-US" sz="2400">
                <a:latin typeface="楷体" panose="02010609060101010101" charset="-122"/>
                <a:ea typeface="楷体" panose="02010609060101010101" charset="-122"/>
                <a:cs typeface="楷体" panose="02010609060101010101" charset="-122"/>
              </a:rPr>
              <a:t>，输入为            ，隐含层输出为                 网络实际输出为             ，             表示训练样本期望输出。输入层单元</a:t>
            </a:r>
            <a:r>
              <a:rPr lang="en-US" altLang="zh-CN" sz="2400">
                <a:latin typeface="楷体" panose="02010609060101010101" charset="-122"/>
                <a:ea typeface="楷体" panose="02010609060101010101" charset="-122"/>
                <a:cs typeface="楷体" panose="02010609060101010101" charset="-122"/>
              </a:rPr>
              <a:t>i</a:t>
            </a:r>
            <a:r>
              <a:rPr lang="zh-CN" altLang="en-US" sz="2400">
                <a:latin typeface="楷体" panose="02010609060101010101" charset="-122"/>
                <a:ea typeface="楷体" panose="02010609060101010101" charset="-122"/>
                <a:cs typeface="楷体" panose="02010609060101010101" charset="-122"/>
              </a:rPr>
              <a:t>到隐含层单元j的权值为    ，隐含层单元j到输出层单元k的权值为    ，用    和    来分别表示隐含层单元和输出层单元的阈值。于是,该网络隐含层单元的输出值为</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pPr marL="0" indent="0">
              <a:buNone/>
            </a:pPr>
            <a:r>
              <a:rPr lang="en-US" altLang="zh-CN" sz="2400">
                <a:latin typeface="楷体" panose="02010609060101010101" charset="-122"/>
                <a:ea typeface="楷体" panose="02010609060101010101" charset="-122"/>
                <a:cs typeface="楷体" panose="02010609060101010101" charset="-122"/>
              </a:rPr>
              <a:t>	</a:t>
            </a:r>
            <a:endParaRPr lang="en-US" altLang="zh-CN" sz="2400">
              <a:latin typeface="楷体" panose="02010609060101010101" charset="-122"/>
              <a:ea typeface="楷体" panose="02010609060101010101" charset="-122"/>
              <a:cs typeface="楷体" panose="02010609060101010101" charset="-122"/>
            </a:endParaRPr>
          </a:p>
          <a:p>
            <a:pPr marL="0" indent="0">
              <a:buNone/>
            </a:pPr>
            <a:r>
              <a:rPr lang="en-US" altLang="zh-CN" sz="2400">
                <a:latin typeface="楷体" panose="02010609060101010101" charset="-122"/>
                <a:ea typeface="楷体" panose="02010609060101010101" charset="-122"/>
                <a:cs typeface="楷体" panose="02010609060101010101" charset="-122"/>
              </a:rPr>
              <a:t>	</a:t>
            </a:r>
            <a:r>
              <a:rPr lang="zh-CN" altLang="en-US" sz="2400">
                <a:latin typeface="楷体" panose="02010609060101010101" charset="-122"/>
                <a:ea typeface="楷体" panose="02010609060101010101" charset="-122"/>
                <a:cs typeface="楷体" panose="02010609060101010101" charset="-122"/>
              </a:rPr>
              <a:t>输出层各单元的输出值为:</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578"/>
          <p:cNvGraphicFramePr>
            <a:graphicFrameLocks noChangeAspect="1"/>
          </p:cNvGraphicFramePr>
          <p:nvPr/>
        </p:nvGraphicFramePr>
        <p:xfrm>
          <a:off x="2594610" y="1155065"/>
          <a:ext cx="1645285" cy="384810"/>
        </p:xfrm>
        <a:graphic>
          <a:graphicData uri="http://schemas.openxmlformats.org/presentationml/2006/ole">
            <mc:AlternateContent xmlns:mc="http://schemas.openxmlformats.org/markup-compatibility/2006">
              <mc:Choice xmlns:v="urn:schemas-microsoft-com:vml" Requires="v">
                <p:oleObj spid="_x0000_s3076" name="" r:id="rId1" imgW="1116965" imgH="254000" progId="Equation.DSMT4">
                  <p:embed/>
                </p:oleObj>
              </mc:Choice>
              <mc:Fallback>
                <p:oleObj name="" r:id="rId1" imgW="1116965" imgH="254000" progId="Equation.DSMT4">
                  <p:embed/>
                  <p:pic>
                    <p:nvPicPr>
                      <p:cNvPr id="0" name="图片 3075"/>
                      <p:cNvPicPr/>
                      <p:nvPr/>
                    </p:nvPicPr>
                    <p:blipFill>
                      <a:blip r:embed="rId2"/>
                      <a:stretch>
                        <a:fillRect/>
                      </a:stretch>
                    </p:blipFill>
                    <p:spPr>
                      <a:xfrm>
                        <a:off x="2594610" y="1155065"/>
                        <a:ext cx="1645285" cy="384810"/>
                      </a:xfrm>
                      <a:prstGeom prst="rect">
                        <a:avLst/>
                      </a:prstGeom>
                      <a:noFill/>
                      <a:ln w="38100">
                        <a:noFill/>
                        <a:miter/>
                      </a:ln>
                    </p:spPr>
                  </p:pic>
                </p:oleObj>
              </mc:Fallback>
            </mc:AlternateContent>
          </a:graphicData>
        </a:graphic>
      </p:graphicFrame>
      <p:graphicFrame>
        <p:nvGraphicFramePr>
          <p:cNvPr id="4" name="对象 -2147482577"/>
          <p:cNvGraphicFramePr>
            <a:graphicFrameLocks noChangeAspect="1"/>
          </p:cNvGraphicFramePr>
          <p:nvPr/>
        </p:nvGraphicFramePr>
        <p:xfrm>
          <a:off x="6671945" y="1071880"/>
          <a:ext cx="2363470" cy="421640"/>
        </p:xfrm>
        <a:graphic>
          <a:graphicData uri="http://schemas.openxmlformats.org/presentationml/2006/ole">
            <mc:AlternateContent xmlns:mc="http://schemas.openxmlformats.org/markup-compatibility/2006">
              <mc:Choice xmlns:v="urn:schemas-microsoft-com:vml" Requires="v">
                <p:oleObj spid="_x0000_s5" name="" r:id="rId3" imgW="1104900" imgH="254000" progId="Equation.DSMT4">
                  <p:embed/>
                </p:oleObj>
              </mc:Choice>
              <mc:Fallback>
                <p:oleObj name="" r:id="rId3" imgW="1104900" imgH="254000" progId="Equation.DSMT4">
                  <p:embed/>
                  <p:pic>
                    <p:nvPicPr>
                      <p:cNvPr id="0" name="图片 3"/>
                      <p:cNvPicPr/>
                      <p:nvPr/>
                    </p:nvPicPr>
                    <p:blipFill>
                      <a:blip r:embed="rId4"/>
                      <a:stretch>
                        <a:fillRect/>
                      </a:stretch>
                    </p:blipFill>
                    <p:spPr>
                      <a:xfrm>
                        <a:off x="6671945" y="1071880"/>
                        <a:ext cx="2363470" cy="421640"/>
                      </a:xfrm>
                      <a:prstGeom prst="rect">
                        <a:avLst/>
                      </a:prstGeom>
                      <a:noFill/>
                      <a:ln w="38100">
                        <a:noFill/>
                        <a:miter/>
                      </a:ln>
                    </p:spPr>
                  </p:pic>
                </p:oleObj>
              </mc:Fallback>
            </mc:AlternateContent>
          </a:graphicData>
        </a:graphic>
      </p:graphicFrame>
      <p:graphicFrame>
        <p:nvGraphicFramePr>
          <p:cNvPr id="6" name="对象 -2147482576"/>
          <p:cNvGraphicFramePr>
            <a:graphicFrameLocks noChangeAspect="1"/>
          </p:cNvGraphicFramePr>
          <p:nvPr/>
        </p:nvGraphicFramePr>
        <p:xfrm>
          <a:off x="2856230" y="1522730"/>
          <a:ext cx="1674495" cy="368935"/>
        </p:xfrm>
        <a:graphic>
          <a:graphicData uri="http://schemas.openxmlformats.org/presentationml/2006/ole">
            <mc:AlternateContent xmlns:mc="http://schemas.openxmlformats.org/markup-compatibility/2006">
              <mc:Choice xmlns:v="urn:schemas-microsoft-com:vml" Requires="v">
                <p:oleObj spid="_x0000_s7" name="" r:id="rId5" imgW="1180465" imgH="254000" progId="Equation.DSMT4">
                  <p:embed/>
                </p:oleObj>
              </mc:Choice>
              <mc:Fallback>
                <p:oleObj name="" r:id="rId5" imgW="1180465" imgH="254000" progId="Equation.DSMT4">
                  <p:embed/>
                  <p:pic>
                    <p:nvPicPr>
                      <p:cNvPr id="0" name="图片 4"/>
                      <p:cNvPicPr/>
                      <p:nvPr/>
                    </p:nvPicPr>
                    <p:blipFill>
                      <a:blip r:embed="rId6"/>
                      <a:stretch>
                        <a:fillRect/>
                      </a:stretch>
                    </p:blipFill>
                    <p:spPr>
                      <a:xfrm>
                        <a:off x="2856230" y="1522730"/>
                        <a:ext cx="1674495" cy="368935"/>
                      </a:xfrm>
                      <a:prstGeom prst="rect">
                        <a:avLst/>
                      </a:prstGeom>
                      <a:noFill/>
                      <a:ln w="38100">
                        <a:noFill/>
                        <a:miter/>
                      </a:ln>
                    </p:spPr>
                  </p:pic>
                </p:oleObj>
              </mc:Fallback>
            </mc:AlternateContent>
          </a:graphicData>
        </a:graphic>
      </p:graphicFrame>
      <p:graphicFrame>
        <p:nvGraphicFramePr>
          <p:cNvPr id="8" name="对象 -2147482575"/>
          <p:cNvGraphicFramePr>
            <a:graphicFrameLocks noChangeAspect="1"/>
          </p:cNvGraphicFramePr>
          <p:nvPr/>
        </p:nvGraphicFramePr>
        <p:xfrm>
          <a:off x="5180330" y="1524635"/>
          <a:ext cx="1733550" cy="354330"/>
        </p:xfrm>
        <a:graphic>
          <a:graphicData uri="http://schemas.openxmlformats.org/presentationml/2006/ole">
            <mc:AlternateContent xmlns:mc="http://schemas.openxmlformats.org/markup-compatibility/2006">
              <mc:Choice xmlns:v="urn:schemas-microsoft-com:vml" Requires="v">
                <p:oleObj spid="_x0000_s9" name="" r:id="rId7" imgW="1180465" imgH="254000" progId="Equation.DSMT4">
                  <p:embed/>
                </p:oleObj>
              </mc:Choice>
              <mc:Fallback>
                <p:oleObj name="" r:id="rId7" imgW="1180465" imgH="254000" progId="Equation.DSMT4">
                  <p:embed/>
                  <p:pic>
                    <p:nvPicPr>
                      <p:cNvPr id="0" name="图片 5"/>
                      <p:cNvPicPr/>
                      <p:nvPr/>
                    </p:nvPicPr>
                    <p:blipFill>
                      <a:blip r:embed="rId8"/>
                      <a:stretch>
                        <a:fillRect/>
                      </a:stretch>
                    </p:blipFill>
                    <p:spPr>
                      <a:xfrm>
                        <a:off x="5180330" y="1524635"/>
                        <a:ext cx="1733550" cy="354330"/>
                      </a:xfrm>
                      <a:prstGeom prst="rect">
                        <a:avLst/>
                      </a:prstGeom>
                      <a:noFill/>
                      <a:ln w="38100">
                        <a:noFill/>
                        <a:miter/>
                      </a:ln>
                    </p:spPr>
                  </p:pic>
                </p:oleObj>
              </mc:Fallback>
            </mc:AlternateContent>
          </a:graphicData>
        </a:graphic>
      </p:graphicFrame>
      <p:graphicFrame>
        <p:nvGraphicFramePr>
          <p:cNvPr id="10" name="对象 -2147482573"/>
          <p:cNvGraphicFramePr>
            <a:graphicFrameLocks noChangeAspect="1"/>
          </p:cNvGraphicFramePr>
          <p:nvPr/>
        </p:nvGraphicFramePr>
        <p:xfrm>
          <a:off x="7201535" y="1818005"/>
          <a:ext cx="294005" cy="434975"/>
        </p:xfrm>
        <a:graphic>
          <a:graphicData uri="http://schemas.openxmlformats.org/presentationml/2006/ole">
            <mc:AlternateContent xmlns:mc="http://schemas.openxmlformats.org/markup-compatibility/2006">
              <mc:Choice xmlns:v="urn:schemas-microsoft-com:vml" Requires="v">
                <p:oleObj spid="_x0000_s11" name="" r:id="rId9" imgW="165100" imgH="241300" progId="Equation.DSMT4">
                  <p:embed/>
                </p:oleObj>
              </mc:Choice>
              <mc:Fallback>
                <p:oleObj name="" r:id="rId9" imgW="165100" imgH="241300" progId="Equation.DSMT4">
                  <p:embed/>
                  <p:pic>
                    <p:nvPicPr>
                      <p:cNvPr id="0" name="图片 6"/>
                      <p:cNvPicPr/>
                      <p:nvPr/>
                    </p:nvPicPr>
                    <p:blipFill>
                      <a:blip r:embed="rId10"/>
                      <a:stretch>
                        <a:fillRect/>
                      </a:stretch>
                    </p:blipFill>
                    <p:spPr>
                      <a:xfrm>
                        <a:off x="7201535" y="1818005"/>
                        <a:ext cx="294005" cy="434975"/>
                      </a:xfrm>
                      <a:prstGeom prst="rect">
                        <a:avLst/>
                      </a:prstGeom>
                      <a:noFill/>
                      <a:ln w="38100">
                        <a:noFill/>
                        <a:miter/>
                      </a:ln>
                    </p:spPr>
                  </p:pic>
                </p:oleObj>
              </mc:Fallback>
            </mc:AlternateContent>
          </a:graphicData>
        </a:graphic>
      </p:graphicFrame>
      <p:graphicFrame>
        <p:nvGraphicFramePr>
          <p:cNvPr id="12" name="对象 -2147482572"/>
          <p:cNvGraphicFramePr>
            <a:graphicFrameLocks noChangeAspect="1"/>
          </p:cNvGraphicFramePr>
          <p:nvPr/>
        </p:nvGraphicFramePr>
        <p:xfrm>
          <a:off x="4462145" y="2200910"/>
          <a:ext cx="407670" cy="407670"/>
        </p:xfrm>
        <a:graphic>
          <a:graphicData uri="http://schemas.openxmlformats.org/presentationml/2006/ole">
            <mc:AlternateContent xmlns:mc="http://schemas.openxmlformats.org/markup-compatibility/2006">
              <mc:Choice xmlns:v="urn:schemas-microsoft-com:vml" Requires="v">
                <p:oleObj spid="_x0000_s13" name="" r:id="rId11" imgW="241300" imgH="241300" progId="Equation.DSMT4">
                  <p:embed/>
                </p:oleObj>
              </mc:Choice>
              <mc:Fallback>
                <p:oleObj name="" r:id="rId11" imgW="241300" imgH="241300" progId="Equation.DSMT4">
                  <p:embed/>
                  <p:pic>
                    <p:nvPicPr>
                      <p:cNvPr id="0" name="图片 9"/>
                      <p:cNvPicPr/>
                      <p:nvPr/>
                    </p:nvPicPr>
                    <p:blipFill>
                      <a:blip r:embed="rId12"/>
                      <a:stretch>
                        <a:fillRect/>
                      </a:stretch>
                    </p:blipFill>
                    <p:spPr>
                      <a:xfrm>
                        <a:off x="4462145" y="2200910"/>
                        <a:ext cx="407670" cy="407670"/>
                      </a:xfrm>
                      <a:prstGeom prst="rect">
                        <a:avLst/>
                      </a:prstGeom>
                      <a:noFill/>
                      <a:ln w="38100">
                        <a:noFill/>
                        <a:miter/>
                      </a:ln>
                    </p:spPr>
                  </p:pic>
                </p:oleObj>
              </mc:Fallback>
            </mc:AlternateContent>
          </a:graphicData>
        </a:graphic>
      </p:graphicFrame>
      <p:graphicFrame>
        <p:nvGraphicFramePr>
          <p:cNvPr id="14" name="对象 -2147482571"/>
          <p:cNvGraphicFramePr>
            <a:graphicFrameLocks noChangeAspect="1"/>
          </p:cNvGraphicFramePr>
          <p:nvPr/>
        </p:nvGraphicFramePr>
        <p:xfrm>
          <a:off x="5762625" y="2211070"/>
          <a:ext cx="276225" cy="409575"/>
        </p:xfrm>
        <a:graphic>
          <a:graphicData uri="http://schemas.openxmlformats.org/presentationml/2006/ole">
            <mc:AlternateContent xmlns:mc="http://schemas.openxmlformats.org/markup-compatibility/2006">
              <mc:Choice xmlns:v="urn:schemas-microsoft-com:vml" Requires="v">
                <p:oleObj spid="_x0000_s15" name="" r:id="rId13" imgW="165100" imgH="241300" progId="Equation.DSMT4">
                  <p:embed/>
                </p:oleObj>
              </mc:Choice>
              <mc:Fallback>
                <p:oleObj name="" r:id="rId13" imgW="165100" imgH="241300" progId="Equation.DSMT4">
                  <p:embed/>
                  <p:pic>
                    <p:nvPicPr>
                      <p:cNvPr id="0" name="图片 10"/>
                      <p:cNvPicPr/>
                      <p:nvPr/>
                    </p:nvPicPr>
                    <p:blipFill>
                      <a:blip r:embed="rId14"/>
                      <a:stretch>
                        <a:fillRect/>
                      </a:stretch>
                    </p:blipFill>
                    <p:spPr>
                      <a:xfrm>
                        <a:off x="5762625" y="2211070"/>
                        <a:ext cx="276225" cy="409575"/>
                      </a:xfrm>
                      <a:prstGeom prst="rect">
                        <a:avLst/>
                      </a:prstGeom>
                      <a:noFill/>
                      <a:ln w="38100">
                        <a:noFill/>
                        <a:miter/>
                      </a:ln>
                    </p:spPr>
                  </p:pic>
                </p:oleObj>
              </mc:Fallback>
            </mc:AlternateContent>
          </a:graphicData>
        </a:graphic>
      </p:graphicFrame>
      <p:graphicFrame>
        <p:nvGraphicFramePr>
          <p:cNvPr id="16" name="对象 -2147482570"/>
          <p:cNvGraphicFramePr>
            <a:graphicFrameLocks noChangeAspect="1"/>
          </p:cNvGraphicFramePr>
          <p:nvPr/>
        </p:nvGraphicFramePr>
        <p:xfrm>
          <a:off x="6671945" y="2233930"/>
          <a:ext cx="245745" cy="352425"/>
        </p:xfrm>
        <a:graphic>
          <a:graphicData uri="http://schemas.openxmlformats.org/presentationml/2006/ole">
            <mc:AlternateContent xmlns:mc="http://schemas.openxmlformats.org/markup-compatibility/2006">
              <mc:Choice xmlns:v="urn:schemas-microsoft-com:vml" Requires="v">
                <p:oleObj spid="_x0000_s17" name="" r:id="rId15" imgW="165100" imgH="228600" progId="Equation.DSMT4">
                  <p:embed/>
                </p:oleObj>
              </mc:Choice>
              <mc:Fallback>
                <p:oleObj name="" r:id="rId15" imgW="165100" imgH="228600" progId="Equation.DSMT4">
                  <p:embed/>
                  <p:pic>
                    <p:nvPicPr>
                      <p:cNvPr id="0" name="图片 11"/>
                      <p:cNvPicPr/>
                      <p:nvPr/>
                    </p:nvPicPr>
                    <p:blipFill>
                      <a:blip r:embed="rId16"/>
                      <a:stretch>
                        <a:fillRect/>
                      </a:stretch>
                    </p:blipFill>
                    <p:spPr>
                      <a:xfrm>
                        <a:off x="6671945" y="2233930"/>
                        <a:ext cx="245745" cy="352425"/>
                      </a:xfrm>
                      <a:prstGeom prst="rect">
                        <a:avLst/>
                      </a:prstGeom>
                      <a:noFill/>
                      <a:ln w="38100">
                        <a:noFill/>
                        <a:miter/>
                      </a:ln>
                    </p:spPr>
                  </p:pic>
                </p:oleObj>
              </mc:Fallback>
            </mc:AlternateContent>
          </a:graphicData>
        </a:graphic>
      </p:graphicFrame>
      <p:graphicFrame>
        <p:nvGraphicFramePr>
          <p:cNvPr id="18" name="对象 -2147482568"/>
          <p:cNvGraphicFramePr>
            <a:graphicFrameLocks noChangeAspect="1"/>
          </p:cNvGraphicFramePr>
          <p:nvPr/>
        </p:nvGraphicFramePr>
        <p:xfrm>
          <a:off x="4684395" y="3265170"/>
          <a:ext cx="2811145" cy="996950"/>
        </p:xfrm>
        <a:graphic>
          <a:graphicData uri="http://schemas.openxmlformats.org/presentationml/2006/ole">
            <mc:AlternateContent xmlns:mc="http://schemas.openxmlformats.org/markup-compatibility/2006">
              <mc:Choice xmlns:v="urn:schemas-microsoft-com:vml" Requires="v">
                <p:oleObj spid="_x0000_s19" name="" r:id="rId17" imgW="1295400" imgH="457200" progId="Equation.DSMT4">
                  <p:embed/>
                </p:oleObj>
              </mc:Choice>
              <mc:Fallback>
                <p:oleObj name="" r:id="rId17" imgW="1295400" imgH="457200" progId="Equation.DSMT4">
                  <p:embed/>
                  <p:pic>
                    <p:nvPicPr>
                      <p:cNvPr id="0" name="图片 12"/>
                      <p:cNvPicPr/>
                      <p:nvPr/>
                    </p:nvPicPr>
                    <p:blipFill>
                      <a:blip r:embed="rId18"/>
                      <a:stretch>
                        <a:fillRect/>
                      </a:stretch>
                    </p:blipFill>
                    <p:spPr>
                      <a:xfrm>
                        <a:off x="4684395" y="3265170"/>
                        <a:ext cx="2811145" cy="996950"/>
                      </a:xfrm>
                      <a:prstGeom prst="rect">
                        <a:avLst/>
                      </a:prstGeom>
                      <a:noFill/>
                      <a:ln w="38100">
                        <a:noFill/>
                        <a:miter/>
                      </a:ln>
                    </p:spPr>
                  </p:pic>
                </p:oleObj>
              </mc:Fallback>
            </mc:AlternateContent>
          </a:graphicData>
        </a:graphic>
      </p:graphicFrame>
      <p:graphicFrame>
        <p:nvGraphicFramePr>
          <p:cNvPr id="20" name="对象 -2147482566"/>
          <p:cNvGraphicFramePr>
            <a:graphicFrameLocks noChangeAspect="1"/>
          </p:cNvGraphicFramePr>
          <p:nvPr/>
        </p:nvGraphicFramePr>
        <p:xfrm>
          <a:off x="4462145" y="5182235"/>
          <a:ext cx="3256280" cy="1136650"/>
        </p:xfrm>
        <a:graphic>
          <a:graphicData uri="http://schemas.openxmlformats.org/presentationml/2006/ole">
            <mc:AlternateContent xmlns:mc="http://schemas.openxmlformats.org/markup-compatibility/2006">
              <mc:Choice xmlns:v="urn:schemas-microsoft-com:vml" Requires="v">
                <p:oleObj spid="_x0000_s21" name="" r:id="rId19" imgW="1397000" imgH="482600" progId="Equation.DSMT4">
                  <p:embed/>
                </p:oleObj>
              </mc:Choice>
              <mc:Fallback>
                <p:oleObj name="" r:id="rId19" imgW="1397000" imgH="482600" progId="Equation.DSMT4">
                  <p:embed/>
                  <p:pic>
                    <p:nvPicPr>
                      <p:cNvPr id="0" name="图片 13"/>
                      <p:cNvPicPr/>
                      <p:nvPr/>
                    </p:nvPicPr>
                    <p:blipFill>
                      <a:blip r:embed="rId20"/>
                      <a:stretch>
                        <a:fillRect/>
                      </a:stretch>
                    </p:blipFill>
                    <p:spPr>
                      <a:xfrm>
                        <a:off x="4462145" y="5182235"/>
                        <a:ext cx="3256280" cy="1136650"/>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6.2.3 BP神经网络的算法描述</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344737" y="1696720"/>
            <a:ext cx="8915400" cy="3777622"/>
          </a:xfrm>
        </p:spPr>
        <p:txBody>
          <a:bodyPr/>
          <a:p>
            <a:r>
              <a:rPr lang="zh-CN" altLang="en-US" sz="2800">
                <a:latin typeface="楷体" panose="02010609060101010101" charset="-122"/>
                <a:ea typeface="楷体" panose="02010609060101010101" charset="-122"/>
                <a:cs typeface="楷体" panose="02010609060101010101" charset="-122"/>
              </a:rPr>
              <a:t>BP算法的主要思想是从后向前(反向)逐层传播输出层的误差,以间接算出隐层误差。算法分为两个阶段:第一阶段(正向传播过程)输入信息从输入层经隐层逐层计算各单元的输出值,第二阶段(反向传播过程)输出误差逐层向前算出隐层各单元的误差,并用此误差修正前层权值。其中的网络权值调整采用Delta学习规则,即根据梯度法沿着误差曲面的梯度最速下降,从而实现网络误差的最小化。</a:t>
            </a:r>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lnSpc>
                <a:spcPct val="120000"/>
              </a:lnSpc>
              <a:buClr>
                <a:srgbClr val="790015"/>
              </a:buClr>
              <a:buNone/>
            </a:pPr>
            <a:r>
              <a:rPr lang="zh-CN" altLang="en-US" sz="2800" b="1">
                <a:latin typeface="楷体_GB2312" pitchFamily="49" charset="-122"/>
                <a:ea typeface="华文仿宋" panose="02010600040101010101" charset="-122"/>
                <a:sym typeface="+mn-ea"/>
              </a:rPr>
              <a:t>注意</a:t>
            </a:r>
            <a:endParaRPr lang="en-US" altLang="zh-CN" sz="2800" b="1">
              <a:latin typeface="楷体_GB2312" pitchFamily="49" charset="-122"/>
              <a:ea typeface="华文仿宋" panose="02010600040101010101" charset="-122"/>
              <a:sym typeface="+mn-ea"/>
            </a:endParaRPr>
          </a:p>
          <a:p>
            <a:pPr>
              <a:lnSpc>
                <a:spcPct val="120000"/>
              </a:lnSpc>
              <a:buClr>
                <a:srgbClr val="790015"/>
              </a:buClr>
            </a:pPr>
            <a:r>
              <a:rPr lang="en-US" altLang="zh-CN" sz="2800" b="1">
                <a:latin typeface="楷体_GB2312" pitchFamily="49" charset="-122"/>
                <a:ea typeface="华文仿宋" panose="02010600040101010101" charset="-122"/>
                <a:sym typeface="+mn-ea"/>
              </a:rPr>
              <a:t>BP</a:t>
            </a:r>
            <a:r>
              <a:rPr lang="zh-CN" altLang="en-US" sz="2800" b="1">
                <a:latin typeface="楷体_GB2312" pitchFamily="49" charset="-122"/>
                <a:ea typeface="华文仿宋" panose="02010600040101010101" charset="-122"/>
                <a:sym typeface="+mn-ea"/>
              </a:rPr>
              <a:t>网络的激活函数必须是处处可微的，因此它不能采用二值型的阀值函数</a:t>
            </a:r>
            <a:r>
              <a:rPr lang="en-US" altLang="zh-CN" sz="2800" b="1">
                <a:latin typeface="楷体_GB2312" pitchFamily="49" charset="-122"/>
                <a:ea typeface="华文仿宋" panose="02010600040101010101" charset="-122"/>
                <a:sym typeface="+mn-ea"/>
              </a:rPr>
              <a:t>{0</a:t>
            </a:r>
            <a:r>
              <a:rPr lang="zh-CN" altLang="en-US" sz="2800" b="1">
                <a:latin typeface="楷体_GB2312" pitchFamily="49" charset="-122"/>
                <a:ea typeface="华文仿宋" panose="02010600040101010101" charset="-122"/>
                <a:sym typeface="+mn-ea"/>
              </a:rPr>
              <a:t>，</a:t>
            </a:r>
            <a:r>
              <a:rPr lang="en-US" altLang="zh-CN" sz="2800" b="1">
                <a:latin typeface="楷体_GB2312" pitchFamily="49" charset="-122"/>
                <a:ea typeface="华文仿宋" panose="02010600040101010101" charset="-122"/>
                <a:sym typeface="+mn-ea"/>
              </a:rPr>
              <a:t>1}</a:t>
            </a:r>
            <a:r>
              <a:rPr lang="zh-CN" altLang="en-US" sz="2800" b="1">
                <a:latin typeface="楷体_GB2312" pitchFamily="49" charset="-122"/>
                <a:ea typeface="华文仿宋" panose="02010600040101010101" charset="-122"/>
                <a:sym typeface="+mn-ea"/>
              </a:rPr>
              <a:t>或符号函数</a:t>
            </a:r>
            <a:r>
              <a:rPr lang="en-US" altLang="zh-CN" sz="2800" b="1">
                <a:latin typeface="楷体_GB2312" pitchFamily="49" charset="-122"/>
                <a:ea typeface="华文仿宋" panose="02010600040101010101" charset="-122"/>
                <a:sym typeface="+mn-ea"/>
              </a:rPr>
              <a:t>{</a:t>
            </a:r>
            <a:r>
              <a:rPr lang="zh-CN" altLang="en-US" sz="2800" b="1">
                <a:latin typeface="楷体_GB2312" pitchFamily="49" charset="-122"/>
                <a:ea typeface="华文仿宋" panose="02010600040101010101" charset="-122"/>
                <a:sym typeface="+mn-ea"/>
              </a:rPr>
              <a:t>－</a:t>
            </a:r>
            <a:r>
              <a:rPr lang="en-US" altLang="zh-CN" sz="2800" b="1">
                <a:latin typeface="楷体_GB2312" pitchFamily="49" charset="-122"/>
                <a:ea typeface="华文仿宋" panose="02010600040101010101" charset="-122"/>
                <a:sym typeface="+mn-ea"/>
              </a:rPr>
              <a:t>1</a:t>
            </a:r>
            <a:r>
              <a:rPr lang="zh-CN" altLang="en-US" sz="2800" b="1">
                <a:latin typeface="楷体_GB2312" pitchFamily="49" charset="-122"/>
                <a:ea typeface="华文仿宋" panose="02010600040101010101" charset="-122"/>
                <a:sym typeface="+mn-ea"/>
              </a:rPr>
              <a:t>，</a:t>
            </a:r>
            <a:r>
              <a:rPr lang="en-US" altLang="zh-CN" sz="2800" b="1">
                <a:latin typeface="楷体_GB2312" pitchFamily="49" charset="-122"/>
                <a:ea typeface="华文仿宋" panose="02010600040101010101" charset="-122"/>
                <a:sym typeface="+mn-ea"/>
              </a:rPr>
              <a:t>1}</a:t>
            </a:r>
            <a:endParaRPr lang="en-US" altLang="zh-CN" sz="2800" b="1">
              <a:latin typeface="楷体_GB2312" pitchFamily="49" charset="-122"/>
              <a:ea typeface="华文仿宋" panose="02010600040101010101" charset="-122"/>
            </a:endParaRPr>
          </a:p>
          <a:p>
            <a:pPr>
              <a:lnSpc>
                <a:spcPct val="120000"/>
              </a:lnSpc>
              <a:buClr>
                <a:srgbClr val="790015"/>
              </a:buClr>
            </a:pPr>
            <a:r>
              <a:rPr lang="en-US" altLang="zh-CN" sz="2800" b="1">
                <a:latin typeface="楷体_GB2312" pitchFamily="49" charset="-122"/>
                <a:ea typeface="华文仿宋" panose="02010600040101010101" charset="-122"/>
                <a:sym typeface="+mn-ea"/>
              </a:rPr>
              <a:t>BP</a:t>
            </a:r>
            <a:r>
              <a:rPr lang="zh-CN" altLang="en-US" sz="2800" b="1">
                <a:latin typeface="楷体_GB2312" pitchFamily="49" charset="-122"/>
                <a:ea typeface="华文仿宋" panose="02010600040101010101" charset="-122"/>
                <a:sym typeface="+mn-ea"/>
              </a:rPr>
              <a:t>网络经常使用的是</a:t>
            </a:r>
            <a:r>
              <a:rPr lang="en-US" altLang="zh-CN" sz="2800" b="1">
                <a:latin typeface="楷体_GB2312" pitchFamily="49" charset="-122"/>
                <a:ea typeface="华文仿宋" panose="02010600040101010101" charset="-122"/>
                <a:sym typeface="+mn-ea"/>
              </a:rPr>
              <a:t>S</a:t>
            </a:r>
            <a:r>
              <a:rPr lang="zh-CN" altLang="en-US" sz="2800" b="1">
                <a:latin typeface="楷体_GB2312" pitchFamily="49" charset="-122"/>
                <a:ea typeface="华文仿宋" panose="02010600040101010101" charset="-122"/>
                <a:sym typeface="+mn-ea"/>
              </a:rPr>
              <a:t>型的对数或正切激活函数和线性函数</a:t>
            </a:r>
            <a:endParaRPr lang="zh-CN" altLang="en-US" sz="2800" b="1">
              <a:latin typeface="楷体_GB2312" pitchFamily="49" charset="-122"/>
              <a:ea typeface="华文仿宋" panose="02010600040101010101" charset="-122"/>
            </a:endParaRPr>
          </a:p>
          <a:p>
            <a:endParaRPr lang="zh-CN" altLang="en-US" sz="2800" b="1">
              <a:latin typeface="楷体_GB2312" pitchFamily="49" charset="-122"/>
              <a:ea typeface="华文仿宋" panose="0201060004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内容占位符 7"/>
          <p:cNvPicPr>
            <a:picLocks noChangeAspect="1"/>
          </p:cNvPicPr>
          <p:nvPr>
            <p:ph idx="1"/>
          </p:nvPr>
        </p:nvPicPr>
        <p:blipFill>
          <a:blip r:embed="rId1"/>
          <a:stretch>
            <a:fillRect/>
          </a:stretch>
        </p:blipFill>
        <p:spPr>
          <a:xfrm>
            <a:off x="959485" y="576580"/>
            <a:ext cx="10695940" cy="6011545"/>
          </a:xfrm>
          <a:prstGeom prst="rect">
            <a:avLst/>
          </a:prstGeom>
        </p:spPr>
      </p:pic>
      <p:graphicFrame>
        <p:nvGraphicFramePr>
          <p:cNvPr id="4" name="对象 -2147482582"/>
          <p:cNvGraphicFramePr>
            <a:graphicFrameLocks noChangeAspect="1"/>
          </p:cNvGraphicFramePr>
          <p:nvPr/>
        </p:nvGraphicFramePr>
        <p:xfrm>
          <a:off x="6755130" y="1452245"/>
          <a:ext cx="5436870" cy="2278380"/>
        </p:xfrm>
        <a:graphic>
          <a:graphicData uri="http://schemas.openxmlformats.org/presentationml/2006/ole">
            <mc:AlternateContent xmlns:mc="http://schemas.openxmlformats.org/markup-compatibility/2006">
              <mc:Choice xmlns:v="urn:schemas-microsoft-com:vml" Requires="v">
                <p:oleObj spid="_x0000_s3076" name="" r:id="rId2" imgW="5260975" imgH="2202180" progId="Word.Document.8">
                  <p:embed/>
                </p:oleObj>
              </mc:Choice>
              <mc:Fallback>
                <p:oleObj name="" r:id="rId2" imgW="5260975" imgH="2202180" progId="Word.Document.8">
                  <p:embed/>
                  <p:pic>
                    <p:nvPicPr>
                      <p:cNvPr id="0" name="图片 3075"/>
                      <p:cNvPicPr/>
                      <p:nvPr/>
                    </p:nvPicPr>
                    <p:blipFill>
                      <a:blip r:embed="rId3"/>
                      <a:stretch>
                        <a:fillRect/>
                      </a:stretch>
                    </p:blipFill>
                    <p:spPr>
                      <a:xfrm>
                        <a:off x="6755130" y="1452245"/>
                        <a:ext cx="5436870" cy="22783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tretch>
            <a:fillRect/>
          </a:stretch>
        </p:blipFill>
        <p:spPr>
          <a:xfrm>
            <a:off x="1465580" y="349250"/>
            <a:ext cx="10453370" cy="6159500"/>
          </a:xfrm>
          <a:prstGeom prst="rect">
            <a:avLst/>
          </a:prstGeom>
        </p:spPr>
      </p:pic>
      <p:sp>
        <p:nvSpPr>
          <p:cNvPr id="2" name="文本框 1"/>
          <p:cNvSpPr txBox="1"/>
          <p:nvPr/>
        </p:nvSpPr>
        <p:spPr>
          <a:xfrm>
            <a:off x="6475730" y="4166235"/>
            <a:ext cx="4191635" cy="1014730"/>
          </a:xfrm>
          <a:prstGeom prst="rect">
            <a:avLst/>
          </a:prstGeom>
          <a:noFill/>
        </p:spPr>
        <p:txBody>
          <a:bodyPr wrap="square" rtlCol="0">
            <a:spAutoFit/>
          </a:bodyPr>
          <a:p>
            <a:r>
              <a:rPr lang="zh-CN" altLang="en-US" sz="2800" b="1">
                <a:solidFill>
                  <a:srgbClr val="C00000"/>
                </a:solidFill>
              </a:rPr>
              <a:t>我们希望使得 </a:t>
            </a:r>
            <a:r>
              <a:rPr lang="en-US" altLang="zh-CN" sz="3200" b="1">
                <a:solidFill>
                  <a:srgbClr val="C00000"/>
                </a:solidFill>
              </a:rPr>
              <a:t>E</a:t>
            </a:r>
            <a:r>
              <a:rPr lang="zh-CN" altLang="en-US" sz="2000" b="1">
                <a:solidFill>
                  <a:srgbClr val="C00000"/>
                </a:solidFill>
              </a:rPr>
              <a:t>总</a:t>
            </a:r>
            <a:r>
              <a:rPr lang="zh-CN" altLang="en-US" sz="2800" b="1">
                <a:solidFill>
                  <a:srgbClr val="C00000"/>
                </a:solidFill>
              </a:rPr>
              <a:t>  尽可能地小</a:t>
            </a:r>
            <a:endParaRPr lang="zh-CN" altLang="en-US" sz="2800" b="1">
              <a:solidFill>
                <a:srgbClr val="C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tretch>
            <a:fillRect/>
          </a:stretch>
        </p:blipFill>
        <p:spPr>
          <a:xfrm>
            <a:off x="1701800" y="382270"/>
            <a:ext cx="9637395" cy="60934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2103755" y="269240"/>
            <a:ext cx="8879205" cy="63201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941195" y="923925"/>
            <a:ext cx="9780905" cy="4418965"/>
          </a:xfrm>
          <a:prstGeom prst="rect">
            <a:avLst/>
          </a:prstGeom>
        </p:spPr>
      </p:pic>
      <p:sp>
        <p:nvSpPr>
          <p:cNvPr id="2" name="文本框 1"/>
          <p:cNvSpPr txBox="1"/>
          <p:nvPr/>
        </p:nvSpPr>
        <p:spPr>
          <a:xfrm>
            <a:off x="5375275" y="253365"/>
            <a:ext cx="4785995" cy="398780"/>
          </a:xfrm>
          <a:prstGeom prst="rect">
            <a:avLst/>
          </a:prstGeom>
          <a:noFill/>
        </p:spPr>
        <p:txBody>
          <a:bodyPr wrap="square" rtlCol="0">
            <a:spAutoFit/>
          </a:bodyPr>
          <a:p>
            <a:r>
              <a:rPr lang="en-US" altLang="zh-CN" sz="2000"/>
              <a:t>sigmoid</a:t>
            </a:r>
            <a:r>
              <a:rPr lang="zh-CN" altLang="en-US" sz="2000"/>
              <a:t>求导：</a:t>
            </a:r>
            <a:r>
              <a:rPr lang="en-US" altLang="zh-CN" sz="2000"/>
              <a:t>y(1-y)</a:t>
            </a:r>
            <a:endParaRPr lang="en-US" altLang="zh-CN"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6.2.4标准BP神经网络的工作过程</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1943100" y="2011045"/>
            <a:ext cx="9298940" cy="4144010"/>
          </a:xfrm>
        </p:spPr>
        <p:txBody>
          <a:bodyPr>
            <a:noAutofit/>
          </a:bodyPr>
          <a:p>
            <a:r>
              <a:rPr lang="zh-CN" altLang="en-US" sz="2400">
                <a:latin typeface="楷体" panose="02010609060101010101" charset="-122"/>
                <a:ea typeface="楷体" panose="02010609060101010101" charset="-122"/>
                <a:cs typeface="楷体" panose="02010609060101010101" charset="-122"/>
              </a:rPr>
              <a:t>BP神经网络的工作过程通常有两个阶段组成:在第一个阶段,神经网络各节点的连接权值固定不变,网络的计算从输入层开始,逐层逐个节点地计算每一个节点的输出,计算完毕后,进入第二个阶段,即学习阶段。在学习阶段,各节点的输出保持不变,网络学习从输出层开始,反向逐层逐个节点地计算各连接权值的修改量,以修改各连接的权值,直到输入层为止。这两个阶段称为正向传播和反向传播过程,在正向传播中,如果在输出层的网络输出与期望输出相差较大,则开始反向传播过程,根据网络输出与所期望输出的信号误差,对网络节点间的各连接权值进行修改,以此来减小网络实际输出与所期望输出的误差。BP网络正是通过这样不断进行的正向传播和反向传播计算过程,最终使得网络输出层的输出值与期望值趋于一致。</a:t>
            </a:r>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432560" y="639445"/>
            <a:ext cx="9928225" cy="55797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680845" y="1000760"/>
            <a:ext cx="9981565" cy="416623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6.3 BP算法实例分析</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484437" y="1783715"/>
            <a:ext cx="8915400" cy="3777622"/>
          </a:xfrm>
        </p:spPr>
        <p:txBody>
          <a:bodyPr/>
          <a:p>
            <a:r>
              <a:rPr lang="zh-CN" altLang="en-US" sz="2400">
                <a:latin typeface="楷体" panose="02010609060101010101" charset="-122"/>
                <a:ea typeface="楷体" panose="02010609060101010101" charset="-122"/>
                <a:cs typeface="楷体" panose="02010609060101010101" charset="-122"/>
              </a:rPr>
              <a:t>【例6.1】采用BP网络映射图6-5曲线规律。</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4" name="对象 -2147482493"/>
          <p:cNvGraphicFramePr>
            <a:graphicFrameLocks noChangeAspect="1"/>
          </p:cNvGraphicFramePr>
          <p:nvPr/>
        </p:nvGraphicFramePr>
        <p:xfrm>
          <a:off x="2592705" y="2115820"/>
          <a:ext cx="7663180" cy="4214495"/>
        </p:xfrm>
        <a:graphic>
          <a:graphicData uri="http://schemas.openxmlformats.org/presentationml/2006/ole">
            <mc:AlternateContent xmlns:mc="http://schemas.openxmlformats.org/markup-compatibility/2006">
              <mc:Choice xmlns:v="urn:schemas-microsoft-com:vml" Requires="v">
                <p:oleObj spid="_x0000_s3076" name="" r:id="rId1" imgW="5285105" imgH="3154680" progId="Word.Document.8">
                  <p:embed/>
                </p:oleObj>
              </mc:Choice>
              <mc:Fallback>
                <p:oleObj name="" r:id="rId1" imgW="5285105" imgH="3154680" progId="Word.Document.8">
                  <p:embed/>
                  <p:pic>
                    <p:nvPicPr>
                      <p:cNvPr id="0" name="图片 3075"/>
                      <p:cNvPicPr/>
                      <p:nvPr/>
                    </p:nvPicPr>
                    <p:blipFill>
                      <a:blip r:embed="rId2"/>
                      <a:stretch>
                        <a:fillRect/>
                      </a:stretch>
                    </p:blipFill>
                    <p:spPr>
                      <a:xfrm>
                        <a:off x="2592705" y="2115820"/>
                        <a:ext cx="7663180" cy="4214495"/>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65667" y="944245"/>
            <a:ext cx="8915400" cy="3777622"/>
          </a:xfrm>
        </p:spPr>
        <p:txBody>
          <a:bodyPr/>
          <a:p>
            <a:r>
              <a:rPr lang="zh-CN" altLang="en-US" sz="2000">
                <a:latin typeface="楷体" panose="02010609060101010101" charset="-122"/>
                <a:ea typeface="楷体" panose="02010609060101010101" charset="-122"/>
                <a:cs typeface="楷体" panose="02010609060101010101" charset="-122"/>
              </a:rPr>
              <a:t>设计BP网络结构如图所示：</a:t>
            </a:r>
            <a:endParaRPr lang="zh-CN" altLang="en-US" sz="2000">
              <a:latin typeface="楷体" panose="02010609060101010101" charset="-122"/>
              <a:ea typeface="楷体" panose="02010609060101010101" charset="-122"/>
              <a:cs typeface="楷体" panose="02010609060101010101" charset="-122"/>
            </a:endParaRPr>
          </a:p>
        </p:txBody>
      </p:sp>
      <p:graphicFrame>
        <p:nvGraphicFramePr>
          <p:cNvPr id="2" name="对象 -2147482492"/>
          <p:cNvGraphicFramePr>
            <a:graphicFrameLocks noChangeAspect="1"/>
          </p:cNvGraphicFramePr>
          <p:nvPr/>
        </p:nvGraphicFramePr>
        <p:xfrm>
          <a:off x="2860040" y="1341120"/>
          <a:ext cx="7065645" cy="3380740"/>
        </p:xfrm>
        <a:graphic>
          <a:graphicData uri="http://schemas.openxmlformats.org/presentationml/2006/ole">
            <mc:AlternateContent xmlns:mc="http://schemas.openxmlformats.org/markup-compatibility/2006">
              <mc:Choice xmlns:v="urn:schemas-microsoft-com:vml" Requires="v">
                <p:oleObj spid="_x0000_s3076" name="" r:id="rId1" imgW="4133215" imgH="1982470" progId="Word.Document.8">
                  <p:embed/>
                </p:oleObj>
              </mc:Choice>
              <mc:Fallback>
                <p:oleObj name="" r:id="rId1" imgW="4133215" imgH="1982470" progId="Word.Document.8">
                  <p:embed/>
                  <p:pic>
                    <p:nvPicPr>
                      <p:cNvPr id="0" name="图片 3075"/>
                      <p:cNvPicPr/>
                      <p:nvPr/>
                    </p:nvPicPr>
                    <p:blipFill>
                      <a:blip r:embed="rId2"/>
                      <a:stretch>
                        <a:fillRect/>
                      </a:stretch>
                    </p:blipFill>
                    <p:spPr>
                      <a:xfrm>
                        <a:off x="2860040" y="1341120"/>
                        <a:ext cx="7065645" cy="3380740"/>
                      </a:xfrm>
                      <a:prstGeom prst="rect">
                        <a:avLst/>
                      </a:prstGeom>
                      <a:noFill/>
                      <a:ln w="38100">
                        <a:noFill/>
                        <a:miter/>
                      </a:ln>
                    </p:spPr>
                  </p:pic>
                </p:oleObj>
              </mc:Fallback>
            </mc:AlternateContent>
          </a:graphicData>
        </a:graphic>
      </p:graphicFrame>
      <p:pic>
        <p:nvPicPr>
          <p:cNvPr id="6" name="图片 5"/>
          <p:cNvPicPr>
            <a:picLocks noChangeAspect="1"/>
          </p:cNvPicPr>
          <p:nvPr/>
        </p:nvPicPr>
        <p:blipFill>
          <a:blip r:embed="rId3"/>
          <a:stretch>
            <a:fillRect/>
          </a:stretch>
        </p:blipFill>
        <p:spPr>
          <a:xfrm>
            <a:off x="1569720" y="4721860"/>
            <a:ext cx="10622280" cy="160718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14220" y="782955"/>
            <a:ext cx="9478645" cy="5277485"/>
          </a:xfrm>
        </p:spPr>
        <p:txBody>
          <a:bodyPr/>
          <a:p>
            <a:r>
              <a:rPr lang="zh-CN" altLang="en-US" sz="2000">
                <a:latin typeface="楷体" panose="02010609060101010101" charset="-122"/>
                <a:ea typeface="楷体" panose="02010609060101010101" charset="-122"/>
                <a:cs typeface="楷体" panose="02010609060101010101" charset="-122"/>
              </a:rPr>
              <a:t>取学习率η=1，按图中曲线确定学习样本数据如下表(每0.05取一学习数据，共80对)</a:t>
            </a:r>
            <a:endParaRPr lang="zh-CN" altLang="en-US" sz="2000">
              <a:latin typeface="楷体" panose="02010609060101010101" charset="-122"/>
              <a:ea typeface="楷体" panose="02010609060101010101" charset="-122"/>
              <a:cs typeface="楷体" panose="02010609060101010101" charset="-122"/>
            </a:endParaRPr>
          </a:p>
        </p:txBody>
      </p:sp>
      <p:graphicFrame>
        <p:nvGraphicFramePr>
          <p:cNvPr id="4" name="表格 3"/>
          <p:cNvGraphicFramePr/>
          <p:nvPr>
            <p:custDataLst>
              <p:tags r:id="rId1"/>
            </p:custDataLst>
          </p:nvPr>
        </p:nvGraphicFramePr>
        <p:xfrm>
          <a:off x="2548890" y="1443355"/>
          <a:ext cx="8324850" cy="2296795"/>
        </p:xfrm>
        <a:graphic>
          <a:graphicData uri="http://schemas.openxmlformats.org/drawingml/2006/table">
            <a:tbl>
              <a:tblPr firstRow="1" bandRow="1">
                <a:tableStyleId>{5940675A-B579-460E-94D1-54222C63F5DA}</a:tableStyleId>
              </a:tblPr>
              <a:tblGrid>
                <a:gridCol w="1706880"/>
                <a:gridCol w="1490980"/>
                <a:gridCol w="815975"/>
                <a:gridCol w="1651000"/>
                <a:gridCol w="2660015"/>
              </a:tblGrid>
              <a:tr h="731520">
                <a:tc>
                  <a:txBody>
                    <a:bodyPr/>
                    <a:p>
                      <a:pPr indent="0">
                        <a:buNone/>
                      </a:pPr>
                      <a:r>
                        <a:rPr lang="en-US" sz="2400" b="1">
                          <a:latin typeface="楷体" panose="02010609060101010101" charset="-122"/>
                          <a:ea typeface="楷体" panose="02010609060101010101" charset="-122"/>
                          <a:cs typeface="楷体" panose="02010609060101010101" charset="-122"/>
                        </a:rPr>
                        <a:t>x</a:t>
                      </a:r>
                      <a:r>
                        <a:rPr lang="en-US" sz="2400" b="0">
                          <a:latin typeface="楷体" panose="02010609060101010101" charset="-122"/>
                          <a:ea typeface="楷体" panose="02010609060101010101" charset="-122"/>
                          <a:cs typeface="楷体" panose="02010609060101010101" charset="-122"/>
                        </a:rPr>
                        <a:t>（输入信号）</a:t>
                      </a:r>
                      <a:endParaRPr lang="en-US" altLang="en-US" sz="2400" b="1">
                        <a:latin typeface="楷体" panose="02010609060101010101" charset="-122"/>
                        <a:ea typeface="楷体" panose="02010609060101010101" charset="-122"/>
                        <a:cs typeface="楷体" panose="02010609060101010101" charset="-122"/>
                      </a:endParaRPr>
                    </a:p>
                  </a:txBody>
                  <a:tcPr marL="0" marR="0" marT="0" marB="0" vert="horz" anchor="t">
                    <a:lnL w="190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1">
                          <a:latin typeface="楷体" panose="02010609060101010101" charset="-122"/>
                          <a:ea typeface="楷体" panose="02010609060101010101" charset="-122"/>
                          <a:cs typeface="楷体" panose="02010609060101010101" charset="-122"/>
                        </a:rPr>
                        <a:t>y</a:t>
                      </a:r>
                      <a:r>
                        <a:rPr lang="en-US" sz="2400" b="0">
                          <a:latin typeface="楷体" panose="02010609060101010101" charset="-122"/>
                          <a:ea typeface="楷体" panose="02010609060101010101" charset="-122"/>
                          <a:cs typeface="楷体" panose="02010609060101010101" charset="-122"/>
                        </a:rPr>
                        <a:t>(教师信号）</a:t>
                      </a:r>
                      <a:endParaRPr lang="en-US" altLang="en-US" sz="2400" b="1">
                        <a:latin typeface="楷体" panose="02010609060101010101" charset="-122"/>
                        <a:ea typeface="楷体" panose="02010609060101010101" charset="-122"/>
                        <a:cs typeface="楷体" panose="02010609060101010101"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1">
                          <a:latin typeface="楷体" panose="02010609060101010101" charset="-122"/>
                          <a:ea typeface="楷体" panose="02010609060101010101" charset="-122"/>
                          <a:cs typeface="宋体" panose="02010600030101010101" pitchFamily="2" charset="-122"/>
                        </a:rPr>
                        <a:t>…</a:t>
                      </a:r>
                      <a:endParaRPr lang="en-US" altLang="en-US" sz="2400" b="1">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1">
                          <a:latin typeface="楷体" panose="02010609060101010101" charset="-122"/>
                          <a:ea typeface="楷体" panose="02010609060101010101" charset="-122"/>
                          <a:cs typeface="楷体" panose="02010609060101010101" charset="-122"/>
                        </a:rPr>
                        <a:t>x</a:t>
                      </a:r>
                      <a:r>
                        <a:rPr lang="en-US" sz="2400" b="0">
                          <a:latin typeface="楷体" panose="02010609060101010101" charset="-122"/>
                          <a:ea typeface="楷体" panose="02010609060101010101" charset="-122"/>
                          <a:cs typeface="楷体" panose="02010609060101010101" charset="-122"/>
                        </a:rPr>
                        <a:t>（输入信号）</a:t>
                      </a:r>
                      <a:endParaRPr lang="en-US" altLang="en-US" sz="2400" b="1">
                        <a:latin typeface="楷体" panose="02010609060101010101" charset="-122"/>
                        <a:ea typeface="楷体" panose="02010609060101010101" charset="-122"/>
                        <a:cs typeface="楷体" panose="02010609060101010101"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1">
                          <a:latin typeface="楷体" panose="02010609060101010101" charset="-122"/>
                          <a:ea typeface="楷体" panose="02010609060101010101" charset="-122"/>
                          <a:cs typeface="楷体" panose="02010609060101010101" charset="-122"/>
                        </a:rPr>
                        <a:t>y</a:t>
                      </a:r>
                      <a:r>
                        <a:rPr lang="en-US" sz="2400" b="0">
                          <a:latin typeface="楷体" panose="02010609060101010101" charset="-122"/>
                          <a:ea typeface="楷体" panose="02010609060101010101" charset="-122"/>
                          <a:cs typeface="楷体" panose="02010609060101010101" charset="-122"/>
                        </a:rPr>
                        <a:t>(教师信号）</a:t>
                      </a:r>
                      <a:endParaRPr lang="en-US" altLang="en-US" sz="2400" b="1">
                        <a:latin typeface="楷体" panose="02010609060101010101" charset="-122"/>
                        <a:ea typeface="楷体" panose="02010609060101010101" charset="-122"/>
                        <a:cs typeface="楷体" panose="02010609060101010101" charset="-122"/>
                      </a:endParaRPr>
                    </a:p>
                  </a:txBody>
                  <a:tcPr marL="0" marR="0" marT="0" marB="0" vert="horz" anchor="t">
                    <a:lnL w="1270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1970">
                <a:tc>
                  <a:txBody>
                    <a:bodyPr/>
                    <a:p>
                      <a:pPr indent="0">
                        <a:buNone/>
                      </a:pPr>
                      <a:r>
                        <a:rPr lang="en-US" sz="2400" b="0">
                          <a:latin typeface="楷体" panose="02010609060101010101" charset="-122"/>
                          <a:ea typeface="楷体" panose="02010609060101010101" charset="-122"/>
                          <a:cs typeface="宋体" panose="02010600030101010101" pitchFamily="2" charset="-122"/>
                        </a:rPr>
                        <a:t>0.0000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90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0.5000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3.0000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0.0000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1335">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90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1970">
                <a:tc>
                  <a:txBody>
                    <a:bodyPr/>
                    <a:p>
                      <a:pPr indent="0">
                        <a:buNone/>
                      </a:pPr>
                      <a:r>
                        <a:rPr lang="en-US" sz="2400" b="0">
                          <a:latin typeface="楷体" panose="02010609060101010101" charset="-122"/>
                          <a:ea typeface="楷体" panose="02010609060101010101" charset="-122"/>
                          <a:cs typeface="宋体" panose="02010600030101010101" pitchFamily="2" charset="-122"/>
                        </a:rPr>
                        <a:t>1.0000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90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1.0000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4.0000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400" b="0">
                          <a:latin typeface="楷体" panose="02010609060101010101" charset="-122"/>
                          <a:ea typeface="楷体" panose="02010609060101010101" charset="-122"/>
                          <a:cs typeface="宋体" panose="02010600030101010101" pitchFamily="2" charset="-122"/>
                        </a:rPr>
                        <a:t>0.5000</a:t>
                      </a:r>
                      <a:endParaRPr lang="en-US" altLang="en-US" sz="2400" b="0">
                        <a:latin typeface="楷体" panose="02010609060101010101" charset="-122"/>
                        <a:ea typeface="楷体" panose="02010609060101010101" charset="-122"/>
                        <a:cs typeface="宋体" panose="02010600030101010101" pitchFamily="2" charset="-122"/>
                      </a:endParaRPr>
                    </a:p>
                  </a:txBody>
                  <a:tcPr marL="0" marR="0" marT="0" marB="0" vert="horz" anchor="t">
                    <a:lnL w="12700" cap="flat" cmpd="sng">
                      <a:solidFill>
                        <a:srgbClr val="000000"/>
                      </a:solidFill>
                      <a:prstDash val="solid"/>
                      <a:headEnd type="none" w="med" len="med"/>
                      <a:tailEnd type="none" w="med" len="med"/>
                    </a:lnL>
                    <a:lnR w="190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r>
            </a:tbl>
          </a:graphicData>
        </a:graphic>
      </p:graphicFrame>
      <p:pic>
        <p:nvPicPr>
          <p:cNvPr id="5" name="图片 4"/>
          <p:cNvPicPr>
            <a:picLocks noChangeAspect="1"/>
          </p:cNvPicPr>
          <p:nvPr/>
        </p:nvPicPr>
        <p:blipFill>
          <a:blip r:embed="rId2"/>
          <a:stretch>
            <a:fillRect/>
          </a:stretch>
        </p:blipFill>
        <p:spPr>
          <a:xfrm>
            <a:off x="1675765" y="3980815"/>
            <a:ext cx="9817100" cy="258889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2225040" y="303530"/>
            <a:ext cx="9270365" cy="62509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2830195" y="220345"/>
            <a:ext cx="8519795" cy="641794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tretch>
            <a:fillRect/>
          </a:stretch>
        </p:blipFill>
        <p:spPr>
          <a:xfrm>
            <a:off x="2258695" y="626745"/>
            <a:ext cx="9298305" cy="3148965"/>
          </a:xfrm>
          <a:prstGeom prst="rect">
            <a:avLst/>
          </a:prstGeom>
        </p:spPr>
      </p:pic>
      <p:sp>
        <p:nvSpPr>
          <p:cNvPr id="105" name="文本框 104"/>
          <p:cNvSpPr txBox="1"/>
          <p:nvPr/>
        </p:nvSpPr>
        <p:spPr>
          <a:xfrm>
            <a:off x="2258695" y="4072890"/>
            <a:ext cx="7689215" cy="953135"/>
          </a:xfrm>
          <a:prstGeom prst="rect">
            <a:avLst/>
          </a:prstGeom>
          <a:noFill/>
          <a:ln w="9525">
            <a:noFill/>
          </a:ln>
        </p:spPr>
        <p:txBody>
          <a:bodyPr wrap="square">
            <a:spAutoFit/>
          </a:bodyPr>
          <a:p>
            <a:pPr indent="0"/>
            <a:r>
              <a:rPr lang="zh-CN" sz="2800" b="0">
                <a:latin typeface="楷体" panose="02010609060101010101" charset="-122"/>
                <a:ea typeface="楷体" panose="02010609060101010101" charset="-122"/>
              </a:rPr>
              <a:t>按表中数据依次训练学习，学习次数足够高时，可能达到学习目的，实现权值成熟</a:t>
            </a:r>
            <a:endParaRPr lang="zh-CN" altLang="en-US" sz="2800" b="0">
              <a:latin typeface="楷体" panose="02010609060101010101" charset="-122"/>
              <a:ea typeface="楷体" panose="02010609060101010101"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latin typeface="楷体" panose="02010609060101010101" charset="-122"/>
                <a:ea typeface="楷体" panose="02010609060101010101" charset="-122"/>
                <a:cs typeface="楷体" panose="02010609060101010101" charset="-122"/>
              </a:rPr>
              <a:t>【例6.2】如图所示是一个单隐层3—2—1BP网络</a:t>
            </a:r>
            <a:endParaRPr lang="zh-CN" altLang="en-US" sz="2800">
              <a:latin typeface="楷体" panose="02010609060101010101" charset="-122"/>
              <a:ea typeface="楷体" panose="02010609060101010101" charset="-122"/>
              <a:cs typeface="楷体" panose="02010609060101010101" charset="-122"/>
            </a:endParaRPr>
          </a:p>
        </p:txBody>
      </p:sp>
      <p:pic>
        <p:nvPicPr>
          <p:cNvPr id="4" name="图片 3"/>
          <p:cNvPicPr>
            <a:picLocks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432050" y="2434590"/>
            <a:ext cx="9072245" cy="298323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45970" y="833755"/>
            <a:ext cx="9458325" cy="5077460"/>
          </a:xfrm>
        </p:spPr>
        <p:txBody>
          <a:bodyPr/>
          <a:p>
            <a:r>
              <a:rPr lang="zh-CN" altLang="en-US" sz="2000">
                <a:latin typeface="楷体" panose="02010609060101010101" charset="-122"/>
                <a:ea typeface="楷体" panose="02010609060101010101" charset="-122"/>
                <a:cs typeface="楷体" panose="02010609060101010101" charset="-122"/>
              </a:rPr>
              <a:t>学习样本、初始各层权系数、阈值如图所示。</a:t>
            </a:r>
            <a:endParaRPr lang="zh-CN" altLang="en-US" sz="2000">
              <a:latin typeface="楷体" panose="02010609060101010101" charset="-122"/>
              <a:ea typeface="楷体" panose="02010609060101010101" charset="-122"/>
              <a:cs typeface="楷体" panose="02010609060101010101" charset="-122"/>
            </a:endParaRPr>
          </a:p>
          <a:p>
            <a:endParaRPr lang="zh-CN" altLang="en-US">
              <a:latin typeface="楷体" panose="02010609060101010101" charset="-122"/>
              <a:ea typeface="楷体" panose="02010609060101010101" charset="-122"/>
              <a:cs typeface="楷体" panose="02010609060101010101" charset="-122"/>
            </a:endParaRPr>
          </a:p>
          <a:p>
            <a:endParaRPr lang="zh-CN" altLang="en-US">
              <a:latin typeface="楷体" panose="02010609060101010101" charset="-122"/>
              <a:ea typeface="楷体" panose="02010609060101010101" charset="-122"/>
              <a:cs typeface="楷体" panose="02010609060101010101" charset="-122"/>
            </a:endParaRPr>
          </a:p>
          <a:p>
            <a:endParaRPr lang="zh-CN" altLang="en-US">
              <a:latin typeface="楷体" panose="02010609060101010101" charset="-122"/>
              <a:ea typeface="楷体" panose="02010609060101010101" charset="-122"/>
              <a:cs typeface="楷体" panose="02010609060101010101" charset="-122"/>
            </a:endParaRPr>
          </a:p>
          <a:p>
            <a:endParaRPr lang="zh-CN" altLang="en-US">
              <a:latin typeface="楷体" panose="02010609060101010101" charset="-122"/>
              <a:ea typeface="楷体" panose="02010609060101010101" charset="-122"/>
              <a:cs typeface="楷体" panose="02010609060101010101" charset="-122"/>
            </a:endParaRPr>
          </a:p>
          <a:p>
            <a:endParaRPr lang="zh-CN" altLang="en-US">
              <a:latin typeface="楷体" panose="02010609060101010101" charset="-122"/>
              <a:ea typeface="楷体" panose="02010609060101010101" charset="-122"/>
              <a:cs typeface="楷体" panose="02010609060101010101" charset="-122"/>
            </a:endParaRPr>
          </a:p>
          <a:p>
            <a:r>
              <a:rPr lang="zh-CN" altLang="en-US" sz="2000">
                <a:latin typeface="楷体" panose="02010609060101010101" charset="-122"/>
                <a:ea typeface="楷体" panose="02010609060101010101" charset="-122"/>
                <a:cs typeface="楷体" panose="02010609060101010101" charset="-122"/>
              </a:rPr>
              <a:t>计算各隐含层以及输出层的输入、输出值，如图所示。</a:t>
            </a:r>
            <a:endParaRPr lang="zh-CN" altLang="en-US" sz="2000">
              <a:latin typeface="楷体" panose="02010609060101010101" charset="-122"/>
              <a:ea typeface="楷体" panose="02010609060101010101" charset="-122"/>
              <a:cs typeface="楷体" panose="02010609060101010101" charset="-122"/>
            </a:endParaRPr>
          </a:p>
        </p:txBody>
      </p:sp>
      <p:pic>
        <p:nvPicPr>
          <p:cNvPr id="5" name="图片 4"/>
          <p:cNvPicPr>
            <a:picLocks noChangeAspect="1"/>
          </p:cNvPicPr>
          <p:nvPr/>
        </p:nvPicPr>
        <p:blipFill>
          <a:blip r:embed="rId1"/>
          <a:stretch>
            <a:fillRect/>
          </a:stretch>
        </p:blipFill>
        <p:spPr>
          <a:xfrm>
            <a:off x="1727835" y="1488440"/>
            <a:ext cx="8669020" cy="1636395"/>
          </a:xfrm>
          <a:prstGeom prst="rect">
            <a:avLst/>
          </a:prstGeom>
        </p:spPr>
      </p:pic>
      <p:pic>
        <p:nvPicPr>
          <p:cNvPr id="6" name="图片 5"/>
          <p:cNvPicPr>
            <a:picLocks noChangeAspect="1"/>
          </p:cNvPicPr>
          <p:nvPr/>
        </p:nvPicPr>
        <p:blipFill>
          <a:blip r:embed="rId2"/>
          <a:stretch>
            <a:fillRect/>
          </a:stretch>
        </p:blipFill>
        <p:spPr>
          <a:xfrm>
            <a:off x="2136140" y="3853180"/>
            <a:ext cx="9636125" cy="25063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73555" y="631825"/>
            <a:ext cx="9730740" cy="5279390"/>
          </a:xfrm>
        </p:spPr>
        <p:txBody>
          <a:bodyPr/>
          <a:p>
            <a:r>
              <a:rPr lang="zh-CN" altLang="en-US">
                <a:latin typeface="楷体" panose="02010609060101010101" charset="-122"/>
                <a:ea typeface="楷体" panose="02010609060101010101" charset="-122"/>
                <a:cs typeface="楷体" panose="02010609060101010101" charset="-122"/>
              </a:rPr>
              <a:t>反推各层系数修正，如图所示</a:t>
            </a:r>
            <a:endParaRPr lang="zh-CN" altLang="en-US">
              <a:latin typeface="楷体" panose="02010609060101010101" charset="-122"/>
              <a:ea typeface="楷体" panose="02010609060101010101" charset="-122"/>
              <a:cs typeface="楷体" panose="02010609060101010101" charset="-122"/>
            </a:endParaRPr>
          </a:p>
        </p:txBody>
      </p:sp>
      <p:pic>
        <p:nvPicPr>
          <p:cNvPr id="4" name="图片 3"/>
          <p:cNvPicPr>
            <a:picLocks noChangeAspect="1"/>
          </p:cNvPicPr>
          <p:nvPr/>
        </p:nvPicPr>
        <p:blipFill>
          <a:blip r:embed="rId1"/>
          <a:stretch>
            <a:fillRect/>
          </a:stretch>
        </p:blipFill>
        <p:spPr>
          <a:xfrm>
            <a:off x="2439035" y="1600835"/>
            <a:ext cx="10411460" cy="31546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6.4 BP算法源程序分析</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p:txBody>
          <a:bodyPr/>
          <a:p>
            <a:r>
              <a:rPr lang="zh-CN" altLang="en-US" sz="2800">
                <a:latin typeface="楷体" panose="02010609060101010101" charset="-122"/>
                <a:ea typeface="楷体" panose="02010609060101010101" charset="-122"/>
                <a:cs typeface="楷体" panose="02010609060101010101" charset="-122"/>
              </a:rPr>
              <a:t>见</a:t>
            </a:r>
            <a:r>
              <a:rPr lang="en-US" altLang="zh-CN" sz="2800">
                <a:latin typeface="楷体" panose="02010609060101010101" charset="-122"/>
                <a:ea typeface="楷体" panose="02010609060101010101" charset="-122"/>
                <a:cs typeface="楷体" panose="02010609060101010101" charset="-122"/>
              </a:rPr>
              <a:t>134</a:t>
            </a:r>
            <a:r>
              <a:rPr lang="zh-CN" altLang="en-US" sz="2800">
                <a:latin typeface="楷体" panose="02010609060101010101" charset="-122"/>
                <a:ea typeface="楷体" panose="02010609060101010101" charset="-122"/>
                <a:cs typeface="楷体" panose="02010609060101010101" charset="-122"/>
              </a:rPr>
              <a:t>页</a:t>
            </a:r>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51635" y="904875"/>
            <a:ext cx="9852660" cy="5871845"/>
          </a:xfrm>
        </p:spPr>
        <p:txBody>
          <a:bodyPr/>
          <a:p>
            <a:r>
              <a:rPr lang="zh-CN" altLang="en-US" sz="2400">
                <a:latin typeface="楷体" panose="02010609060101010101" charset="-122"/>
                <a:ea typeface="楷体" panose="02010609060101010101" charset="-122"/>
                <a:cs typeface="楷体" panose="02010609060101010101" charset="-122"/>
              </a:rPr>
              <a:t>运行结果如图所示</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441"/>
          <p:cNvGraphicFramePr>
            <a:graphicFrameLocks noChangeAspect="1"/>
          </p:cNvGraphicFramePr>
          <p:nvPr/>
        </p:nvGraphicFramePr>
        <p:xfrm>
          <a:off x="2081530" y="1687830"/>
          <a:ext cx="8860155" cy="4481195"/>
        </p:xfrm>
        <a:graphic>
          <a:graphicData uri="http://schemas.openxmlformats.org/presentationml/2006/ole">
            <mc:AlternateContent xmlns:mc="http://schemas.openxmlformats.org/markup-compatibility/2006">
              <mc:Choice xmlns:v="urn:schemas-microsoft-com:vml" Requires="v">
                <p:oleObj spid="_x0000_s3076" name="" r:id="rId1" imgW="5260975" imgH="2654935" progId="Word.Document.8">
                  <p:embed/>
                </p:oleObj>
              </mc:Choice>
              <mc:Fallback>
                <p:oleObj name="" r:id="rId1" imgW="5260975" imgH="2654935" progId="Word.Document.8">
                  <p:embed/>
                  <p:pic>
                    <p:nvPicPr>
                      <p:cNvPr id="0" name="图片 3075"/>
                      <p:cNvPicPr/>
                      <p:nvPr/>
                    </p:nvPicPr>
                    <p:blipFill>
                      <a:blip r:embed="rId2"/>
                      <a:stretch>
                        <a:fillRect/>
                      </a:stretch>
                    </p:blipFill>
                    <p:spPr>
                      <a:xfrm>
                        <a:off x="2081530" y="1687830"/>
                        <a:ext cx="8860155" cy="4481195"/>
                      </a:xfrm>
                      <a:prstGeom prst="rect">
                        <a:avLst/>
                      </a:prstGeom>
                      <a:no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763395" y="508000"/>
            <a:ext cx="8964295" cy="60452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6.5 BP算法的特点及应用</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044065" y="1619250"/>
            <a:ext cx="9460230" cy="4664710"/>
          </a:xfrm>
        </p:spPr>
        <p:txBody>
          <a:bodyPr>
            <a:normAutofit lnSpcReduction="10000"/>
          </a:bodyPr>
          <a:p>
            <a:r>
              <a:rPr lang="zh-CN" altLang="en-US">
                <a:latin typeface="楷体" panose="02010609060101010101" charset="-122"/>
                <a:ea typeface="楷体" panose="02010609060101010101" charset="-122"/>
                <a:cs typeface="楷体" panose="02010609060101010101" charset="-122"/>
              </a:rPr>
              <a:t>6.5.1 BP算法的特点</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BP神经网络具有以下优点：</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sz="2000" b="1">
                <a:latin typeface="楷体" panose="02010609060101010101" charset="-122"/>
                <a:ea typeface="楷体" panose="02010609060101010101" charset="-122"/>
                <a:cs typeface="楷体" panose="02010609060101010101" charset="-122"/>
              </a:rPr>
              <a:t>1非线性映射能力：</a:t>
            </a:r>
            <a:r>
              <a:rPr lang="zh-CN" altLang="en-US">
                <a:latin typeface="楷体" panose="02010609060101010101" charset="-122"/>
                <a:ea typeface="楷体" panose="02010609060101010101" charset="-122"/>
                <a:cs typeface="楷体" panose="02010609060101010101" charset="-122"/>
              </a:rPr>
              <a:t>BP神经网络实质上实现了一个从输入到输出的映射功能，数学理论证明三层的神经网络就能够以任意精度逼近任何非线性连续函数。这使得其特别适合于求解内部机制复杂的问题，即BP神经网络具有较强的非线性映射能力。</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sz="2000" b="1">
                <a:latin typeface="楷体" panose="02010609060101010101" charset="-122"/>
                <a:ea typeface="楷体" panose="02010609060101010101" charset="-122"/>
                <a:cs typeface="楷体" panose="02010609060101010101" charset="-122"/>
              </a:rPr>
              <a:t>2自学习和自适应能力</a:t>
            </a:r>
            <a:r>
              <a:rPr lang="zh-CN" altLang="en-US">
                <a:latin typeface="楷体" panose="02010609060101010101" charset="-122"/>
                <a:ea typeface="楷体" panose="02010609060101010101" charset="-122"/>
                <a:cs typeface="楷体" panose="02010609060101010101" charset="-122"/>
              </a:rPr>
              <a:t>：BP神经网络在训练时，能够通过学习自动提取输出、输出数据间的“合理规则”，并自适应的将学习内容记忆于网络的权值中。即BP神经网络具有高度自学习和自适应的能力。</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sz="2000" b="1">
                <a:latin typeface="楷体" panose="02010609060101010101" charset="-122"/>
                <a:ea typeface="楷体" panose="02010609060101010101" charset="-122"/>
                <a:cs typeface="楷体" panose="02010609060101010101" charset="-122"/>
              </a:rPr>
              <a:t>3泛化能力：</a:t>
            </a:r>
            <a:r>
              <a:rPr lang="zh-CN" altLang="en-US">
                <a:latin typeface="楷体" panose="02010609060101010101" charset="-122"/>
                <a:ea typeface="楷体" panose="02010609060101010101" charset="-122"/>
                <a:cs typeface="楷体" panose="02010609060101010101" charset="-122"/>
              </a:rPr>
              <a:t>所谓泛化能力是指在设计模式分类器时，即要考虑网络在保证对所需分类对象进行正确分类，还要关心网络在经过训练后，能否对未见过的模式或有噪声污染的模式，进行正确的分类。也即BP神经网络具有将学习成果应用于新知识的能力。</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sz="2000" b="1">
                <a:latin typeface="楷体" panose="02010609060101010101" charset="-122"/>
                <a:ea typeface="楷体" panose="02010609060101010101" charset="-122"/>
                <a:cs typeface="楷体" panose="02010609060101010101" charset="-122"/>
              </a:rPr>
              <a:t>4容错能力：</a:t>
            </a:r>
            <a:r>
              <a:rPr lang="zh-CN" altLang="en-US">
                <a:latin typeface="楷体" panose="02010609060101010101" charset="-122"/>
                <a:ea typeface="楷体" panose="02010609060101010101" charset="-122"/>
                <a:cs typeface="楷体" panose="02010609060101010101" charset="-122"/>
              </a:rPr>
              <a:t>BP神经网络在其局部的或者部分的神经元受到破坏后对全局的训练结果不会造成很大的影响，也就是说即使系统在受到局部损伤时还是可以正常工作的。即BP神经网络具有一定的容错能力</a:t>
            </a:r>
            <a:r>
              <a:rPr lang="zh-CN" altLang="en-US"/>
              <a:t>。</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99895" y="414020"/>
            <a:ext cx="9822180" cy="5510530"/>
          </a:xfrm>
        </p:spPr>
        <p:txBody>
          <a:bodyPr>
            <a:noAutofit/>
          </a:bodyPr>
          <a:p>
            <a:r>
              <a:rPr lang="zh-CN" altLang="en-US" sz="2000">
                <a:latin typeface="楷体" panose="02010609060101010101" charset="-122"/>
                <a:ea typeface="楷体" panose="02010609060101010101" charset="-122"/>
                <a:cs typeface="楷体" panose="02010609060101010101" charset="-122"/>
              </a:rPr>
              <a:t> BP神经网络也暴露出了越来越多的缺点和不足，比如：</a:t>
            </a:r>
            <a:endParaRPr lang="zh-CN" altLang="en-US" sz="2000">
              <a:latin typeface="楷体" panose="02010609060101010101" charset="-122"/>
              <a:ea typeface="楷体" panose="02010609060101010101" charset="-122"/>
              <a:cs typeface="楷体" panose="02010609060101010101" charset="-122"/>
            </a:endParaRPr>
          </a:p>
          <a:p>
            <a:r>
              <a:rPr lang="zh-CN" altLang="en-US" sz="2400" b="1">
                <a:latin typeface="楷体" panose="02010609060101010101" charset="-122"/>
                <a:ea typeface="楷体" panose="02010609060101010101" charset="-122"/>
                <a:cs typeface="楷体" panose="02010609060101010101" charset="-122"/>
              </a:rPr>
              <a:t>1．局部极小化问题</a:t>
            </a:r>
            <a:r>
              <a:rPr lang="zh-CN" altLang="en-US" sz="2000">
                <a:latin typeface="楷体" panose="02010609060101010101" charset="-122"/>
                <a:ea typeface="楷体" panose="02010609060101010101" charset="-122"/>
                <a:cs typeface="楷体" panose="02010609060101010101" charset="-122"/>
              </a:rPr>
              <a:t>：从数学角度看，传统的BP神经网络为一种局部搜索的优化方法，它要解决的是一个复杂非线性化问题，网络的权值是通过沿局部改善的方向逐渐进行调整的，这样会使算法陷入局部极值，权值收敛到局部极小点，从而导致网络训练失败。加上BP神经网络对初始网络权重非常敏感，以不同的权重初始化网络，其往往会收敛于不同的局部极小，这也是很多学者每次训练得到不同结果的根本原因。</a:t>
            </a:r>
            <a:endParaRPr lang="zh-CN" altLang="en-US" sz="2000">
              <a:latin typeface="楷体" panose="02010609060101010101" charset="-122"/>
              <a:ea typeface="楷体" panose="02010609060101010101" charset="-122"/>
              <a:cs typeface="楷体" panose="02010609060101010101" charset="-122"/>
            </a:endParaRPr>
          </a:p>
          <a:p>
            <a:r>
              <a:rPr lang="zh-CN" altLang="en-US" sz="2400" b="1">
                <a:latin typeface="楷体" panose="02010609060101010101" charset="-122"/>
                <a:ea typeface="楷体" panose="02010609060101010101" charset="-122"/>
                <a:cs typeface="楷体" panose="02010609060101010101" charset="-122"/>
              </a:rPr>
              <a:t>2 .BP神经网络算法的收敛速度慢</a:t>
            </a:r>
            <a:r>
              <a:rPr lang="zh-CN" altLang="en-US" sz="2000">
                <a:latin typeface="楷体" panose="02010609060101010101" charset="-122"/>
                <a:ea typeface="楷体" panose="02010609060101010101" charset="-122"/>
                <a:cs typeface="楷体" panose="02010609060101010101" charset="-122"/>
              </a:rPr>
              <a:t>：由于BP神经网络算法本质上为梯度下降法，它所要优化的目标函数是非常复杂的，因此，必然会出现“锯齿形现象”，这使得BP算法低效；又由于优化的目标函数很复杂，它必然会在神经元输出接近0或1的情况下，出现一些平坦区，在这些区域内，权值误差改变很小，使训练过程几乎停顿；BP神经网络模型中，为了使网络执行BP算法，不能使用传统的一维搜索法求每次迭代的步长，而必须把步长的更新规则预先赋予网络，这种方法也会引起算法低效。以上种种，导致了BP神经网络算法收敛速度慢的现象。</a:t>
            </a:r>
            <a:endParaRPr lang="zh-CN" altLang="en-US" sz="2000">
              <a:latin typeface="楷体" panose="02010609060101010101" charset="-122"/>
              <a:ea typeface="楷体" panose="02010609060101010101" charset="-122"/>
              <a:cs typeface="楷体" panose="02010609060101010101" charset="-122"/>
            </a:endParaRPr>
          </a:p>
          <a:p>
            <a:r>
              <a:rPr lang="zh-CN" altLang="en-US" sz="2400" b="1"/>
              <a:t>  </a:t>
            </a:r>
            <a:r>
              <a:rPr lang="zh-CN" altLang="en-US" sz="2400" b="1">
                <a:latin typeface="楷体" panose="02010609060101010101" charset="-122"/>
                <a:ea typeface="楷体" panose="02010609060101010101" charset="-122"/>
                <a:cs typeface="楷体" panose="02010609060101010101" charset="-122"/>
              </a:rPr>
              <a:t>3 .BP神经网络结构选择不一：</a:t>
            </a:r>
            <a:r>
              <a:rPr lang="zh-CN" altLang="en-US" sz="2000">
                <a:latin typeface="楷体" panose="02010609060101010101" charset="-122"/>
                <a:ea typeface="楷体" panose="02010609060101010101" charset="-122"/>
                <a:cs typeface="楷体" panose="02010609060101010101" charset="-122"/>
              </a:rPr>
              <a:t>BP神经网络结构的选择至今尚无一种统一而完整的理论指导，一般只能由经验选定。网络结构选择过大，训练中效率不高，可能出现过拟合现象，造成网络性能低，容错性下降，若选择过小，则又会造成网络可能不收敛。而网络的结构直接影响网络的逼近能力及推广性质。因此，应用中如何选择合适的网络结构是一个重要的问题。</a:t>
            </a:r>
            <a:endParaRPr lang="zh-CN" altLang="en-US" sz="20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12595" y="723265"/>
            <a:ext cx="9791700" cy="5187950"/>
          </a:xfrm>
        </p:spPr>
        <p:txBody>
          <a:bodyPr/>
          <a:p>
            <a:r>
              <a:rPr lang="zh-CN" altLang="en-US" sz="2400" b="1">
                <a:latin typeface="楷体" panose="02010609060101010101" charset="-122"/>
                <a:ea typeface="楷体" panose="02010609060101010101" charset="-122"/>
                <a:cs typeface="楷体" panose="02010609060101010101" charset="-122"/>
              </a:rPr>
              <a:t>4.应用实例与网络规模的矛盾问题：</a:t>
            </a:r>
            <a:r>
              <a:rPr lang="zh-CN" altLang="en-US" sz="2000">
                <a:latin typeface="楷体" panose="02010609060101010101" charset="-122"/>
                <a:ea typeface="楷体" panose="02010609060101010101" charset="-122"/>
                <a:cs typeface="楷体" panose="02010609060101010101" charset="-122"/>
              </a:rPr>
              <a:t>BP神经网络难以解决应用问题的实例规模和网络规模间的矛盾问题，其涉及到网络容量的可能性与可行性的关系问题，即学习复杂性问题。</a:t>
            </a:r>
            <a:endParaRPr lang="zh-CN" altLang="en-US" sz="2000">
              <a:latin typeface="楷体" panose="02010609060101010101" charset="-122"/>
              <a:ea typeface="楷体" panose="02010609060101010101" charset="-122"/>
              <a:cs typeface="楷体" panose="02010609060101010101" charset="-122"/>
            </a:endParaRPr>
          </a:p>
          <a:p>
            <a:r>
              <a:rPr lang="zh-CN" altLang="en-US" sz="2400" b="1">
                <a:latin typeface="楷体" panose="02010609060101010101" charset="-122"/>
                <a:ea typeface="楷体" panose="02010609060101010101" charset="-122"/>
                <a:cs typeface="楷体" panose="02010609060101010101" charset="-122"/>
              </a:rPr>
              <a:t>5 .BP神经网络预测能力和训练能力的矛盾问题：</a:t>
            </a:r>
            <a:r>
              <a:rPr lang="zh-CN" altLang="en-US" sz="2000">
                <a:latin typeface="楷体" panose="02010609060101010101" charset="-122"/>
                <a:ea typeface="楷体" panose="02010609060101010101" charset="-122"/>
                <a:cs typeface="楷体" panose="02010609060101010101" charset="-122"/>
              </a:rPr>
              <a:t>预测能力也称泛化能力或者推广能力，而训练能力也称逼近能力或者学习能力。一般情况下，训练能力差时，预测能力也差，并且定程度上，随着训练能力地提高，预测能力会得到提高。但这种趋势不是固定的，其有一个极限，当达到此极限时，随着训练能力的提高，预测能力反而会下降，也即出现所谓“过拟合”现象。出现该现象的原因是网络学习了过多的样本细节导致，学习出的模型已不能反映样本内含的规律，所以如何把握好学习的度，解决网络预测能力和训练能力间矛盾问题也是BP神经网络的重要研究内容。</a:t>
            </a:r>
            <a:endParaRPr lang="zh-CN" altLang="en-US" sz="2000">
              <a:latin typeface="楷体" panose="02010609060101010101" charset="-122"/>
              <a:ea typeface="楷体" panose="02010609060101010101" charset="-122"/>
              <a:cs typeface="楷体" panose="02010609060101010101" charset="-122"/>
            </a:endParaRPr>
          </a:p>
          <a:p>
            <a:r>
              <a:rPr lang="zh-CN" altLang="en-US" sz="2400" b="1">
                <a:latin typeface="楷体" panose="02010609060101010101" charset="-122"/>
                <a:ea typeface="楷体" panose="02010609060101010101" charset="-122"/>
                <a:cs typeface="楷体" panose="02010609060101010101" charset="-122"/>
              </a:rPr>
              <a:t>6 .BP神经网络样本依赖性问题：</a:t>
            </a:r>
            <a:r>
              <a:rPr lang="zh-CN" altLang="en-US" sz="2000">
                <a:latin typeface="楷体" panose="02010609060101010101" charset="-122"/>
                <a:ea typeface="楷体" panose="02010609060101010101" charset="-122"/>
                <a:cs typeface="楷体" panose="02010609060101010101" charset="-122"/>
              </a:rPr>
              <a:t>网络模型的逼近和推广能力与学习样本的典型性密切相关，而从问题中选取典型样本实例组成训练集是一个很困难的问题。</a:t>
            </a:r>
            <a:endParaRPr lang="zh-CN" altLang="en-US" sz="20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6.5.2 BP算法的应用</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105025" y="1690370"/>
            <a:ext cx="9549765" cy="4652645"/>
          </a:xfrm>
        </p:spPr>
        <p:txBody>
          <a:bodyPr>
            <a:normAutofit/>
          </a:bodyPr>
          <a:p>
            <a:r>
              <a:rPr lang="zh-CN" altLang="en-US">
                <a:latin typeface="楷体" panose="02010609060101010101" charset="-122"/>
                <a:ea typeface="楷体" panose="02010609060101010101" charset="-122"/>
                <a:cs typeface="楷体" panose="02010609060101010101" charset="-122"/>
              </a:rPr>
              <a:t>随着人工神经网络技术的不断成熟和发展,神经网络的智能化特征与能力使其应用领域日益扩大,许多用传统信息处理方法无法解决的问题采用神经网络后取得了良好的效果,特别在工程领域中得到了广泛的应用。神经网络目前主要应用于以下几个领域:</a:t>
            </a:r>
            <a:endParaRPr lang="zh-CN" altLang="en-US">
              <a:latin typeface="楷体" panose="02010609060101010101" charset="-122"/>
              <a:ea typeface="楷体" panose="02010609060101010101" charset="-122"/>
              <a:cs typeface="楷体" panose="02010609060101010101" charset="-122"/>
            </a:endParaRPr>
          </a:p>
          <a:p>
            <a:r>
              <a:rPr lang="zh-CN" altLang="en-US">
                <a:latin typeface="楷体" panose="02010609060101010101" charset="-122"/>
                <a:ea typeface="楷体" panose="02010609060101010101" charset="-122"/>
                <a:cs typeface="楷体" panose="02010609060101010101" charset="-122"/>
              </a:rPr>
              <a:t>1.信息领域:作为一种新型智能信息处理系统,神经网络应用于信号处理、模式识别、数据压缩等方面。</a:t>
            </a:r>
            <a:endParaRPr lang="zh-CN" altLang="en-US">
              <a:latin typeface="楷体" panose="02010609060101010101" charset="-122"/>
              <a:ea typeface="楷体" panose="02010609060101010101" charset="-122"/>
              <a:cs typeface="楷体" panose="02010609060101010101" charset="-122"/>
            </a:endParaRPr>
          </a:p>
          <a:p>
            <a:r>
              <a:rPr lang="zh-CN" altLang="en-US">
                <a:latin typeface="楷体" panose="02010609060101010101" charset="-122"/>
                <a:ea typeface="楷体" panose="02010609060101010101" charset="-122"/>
                <a:cs typeface="楷体" panose="02010609060101010101" charset="-122"/>
              </a:rPr>
              <a:t>2.自动化领域:神经网络和控制理论与控制技术相结合,发展为自动控制领域的一个前沿学科——神经网络控制。在系统辨识、神经控制器、智能检测等方面取得了发展。</a:t>
            </a:r>
            <a:endParaRPr lang="zh-CN" altLang="en-US">
              <a:latin typeface="楷体" panose="02010609060101010101" charset="-122"/>
              <a:ea typeface="楷体" panose="02010609060101010101" charset="-122"/>
              <a:cs typeface="楷体" panose="02010609060101010101" charset="-122"/>
            </a:endParaRPr>
          </a:p>
          <a:p>
            <a:r>
              <a:rPr lang="zh-CN" altLang="en-US">
                <a:latin typeface="楷体" panose="02010609060101010101" charset="-122"/>
                <a:ea typeface="楷体" panose="02010609060101010101" charset="-122"/>
                <a:cs typeface="楷体" panose="02010609060101010101" charset="-122"/>
              </a:rPr>
              <a:t>3.工程领域:例如汽车工程、军事工程、化学工程、水利工程等。</a:t>
            </a:r>
            <a:endParaRPr lang="zh-CN" altLang="en-US">
              <a:latin typeface="楷体" panose="02010609060101010101" charset="-122"/>
              <a:ea typeface="楷体" panose="02010609060101010101" charset="-122"/>
              <a:cs typeface="楷体" panose="02010609060101010101" charset="-122"/>
            </a:endParaRPr>
          </a:p>
          <a:p>
            <a:r>
              <a:rPr lang="zh-CN" altLang="en-US">
                <a:latin typeface="楷体" panose="02010609060101010101" charset="-122"/>
                <a:ea typeface="楷体" panose="02010609060101010101" charset="-122"/>
                <a:cs typeface="楷体" panose="02010609060101010101" charset="-122"/>
              </a:rPr>
              <a:t>4.医学领域:在医学领域,神经网络可用于检测数据分析、生物活性研究、医学专家系统等。</a:t>
            </a:r>
            <a:endParaRPr lang="zh-CN" altLang="en-US">
              <a:latin typeface="楷体" panose="02010609060101010101" charset="-122"/>
              <a:ea typeface="楷体" panose="02010609060101010101" charset="-122"/>
              <a:cs typeface="楷体" panose="02010609060101010101" charset="-122"/>
            </a:endParaRPr>
          </a:p>
          <a:p>
            <a:r>
              <a:rPr lang="zh-CN" altLang="en-US">
                <a:latin typeface="楷体" panose="02010609060101010101" charset="-122"/>
                <a:ea typeface="楷体" panose="02010609060101010101" charset="-122"/>
                <a:cs typeface="楷体" panose="02010609060101010101" charset="-122"/>
              </a:rPr>
              <a:t>5.经济领域:由于神经网络具有优化计算、聚类和预测等功能,在商业界得到广泛的应用。金融市场采用神经网络建立信用卡和货币交易模型,用于识别信贷客户、股票预测和证券市场分析等方面。</a:t>
            </a:r>
            <a:endParaRPr lang="zh-CN" altLang="en-US">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6.6小结</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p:txBody>
          <a:bodyPr/>
          <a:p>
            <a:r>
              <a:rPr lang="zh-CN" altLang="en-US" sz="2400">
                <a:latin typeface="楷体" panose="02010609060101010101" charset="-122"/>
                <a:ea typeface="楷体" panose="02010609060101010101" charset="-122"/>
                <a:cs typeface="楷体" panose="02010609060101010101" charset="-122"/>
              </a:rPr>
              <a:t>本章首先介绍了生物与人工神经元模型，然后简单列举了主要的神经网络模型，重点剖析了BP算法，阐述了它的原理、结构、工作过程，本章还举了一个简单的实例，使读者了解BP算法的具体工作过程，最后介绍了BP算法的特点以及应用。</a:t>
            </a:r>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UNIT_TABLE_BEAUTIFY" val="smartTable{a394b886-d40d-464a-9c90-dbb0fb2dcf27}"/>
  <p:tag name="TABLE_ENDDRAG_ORIGIN_RECT" val="655*180"/>
  <p:tag name="TABLE_ENDDRAG_RECT" val="200*113*655*180"/>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7700</Words>
  <Application>WPS 演示</Application>
  <PresentationFormat>宽屏</PresentationFormat>
  <Paragraphs>268</Paragraphs>
  <Slides>49</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42</vt:i4>
      </vt:variant>
      <vt:variant>
        <vt:lpstr>幻灯片标题</vt:lpstr>
      </vt:variant>
      <vt:variant>
        <vt:i4>49</vt:i4>
      </vt:variant>
    </vt:vector>
  </HeadingPairs>
  <TitlesOfParts>
    <vt:vector size="108" baseType="lpstr">
      <vt:lpstr>Arial</vt:lpstr>
      <vt:lpstr>宋体</vt:lpstr>
      <vt:lpstr>Wingdings</vt:lpstr>
      <vt:lpstr>Wingdings 3</vt:lpstr>
      <vt:lpstr>Arial</vt:lpstr>
      <vt:lpstr>楷体</vt:lpstr>
      <vt:lpstr>Tahoma</vt:lpstr>
      <vt:lpstr>华文仿宋</vt:lpstr>
      <vt:lpstr>Century Gothic</vt:lpstr>
      <vt:lpstr>幼圆</vt:lpstr>
      <vt:lpstr>微软雅黑</vt:lpstr>
      <vt:lpstr>Arial Unicode MS</vt:lpstr>
      <vt:lpstr>Calibri</vt:lpstr>
      <vt:lpstr>楷体_GB2312</vt:lpstr>
      <vt:lpstr>新宋体</vt:lpstr>
      <vt:lpstr>Times New Roman</vt:lpstr>
      <vt:lpstr>丝状</vt:lpstr>
      <vt:lpstr>Word.Document.8</vt:lpstr>
      <vt:lpstr>Word.Document.8</vt:lpstr>
      <vt:lpstr>Word.Document.8</vt:lpstr>
      <vt:lpstr>Word.Document.8</vt:lpstr>
      <vt:lpstr>Word.Document.8</vt:lpstr>
      <vt:lpstr>Word.Document.8</vt:lpstr>
      <vt:lpstr>Word.Document.8</vt:lpstr>
      <vt:lpstr>Word.Document.8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第6章  人工神经网络算法</vt:lpstr>
      <vt:lpstr>6.1 基本概念</vt:lpstr>
      <vt:lpstr>PowerPoint 演示文稿</vt:lpstr>
      <vt:lpstr>PowerPoint 演示文稿</vt:lpstr>
      <vt:lpstr>6.1.2人工神经元模型</vt:lpstr>
      <vt:lpstr>PowerPoint 演示文稿</vt:lpstr>
      <vt:lpstr>PowerPoint 演示文稿</vt:lpstr>
      <vt:lpstr>PowerPoint 演示文稿</vt:lpstr>
      <vt:lpstr>PowerPoint 演示文稿</vt:lpstr>
      <vt:lpstr>6.1.3主要的神经网络模型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 BP算法的原理</vt:lpstr>
      <vt:lpstr>PowerPoint 演示文稿</vt:lpstr>
      <vt:lpstr>PowerPoint 演示文稿</vt:lpstr>
      <vt:lpstr>6.2.2 BP神经网络的结构</vt:lpstr>
      <vt:lpstr>PowerPoint 演示文稿</vt:lpstr>
      <vt:lpstr>6.2.3 BP神经网络的算法描述</vt:lpstr>
      <vt:lpstr>PowerPoint 演示文稿</vt:lpstr>
      <vt:lpstr>PowerPoint 演示文稿</vt:lpstr>
      <vt:lpstr>PowerPoint 演示文稿</vt:lpstr>
      <vt:lpstr>PowerPoint 演示文稿</vt:lpstr>
      <vt:lpstr>PowerPoint 演示文稿</vt:lpstr>
      <vt:lpstr>PowerPoint 演示文稿</vt:lpstr>
      <vt:lpstr>6.2.4标准BP神经网络的工作过程</vt:lpstr>
      <vt:lpstr>PowerPoint 演示文稿</vt:lpstr>
      <vt:lpstr>PowerPoint 演示文稿</vt:lpstr>
      <vt:lpstr>6.3 BP算法实例分析</vt:lpstr>
      <vt:lpstr>PowerPoint 演示文稿</vt:lpstr>
      <vt:lpstr>PowerPoint 演示文稿</vt:lpstr>
      <vt:lpstr>PowerPoint 演示文稿</vt:lpstr>
      <vt:lpstr>PowerPoint 演示文稿</vt:lpstr>
      <vt:lpstr>PowerPoint 演示文稿</vt:lpstr>
      <vt:lpstr>【例6.2】如图所示是一个单隐层3—2—1BP网络</vt:lpstr>
      <vt:lpstr>PowerPoint 演示文稿</vt:lpstr>
      <vt:lpstr>PowerPoint 演示文稿</vt:lpstr>
      <vt:lpstr>6.4 BP算法源程序分析</vt:lpstr>
      <vt:lpstr>PowerPoint 演示文稿</vt:lpstr>
      <vt:lpstr>PowerPoint 演示文稿</vt:lpstr>
      <vt:lpstr>6.5 BP算法的特点及应用</vt:lpstr>
      <vt:lpstr>PowerPoint 演示文稿</vt:lpstr>
      <vt:lpstr>PowerPoint 演示文稿</vt:lpstr>
      <vt:lpstr>6.5.2 BP算法的应用</vt:lpstr>
      <vt:lpstr>6.6小结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52</cp:revision>
  <dcterms:created xsi:type="dcterms:W3CDTF">2019-12-16T01:20:00Z</dcterms:created>
  <dcterms:modified xsi:type="dcterms:W3CDTF">2020-11-25T10:23:02Z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