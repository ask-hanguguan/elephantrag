
<file path=[Content_Types].xml><?xml version="1.0" encoding="utf-8"?>
<Types xmlns="http://schemas.openxmlformats.org/package/2006/content-types">
  <Default Extension="jpeg" ContentType="image/jpe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83" r:id="rId5"/>
    <p:sldId id="258" r:id="rId6"/>
    <p:sldId id="259" r:id="rId7"/>
    <p:sldId id="260" r:id="rId8"/>
    <p:sldId id="284" r:id="rId9"/>
    <p:sldId id="261" r:id="rId10"/>
    <p:sldId id="262" r:id="rId11"/>
    <p:sldId id="286" r:id="rId12"/>
    <p:sldId id="263" r:id="rId13"/>
    <p:sldId id="288" r:id="rId14"/>
    <p:sldId id="285" r:id="rId15"/>
    <p:sldId id="264" r:id="rId16"/>
    <p:sldId id="265" r:id="rId17"/>
    <p:sldId id="287" r:id="rId18"/>
    <p:sldId id="266" r:id="rId19"/>
    <p:sldId id="267" r:id="rId20"/>
    <p:sldId id="268" r:id="rId21"/>
    <p:sldId id="269" r:id="rId22"/>
    <p:sldId id="317" r:id="rId23"/>
    <p:sldId id="270" r:id="rId24"/>
    <p:sldId id="271" r:id="rId25"/>
    <p:sldId id="318" r:id="rId26"/>
    <p:sldId id="272" r:id="rId27"/>
    <p:sldId id="273" r:id="rId28"/>
    <p:sldId id="289" r:id="rId29"/>
    <p:sldId id="274" r:id="rId30"/>
    <p:sldId id="316" r:id="rId31"/>
    <p:sldId id="320" r:id="rId32"/>
    <p:sldId id="319" r:id="rId33"/>
    <p:sldId id="321" r:id="rId34"/>
    <p:sldId id="322" r:id="rId35"/>
    <p:sldId id="276" r:id="rId36"/>
    <p:sldId id="277" r:id="rId37"/>
    <p:sldId id="290" r:id="rId38"/>
    <p:sldId id="278" r:id="rId39"/>
    <p:sldId id="279" r:id="rId40"/>
    <p:sldId id="291" r:id="rId41"/>
    <p:sldId id="280" r:id="rId42"/>
    <p:sldId id="281" r:id="rId43"/>
    <p:sldId id="282"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F5CEFE-F680-4E1A-8F9A-C73F24F18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emf"/></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image" Target="../media/image6.e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image" Target="../media/image9.em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emf"/></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emf"/><Relationship Id="rId1" Type="http://schemas.openxmlformats.org/officeDocument/2006/relationships/image" Target="../media/image25.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e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em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image" Target="../media/image33.emf"/></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136452" y="135384"/>
            <a:ext cx="8915399" cy="2262781"/>
          </a:xfrm>
        </p:spPr>
        <p:txBody>
          <a:bodyPr/>
          <a:lstStyle/>
          <a:p>
            <a:r>
              <a:rPr lang="zh-CN" altLang="en-US" dirty="0"/>
              <a:t>数据挖掘算法原理及实现</a:t>
            </a:r>
            <a:endParaRPr lang="zh-CN" altLang="en-US" dirty="0"/>
          </a:p>
        </p:txBody>
      </p:sp>
      <p:sp>
        <p:nvSpPr>
          <p:cNvPr id="3" name="副标题 2"/>
          <p:cNvSpPr>
            <a:spLocks noGrp="1"/>
          </p:cNvSpPr>
          <p:nvPr>
            <p:ph type="subTitle" idx="1"/>
          </p:nvPr>
        </p:nvSpPr>
        <p:spPr>
          <a:xfrm>
            <a:off x="2216351" y="3570016"/>
            <a:ext cx="8915399" cy="1126283"/>
          </a:xfrm>
        </p:spPr>
        <p:txBody>
          <a:bodyPr/>
          <a:lstStyle/>
          <a:p>
            <a:pPr algn="ctr"/>
            <a:r>
              <a:rPr lang="zh-CN" altLang="zh-CN" sz="3600" dirty="0"/>
              <a:t> 第</a:t>
            </a:r>
            <a:r>
              <a:rPr lang="en-US" altLang="zh-CN" sz="3600" dirty="0"/>
              <a:t>3</a:t>
            </a:r>
            <a:r>
              <a:rPr lang="zh-CN" altLang="zh-CN" sz="3600" dirty="0"/>
              <a:t>章</a:t>
            </a:r>
            <a:r>
              <a:rPr lang="en-US" altLang="zh-CN" sz="3600" dirty="0"/>
              <a:t>  </a:t>
            </a:r>
            <a:r>
              <a:rPr lang="zh-CN" altLang="zh-CN" sz="3600" dirty="0"/>
              <a:t>关联规则挖掘</a:t>
            </a:r>
            <a:r>
              <a:rPr lang="en-US" altLang="zh-CN" sz="3600" dirty="0"/>
              <a:t>   </a:t>
            </a:r>
            <a:endParaRPr lang="zh-CN" altLang="zh-CN" sz="3600" b="1" dirty="0"/>
          </a:p>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57365" y="445675"/>
            <a:ext cx="8911687" cy="1280890"/>
          </a:xfrm>
        </p:spPr>
        <p:txBody>
          <a:bodyPr/>
          <a:lstStyle/>
          <a:p>
            <a:r>
              <a:rPr lang="en-US" altLang="zh-CN" dirty="0"/>
              <a:t>3.1</a:t>
            </a:r>
            <a:r>
              <a:rPr lang="zh-CN" altLang="zh-CN" dirty="0"/>
              <a:t>基本概念 </a:t>
            </a:r>
            <a:br>
              <a:rPr lang="zh-CN" altLang="zh-CN" b="1" dirty="0"/>
            </a:br>
            <a:endParaRPr lang="zh-CN" altLang="en-US" dirty="0"/>
          </a:p>
        </p:txBody>
      </p:sp>
      <p:sp>
        <p:nvSpPr>
          <p:cNvPr id="3" name="内容占位符 2"/>
          <p:cNvSpPr>
            <a:spLocks noGrp="1"/>
          </p:cNvSpPr>
          <p:nvPr>
            <p:ph idx="1"/>
          </p:nvPr>
        </p:nvSpPr>
        <p:spPr>
          <a:xfrm>
            <a:off x="2001520" y="1290955"/>
            <a:ext cx="8915400" cy="4418330"/>
          </a:xfrm>
        </p:spPr>
        <p:txBody>
          <a:bodyPr>
            <a:noAutofit/>
          </a:bodyPr>
          <a:lstStyle/>
          <a:p>
            <a:r>
              <a:rPr lang="en-US" altLang="zh-CN" sz="2800" dirty="0">
                <a:latin typeface="楷体" panose="02010609060101010101" pitchFamily="49" charset="-122"/>
                <a:ea typeface="楷体" panose="02010609060101010101" pitchFamily="49" charset="-122"/>
              </a:rPr>
              <a:t>    </a:t>
            </a:r>
            <a:r>
              <a:rPr lang="zh-CN" altLang="zh-CN" sz="2800" dirty="0">
                <a:latin typeface="楷体" panose="02010609060101010101" pitchFamily="49" charset="-122"/>
                <a:ea typeface="楷体" panose="02010609060101010101" pitchFamily="49" charset="-122"/>
              </a:rPr>
              <a:t>关联规则挖掘用来发现大量数据中项集之间有趣的关联联系。如果两项或多项属性之间存在关联，那么其中一项的属性就可以依据其他属性值进行预测，关联规则挖掘是数据挖掘中的一个重要课题，最近几年已被业界深入研究和广泛应用。</a:t>
            </a:r>
            <a:endParaRPr lang="zh-CN" altLang="zh-CN" sz="28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    </a:t>
            </a:r>
            <a:r>
              <a:rPr lang="zh-CN" altLang="zh-CN" sz="2800" dirty="0">
                <a:latin typeface="楷体" panose="02010609060101010101" pitchFamily="49" charset="-122"/>
                <a:ea typeface="楷体" panose="02010609060101010101" pitchFamily="49" charset="-122"/>
              </a:rPr>
              <a:t>关联规则研究有助于发现交易数据库中不同商品（项）之间的联系，找出顾客购买行为模式，如购买了某一商品对购买其他商品的影响。分析结果可以应用于商品货架布局、货存安排以及根据购买模式对用户进行分类。</a:t>
            </a:r>
            <a:endParaRPr lang="zh-CN" altLang="zh-CN" sz="2800" dirty="0">
              <a:latin typeface="楷体" panose="02010609060101010101" pitchFamily="49" charset="-122"/>
              <a:ea typeface="楷体" panose="02010609060101010101" pitchFamily="49" charset="-122"/>
            </a:endParaRPr>
          </a:p>
          <a:p>
            <a:pPr marL="0" indent="0">
              <a:buNone/>
            </a:pP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322195" y="1540510"/>
            <a:ext cx="8915400" cy="4578350"/>
          </a:xfrm>
        </p:spPr>
        <p:txBody>
          <a:bodyPr>
            <a:normAutofit/>
          </a:bodyPr>
          <a:p>
            <a:r>
              <a:rPr lang="en-US" altLang="zh-CN" sz="3200" dirty="0">
                <a:latin typeface="楷体" panose="02010609060101010101" pitchFamily="49" charset="-122"/>
                <a:ea typeface="楷体" panose="02010609060101010101" pitchFamily="49" charset="-122"/>
                <a:sym typeface="+mn-ea"/>
              </a:rPr>
              <a:t> </a:t>
            </a:r>
            <a:r>
              <a:rPr lang="zh-CN" altLang="zh-CN" sz="3200" dirty="0">
                <a:latin typeface="楷体" panose="02010609060101010101" pitchFamily="49" charset="-122"/>
                <a:ea typeface="楷体" panose="02010609060101010101" pitchFamily="49" charset="-122"/>
                <a:sym typeface="+mn-ea"/>
              </a:rPr>
              <a:t>关联规则挖掘问题可以分为两个子问题：</a:t>
            </a:r>
            <a:endParaRPr lang="zh-CN" altLang="zh-CN" sz="3200" dirty="0">
              <a:latin typeface="楷体" panose="02010609060101010101" pitchFamily="49" charset="-122"/>
              <a:ea typeface="楷体" panose="02010609060101010101" pitchFamily="49" charset="-122"/>
              <a:sym typeface="+mn-ea"/>
            </a:endParaRPr>
          </a:p>
          <a:p>
            <a:r>
              <a:rPr lang="zh-CN" altLang="zh-CN" sz="3200" dirty="0">
                <a:latin typeface="楷体" panose="02010609060101010101" pitchFamily="49" charset="-122"/>
                <a:ea typeface="楷体" panose="02010609060101010101" pitchFamily="49" charset="-122"/>
                <a:sym typeface="+mn-ea"/>
              </a:rPr>
              <a:t>第一步是找出事务数据库中所有大于等于用户指定的最小支持度的数据项集；</a:t>
            </a:r>
            <a:endParaRPr lang="zh-CN" altLang="zh-CN" sz="3200" dirty="0">
              <a:latin typeface="楷体" panose="02010609060101010101" pitchFamily="49" charset="-122"/>
              <a:ea typeface="楷体" panose="02010609060101010101" pitchFamily="49" charset="-122"/>
              <a:sym typeface="+mn-ea"/>
            </a:endParaRPr>
          </a:p>
          <a:p>
            <a:r>
              <a:rPr lang="zh-CN" altLang="zh-CN" sz="3200" dirty="0">
                <a:latin typeface="楷体" panose="02010609060101010101" pitchFamily="49" charset="-122"/>
                <a:ea typeface="楷体" panose="02010609060101010101" pitchFamily="49" charset="-122"/>
                <a:sym typeface="+mn-ea"/>
              </a:rPr>
              <a:t>第二步是利用频繁项集生成所需要的关联规则，根据用户设定的最小置信度进行取舍，最后得到强关联规则。</a:t>
            </a:r>
            <a:endParaRPr lang="zh-CN" altLang="zh-CN" sz="3200" dirty="0">
              <a:latin typeface="楷体" panose="02010609060101010101" pitchFamily="49" charset="-122"/>
              <a:ea typeface="楷体" panose="02010609060101010101" pitchFamily="49" charset="-122"/>
              <a:sym typeface="+mn-ea"/>
            </a:endParaRPr>
          </a:p>
          <a:p>
            <a:pPr marL="0" indent="0">
              <a:buNone/>
            </a:pPr>
            <a:r>
              <a:rPr lang="zh-CN" altLang="zh-CN" sz="3200" b="1" dirty="0">
                <a:solidFill>
                  <a:srgbClr val="C00000"/>
                </a:solidFill>
                <a:latin typeface="楷体" panose="02010609060101010101" pitchFamily="49" charset="-122"/>
                <a:ea typeface="楷体" panose="02010609060101010101" pitchFamily="49" charset="-122"/>
                <a:sym typeface="+mn-ea"/>
              </a:rPr>
              <a:t>识别或发现所有频繁项目集</a:t>
            </a:r>
            <a:r>
              <a:rPr lang="zh-CN" altLang="zh-CN" sz="3200" dirty="0">
                <a:latin typeface="楷体" panose="02010609060101010101" pitchFamily="49" charset="-122"/>
                <a:ea typeface="楷体" panose="02010609060101010101" pitchFamily="49" charset="-122"/>
                <a:sym typeface="+mn-ea"/>
              </a:rPr>
              <a:t>是关联规则发现算法的核心，关联规则的基本描述如下</a:t>
            </a:r>
            <a:r>
              <a:rPr lang="zh-CN" altLang="en-US" sz="3200" dirty="0">
                <a:latin typeface="楷体" panose="02010609060101010101" pitchFamily="49" charset="-122"/>
                <a:ea typeface="楷体" panose="02010609060101010101" pitchFamily="49" charset="-122"/>
                <a:sym typeface="+mn-ea"/>
              </a:rPr>
              <a:t>：</a:t>
            </a:r>
            <a:endParaRPr lang="zh-CN" altLang="en-US" sz="3200" dirty="0">
              <a:latin typeface="楷体" panose="02010609060101010101" pitchFamily="49" charset="-122"/>
              <a:ea typeface="楷体" panose="02010609060101010101" pitchFamily="49" charset="-122"/>
            </a:endParaRPr>
          </a:p>
          <a:p>
            <a:endParaRPr lang="zh-CN" altLang="en-US" sz="3200" dirty="0">
              <a:latin typeface="楷体" panose="02010609060101010101" pitchFamily="49" charset="-122"/>
              <a:ea typeface="楷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02155" y="445770"/>
            <a:ext cx="9075420" cy="4151630"/>
          </a:xfrm>
        </p:spPr>
        <p:txBody>
          <a:bodyPr/>
          <a:lstStyle/>
          <a:p>
            <a:r>
              <a:rPr lang="en-US" altLang="zh-CN" sz="2800" b="1" dirty="0"/>
              <a:t>1.</a:t>
            </a:r>
            <a:r>
              <a:rPr lang="zh-CN" altLang="zh-CN" sz="2800" b="1" dirty="0"/>
              <a:t>项与项集</a:t>
            </a:r>
            <a:endParaRPr lang="en-US" altLang="zh-CN" sz="2800" b="1" dirty="0"/>
          </a:p>
          <a:p>
            <a:endParaRPr lang="en-US" altLang="zh-CN" b="1" dirty="0"/>
          </a:p>
          <a:p>
            <a:endParaRPr lang="en-US" altLang="zh-CN" b="1" dirty="0"/>
          </a:p>
          <a:p>
            <a:endParaRPr lang="en-US" altLang="zh-CN" b="1" dirty="0"/>
          </a:p>
          <a:p>
            <a:endParaRPr lang="en-US" altLang="zh-CN" b="1" dirty="0"/>
          </a:p>
          <a:p>
            <a:endParaRPr lang="en-US" altLang="zh-CN" b="1" dirty="0"/>
          </a:p>
          <a:p>
            <a:r>
              <a:rPr lang="en-US" altLang="zh-CN" sz="2800" b="1" dirty="0"/>
              <a:t>2.</a:t>
            </a:r>
            <a:r>
              <a:rPr lang="zh-CN" altLang="en-US" sz="2800" b="1" dirty="0"/>
              <a:t>事务</a:t>
            </a:r>
            <a:endParaRPr lang="en-US" altLang="zh-CN" sz="2800" b="1" dirty="0"/>
          </a:p>
          <a:p>
            <a:endParaRPr lang="en-US" altLang="zh-CN" b="1" dirty="0"/>
          </a:p>
          <a:p>
            <a:endParaRPr lang="en-US" altLang="zh-CN" b="1" dirty="0"/>
          </a:p>
          <a:p>
            <a:endParaRPr lang="en-US" altLang="zh-CN" b="1" dirty="0"/>
          </a:p>
          <a:p>
            <a:endParaRPr lang="en-US" altLang="zh-CN" b="1" dirty="0"/>
          </a:p>
          <a:p>
            <a:endParaRPr lang="en-US" altLang="zh-CN" b="1" dirty="0"/>
          </a:p>
          <a:p>
            <a:endParaRPr lang="zh-CN" altLang="zh-CN" dirty="0"/>
          </a:p>
        </p:txBody>
      </p:sp>
      <p:pic>
        <p:nvPicPr>
          <p:cNvPr id="4" name="图片 3"/>
          <p:cNvPicPr>
            <a:picLocks noChangeAspect="1"/>
          </p:cNvPicPr>
          <p:nvPr/>
        </p:nvPicPr>
        <p:blipFill>
          <a:blip r:embed="rId1"/>
          <a:stretch>
            <a:fillRect/>
          </a:stretch>
        </p:blipFill>
        <p:spPr>
          <a:xfrm>
            <a:off x="2098675" y="1144270"/>
            <a:ext cx="9561195" cy="1437640"/>
          </a:xfrm>
          <a:prstGeom prst="rect">
            <a:avLst/>
          </a:prstGeom>
        </p:spPr>
      </p:pic>
      <p:pic>
        <p:nvPicPr>
          <p:cNvPr id="5" name="图片 4"/>
          <p:cNvPicPr>
            <a:picLocks noChangeAspect="1"/>
          </p:cNvPicPr>
          <p:nvPr/>
        </p:nvPicPr>
        <p:blipFill>
          <a:blip r:embed="rId2"/>
          <a:stretch>
            <a:fillRect/>
          </a:stretch>
        </p:blipFill>
        <p:spPr>
          <a:xfrm>
            <a:off x="2098675" y="3505835"/>
            <a:ext cx="9587230" cy="25196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22805" y="455930"/>
            <a:ext cx="9555480" cy="3938270"/>
          </a:xfrm>
        </p:spPr>
        <p:txBody>
          <a:bodyPr/>
          <a:lstStyle/>
          <a:p>
            <a:r>
              <a:rPr lang="en-US" altLang="zh-CN" sz="2400" b="1" dirty="0"/>
              <a:t>3.</a:t>
            </a:r>
            <a:r>
              <a:rPr lang="zh-CN" altLang="zh-CN" sz="2400" b="1" dirty="0"/>
              <a:t>项集的频数（支持度计数）</a:t>
            </a:r>
            <a:endParaRPr lang="en-US" altLang="zh-CN" sz="2400" b="1" dirty="0"/>
          </a:p>
          <a:p>
            <a:endParaRPr lang="en-US" altLang="zh-CN" b="1" dirty="0"/>
          </a:p>
          <a:p>
            <a:endParaRPr lang="en-US" altLang="zh-CN" b="1" dirty="0"/>
          </a:p>
          <a:p>
            <a:r>
              <a:rPr lang="en-US" altLang="zh-CN" sz="2400" b="1" dirty="0"/>
              <a:t>4.</a:t>
            </a:r>
            <a:r>
              <a:rPr lang="zh-CN" altLang="en-US" sz="2400" b="1" dirty="0"/>
              <a:t>关联规则</a:t>
            </a:r>
            <a:endParaRPr lang="en-US" altLang="zh-CN" sz="2400" b="1" dirty="0"/>
          </a:p>
          <a:p>
            <a:endParaRPr lang="en-US" altLang="zh-CN" b="1" dirty="0"/>
          </a:p>
          <a:p>
            <a:endParaRPr lang="en-US" altLang="zh-CN" b="1" dirty="0"/>
          </a:p>
          <a:p>
            <a:endParaRPr lang="en-US" altLang="zh-CN" b="1" dirty="0"/>
          </a:p>
          <a:p>
            <a:endParaRPr lang="en-US" altLang="zh-CN" b="1" dirty="0"/>
          </a:p>
          <a:p>
            <a:r>
              <a:rPr lang="en-US" altLang="zh-CN" sz="2400" b="1" dirty="0"/>
              <a:t>5.</a:t>
            </a:r>
            <a:r>
              <a:rPr lang="zh-CN" altLang="zh-CN" sz="2400" b="1" dirty="0"/>
              <a:t>关联规则的支持度（</a:t>
            </a:r>
            <a:r>
              <a:rPr lang="en-US" altLang="zh-CN" sz="2400" b="1" dirty="0"/>
              <a:t>support</a:t>
            </a:r>
            <a:r>
              <a:rPr lang="zh-CN" altLang="zh-CN" sz="2400" b="1" dirty="0"/>
              <a:t>）</a:t>
            </a:r>
            <a:endParaRPr lang="en-US" altLang="zh-CN" sz="2400" b="1" dirty="0"/>
          </a:p>
          <a:p>
            <a:endParaRPr lang="en-US" altLang="zh-CN" b="1" dirty="0"/>
          </a:p>
          <a:p>
            <a:endParaRPr lang="en-US" altLang="zh-CN" b="1" dirty="0"/>
          </a:p>
          <a:p>
            <a:endParaRPr lang="en-US" altLang="zh-CN" b="1" dirty="0"/>
          </a:p>
          <a:p>
            <a:pPr marL="0" indent="0">
              <a:buNone/>
            </a:pPr>
            <a:endParaRPr lang="zh-CN" altLang="zh-CN" dirty="0"/>
          </a:p>
          <a:p>
            <a:endParaRPr lang="zh-CN" altLang="en-US" dirty="0"/>
          </a:p>
        </p:txBody>
      </p:sp>
      <p:pic>
        <p:nvPicPr>
          <p:cNvPr id="4" name="图片 3"/>
          <p:cNvPicPr>
            <a:picLocks noChangeAspect="1"/>
          </p:cNvPicPr>
          <p:nvPr/>
        </p:nvPicPr>
        <p:blipFill>
          <a:blip r:embed="rId1"/>
          <a:stretch>
            <a:fillRect/>
          </a:stretch>
        </p:blipFill>
        <p:spPr>
          <a:xfrm>
            <a:off x="2122805" y="1002030"/>
            <a:ext cx="11354435" cy="430530"/>
          </a:xfrm>
          <a:prstGeom prst="rect">
            <a:avLst/>
          </a:prstGeom>
        </p:spPr>
      </p:pic>
      <p:pic>
        <p:nvPicPr>
          <p:cNvPr id="5" name="图片 4"/>
          <p:cNvPicPr>
            <a:picLocks noChangeAspect="1"/>
          </p:cNvPicPr>
          <p:nvPr/>
        </p:nvPicPr>
        <p:blipFill>
          <a:blip r:embed="rId2"/>
          <a:stretch>
            <a:fillRect/>
          </a:stretch>
        </p:blipFill>
        <p:spPr>
          <a:xfrm>
            <a:off x="2346325" y="2190750"/>
            <a:ext cx="9611360" cy="1444625"/>
          </a:xfrm>
          <a:prstGeom prst="rect">
            <a:avLst/>
          </a:prstGeom>
        </p:spPr>
      </p:pic>
      <p:pic>
        <p:nvPicPr>
          <p:cNvPr id="6" name="图片 5"/>
          <p:cNvPicPr>
            <a:picLocks noChangeAspect="1"/>
          </p:cNvPicPr>
          <p:nvPr/>
        </p:nvPicPr>
        <p:blipFill>
          <a:blip r:embed="rId3"/>
          <a:stretch>
            <a:fillRect/>
          </a:stretch>
        </p:blipFill>
        <p:spPr>
          <a:xfrm>
            <a:off x="2346325" y="4554220"/>
            <a:ext cx="9708515" cy="14598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48719" y="801999"/>
            <a:ext cx="8915400" cy="5554462"/>
          </a:xfrm>
        </p:spPr>
        <p:txBody>
          <a:bodyPr>
            <a:normAutofit/>
          </a:bodyPr>
          <a:lstStyle/>
          <a:p>
            <a:r>
              <a:rPr lang="en-US" altLang="zh-CN" sz="2000" b="1" dirty="0"/>
              <a:t>6.</a:t>
            </a:r>
            <a:r>
              <a:rPr lang="zh-CN" altLang="zh-CN" sz="2000" b="1" dirty="0"/>
              <a:t>关联规则的置信度（</a:t>
            </a:r>
            <a:r>
              <a:rPr lang="en-US" altLang="zh-CN" sz="2000" b="1" dirty="0"/>
              <a:t>confidence</a:t>
            </a:r>
            <a:r>
              <a:rPr lang="zh-CN" altLang="zh-CN" sz="2000" b="1" dirty="0"/>
              <a:t>）</a:t>
            </a:r>
            <a:endParaRPr lang="en-US" altLang="zh-CN" sz="2000" b="1" dirty="0"/>
          </a:p>
          <a:p>
            <a:endParaRPr lang="en-US" altLang="zh-CN" b="1" dirty="0"/>
          </a:p>
          <a:p>
            <a:endParaRPr lang="en-US" altLang="zh-CN" b="1" dirty="0"/>
          </a:p>
          <a:p>
            <a:endParaRPr lang="en-US" altLang="zh-CN" b="1" dirty="0"/>
          </a:p>
          <a:p>
            <a:endParaRPr lang="en-US" altLang="zh-CN" b="1" dirty="0"/>
          </a:p>
          <a:p>
            <a:endParaRPr lang="en-US" altLang="zh-CN" b="1" dirty="0"/>
          </a:p>
          <a:p>
            <a:endParaRPr lang="en-US" altLang="zh-CN" b="1" dirty="0"/>
          </a:p>
          <a:p>
            <a:r>
              <a:rPr lang="en-US" altLang="zh-CN" sz="2400" b="1" dirty="0"/>
              <a:t>7.</a:t>
            </a:r>
            <a:r>
              <a:rPr lang="zh-CN" altLang="zh-CN" sz="2400" b="1" dirty="0"/>
              <a:t>最小支持度与最小置信度</a:t>
            </a:r>
            <a:endParaRPr lang="en-US" altLang="zh-CN" sz="2400" b="1" dirty="0"/>
          </a:p>
          <a:p>
            <a:endParaRPr lang="en-US" altLang="zh-CN" b="1" dirty="0"/>
          </a:p>
          <a:p>
            <a:endParaRPr lang="en-US" altLang="zh-CN" b="1" dirty="0"/>
          </a:p>
          <a:p>
            <a:endParaRPr lang="en-US" altLang="zh-CN" b="1" dirty="0"/>
          </a:p>
          <a:p>
            <a:endParaRPr lang="zh-CN" altLang="zh-CN" dirty="0"/>
          </a:p>
          <a:p>
            <a:endParaRPr lang="zh-CN" altLang="zh-CN" dirty="0"/>
          </a:p>
          <a:p>
            <a:endParaRPr lang="zh-CN" altLang="en-US" dirty="0"/>
          </a:p>
        </p:txBody>
      </p:sp>
      <p:pic>
        <p:nvPicPr>
          <p:cNvPr id="4" name="图片 3"/>
          <p:cNvPicPr>
            <a:picLocks noChangeAspect="1"/>
          </p:cNvPicPr>
          <p:nvPr/>
        </p:nvPicPr>
        <p:blipFill>
          <a:blip r:embed="rId1"/>
          <a:stretch>
            <a:fillRect/>
          </a:stretch>
        </p:blipFill>
        <p:spPr>
          <a:xfrm>
            <a:off x="1729105" y="1473835"/>
            <a:ext cx="10107295" cy="1899920"/>
          </a:xfrm>
          <a:prstGeom prst="rect">
            <a:avLst/>
          </a:prstGeom>
        </p:spPr>
      </p:pic>
      <p:pic>
        <p:nvPicPr>
          <p:cNvPr id="5" name="图片 4"/>
          <p:cNvPicPr>
            <a:picLocks noChangeAspect="1"/>
          </p:cNvPicPr>
          <p:nvPr/>
        </p:nvPicPr>
        <p:blipFill>
          <a:blip r:embed="rId2"/>
          <a:stretch>
            <a:fillRect/>
          </a:stretch>
        </p:blipFill>
        <p:spPr>
          <a:xfrm>
            <a:off x="1577340" y="4255135"/>
            <a:ext cx="10473055" cy="11811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en-US" altLang="zh-CN"/>
          </a:p>
        </p:txBody>
      </p:sp>
      <p:sp>
        <p:nvSpPr>
          <p:cNvPr id="3" name="内容占位符 2"/>
          <p:cNvSpPr>
            <a:spLocks noGrp="1"/>
          </p:cNvSpPr>
          <p:nvPr>
            <p:ph idx="1"/>
          </p:nvPr>
        </p:nvSpPr>
        <p:spPr>
          <a:xfrm>
            <a:off x="2148522" y="2222500"/>
            <a:ext cx="8915400" cy="3777622"/>
          </a:xfrm>
        </p:spPr>
        <p:txBody>
          <a:bodyPr/>
          <a:p>
            <a:r>
              <a:rPr lang="en-US" altLang="zh-CN" sz="3200" b="1" dirty="0">
                <a:sym typeface="+mn-ea"/>
              </a:rPr>
              <a:t>8.</a:t>
            </a:r>
            <a:r>
              <a:rPr lang="zh-CN" altLang="zh-CN" sz="3200" b="1" dirty="0">
                <a:sym typeface="+mn-ea"/>
              </a:rPr>
              <a:t>强关联规则</a:t>
            </a:r>
            <a:endParaRPr lang="zh-CN" altLang="zh-CN" sz="3200" dirty="0"/>
          </a:p>
          <a:p>
            <a:pPr marL="0" indent="0">
              <a:buNone/>
            </a:pPr>
            <a:endParaRPr lang="zh-CN" altLang="zh-CN" sz="3200" dirty="0"/>
          </a:p>
        </p:txBody>
      </p:sp>
      <p:pic>
        <p:nvPicPr>
          <p:cNvPr id="6" name="图片 5"/>
          <p:cNvPicPr>
            <a:picLocks noChangeAspect="1"/>
          </p:cNvPicPr>
          <p:nvPr/>
        </p:nvPicPr>
        <p:blipFill>
          <a:blip r:embed="rId1"/>
          <a:stretch>
            <a:fillRect/>
          </a:stretch>
        </p:blipFill>
        <p:spPr>
          <a:xfrm>
            <a:off x="819150" y="3025775"/>
            <a:ext cx="11088370" cy="12503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72565" y="5140960"/>
            <a:ext cx="7332980" cy="4806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10727690" y="4749165"/>
            <a:ext cx="1299210" cy="338455"/>
          </a:xfrm>
          <a:prstGeom prst="rect">
            <a:avLst/>
          </a:prstGeom>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a:p>
        </p:txBody>
      </p:sp>
      <p:sp>
        <p:nvSpPr>
          <p:cNvPr id="3" name="内容占位符 2"/>
          <p:cNvSpPr>
            <a:spLocks noGrp="1"/>
          </p:cNvSpPr>
          <p:nvPr>
            <p:ph idx="1"/>
          </p:nvPr>
        </p:nvSpPr>
        <p:spPr>
          <a:xfrm>
            <a:off x="2447169" y="686540"/>
            <a:ext cx="8915400" cy="3777622"/>
          </a:xfrm>
        </p:spPr>
        <p:txBody>
          <a:bodyPr/>
          <a:lstStyle/>
          <a:p>
            <a:r>
              <a:rPr lang="en-US" altLang="zh-CN" sz="2400" b="1" dirty="0"/>
              <a:t>9.</a:t>
            </a:r>
            <a:r>
              <a:rPr lang="zh-CN" altLang="zh-CN" sz="2400" b="1" dirty="0"/>
              <a:t>频繁项集</a:t>
            </a:r>
            <a:endParaRPr lang="en-US" altLang="zh-CN" sz="2400" b="1" dirty="0"/>
          </a:p>
          <a:p>
            <a:endParaRPr lang="en-US" altLang="zh-CN" b="1" dirty="0"/>
          </a:p>
          <a:p>
            <a:endParaRPr lang="en-US" altLang="zh-CN" b="1" dirty="0"/>
          </a:p>
          <a:p>
            <a:endParaRPr lang="en-US" altLang="zh-CN" b="1" dirty="0"/>
          </a:p>
          <a:p>
            <a:endParaRPr lang="en-US" altLang="zh-CN" b="1" dirty="0"/>
          </a:p>
          <a:p>
            <a:endParaRPr lang="en-US" altLang="zh-CN" b="1" dirty="0"/>
          </a:p>
          <a:p>
            <a:endParaRPr lang="en-US" altLang="zh-CN" b="1" dirty="0"/>
          </a:p>
          <a:p>
            <a:endParaRPr lang="en-US" altLang="zh-CN" b="1" dirty="0"/>
          </a:p>
          <a:p>
            <a:r>
              <a:rPr lang="en-US" altLang="zh-CN" sz="2400" b="1" dirty="0"/>
              <a:t>10.</a:t>
            </a:r>
            <a:r>
              <a:rPr lang="zh-CN" altLang="zh-CN" sz="2400" b="1" dirty="0"/>
              <a:t>项目集空间理论</a:t>
            </a:r>
            <a:endParaRPr lang="zh-CN" altLang="zh-CN" sz="2400" dirty="0"/>
          </a:p>
          <a:p>
            <a:endParaRPr lang="zh-CN" altLang="zh-CN" dirty="0"/>
          </a:p>
          <a:p>
            <a:endParaRPr lang="zh-CN" altLang="en-US" dirty="0"/>
          </a:p>
        </p:txBody>
      </p:sp>
      <p:pic>
        <p:nvPicPr>
          <p:cNvPr id="4" name="图片 3"/>
          <p:cNvPicPr>
            <a:picLocks noChangeAspect="1"/>
          </p:cNvPicPr>
          <p:nvPr/>
        </p:nvPicPr>
        <p:blipFill>
          <a:blip r:embed="rId1"/>
          <a:stretch>
            <a:fillRect/>
          </a:stretch>
        </p:blipFill>
        <p:spPr>
          <a:xfrm>
            <a:off x="1635760" y="1251585"/>
            <a:ext cx="9744075" cy="2561590"/>
          </a:xfrm>
          <a:prstGeom prst="rect">
            <a:avLst/>
          </a:prstGeom>
        </p:spPr>
      </p:pic>
      <p:pic>
        <p:nvPicPr>
          <p:cNvPr id="5" name="图片 4"/>
          <p:cNvPicPr>
            <a:picLocks noChangeAspect="1"/>
          </p:cNvPicPr>
          <p:nvPr/>
        </p:nvPicPr>
        <p:blipFill>
          <a:blip r:embed="rId2"/>
          <a:stretch>
            <a:fillRect/>
          </a:stretch>
        </p:blipFill>
        <p:spPr>
          <a:xfrm>
            <a:off x="1462405" y="4751070"/>
            <a:ext cx="10539095" cy="7950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566400" y="3004820"/>
            <a:ext cx="623570" cy="46291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标题 1"/>
          <p:cNvSpPr>
            <a:spLocks noGrp="1"/>
          </p:cNvSpPr>
          <p:nvPr>
            <p:ph type="title"/>
          </p:nvPr>
        </p:nvSpPr>
        <p:spPr/>
        <p:txBody>
          <a:bodyPr/>
          <a:lstStyle/>
          <a:p>
            <a:r>
              <a:rPr lang="en-US" altLang="zh-CN" dirty="0"/>
              <a:t>3.2</a:t>
            </a:r>
            <a:r>
              <a:rPr lang="zh-CN" altLang="zh-CN" dirty="0"/>
              <a:t>关联规则挖掘算法</a:t>
            </a:r>
            <a:r>
              <a:rPr lang="en-US" altLang="zh-CN" dirty="0"/>
              <a:t>-</a:t>
            </a:r>
            <a:r>
              <a:rPr lang="en-US" altLang="zh-CN" dirty="0" err="1"/>
              <a:t>Apriori</a:t>
            </a:r>
            <a:r>
              <a:rPr lang="zh-CN" altLang="zh-CN" dirty="0"/>
              <a:t>算法原理</a:t>
            </a:r>
            <a:br>
              <a:rPr lang="zh-CN" altLang="zh-CN" b="1" dirty="0"/>
            </a:br>
            <a:endParaRPr lang="zh-CN" altLang="en-US" dirty="0"/>
          </a:p>
        </p:txBody>
      </p:sp>
      <p:sp>
        <p:nvSpPr>
          <p:cNvPr id="3" name="内容占位符 2"/>
          <p:cNvSpPr>
            <a:spLocks noGrp="1"/>
          </p:cNvSpPr>
          <p:nvPr>
            <p:ph idx="1"/>
          </p:nvPr>
        </p:nvSpPr>
        <p:spPr>
          <a:xfrm>
            <a:off x="1670685" y="1706245"/>
            <a:ext cx="9993630" cy="3812540"/>
          </a:xfrm>
        </p:spPr>
        <p:txBody>
          <a:bodyPr/>
          <a:lstStyle/>
          <a:p>
            <a:r>
              <a:rPr lang="zh-CN" altLang="zh-CN" sz="2800" dirty="0"/>
              <a:t>最著名的关联规则发现方法是</a:t>
            </a:r>
            <a:r>
              <a:rPr lang="en-US" altLang="zh-CN" sz="2800" dirty="0"/>
              <a:t>R. Agrawal</a:t>
            </a:r>
            <a:r>
              <a:rPr lang="zh-CN" altLang="zh-CN" sz="2800" dirty="0"/>
              <a:t>提出的</a:t>
            </a:r>
            <a:r>
              <a:rPr lang="en-US" altLang="zh-CN" sz="2800" dirty="0" err="1"/>
              <a:t>Apriori</a:t>
            </a:r>
            <a:r>
              <a:rPr lang="zh-CN" altLang="zh-CN" sz="2800" dirty="0"/>
              <a:t>算法。</a:t>
            </a:r>
            <a:endParaRPr lang="zh-CN" altLang="zh-CN" sz="2800" dirty="0"/>
          </a:p>
          <a:p>
            <a:r>
              <a:rPr lang="en-US" altLang="zh-CN" sz="2800" b="1" dirty="0"/>
              <a:t>1</a:t>
            </a:r>
            <a:r>
              <a:rPr lang="zh-CN" altLang="zh-CN" sz="2800" b="1" dirty="0"/>
              <a:t>、</a:t>
            </a:r>
            <a:r>
              <a:rPr lang="en-US" altLang="zh-CN" sz="2800" b="1" dirty="0" err="1"/>
              <a:t>Apriori</a:t>
            </a:r>
            <a:r>
              <a:rPr lang="zh-CN" altLang="zh-CN" sz="2800" b="1" dirty="0"/>
              <a:t>算法基本思想</a:t>
            </a:r>
            <a:endParaRPr lang="en-US" altLang="zh-CN" sz="2800" b="1" dirty="0"/>
          </a:p>
          <a:p>
            <a:endParaRPr lang="en-US" altLang="zh-CN" b="1" dirty="0"/>
          </a:p>
          <a:p>
            <a:endParaRPr lang="en-US" altLang="zh-CN" b="1" dirty="0"/>
          </a:p>
          <a:p>
            <a:endParaRPr lang="en-US" altLang="zh-CN" b="1" dirty="0"/>
          </a:p>
          <a:p>
            <a:endParaRPr lang="en-US" altLang="zh-CN" b="1" dirty="0"/>
          </a:p>
          <a:p>
            <a:endParaRPr lang="en-US" altLang="zh-CN" b="1" dirty="0"/>
          </a:p>
          <a:p>
            <a:endParaRPr lang="zh-CN" altLang="zh-CN" dirty="0"/>
          </a:p>
          <a:p>
            <a:endParaRPr lang="zh-CN" altLang="en-US" dirty="0"/>
          </a:p>
        </p:txBody>
      </p:sp>
      <p:pic>
        <p:nvPicPr>
          <p:cNvPr id="7" name="图片 6"/>
          <p:cNvPicPr>
            <a:picLocks noChangeAspect="1"/>
          </p:cNvPicPr>
          <p:nvPr/>
        </p:nvPicPr>
        <p:blipFill>
          <a:blip r:embed="rId1"/>
          <a:stretch>
            <a:fillRect/>
          </a:stretch>
        </p:blipFill>
        <p:spPr>
          <a:xfrm>
            <a:off x="1303655" y="2969260"/>
            <a:ext cx="10360660" cy="31127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6" name="椭圆 5"/>
          <p:cNvSpPr/>
          <p:nvPr/>
        </p:nvSpPr>
        <p:spPr>
          <a:xfrm>
            <a:off x="2930525" y="720090"/>
            <a:ext cx="3098165" cy="1089025"/>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p>
            <a:pPr algn="ctr"/>
            <a:r>
              <a:rPr lang="zh-CN" altLang="en-US" sz="3200"/>
              <a:t>频繁 </a:t>
            </a:r>
            <a:r>
              <a:rPr lang="en-US" altLang="zh-CN" sz="3200"/>
              <a:t>1-</a:t>
            </a:r>
            <a:r>
              <a:rPr lang="zh-CN" altLang="en-US" sz="3200"/>
              <a:t>项集的集合</a:t>
            </a:r>
            <a:endParaRPr lang="zh-CN" altLang="en-US" sz="3200"/>
          </a:p>
        </p:txBody>
      </p:sp>
      <p:sp>
        <p:nvSpPr>
          <p:cNvPr id="7" name="下箭头 6"/>
          <p:cNvSpPr/>
          <p:nvPr/>
        </p:nvSpPr>
        <p:spPr>
          <a:xfrm>
            <a:off x="4141470" y="1809115"/>
            <a:ext cx="676275" cy="3632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2930525" y="2172335"/>
            <a:ext cx="3098800" cy="1139825"/>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p>
            <a:pPr algn="ctr"/>
            <a:r>
              <a:rPr lang="zh-CN" altLang="en-US" sz="3200"/>
              <a:t>频繁 </a:t>
            </a:r>
            <a:r>
              <a:rPr lang="en-US" altLang="zh-CN" sz="3200"/>
              <a:t>2-</a:t>
            </a:r>
            <a:r>
              <a:rPr lang="zh-CN" altLang="en-US" sz="3200"/>
              <a:t>项集</a:t>
            </a:r>
            <a:r>
              <a:rPr lang="zh-CN" altLang="en-US" sz="3200">
                <a:sym typeface="+mn-ea"/>
              </a:rPr>
              <a:t>的集合</a:t>
            </a:r>
            <a:endParaRPr lang="zh-CN" altLang="en-US" sz="3200"/>
          </a:p>
        </p:txBody>
      </p:sp>
      <p:sp>
        <p:nvSpPr>
          <p:cNvPr id="9" name="文本框 8"/>
          <p:cNvSpPr txBox="1"/>
          <p:nvPr/>
        </p:nvSpPr>
        <p:spPr>
          <a:xfrm>
            <a:off x="6989445" y="911225"/>
            <a:ext cx="3933825" cy="829945"/>
          </a:xfrm>
          <a:prstGeom prst="rect">
            <a:avLst/>
          </a:prstGeom>
          <a:noFill/>
        </p:spPr>
        <p:txBody>
          <a:bodyPr wrap="square" rtlCol="0">
            <a:spAutoFit/>
          </a:bodyPr>
          <a:p>
            <a:r>
              <a:rPr lang="zh-CN" altLang="en-US" sz="2400"/>
              <a:t>有哪些单一商品频繁出现在交易记录里？</a:t>
            </a:r>
            <a:endParaRPr lang="zh-CN" altLang="en-US" sz="2400"/>
          </a:p>
        </p:txBody>
      </p:sp>
      <p:sp>
        <p:nvSpPr>
          <p:cNvPr id="10" name="文本框 9"/>
          <p:cNvSpPr txBox="1"/>
          <p:nvPr/>
        </p:nvSpPr>
        <p:spPr>
          <a:xfrm>
            <a:off x="7149465" y="2388870"/>
            <a:ext cx="3933825" cy="829945"/>
          </a:xfrm>
          <a:prstGeom prst="rect">
            <a:avLst/>
          </a:prstGeom>
          <a:noFill/>
        </p:spPr>
        <p:txBody>
          <a:bodyPr wrap="square" rtlCol="0">
            <a:spAutoFit/>
          </a:bodyPr>
          <a:p>
            <a:r>
              <a:rPr lang="zh-CN" altLang="en-US" sz="2400"/>
              <a:t>有哪些两件商品的组合频繁出现在交易记录里？</a:t>
            </a:r>
            <a:endParaRPr lang="zh-CN" altLang="en-US" sz="2400"/>
          </a:p>
        </p:txBody>
      </p:sp>
      <p:sp>
        <p:nvSpPr>
          <p:cNvPr id="11" name="文本框 10"/>
          <p:cNvSpPr txBox="1"/>
          <p:nvPr/>
        </p:nvSpPr>
        <p:spPr>
          <a:xfrm>
            <a:off x="3642995" y="3205480"/>
            <a:ext cx="2082165" cy="398780"/>
          </a:xfrm>
          <a:prstGeom prst="rect">
            <a:avLst/>
          </a:prstGeom>
          <a:noFill/>
        </p:spPr>
        <p:txBody>
          <a:bodyPr wrap="square" rtlCol="0">
            <a:spAutoFit/>
          </a:bodyPr>
          <a:p>
            <a:r>
              <a:rPr lang="zh-CN" altLang="en-US" sz="2000" b="1"/>
              <a:t>。。。。。</a:t>
            </a:r>
            <a:endParaRPr lang="zh-CN" altLang="en-US" sz="2000" b="1"/>
          </a:p>
        </p:txBody>
      </p:sp>
      <p:sp>
        <p:nvSpPr>
          <p:cNvPr id="12" name="下箭头 11"/>
          <p:cNvSpPr/>
          <p:nvPr/>
        </p:nvSpPr>
        <p:spPr>
          <a:xfrm>
            <a:off x="4141470" y="3617595"/>
            <a:ext cx="676275" cy="4984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椭圆 12"/>
          <p:cNvSpPr/>
          <p:nvPr/>
        </p:nvSpPr>
        <p:spPr>
          <a:xfrm>
            <a:off x="2980690" y="4116070"/>
            <a:ext cx="2997835" cy="97917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p>
            <a:pPr algn="ctr"/>
            <a:r>
              <a:rPr lang="zh-CN" altLang="en-US" sz="2800"/>
              <a:t>频繁 </a:t>
            </a:r>
            <a:r>
              <a:rPr lang="en-US" altLang="zh-CN" sz="2800"/>
              <a:t>k-1-</a:t>
            </a:r>
            <a:r>
              <a:rPr lang="zh-CN" altLang="en-US" sz="2800"/>
              <a:t>项集</a:t>
            </a:r>
            <a:r>
              <a:rPr lang="zh-CN" altLang="en-US" sz="2800">
                <a:sym typeface="+mn-ea"/>
              </a:rPr>
              <a:t>的集合</a:t>
            </a:r>
            <a:endParaRPr lang="zh-CN" altLang="en-US" sz="2800"/>
          </a:p>
        </p:txBody>
      </p:sp>
      <p:sp>
        <p:nvSpPr>
          <p:cNvPr id="14" name="下箭头 13"/>
          <p:cNvSpPr/>
          <p:nvPr/>
        </p:nvSpPr>
        <p:spPr>
          <a:xfrm>
            <a:off x="4141470" y="5095240"/>
            <a:ext cx="676275" cy="2673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椭圆 14"/>
          <p:cNvSpPr/>
          <p:nvPr/>
        </p:nvSpPr>
        <p:spPr>
          <a:xfrm>
            <a:off x="2981325" y="5362575"/>
            <a:ext cx="2997835" cy="97917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p>
            <a:pPr algn="ctr"/>
            <a:r>
              <a:rPr lang="zh-CN" altLang="en-US" sz="2800"/>
              <a:t>频繁 </a:t>
            </a:r>
            <a:r>
              <a:rPr lang="en-US" altLang="zh-CN" sz="2800"/>
              <a:t>k-</a:t>
            </a:r>
            <a:r>
              <a:rPr lang="zh-CN" altLang="en-US" sz="2800"/>
              <a:t>项集</a:t>
            </a:r>
            <a:r>
              <a:rPr lang="zh-CN" altLang="en-US" sz="2800">
                <a:sym typeface="+mn-ea"/>
              </a:rPr>
              <a:t>的集合</a:t>
            </a:r>
            <a:endParaRPr lang="zh-CN" altLang="en-US" sz="2800"/>
          </a:p>
        </p:txBody>
      </p:sp>
      <p:sp>
        <p:nvSpPr>
          <p:cNvPr id="16" name="文本框 15"/>
          <p:cNvSpPr txBox="1"/>
          <p:nvPr/>
        </p:nvSpPr>
        <p:spPr>
          <a:xfrm>
            <a:off x="7650480" y="3229610"/>
            <a:ext cx="2082165" cy="398780"/>
          </a:xfrm>
          <a:prstGeom prst="rect">
            <a:avLst/>
          </a:prstGeom>
          <a:noFill/>
        </p:spPr>
        <p:txBody>
          <a:bodyPr wrap="square" rtlCol="0">
            <a:spAutoFit/>
          </a:bodyPr>
          <a:p>
            <a:r>
              <a:rPr lang="zh-CN" altLang="en-US" sz="2000" b="1"/>
              <a:t>。。。。。</a:t>
            </a:r>
            <a:endParaRPr lang="zh-CN" altLang="en-US" sz="2000" b="1"/>
          </a:p>
        </p:txBody>
      </p:sp>
      <p:sp>
        <p:nvSpPr>
          <p:cNvPr id="17" name="文本框 16"/>
          <p:cNvSpPr txBox="1"/>
          <p:nvPr/>
        </p:nvSpPr>
        <p:spPr>
          <a:xfrm>
            <a:off x="7149465" y="4116070"/>
            <a:ext cx="3933825" cy="829945"/>
          </a:xfrm>
          <a:prstGeom prst="rect">
            <a:avLst/>
          </a:prstGeom>
          <a:noFill/>
        </p:spPr>
        <p:txBody>
          <a:bodyPr wrap="square" rtlCol="0">
            <a:spAutoFit/>
          </a:bodyPr>
          <a:p>
            <a:r>
              <a:rPr lang="zh-CN" altLang="en-US" sz="2400"/>
              <a:t>有哪些</a:t>
            </a:r>
            <a:r>
              <a:rPr lang="en-US" altLang="zh-CN" sz="2400"/>
              <a:t>k-1</a:t>
            </a:r>
            <a:r>
              <a:rPr lang="zh-CN" altLang="en-US" sz="2400"/>
              <a:t>件商品的组合频繁出现在交易记录里？</a:t>
            </a:r>
            <a:endParaRPr lang="zh-CN" altLang="en-US" sz="2400"/>
          </a:p>
        </p:txBody>
      </p:sp>
      <p:sp>
        <p:nvSpPr>
          <p:cNvPr id="19" name="文本框 18"/>
          <p:cNvSpPr txBox="1"/>
          <p:nvPr/>
        </p:nvSpPr>
        <p:spPr>
          <a:xfrm>
            <a:off x="7329805" y="5362575"/>
            <a:ext cx="3933825" cy="829945"/>
          </a:xfrm>
          <a:prstGeom prst="rect">
            <a:avLst/>
          </a:prstGeom>
          <a:noFill/>
        </p:spPr>
        <p:txBody>
          <a:bodyPr wrap="square" rtlCol="0">
            <a:spAutoFit/>
          </a:bodyPr>
          <a:p>
            <a:r>
              <a:rPr lang="zh-CN" altLang="en-US" sz="2400"/>
              <a:t>有哪些</a:t>
            </a:r>
            <a:r>
              <a:rPr lang="en-US" altLang="zh-CN" sz="2400"/>
              <a:t>k</a:t>
            </a:r>
            <a:r>
              <a:rPr lang="zh-CN" altLang="en-US" sz="2400"/>
              <a:t>件商品的组合频繁出现在交易记录里？</a:t>
            </a:r>
            <a:endParaRPr lang="zh-CN" alt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73803" y="571130"/>
            <a:ext cx="8915400" cy="3777622"/>
          </a:xfrm>
        </p:spPr>
        <p:txBody>
          <a:bodyPr/>
          <a:lstStyle/>
          <a:p>
            <a:r>
              <a:rPr lang="en-US" altLang="zh-CN" sz="2400" b="1" dirty="0"/>
              <a:t>2</a:t>
            </a:r>
            <a:r>
              <a:rPr lang="zh-CN" altLang="zh-CN" sz="2400" b="1" dirty="0"/>
              <a:t>、</a:t>
            </a:r>
            <a:r>
              <a:rPr lang="en-US" altLang="zh-CN" sz="2400" b="1" dirty="0" err="1"/>
              <a:t>Apriori</a:t>
            </a:r>
            <a:r>
              <a:rPr lang="zh-CN" altLang="zh-CN" sz="2400" b="1" dirty="0"/>
              <a:t>算法产生频繁项集的过程</a:t>
            </a:r>
            <a:endParaRPr lang="zh-CN" altLang="zh-CN" sz="2400" dirty="0"/>
          </a:p>
          <a:p>
            <a:r>
              <a:rPr lang="zh-CN" altLang="zh-CN" sz="2400" dirty="0"/>
              <a:t>产生频繁项集的过程主要分为</a:t>
            </a:r>
            <a:r>
              <a:rPr lang="zh-CN" altLang="zh-CN" sz="2400" b="1" dirty="0">
                <a:solidFill>
                  <a:schemeClr val="accent1"/>
                </a:solidFill>
                <a:effectLst>
                  <a:outerShdw blurRad="38100" dist="25400" dir="5400000" algn="ctr" rotWithShape="0">
                    <a:srgbClr val="6E747A">
                      <a:alpha val="43000"/>
                    </a:srgbClr>
                  </a:outerShdw>
                </a:effectLst>
              </a:rPr>
              <a:t>连接和剪枝</a:t>
            </a:r>
            <a:r>
              <a:rPr lang="zh-CN" altLang="zh-CN" sz="2400" dirty="0"/>
              <a:t>两步，如下所示</a:t>
            </a:r>
            <a:r>
              <a:rPr lang="zh-CN" altLang="zh-CN" sz="2000" dirty="0"/>
              <a:t>。</a:t>
            </a:r>
            <a:endParaRPr lang="zh-CN" altLang="zh-CN" sz="2000" dirty="0"/>
          </a:p>
          <a:p>
            <a:endParaRPr lang="zh-CN" altLang="zh-CN" sz="2000" dirty="0"/>
          </a:p>
        </p:txBody>
      </p:sp>
      <p:pic>
        <p:nvPicPr>
          <p:cNvPr id="4" name="图片 3"/>
          <p:cNvPicPr>
            <a:picLocks noChangeAspect="1"/>
          </p:cNvPicPr>
          <p:nvPr/>
        </p:nvPicPr>
        <p:blipFill>
          <a:blip r:embed="rId1"/>
          <a:stretch>
            <a:fillRect/>
          </a:stretch>
        </p:blipFill>
        <p:spPr>
          <a:xfrm>
            <a:off x="2473960" y="1532890"/>
            <a:ext cx="8621395" cy="51784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椭圆 3"/>
          <p:cNvSpPr/>
          <p:nvPr/>
        </p:nvSpPr>
        <p:spPr>
          <a:xfrm>
            <a:off x="6794500" y="4242435"/>
            <a:ext cx="2545080" cy="2064385"/>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800" b="1">
                <a:solidFill>
                  <a:schemeClr val="tx1"/>
                </a:solidFill>
              </a:rPr>
              <a:t>由连接生成的集合</a:t>
            </a:r>
            <a:r>
              <a:rPr lang="en-US" altLang="zh-CN" sz="2800" b="1" i="1">
                <a:solidFill>
                  <a:schemeClr val="tx1"/>
                </a:solidFill>
              </a:rPr>
              <a:t>C</a:t>
            </a:r>
            <a:r>
              <a:rPr lang="en-US" altLang="zh-CN" sz="2800" b="1" i="1" baseline="-25000">
                <a:solidFill>
                  <a:schemeClr val="tx1"/>
                </a:solidFill>
              </a:rPr>
              <a:t>k</a:t>
            </a:r>
            <a:endParaRPr lang="en-US" altLang="zh-CN" sz="2800" b="1" i="1" baseline="-25000">
              <a:solidFill>
                <a:schemeClr val="tx1"/>
              </a:solidFill>
            </a:endParaRPr>
          </a:p>
        </p:txBody>
      </p:sp>
      <p:sp>
        <p:nvSpPr>
          <p:cNvPr id="5" name="椭圆 4"/>
          <p:cNvSpPr/>
          <p:nvPr/>
        </p:nvSpPr>
        <p:spPr>
          <a:xfrm>
            <a:off x="2560955" y="4176395"/>
            <a:ext cx="2633980" cy="204724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2800" b="1">
                <a:solidFill>
                  <a:schemeClr val="tx1"/>
                </a:solidFill>
              </a:rPr>
              <a:t>频繁</a:t>
            </a:r>
            <a:r>
              <a:rPr lang="en-US" altLang="zh-CN" sz="2800" b="1">
                <a:solidFill>
                  <a:schemeClr val="tx1"/>
                </a:solidFill>
              </a:rPr>
              <a:t>K-1</a:t>
            </a:r>
            <a:r>
              <a:rPr lang="zh-CN" altLang="en-US" sz="2800" b="1">
                <a:solidFill>
                  <a:schemeClr val="tx1"/>
                </a:solidFill>
              </a:rPr>
              <a:t>项集的集合（即</a:t>
            </a:r>
            <a:r>
              <a:rPr lang="en-US" altLang="zh-CN" sz="2800" b="1">
                <a:solidFill>
                  <a:schemeClr val="tx1"/>
                </a:solidFill>
              </a:rPr>
              <a:t>L</a:t>
            </a:r>
            <a:r>
              <a:rPr lang="en-US" altLang="zh-CN" sz="2800" b="1" baseline="-25000">
                <a:solidFill>
                  <a:schemeClr val="tx1"/>
                </a:solidFill>
              </a:rPr>
              <a:t>k-1</a:t>
            </a:r>
            <a:r>
              <a:rPr lang="zh-CN" altLang="en-US" sz="2800" b="1">
                <a:solidFill>
                  <a:schemeClr val="tx1"/>
                </a:solidFill>
              </a:rPr>
              <a:t>）</a:t>
            </a:r>
            <a:endParaRPr lang="zh-CN" altLang="en-US" sz="2800" b="1" i="1" baseline="-25000">
              <a:solidFill>
                <a:schemeClr val="tx1"/>
              </a:solidFill>
            </a:endParaRPr>
          </a:p>
        </p:txBody>
      </p:sp>
      <p:sp>
        <p:nvSpPr>
          <p:cNvPr id="6" name="右箭头 5"/>
          <p:cNvSpPr/>
          <p:nvPr/>
        </p:nvSpPr>
        <p:spPr>
          <a:xfrm>
            <a:off x="5194935" y="5052060"/>
            <a:ext cx="1600200" cy="4451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5584190" y="5542915"/>
            <a:ext cx="1352550" cy="460375"/>
          </a:xfrm>
          <a:prstGeom prst="rect">
            <a:avLst/>
          </a:prstGeom>
          <a:noFill/>
        </p:spPr>
        <p:txBody>
          <a:bodyPr wrap="square" rtlCol="0">
            <a:spAutoFit/>
          </a:bodyPr>
          <a:p>
            <a:r>
              <a:rPr lang="zh-CN" altLang="en-US" sz="2400" b="1"/>
              <a:t>连接</a:t>
            </a:r>
            <a:endParaRPr lang="zh-CN" altLang="en-US" sz="2400" b="1"/>
          </a:p>
        </p:txBody>
      </p:sp>
      <p:sp>
        <p:nvSpPr>
          <p:cNvPr id="8" name="椭圆 7"/>
          <p:cNvSpPr/>
          <p:nvPr/>
        </p:nvSpPr>
        <p:spPr>
          <a:xfrm>
            <a:off x="2667635" y="922655"/>
            <a:ext cx="394970"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a:t>1</a:t>
            </a:r>
            <a:endParaRPr lang="en-US" altLang="zh-CN"/>
          </a:p>
        </p:txBody>
      </p:sp>
      <p:sp>
        <p:nvSpPr>
          <p:cNvPr id="9" name="椭圆 8"/>
          <p:cNvSpPr/>
          <p:nvPr/>
        </p:nvSpPr>
        <p:spPr>
          <a:xfrm>
            <a:off x="3316605" y="922655"/>
            <a:ext cx="394970"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a:t>2</a:t>
            </a:r>
            <a:endParaRPr lang="en-US" altLang="zh-CN"/>
          </a:p>
        </p:txBody>
      </p:sp>
      <p:sp>
        <p:nvSpPr>
          <p:cNvPr id="10" name="椭圆 9"/>
          <p:cNvSpPr/>
          <p:nvPr/>
        </p:nvSpPr>
        <p:spPr>
          <a:xfrm>
            <a:off x="4160520" y="922655"/>
            <a:ext cx="595630"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1200"/>
              <a:t>k-3</a:t>
            </a:r>
            <a:endParaRPr lang="en-US" altLang="zh-CN" sz="1200"/>
          </a:p>
        </p:txBody>
      </p:sp>
      <p:sp>
        <p:nvSpPr>
          <p:cNvPr id="11" name="椭圆 10"/>
          <p:cNvSpPr/>
          <p:nvPr/>
        </p:nvSpPr>
        <p:spPr>
          <a:xfrm>
            <a:off x="4803775" y="922655"/>
            <a:ext cx="648335"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1400"/>
              <a:t>k-2</a:t>
            </a:r>
            <a:endParaRPr lang="en-US" altLang="zh-CN" sz="1400"/>
          </a:p>
        </p:txBody>
      </p:sp>
      <p:sp>
        <p:nvSpPr>
          <p:cNvPr id="12" name="椭圆 11"/>
          <p:cNvSpPr/>
          <p:nvPr/>
        </p:nvSpPr>
        <p:spPr>
          <a:xfrm>
            <a:off x="2683510" y="1814830"/>
            <a:ext cx="394970"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a:t>1</a:t>
            </a:r>
            <a:endParaRPr lang="en-US" altLang="zh-CN"/>
          </a:p>
        </p:txBody>
      </p:sp>
      <p:sp>
        <p:nvSpPr>
          <p:cNvPr id="13" name="椭圆 12"/>
          <p:cNvSpPr/>
          <p:nvPr/>
        </p:nvSpPr>
        <p:spPr>
          <a:xfrm>
            <a:off x="3316605" y="1814830"/>
            <a:ext cx="394970"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a:t>2</a:t>
            </a:r>
            <a:endParaRPr lang="en-US" altLang="zh-CN"/>
          </a:p>
        </p:txBody>
      </p:sp>
      <p:sp>
        <p:nvSpPr>
          <p:cNvPr id="14" name="椭圆 13"/>
          <p:cNvSpPr/>
          <p:nvPr/>
        </p:nvSpPr>
        <p:spPr>
          <a:xfrm>
            <a:off x="4160520" y="1814830"/>
            <a:ext cx="595630"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1200"/>
              <a:t>k-3</a:t>
            </a:r>
            <a:endParaRPr lang="en-US" altLang="zh-CN" sz="1200"/>
          </a:p>
        </p:txBody>
      </p:sp>
      <p:sp>
        <p:nvSpPr>
          <p:cNvPr id="15" name="椭圆 14"/>
          <p:cNvSpPr/>
          <p:nvPr/>
        </p:nvSpPr>
        <p:spPr>
          <a:xfrm>
            <a:off x="4803775" y="1814830"/>
            <a:ext cx="648335"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1400"/>
              <a:t>k-2</a:t>
            </a:r>
            <a:endParaRPr lang="en-US" altLang="zh-CN" sz="1400"/>
          </a:p>
        </p:txBody>
      </p:sp>
      <p:sp>
        <p:nvSpPr>
          <p:cNvPr id="16" name="文本框 15"/>
          <p:cNvSpPr txBox="1"/>
          <p:nvPr/>
        </p:nvSpPr>
        <p:spPr>
          <a:xfrm>
            <a:off x="8394700" y="1273175"/>
            <a:ext cx="469900" cy="1198880"/>
          </a:xfrm>
          <a:prstGeom prst="rect">
            <a:avLst/>
          </a:prstGeom>
          <a:noFill/>
        </p:spPr>
        <p:txBody>
          <a:bodyPr wrap="square" rtlCol="0">
            <a:spAutoFit/>
          </a:bodyPr>
          <a:p>
            <a:r>
              <a:rPr lang="en-US" altLang="zh-CN" b="1"/>
              <a:t>...</a:t>
            </a:r>
            <a:endParaRPr lang="en-US" altLang="zh-CN" b="1"/>
          </a:p>
          <a:p>
            <a:endParaRPr lang="en-US" altLang="zh-CN" b="1"/>
          </a:p>
          <a:p>
            <a:endParaRPr lang="en-US" altLang="zh-CN" b="1"/>
          </a:p>
          <a:p>
            <a:endParaRPr lang="en-US" altLang="zh-CN" b="1"/>
          </a:p>
        </p:txBody>
      </p:sp>
      <p:sp>
        <p:nvSpPr>
          <p:cNvPr id="18" name="椭圆 17"/>
          <p:cNvSpPr/>
          <p:nvPr/>
        </p:nvSpPr>
        <p:spPr>
          <a:xfrm>
            <a:off x="5594350" y="887095"/>
            <a:ext cx="408940" cy="4267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9" name="椭圆 18"/>
          <p:cNvSpPr/>
          <p:nvPr/>
        </p:nvSpPr>
        <p:spPr>
          <a:xfrm>
            <a:off x="5594350" y="1779270"/>
            <a:ext cx="408940" cy="426720"/>
          </a:xfrm>
          <a:prstGeom prst="ellipse">
            <a:avLst/>
          </a:prstGeom>
          <a:solidFill>
            <a:srgbClr val="00B0F0"/>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20" name="右箭头 19"/>
          <p:cNvSpPr/>
          <p:nvPr/>
        </p:nvSpPr>
        <p:spPr>
          <a:xfrm>
            <a:off x="6100445" y="1112520"/>
            <a:ext cx="1049655" cy="7480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文本框 20"/>
          <p:cNvSpPr txBox="1"/>
          <p:nvPr/>
        </p:nvSpPr>
        <p:spPr>
          <a:xfrm>
            <a:off x="3166110" y="2733675"/>
            <a:ext cx="1637665" cy="521970"/>
          </a:xfrm>
          <a:prstGeom prst="rect">
            <a:avLst/>
          </a:prstGeom>
          <a:noFill/>
        </p:spPr>
        <p:txBody>
          <a:bodyPr wrap="square" rtlCol="0">
            <a:spAutoFit/>
          </a:bodyPr>
          <a:p>
            <a:r>
              <a:rPr lang="zh-CN" altLang="en-US" sz="2800" b="1"/>
              <a:t>共</a:t>
            </a:r>
            <a:r>
              <a:rPr lang="en-US" altLang="zh-CN" sz="2800" b="1"/>
              <a:t>k-2</a:t>
            </a:r>
            <a:r>
              <a:rPr lang="zh-CN" altLang="en-US" sz="2800" b="1"/>
              <a:t>项</a:t>
            </a:r>
            <a:endParaRPr lang="zh-CN" altLang="en-US" sz="2800" b="1"/>
          </a:p>
        </p:txBody>
      </p:sp>
      <p:sp>
        <p:nvSpPr>
          <p:cNvPr id="22" name="右大括号 21"/>
          <p:cNvSpPr/>
          <p:nvPr/>
        </p:nvSpPr>
        <p:spPr>
          <a:xfrm rot="5400000">
            <a:off x="3896360" y="1421765"/>
            <a:ext cx="177800" cy="22783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3" name="椭圆 22"/>
          <p:cNvSpPr/>
          <p:nvPr/>
        </p:nvSpPr>
        <p:spPr>
          <a:xfrm>
            <a:off x="7350760" y="1308735"/>
            <a:ext cx="394970"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a:t>1</a:t>
            </a:r>
            <a:endParaRPr lang="en-US" altLang="zh-CN"/>
          </a:p>
        </p:txBody>
      </p:sp>
      <p:sp>
        <p:nvSpPr>
          <p:cNvPr id="24" name="椭圆 23"/>
          <p:cNvSpPr/>
          <p:nvPr/>
        </p:nvSpPr>
        <p:spPr>
          <a:xfrm>
            <a:off x="7999730" y="1308735"/>
            <a:ext cx="394970"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a:t>2</a:t>
            </a:r>
            <a:endParaRPr lang="en-US" altLang="zh-CN"/>
          </a:p>
        </p:txBody>
      </p:sp>
      <p:sp>
        <p:nvSpPr>
          <p:cNvPr id="25" name="椭圆 24"/>
          <p:cNvSpPr/>
          <p:nvPr/>
        </p:nvSpPr>
        <p:spPr>
          <a:xfrm>
            <a:off x="8843645" y="1308735"/>
            <a:ext cx="595630"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1200"/>
              <a:t>k-3</a:t>
            </a:r>
            <a:endParaRPr lang="en-US" altLang="zh-CN" sz="1200"/>
          </a:p>
        </p:txBody>
      </p:sp>
      <p:sp>
        <p:nvSpPr>
          <p:cNvPr id="26" name="椭圆 25"/>
          <p:cNvSpPr/>
          <p:nvPr/>
        </p:nvSpPr>
        <p:spPr>
          <a:xfrm>
            <a:off x="9486900" y="1308735"/>
            <a:ext cx="648335" cy="391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1400"/>
              <a:t>k-2</a:t>
            </a:r>
            <a:endParaRPr lang="en-US" altLang="zh-CN" sz="1400"/>
          </a:p>
        </p:txBody>
      </p:sp>
      <p:sp>
        <p:nvSpPr>
          <p:cNvPr id="27" name="椭圆 26"/>
          <p:cNvSpPr/>
          <p:nvPr/>
        </p:nvSpPr>
        <p:spPr>
          <a:xfrm>
            <a:off x="10277475" y="1273175"/>
            <a:ext cx="408940" cy="4267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28" name="文本框 27"/>
          <p:cNvSpPr txBox="1"/>
          <p:nvPr/>
        </p:nvSpPr>
        <p:spPr>
          <a:xfrm>
            <a:off x="3838575" y="1014095"/>
            <a:ext cx="469900" cy="1198880"/>
          </a:xfrm>
          <a:prstGeom prst="rect">
            <a:avLst/>
          </a:prstGeom>
          <a:noFill/>
        </p:spPr>
        <p:txBody>
          <a:bodyPr wrap="square" rtlCol="0">
            <a:spAutoFit/>
          </a:bodyPr>
          <a:p>
            <a:r>
              <a:rPr lang="en-US" altLang="zh-CN" b="1"/>
              <a:t>...</a:t>
            </a:r>
            <a:endParaRPr lang="en-US" altLang="zh-CN" b="1"/>
          </a:p>
          <a:p>
            <a:endParaRPr lang="en-US" altLang="zh-CN" b="1"/>
          </a:p>
          <a:p>
            <a:endParaRPr lang="en-US" altLang="zh-CN" b="1"/>
          </a:p>
          <a:p>
            <a:r>
              <a:rPr lang="en-US" altLang="zh-CN" b="1"/>
              <a:t>...</a:t>
            </a:r>
            <a:endParaRPr lang="en-US" altLang="zh-CN" b="1"/>
          </a:p>
        </p:txBody>
      </p:sp>
      <p:sp>
        <p:nvSpPr>
          <p:cNvPr id="29" name="椭圆 28"/>
          <p:cNvSpPr/>
          <p:nvPr/>
        </p:nvSpPr>
        <p:spPr>
          <a:xfrm>
            <a:off x="10883265" y="1273175"/>
            <a:ext cx="408940" cy="426720"/>
          </a:xfrm>
          <a:prstGeom prst="ellipse">
            <a:avLst/>
          </a:prstGeom>
          <a:solidFill>
            <a:srgbClr val="00B0F0"/>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31" name="文本框 30"/>
          <p:cNvSpPr txBox="1"/>
          <p:nvPr/>
        </p:nvSpPr>
        <p:spPr>
          <a:xfrm>
            <a:off x="9569450" y="4292600"/>
            <a:ext cx="2622550" cy="1814830"/>
          </a:xfrm>
          <a:prstGeom prst="rect">
            <a:avLst/>
          </a:prstGeom>
          <a:noFill/>
        </p:spPr>
        <p:txBody>
          <a:bodyPr wrap="square" rtlCol="0">
            <a:spAutoFit/>
          </a:bodyPr>
          <a:p>
            <a:r>
              <a:rPr lang="zh-CN" sz="2800">
                <a:sym typeface="+mn-ea"/>
              </a:rPr>
              <a:t>频繁</a:t>
            </a:r>
            <a:r>
              <a:rPr lang="en-US" altLang="zh-CN" sz="2800">
                <a:sym typeface="+mn-ea"/>
              </a:rPr>
              <a:t>K</a:t>
            </a:r>
            <a:r>
              <a:rPr lang="zh-CN" altLang="en-US" sz="2800">
                <a:sym typeface="+mn-ea"/>
              </a:rPr>
              <a:t>项集的集合</a:t>
            </a:r>
            <a:r>
              <a:rPr lang="zh-CN" altLang="en-US" sz="2800"/>
              <a:t>一定是</a:t>
            </a:r>
            <a:r>
              <a:rPr lang="en-US" altLang="zh-CN" sz="2800" b="1" i="1">
                <a:sym typeface="+mn-ea"/>
              </a:rPr>
              <a:t>C</a:t>
            </a:r>
            <a:r>
              <a:rPr lang="en-US" altLang="zh-CN" sz="2800" b="1" i="1" baseline="-25000">
                <a:sym typeface="+mn-ea"/>
              </a:rPr>
              <a:t>k</a:t>
            </a:r>
            <a:endParaRPr lang="en-US" altLang="zh-CN" sz="2800" b="1" i="1" baseline="-25000">
              <a:solidFill>
                <a:schemeClr val="tx1"/>
              </a:solidFill>
            </a:endParaRPr>
          </a:p>
          <a:p>
            <a:r>
              <a:rPr lang="zh-CN" altLang="en-US" sz="2800"/>
              <a:t>的子集，思考为什么？</a:t>
            </a:r>
            <a:endParaRPr lang="zh-CN" altLang="en-US"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5" name="内容占位符 4"/>
          <p:cNvPicPr>
            <a:picLocks noChangeAspect="1"/>
          </p:cNvPicPr>
          <p:nvPr>
            <p:ph idx="1"/>
          </p:nvPr>
        </p:nvPicPr>
        <p:blipFill>
          <a:blip r:embed="rId1"/>
          <a:stretch>
            <a:fillRect/>
          </a:stretch>
        </p:blipFill>
        <p:spPr>
          <a:xfrm>
            <a:off x="1620520" y="1681480"/>
            <a:ext cx="10275570" cy="1353185"/>
          </a:xfrm>
          <a:prstGeom prst="rect">
            <a:avLst/>
          </a:prstGeom>
        </p:spPr>
      </p:pic>
      <p:sp>
        <p:nvSpPr>
          <p:cNvPr id="4" name="椭圆 3"/>
          <p:cNvSpPr/>
          <p:nvPr/>
        </p:nvSpPr>
        <p:spPr>
          <a:xfrm>
            <a:off x="1240790" y="3592830"/>
            <a:ext cx="2811780" cy="2064385"/>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800" b="1">
                <a:solidFill>
                  <a:schemeClr val="tx1"/>
                </a:solidFill>
              </a:rPr>
              <a:t>由连接生成的集合</a:t>
            </a:r>
            <a:r>
              <a:rPr lang="en-US" altLang="zh-CN" sz="2800" b="1" i="1">
                <a:solidFill>
                  <a:schemeClr val="tx1"/>
                </a:solidFill>
              </a:rPr>
              <a:t>C</a:t>
            </a:r>
            <a:r>
              <a:rPr lang="en-US" altLang="zh-CN" sz="2800" b="1" i="1" baseline="-25000">
                <a:solidFill>
                  <a:schemeClr val="tx1"/>
                </a:solidFill>
              </a:rPr>
              <a:t>k</a:t>
            </a:r>
            <a:endParaRPr lang="en-US" altLang="zh-CN" sz="2800" b="1" i="1" baseline="-25000">
              <a:solidFill>
                <a:schemeClr val="tx1"/>
              </a:solidFill>
            </a:endParaRPr>
          </a:p>
        </p:txBody>
      </p:sp>
      <p:sp>
        <p:nvSpPr>
          <p:cNvPr id="6" name="右箭头 5"/>
          <p:cNvSpPr/>
          <p:nvPr/>
        </p:nvSpPr>
        <p:spPr>
          <a:xfrm>
            <a:off x="4052570" y="4402455"/>
            <a:ext cx="1101725" cy="4273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椭圆 14"/>
          <p:cNvSpPr/>
          <p:nvPr/>
        </p:nvSpPr>
        <p:spPr>
          <a:xfrm>
            <a:off x="9147175" y="3765550"/>
            <a:ext cx="2357120" cy="1602105"/>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p>
            <a:pPr algn="ctr"/>
            <a:r>
              <a:rPr lang="zh-CN" altLang="en-US" sz="2800"/>
              <a:t>频繁 </a:t>
            </a:r>
            <a:r>
              <a:rPr lang="en-US" altLang="zh-CN" sz="2800"/>
              <a:t>k-</a:t>
            </a:r>
            <a:r>
              <a:rPr lang="zh-CN" altLang="en-US" sz="2800"/>
              <a:t>项集</a:t>
            </a:r>
            <a:endParaRPr lang="zh-CN" altLang="en-US" sz="2800"/>
          </a:p>
        </p:txBody>
      </p:sp>
      <p:sp>
        <p:nvSpPr>
          <p:cNvPr id="7" name="文本框 6"/>
          <p:cNvSpPr txBox="1"/>
          <p:nvPr/>
        </p:nvSpPr>
        <p:spPr>
          <a:xfrm>
            <a:off x="4052570" y="5080000"/>
            <a:ext cx="1352550" cy="460375"/>
          </a:xfrm>
          <a:prstGeom prst="rect">
            <a:avLst/>
          </a:prstGeom>
          <a:noFill/>
        </p:spPr>
        <p:txBody>
          <a:bodyPr wrap="square" rtlCol="0">
            <a:spAutoFit/>
          </a:bodyPr>
          <a:p>
            <a:r>
              <a:rPr lang="zh-CN" altLang="en-US" sz="2400" b="1"/>
              <a:t>剪枝</a:t>
            </a:r>
            <a:endParaRPr lang="zh-CN" altLang="en-US" sz="2400" b="1"/>
          </a:p>
        </p:txBody>
      </p:sp>
      <p:sp>
        <p:nvSpPr>
          <p:cNvPr id="3" name="椭圆 2"/>
          <p:cNvSpPr/>
          <p:nvPr/>
        </p:nvSpPr>
        <p:spPr>
          <a:xfrm>
            <a:off x="5154295" y="3592830"/>
            <a:ext cx="2260600" cy="1947545"/>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800" b="1" i="1">
                <a:solidFill>
                  <a:schemeClr val="tx1"/>
                </a:solidFill>
              </a:rPr>
              <a:t>C</a:t>
            </a:r>
            <a:r>
              <a:rPr lang="en-US" altLang="zh-CN" sz="2800" b="1" i="1" baseline="-25000">
                <a:solidFill>
                  <a:schemeClr val="tx1"/>
                </a:solidFill>
              </a:rPr>
              <a:t>k</a:t>
            </a:r>
            <a:endParaRPr lang="en-US" altLang="zh-CN" sz="2800" b="1" i="1" baseline="-25000">
              <a:solidFill>
                <a:schemeClr val="tx1"/>
              </a:solidFill>
            </a:endParaRPr>
          </a:p>
        </p:txBody>
      </p:sp>
      <p:sp>
        <p:nvSpPr>
          <p:cNvPr id="8" name="右箭头 7"/>
          <p:cNvSpPr/>
          <p:nvPr/>
        </p:nvSpPr>
        <p:spPr>
          <a:xfrm>
            <a:off x="7414895" y="4352925"/>
            <a:ext cx="173228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7794625" y="4907280"/>
            <a:ext cx="1352550" cy="829945"/>
          </a:xfrm>
          <a:prstGeom prst="rect">
            <a:avLst/>
          </a:prstGeom>
          <a:noFill/>
        </p:spPr>
        <p:txBody>
          <a:bodyPr wrap="square" rtlCol="0">
            <a:spAutoFit/>
          </a:bodyPr>
          <a:p>
            <a:r>
              <a:rPr lang="zh-CN" altLang="en-US" sz="2400" b="1"/>
              <a:t>支持度验证</a:t>
            </a:r>
            <a:endParaRPr lang="zh-CN" altLang="en-US" sz="240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037715" y="730885"/>
            <a:ext cx="9111615" cy="5723890"/>
          </a:xfrm>
        </p:spPr>
        <p:txBody>
          <a:bodyPr>
            <a:normAutofit fontScale="90000" lnSpcReduction="10000"/>
          </a:bodyPr>
          <a:lstStyle/>
          <a:p>
            <a:r>
              <a:rPr lang="en-US" altLang="zh-CN" sz="2800" b="1" dirty="0"/>
              <a:t>3</a:t>
            </a:r>
            <a:r>
              <a:rPr lang="zh-CN" altLang="zh-CN" sz="2800" b="1" dirty="0"/>
              <a:t>、</a:t>
            </a:r>
            <a:r>
              <a:rPr lang="en-US" altLang="zh-CN" sz="2800" b="1" dirty="0" err="1"/>
              <a:t>Apriori</a:t>
            </a:r>
            <a:r>
              <a:rPr lang="zh-CN" altLang="zh-CN" sz="2800" b="1" dirty="0"/>
              <a:t>算法的主要步骤</a:t>
            </a:r>
            <a:endParaRPr lang="en-US" altLang="zh-CN" sz="2800" b="1" dirty="0"/>
          </a:p>
          <a:p>
            <a:pPr marL="0" indent="0">
              <a:buNone/>
            </a:pPr>
            <a:endParaRPr lang="en-US" altLang="zh-CN" sz="2800" b="1" dirty="0"/>
          </a:p>
          <a:p>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1</a:t>
            </a:r>
            <a:r>
              <a:rPr lang="zh-CN" altLang="zh-CN" sz="2800" dirty="0">
                <a:latin typeface="楷体" panose="02010609060101010101" pitchFamily="49" charset="-122"/>
                <a:ea typeface="楷体" panose="02010609060101010101" pitchFamily="49" charset="-122"/>
              </a:rPr>
              <a:t>）扫描全部数据，产生候选</a:t>
            </a:r>
            <a:r>
              <a:rPr lang="en-US" altLang="zh-CN" sz="2800" dirty="0">
                <a:latin typeface="楷体" panose="02010609060101010101" pitchFamily="49" charset="-122"/>
                <a:ea typeface="楷体" panose="02010609060101010101" pitchFamily="49" charset="-122"/>
              </a:rPr>
              <a:t>1-</a:t>
            </a:r>
            <a:r>
              <a:rPr lang="zh-CN" altLang="zh-CN" sz="2800" dirty="0">
                <a:latin typeface="楷体" panose="02010609060101010101" pitchFamily="49" charset="-122"/>
                <a:ea typeface="楷体" panose="02010609060101010101" pitchFamily="49" charset="-122"/>
              </a:rPr>
              <a:t>项集的集合</a:t>
            </a:r>
            <a:r>
              <a:rPr lang="en-US" altLang="zh-CN" sz="2800" dirty="0">
                <a:latin typeface="楷体" panose="02010609060101010101" pitchFamily="49" charset="-122"/>
                <a:ea typeface="楷体" panose="02010609060101010101" pitchFamily="49" charset="-122"/>
              </a:rPr>
              <a:t>C</a:t>
            </a:r>
            <a:r>
              <a:rPr lang="en-US" altLang="zh-CN" sz="2800" baseline="-25000" dirty="0">
                <a:latin typeface="楷体" panose="02010609060101010101" pitchFamily="49" charset="-122"/>
                <a:ea typeface="楷体" panose="02010609060101010101" pitchFamily="49" charset="-122"/>
              </a:rPr>
              <a:t>1</a:t>
            </a:r>
            <a:r>
              <a:rPr lang="zh-CN" altLang="zh-CN" sz="2800" dirty="0">
                <a:latin typeface="楷体" panose="02010609060101010101" pitchFamily="49" charset="-122"/>
                <a:ea typeface="楷体" panose="02010609060101010101" pitchFamily="49" charset="-122"/>
              </a:rPr>
              <a:t>；</a:t>
            </a:r>
            <a:endParaRPr lang="zh-CN" altLang="zh-CN" sz="2800" dirty="0">
              <a:latin typeface="楷体" panose="02010609060101010101" pitchFamily="49" charset="-122"/>
              <a:ea typeface="楷体" panose="02010609060101010101" pitchFamily="49" charset="-122"/>
            </a:endParaRPr>
          </a:p>
          <a:p>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2</a:t>
            </a:r>
            <a:r>
              <a:rPr lang="zh-CN" altLang="zh-CN" sz="2800" dirty="0">
                <a:latin typeface="楷体" panose="02010609060101010101" pitchFamily="49" charset="-122"/>
                <a:ea typeface="楷体" panose="02010609060101010101" pitchFamily="49" charset="-122"/>
              </a:rPr>
              <a:t>）根据最小支持度，由候选</a:t>
            </a:r>
            <a:r>
              <a:rPr lang="en-US" altLang="zh-CN" sz="2800" dirty="0">
                <a:latin typeface="楷体" panose="02010609060101010101" pitchFamily="49" charset="-122"/>
                <a:ea typeface="楷体" panose="02010609060101010101" pitchFamily="49" charset="-122"/>
              </a:rPr>
              <a:t>1-</a:t>
            </a:r>
            <a:r>
              <a:rPr lang="zh-CN" altLang="zh-CN" sz="2800" dirty="0">
                <a:latin typeface="楷体" panose="02010609060101010101" pitchFamily="49" charset="-122"/>
                <a:ea typeface="楷体" panose="02010609060101010101" pitchFamily="49" charset="-122"/>
              </a:rPr>
              <a:t>项集的集合</a:t>
            </a:r>
            <a:r>
              <a:rPr lang="en-US" altLang="zh-CN" sz="2800" dirty="0">
                <a:latin typeface="楷体" panose="02010609060101010101" pitchFamily="49" charset="-122"/>
                <a:ea typeface="楷体" panose="02010609060101010101" pitchFamily="49" charset="-122"/>
              </a:rPr>
              <a:t>C</a:t>
            </a:r>
            <a:r>
              <a:rPr lang="en-US" altLang="zh-CN" sz="2800" baseline="-25000" dirty="0">
                <a:latin typeface="楷体" panose="02010609060101010101" pitchFamily="49" charset="-122"/>
                <a:ea typeface="楷体" panose="02010609060101010101" pitchFamily="49" charset="-122"/>
              </a:rPr>
              <a:t>1</a:t>
            </a:r>
            <a:r>
              <a:rPr lang="zh-CN" altLang="zh-CN" sz="2800" dirty="0">
                <a:latin typeface="楷体" panose="02010609060101010101" pitchFamily="49" charset="-122"/>
                <a:ea typeface="楷体" panose="02010609060101010101" pitchFamily="49" charset="-122"/>
              </a:rPr>
              <a:t>产生频繁</a:t>
            </a:r>
            <a:r>
              <a:rPr lang="en-US" altLang="zh-CN" sz="2800" dirty="0">
                <a:latin typeface="楷体" panose="02010609060101010101" pitchFamily="49" charset="-122"/>
                <a:ea typeface="楷体" panose="02010609060101010101" pitchFamily="49" charset="-122"/>
              </a:rPr>
              <a:t>1-</a:t>
            </a:r>
            <a:r>
              <a:rPr lang="zh-CN" altLang="zh-CN" sz="2800" dirty="0">
                <a:latin typeface="楷体" panose="02010609060101010101" pitchFamily="49" charset="-122"/>
                <a:ea typeface="楷体" panose="02010609060101010101" pitchFamily="49" charset="-122"/>
              </a:rPr>
              <a:t>项集的集合</a:t>
            </a:r>
            <a:r>
              <a:rPr lang="en-US" altLang="zh-CN" sz="2800" dirty="0">
                <a:latin typeface="楷体" panose="02010609060101010101" pitchFamily="49" charset="-122"/>
                <a:ea typeface="楷体" panose="02010609060101010101" pitchFamily="49" charset="-122"/>
              </a:rPr>
              <a:t>L</a:t>
            </a:r>
            <a:r>
              <a:rPr lang="en-US" altLang="zh-CN" sz="2800" baseline="-25000" dirty="0">
                <a:latin typeface="楷体" panose="02010609060101010101" pitchFamily="49" charset="-122"/>
                <a:ea typeface="楷体" panose="02010609060101010101" pitchFamily="49" charset="-122"/>
              </a:rPr>
              <a:t>1</a:t>
            </a:r>
            <a:r>
              <a:rPr lang="zh-CN" altLang="zh-CN" sz="2800" dirty="0">
                <a:latin typeface="楷体" panose="02010609060101010101" pitchFamily="49" charset="-122"/>
                <a:ea typeface="楷体" panose="02010609060101010101" pitchFamily="49" charset="-122"/>
              </a:rPr>
              <a:t>；</a:t>
            </a:r>
            <a:endParaRPr lang="zh-CN" altLang="zh-CN" sz="2800" dirty="0">
              <a:latin typeface="楷体" panose="02010609060101010101" pitchFamily="49" charset="-122"/>
              <a:ea typeface="楷体" panose="02010609060101010101" pitchFamily="49" charset="-122"/>
            </a:endParaRPr>
          </a:p>
          <a:p>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3</a:t>
            </a:r>
            <a:r>
              <a:rPr lang="zh-CN" altLang="zh-CN" sz="2800" dirty="0">
                <a:latin typeface="楷体" panose="02010609060101010101" pitchFamily="49" charset="-122"/>
                <a:ea typeface="楷体" panose="02010609060101010101" pitchFamily="49" charset="-122"/>
              </a:rPr>
              <a:t>）对</a:t>
            </a:r>
            <a:r>
              <a:rPr lang="en-US" altLang="zh-CN" sz="2800" dirty="0">
                <a:latin typeface="楷体" panose="02010609060101010101" pitchFamily="49" charset="-122"/>
                <a:ea typeface="楷体" panose="02010609060101010101" pitchFamily="49" charset="-122"/>
              </a:rPr>
              <a:t>k&gt;1</a:t>
            </a:r>
            <a:r>
              <a:rPr lang="zh-CN" altLang="zh-CN" sz="2800" dirty="0">
                <a:latin typeface="楷体" panose="02010609060101010101" pitchFamily="49" charset="-122"/>
                <a:ea typeface="楷体" panose="02010609060101010101" pitchFamily="49" charset="-122"/>
              </a:rPr>
              <a:t>，重复执行步骤（</a:t>
            </a:r>
            <a:r>
              <a:rPr lang="en-US" altLang="zh-CN" sz="2800" dirty="0">
                <a:latin typeface="楷体" panose="02010609060101010101" pitchFamily="49" charset="-122"/>
                <a:ea typeface="楷体" panose="02010609060101010101" pitchFamily="49" charset="-122"/>
              </a:rPr>
              <a:t>4</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5</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6</a:t>
            </a:r>
            <a:r>
              <a:rPr lang="zh-CN" altLang="zh-CN" sz="2800" dirty="0">
                <a:latin typeface="楷体" panose="02010609060101010101" pitchFamily="49" charset="-122"/>
                <a:ea typeface="楷体" panose="02010609060101010101" pitchFamily="49" charset="-122"/>
              </a:rPr>
              <a:t>）；</a:t>
            </a:r>
            <a:endParaRPr lang="zh-CN" altLang="zh-CN" sz="2800" dirty="0">
              <a:latin typeface="楷体" panose="02010609060101010101" pitchFamily="49" charset="-122"/>
              <a:ea typeface="楷体" panose="02010609060101010101" pitchFamily="49" charset="-122"/>
            </a:endParaRPr>
          </a:p>
          <a:p>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4</a:t>
            </a:r>
            <a:r>
              <a:rPr lang="zh-CN" altLang="zh-CN" sz="2800" dirty="0">
                <a:latin typeface="楷体" panose="02010609060101010101" pitchFamily="49" charset="-122"/>
                <a:ea typeface="楷体" panose="02010609060101010101" pitchFamily="49" charset="-122"/>
              </a:rPr>
              <a:t>）由</a:t>
            </a:r>
            <a:r>
              <a:rPr lang="en-US" altLang="zh-CN" sz="2800" dirty="0">
                <a:latin typeface="楷体" panose="02010609060101010101" pitchFamily="49" charset="-122"/>
                <a:ea typeface="楷体" panose="02010609060101010101" pitchFamily="49" charset="-122"/>
              </a:rPr>
              <a:t>L</a:t>
            </a:r>
            <a:r>
              <a:rPr lang="en-US" altLang="zh-CN" sz="2800" baseline="-25000" dirty="0">
                <a:latin typeface="楷体" panose="02010609060101010101" pitchFamily="49" charset="-122"/>
                <a:ea typeface="楷体" panose="02010609060101010101" pitchFamily="49" charset="-122"/>
              </a:rPr>
              <a:t>k</a:t>
            </a:r>
            <a:r>
              <a:rPr lang="zh-CN" altLang="zh-CN" sz="2800" dirty="0">
                <a:latin typeface="楷体" panose="02010609060101010101" pitchFamily="49" charset="-122"/>
                <a:ea typeface="楷体" panose="02010609060101010101" pitchFamily="49" charset="-122"/>
              </a:rPr>
              <a:t>执行连接和剪枝操作，产生候选（</a:t>
            </a:r>
            <a:r>
              <a:rPr lang="en-US" altLang="zh-CN" sz="2800" dirty="0" err="1">
                <a:latin typeface="楷体" panose="02010609060101010101" pitchFamily="49" charset="-122"/>
                <a:ea typeface="楷体" panose="02010609060101010101" pitchFamily="49" charset="-122"/>
              </a:rPr>
              <a:t>k+l</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项集的集合</a:t>
            </a:r>
            <a:r>
              <a:rPr lang="en-US" altLang="zh-CN" sz="2800" dirty="0">
                <a:latin typeface="楷体" panose="02010609060101010101" pitchFamily="49" charset="-122"/>
                <a:ea typeface="楷体" panose="02010609060101010101" pitchFamily="49" charset="-122"/>
              </a:rPr>
              <a:t>C</a:t>
            </a:r>
            <a:r>
              <a:rPr lang="en-US" altLang="zh-CN" sz="2800" baseline="-25000" dirty="0">
                <a:latin typeface="楷体" panose="02010609060101010101" pitchFamily="49" charset="-122"/>
                <a:ea typeface="楷体" panose="02010609060101010101" pitchFamily="49" charset="-122"/>
              </a:rPr>
              <a:t>k+1</a:t>
            </a:r>
            <a:r>
              <a:rPr lang="zh-CN" altLang="zh-CN" sz="2800" dirty="0">
                <a:latin typeface="楷体" panose="02010609060101010101" pitchFamily="49" charset="-122"/>
                <a:ea typeface="楷体" panose="02010609060101010101" pitchFamily="49" charset="-122"/>
              </a:rPr>
              <a:t>；</a:t>
            </a:r>
            <a:endParaRPr lang="zh-CN" altLang="zh-CN" sz="2800" dirty="0">
              <a:latin typeface="楷体" panose="02010609060101010101" pitchFamily="49" charset="-122"/>
              <a:ea typeface="楷体" panose="02010609060101010101" pitchFamily="49" charset="-122"/>
            </a:endParaRPr>
          </a:p>
          <a:p>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5</a:t>
            </a:r>
            <a:r>
              <a:rPr lang="zh-CN" altLang="zh-CN" sz="2800" dirty="0">
                <a:latin typeface="楷体" panose="02010609060101010101" pitchFamily="49" charset="-122"/>
                <a:ea typeface="楷体" panose="02010609060101010101" pitchFamily="49" charset="-122"/>
              </a:rPr>
              <a:t>）根据最小支持度，由候选（</a:t>
            </a:r>
            <a:r>
              <a:rPr lang="en-US" altLang="zh-CN" sz="2800" dirty="0" err="1">
                <a:latin typeface="楷体" panose="02010609060101010101" pitchFamily="49" charset="-122"/>
                <a:ea typeface="楷体" panose="02010609060101010101" pitchFamily="49" charset="-122"/>
              </a:rPr>
              <a:t>k+l</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项集的集合</a:t>
            </a:r>
            <a:r>
              <a:rPr lang="en-US" altLang="zh-CN" sz="2800" dirty="0">
                <a:latin typeface="楷体" panose="02010609060101010101" pitchFamily="49" charset="-122"/>
                <a:ea typeface="楷体" panose="02010609060101010101" pitchFamily="49" charset="-122"/>
              </a:rPr>
              <a:t>C</a:t>
            </a:r>
            <a:r>
              <a:rPr lang="en-US" altLang="zh-CN" sz="2800" baseline="-25000" dirty="0">
                <a:latin typeface="楷体" panose="02010609060101010101" pitchFamily="49" charset="-122"/>
                <a:ea typeface="楷体" panose="02010609060101010101" pitchFamily="49" charset="-122"/>
              </a:rPr>
              <a:t>k+1</a:t>
            </a:r>
            <a:r>
              <a:rPr lang="zh-CN" altLang="zh-CN" sz="2800" dirty="0">
                <a:latin typeface="楷体" panose="02010609060101010101" pitchFamily="49" charset="-122"/>
                <a:ea typeface="楷体" panose="02010609060101010101" pitchFamily="49" charset="-122"/>
              </a:rPr>
              <a:t>，产生频繁（</a:t>
            </a:r>
            <a:r>
              <a:rPr lang="en-US" altLang="zh-CN" sz="2800" dirty="0">
                <a:latin typeface="楷体" panose="02010609060101010101" pitchFamily="49" charset="-122"/>
                <a:ea typeface="楷体" panose="02010609060101010101" pitchFamily="49" charset="-122"/>
              </a:rPr>
              <a:t>k+1</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项集的集合</a:t>
            </a:r>
            <a:r>
              <a:rPr lang="en-US" altLang="zh-CN" sz="2800" dirty="0">
                <a:latin typeface="楷体" panose="02010609060101010101" pitchFamily="49" charset="-122"/>
                <a:ea typeface="楷体" panose="02010609060101010101" pitchFamily="49" charset="-122"/>
              </a:rPr>
              <a:t>L</a:t>
            </a:r>
            <a:r>
              <a:rPr lang="en-US" altLang="zh-CN" sz="2800" baseline="-25000" dirty="0">
                <a:latin typeface="楷体" panose="02010609060101010101" pitchFamily="49" charset="-122"/>
                <a:ea typeface="楷体" panose="02010609060101010101" pitchFamily="49" charset="-122"/>
              </a:rPr>
              <a:t>k+1</a:t>
            </a:r>
            <a:r>
              <a:rPr lang="zh-CN" altLang="zh-CN" sz="2800" dirty="0">
                <a:latin typeface="楷体" panose="02010609060101010101" pitchFamily="49" charset="-122"/>
                <a:ea typeface="楷体" panose="02010609060101010101" pitchFamily="49" charset="-122"/>
              </a:rPr>
              <a:t>；</a:t>
            </a:r>
            <a:endParaRPr lang="zh-CN" altLang="zh-CN" sz="2800" dirty="0">
              <a:latin typeface="楷体" panose="02010609060101010101" pitchFamily="49" charset="-122"/>
              <a:ea typeface="楷体" panose="02010609060101010101" pitchFamily="49" charset="-122"/>
            </a:endParaRPr>
          </a:p>
          <a:p>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6</a:t>
            </a:r>
            <a:r>
              <a:rPr lang="zh-CN" altLang="zh-CN" sz="2800" dirty="0">
                <a:latin typeface="楷体" panose="02010609060101010101" pitchFamily="49" charset="-122"/>
                <a:ea typeface="楷体" panose="02010609060101010101" pitchFamily="49" charset="-122"/>
              </a:rPr>
              <a:t>）若</a:t>
            </a:r>
            <a:r>
              <a:rPr lang="en-US" altLang="zh-CN" sz="2800" dirty="0">
                <a:latin typeface="楷体" panose="02010609060101010101" pitchFamily="49" charset="-122"/>
                <a:ea typeface="楷体" panose="02010609060101010101" pitchFamily="49" charset="-122"/>
              </a:rPr>
              <a:t>L</a:t>
            </a:r>
            <a:r>
              <a:rPr lang="zh-CN" altLang="zh-CN" sz="2800" dirty="0">
                <a:latin typeface="楷体" panose="02010609060101010101" pitchFamily="49" charset="-122"/>
                <a:ea typeface="楷体" panose="02010609060101010101" pitchFamily="49" charset="-122"/>
              </a:rPr>
              <a:t>≠Φ，则</a:t>
            </a:r>
            <a:r>
              <a:rPr lang="en-US" altLang="zh-CN" sz="2800" dirty="0">
                <a:latin typeface="楷体" panose="02010609060101010101" pitchFamily="49" charset="-122"/>
                <a:ea typeface="楷体" panose="02010609060101010101" pitchFamily="49" charset="-122"/>
              </a:rPr>
              <a:t>k=k+1</a:t>
            </a:r>
            <a:r>
              <a:rPr lang="zh-CN" altLang="zh-CN" sz="2800" dirty="0">
                <a:latin typeface="楷体" panose="02010609060101010101" pitchFamily="49" charset="-122"/>
                <a:ea typeface="楷体" panose="02010609060101010101" pitchFamily="49" charset="-122"/>
              </a:rPr>
              <a:t>，跳往步骤（</a:t>
            </a:r>
            <a:r>
              <a:rPr lang="en-US" altLang="zh-CN" sz="2800" dirty="0">
                <a:latin typeface="楷体" panose="02010609060101010101" pitchFamily="49" charset="-122"/>
                <a:ea typeface="楷体" panose="02010609060101010101" pitchFamily="49" charset="-122"/>
              </a:rPr>
              <a:t>4</a:t>
            </a:r>
            <a:r>
              <a:rPr lang="zh-CN" altLang="zh-CN" sz="2800" dirty="0">
                <a:latin typeface="楷体" panose="02010609060101010101" pitchFamily="49" charset="-122"/>
                <a:ea typeface="楷体" panose="02010609060101010101" pitchFamily="49" charset="-122"/>
              </a:rPr>
              <a:t>）；否则，跳往步骤（</a:t>
            </a:r>
            <a:r>
              <a:rPr lang="en-US" altLang="zh-CN" sz="2800" dirty="0">
                <a:latin typeface="楷体" panose="02010609060101010101" pitchFamily="49" charset="-122"/>
                <a:ea typeface="楷体" panose="02010609060101010101" pitchFamily="49" charset="-122"/>
              </a:rPr>
              <a:t>7</a:t>
            </a:r>
            <a:r>
              <a:rPr lang="zh-CN" altLang="zh-CN" sz="2800" dirty="0">
                <a:latin typeface="楷体" panose="02010609060101010101" pitchFamily="49" charset="-122"/>
                <a:ea typeface="楷体" panose="02010609060101010101" pitchFamily="49" charset="-122"/>
              </a:rPr>
              <a:t>）；</a:t>
            </a:r>
            <a:endParaRPr lang="zh-CN" altLang="zh-CN" sz="2800" dirty="0">
              <a:latin typeface="楷体" panose="02010609060101010101" pitchFamily="49" charset="-122"/>
              <a:ea typeface="楷体" panose="02010609060101010101" pitchFamily="49" charset="-122"/>
            </a:endParaRPr>
          </a:p>
          <a:p>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7</a:t>
            </a:r>
            <a:r>
              <a:rPr lang="zh-CN" altLang="zh-CN" sz="2800" dirty="0">
                <a:latin typeface="楷体" panose="02010609060101010101" pitchFamily="49" charset="-122"/>
                <a:ea typeface="楷体" panose="02010609060101010101" pitchFamily="49" charset="-122"/>
              </a:rPr>
              <a:t>）根据最小置信度，由频繁项集产生强关联规则，结束。</a:t>
            </a:r>
            <a:endParaRPr lang="zh-CN" altLang="zh-CN" sz="2800" dirty="0">
              <a:latin typeface="楷体" panose="02010609060101010101" pitchFamily="49" charset="-122"/>
              <a:ea typeface="楷体" panose="02010609060101010101" pitchFamily="49" charset="-122"/>
            </a:endParaRPr>
          </a:p>
          <a:p>
            <a:endParaRPr lang="zh-CN" altLang="zh-CN" dirty="0"/>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84228" y="402455"/>
            <a:ext cx="8915400" cy="3777622"/>
          </a:xfrm>
        </p:spPr>
        <p:txBody>
          <a:bodyPr/>
          <a:lstStyle/>
          <a:p>
            <a:r>
              <a:rPr lang="en-US" altLang="zh-CN" sz="2400" b="1" dirty="0"/>
              <a:t>4</a:t>
            </a:r>
            <a:r>
              <a:rPr lang="zh-CN" altLang="zh-CN" sz="2400" b="1" dirty="0"/>
              <a:t>、</a:t>
            </a:r>
            <a:r>
              <a:rPr lang="en-US" altLang="zh-CN" sz="2400" b="1" dirty="0" err="1"/>
              <a:t>Apriori</a:t>
            </a:r>
            <a:r>
              <a:rPr lang="zh-CN" altLang="zh-CN" sz="2400" b="1" dirty="0"/>
              <a:t>算法描述</a:t>
            </a:r>
            <a:endParaRPr lang="zh-CN" altLang="zh-CN" sz="2400" b="1" dirty="0"/>
          </a:p>
          <a:p>
            <a:pPr marL="0" indent="0">
              <a:buNone/>
            </a:pPr>
            <a:endParaRPr lang="zh-CN" altLang="zh-CN" sz="2400" dirty="0"/>
          </a:p>
          <a:p>
            <a:r>
              <a:rPr lang="zh-CN" altLang="zh-CN" sz="2400" dirty="0"/>
              <a:t>输入：数据库</a:t>
            </a:r>
            <a:r>
              <a:rPr lang="en-US" altLang="zh-CN" sz="2400" dirty="0"/>
              <a:t>D</a:t>
            </a:r>
            <a:r>
              <a:rPr lang="zh-CN" altLang="zh-CN" sz="2400" dirty="0"/>
              <a:t>，最小支持度阀值</a:t>
            </a:r>
            <a:r>
              <a:rPr lang="en-US" altLang="zh-CN" sz="2400" dirty="0"/>
              <a:t>min_ sup</a:t>
            </a:r>
            <a:endParaRPr lang="zh-CN" altLang="zh-CN" sz="2400" dirty="0"/>
          </a:p>
          <a:p>
            <a:r>
              <a:rPr lang="zh-CN" altLang="zh-CN" sz="2400" dirty="0"/>
              <a:t>输出：</a:t>
            </a:r>
            <a:r>
              <a:rPr lang="en-US" altLang="zh-CN" sz="2400" dirty="0"/>
              <a:t>D</a:t>
            </a:r>
            <a:r>
              <a:rPr lang="zh-CN" altLang="zh-CN" sz="2400" dirty="0"/>
              <a:t>中的频繁集</a:t>
            </a:r>
            <a:r>
              <a:rPr lang="en-US" altLang="zh-CN" sz="2400" dirty="0"/>
              <a:t>L</a:t>
            </a:r>
            <a:endParaRPr lang="en-US" altLang="zh-CN" sz="2400" dirty="0"/>
          </a:p>
          <a:p>
            <a:endParaRPr lang="zh-CN" altLang="zh-CN" dirty="0"/>
          </a:p>
          <a:p>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13" name="内容占位符 12"/>
          <p:cNvPicPr>
            <a:picLocks noChangeAspect="1"/>
          </p:cNvPicPr>
          <p:nvPr>
            <p:ph idx="1"/>
          </p:nvPr>
        </p:nvPicPr>
        <p:blipFill>
          <a:blip r:embed="rId1"/>
          <a:stretch>
            <a:fillRect/>
          </a:stretch>
        </p:blipFill>
        <p:spPr>
          <a:xfrm>
            <a:off x="2418080" y="624205"/>
            <a:ext cx="7355840" cy="58032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a:t>
            </a:r>
            <a:r>
              <a:rPr lang="en-US" altLang="zh-CN" dirty="0" err="1"/>
              <a:t>Apriori</a:t>
            </a:r>
            <a:r>
              <a:rPr lang="zh-CN" altLang="zh-CN" dirty="0"/>
              <a:t>算法实例分析</a:t>
            </a:r>
            <a:br>
              <a:rPr lang="zh-CN" altLang="zh-CN" b="1" dirty="0"/>
            </a:br>
            <a:endParaRPr lang="zh-CN" altLang="en-US" dirty="0"/>
          </a:p>
        </p:txBody>
      </p:sp>
      <p:sp>
        <p:nvSpPr>
          <p:cNvPr id="3" name="内容占位符 2"/>
          <p:cNvSpPr>
            <a:spLocks noGrp="1"/>
          </p:cNvSpPr>
          <p:nvPr>
            <p:ph idx="1"/>
          </p:nvPr>
        </p:nvSpPr>
        <p:spPr>
          <a:xfrm>
            <a:off x="2340610" y="1539875"/>
            <a:ext cx="9163685" cy="5697855"/>
          </a:xfrm>
        </p:spPr>
        <p:txBody>
          <a:bodyPr>
            <a:normAutofit lnSpcReduction="20000"/>
          </a:bodyPr>
          <a:lstStyle/>
          <a:p>
            <a:r>
              <a:rPr lang="zh-CN" altLang="zh-CN" sz="2400" dirty="0"/>
              <a:t>【例</a:t>
            </a:r>
            <a:r>
              <a:rPr lang="en-US" altLang="zh-CN" sz="2400" dirty="0"/>
              <a:t>3-1</a:t>
            </a:r>
            <a:r>
              <a:rPr lang="zh-CN" altLang="zh-CN" sz="2400" dirty="0"/>
              <a:t>】表</a:t>
            </a:r>
            <a:r>
              <a:rPr lang="en-US" altLang="zh-CN" sz="2400" dirty="0"/>
              <a:t>3-1</a:t>
            </a:r>
            <a:r>
              <a:rPr lang="zh-CN" altLang="zh-CN" sz="2400" dirty="0"/>
              <a:t>是一个数据库的事务列表，在数据库中有</a:t>
            </a:r>
            <a:r>
              <a:rPr lang="en-US" altLang="zh-CN" sz="2400" dirty="0"/>
              <a:t>9</a:t>
            </a:r>
            <a:r>
              <a:rPr lang="zh-CN" altLang="zh-CN" sz="2400" dirty="0"/>
              <a:t>笔交易，即</a:t>
            </a:r>
            <a:r>
              <a:rPr lang="en-US" altLang="zh-CN" sz="2400" dirty="0"/>
              <a:t>|D|=9</a:t>
            </a:r>
            <a:r>
              <a:rPr lang="zh-CN" altLang="zh-CN" sz="2400" dirty="0"/>
              <a:t>。每笔交易都用唯一的标识符</a:t>
            </a:r>
            <a:r>
              <a:rPr lang="en-US" altLang="zh-CN" sz="2400" dirty="0"/>
              <a:t>TID</a:t>
            </a:r>
            <a:r>
              <a:rPr lang="zh-CN" altLang="zh-CN" sz="2400" dirty="0"/>
              <a:t>作标记，交易中的项按字典序存放，下面描述一下</a:t>
            </a:r>
            <a:r>
              <a:rPr lang="en-US" altLang="zh-CN" sz="2400" dirty="0" err="1"/>
              <a:t>Apriori</a:t>
            </a:r>
            <a:r>
              <a:rPr lang="zh-CN" altLang="zh-CN" sz="2400" dirty="0"/>
              <a:t>算法寻找</a:t>
            </a:r>
            <a:r>
              <a:rPr lang="en-US" altLang="zh-CN" sz="2400" dirty="0"/>
              <a:t>D</a:t>
            </a:r>
            <a:r>
              <a:rPr lang="zh-CN" altLang="zh-CN" sz="2400" dirty="0"/>
              <a:t>中频繁项集的过程。</a:t>
            </a:r>
            <a:endParaRPr lang="en-US" altLang="zh-CN" sz="24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zh-CN" sz="2400" dirty="0"/>
              <a:t>设最小支持度计数为</a:t>
            </a:r>
            <a:r>
              <a:rPr lang="en-US" altLang="zh-CN" sz="2400" dirty="0"/>
              <a:t>2</a:t>
            </a:r>
            <a:r>
              <a:rPr lang="zh-CN" altLang="zh-CN" sz="2400" dirty="0"/>
              <a:t>，即</a:t>
            </a:r>
            <a:r>
              <a:rPr lang="en-US" altLang="zh-CN" sz="2400" dirty="0"/>
              <a:t>min_ sup=2</a:t>
            </a:r>
            <a:r>
              <a:rPr lang="zh-CN" altLang="zh-CN" sz="2400" dirty="0"/>
              <a:t>，利用</a:t>
            </a:r>
            <a:r>
              <a:rPr lang="en-US" altLang="zh-CN" sz="2400" dirty="0" err="1"/>
              <a:t>Apriori</a:t>
            </a:r>
            <a:r>
              <a:rPr lang="zh-CN" altLang="zh-CN" sz="2400" dirty="0"/>
              <a:t>算法产生候选项集及频繁项集的过程如下所示。</a:t>
            </a:r>
            <a:endParaRPr lang="zh-CN" altLang="zh-CN" sz="24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zh-CN" dirty="0"/>
          </a:p>
          <a:p>
            <a:endParaRPr lang="zh-CN" altLang="en-US" dirty="0"/>
          </a:p>
        </p:txBody>
      </p:sp>
      <p:pic>
        <p:nvPicPr>
          <p:cNvPr id="9" name="图片 8"/>
          <p:cNvPicPr>
            <a:picLocks noChangeAspect="1"/>
          </p:cNvPicPr>
          <p:nvPr/>
        </p:nvPicPr>
        <p:blipFill>
          <a:blip r:embed="rId1"/>
          <a:stretch>
            <a:fillRect/>
          </a:stretch>
        </p:blipFill>
        <p:spPr>
          <a:xfrm>
            <a:off x="4215765" y="2524125"/>
            <a:ext cx="4454525" cy="30194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79015" y="882015"/>
            <a:ext cx="9163685" cy="5537200"/>
          </a:xfrm>
        </p:spPr>
        <p:txBody>
          <a:bodyPr>
            <a:normAutofit lnSpcReduction="10000"/>
          </a:bodyPr>
          <a:lstStyle/>
          <a:p>
            <a:r>
              <a:rPr lang="en-US" altLang="zh-CN" sz="2800" b="1" dirty="0"/>
              <a:t>1</a:t>
            </a:r>
            <a:r>
              <a:rPr lang="zh-CN" altLang="zh-CN" sz="2800" b="1" dirty="0"/>
              <a:t>、第一次扫描</a:t>
            </a:r>
            <a:endParaRPr lang="zh-CN" altLang="zh-CN" sz="2800" dirty="0"/>
          </a:p>
          <a:p>
            <a:pPr marL="0" indent="0">
              <a:buNone/>
            </a:pPr>
            <a:r>
              <a:rPr lang="en-US" altLang="zh-CN" sz="2800" dirty="0"/>
              <a:t>    </a:t>
            </a:r>
            <a:r>
              <a:rPr lang="zh-CN" altLang="zh-CN" sz="2800" dirty="0"/>
              <a:t>扫描数据库</a:t>
            </a:r>
            <a:r>
              <a:rPr lang="en-US" altLang="zh-CN" sz="2800" dirty="0"/>
              <a:t>D</a:t>
            </a:r>
            <a:r>
              <a:rPr lang="zh-CN" altLang="zh-CN" sz="2800" dirty="0"/>
              <a:t>获得每个候选项的计数：</a:t>
            </a:r>
            <a:endParaRPr lang="en-US" altLang="zh-CN" sz="2800"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sz="2400" dirty="0"/>
              <a:t>   </a:t>
            </a:r>
            <a:endParaRPr lang="zh-CN" altLang="en-US" sz="2400" dirty="0"/>
          </a:p>
          <a:p>
            <a:pPr marL="0" indent="0">
              <a:buNone/>
            </a:pPr>
            <a:r>
              <a:rPr lang="zh-CN" altLang="en-US" sz="2400" dirty="0"/>
              <a:t>  </a:t>
            </a:r>
            <a:endParaRPr lang="zh-CN" altLang="en-US" sz="2400" dirty="0"/>
          </a:p>
          <a:p>
            <a:pPr marL="0" indent="0">
              <a:buNone/>
            </a:pPr>
            <a:r>
              <a:rPr lang="zh-CN" altLang="en-US" sz="2400" dirty="0"/>
              <a:t>由于最小事务支持数为二，没有删除任何项目，可以确定频繁</a:t>
            </a:r>
            <a:r>
              <a:rPr lang="en-US" altLang="zh-CN" sz="2400" dirty="0"/>
              <a:t>1-</a:t>
            </a:r>
            <a:r>
              <a:rPr lang="zh-CN" altLang="en-US" sz="2400" dirty="0"/>
              <a:t>项集的集合</a:t>
            </a:r>
            <a:r>
              <a:rPr lang="en-US" altLang="zh-CN" sz="2400" dirty="0"/>
              <a:t>L</a:t>
            </a:r>
            <a:r>
              <a:rPr lang="en-US" altLang="zh-CN" sz="2400" baseline="-25000" dirty="0"/>
              <a:t>1</a:t>
            </a:r>
            <a:r>
              <a:rPr lang="zh-CN" altLang="en-US" sz="2400" dirty="0"/>
              <a:t>，它由具有最小支持度的候选</a:t>
            </a:r>
            <a:r>
              <a:rPr lang="en-US" altLang="zh-CN" sz="2400" dirty="0"/>
              <a:t>1-</a:t>
            </a:r>
            <a:r>
              <a:rPr lang="zh-CN" altLang="en-US" sz="2400" dirty="0"/>
              <a:t>项集组成。</a:t>
            </a:r>
            <a:endParaRPr lang="en-US" altLang="zh-CN" sz="2400"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zh-CN" altLang="zh-CN" dirty="0"/>
          </a:p>
          <a:p>
            <a:endParaRPr lang="zh-CN" altLang="en-US" dirty="0"/>
          </a:p>
        </p:txBody>
      </p:sp>
      <p:pic>
        <p:nvPicPr>
          <p:cNvPr id="4" name="图片 3"/>
          <p:cNvPicPr>
            <a:picLocks noChangeAspect="1"/>
          </p:cNvPicPr>
          <p:nvPr/>
        </p:nvPicPr>
        <p:blipFill>
          <a:blip r:embed="rId1"/>
          <a:stretch>
            <a:fillRect/>
          </a:stretch>
        </p:blipFill>
        <p:spPr>
          <a:xfrm>
            <a:off x="977900" y="2161540"/>
            <a:ext cx="7021830" cy="2781935"/>
          </a:xfrm>
          <a:prstGeom prst="rect">
            <a:avLst/>
          </a:prstGeom>
        </p:spPr>
      </p:pic>
      <p:pic>
        <p:nvPicPr>
          <p:cNvPr id="9" name="图片 8"/>
          <p:cNvPicPr>
            <a:picLocks noChangeAspect="1"/>
          </p:cNvPicPr>
          <p:nvPr/>
        </p:nvPicPr>
        <p:blipFill>
          <a:blip r:embed="rId2"/>
          <a:stretch>
            <a:fillRect/>
          </a:stretch>
        </p:blipFill>
        <p:spPr>
          <a:xfrm>
            <a:off x="7999730" y="1891665"/>
            <a:ext cx="4454525" cy="30194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00605" y="588010"/>
            <a:ext cx="9035415" cy="4133850"/>
          </a:xfrm>
        </p:spPr>
        <p:txBody>
          <a:bodyPr/>
          <a:lstStyle/>
          <a:p>
            <a:r>
              <a:rPr lang="en-US" altLang="zh-CN" sz="2400" b="1" dirty="0"/>
              <a:t>2</a:t>
            </a:r>
            <a:r>
              <a:rPr lang="zh-CN" altLang="zh-CN" sz="2400" b="1" dirty="0"/>
              <a:t>、第二次扫描</a:t>
            </a:r>
            <a:endParaRPr lang="zh-CN" altLang="zh-CN" sz="2400" dirty="0"/>
          </a:p>
          <a:p>
            <a:pPr marL="0" indent="0">
              <a:buNone/>
            </a:pPr>
            <a:r>
              <a:rPr lang="en-US" altLang="zh-CN" sz="2400" dirty="0"/>
              <a:t>    </a:t>
            </a:r>
            <a:r>
              <a:rPr lang="zh-CN" altLang="zh-CN" sz="2400" dirty="0"/>
              <a:t>为了发现频繁</a:t>
            </a:r>
            <a:r>
              <a:rPr lang="en-US" altLang="zh-CN" sz="2400" dirty="0"/>
              <a:t>2-</a:t>
            </a:r>
            <a:r>
              <a:rPr lang="zh-CN" altLang="zh-CN" sz="2400" dirty="0"/>
              <a:t>项集的集合</a:t>
            </a:r>
            <a:r>
              <a:rPr lang="en-US" altLang="zh-CN" sz="2400" dirty="0"/>
              <a:t>L</a:t>
            </a:r>
            <a:r>
              <a:rPr lang="en-US" altLang="zh-CN" sz="2400" baseline="-25000" dirty="0"/>
              <a:t>2</a:t>
            </a:r>
            <a:r>
              <a:rPr lang="zh-CN" altLang="zh-CN" sz="2400" dirty="0"/>
              <a:t>，算法使用</a:t>
            </a:r>
            <a:r>
              <a:rPr lang="en-US" altLang="zh-CN" sz="2400" dirty="0"/>
              <a:t>L</a:t>
            </a:r>
            <a:r>
              <a:rPr lang="en-US" altLang="zh-CN" sz="2400" baseline="-25000" dirty="0"/>
              <a:t>1</a:t>
            </a:r>
            <a:r>
              <a:rPr lang="zh-CN" altLang="zh-CN" sz="2400" dirty="0"/>
              <a:t>∞</a:t>
            </a:r>
            <a:r>
              <a:rPr lang="en-US" altLang="zh-CN" sz="2400" dirty="0"/>
              <a:t>L</a:t>
            </a:r>
            <a:r>
              <a:rPr lang="en-US" altLang="zh-CN" sz="2400" baseline="-25000" dirty="0"/>
              <a:t>1</a:t>
            </a:r>
            <a:r>
              <a:rPr lang="zh-CN" altLang="zh-CN" sz="2400" dirty="0"/>
              <a:t>产生候选</a:t>
            </a:r>
            <a:r>
              <a:rPr lang="en-US" altLang="zh-CN" sz="2400" dirty="0"/>
              <a:t>2-</a:t>
            </a:r>
            <a:r>
              <a:rPr lang="zh-CN" altLang="zh-CN" sz="2400" dirty="0"/>
              <a:t>项集的集合</a:t>
            </a:r>
            <a:r>
              <a:rPr lang="en-US" altLang="zh-CN" sz="2400" dirty="0"/>
              <a:t>C</a:t>
            </a:r>
            <a:r>
              <a:rPr lang="en-US" altLang="zh-CN" sz="2400" baseline="-25000" dirty="0"/>
              <a:t>2</a:t>
            </a:r>
            <a:r>
              <a:rPr lang="zh-CN" altLang="zh-CN" sz="2400" dirty="0"/>
              <a:t>，在剪枝步没有候选从</a:t>
            </a:r>
            <a:r>
              <a:rPr lang="en-US" altLang="zh-CN" sz="2400" dirty="0"/>
              <a:t>C</a:t>
            </a:r>
            <a:r>
              <a:rPr lang="en-US" altLang="zh-CN" sz="2400" baseline="-25000" dirty="0"/>
              <a:t>2</a:t>
            </a:r>
            <a:r>
              <a:rPr lang="zh-CN" altLang="zh-CN" sz="2400" dirty="0"/>
              <a:t>中删除，因为这些候选的每个子集也是频繁的。</a:t>
            </a:r>
            <a:endParaRPr lang="zh-CN" altLang="zh-CN" sz="2400" dirty="0"/>
          </a:p>
          <a:p>
            <a:endParaRPr lang="zh-CN" altLang="zh-CN" sz="2400" dirty="0"/>
          </a:p>
        </p:txBody>
      </p:sp>
      <p:pic>
        <p:nvPicPr>
          <p:cNvPr id="4" name="图片 3"/>
          <p:cNvPicPr>
            <a:picLocks noChangeAspect="1"/>
          </p:cNvPicPr>
          <p:nvPr/>
        </p:nvPicPr>
        <p:blipFill>
          <a:blip r:embed="rId1"/>
          <a:stretch>
            <a:fillRect/>
          </a:stretch>
        </p:blipFill>
        <p:spPr>
          <a:xfrm>
            <a:off x="2076450" y="2278380"/>
            <a:ext cx="9259570" cy="44024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67865" y="762635"/>
            <a:ext cx="9252585" cy="5795645"/>
          </a:xfrm>
        </p:spPr>
        <p:txBody>
          <a:bodyPr>
            <a:normAutofit lnSpcReduction="10000"/>
          </a:bodyPr>
          <a:lstStyle/>
          <a:p>
            <a:r>
              <a:rPr lang="en-US" altLang="zh-CN" sz="2800" b="1" dirty="0"/>
              <a:t>3</a:t>
            </a:r>
            <a:r>
              <a:rPr lang="zh-CN" altLang="zh-CN" sz="2800" b="1" dirty="0"/>
              <a:t>、第三次扫描</a:t>
            </a:r>
            <a:endParaRPr lang="zh-CN" altLang="zh-CN" sz="2800" dirty="0"/>
          </a:p>
          <a:p>
            <a:pPr marL="0" indent="0">
              <a:buNone/>
            </a:pPr>
            <a:r>
              <a:rPr lang="en-US" altLang="zh-CN" sz="2800" dirty="0"/>
              <a:t>     L</a:t>
            </a:r>
            <a:r>
              <a:rPr lang="en-US" altLang="zh-CN" sz="2800" baseline="-25000" dirty="0"/>
              <a:t>2</a:t>
            </a:r>
            <a:r>
              <a:rPr lang="zh-CN" altLang="zh-CN" sz="2800" dirty="0"/>
              <a:t>∞</a:t>
            </a:r>
            <a:r>
              <a:rPr lang="en-US" altLang="zh-CN" sz="2800" dirty="0"/>
              <a:t>L</a:t>
            </a:r>
            <a:r>
              <a:rPr lang="en-US" altLang="zh-CN" sz="2800" baseline="-25000" dirty="0"/>
              <a:t>2</a:t>
            </a:r>
            <a:r>
              <a:rPr lang="zh-CN" altLang="zh-CN" sz="2800" dirty="0"/>
              <a:t>产生候选</a:t>
            </a:r>
            <a:r>
              <a:rPr lang="en-US" altLang="zh-CN" sz="2800" dirty="0"/>
              <a:t>3-</a:t>
            </a:r>
            <a:r>
              <a:rPr lang="zh-CN" altLang="zh-CN" sz="2800" dirty="0"/>
              <a:t>项集的集合</a:t>
            </a:r>
            <a:r>
              <a:rPr lang="en-US" altLang="zh-CN" sz="2800" dirty="0"/>
              <a:t>C</a:t>
            </a:r>
            <a:r>
              <a:rPr lang="en-US" altLang="zh-CN" sz="2800" baseline="-25000" dirty="0"/>
              <a:t>3</a:t>
            </a:r>
            <a:r>
              <a:rPr lang="zh-CN" altLang="zh-CN" sz="2800" dirty="0"/>
              <a:t>。</a:t>
            </a:r>
            <a:endParaRPr lang="en-US" altLang="zh-CN" sz="28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endParaRPr lang="zh-CN" altLang="zh-CN" dirty="0"/>
          </a:p>
          <a:p>
            <a:pPr marL="0" indent="0">
              <a:buNone/>
            </a:pPr>
            <a:endParaRPr lang="zh-CN" altLang="zh-CN" dirty="0"/>
          </a:p>
          <a:p>
            <a:pPr marL="0" indent="0">
              <a:buNone/>
            </a:pPr>
            <a:endParaRPr lang="zh-CN" altLang="zh-CN" dirty="0"/>
          </a:p>
          <a:p>
            <a:endParaRPr lang="zh-CN" altLang="en-US" dirty="0"/>
          </a:p>
        </p:txBody>
      </p:sp>
      <p:pic>
        <p:nvPicPr>
          <p:cNvPr id="4" name="图片 3"/>
          <p:cNvPicPr>
            <a:picLocks noChangeAspect="1"/>
          </p:cNvPicPr>
          <p:nvPr/>
        </p:nvPicPr>
        <p:blipFill>
          <a:blip r:embed="rId1"/>
          <a:stretch>
            <a:fillRect/>
          </a:stretch>
        </p:blipFill>
        <p:spPr>
          <a:xfrm>
            <a:off x="1697355" y="1994535"/>
            <a:ext cx="9793605" cy="28689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215515" y="1492885"/>
            <a:ext cx="9288780" cy="4418330"/>
          </a:xfrm>
        </p:spPr>
        <p:txBody>
          <a:bodyPr/>
          <a:p>
            <a:pPr marL="0" indent="0">
              <a:lnSpc>
                <a:spcPct val="150000"/>
              </a:lnSpc>
              <a:buNone/>
            </a:pPr>
            <a:r>
              <a:rPr lang="zh-CN" altLang="zh-CN" sz="2800" dirty="0">
                <a:sym typeface="+mn-ea"/>
              </a:rPr>
              <a:t>候选</a:t>
            </a:r>
            <a:r>
              <a:rPr lang="en-US" altLang="zh-CN" sz="2800" dirty="0">
                <a:sym typeface="+mn-ea"/>
              </a:rPr>
              <a:t>3</a:t>
            </a:r>
            <a:r>
              <a:rPr lang="zh-CN" altLang="zh-CN" sz="2800" dirty="0">
                <a:sym typeface="+mn-ea"/>
              </a:rPr>
              <a:t>项集</a:t>
            </a:r>
            <a:r>
              <a:rPr lang="en-US" altLang="zh-CN" sz="2800" dirty="0">
                <a:sym typeface="+mn-ea"/>
              </a:rPr>
              <a:t>C</a:t>
            </a:r>
            <a:r>
              <a:rPr lang="en-US" altLang="zh-CN" sz="2800" baseline="-25000" dirty="0">
                <a:sym typeface="+mn-ea"/>
              </a:rPr>
              <a:t>3</a:t>
            </a:r>
            <a:r>
              <a:rPr lang="zh-CN" altLang="zh-CN" sz="2800" dirty="0">
                <a:sym typeface="+mn-ea"/>
              </a:rPr>
              <a:t>的产生详细地列表如下：</a:t>
            </a:r>
            <a:endParaRPr lang="en-US" altLang="zh-CN" sz="2800" dirty="0"/>
          </a:p>
          <a:p>
            <a:pPr>
              <a:lnSpc>
                <a:spcPct val="150000"/>
              </a:lnSpc>
            </a:pPr>
            <a:r>
              <a:rPr lang="en-US" altLang="zh-CN" sz="2800" dirty="0">
                <a:sym typeface="+mn-ea"/>
              </a:rPr>
              <a:t>(1) </a:t>
            </a:r>
            <a:r>
              <a:rPr lang="zh-CN" altLang="zh-CN" sz="2800" dirty="0">
                <a:sym typeface="+mn-ea"/>
              </a:rPr>
              <a:t>连接</a:t>
            </a:r>
            <a:r>
              <a:rPr lang="en-US" altLang="zh-CN" sz="2800" dirty="0">
                <a:sym typeface="+mn-ea"/>
              </a:rPr>
              <a:t>C</a:t>
            </a:r>
            <a:r>
              <a:rPr lang="en-US" altLang="zh-CN" sz="2800" baseline="-25000" dirty="0">
                <a:sym typeface="+mn-ea"/>
              </a:rPr>
              <a:t>3</a:t>
            </a:r>
            <a:r>
              <a:rPr lang="en-US" altLang="zh-CN" sz="2800" dirty="0">
                <a:sym typeface="+mn-ea"/>
              </a:rPr>
              <a:t>=L</a:t>
            </a:r>
            <a:r>
              <a:rPr lang="en-US" altLang="zh-CN" sz="2800" baseline="-25000" dirty="0">
                <a:sym typeface="+mn-ea"/>
              </a:rPr>
              <a:t>2</a:t>
            </a:r>
            <a:r>
              <a:rPr lang="zh-CN" altLang="zh-CN" sz="2800" dirty="0">
                <a:sym typeface="+mn-ea"/>
              </a:rPr>
              <a:t>∞</a:t>
            </a:r>
            <a:r>
              <a:rPr lang="en-US" altLang="zh-CN" sz="2800" dirty="0">
                <a:sym typeface="+mn-ea"/>
              </a:rPr>
              <a:t>L</a:t>
            </a:r>
            <a:r>
              <a:rPr lang="en-US" altLang="zh-CN" sz="2800" baseline="-25000" dirty="0">
                <a:sym typeface="+mn-ea"/>
              </a:rPr>
              <a:t>2</a:t>
            </a:r>
            <a:r>
              <a:rPr lang="en-US" altLang="zh-CN" sz="2800" dirty="0">
                <a:sym typeface="+mn-ea"/>
              </a:rPr>
              <a:t> ={{I1</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{I1</a:t>
            </a:r>
            <a:r>
              <a:rPr lang="zh-CN" altLang="zh-CN" sz="2800" dirty="0">
                <a:sym typeface="+mn-ea"/>
              </a:rPr>
              <a:t>，</a:t>
            </a:r>
            <a:r>
              <a:rPr lang="en-US" altLang="zh-CN" sz="2800" dirty="0">
                <a:sym typeface="+mn-ea"/>
              </a:rPr>
              <a:t>I3}</a:t>
            </a:r>
            <a:r>
              <a:rPr lang="zh-CN" altLang="zh-CN" sz="2800" dirty="0">
                <a:sym typeface="+mn-ea"/>
              </a:rPr>
              <a:t>，</a:t>
            </a:r>
            <a:r>
              <a:rPr lang="en-US" altLang="zh-CN" sz="2800" dirty="0">
                <a:sym typeface="+mn-ea"/>
              </a:rPr>
              <a:t>{I1</a:t>
            </a:r>
            <a:r>
              <a:rPr lang="zh-CN" altLang="zh-CN" sz="2800" dirty="0">
                <a:sym typeface="+mn-ea"/>
              </a:rPr>
              <a:t>，</a:t>
            </a:r>
            <a:r>
              <a:rPr lang="en-US" altLang="zh-CN" sz="2800" dirty="0">
                <a:sym typeface="+mn-ea"/>
              </a:rPr>
              <a:t>I5}</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I3}</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I4}</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I5}} </a:t>
            </a:r>
            <a:r>
              <a:rPr lang="zh-CN" altLang="zh-CN" sz="2800" dirty="0">
                <a:sym typeface="+mn-ea"/>
              </a:rPr>
              <a:t>∞</a:t>
            </a:r>
            <a:r>
              <a:rPr lang="en-US" altLang="zh-CN" sz="2800" dirty="0">
                <a:sym typeface="+mn-ea"/>
              </a:rPr>
              <a:t>{{I1</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{I1</a:t>
            </a:r>
            <a:r>
              <a:rPr lang="zh-CN" altLang="zh-CN" sz="2800" dirty="0">
                <a:sym typeface="+mn-ea"/>
              </a:rPr>
              <a:t>，</a:t>
            </a:r>
            <a:r>
              <a:rPr lang="en-US" altLang="zh-CN" sz="2800" dirty="0">
                <a:sym typeface="+mn-ea"/>
              </a:rPr>
              <a:t>I3}</a:t>
            </a:r>
            <a:r>
              <a:rPr lang="zh-CN" altLang="zh-CN" sz="2800" dirty="0">
                <a:sym typeface="+mn-ea"/>
              </a:rPr>
              <a:t>，</a:t>
            </a:r>
            <a:r>
              <a:rPr lang="en-US" altLang="zh-CN" sz="2800" dirty="0">
                <a:sym typeface="+mn-ea"/>
              </a:rPr>
              <a:t>{I1</a:t>
            </a:r>
            <a:r>
              <a:rPr lang="zh-CN" altLang="zh-CN" sz="2800" dirty="0">
                <a:sym typeface="+mn-ea"/>
              </a:rPr>
              <a:t>，</a:t>
            </a:r>
            <a:r>
              <a:rPr lang="en-US" altLang="zh-CN" sz="2800" dirty="0">
                <a:sym typeface="+mn-ea"/>
              </a:rPr>
              <a:t>I5}</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I3}</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I4}</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I5}}</a:t>
            </a:r>
            <a:endParaRPr lang="zh-CN" altLang="zh-CN" sz="2800" dirty="0"/>
          </a:p>
          <a:p>
            <a:pPr marL="0" indent="0">
              <a:lnSpc>
                <a:spcPct val="150000"/>
              </a:lnSpc>
              <a:buNone/>
            </a:pPr>
            <a:r>
              <a:rPr lang="en-US" altLang="zh-CN" sz="2800" dirty="0">
                <a:sym typeface="+mn-ea"/>
              </a:rPr>
              <a:t>     ={{I1</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I3}</a:t>
            </a:r>
            <a:r>
              <a:rPr lang="zh-CN" altLang="zh-CN" sz="2800" dirty="0">
                <a:sym typeface="+mn-ea"/>
              </a:rPr>
              <a:t>，</a:t>
            </a:r>
            <a:r>
              <a:rPr lang="en-US" altLang="zh-CN" sz="2800" dirty="0">
                <a:sym typeface="+mn-ea"/>
              </a:rPr>
              <a:t>{I1</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I5}</a:t>
            </a:r>
            <a:r>
              <a:rPr lang="zh-CN" altLang="zh-CN" sz="2800" dirty="0">
                <a:sym typeface="+mn-ea"/>
              </a:rPr>
              <a:t>，</a:t>
            </a:r>
            <a:r>
              <a:rPr lang="en-US" altLang="zh-CN" sz="2800" dirty="0">
                <a:sym typeface="+mn-ea"/>
              </a:rPr>
              <a:t>{I1</a:t>
            </a:r>
            <a:r>
              <a:rPr lang="zh-CN" altLang="zh-CN" sz="2800" dirty="0">
                <a:sym typeface="+mn-ea"/>
              </a:rPr>
              <a:t>，</a:t>
            </a:r>
            <a:r>
              <a:rPr lang="en-US" altLang="zh-CN" sz="2800" dirty="0">
                <a:sym typeface="+mn-ea"/>
              </a:rPr>
              <a:t>I3</a:t>
            </a:r>
            <a:r>
              <a:rPr lang="zh-CN" altLang="zh-CN" sz="2800" dirty="0">
                <a:sym typeface="+mn-ea"/>
              </a:rPr>
              <a:t>，</a:t>
            </a:r>
            <a:r>
              <a:rPr lang="en-US" altLang="zh-CN" sz="2800" dirty="0">
                <a:sym typeface="+mn-ea"/>
              </a:rPr>
              <a:t>I5}</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I3</a:t>
            </a:r>
            <a:r>
              <a:rPr lang="zh-CN" altLang="zh-CN" sz="2800" dirty="0">
                <a:sym typeface="+mn-ea"/>
              </a:rPr>
              <a:t>，</a:t>
            </a:r>
            <a:r>
              <a:rPr lang="en-US" altLang="zh-CN" sz="2800" dirty="0">
                <a:sym typeface="+mn-ea"/>
              </a:rPr>
              <a:t>I4}</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I3</a:t>
            </a:r>
            <a:r>
              <a:rPr lang="zh-CN" altLang="zh-CN" sz="2800" dirty="0">
                <a:sym typeface="+mn-ea"/>
              </a:rPr>
              <a:t>，</a:t>
            </a:r>
            <a:r>
              <a:rPr lang="en-US" altLang="zh-CN" sz="2800" dirty="0">
                <a:sym typeface="+mn-ea"/>
              </a:rPr>
              <a:t> I5}</a:t>
            </a:r>
            <a:r>
              <a:rPr lang="zh-CN" altLang="zh-CN" sz="2800" dirty="0">
                <a:sym typeface="+mn-ea"/>
              </a:rPr>
              <a:t>，</a:t>
            </a:r>
            <a:r>
              <a:rPr lang="en-US" altLang="zh-CN" sz="2800" dirty="0">
                <a:sym typeface="+mn-ea"/>
              </a:rPr>
              <a:t>{I2</a:t>
            </a:r>
            <a:r>
              <a:rPr lang="zh-CN" altLang="zh-CN" sz="2800" dirty="0">
                <a:sym typeface="+mn-ea"/>
              </a:rPr>
              <a:t>，</a:t>
            </a:r>
            <a:r>
              <a:rPr lang="en-US" altLang="zh-CN" sz="2800" dirty="0">
                <a:sym typeface="+mn-ea"/>
              </a:rPr>
              <a:t>I4</a:t>
            </a:r>
            <a:r>
              <a:rPr lang="zh-CN" altLang="zh-CN" sz="2800" dirty="0">
                <a:sym typeface="+mn-ea"/>
              </a:rPr>
              <a:t>，</a:t>
            </a:r>
            <a:r>
              <a:rPr lang="en-US" altLang="zh-CN" sz="2800" dirty="0">
                <a:sym typeface="+mn-ea"/>
              </a:rPr>
              <a:t>I5}}</a:t>
            </a:r>
            <a:endParaRPr lang="zh-CN" altLang="zh-CN" sz="2800" dirty="0"/>
          </a:p>
          <a:p>
            <a:endParaRPr lang="zh-CN" altLang="zh-CN"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49450" y="721995"/>
            <a:ext cx="9680575" cy="5645785"/>
          </a:xfrm>
        </p:spPr>
        <p:txBody>
          <a:bodyPr/>
          <a:lstStyle/>
          <a:p>
            <a:endParaRPr lang="en-US" altLang="zh-CN" sz="2000" dirty="0"/>
          </a:p>
          <a:p>
            <a:r>
              <a:rPr lang="en-US" altLang="zh-CN" sz="2400" dirty="0"/>
              <a:t>(2)</a:t>
            </a:r>
            <a:r>
              <a:rPr lang="en-US" altLang="zh-CN" sz="2400" b="1" dirty="0"/>
              <a:t> </a:t>
            </a:r>
            <a:r>
              <a:rPr lang="zh-CN" altLang="zh-CN" sz="2400" b="1" dirty="0"/>
              <a:t>使用</a:t>
            </a:r>
            <a:r>
              <a:rPr lang="en-US" altLang="zh-CN" sz="2400" b="1" dirty="0" err="1"/>
              <a:t>Apriori</a:t>
            </a:r>
            <a:r>
              <a:rPr lang="zh-CN" altLang="zh-CN" sz="2400" b="1" dirty="0"/>
              <a:t>性质剪枝</a:t>
            </a:r>
            <a:r>
              <a:rPr lang="zh-CN" altLang="zh-CN" sz="2400" dirty="0"/>
              <a:t>：频繁项集的所有非空子集也必须是频繁的。例</a:t>
            </a:r>
            <a:r>
              <a:rPr lang="en-US" altLang="zh-CN" sz="2400" dirty="0"/>
              <a:t>{I1</a:t>
            </a:r>
            <a:r>
              <a:rPr lang="zh-CN" altLang="zh-CN" sz="2400" dirty="0"/>
              <a:t>，</a:t>
            </a:r>
            <a:r>
              <a:rPr lang="en-US" altLang="zh-CN" sz="2400" dirty="0"/>
              <a:t>I3</a:t>
            </a:r>
            <a:r>
              <a:rPr lang="zh-CN" altLang="zh-CN" sz="2400" dirty="0"/>
              <a:t>，</a:t>
            </a:r>
            <a:r>
              <a:rPr lang="en-US" altLang="zh-CN" sz="2400" dirty="0"/>
              <a:t>I5}</a:t>
            </a:r>
            <a:r>
              <a:rPr lang="zh-CN" altLang="zh-CN" sz="2400" dirty="0"/>
              <a:t>的</a:t>
            </a:r>
            <a:r>
              <a:rPr lang="en-US" altLang="zh-CN" sz="2400" dirty="0"/>
              <a:t>2-</a:t>
            </a:r>
            <a:r>
              <a:rPr lang="zh-CN" altLang="zh-CN" sz="2400" dirty="0"/>
              <a:t>项子集是</a:t>
            </a:r>
            <a:r>
              <a:rPr lang="en-US" altLang="zh-CN" sz="2400" dirty="0"/>
              <a:t>{I1</a:t>
            </a:r>
            <a:r>
              <a:rPr lang="zh-CN" altLang="zh-CN" sz="2400" dirty="0"/>
              <a:t>，</a:t>
            </a:r>
            <a:r>
              <a:rPr lang="en-US" altLang="zh-CN" sz="2400" dirty="0"/>
              <a:t>I3}</a:t>
            </a:r>
            <a:r>
              <a:rPr lang="zh-CN" altLang="zh-CN" sz="2400" dirty="0"/>
              <a:t>，</a:t>
            </a:r>
            <a:r>
              <a:rPr lang="en-US" altLang="zh-CN" sz="2400" dirty="0"/>
              <a:t>{I1</a:t>
            </a:r>
            <a:r>
              <a:rPr lang="zh-CN" altLang="zh-CN" sz="2400" dirty="0"/>
              <a:t>，</a:t>
            </a:r>
            <a:r>
              <a:rPr lang="en-US" altLang="zh-CN" sz="2400" dirty="0"/>
              <a:t>I5}</a:t>
            </a:r>
            <a:r>
              <a:rPr lang="zh-CN" altLang="zh-CN" sz="2400" dirty="0"/>
              <a:t>和</a:t>
            </a:r>
            <a:r>
              <a:rPr lang="en-US" altLang="zh-CN" sz="2400" dirty="0"/>
              <a:t>{I3</a:t>
            </a:r>
            <a:r>
              <a:rPr lang="zh-CN" altLang="zh-CN" sz="2400" dirty="0"/>
              <a:t>，</a:t>
            </a:r>
            <a:r>
              <a:rPr lang="en-US" altLang="zh-CN" sz="2400" dirty="0"/>
              <a:t>I5}</a:t>
            </a:r>
            <a:r>
              <a:rPr lang="zh-CN" altLang="zh-CN" sz="2400" dirty="0"/>
              <a:t>，</a:t>
            </a:r>
            <a:r>
              <a:rPr lang="en-US" altLang="zh-CN" sz="2400" dirty="0"/>
              <a:t> {I3</a:t>
            </a:r>
            <a:r>
              <a:rPr lang="zh-CN" altLang="zh-CN" sz="2400" dirty="0"/>
              <a:t>，</a:t>
            </a:r>
            <a:r>
              <a:rPr lang="en-US" altLang="zh-CN" sz="2400" dirty="0"/>
              <a:t>I5}</a:t>
            </a:r>
            <a:r>
              <a:rPr lang="zh-CN" altLang="zh-CN" sz="2400" dirty="0"/>
              <a:t>不是</a:t>
            </a:r>
            <a:r>
              <a:rPr lang="en-US" altLang="zh-CN" sz="2400" dirty="0"/>
              <a:t>L</a:t>
            </a:r>
            <a:r>
              <a:rPr lang="en-US" altLang="zh-CN" sz="2400" baseline="-25000" dirty="0"/>
              <a:t>2</a:t>
            </a:r>
            <a:r>
              <a:rPr lang="zh-CN" altLang="en-US" sz="2400" dirty="0"/>
              <a:t>的元素</a:t>
            </a:r>
            <a:r>
              <a:rPr lang="zh-CN" altLang="zh-CN" sz="2400" dirty="0"/>
              <a:t>，因而不是频繁的。因此从</a:t>
            </a:r>
            <a:r>
              <a:rPr lang="en-US" altLang="zh-CN" sz="2400" dirty="0"/>
              <a:t>C</a:t>
            </a:r>
            <a:r>
              <a:rPr lang="en-US" altLang="zh-CN" sz="2400" baseline="-25000" dirty="0"/>
              <a:t>3</a:t>
            </a:r>
            <a:r>
              <a:rPr lang="zh-CN" altLang="zh-CN" sz="2400" dirty="0"/>
              <a:t>中删除</a:t>
            </a:r>
            <a:r>
              <a:rPr lang="en-US" altLang="zh-CN" sz="2400" dirty="0"/>
              <a:t>{I1</a:t>
            </a:r>
            <a:r>
              <a:rPr lang="zh-CN" altLang="zh-CN" sz="2400" dirty="0"/>
              <a:t>，</a:t>
            </a:r>
            <a:r>
              <a:rPr lang="en-US" altLang="zh-CN" sz="2400" dirty="0"/>
              <a:t>I3</a:t>
            </a:r>
            <a:r>
              <a:rPr lang="zh-CN" altLang="zh-CN" sz="2400" dirty="0"/>
              <a:t>，</a:t>
            </a:r>
            <a:r>
              <a:rPr lang="en-US" altLang="zh-CN" sz="2400" dirty="0"/>
              <a:t>I5}</a:t>
            </a:r>
            <a:r>
              <a:rPr lang="zh-CN" altLang="zh-CN" sz="2400" dirty="0"/>
              <a:t>，因此剪枝</a:t>
            </a:r>
            <a:r>
              <a:rPr lang="en-US" altLang="zh-CN" sz="2400" b="1" dirty="0">
                <a:solidFill>
                  <a:srgbClr val="C00000"/>
                </a:solidFill>
              </a:rPr>
              <a:t>C</a:t>
            </a:r>
            <a:r>
              <a:rPr lang="en-US" altLang="zh-CN" sz="2400" b="1" baseline="-25000" dirty="0">
                <a:solidFill>
                  <a:srgbClr val="C00000"/>
                </a:solidFill>
              </a:rPr>
              <a:t>3</a:t>
            </a:r>
            <a:r>
              <a:rPr lang="en-US" altLang="zh-CN" sz="2400" b="1" dirty="0">
                <a:solidFill>
                  <a:srgbClr val="C00000"/>
                </a:solidFill>
              </a:rPr>
              <a:t>={{I1</a:t>
            </a:r>
            <a:r>
              <a:rPr lang="zh-CN" altLang="zh-CN" sz="2400" b="1" dirty="0">
                <a:solidFill>
                  <a:srgbClr val="C00000"/>
                </a:solidFill>
              </a:rPr>
              <a:t>，</a:t>
            </a:r>
            <a:r>
              <a:rPr lang="en-US" altLang="zh-CN" sz="2400" b="1" dirty="0">
                <a:solidFill>
                  <a:srgbClr val="C00000"/>
                </a:solidFill>
              </a:rPr>
              <a:t>I2</a:t>
            </a:r>
            <a:r>
              <a:rPr lang="zh-CN" altLang="zh-CN" sz="2400" b="1" dirty="0">
                <a:solidFill>
                  <a:srgbClr val="C00000"/>
                </a:solidFill>
              </a:rPr>
              <a:t>，</a:t>
            </a:r>
            <a:r>
              <a:rPr lang="en-US" altLang="zh-CN" sz="2400" b="1" dirty="0">
                <a:solidFill>
                  <a:srgbClr val="C00000"/>
                </a:solidFill>
              </a:rPr>
              <a:t>I3}</a:t>
            </a:r>
            <a:r>
              <a:rPr lang="zh-CN" altLang="zh-CN" sz="2400" b="1" dirty="0">
                <a:solidFill>
                  <a:srgbClr val="C00000"/>
                </a:solidFill>
              </a:rPr>
              <a:t>，</a:t>
            </a:r>
            <a:r>
              <a:rPr lang="en-US" altLang="zh-CN" sz="2400" b="1" dirty="0">
                <a:solidFill>
                  <a:srgbClr val="C00000"/>
                </a:solidFill>
              </a:rPr>
              <a:t>{I1</a:t>
            </a:r>
            <a:r>
              <a:rPr lang="zh-CN" altLang="zh-CN" sz="2400" b="1" dirty="0">
                <a:solidFill>
                  <a:srgbClr val="C00000"/>
                </a:solidFill>
              </a:rPr>
              <a:t>，</a:t>
            </a:r>
            <a:r>
              <a:rPr lang="en-US" altLang="zh-CN" sz="2400" b="1" dirty="0">
                <a:solidFill>
                  <a:srgbClr val="C00000"/>
                </a:solidFill>
              </a:rPr>
              <a:t>I2</a:t>
            </a:r>
            <a:r>
              <a:rPr lang="zh-CN" altLang="zh-CN" sz="2400" b="1" dirty="0">
                <a:solidFill>
                  <a:srgbClr val="C00000"/>
                </a:solidFill>
              </a:rPr>
              <a:t>，</a:t>
            </a:r>
            <a:r>
              <a:rPr lang="en-US" altLang="zh-CN" sz="2400" b="1" dirty="0">
                <a:solidFill>
                  <a:srgbClr val="C00000"/>
                </a:solidFill>
              </a:rPr>
              <a:t>I5}}</a:t>
            </a:r>
            <a:r>
              <a:rPr lang="zh-CN" altLang="zh-CN" sz="2400" dirty="0"/>
              <a:t>。</a:t>
            </a:r>
            <a:endParaRPr lang="zh-CN" altLang="zh-CN" sz="2400" dirty="0"/>
          </a:p>
        </p:txBody>
      </p:sp>
      <p:pic>
        <p:nvPicPr>
          <p:cNvPr id="4" name="图片 3"/>
          <p:cNvPicPr>
            <a:picLocks noChangeAspect="1"/>
          </p:cNvPicPr>
          <p:nvPr/>
        </p:nvPicPr>
        <p:blipFill>
          <a:blip r:embed="rId1"/>
          <a:srcRect l="70580" b="17181"/>
          <a:stretch>
            <a:fillRect/>
          </a:stretch>
        </p:blipFill>
        <p:spPr>
          <a:xfrm>
            <a:off x="8034020" y="2634615"/>
            <a:ext cx="2990215" cy="4002405"/>
          </a:xfrm>
          <a:prstGeom prst="rect">
            <a:avLst/>
          </a:prstGeom>
        </p:spPr>
      </p:pic>
      <p:sp>
        <p:nvSpPr>
          <p:cNvPr id="2" name="文本框 1"/>
          <p:cNvSpPr txBox="1"/>
          <p:nvPr/>
        </p:nvSpPr>
        <p:spPr>
          <a:xfrm>
            <a:off x="1949450" y="3218180"/>
            <a:ext cx="5375910" cy="2061210"/>
          </a:xfrm>
          <a:prstGeom prst="rect">
            <a:avLst/>
          </a:prstGeom>
          <a:solidFill>
            <a:schemeClr val="accent1">
              <a:lumMod val="20000"/>
              <a:lumOff val="80000"/>
            </a:schemeClr>
          </a:solidFill>
        </p:spPr>
        <p:txBody>
          <a:bodyPr wrap="square" rtlCol="0">
            <a:spAutoFit/>
          </a:bodyPr>
          <a:p>
            <a:r>
              <a:rPr lang="en-US" altLang="zh-CN" sz="3200" dirty="0">
                <a:sym typeface="+mn-ea"/>
              </a:rPr>
              <a:t>{I1</a:t>
            </a:r>
            <a:r>
              <a:rPr lang="zh-CN" altLang="zh-CN" sz="3200" dirty="0">
                <a:sym typeface="+mn-ea"/>
              </a:rPr>
              <a:t>，</a:t>
            </a:r>
            <a:r>
              <a:rPr lang="en-US" altLang="zh-CN" sz="3200" dirty="0">
                <a:sym typeface="+mn-ea"/>
              </a:rPr>
              <a:t>I2</a:t>
            </a:r>
            <a:r>
              <a:rPr lang="zh-CN" altLang="zh-CN" sz="3200" dirty="0">
                <a:sym typeface="+mn-ea"/>
              </a:rPr>
              <a:t>，</a:t>
            </a:r>
            <a:r>
              <a:rPr lang="en-US" altLang="zh-CN" sz="3200" dirty="0">
                <a:sym typeface="+mn-ea"/>
              </a:rPr>
              <a:t>I3}</a:t>
            </a:r>
            <a:r>
              <a:rPr lang="zh-CN" altLang="zh-CN" sz="3200" dirty="0">
                <a:sym typeface="+mn-ea"/>
              </a:rPr>
              <a:t>，</a:t>
            </a:r>
            <a:r>
              <a:rPr lang="en-US" altLang="zh-CN" sz="3200" dirty="0">
                <a:sym typeface="+mn-ea"/>
              </a:rPr>
              <a:t>{I1</a:t>
            </a:r>
            <a:r>
              <a:rPr lang="zh-CN" altLang="zh-CN" sz="3200" dirty="0">
                <a:sym typeface="+mn-ea"/>
              </a:rPr>
              <a:t>，</a:t>
            </a:r>
            <a:r>
              <a:rPr lang="en-US" altLang="zh-CN" sz="3200" dirty="0">
                <a:sym typeface="+mn-ea"/>
              </a:rPr>
              <a:t>I2</a:t>
            </a:r>
            <a:r>
              <a:rPr lang="zh-CN" altLang="zh-CN" sz="3200" dirty="0">
                <a:sym typeface="+mn-ea"/>
              </a:rPr>
              <a:t>，</a:t>
            </a:r>
            <a:r>
              <a:rPr lang="en-US" altLang="zh-CN" sz="3200" dirty="0">
                <a:sym typeface="+mn-ea"/>
              </a:rPr>
              <a:t>I5}</a:t>
            </a:r>
            <a:r>
              <a:rPr lang="zh-CN" altLang="zh-CN" sz="3200" dirty="0">
                <a:sym typeface="+mn-ea"/>
              </a:rPr>
              <a:t>，</a:t>
            </a:r>
            <a:endParaRPr lang="zh-CN" altLang="zh-CN" sz="3200" dirty="0">
              <a:sym typeface="+mn-ea"/>
            </a:endParaRPr>
          </a:p>
          <a:p>
            <a:r>
              <a:rPr lang="en-US" altLang="zh-CN" sz="3200" dirty="0">
                <a:sym typeface="+mn-ea"/>
              </a:rPr>
              <a:t>{I1</a:t>
            </a:r>
            <a:r>
              <a:rPr lang="zh-CN" altLang="zh-CN" sz="3200" dirty="0">
                <a:sym typeface="+mn-ea"/>
              </a:rPr>
              <a:t>，</a:t>
            </a:r>
            <a:r>
              <a:rPr lang="en-US" altLang="zh-CN" sz="3200" dirty="0">
                <a:sym typeface="+mn-ea"/>
              </a:rPr>
              <a:t>I3</a:t>
            </a:r>
            <a:r>
              <a:rPr lang="zh-CN" altLang="zh-CN" sz="3200" dirty="0">
                <a:sym typeface="+mn-ea"/>
              </a:rPr>
              <a:t>，</a:t>
            </a:r>
            <a:r>
              <a:rPr lang="en-US" altLang="zh-CN" sz="3200" dirty="0">
                <a:sym typeface="+mn-ea"/>
              </a:rPr>
              <a:t>I5}</a:t>
            </a:r>
            <a:r>
              <a:rPr lang="zh-CN" altLang="zh-CN" sz="3200" dirty="0">
                <a:sym typeface="+mn-ea"/>
              </a:rPr>
              <a:t>，</a:t>
            </a:r>
            <a:r>
              <a:rPr lang="en-US" altLang="zh-CN" sz="3200" dirty="0">
                <a:sym typeface="+mn-ea"/>
              </a:rPr>
              <a:t>{I2</a:t>
            </a:r>
            <a:r>
              <a:rPr lang="zh-CN" altLang="zh-CN" sz="3200" dirty="0">
                <a:sym typeface="+mn-ea"/>
              </a:rPr>
              <a:t>，</a:t>
            </a:r>
            <a:r>
              <a:rPr lang="en-US" altLang="zh-CN" sz="3200" dirty="0">
                <a:sym typeface="+mn-ea"/>
              </a:rPr>
              <a:t>I3</a:t>
            </a:r>
            <a:r>
              <a:rPr lang="zh-CN" altLang="zh-CN" sz="3200" dirty="0">
                <a:sym typeface="+mn-ea"/>
              </a:rPr>
              <a:t>，</a:t>
            </a:r>
            <a:r>
              <a:rPr lang="en-US" altLang="zh-CN" sz="3200" dirty="0">
                <a:sym typeface="+mn-ea"/>
              </a:rPr>
              <a:t>I4}</a:t>
            </a:r>
            <a:r>
              <a:rPr lang="zh-CN" altLang="zh-CN" sz="3200" dirty="0">
                <a:sym typeface="+mn-ea"/>
              </a:rPr>
              <a:t>，</a:t>
            </a:r>
            <a:endParaRPr lang="zh-CN" altLang="zh-CN" sz="3200" dirty="0">
              <a:sym typeface="+mn-ea"/>
            </a:endParaRPr>
          </a:p>
          <a:p>
            <a:r>
              <a:rPr lang="en-US" altLang="zh-CN" sz="3200" dirty="0">
                <a:sym typeface="+mn-ea"/>
              </a:rPr>
              <a:t>{I2</a:t>
            </a:r>
            <a:r>
              <a:rPr lang="zh-CN" altLang="zh-CN" sz="3200" dirty="0">
                <a:sym typeface="+mn-ea"/>
              </a:rPr>
              <a:t>，</a:t>
            </a:r>
            <a:r>
              <a:rPr lang="en-US" altLang="zh-CN" sz="3200" dirty="0">
                <a:sym typeface="+mn-ea"/>
              </a:rPr>
              <a:t>I3</a:t>
            </a:r>
            <a:r>
              <a:rPr lang="zh-CN" altLang="zh-CN" sz="3200" dirty="0">
                <a:sym typeface="+mn-ea"/>
              </a:rPr>
              <a:t>，</a:t>
            </a:r>
            <a:r>
              <a:rPr lang="en-US" altLang="zh-CN" sz="3200" dirty="0">
                <a:sym typeface="+mn-ea"/>
              </a:rPr>
              <a:t> I5}</a:t>
            </a:r>
            <a:r>
              <a:rPr lang="zh-CN" altLang="zh-CN" sz="3200" dirty="0">
                <a:sym typeface="+mn-ea"/>
              </a:rPr>
              <a:t>，</a:t>
            </a:r>
            <a:r>
              <a:rPr lang="en-US" altLang="zh-CN" sz="3200" dirty="0">
                <a:sym typeface="+mn-ea"/>
              </a:rPr>
              <a:t>{I2</a:t>
            </a:r>
            <a:r>
              <a:rPr lang="zh-CN" altLang="zh-CN" sz="3200" dirty="0">
                <a:sym typeface="+mn-ea"/>
              </a:rPr>
              <a:t>，</a:t>
            </a:r>
            <a:r>
              <a:rPr lang="en-US" altLang="zh-CN" sz="3200" dirty="0">
                <a:sym typeface="+mn-ea"/>
              </a:rPr>
              <a:t>I4</a:t>
            </a:r>
            <a:r>
              <a:rPr lang="zh-CN" altLang="zh-CN" sz="3200" dirty="0">
                <a:sym typeface="+mn-ea"/>
              </a:rPr>
              <a:t>，</a:t>
            </a:r>
            <a:r>
              <a:rPr lang="en-US" altLang="zh-CN" sz="3200" dirty="0">
                <a:sym typeface="+mn-ea"/>
              </a:rPr>
              <a:t>I5}</a:t>
            </a:r>
            <a:endParaRPr lang="zh-CN" altLang="zh-CN" sz="3200" dirty="0"/>
          </a:p>
          <a:p>
            <a:endParaRPr lang="zh-CN" altLang="zh-CN" sz="3200" dirty="0"/>
          </a:p>
        </p:txBody>
      </p:sp>
      <p:sp>
        <p:nvSpPr>
          <p:cNvPr id="5" name="文本框 4"/>
          <p:cNvSpPr txBox="1"/>
          <p:nvPr/>
        </p:nvSpPr>
        <p:spPr>
          <a:xfrm>
            <a:off x="4998720" y="5016500"/>
            <a:ext cx="1530985" cy="583565"/>
          </a:xfrm>
          <a:prstGeom prst="rect">
            <a:avLst/>
          </a:prstGeom>
          <a:noFill/>
        </p:spPr>
        <p:txBody>
          <a:bodyPr wrap="square" rtlCol="0">
            <a:spAutoFit/>
          </a:bodyPr>
          <a:p>
            <a:r>
              <a:rPr lang="zh-CN" altLang="en-US" sz="3200" b="1"/>
              <a:t>候选</a:t>
            </a:r>
            <a:endParaRPr lang="zh-CN" altLang="en-US" sz="32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35946" y="677663"/>
            <a:ext cx="8915400" cy="3777622"/>
          </a:xfrm>
        </p:spPr>
        <p:txBody>
          <a:bodyPr/>
          <a:lstStyle/>
          <a:p>
            <a:r>
              <a:rPr lang="en-US" altLang="zh-CN" sz="2400" b="1" dirty="0"/>
              <a:t>4</a:t>
            </a:r>
            <a:r>
              <a:rPr lang="zh-CN" altLang="zh-CN" sz="2400" b="1" dirty="0"/>
              <a:t>、第四次扫描</a:t>
            </a:r>
            <a:endParaRPr lang="zh-CN" altLang="zh-CN" sz="2400" dirty="0"/>
          </a:p>
          <a:p>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算法使用</a:t>
            </a:r>
            <a:r>
              <a:rPr lang="en-US" altLang="zh-CN" sz="2400" dirty="0">
                <a:latin typeface="楷体" panose="02010609060101010101" pitchFamily="49" charset="-122"/>
                <a:ea typeface="楷体" panose="02010609060101010101" pitchFamily="49" charset="-122"/>
              </a:rPr>
              <a:t>L</a:t>
            </a:r>
            <a:r>
              <a:rPr lang="en-US" altLang="zh-CN" sz="2400" baseline="-250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L</a:t>
            </a:r>
            <a:r>
              <a:rPr lang="en-US" altLang="zh-CN" sz="2400" baseline="-250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产生候选</a:t>
            </a:r>
            <a:r>
              <a:rPr lang="en-US" altLang="zh-CN" sz="2400" dirty="0">
                <a:latin typeface="楷体" panose="02010609060101010101" pitchFamily="49" charset="-122"/>
                <a:ea typeface="楷体" panose="02010609060101010101" pitchFamily="49" charset="-122"/>
              </a:rPr>
              <a:t>4-</a:t>
            </a:r>
            <a:r>
              <a:rPr lang="zh-CN" altLang="zh-CN" sz="2400" dirty="0">
                <a:latin typeface="楷体" panose="02010609060101010101" pitchFamily="49" charset="-122"/>
                <a:ea typeface="楷体" panose="02010609060101010101" pitchFamily="49" charset="-122"/>
              </a:rPr>
              <a:t>项集的集合</a:t>
            </a:r>
            <a:r>
              <a:rPr lang="en-US" altLang="zh-CN" sz="2400" dirty="0">
                <a:latin typeface="楷体" panose="02010609060101010101" pitchFamily="49" charset="-122"/>
                <a:ea typeface="楷体" panose="02010609060101010101" pitchFamily="49" charset="-122"/>
              </a:rPr>
              <a:t>C</a:t>
            </a:r>
            <a:r>
              <a:rPr lang="en-US" altLang="zh-CN" sz="2400" baseline="-25000" dirty="0">
                <a:latin typeface="楷体" panose="02010609060101010101" pitchFamily="49" charset="-122"/>
                <a:ea typeface="楷体" panose="02010609060101010101" pitchFamily="49" charset="-122"/>
              </a:rPr>
              <a:t>4</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L</a:t>
            </a:r>
            <a:r>
              <a:rPr lang="en-US" altLang="zh-CN" sz="2400" baseline="-250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L</a:t>
            </a:r>
            <a:r>
              <a:rPr lang="en-US" altLang="zh-CN" sz="2400" baseline="-25000" dirty="0">
                <a:latin typeface="楷体" panose="02010609060101010101" pitchFamily="49" charset="-122"/>
                <a:ea typeface="楷体" panose="02010609060101010101" pitchFamily="49" charset="-122"/>
              </a:rPr>
              <a:t>3</a:t>
            </a:r>
            <a:r>
              <a:rPr lang="en-US" altLang="zh-CN" sz="2400" dirty="0">
                <a:latin typeface="楷体" panose="02010609060101010101" pitchFamily="49" charset="-122"/>
                <a:ea typeface="楷体" panose="02010609060101010101" pitchFamily="49" charset="-122"/>
              </a:rPr>
              <a:t>={{I1</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I2</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I3</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I5}}</a:t>
            </a:r>
            <a:r>
              <a:rPr lang="zh-CN" altLang="zh-CN" sz="2400" dirty="0">
                <a:latin typeface="楷体" panose="02010609060101010101" pitchFamily="49" charset="-122"/>
                <a:ea typeface="楷体" panose="02010609060101010101" pitchFamily="49" charset="-122"/>
              </a:rPr>
              <a:t>，根据</a:t>
            </a:r>
            <a:r>
              <a:rPr lang="en-US" altLang="zh-CN" sz="2400" dirty="0" err="1">
                <a:latin typeface="楷体" panose="02010609060101010101" pitchFamily="49" charset="-122"/>
                <a:ea typeface="楷体" panose="02010609060101010101" pitchFamily="49" charset="-122"/>
              </a:rPr>
              <a:t>Apriori</a:t>
            </a:r>
            <a:r>
              <a:rPr lang="zh-CN" altLang="zh-CN" sz="2400" dirty="0">
                <a:latin typeface="楷体" panose="02010609060101010101" pitchFamily="49" charset="-122"/>
                <a:ea typeface="楷体" panose="02010609060101010101" pitchFamily="49" charset="-122"/>
              </a:rPr>
              <a:t>性质，因为它的子集</a:t>
            </a:r>
            <a:r>
              <a:rPr lang="en-US" altLang="zh-CN" sz="2400" dirty="0">
                <a:latin typeface="楷体" panose="02010609060101010101" pitchFamily="49" charset="-122"/>
                <a:ea typeface="楷体" panose="02010609060101010101" pitchFamily="49" charset="-122"/>
              </a:rPr>
              <a:t>{I2</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I3</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I5}</a:t>
            </a:r>
            <a:r>
              <a:rPr lang="zh-CN" altLang="zh-CN" sz="2400" dirty="0">
                <a:latin typeface="楷体" panose="02010609060101010101" pitchFamily="49" charset="-122"/>
                <a:ea typeface="楷体" panose="02010609060101010101" pitchFamily="49" charset="-122"/>
              </a:rPr>
              <a:t>不是频繁的，所以这个项集被删除。这样</a:t>
            </a:r>
            <a:r>
              <a:rPr lang="en-US" altLang="zh-CN" sz="2400" dirty="0">
                <a:latin typeface="楷体" panose="02010609060101010101" pitchFamily="49" charset="-122"/>
                <a:ea typeface="楷体" panose="02010609060101010101" pitchFamily="49" charset="-122"/>
              </a:rPr>
              <a:t>C</a:t>
            </a:r>
            <a:r>
              <a:rPr lang="en-US" altLang="zh-CN" sz="2400" baseline="-25000" dirty="0">
                <a:latin typeface="楷体" panose="02010609060101010101" pitchFamily="49" charset="-122"/>
                <a:ea typeface="楷体" panose="02010609060101010101" pitchFamily="49" charset="-122"/>
              </a:rPr>
              <a:t>4</a:t>
            </a: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Φ，因此算法终止，找出了所有的频繁项集。</a:t>
            </a:r>
            <a:endParaRPr lang="en-US" altLang="zh-CN" sz="2400" dirty="0">
              <a:latin typeface="楷体" panose="02010609060101010101" pitchFamily="49" charset="-122"/>
              <a:ea typeface="楷体" panose="02010609060101010101" pitchFamily="49" charset="-122"/>
            </a:endParaRPr>
          </a:p>
          <a:p>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375852" y="1540510"/>
            <a:ext cx="8915400" cy="3777622"/>
          </a:xfrm>
        </p:spPr>
        <p:txBody>
          <a:bodyPr/>
          <a:p>
            <a:r>
              <a:rPr lang="zh-CN" altLang="zh-CN" sz="2800" dirty="0">
                <a:sym typeface="+mn-ea"/>
              </a:rPr>
              <a:t>【例</a:t>
            </a:r>
            <a:r>
              <a:rPr lang="en-US" altLang="zh-CN" sz="2800" dirty="0">
                <a:sym typeface="+mn-ea"/>
              </a:rPr>
              <a:t>3-2</a:t>
            </a:r>
            <a:r>
              <a:rPr lang="zh-CN" altLang="zh-CN" sz="2800" dirty="0">
                <a:sym typeface="+mn-ea"/>
              </a:rPr>
              <a:t>】</a:t>
            </a:r>
            <a:r>
              <a:rPr lang="zh-CN" altLang="en-US" sz="2800" dirty="0">
                <a:sym typeface="+mn-ea"/>
              </a:rPr>
              <a:t>表</a:t>
            </a:r>
            <a:r>
              <a:rPr lang="en-US" altLang="zh-CN" sz="2800" dirty="0">
                <a:sym typeface="+mn-ea"/>
              </a:rPr>
              <a:t>3-2</a:t>
            </a:r>
            <a:r>
              <a:rPr lang="zh-CN" altLang="en-US" sz="2800" dirty="0">
                <a:sym typeface="+mn-ea"/>
              </a:rPr>
              <a:t>为某一超市销售事务数据库</a:t>
            </a:r>
            <a:r>
              <a:rPr lang="en-US" altLang="zh-CN" sz="2800" dirty="0">
                <a:sym typeface="+mn-ea"/>
              </a:rPr>
              <a:t>D</a:t>
            </a:r>
            <a:r>
              <a:rPr lang="zh-CN" altLang="en-US" sz="2800" dirty="0">
                <a:sym typeface="+mn-ea"/>
              </a:rPr>
              <a:t>，使用</a:t>
            </a:r>
            <a:r>
              <a:rPr lang="en-US" altLang="zh-CN" sz="2800" dirty="0" err="1">
                <a:sym typeface="+mn-ea"/>
              </a:rPr>
              <a:t>Apriori</a:t>
            </a:r>
            <a:r>
              <a:rPr lang="zh-CN" altLang="zh-CN" sz="2800" dirty="0">
                <a:sym typeface="+mn-ea"/>
              </a:rPr>
              <a:t>算法</a:t>
            </a:r>
            <a:r>
              <a:rPr lang="zh-CN" altLang="en-US" sz="2800" dirty="0">
                <a:sym typeface="+mn-ea"/>
              </a:rPr>
              <a:t>发现</a:t>
            </a:r>
            <a:r>
              <a:rPr lang="en-US" altLang="zh-CN" sz="2800" dirty="0">
                <a:sym typeface="+mn-ea"/>
              </a:rPr>
              <a:t>D</a:t>
            </a:r>
            <a:r>
              <a:rPr lang="zh-CN" altLang="en-US" sz="2800" dirty="0">
                <a:sym typeface="+mn-ea"/>
              </a:rPr>
              <a:t>中</a:t>
            </a:r>
            <a:r>
              <a:rPr lang="zh-CN" altLang="zh-CN" sz="2800" dirty="0">
                <a:sym typeface="+mn-ea"/>
              </a:rPr>
              <a:t>频繁项目集。</a:t>
            </a:r>
            <a:endParaRPr lang="zh-CN" altLang="zh-CN" sz="2800" dirty="0"/>
          </a:p>
          <a:p>
            <a:endParaRPr lang="zh-CN" altLang="zh-CN" sz="2800" dirty="0"/>
          </a:p>
        </p:txBody>
      </p:sp>
      <p:pic>
        <p:nvPicPr>
          <p:cNvPr id="23" name="图片 22"/>
          <p:cNvPicPr>
            <a:picLocks noChangeAspect="1"/>
          </p:cNvPicPr>
          <p:nvPr/>
        </p:nvPicPr>
        <p:blipFill>
          <a:blip r:embed="rId1"/>
          <a:stretch>
            <a:fillRect/>
          </a:stretch>
        </p:blipFill>
        <p:spPr>
          <a:xfrm>
            <a:off x="3066415" y="2638425"/>
            <a:ext cx="5168265" cy="39420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内容占位符 18"/>
          <p:cNvPicPr>
            <a:picLocks noGrp="1" noChangeAspect="1"/>
          </p:cNvPicPr>
          <p:nvPr>
            <p:ph idx="1"/>
          </p:nvPr>
        </p:nvPicPr>
        <p:blipFill>
          <a:blip r:embed="rId1"/>
          <a:stretch>
            <a:fillRect/>
          </a:stretch>
        </p:blipFill>
        <p:spPr>
          <a:xfrm>
            <a:off x="1691005" y="487680"/>
            <a:ext cx="9771380" cy="2203450"/>
          </a:xfrm>
          <a:prstGeom prst="rect">
            <a:avLst/>
          </a:prstGeom>
        </p:spPr>
      </p:pic>
      <p:pic>
        <p:nvPicPr>
          <p:cNvPr id="20" name="图片 19"/>
          <p:cNvPicPr>
            <a:picLocks noChangeAspect="1"/>
          </p:cNvPicPr>
          <p:nvPr/>
        </p:nvPicPr>
        <p:blipFill>
          <a:blip r:embed="rId2"/>
          <a:stretch>
            <a:fillRect/>
          </a:stretch>
        </p:blipFill>
        <p:spPr>
          <a:xfrm>
            <a:off x="2070735" y="2549525"/>
            <a:ext cx="9011920" cy="43084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203960" y="153035"/>
            <a:ext cx="8033385" cy="655193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5" name="图片 4"/>
          <p:cNvPicPr>
            <a:picLocks noChangeAspect="1"/>
          </p:cNvPicPr>
          <p:nvPr/>
        </p:nvPicPr>
        <p:blipFill>
          <a:blip r:embed="rId1"/>
          <a:stretch>
            <a:fillRect/>
          </a:stretch>
        </p:blipFill>
        <p:spPr>
          <a:xfrm>
            <a:off x="1554480" y="178435"/>
            <a:ext cx="8427085" cy="4283710"/>
          </a:xfrm>
          <a:prstGeom prst="rect">
            <a:avLst/>
          </a:prstGeom>
        </p:spPr>
      </p:pic>
      <p:pic>
        <p:nvPicPr>
          <p:cNvPr id="6" name="图片 5"/>
          <p:cNvPicPr>
            <a:picLocks noChangeAspect="1"/>
          </p:cNvPicPr>
          <p:nvPr/>
        </p:nvPicPr>
        <p:blipFill>
          <a:blip r:embed="rId2"/>
          <a:stretch>
            <a:fillRect/>
          </a:stretch>
        </p:blipFill>
        <p:spPr>
          <a:xfrm>
            <a:off x="1554480" y="4054475"/>
            <a:ext cx="9672955" cy="232219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Apriori</a:t>
            </a:r>
            <a:r>
              <a:rPr lang="zh-CN" altLang="zh-CN" dirty="0"/>
              <a:t>算法源程序分析</a:t>
            </a:r>
            <a:br>
              <a:rPr lang="zh-CN" altLang="zh-CN" b="1" dirty="0"/>
            </a:br>
            <a:endParaRPr lang="zh-CN" altLang="en-US" dirty="0"/>
          </a:p>
        </p:txBody>
      </p:sp>
      <p:sp>
        <p:nvSpPr>
          <p:cNvPr id="3" name="内容占位符 2"/>
          <p:cNvSpPr>
            <a:spLocks noGrp="1"/>
          </p:cNvSpPr>
          <p:nvPr>
            <p:ph idx="1"/>
          </p:nvPr>
        </p:nvSpPr>
        <p:spPr>
          <a:xfrm>
            <a:off x="1638300" y="1583690"/>
            <a:ext cx="8916035" cy="3954780"/>
          </a:xfrm>
        </p:spPr>
        <p:txBody>
          <a:bodyPr/>
          <a:lstStyle/>
          <a:p>
            <a:r>
              <a:rPr lang="zh-CN" altLang="en-US" sz="2400" dirty="0"/>
              <a:t>程序见书</a:t>
            </a:r>
            <a:r>
              <a:rPr lang="en-US" altLang="zh-CN" sz="2400" dirty="0"/>
              <a:t>P35——P43</a:t>
            </a:r>
            <a:endParaRPr lang="en-US" altLang="zh-CN" sz="2400" dirty="0"/>
          </a:p>
          <a:p>
            <a:r>
              <a:rPr lang="zh-CN" altLang="en-US" sz="2400" dirty="0"/>
              <a:t>程序运行结果：</a:t>
            </a:r>
            <a:endParaRPr lang="zh-CN" altLang="en-US" sz="2400" dirty="0"/>
          </a:p>
        </p:txBody>
      </p:sp>
      <p:pic>
        <p:nvPicPr>
          <p:cNvPr id="4" name="图片 3"/>
          <p:cNvPicPr/>
          <p:nvPr/>
        </p:nvPicPr>
        <p:blipFill>
          <a:blip r:embed="rId1" cstate="print">
            <a:extLst>
              <a:ext uri="{28A0092B-C50C-407E-A947-70E740481C1C}">
                <a14:useLocalDpi xmlns:a14="http://schemas.microsoft.com/office/drawing/2010/main" val="0"/>
              </a:ext>
            </a:extLst>
          </a:blip>
          <a:stretch>
            <a:fillRect/>
          </a:stretch>
        </p:blipFill>
        <p:spPr>
          <a:xfrm>
            <a:off x="5429885" y="1384935"/>
            <a:ext cx="5291455" cy="5084445"/>
          </a:xfrm>
          <a:prstGeom prst="rect">
            <a:avLst/>
          </a:prstGeom>
        </p:spPr>
      </p:pic>
      <p:pic>
        <p:nvPicPr>
          <p:cNvPr id="51" name="图片 50"/>
          <p:cNvPicPr>
            <a:picLocks noChangeAspect="1"/>
          </p:cNvPicPr>
          <p:nvPr/>
        </p:nvPicPr>
        <p:blipFill>
          <a:blip r:embed="rId2"/>
          <a:stretch>
            <a:fillRect/>
          </a:stretch>
        </p:blipFill>
        <p:spPr>
          <a:xfrm>
            <a:off x="4262120" y="6469380"/>
            <a:ext cx="7626350" cy="2889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50" name="内容占位符 49"/>
          <p:cNvPicPr>
            <a:picLocks noChangeAspect="1"/>
          </p:cNvPicPr>
          <p:nvPr>
            <p:ph idx="1"/>
          </p:nvPr>
        </p:nvPicPr>
        <p:blipFill>
          <a:blip r:embed="rId1"/>
          <a:stretch>
            <a:fillRect/>
          </a:stretch>
        </p:blipFill>
        <p:spPr>
          <a:xfrm>
            <a:off x="2432685" y="1050290"/>
            <a:ext cx="9098280" cy="478599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9219" name="Picture 4" descr="政务问答数据集D"/>
          <p:cNvPicPr>
            <a:picLocks noChangeAspect="1"/>
          </p:cNvPicPr>
          <p:nvPr>
            <p:ph idx="1"/>
          </p:nvPr>
        </p:nvPicPr>
        <p:blipFill>
          <a:blip r:embed="rId1"/>
          <a:srcRect/>
          <a:stretch>
            <a:fillRect/>
          </a:stretch>
        </p:blipFill>
        <p:spPr>
          <a:xfrm>
            <a:off x="945515" y="1905000"/>
            <a:ext cx="10558780" cy="2940685"/>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10243" name="Picture 4" descr="频繁项集的发现过程完整版"/>
          <p:cNvPicPr>
            <a:picLocks noChangeAspect="1"/>
          </p:cNvPicPr>
          <p:nvPr>
            <p:ph idx="1"/>
          </p:nvPr>
        </p:nvPicPr>
        <p:blipFill>
          <a:blip r:embed="rId1"/>
          <a:srcRect b="35221"/>
          <a:stretch>
            <a:fillRect/>
          </a:stretch>
        </p:blipFill>
        <p:spPr>
          <a:xfrm>
            <a:off x="1666875" y="230505"/>
            <a:ext cx="11710670" cy="639635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10243" name="Picture 4" descr="频繁项集的发现过程完整版"/>
          <p:cNvPicPr>
            <a:picLocks noChangeAspect="1"/>
          </p:cNvPicPr>
          <p:nvPr>
            <p:ph idx="1"/>
          </p:nvPr>
        </p:nvPicPr>
        <p:blipFill>
          <a:blip r:embed="rId1"/>
          <a:srcRect t="63677"/>
          <a:stretch>
            <a:fillRect/>
          </a:stretch>
        </p:blipFill>
        <p:spPr>
          <a:xfrm>
            <a:off x="1512570" y="1016000"/>
            <a:ext cx="10520045" cy="322199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关联规则生成</a:t>
            </a:r>
            <a:endParaRPr lang="zh-CN" altLang="en-US"/>
          </a:p>
        </p:txBody>
      </p:sp>
      <p:pic>
        <p:nvPicPr>
          <p:cNvPr id="11268" name="Picture 4" descr="候选关联规则的置信度"/>
          <p:cNvPicPr>
            <a:picLocks noChangeAspect="1"/>
          </p:cNvPicPr>
          <p:nvPr>
            <p:ph idx="1"/>
          </p:nvPr>
        </p:nvPicPr>
        <p:blipFill>
          <a:blip r:embed="rId1"/>
          <a:stretch>
            <a:fillRect/>
          </a:stretch>
        </p:blipFill>
        <p:spPr>
          <a:xfrm>
            <a:off x="1099820" y="1640840"/>
            <a:ext cx="10773410" cy="4074160"/>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 </a:t>
            </a:r>
            <a:r>
              <a:rPr lang="en-US" altLang="zh-CN" dirty="0" err="1"/>
              <a:t>Apriori</a:t>
            </a:r>
            <a:r>
              <a:rPr lang="zh-CN" altLang="zh-CN" dirty="0"/>
              <a:t>算法特点及应用</a:t>
            </a:r>
            <a:br>
              <a:rPr lang="zh-CN" altLang="zh-CN" b="1" dirty="0"/>
            </a:br>
            <a:endParaRPr lang="zh-CN" altLang="en-US" dirty="0"/>
          </a:p>
        </p:txBody>
      </p:sp>
      <p:sp>
        <p:nvSpPr>
          <p:cNvPr id="3" name="内容占位符 2"/>
          <p:cNvSpPr>
            <a:spLocks noGrp="1"/>
          </p:cNvSpPr>
          <p:nvPr>
            <p:ph idx="1"/>
          </p:nvPr>
        </p:nvSpPr>
        <p:spPr>
          <a:xfrm>
            <a:off x="2589212" y="1670685"/>
            <a:ext cx="8915400" cy="3777622"/>
          </a:xfrm>
        </p:spPr>
        <p:txBody>
          <a:bodyPr/>
          <a:lstStyle/>
          <a:p>
            <a:r>
              <a:rPr lang="en-US" altLang="zh-CN" sz="2400" b="1" dirty="0"/>
              <a:t>3.5.1 </a:t>
            </a:r>
            <a:r>
              <a:rPr lang="en-US" altLang="zh-CN" sz="2400" b="1" dirty="0" err="1"/>
              <a:t>Apriori</a:t>
            </a:r>
            <a:r>
              <a:rPr lang="zh-CN" altLang="zh-CN" sz="2400" b="1" dirty="0"/>
              <a:t>算法的特点</a:t>
            </a:r>
            <a:endParaRPr lang="zh-CN" altLang="zh-CN" sz="2400" b="1" dirty="0"/>
          </a:p>
          <a:p>
            <a:r>
              <a:rPr lang="en-US" altLang="zh-CN" sz="2000" dirty="0" err="1"/>
              <a:t>Apriori</a:t>
            </a:r>
            <a:r>
              <a:rPr lang="zh-CN" altLang="zh-CN" sz="2000" dirty="0"/>
              <a:t>算法是应用最广泛的关联规则挖掘算法，它有如下优点。</a:t>
            </a:r>
            <a:endParaRPr lang="zh-CN" altLang="zh-CN" sz="2000" dirty="0"/>
          </a:p>
          <a:p>
            <a:endParaRPr lang="zh-CN" altLang="zh-CN" sz="2000" dirty="0"/>
          </a:p>
        </p:txBody>
      </p:sp>
      <p:pic>
        <p:nvPicPr>
          <p:cNvPr id="25" name="图片 24"/>
          <p:cNvPicPr>
            <a:picLocks noChangeAspect="1"/>
          </p:cNvPicPr>
          <p:nvPr/>
        </p:nvPicPr>
        <p:blipFill>
          <a:blip r:embed="rId1"/>
          <a:stretch>
            <a:fillRect/>
          </a:stretch>
        </p:blipFill>
        <p:spPr>
          <a:xfrm>
            <a:off x="2090420" y="2606040"/>
            <a:ext cx="9413875" cy="35356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24772" y="721878"/>
            <a:ext cx="8915400" cy="3777622"/>
          </a:xfrm>
        </p:spPr>
        <p:txBody>
          <a:bodyPr/>
          <a:lstStyle/>
          <a:p>
            <a:r>
              <a:rPr lang="en-US" altLang="zh-CN" sz="2400" dirty="0" err="1"/>
              <a:t>Apriori</a:t>
            </a:r>
            <a:r>
              <a:rPr lang="zh-CN" altLang="zh-CN" sz="2400" dirty="0"/>
              <a:t>算法作为经典的频繁项目集生成算法</a:t>
            </a:r>
            <a:r>
              <a:rPr lang="en-US" altLang="zh-CN" sz="2400" dirty="0"/>
              <a:t>,</a:t>
            </a:r>
            <a:r>
              <a:rPr lang="zh-CN" altLang="zh-CN" sz="2400" dirty="0"/>
              <a:t>在数据挖掘中具有里程碑的作用</a:t>
            </a:r>
            <a:r>
              <a:rPr lang="en-US" altLang="zh-CN" sz="2400" dirty="0"/>
              <a:t>,</a:t>
            </a:r>
            <a:r>
              <a:rPr lang="zh-CN" altLang="zh-CN" sz="2400" dirty="0"/>
              <a:t>但是随着研究的深入</a:t>
            </a:r>
            <a:r>
              <a:rPr lang="en-US" altLang="zh-CN" sz="2400" dirty="0"/>
              <a:t>,</a:t>
            </a:r>
            <a:r>
              <a:rPr lang="zh-CN" altLang="zh-CN" sz="2400" dirty="0"/>
              <a:t>它的缺点也暴露出来</a:t>
            </a:r>
            <a:r>
              <a:rPr lang="en-US" altLang="zh-CN" sz="2400" dirty="0"/>
              <a:t>,</a:t>
            </a:r>
            <a:r>
              <a:rPr lang="zh-CN" altLang="zh-CN" sz="2400" dirty="0"/>
              <a:t>主要有以下几个缺点。</a:t>
            </a:r>
            <a:endParaRPr lang="zh-CN" altLang="zh-CN" sz="2400" dirty="0"/>
          </a:p>
          <a:p>
            <a:endParaRPr lang="zh-CN" altLang="zh-CN" sz="2400" dirty="0"/>
          </a:p>
        </p:txBody>
      </p:sp>
      <p:pic>
        <p:nvPicPr>
          <p:cNvPr id="4" name="图片 3"/>
          <p:cNvPicPr>
            <a:picLocks noChangeAspect="1"/>
          </p:cNvPicPr>
          <p:nvPr/>
        </p:nvPicPr>
        <p:blipFill>
          <a:blip r:embed="rId1"/>
          <a:srcRect b="62345"/>
          <a:stretch>
            <a:fillRect/>
          </a:stretch>
        </p:blipFill>
        <p:spPr>
          <a:xfrm>
            <a:off x="1659890" y="2682875"/>
            <a:ext cx="10163810" cy="201231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rcRect t="36530"/>
          <a:stretch>
            <a:fillRect/>
          </a:stretch>
        </p:blipFill>
        <p:spPr>
          <a:xfrm>
            <a:off x="1227455" y="1905000"/>
            <a:ext cx="10585450" cy="353441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13255" y="308610"/>
            <a:ext cx="9716135" cy="6241415"/>
          </a:xfrm>
        </p:spPr>
        <p:txBody>
          <a:bodyPr>
            <a:noAutofit/>
          </a:bodyPr>
          <a:lstStyle/>
          <a:p>
            <a:r>
              <a:rPr lang="en-US" altLang="zh-CN" sz="2800" b="1" dirty="0"/>
              <a:t>3.5.2 </a:t>
            </a:r>
            <a:r>
              <a:rPr lang="en-US" altLang="zh-CN" sz="2800" b="1" dirty="0" err="1"/>
              <a:t>Apriori</a:t>
            </a:r>
            <a:r>
              <a:rPr lang="en-US" altLang="zh-CN" sz="2800" b="1" dirty="0"/>
              <a:t> </a:t>
            </a:r>
            <a:r>
              <a:rPr lang="zh-CN" altLang="zh-CN" sz="2800" b="1" dirty="0"/>
              <a:t>算法的应用</a:t>
            </a:r>
            <a:endParaRPr lang="zh-CN" altLang="zh-CN" sz="2800" b="1" dirty="0"/>
          </a:p>
          <a:p>
            <a:r>
              <a:rPr lang="en-US" altLang="zh-CN" sz="2400" dirty="0">
                <a:latin typeface="楷体" panose="02010609060101010101" pitchFamily="49" charset="-122"/>
                <a:ea typeface="楷体" panose="02010609060101010101" pitchFamily="49" charset="-122"/>
              </a:rPr>
              <a:t>    </a:t>
            </a:r>
            <a:r>
              <a:rPr lang="en-US" altLang="zh-CN" sz="2400" dirty="0" err="1">
                <a:latin typeface="楷体" panose="02010609060101010101" pitchFamily="49" charset="-122"/>
                <a:ea typeface="楷体" panose="02010609060101010101" pitchFamily="49" charset="-122"/>
              </a:rPr>
              <a:t>Apriori</a:t>
            </a: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算法是应用最广泛的关联规则挖掘算法，通过对各种领域数据的关联性进行分析，挖掘成果在相关的决策制定过程中具有重要的参考价值。 </a:t>
            </a:r>
            <a:endParaRPr lang="zh-CN" altLang="zh-CN" sz="2400" dirty="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    </a:t>
            </a:r>
            <a:r>
              <a:rPr lang="en-US" altLang="zh-CN" sz="2400" dirty="0" err="1">
                <a:latin typeface="楷体" panose="02010609060101010101" pitchFamily="49" charset="-122"/>
                <a:ea typeface="楷体" panose="02010609060101010101" pitchFamily="49" charset="-122"/>
              </a:rPr>
              <a:t>Apriori</a:t>
            </a:r>
            <a:r>
              <a:rPr lang="zh-CN" altLang="zh-CN" sz="2400" dirty="0">
                <a:latin typeface="楷体" panose="02010609060101010101" pitchFamily="49" charset="-122"/>
                <a:ea typeface="楷体" panose="02010609060101010101" pitchFamily="49" charset="-122"/>
              </a:rPr>
              <a:t>算法广泛应用于商业中。例如，应用于消费市场价格分析中，它能够很快的求出各种产品之间的价格关系和它们之间的影响。通过数据挖掘，市场人员可以瞄准目标客户，采用个人股票行市、最新信息、特殊的市场推广活动或其他一些特殊的信息手段，从而极大地减少广告预算和增加收入。</a:t>
            </a:r>
            <a:endParaRPr lang="zh-CN" altLang="zh-CN" sz="2400" dirty="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    </a:t>
            </a:r>
            <a:r>
              <a:rPr lang="en-US" altLang="zh-CN" sz="2400" dirty="0" err="1">
                <a:latin typeface="楷体" panose="02010609060101010101" pitchFamily="49" charset="-122"/>
                <a:ea typeface="楷体" panose="02010609060101010101" pitchFamily="49" charset="-122"/>
              </a:rPr>
              <a:t>Apriori</a:t>
            </a:r>
            <a:r>
              <a:rPr lang="zh-CN" altLang="zh-CN" sz="2400" dirty="0">
                <a:latin typeface="楷体" panose="02010609060101010101" pitchFamily="49" charset="-122"/>
                <a:ea typeface="楷体" panose="02010609060101010101" pitchFamily="49" charset="-122"/>
              </a:rPr>
              <a:t>算法应用于网络安全领域，比如入侵检测技术中。早期中大型的电脑系统中都收集审计信息来建立跟踪档案，这些审计跟踪的目的多是为了性能测试或计费，因此对攻击检测提供的有用信息比较少。它通过对模式的学习和训练可以发现网络用户的异常行为模式，采用作用度的</a:t>
            </a:r>
            <a:r>
              <a:rPr lang="en-US" altLang="zh-CN" sz="2400" dirty="0" err="1">
                <a:latin typeface="楷体" panose="02010609060101010101" pitchFamily="49" charset="-122"/>
                <a:ea typeface="楷体" panose="02010609060101010101" pitchFamily="49" charset="-122"/>
              </a:rPr>
              <a:t>Apriori</a:t>
            </a:r>
            <a:r>
              <a:rPr lang="zh-CN" altLang="zh-CN" sz="2400" dirty="0">
                <a:latin typeface="楷体" panose="02010609060101010101" pitchFamily="49" charset="-122"/>
                <a:ea typeface="楷体" panose="02010609060101010101" pitchFamily="49" charset="-122"/>
              </a:rPr>
              <a:t>算法削弱了</a:t>
            </a:r>
            <a:r>
              <a:rPr lang="en-US" altLang="zh-CN" sz="2400" dirty="0" err="1">
                <a:latin typeface="楷体" panose="02010609060101010101" pitchFamily="49" charset="-122"/>
                <a:ea typeface="楷体" panose="02010609060101010101" pitchFamily="49" charset="-122"/>
              </a:rPr>
              <a:t>Apriori</a:t>
            </a:r>
            <a:r>
              <a:rPr lang="zh-CN" altLang="zh-CN" sz="2400" dirty="0">
                <a:latin typeface="楷体" panose="02010609060101010101" pitchFamily="49" charset="-122"/>
                <a:ea typeface="楷体" panose="02010609060101010101" pitchFamily="49" charset="-122"/>
              </a:rPr>
              <a:t>算法的挖掘结果规则，是网络入侵检测系统可以快速的发现用户的行为模式，能够快速的锁定攻击者，提高了基于关联规则的入侵检测系统的检测性。 </a:t>
            </a:r>
            <a:endParaRPr lang="zh-CN" altLang="zh-CN" sz="2400" dirty="0">
              <a:latin typeface="楷体" panose="02010609060101010101" pitchFamily="49" charset="-122"/>
              <a:ea typeface="楷体" panose="02010609060101010101" pitchFamily="49" charset="-122"/>
            </a:endParaRPr>
          </a:p>
          <a:p>
            <a:pPr marL="0" indent="0">
              <a:buNone/>
            </a:pPr>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53285" y="809625"/>
            <a:ext cx="9289415" cy="4417695"/>
          </a:xfrm>
        </p:spPr>
        <p:txBody>
          <a:bodyPr>
            <a:noAutofit/>
          </a:bodyPr>
          <a:lstStyle/>
          <a:p>
            <a:r>
              <a:rPr lang="en-US" altLang="zh-CN" sz="2800" dirty="0">
                <a:latin typeface="楷体" panose="02010609060101010101" pitchFamily="49" charset="-122"/>
                <a:ea typeface="楷体" panose="02010609060101010101" pitchFamily="49" charset="-122"/>
              </a:rPr>
              <a:t>   </a:t>
            </a:r>
            <a:r>
              <a:rPr lang="en-US" altLang="zh-CN" sz="2800" dirty="0" err="1">
                <a:latin typeface="楷体" panose="02010609060101010101" pitchFamily="49" charset="-122"/>
                <a:ea typeface="楷体" panose="02010609060101010101" pitchFamily="49" charset="-122"/>
              </a:rPr>
              <a:t>Apriori</a:t>
            </a:r>
            <a:r>
              <a:rPr lang="zh-CN" altLang="zh-CN" sz="2800" dirty="0">
                <a:latin typeface="楷体" panose="02010609060101010101" pitchFamily="49" charset="-122"/>
                <a:ea typeface="楷体" panose="02010609060101010101" pitchFamily="49" charset="-122"/>
              </a:rPr>
              <a:t>算法应用于高校管理中。随着高校贫困生人数的不断增加，学校管理部门资助工作难度也越加增大，数据挖掘算法可以帮助相关部分解决上述问题。例如，有的研究者将关联规则的</a:t>
            </a:r>
            <a:r>
              <a:rPr lang="en-US" altLang="zh-CN" sz="2800" dirty="0" err="1">
                <a:latin typeface="楷体" panose="02010609060101010101" pitchFamily="49" charset="-122"/>
                <a:ea typeface="楷体" panose="02010609060101010101" pitchFamily="49" charset="-122"/>
              </a:rPr>
              <a:t>Apriori</a:t>
            </a:r>
            <a:r>
              <a:rPr lang="zh-CN" altLang="zh-CN" sz="2800" dirty="0">
                <a:latin typeface="楷体" panose="02010609060101010101" pitchFamily="49" charset="-122"/>
                <a:ea typeface="楷体" panose="02010609060101010101" pitchFamily="49" charset="-122"/>
              </a:rPr>
              <a:t>算法应用到贫困助学体系中，并且针对经典</a:t>
            </a:r>
            <a:r>
              <a:rPr lang="en-US" altLang="zh-CN" sz="2800" dirty="0" err="1">
                <a:latin typeface="楷体" panose="02010609060101010101" pitchFamily="49" charset="-122"/>
                <a:ea typeface="楷体" panose="02010609060101010101" pitchFamily="49" charset="-122"/>
              </a:rPr>
              <a:t>Apriori</a:t>
            </a:r>
            <a:r>
              <a:rPr lang="zh-CN" altLang="zh-CN" sz="2800" dirty="0">
                <a:latin typeface="楷体" panose="02010609060101010101" pitchFamily="49" charset="-122"/>
                <a:ea typeface="楷体" panose="02010609060101010101" pitchFamily="49" charset="-122"/>
              </a:rPr>
              <a:t>挖掘算法存在的不足进行改进，先将事务数据库映射为一个布尔矩阵，用一种逐层递增的思想来动态的分配内存进行存储，再利用向量求</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与</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运算，寻找频繁项集。实验结果表明，这种改进后的</a:t>
            </a:r>
            <a:r>
              <a:rPr lang="en-US" altLang="zh-CN" sz="2800" dirty="0" err="1">
                <a:latin typeface="楷体" panose="02010609060101010101" pitchFamily="49" charset="-122"/>
                <a:ea typeface="楷体" panose="02010609060101010101" pitchFamily="49" charset="-122"/>
              </a:rPr>
              <a:t>Apriori</a:t>
            </a:r>
            <a:r>
              <a:rPr lang="zh-CN" altLang="zh-CN" sz="2800" dirty="0">
                <a:latin typeface="楷体" panose="02010609060101010101" pitchFamily="49" charset="-122"/>
                <a:ea typeface="楷体" panose="02010609060101010101" pitchFamily="49" charset="-122"/>
              </a:rPr>
              <a:t>算法在运行效率上有了很大的提升，挖掘出的规则也可以有效地辅助学校管理部门有针对性的开展贫困助学工作。</a:t>
            </a:r>
            <a:endParaRPr lang="zh-CN" altLang="zh-CN" sz="2800" dirty="0">
              <a:latin typeface="楷体" panose="02010609060101010101" pitchFamily="49" charset="-122"/>
              <a:ea typeface="楷体" panose="02010609060101010101" pitchFamily="49" charset="-122"/>
            </a:endParaRPr>
          </a:p>
          <a:p>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72640" y="1136650"/>
            <a:ext cx="9022080" cy="4489450"/>
          </a:xfrm>
        </p:spPr>
        <p:txBody>
          <a:bodyPr>
            <a:noAutofit/>
          </a:bodyPr>
          <a:p>
            <a:r>
              <a:rPr lang="en-US" altLang="zh-CN" sz="2800" dirty="0">
                <a:latin typeface="楷体" panose="02010609060101010101" pitchFamily="49" charset="-122"/>
                <a:ea typeface="楷体" panose="02010609060101010101" pitchFamily="49" charset="-122"/>
                <a:sym typeface="+mn-ea"/>
              </a:rPr>
              <a:t>    </a:t>
            </a:r>
            <a:r>
              <a:rPr lang="en-US" altLang="zh-CN" sz="2800" dirty="0" err="1">
                <a:latin typeface="楷体" panose="02010609060101010101" pitchFamily="49" charset="-122"/>
                <a:ea typeface="楷体" panose="02010609060101010101" pitchFamily="49" charset="-122"/>
                <a:sym typeface="+mn-ea"/>
              </a:rPr>
              <a:t>Apriori</a:t>
            </a:r>
            <a:r>
              <a:rPr lang="zh-CN" altLang="zh-CN" sz="2800" dirty="0">
                <a:latin typeface="楷体" panose="02010609060101010101" pitchFamily="49" charset="-122"/>
                <a:ea typeface="楷体" panose="02010609060101010101" pitchFamily="49" charset="-122"/>
                <a:sym typeface="+mn-ea"/>
              </a:rPr>
              <a:t>算法被广泛应用于移动通信领域。移动增值业务逐渐成为移动通信市场上最有活力、最具潜力、最受瞩目的业务。随着产业的复苏，越来越多的增值业务表现出强劲的发展势头，呈现出应用多元化、营销品牌化、管理集中化、合作纵深化的特点。针对这种趋势，在关联规则数据挖掘中广泛应用的</a:t>
            </a:r>
            <a:r>
              <a:rPr lang="en-US" altLang="zh-CN" sz="2800" dirty="0" err="1">
                <a:latin typeface="楷体" panose="02010609060101010101" pitchFamily="49" charset="-122"/>
                <a:ea typeface="楷体" panose="02010609060101010101" pitchFamily="49" charset="-122"/>
                <a:sym typeface="+mn-ea"/>
              </a:rPr>
              <a:t>Apriori</a:t>
            </a:r>
            <a:r>
              <a:rPr lang="zh-CN" altLang="zh-CN" sz="2800" dirty="0">
                <a:latin typeface="楷体" panose="02010609060101010101" pitchFamily="49" charset="-122"/>
                <a:ea typeface="楷体" panose="02010609060101010101" pitchFamily="49" charset="-122"/>
                <a:sym typeface="+mn-ea"/>
              </a:rPr>
              <a:t>算法被很多公司应用。例如，依托某电信运营商正在建设的增值业务</a:t>
            </a:r>
            <a:r>
              <a:rPr lang="en-US" altLang="zh-CN" sz="2800" dirty="0">
                <a:latin typeface="楷体" panose="02010609060101010101" pitchFamily="49" charset="-122"/>
                <a:ea typeface="楷体" panose="02010609060101010101" pitchFamily="49" charset="-122"/>
                <a:sym typeface="+mn-ea"/>
              </a:rPr>
              <a:t>Web</a:t>
            </a:r>
            <a:r>
              <a:rPr lang="zh-CN" altLang="zh-CN" sz="2800" dirty="0">
                <a:latin typeface="楷体" panose="02010609060101010101" pitchFamily="49" charset="-122"/>
                <a:ea typeface="楷体" panose="02010609060101010101" pitchFamily="49" charset="-122"/>
                <a:sym typeface="+mn-ea"/>
              </a:rPr>
              <a:t>数据仓库平台，对来自移动增值业务方面的调查数据进行了相关的挖掘处理，从而获得了关于用户行为特征和需求的间接反映市场动态的有用信息，这些信息在指导运营商的业务运营和辅助业务提供商的决策制定等方面具有十分重要的参考价值。</a:t>
            </a:r>
            <a:endParaRPr lang="zh-CN" altLang="zh-CN" sz="2800" dirty="0">
              <a:latin typeface="楷体" panose="02010609060101010101" pitchFamily="49" charset="-122"/>
              <a:ea typeface="楷体" panose="02010609060101010101" pitchFamily="49" charset="-122"/>
            </a:endParaRPr>
          </a:p>
          <a:p>
            <a:endParaRPr lang="zh-CN" altLang="zh-CN" sz="2000" dirty="0">
              <a:latin typeface="楷体" panose="02010609060101010101" pitchFamily="49" charset="-122"/>
              <a:ea typeface="楷体" panose="02010609060101010101" pitchFamily="49" charset="-122"/>
            </a:endParaRPr>
          </a:p>
          <a:p>
            <a:endParaRPr lang="zh-CN" altLang="zh-CN" sz="2000" dirty="0">
              <a:latin typeface="楷体" panose="02010609060101010101" pitchFamily="49" charset="-122"/>
              <a:ea typeface="楷体" panose="020106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a:t>
            </a:r>
            <a:r>
              <a:rPr lang="zh-CN" altLang="zh-CN" dirty="0"/>
              <a:t>小结</a:t>
            </a:r>
            <a:br>
              <a:rPr lang="zh-CN" altLang="zh-CN" b="1" dirty="0"/>
            </a:br>
            <a:endParaRPr lang="zh-CN" altLang="en-US" dirty="0"/>
          </a:p>
        </p:txBody>
      </p:sp>
      <p:sp>
        <p:nvSpPr>
          <p:cNvPr id="3" name="内容占位符 2"/>
          <p:cNvSpPr>
            <a:spLocks noGrp="1"/>
          </p:cNvSpPr>
          <p:nvPr>
            <p:ph idx="1"/>
          </p:nvPr>
        </p:nvSpPr>
        <p:spPr>
          <a:xfrm>
            <a:off x="2482680" y="1689716"/>
            <a:ext cx="8915400" cy="3777622"/>
          </a:xfrm>
        </p:spPr>
        <p:txBody>
          <a:bodyPr>
            <a:noAutofit/>
          </a:bodyPr>
          <a:lstStyle/>
          <a:p>
            <a:r>
              <a:rPr lang="en-US" altLang="zh-CN" sz="2800" dirty="0"/>
              <a:t>    </a:t>
            </a:r>
            <a:r>
              <a:rPr lang="zh-CN" altLang="zh-CN" sz="2800" dirty="0">
                <a:latin typeface="楷体" panose="02010609060101010101" pitchFamily="49" charset="-122"/>
                <a:ea typeface="楷体" panose="02010609060101010101" pitchFamily="49" charset="-122"/>
              </a:rPr>
              <a:t>本章详细地介绍了关联规则挖掘的基本概念，对经典的关联规则挖掘算法</a:t>
            </a:r>
            <a:r>
              <a:rPr lang="en-US" altLang="zh-CN" sz="2800" dirty="0">
                <a:latin typeface="楷体" panose="02010609060101010101" pitchFamily="49" charset="-122"/>
                <a:ea typeface="楷体" panose="02010609060101010101" pitchFamily="49" charset="-122"/>
              </a:rPr>
              <a:t>-</a:t>
            </a:r>
            <a:r>
              <a:rPr lang="en-US" altLang="zh-CN" sz="2800" dirty="0" err="1">
                <a:latin typeface="楷体" panose="02010609060101010101" pitchFamily="49" charset="-122"/>
                <a:ea typeface="楷体" panose="02010609060101010101" pitchFamily="49" charset="-122"/>
              </a:rPr>
              <a:t>Apriori</a:t>
            </a:r>
            <a:r>
              <a:rPr lang="zh-CN" altLang="zh-CN" sz="2800" dirty="0">
                <a:latin typeface="楷体" panose="02010609060101010101" pitchFamily="49" charset="-122"/>
                <a:ea typeface="楷体" panose="02010609060101010101" pitchFamily="49" charset="-122"/>
              </a:rPr>
              <a:t>算法的原理以及发现频繁项目集过程进行了描述</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并用实例来进行了说明</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同时还分析了</a:t>
            </a:r>
            <a:r>
              <a:rPr lang="en-US" altLang="zh-CN" sz="2800" dirty="0" err="1">
                <a:latin typeface="楷体" panose="02010609060101010101" pitchFamily="49" charset="-122"/>
                <a:ea typeface="楷体" panose="02010609060101010101" pitchFamily="49" charset="-122"/>
              </a:rPr>
              <a:t>Apriori</a:t>
            </a:r>
            <a:r>
              <a:rPr lang="zh-CN" altLang="zh-CN" sz="2800" dirty="0">
                <a:latin typeface="楷体" panose="02010609060101010101" pitchFamily="49" charset="-122"/>
                <a:ea typeface="楷体" panose="02010609060101010101" pitchFamily="49" charset="-122"/>
              </a:rPr>
              <a:t>算法的特点和该算法存在的缺陷</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得出它在发现频繁项集的过程中需要多次扫描事务数据库</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此外还要产生大量的候选项集</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这都对算法的效率会产生很大的影响</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并且在频繁项目集长度变大的情况下</a:t>
            </a:r>
            <a:r>
              <a:rPr lang="en-US" altLang="zh-CN" sz="2800"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运算时间显著增加，最后介绍了</a:t>
            </a:r>
            <a:r>
              <a:rPr lang="en-US" altLang="zh-CN" sz="2800" dirty="0" err="1">
                <a:latin typeface="楷体" panose="02010609060101010101" pitchFamily="49" charset="-122"/>
                <a:ea typeface="楷体" panose="02010609060101010101" pitchFamily="49" charset="-122"/>
              </a:rPr>
              <a:t>Apriori</a:t>
            </a:r>
            <a:r>
              <a:rPr lang="zh-CN" altLang="zh-CN" sz="2800" dirty="0">
                <a:latin typeface="楷体" panose="02010609060101010101" pitchFamily="49" charset="-122"/>
                <a:ea typeface="楷体" panose="02010609060101010101" pitchFamily="49" charset="-122"/>
              </a:rPr>
              <a:t>算法在商业、网络安全、高校管理和移动通信等领域的应用。</a:t>
            </a:r>
            <a:endParaRPr lang="zh-CN" altLang="zh-CN" sz="2800" dirty="0">
              <a:latin typeface="楷体" panose="02010609060101010101" pitchFamily="49" charset="-122"/>
              <a:ea typeface="楷体" panose="02010609060101010101" pitchFamily="49" charset="-122"/>
            </a:endParaRPr>
          </a:p>
          <a:p>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思考题</a:t>
            </a:r>
            <a:br>
              <a:rPr lang="zh-CN" altLang="zh-CN" b="1" dirty="0"/>
            </a:br>
            <a:endParaRPr lang="zh-CN" altLang="en-US" dirty="0"/>
          </a:p>
        </p:txBody>
      </p:sp>
      <p:pic>
        <p:nvPicPr>
          <p:cNvPr id="7" name="内容占位符 6"/>
          <p:cNvPicPr>
            <a:picLocks noGrp="1" noChangeAspect="1"/>
          </p:cNvPicPr>
          <p:nvPr>
            <p:ph idx="1"/>
          </p:nvPr>
        </p:nvPicPr>
        <p:blipFill>
          <a:blip r:embed="rId1"/>
          <a:stretch>
            <a:fillRect/>
          </a:stretch>
        </p:blipFill>
        <p:spPr>
          <a:xfrm>
            <a:off x="2456800" y="1349408"/>
            <a:ext cx="9850968" cy="1481140"/>
          </a:xfrm>
          <a:prstGeom prst="rect">
            <a:avLst/>
          </a:prstGeom>
        </p:spPr>
      </p:pic>
      <p:pic>
        <p:nvPicPr>
          <p:cNvPr id="8" name="图片 7"/>
          <p:cNvPicPr>
            <a:picLocks noChangeAspect="1"/>
          </p:cNvPicPr>
          <p:nvPr/>
        </p:nvPicPr>
        <p:blipFill>
          <a:blip r:embed="rId2"/>
          <a:stretch>
            <a:fillRect/>
          </a:stretch>
        </p:blipFill>
        <p:spPr>
          <a:xfrm>
            <a:off x="2829575" y="2830548"/>
            <a:ext cx="6905625" cy="1781175"/>
          </a:xfrm>
          <a:prstGeom prst="rect">
            <a:avLst/>
          </a:prstGeom>
        </p:spPr>
      </p:pic>
      <p:pic>
        <p:nvPicPr>
          <p:cNvPr id="9" name="图片 8"/>
          <p:cNvPicPr>
            <a:picLocks noChangeAspect="1"/>
          </p:cNvPicPr>
          <p:nvPr/>
        </p:nvPicPr>
        <p:blipFill>
          <a:blip r:embed="rId3"/>
          <a:stretch>
            <a:fillRect/>
          </a:stretch>
        </p:blipFill>
        <p:spPr>
          <a:xfrm>
            <a:off x="2456815" y="4728845"/>
            <a:ext cx="8530590" cy="19240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177925" y="1420495"/>
            <a:ext cx="11014075" cy="1242060"/>
          </a:xfrm>
          <a:prstGeom prst="rect">
            <a:avLst/>
          </a:prstGeom>
        </p:spPr>
      </p:pic>
      <p:pic>
        <p:nvPicPr>
          <p:cNvPr id="5" name="图片 4"/>
          <p:cNvPicPr>
            <a:picLocks noChangeAspect="1"/>
          </p:cNvPicPr>
          <p:nvPr/>
        </p:nvPicPr>
        <p:blipFill>
          <a:blip r:embed="rId2"/>
          <a:stretch>
            <a:fillRect/>
          </a:stretch>
        </p:blipFill>
        <p:spPr>
          <a:xfrm>
            <a:off x="1177925" y="2662555"/>
            <a:ext cx="10712450" cy="2266950"/>
          </a:xfrm>
          <a:prstGeom prst="rect">
            <a:avLst/>
          </a:prstGeom>
        </p:spPr>
      </p:pic>
    </p:spTree>
  </p:cSld>
  <p:clrMapOvr>
    <a:masterClrMapping/>
  </p:clrMapOvr>
</p:sld>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3552</Words>
  <Application>WPS 演示</Application>
  <PresentationFormat>宽屏</PresentationFormat>
  <Paragraphs>303</Paragraphs>
  <Slides>42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42</vt:i4>
      </vt:variant>
    </vt:vector>
  </HeadingPairs>
  <TitlesOfParts>
    <vt:vector size="54" baseType="lpstr">
      <vt:lpstr>Arial</vt:lpstr>
      <vt:lpstr>宋体</vt:lpstr>
      <vt:lpstr>Wingdings</vt:lpstr>
      <vt:lpstr>Wingdings 3</vt:lpstr>
      <vt:lpstr>Arial</vt:lpstr>
      <vt:lpstr>楷体</vt:lpstr>
      <vt:lpstr>幼圆</vt:lpstr>
      <vt:lpstr>Century Gothic</vt:lpstr>
      <vt:lpstr>微软雅黑</vt:lpstr>
      <vt:lpstr>Arial Unicode MS</vt:lpstr>
      <vt:lpstr>Calibri</vt:lpstr>
      <vt:lpstr>丝状</vt:lpstr>
      <vt:lpstr>数据挖掘算法原理及实现</vt:lpstr>
      <vt:lpstr>3.1基本概念  </vt:lpstr>
      <vt:lpstr>PowerPoint 演示文稿</vt:lpstr>
      <vt:lpstr>PowerPoint 演示文稿</vt:lpstr>
      <vt:lpstr>PowerPoint 演示文稿</vt:lpstr>
      <vt:lpstr>PowerPoint 演示文稿</vt:lpstr>
      <vt:lpstr>PowerPoint 演示文稿</vt:lpstr>
      <vt:lpstr>PowerPoint 演示文稿</vt:lpstr>
      <vt:lpstr>3.2关联规则挖掘算法-Apriori算法原理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 Apriori算法实例分析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3.4 Apriori算法源程序分析 </vt:lpstr>
      <vt:lpstr>PowerPoint 演示文稿</vt:lpstr>
      <vt:lpstr>PowerPoint 演示文稿</vt:lpstr>
      <vt:lpstr>PowerPoint 演示文稿</vt:lpstr>
      <vt:lpstr>PowerPoint 演示文稿</vt:lpstr>
      <vt:lpstr>PowerPoint 演示文稿</vt:lpstr>
      <vt:lpstr>3.5 Apriori算法特点及应用 </vt:lpstr>
      <vt:lpstr>PowerPoint 演示文稿</vt:lpstr>
      <vt:lpstr>PowerPoint 演示文稿</vt:lpstr>
      <vt:lpstr>PowerPoint 演示文稿</vt:lpstr>
      <vt:lpstr>PowerPoint 演示文稿</vt:lpstr>
      <vt:lpstr>PowerPoint 演示文稿</vt:lpstr>
      <vt:lpstr>3.6小结 </vt:lpstr>
      <vt:lpstr>思考题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Administrator</cp:lastModifiedBy>
  <cp:revision>88</cp:revision>
  <dcterms:created xsi:type="dcterms:W3CDTF">2019-12-16T01:20:00Z</dcterms:created>
  <dcterms:modified xsi:type="dcterms:W3CDTF">2020-11-04T08:33:39Z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