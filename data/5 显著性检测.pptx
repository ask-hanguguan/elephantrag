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m4a" ContentType="audi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5" r:id="rId3"/>
    <p:sldId id="442" r:id="rId5"/>
    <p:sldId id="428" r:id="rId6"/>
    <p:sldId id="391" r:id="rId7"/>
    <p:sldId id="363" r:id="rId8"/>
    <p:sldId id="364" r:id="rId9"/>
    <p:sldId id="396" r:id="rId10"/>
    <p:sldId id="443" r:id="rId11"/>
    <p:sldId id="430" r:id="rId12"/>
    <p:sldId id="397" r:id="rId13"/>
    <p:sldId id="398" r:id="rId14"/>
    <p:sldId id="432" r:id="rId15"/>
    <p:sldId id="445" r:id="rId16"/>
    <p:sldId id="368" r:id="rId17"/>
    <p:sldId id="434" r:id="rId18"/>
    <p:sldId id="369" r:id="rId19"/>
    <p:sldId id="447" r:id="rId20"/>
    <p:sldId id="435" r:id="rId21"/>
    <p:sldId id="436" r:id="rId22"/>
    <p:sldId id="437" r:id="rId23"/>
    <p:sldId id="448" r:id="rId24"/>
    <p:sldId id="449" r:id="rId25"/>
    <p:sldId id="453" r:id="rId26"/>
    <p:sldId id="452" r:id="rId27"/>
    <p:sldId id="451" r:id="rId28"/>
    <p:sldId id="450" r:id="rId29"/>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8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DEA"/>
    <a:srgbClr val="68746D"/>
    <a:srgbClr val="90BAC9"/>
    <a:srgbClr val="9BB9BB"/>
    <a:srgbClr val="BC8268"/>
    <a:srgbClr val="D5D7C4"/>
    <a:srgbClr val="E38279"/>
    <a:srgbClr val="F0F2EF"/>
    <a:srgbClr val="FFFFFF"/>
    <a:srgbClr val="E8EB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1995" autoAdjust="0"/>
  </p:normalViewPr>
  <p:slideViewPr>
    <p:cSldViewPr snapToGrid="0" showGuides="1">
      <p:cViewPr varScale="1">
        <p:scale>
          <a:sx n="80" d="100"/>
          <a:sy n="80" d="100"/>
        </p:scale>
        <p:origin x="691" y="62"/>
      </p:cViewPr>
      <p:guideLst>
        <p:guide orient="horz" pos="2152"/>
        <p:guide pos="3849"/>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24.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E6F3DB-084C-4AAF-8746-DBE82E0FB74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9EAA80-FB02-4A1B-B589-A1C85655346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万绿丛中一点红</a:t>
            </a:r>
            <a:endParaRPr lang="zh-CN" altLang="en-US" dirty="0"/>
          </a:p>
        </p:txBody>
      </p:sp>
      <p:sp>
        <p:nvSpPr>
          <p:cNvPr id="4" name="灯片编号占位符 3"/>
          <p:cNvSpPr>
            <a:spLocks noGrp="1"/>
          </p:cNvSpPr>
          <p:nvPr>
            <p:ph type="sldNum" sz="quarter" idx="10"/>
          </p:nvPr>
        </p:nvSpPr>
        <p:spPr/>
        <p:txBody>
          <a:bodyPr/>
          <a:lstStyle/>
          <a:p>
            <a:fld id="{0F9EAA80-FB02-4A1B-B589-A1C85655346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“最低频”本质上接近图像平均值</a:t>
            </a:r>
            <a:r>
              <a:rPr lang="en-US" altLang="zh-CN"/>
              <a:t> </a:t>
            </a:r>
            <a:endParaRPr lang="zh-CN" altLang="en-US" dirty="0" smtClean="0">
              <a:solidFill>
                <a:schemeClr val="accent5">
                  <a:lumMod val="50000"/>
                </a:schemeClr>
              </a:solidFill>
              <a:latin typeface="Times New Roman" panose="02020603050405020304" pitchFamily="18" charset="0"/>
              <a:cs typeface="Times New Roman" panose="02020603050405020304" pitchFamily="18" charset="0"/>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像素值在较大范围内变化不明显，变化速度慢，所以属于低频信息。</a:t>
            </a:r>
            <a:r>
              <a:rPr lang="en-US" altLang="zh-CN"/>
              <a:t> </a:t>
            </a:r>
            <a:r>
              <a:rPr lang="zh-CN" altLang="en-US"/>
              <a:t>突然变化、跳变明显的位置 → 高频</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9EAA80-FB02-4A1B-B589-A1C85655346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9EAA80-FB02-4A1B-B589-A1C85655346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9EAA80-FB02-4A1B-B589-A1C85655346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9EAA80-FB02-4A1B-B589-A1C85655346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在区域显著性计算中，</a:t>
            </a:r>
            <a:r>
              <a:rPr lang="en-US" altLang="zh-CN" dirty="0"/>
              <a:t>r</a:t>
            </a:r>
            <a:endParaRPr lang="en-US" altLang="zh-CN" dirty="0"/>
          </a:p>
          <a:p>
            <a:r>
              <a:rPr lang="en-US" altLang="zh-CN" dirty="0"/>
              <a:t>k</a:t>
            </a:r>
            <a:endParaRPr lang="en-US" altLang="zh-CN" dirty="0"/>
          </a:p>
          <a:p>
            <a:r>
              <a:rPr lang="en-US" altLang="zh-CN" dirty="0"/>
              <a:t>	​</a:t>
            </a:r>
            <a:endParaRPr lang="en-US" altLang="zh-CN" dirty="0"/>
          </a:p>
          <a:p>
            <a:endParaRPr lang="en-US" altLang="zh-CN" dirty="0"/>
          </a:p>
          <a:p>
            <a:r>
              <a:rPr lang="zh-CN" altLang="en-US" dirty="0"/>
              <a:t> 是待评价区域，因此其大小通常不直接参与显著性强度计算；</a:t>
            </a:r>
            <a:r>
              <a:rPr lang="en-US" altLang="zh-CN" dirty="0"/>
              <a:t>w(r</a:t>
            </a:r>
            <a:endParaRPr lang="en-US" altLang="zh-CN" dirty="0"/>
          </a:p>
          <a:p>
            <a:r>
              <a:rPr lang="en-US" altLang="zh-CN" dirty="0"/>
              <a:t>i</a:t>
            </a:r>
            <a:endParaRPr lang="en-US" altLang="zh-CN" dirty="0"/>
          </a:p>
          <a:p>
            <a:r>
              <a:rPr lang="en-US" altLang="zh-CN" dirty="0"/>
              <a:t>	​</a:t>
            </a:r>
            <a:endParaRPr lang="en-US" altLang="zh-CN" dirty="0"/>
          </a:p>
          <a:p>
            <a:endParaRPr lang="en-US" altLang="zh-CN" dirty="0"/>
          </a:p>
          <a:p>
            <a:r>
              <a:rPr lang="zh-CN" altLang="en-US" dirty="0"/>
              <a:t>) 用于表示其他区域在全局对比中的影响程度。这样可以避免大区域因面积大而天然显著，也能保留小而突出的显著目标。</a:t>
            </a:r>
            <a:endParaRPr lang="zh-CN" altLang="en-US" dirty="0"/>
          </a:p>
        </p:txBody>
      </p:sp>
      <p:sp>
        <p:nvSpPr>
          <p:cNvPr id="4" name="灯片编号占位符 3"/>
          <p:cNvSpPr>
            <a:spLocks noGrp="1"/>
          </p:cNvSpPr>
          <p:nvPr>
            <p:ph type="sldNum" sz="quarter" idx="10"/>
          </p:nvPr>
        </p:nvSpPr>
        <p:spPr/>
        <p:txBody>
          <a:bodyPr/>
          <a:lstStyle/>
          <a:p>
            <a:fld id="{0F9EAA80-FB02-4A1B-B589-A1C85655346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9EAA80-FB02-4A1B-B589-A1C85655346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9" name="组合 8"/>
          <p:cNvGrpSpPr/>
          <p:nvPr userDrawn="1"/>
        </p:nvGrpSpPr>
        <p:grpSpPr>
          <a:xfrm>
            <a:off x="0" y="238913"/>
            <a:ext cx="1867989" cy="512679"/>
            <a:chOff x="0" y="95220"/>
            <a:chExt cx="2474975" cy="679269"/>
          </a:xfrm>
        </p:grpSpPr>
        <p:sp>
          <p:nvSpPr>
            <p:cNvPr id="10" name="任意多边形 9"/>
            <p:cNvSpPr/>
            <p:nvPr/>
          </p:nvSpPr>
          <p:spPr>
            <a:xfrm>
              <a:off x="1611795" y="185716"/>
              <a:ext cx="356502" cy="588773"/>
            </a:xfrm>
            <a:custGeom>
              <a:avLst/>
              <a:gdLst>
                <a:gd name="connsiteX0" fmla="*/ 825458 w 1756168"/>
                <a:gd name="connsiteY0" fmla="*/ 0 h 2900363"/>
                <a:gd name="connsiteX1" fmla="*/ 1418888 w 1756168"/>
                <a:gd name="connsiteY1" fmla="*/ 0 h 2900363"/>
                <a:gd name="connsiteX2" fmla="*/ 590412 w 1756168"/>
                <a:gd name="connsiteY2" fmla="*/ 1495489 h 2900363"/>
                <a:gd name="connsiteX3" fmla="*/ 1756168 w 1756168"/>
                <a:gd name="connsiteY3" fmla="*/ 2900363 h 2900363"/>
                <a:gd name="connsiteX4" fmla="*/ 1170276 w 1756168"/>
                <a:gd name="connsiteY4" fmla="*/ 2900363 h 2900363"/>
                <a:gd name="connsiteX5" fmla="*/ 0 w 1756168"/>
                <a:gd name="connsiteY5" fmla="*/ 1490041 h 290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68" h="2900363">
                  <a:moveTo>
                    <a:pt x="825458" y="0"/>
                  </a:moveTo>
                  <a:lnTo>
                    <a:pt x="1418888" y="0"/>
                  </a:lnTo>
                  <a:lnTo>
                    <a:pt x="590412" y="1495489"/>
                  </a:lnTo>
                  <a:lnTo>
                    <a:pt x="1756168" y="2900363"/>
                  </a:lnTo>
                  <a:lnTo>
                    <a:pt x="1170276" y="2900363"/>
                  </a:lnTo>
                  <a:lnTo>
                    <a:pt x="0" y="1490041"/>
                  </a:lnTo>
                  <a:close/>
                </a:path>
              </a:pathLst>
            </a:cu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sp>
          <p:nvSpPr>
            <p:cNvPr id="11" name="任意多边形 10"/>
            <p:cNvSpPr/>
            <p:nvPr/>
          </p:nvSpPr>
          <p:spPr>
            <a:xfrm>
              <a:off x="0" y="449649"/>
              <a:ext cx="1799920" cy="324840"/>
            </a:xfrm>
            <a:custGeom>
              <a:avLst/>
              <a:gdLst>
                <a:gd name="connsiteX0" fmla="*/ 0 w 8866603"/>
                <a:gd name="connsiteY0" fmla="*/ 0 h 1600199"/>
                <a:gd name="connsiteX1" fmla="*/ 7538768 w 8866603"/>
                <a:gd name="connsiteY1" fmla="*/ 0 h 1600199"/>
                <a:gd name="connsiteX2" fmla="*/ 8866603 w 8866603"/>
                <a:gd name="connsiteY2" fmla="*/ 1600199 h 1600199"/>
                <a:gd name="connsiteX3" fmla="*/ 0 w 8866603"/>
                <a:gd name="connsiteY3" fmla="*/ 1600199 h 1600199"/>
              </a:gdLst>
              <a:ahLst/>
              <a:cxnLst>
                <a:cxn ang="0">
                  <a:pos x="connsiteX0" y="connsiteY0"/>
                </a:cxn>
                <a:cxn ang="0">
                  <a:pos x="connsiteX1" y="connsiteY1"/>
                </a:cxn>
                <a:cxn ang="0">
                  <a:pos x="connsiteX2" y="connsiteY2"/>
                </a:cxn>
                <a:cxn ang="0">
                  <a:pos x="connsiteX3" y="connsiteY3"/>
                </a:cxn>
              </a:cxnLst>
              <a:rect l="l" t="t" r="r" b="b"/>
              <a:pathLst>
                <a:path w="8866603" h="1600199">
                  <a:moveTo>
                    <a:pt x="0" y="0"/>
                  </a:moveTo>
                  <a:lnTo>
                    <a:pt x="7538768" y="0"/>
                  </a:lnTo>
                  <a:lnTo>
                    <a:pt x="8866603" y="1600199"/>
                  </a:lnTo>
                  <a:lnTo>
                    <a:pt x="0" y="1600199"/>
                  </a:lnTo>
                  <a:close/>
                </a:path>
              </a:pathLst>
            </a:custGeom>
            <a:solidFill>
              <a:srgbClr val="68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sp>
          <p:nvSpPr>
            <p:cNvPr id="12" name="任意多边形 11"/>
            <p:cNvSpPr/>
            <p:nvPr/>
          </p:nvSpPr>
          <p:spPr>
            <a:xfrm>
              <a:off x="0" y="95220"/>
              <a:ext cx="2474975" cy="319625"/>
            </a:xfrm>
            <a:custGeom>
              <a:avLst/>
              <a:gdLst>
                <a:gd name="connsiteX0" fmla="*/ 8427488 w 12191999"/>
                <a:gd name="connsiteY0" fmla="*/ 0 h 1574506"/>
                <a:gd name="connsiteX1" fmla="*/ 12191999 w 12191999"/>
                <a:gd name="connsiteY1" fmla="*/ 0 h 1574506"/>
                <a:gd name="connsiteX2" fmla="*/ 12191999 w 12191999"/>
                <a:gd name="connsiteY2" fmla="*/ 303715 h 1574506"/>
                <a:gd name="connsiteX3" fmla="*/ 8649669 w 12191999"/>
                <a:gd name="connsiteY3" fmla="*/ 303715 h 1574506"/>
                <a:gd name="connsiteX4" fmla="*/ 7945673 w 12191999"/>
                <a:gd name="connsiteY4" fmla="*/ 1574506 h 1574506"/>
                <a:gd name="connsiteX5" fmla="*/ 7555238 w 12191999"/>
                <a:gd name="connsiteY5" fmla="*/ 1574506 h 1574506"/>
                <a:gd name="connsiteX6" fmla="*/ 7555239 w 12191999"/>
                <a:gd name="connsiteY6" fmla="*/ 1574505 h 1574506"/>
                <a:gd name="connsiteX7" fmla="*/ 914400 w 12191999"/>
                <a:gd name="connsiteY7" fmla="*/ 1574505 h 1574506"/>
                <a:gd name="connsiteX8" fmla="*/ 185737 w 12191999"/>
                <a:gd name="connsiteY8" fmla="*/ 1574505 h 1574506"/>
                <a:gd name="connsiteX9" fmla="*/ 0 w 12191999"/>
                <a:gd name="connsiteY9" fmla="*/ 1574505 h 1574506"/>
                <a:gd name="connsiteX10" fmla="*/ 0 w 12191999"/>
                <a:gd name="connsiteY10" fmla="*/ 1244558 h 1574506"/>
                <a:gd name="connsiteX11" fmla="*/ 914400 w 12191999"/>
                <a:gd name="connsiteY11" fmla="*/ 1244558 h 1574506"/>
                <a:gd name="connsiteX12" fmla="*/ 914400 w 12191999"/>
                <a:gd name="connsiteY12" fmla="*/ 1245890 h 1574506"/>
                <a:gd name="connsiteX13" fmla="*/ 7737286 w 12191999"/>
                <a:gd name="connsiteY13" fmla="*/ 1245890 h 15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1574506">
                  <a:moveTo>
                    <a:pt x="8427488" y="0"/>
                  </a:moveTo>
                  <a:lnTo>
                    <a:pt x="12191999" y="0"/>
                  </a:lnTo>
                  <a:lnTo>
                    <a:pt x="12191999" y="303715"/>
                  </a:lnTo>
                  <a:lnTo>
                    <a:pt x="8649669" y="303715"/>
                  </a:lnTo>
                  <a:lnTo>
                    <a:pt x="7945673" y="1574506"/>
                  </a:lnTo>
                  <a:lnTo>
                    <a:pt x="7555238" y="1574506"/>
                  </a:lnTo>
                  <a:lnTo>
                    <a:pt x="7555239" y="1574505"/>
                  </a:lnTo>
                  <a:lnTo>
                    <a:pt x="914400" y="1574505"/>
                  </a:lnTo>
                  <a:lnTo>
                    <a:pt x="185737" y="1574505"/>
                  </a:lnTo>
                  <a:lnTo>
                    <a:pt x="0" y="1574505"/>
                  </a:lnTo>
                  <a:lnTo>
                    <a:pt x="0" y="1244558"/>
                  </a:lnTo>
                  <a:lnTo>
                    <a:pt x="914400" y="1244558"/>
                  </a:lnTo>
                  <a:lnTo>
                    <a:pt x="914400" y="1245890"/>
                  </a:lnTo>
                  <a:lnTo>
                    <a:pt x="7737286" y="1245890"/>
                  </a:lnTo>
                  <a:close/>
                </a:path>
              </a:pathLst>
            </a:custGeom>
            <a:solidFill>
              <a:srgbClr val="BC82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panose="020B0503020204020204" pitchFamily="34" charset="-122"/>
                <a:sym typeface="Century Gothic" panose="020B0502020202020204" pitchFamily="34" charset="0"/>
              </a:endParaRPr>
            </a:p>
          </p:txBody>
        </p:sp>
      </p:grpSp>
      <p:sp>
        <p:nvSpPr>
          <p:cNvPr id="13" name="任意多边形 12"/>
          <p:cNvSpPr/>
          <p:nvPr userDrawn="1"/>
        </p:nvSpPr>
        <p:spPr>
          <a:xfrm>
            <a:off x="1960775" y="421937"/>
            <a:ext cx="6752151" cy="234013"/>
          </a:xfrm>
          <a:custGeom>
            <a:avLst/>
            <a:gdLst>
              <a:gd name="connsiteX0" fmla="*/ 825458 w 4239421"/>
              <a:gd name="connsiteY0" fmla="*/ 0 h 2900363"/>
              <a:gd name="connsiteX1" fmla="*/ 4239421 w 4239421"/>
              <a:gd name="connsiteY1" fmla="*/ 0 h 2900363"/>
              <a:gd name="connsiteX2" fmla="*/ 4239421 w 4239421"/>
              <a:gd name="connsiteY2" fmla="*/ 2900363 h 2900363"/>
              <a:gd name="connsiteX3" fmla="*/ 1170276 w 4239421"/>
              <a:gd name="connsiteY3" fmla="*/ 2900363 h 2900363"/>
              <a:gd name="connsiteX4" fmla="*/ 0 w 4239421"/>
              <a:gd name="connsiteY4" fmla="*/ 1490041 h 2900363"/>
              <a:gd name="connsiteX0-1" fmla="*/ 825458 w 56291306"/>
              <a:gd name="connsiteY0-2" fmla="*/ 0 h 2900363"/>
              <a:gd name="connsiteX1-3" fmla="*/ 4239421 w 56291306"/>
              <a:gd name="connsiteY1-4" fmla="*/ 0 h 2900363"/>
              <a:gd name="connsiteX2-5" fmla="*/ 56291306 w 56291306"/>
              <a:gd name="connsiteY2-6" fmla="*/ 2900363 h 2900363"/>
              <a:gd name="connsiteX3-7" fmla="*/ 1170276 w 56291306"/>
              <a:gd name="connsiteY3-8" fmla="*/ 2900363 h 2900363"/>
              <a:gd name="connsiteX4-9" fmla="*/ 0 w 56291306"/>
              <a:gd name="connsiteY4-10" fmla="*/ 1490041 h 2900363"/>
              <a:gd name="connsiteX5" fmla="*/ 825458 w 56291306"/>
              <a:gd name="connsiteY5" fmla="*/ 0 h 2900363"/>
              <a:gd name="connsiteX0-11" fmla="*/ 825458 w 56374723"/>
              <a:gd name="connsiteY0-12" fmla="*/ 0 h 2900363"/>
              <a:gd name="connsiteX1-13" fmla="*/ 56374723 w 56374723"/>
              <a:gd name="connsiteY1-14" fmla="*/ 166835 h 2900363"/>
              <a:gd name="connsiteX2-15" fmla="*/ 56291306 w 56374723"/>
              <a:gd name="connsiteY2-16" fmla="*/ 2900363 h 2900363"/>
              <a:gd name="connsiteX3-17" fmla="*/ 1170276 w 56374723"/>
              <a:gd name="connsiteY3-18" fmla="*/ 2900363 h 2900363"/>
              <a:gd name="connsiteX4-19" fmla="*/ 0 w 56374723"/>
              <a:gd name="connsiteY4-20" fmla="*/ 1490041 h 2900363"/>
              <a:gd name="connsiteX5-21" fmla="*/ 825458 w 56374723"/>
              <a:gd name="connsiteY5-22" fmla="*/ 0 h 29003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56374723" h="2900363">
                <a:moveTo>
                  <a:pt x="825458" y="0"/>
                </a:moveTo>
                <a:lnTo>
                  <a:pt x="56374723" y="166835"/>
                </a:lnTo>
                <a:lnTo>
                  <a:pt x="56291306" y="2900363"/>
                </a:lnTo>
                <a:lnTo>
                  <a:pt x="1170276" y="2900363"/>
                </a:lnTo>
                <a:lnTo>
                  <a:pt x="0" y="1490041"/>
                </a:lnTo>
                <a:lnTo>
                  <a:pt x="825458" y="0"/>
                </a:lnTo>
                <a:close/>
              </a:path>
            </a:pathLst>
          </a:cu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panose="020B0503020204020204" pitchFamily="34" charset="-122"/>
              <a:sym typeface="Century Gothic" panose="020B0502020202020204" pitchFamily="34" charset="0"/>
            </a:endParaRPr>
          </a:p>
        </p:txBody>
      </p:sp>
      <p:sp>
        <p:nvSpPr>
          <p:cNvPr id="14" name="矩形 13"/>
          <p:cNvSpPr/>
          <p:nvPr userDrawn="1"/>
        </p:nvSpPr>
        <p:spPr>
          <a:xfrm>
            <a:off x="6975566" y="435000"/>
            <a:ext cx="5216434" cy="223200"/>
          </a:xfrm>
          <a:prstGeom prst="rect">
            <a:avLst/>
          </a:pr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0" y="6400800"/>
            <a:ext cx="11798548" cy="457200"/>
          </a:xfrm>
          <a:prstGeom prst="rect">
            <a:avLst/>
          </a:pr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userDrawn="1"/>
        </p:nvGrpSpPr>
        <p:grpSpPr>
          <a:xfrm>
            <a:off x="11521714" y="6400800"/>
            <a:ext cx="670285" cy="457200"/>
            <a:chOff x="7939879" y="3957637"/>
            <a:chExt cx="4252121" cy="2900363"/>
          </a:xfrm>
        </p:grpSpPr>
        <p:sp>
          <p:nvSpPr>
            <p:cNvPr id="17" name="任意多边形 3"/>
            <p:cNvSpPr/>
            <p:nvPr/>
          </p:nvSpPr>
          <p:spPr>
            <a:xfrm>
              <a:off x="7952579" y="3957637"/>
              <a:ext cx="4239421" cy="2900363"/>
            </a:xfrm>
            <a:custGeom>
              <a:avLst/>
              <a:gdLst>
                <a:gd name="connsiteX0" fmla="*/ 825458 w 4239421"/>
                <a:gd name="connsiteY0" fmla="*/ 0 h 2900363"/>
                <a:gd name="connsiteX1" fmla="*/ 4239421 w 4239421"/>
                <a:gd name="connsiteY1" fmla="*/ 0 h 2900363"/>
                <a:gd name="connsiteX2" fmla="*/ 4239421 w 4239421"/>
                <a:gd name="connsiteY2" fmla="*/ 2900363 h 2900363"/>
                <a:gd name="connsiteX3" fmla="*/ 1170276 w 4239421"/>
                <a:gd name="connsiteY3" fmla="*/ 2900363 h 2900363"/>
                <a:gd name="connsiteX4" fmla="*/ 0 w 4239421"/>
                <a:gd name="connsiteY4" fmla="*/ 1490041 h 2900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421" h="2900363">
                  <a:moveTo>
                    <a:pt x="825458" y="0"/>
                  </a:moveTo>
                  <a:lnTo>
                    <a:pt x="4239421" y="0"/>
                  </a:lnTo>
                  <a:lnTo>
                    <a:pt x="4239421" y="2900363"/>
                  </a:lnTo>
                  <a:lnTo>
                    <a:pt x="1170276" y="2900363"/>
                  </a:lnTo>
                  <a:lnTo>
                    <a:pt x="0" y="1490041"/>
                  </a:lnTo>
                  <a:close/>
                </a:path>
              </a:pathLst>
            </a:custGeom>
            <a:solidFill>
              <a:srgbClr val="68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entury Gothic" panose="020B0502020202020204" pitchFamily="34" charset="0"/>
                <a:ea typeface="微软雅黑" panose="020B0503020204020204" pitchFamily="34" charset="-122"/>
                <a:sym typeface="Century Gothic" panose="020B0502020202020204" pitchFamily="34" charset="0"/>
              </a:endParaRPr>
            </a:p>
          </p:txBody>
        </p:sp>
        <p:sp>
          <p:nvSpPr>
            <p:cNvPr id="18" name="任意多边形 4"/>
            <p:cNvSpPr/>
            <p:nvPr/>
          </p:nvSpPr>
          <p:spPr>
            <a:xfrm>
              <a:off x="7939879" y="3957637"/>
              <a:ext cx="1756168" cy="2900363"/>
            </a:xfrm>
            <a:custGeom>
              <a:avLst/>
              <a:gdLst>
                <a:gd name="connsiteX0" fmla="*/ 825458 w 1756168"/>
                <a:gd name="connsiteY0" fmla="*/ 0 h 2900363"/>
                <a:gd name="connsiteX1" fmla="*/ 1418888 w 1756168"/>
                <a:gd name="connsiteY1" fmla="*/ 0 h 2900363"/>
                <a:gd name="connsiteX2" fmla="*/ 590412 w 1756168"/>
                <a:gd name="connsiteY2" fmla="*/ 1495489 h 2900363"/>
                <a:gd name="connsiteX3" fmla="*/ 1756168 w 1756168"/>
                <a:gd name="connsiteY3" fmla="*/ 2900363 h 2900363"/>
                <a:gd name="connsiteX4" fmla="*/ 1170276 w 1756168"/>
                <a:gd name="connsiteY4" fmla="*/ 2900363 h 2900363"/>
                <a:gd name="connsiteX5" fmla="*/ 0 w 1756168"/>
                <a:gd name="connsiteY5" fmla="*/ 1490041 h 290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68" h="2900363">
                  <a:moveTo>
                    <a:pt x="825458" y="0"/>
                  </a:moveTo>
                  <a:lnTo>
                    <a:pt x="1418888" y="0"/>
                  </a:lnTo>
                  <a:lnTo>
                    <a:pt x="590412" y="1495489"/>
                  </a:lnTo>
                  <a:lnTo>
                    <a:pt x="1756168" y="2900363"/>
                  </a:lnTo>
                  <a:lnTo>
                    <a:pt x="1170276" y="2900363"/>
                  </a:lnTo>
                  <a:lnTo>
                    <a:pt x="0" y="1490041"/>
                  </a:lnTo>
                  <a:close/>
                </a:path>
              </a:pathLst>
            </a:custGeom>
            <a:solidFill>
              <a:srgbClr val="BC82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grpSp>
      <p:sp>
        <p:nvSpPr>
          <p:cNvPr id="2" name="文本框 1"/>
          <p:cNvSpPr txBox="1"/>
          <p:nvPr userDrawn="1"/>
        </p:nvSpPr>
        <p:spPr>
          <a:xfrm>
            <a:off x="11654671" y="6441319"/>
            <a:ext cx="537328" cy="369332"/>
          </a:xfrm>
          <a:prstGeom prst="rect">
            <a:avLst/>
          </a:prstGeom>
          <a:noFill/>
        </p:spPr>
        <p:txBody>
          <a:bodyPr wrap="square" rtlCol="0">
            <a:spAutoFit/>
          </a:bodyPr>
          <a:lstStyle/>
          <a:p>
            <a:pPr algn="ctr"/>
            <a:fld id="{5CFC53CC-41C8-4FCD-8641-DE59ECB234DA}" type="slidenum">
              <a:rPr lang="zh-CN" altLang="en-US" b="1" smtClean="0">
                <a:solidFill>
                  <a:schemeClr val="bg1"/>
                </a:solidFill>
              </a:rPr>
            </a:fld>
            <a:endParaRPr lang="zh-CN" altLang="en-US" b="1"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7" name="矩形 6"/>
          <p:cNvSpPr/>
          <p:nvPr userDrawn="1"/>
        </p:nvSpPr>
        <p:spPr>
          <a:xfrm>
            <a:off x="1848169" y="171990"/>
            <a:ext cx="4519748" cy="306366"/>
          </a:xfrm>
          <a:prstGeom prst="rect">
            <a:avLst/>
          </a:prstGeom>
        </p:spPr>
        <p:txBody>
          <a:bodyPr wrap="square">
            <a:spAutoFit/>
            <a:scene3d>
              <a:camera prst="orthographicFront"/>
              <a:lightRig rig="threePt" dir="t"/>
            </a:scene3d>
            <a:sp3d contourW="12700"/>
          </a:bodyPr>
          <a:lstStyle/>
          <a:p>
            <a:pPr lvl="0">
              <a:lnSpc>
                <a:spcPts val="1600"/>
              </a:lnSpc>
              <a:defRPr/>
            </a:pPr>
            <a:r>
              <a:rPr lang="en-US" altLang="zh-CN" dirty="0">
                <a:solidFill>
                  <a:schemeClr val="tx1">
                    <a:lumMod val="50000"/>
                    <a:lumOff val="50000"/>
                  </a:schemeClr>
                </a:solidFill>
                <a:effectLst>
                  <a:innerShdw blurRad="63500" dist="50800" dir="13500000">
                    <a:prstClr val="black">
                      <a:alpha val="50000"/>
                    </a:prstClr>
                  </a:innerShdw>
                </a:effectLst>
                <a:latin typeface="华康黑体W3(P)" panose="020B0300000000000000" pitchFamily="34" charset="-122"/>
                <a:ea typeface="华康黑体W3(P)" panose="020B0300000000000000" pitchFamily="34" charset="-122"/>
              </a:rPr>
              <a:t>Details of successful projects</a:t>
            </a:r>
            <a:endParaRPr lang="en-US" altLang="zh-CN" dirty="0">
              <a:solidFill>
                <a:schemeClr val="tx1">
                  <a:lumMod val="50000"/>
                  <a:lumOff val="50000"/>
                </a:schemeClr>
              </a:solidFill>
              <a:effectLst>
                <a:innerShdw blurRad="63500" dist="50800" dir="13500000">
                  <a:prstClr val="black">
                    <a:alpha val="50000"/>
                  </a:prstClr>
                </a:innerShdw>
              </a:effectLst>
              <a:latin typeface="华康黑体W3(P)" panose="020B0300000000000000" pitchFamily="34" charset="-122"/>
              <a:ea typeface="华康黑体W3(P)" panose="020B0300000000000000" pitchFamily="34" charset="-122"/>
            </a:endParaRPr>
          </a:p>
        </p:txBody>
      </p:sp>
      <p:sp>
        <p:nvSpPr>
          <p:cNvPr id="8" name="文本框 7"/>
          <p:cNvSpPr txBox="1"/>
          <p:nvPr userDrawn="1"/>
        </p:nvSpPr>
        <p:spPr>
          <a:xfrm>
            <a:off x="1376030" y="346404"/>
            <a:ext cx="2646878" cy="461665"/>
          </a:xfrm>
          <a:prstGeom prst="rect">
            <a:avLst/>
          </a:prstGeom>
          <a:noFill/>
        </p:spPr>
        <p:txBody>
          <a:bodyPr wrap="non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rgbClr val="38636E"/>
                </a:solidFill>
                <a:effectLst>
                  <a:innerShdw blurRad="63500" dist="50800" dir="13500000">
                    <a:prstClr val="black">
                      <a:alpha val="50000"/>
                    </a:prstClr>
                  </a:innerShdw>
                </a:effectLst>
                <a:uLnTx/>
                <a:uFillTx/>
                <a:latin typeface="华康黑体W5(P)" panose="020B0500000000000000" pitchFamily="34" charset="-122"/>
                <a:ea typeface="华康黑体W5(P)" panose="020B0500000000000000" pitchFamily="34" charset="-122"/>
                <a:sym typeface="Arial" panose="020B0604020202020204"/>
              </a:rPr>
              <a:t>成功项目详细展示</a:t>
            </a:r>
            <a:endParaRPr kumimoji="0" lang="zh-CN" altLang="en-US" sz="2400" i="0" u="none" strike="noStrike" kern="1200" cap="none" spc="0" normalizeH="0" baseline="0" noProof="0" dirty="0">
              <a:ln>
                <a:noFill/>
              </a:ln>
              <a:solidFill>
                <a:srgbClr val="38636E"/>
              </a:solidFill>
              <a:effectLst>
                <a:innerShdw blurRad="63500" dist="50800" dir="13500000">
                  <a:prstClr val="black">
                    <a:alpha val="50000"/>
                  </a:prstClr>
                </a:innerShdw>
              </a:effectLst>
              <a:uLnTx/>
              <a:uFillTx/>
              <a:latin typeface="华康黑体W5(P)" panose="020B0500000000000000" pitchFamily="34" charset="-122"/>
              <a:ea typeface="华康黑体W5(P)" panose="020B0500000000000000" pitchFamily="34" charset="-122"/>
              <a:sym typeface="Arial" panose="020B0604020202020204"/>
            </a:endParaRPr>
          </a:p>
        </p:txBody>
      </p:sp>
      <p:grpSp>
        <p:nvGrpSpPr>
          <p:cNvPr id="9" name="组合 8"/>
          <p:cNvGrpSpPr/>
          <p:nvPr userDrawn="1"/>
        </p:nvGrpSpPr>
        <p:grpSpPr>
          <a:xfrm>
            <a:off x="0" y="238913"/>
            <a:ext cx="1867989" cy="512679"/>
            <a:chOff x="0" y="95220"/>
            <a:chExt cx="2474975" cy="679269"/>
          </a:xfrm>
        </p:grpSpPr>
        <p:sp>
          <p:nvSpPr>
            <p:cNvPr id="10" name="任意多边形 9"/>
            <p:cNvSpPr/>
            <p:nvPr/>
          </p:nvSpPr>
          <p:spPr>
            <a:xfrm>
              <a:off x="1611795" y="185716"/>
              <a:ext cx="356502" cy="588773"/>
            </a:xfrm>
            <a:custGeom>
              <a:avLst/>
              <a:gdLst>
                <a:gd name="connsiteX0" fmla="*/ 825458 w 1756168"/>
                <a:gd name="connsiteY0" fmla="*/ 0 h 2900363"/>
                <a:gd name="connsiteX1" fmla="*/ 1418888 w 1756168"/>
                <a:gd name="connsiteY1" fmla="*/ 0 h 2900363"/>
                <a:gd name="connsiteX2" fmla="*/ 590412 w 1756168"/>
                <a:gd name="connsiteY2" fmla="*/ 1495489 h 2900363"/>
                <a:gd name="connsiteX3" fmla="*/ 1756168 w 1756168"/>
                <a:gd name="connsiteY3" fmla="*/ 2900363 h 2900363"/>
                <a:gd name="connsiteX4" fmla="*/ 1170276 w 1756168"/>
                <a:gd name="connsiteY4" fmla="*/ 2900363 h 2900363"/>
                <a:gd name="connsiteX5" fmla="*/ 0 w 1756168"/>
                <a:gd name="connsiteY5" fmla="*/ 1490041 h 290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68" h="2900363">
                  <a:moveTo>
                    <a:pt x="825458" y="0"/>
                  </a:moveTo>
                  <a:lnTo>
                    <a:pt x="1418888" y="0"/>
                  </a:lnTo>
                  <a:lnTo>
                    <a:pt x="590412" y="1495489"/>
                  </a:lnTo>
                  <a:lnTo>
                    <a:pt x="1756168" y="2900363"/>
                  </a:lnTo>
                  <a:lnTo>
                    <a:pt x="1170276" y="2900363"/>
                  </a:lnTo>
                  <a:lnTo>
                    <a:pt x="0" y="1490041"/>
                  </a:lnTo>
                  <a:close/>
                </a:path>
              </a:pathLst>
            </a:cu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sp>
          <p:nvSpPr>
            <p:cNvPr id="11" name="任意多边形 10"/>
            <p:cNvSpPr/>
            <p:nvPr/>
          </p:nvSpPr>
          <p:spPr>
            <a:xfrm>
              <a:off x="0" y="449649"/>
              <a:ext cx="1799920" cy="324840"/>
            </a:xfrm>
            <a:custGeom>
              <a:avLst/>
              <a:gdLst>
                <a:gd name="connsiteX0" fmla="*/ 0 w 8866603"/>
                <a:gd name="connsiteY0" fmla="*/ 0 h 1600199"/>
                <a:gd name="connsiteX1" fmla="*/ 7538768 w 8866603"/>
                <a:gd name="connsiteY1" fmla="*/ 0 h 1600199"/>
                <a:gd name="connsiteX2" fmla="*/ 8866603 w 8866603"/>
                <a:gd name="connsiteY2" fmla="*/ 1600199 h 1600199"/>
                <a:gd name="connsiteX3" fmla="*/ 0 w 8866603"/>
                <a:gd name="connsiteY3" fmla="*/ 1600199 h 1600199"/>
              </a:gdLst>
              <a:ahLst/>
              <a:cxnLst>
                <a:cxn ang="0">
                  <a:pos x="connsiteX0" y="connsiteY0"/>
                </a:cxn>
                <a:cxn ang="0">
                  <a:pos x="connsiteX1" y="connsiteY1"/>
                </a:cxn>
                <a:cxn ang="0">
                  <a:pos x="connsiteX2" y="connsiteY2"/>
                </a:cxn>
                <a:cxn ang="0">
                  <a:pos x="connsiteX3" y="connsiteY3"/>
                </a:cxn>
              </a:cxnLst>
              <a:rect l="l" t="t" r="r" b="b"/>
              <a:pathLst>
                <a:path w="8866603" h="1600199">
                  <a:moveTo>
                    <a:pt x="0" y="0"/>
                  </a:moveTo>
                  <a:lnTo>
                    <a:pt x="7538768" y="0"/>
                  </a:lnTo>
                  <a:lnTo>
                    <a:pt x="8866603" y="1600199"/>
                  </a:lnTo>
                  <a:lnTo>
                    <a:pt x="0" y="1600199"/>
                  </a:lnTo>
                  <a:close/>
                </a:path>
              </a:pathLst>
            </a:custGeom>
            <a:solidFill>
              <a:srgbClr val="68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sp>
          <p:nvSpPr>
            <p:cNvPr id="12" name="任意多边形 11"/>
            <p:cNvSpPr/>
            <p:nvPr/>
          </p:nvSpPr>
          <p:spPr>
            <a:xfrm>
              <a:off x="0" y="95220"/>
              <a:ext cx="2474975" cy="319625"/>
            </a:xfrm>
            <a:custGeom>
              <a:avLst/>
              <a:gdLst>
                <a:gd name="connsiteX0" fmla="*/ 8427488 w 12191999"/>
                <a:gd name="connsiteY0" fmla="*/ 0 h 1574506"/>
                <a:gd name="connsiteX1" fmla="*/ 12191999 w 12191999"/>
                <a:gd name="connsiteY1" fmla="*/ 0 h 1574506"/>
                <a:gd name="connsiteX2" fmla="*/ 12191999 w 12191999"/>
                <a:gd name="connsiteY2" fmla="*/ 303715 h 1574506"/>
                <a:gd name="connsiteX3" fmla="*/ 8649669 w 12191999"/>
                <a:gd name="connsiteY3" fmla="*/ 303715 h 1574506"/>
                <a:gd name="connsiteX4" fmla="*/ 7945673 w 12191999"/>
                <a:gd name="connsiteY4" fmla="*/ 1574506 h 1574506"/>
                <a:gd name="connsiteX5" fmla="*/ 7555238 w 12191999"/>
                <a:gd name="connsiteY5" fmla="*/ 1574506 h 1574506"/>
                <a:gd name="connsiteX6" fmla="*/ 7555239 w 12191999"/>
                <a:gd name="connsiteY6" fmla="*/ 1574505 h 1574506"/>
                <a:gd name="connsiteX7" fmla="*/ 914400 w 12191999"/>
                <a:gd name="connsiteY7" fmla="*/ 1574505 h 1574506"/>
                <a:gd name="connsiteX8" fmla="*/ 185737 w 12191999"/>
                <a:gd name="connsiteY8" fmla="*/ 1574505 h 1574506"/>
                <a:gd name="connsiteX9" fmla="*/ 0 w 12191999"/>
                <a:gd name="connsiteY9" fmla="*/ 1574505 h 1574506"/>
                <a:gd name="connsiteX10" fmla="*/ 0 w 12191999"/>
                <a:gd name="connsiteY10" fmla="*/ 1244558 h 1574506"/>
                <a:gd name="connsiteX11" fmla="*/ 914400 w 12191999"/>
                <a:gd name="connsiteY11" fmla="*/ 1244558 h 1574506"/>
                <a:gd name="connsiteX12" fmla="*/ 914400 w 12191999"/>
                <a:gd name="connsiteY12" fmla="*/ 1245890 h 1574506"/>
                <a:gd name="connsiteX13" fmla="*/ 7737286 w 12191999"/>
                <a:gd name="connsiteY13" fmla="*/ 1245890 h 15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1574506">
                  <a:moveTo>
                    <a:pt x="8427488" y="0"/>
                  </a:moveTo>
                  <a:lnTo>
                    <a:pt x="12191999" y="0"/>
                  </a:lnTo>
                  <a:lnTo>
                    <a:pt x="12191999" y="303715"/>
                  </a:lnTo>
                  <a:lnTo>
                    <a:pt x="8649669" y="303715"/>
                  </a:lnTo>
                  <a:lnTo>
                    <a:pt x="7945673" y="1574506"/>
                  </a:lnTo>
                  <a:lnTo>
                    <a:pt x="7555238" y="1574506"/>
                  </a:lnTo>
                  <a:lnTo>
                    <a:pt x="7555239" y="1574505"/>
                  </a:lnTo>
                  <a:lnTo>
                    <a:pt x="914400" y="1574505"/>
                  </a:lnTo>
                  <a:lnTo>
                    <a:pt x="185737" y="1574505"/>
                  </a:lnTo>
                  <a:lnTo>
                    <a:pt x="0" y="1574505"/>
                  </a:lnTo>
                  <a:lnTo>
                    <a:pt x="0" y="1244558"/>
                  </a:lnTo>
                  <a:lnTo>
                    <a:pt x="914400" y="1244558"/>
                  </a:lnTo>
                  <a:lnTo>
                    <a:pt x="914400" y="1245890"/>
                  </a:lnTo>
                  <a:lnTo>
                    <a:pt x="7737286" y="1245890"/>
                  </a:lnTo>
                  <a:close/>
                </a:path>
              </a:pathLst>
            </a:custGeom>
            <a:solidFill>
              <a:srgbClr val="BC82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panose="020B0503020204020204" pitchFamily="34" charset="-122"/>
                <a:sym typeface="Century Gothic" panose="020B0502020202020204" pitchFamily="34" charset="0"/>
              </a:endParaRPr>
            </a:p>
          </p:txBody>
        </p:sp>
      </p:grpSp>
      <p:sp>
        <p:nvSpPr>
          <p:cNvPr id="13" name="任意多边形 12"/>
          <p:cNvSpPr/>
          <p:nvPr userDrawn="1"/>
        </p:nvSpPr>
        <p:spPr>
          <a:xfrm>
            <a:off x="4022907" y="478499"/>
            <a:ext cx="4690019" cy="234013"/>
          </a:xfrm>
          <a:custGeom>
            <a:avLst/>
            <a:gdLst>
              <a:gd name="connsiteX0" fmla="*/ 825458 w 4239421"/>
              <a:gd name="connsiteY0" fmla="*/ 0 h 2900363"/>
              <a:gd name="connsiteX1" fmla="*/ 4239421 w 4239421"/>
              <a:gd name="connsiteY1" fmla="*/ 0 h 2900363"/>
              <a:gd name="connsiteX2" fmla="*/ 4239421 w 4239421"/>
              <a:gd name="connsiteY2" fmla="*/ 2900363 h 2900363"/>
              <a:gd name="connsiteX3" fmla="*/ 1170276 w 4239421"/>
              <a:gd name="connsiteY3" fmla="*/ 2900363 h 2900363"/>
              <a:gd name="connsiteX4" fmla="*/ 0 w 4239421"/>
              <a:gd name="connsiteY4" fmla="*/ 1490041 h 2900363"/>
              <a:gd name="connsiteX0-1" fmla="*/ 825458 w 56291306"/>
              <a:gd name="connsiteY0-2" fmla="*/ 0 h 2900363"/>
              <a:gd name="connsiteX1-3" fmla="*/ 4239421 w 56291306"/>
              <a:gd name="connsiteY1-4" fmla="*/ 0 h 2900363"/>
              <a:gd name="connsiteX2-5" fmla="*/ 56291306 w 56291306"/>
              <a:gd name="connsiteY2-6" fmla="*/ 2900363 h 2900363"/>
              <a:gd name="connsiteX3-7" fmla="*/ 1170276 w 56291306"/>
              <a:gd name="connsiteY3-8" fmla="*/ 2900363 h 2900363"/>
              <a:gd name="connsiteX4-9" fmla="*/ 0 w 56291306"/>
              <a:gd name="connsiteY4-10" fmla="*/ 1490041 h 2900363"/>
              <a:gd name="connsiteX5" fmla="*/ 825458 w 56291306"/>
              <a:gd name="connsiteY5" fmla="*/ 0 h 2900363"/>
              <a:gd name="connsiteX0-11" fmla="*/ 825458 w 56374723"/>
              <a:gd name="connsiteY0-12" fmla="*/ 0 h 2900363"/>
              <a:gd name="connsiteX1-13" fmla="*/ 56374723 w 56374723"/>
              <a:gd name="connsiteY1-14" fmla="*/ 166835 h 2900363"/>
              <a:gd name="connsiteX2-15" fmla="*/ 56291306 w 56374723"/>
              <a:gd name="connsiteY2-16" fmla="*/ 2900363 h 2900363"/>
              <a:gd name="connsiteX3-17" fmla="*/ 1170276 w 56374723"/>
              <a:gd name="connsiteY3-18" fmla="*/ 2900363 h 2900363"/>
              <a:gd name="connsiteX4-19" fmla="*/ 0 w 56374723"/>
              <a:gd name="connsiteY4-20" fmla="*/ 1490041 h 2900363"/>
              <a:gd name="connsiteX5-21" fmla="*/ 825458 w 56374723"/>
              <a:gd name="connsiteY5-22" fmla="*/ 0 h 29003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56374723" h="2900363">
                <a:moveTo>
                  <a:pt x="825458" y="0"/>
                </a:moveTo>
                <a:lnTo>
                  <a:pt x="56374723" y="166835"/>
                </a:lnTo>
                <a:lnTo>
                  <a:pt x="56291306" y="2900363"/>
                </a:lnTo>
                <a:lnTo>
                  <a:pt x="1170276" y="2900363"/>
                </a:lnTo>
                <a:lnTo>
                  <a:pt x="0" y="1490041"/>
                </a:lnTo>
                <a:lnTo>
                  <a:pt x="825458" y="0"/>
                </a:lnTo>
                <a:close/>
              </a:path>
            </a:pathLst>
          </a:cu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panose="020B0503020204020204" pitchFamily="34" charset="-122"/>
              <a:sym typeface="Century Gothic" panose="020B0502020202020204" pitchFamily="34" charset="0"/>
            </a:endParaRPr>
          </a:p>
        </p:txBody>
      </p:sp>
      <p:sp>
        <p:nvSpPr>
          <p:cNvPr id="14" name="矩形 13"/>
          <p:cNvSpPr/>
          <p:nvPr userDrawn="1"/>
        </p:nvSpPr>
        <p:spPr>
          <a:xfrm>
            <a:off x="6975566" y="491562"/>
            <a:ext cx="5216434" cy="223200"/>
          </a:xfrm>
          <a:prstGeom prst="rect">
            <a:avLst/>
          </a:pr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7" name="矩形 6"/>
          <p:cNvSpPr/>
          <p:nvPr userDrawn="1"/>
        </p:nvSpPr>
        <p:spPr>
          <a:xfrm>
            <a:off x="1848169" y="171990"/>
            <a:ext cx="4519748" cy="306366"/>
          </a:xfrm>
          <a:prstGeom prst="rect">
            <a:avLst/>
          </a:prstGeom>
        </p:spPr>
        <p:txBody>
          <a:bodyPr wrap="square">
            <a:spAutoFit/>
            <a:scene3d>
              <a:camera prst="orthographicFront"/>
              <a:lightRig rig="threePt" dir="t"/>
            </a:scene3d>
            <a:sp3d contourW="12700"/>
          </a:bodyPr>
          <a:lstStyle/>
          <a:p>
            <a:pPr lvl="0">
              <a:lnSpc>
                <a:spcPts val="1600"/>
              </a:lnSpc>
              <a:defRPr/>
            </a:pPr>
            <a:r>
              <a:rPr lang="en-US" altLang="zh-CN" dirty="0">
                <a:solidFill>
                  <a:schemeClr val="tx1">
                    <a:lumMod val="50000"/>
                    <a:lumOff val="50000"/>
                  </a:schemeClr>
                </a:solidFill>
                <a:effectLst>
                  <a:innerShdw blurRad="63500" dist="50800" dir="13500000">
                    <a:prstClr val="black">
                      <a:alpha val="50000"/>
                    </a:prstClr>
                  </a:innerShdw>
                </a:effectLst>
                <a:latin typeface="华康黑体W3(P)" panose="020B0300000000000000" pitchFamily="34" charset="-122"/>
                <a:ea typeface="华康黑体W3(P)" panose="020B0300000000000000" pitchFamily="34" charset="-122"/>
              </a:rPr>
              <a:t>Deficiencies in work and improvement measures</a:t>
            </a:r>
            <a:endParaRPr lang="en-US" altLang="zh-CN" dirty="0">
              <a:solidFill>
                <a:schemeClr val="tx1">
                  <a:lumMod val="50000"/>
                  <a:lumOff val="50000"/>
                </a:schemeClr>
              </a:solidFill>
              <a:effectLst>
                <a:innerShdw blurRad="63500" dist="50800" dir="13500000">
                  <a:prstClr val="black">
                    <a:alpha val="50000"/>
                  </a:prstClr>
                </a:innerShdw>
              </a:effectLst>
              <a:latin typeface="华康黑体W3(P)" panose="020B0300000000000000" pitchFamily="34" charset="-122"/>
              <a:ea typeface="华康黑体W3(P)" panose="020B0300000000000000" pitchFamily="34" charset="-122"/>
            </a:endParaRPr>
          </a:p>
        </p:txBody>
      </p:sp>
      <p:sp>
        <p:nvSpPr>
          <p:cNvPr id="8" name="文本框 7"/>
          <p:cNvSpPr txBox="1"/>
          <p:nvPr userDrawn="1"/>
        </p:nvSpPr>
        <p:spPr>
          <a:xfrm>
            <a:off x="1423853" y="346404"/>
            <a:ext cx="3262432" cy="461665"/>
          </a:xfrm>
          <a:prstGeom prst="rect">
            <a:avLst/>
          </a:prstGeom>
          <a:noFill/>
        </p:spPr>
        <p:txBody>
          <a:bodyPr wrap="non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rgbClr val="38636E"/>
                </a:solidFill>
                <a:effectLst>
                  <a:innerShdw blurRad="63500" dist="50800" dir="13500000">
                    <a:prstClr val="black">
                      <a:alpha val="50000"/>
                    </a:prstClr>
                  </a:innerShdw>
                </a:effectLst>
                <a:uLnTx/>
                <a:uFillTx/>
                <a:latin typeface="华康黑体W5(P)" panose="020B0500000000000000" pitchFamily="34" charset="-122"/>
                <a:ea typeface="华康黑体W5(P)" panose="020B0500000000000000" pitchFamily="34" charset="-122"/>
                <a:sym typeface="Arial" panose="020B0604020202020204"/>
              </a:rPr>
              <a:t>工作中不足及改进措施</a:t>
            </a:r>
            <a:endParaRPr kumimoji="0" lang="zh-CN" altLang="en-US" sz="2400" i="0" u="none" strike="noStrike" kern="1200" cap="none" spc="0" normalizeH="0" baseline="0" noProof="0" dirty="0">
              <a:ln>
                <a:noFill/>
              </a:ln>
              <a:solidFill>
                <a:srgbClr val="38636E"/>
              </a:solidFill>
              <a:effectLst>
                <a:innerShdw blurRad="63500" dist="50800" dir="13500000">
                  <a:prstClr val="black">
                    <a:alpha val="50000"/>
                  </a:prstClr>
                </a:innerShdw>
              </a:effectLst>
              <a:uLnTx/>
              <a:uFillTx/>
              <a:latin typeface="华康黑体W5(P)" panose="020B0500000000000000" pitchFamily="34" charset="-122"/>
              <a:ea typeface="华康黑体W5(P)" panose="020B0500000000000000" pitchFamily="34" charset="-122"/>
              <a:sym typeface="Arial" panose="020B0604020202020204"/>
            </a:endParaRPr>
          </a:p>
        </p:txBody>
      </p:sp>
      <p:grpSp>
        <p:nvGrpSpPr>
          <p:cNvPr id="9" name="组合 8"/>
          <p:cNvGrpSpPr/>
          <p:nvPr userDrawn="1"/>
        </p:nvGrpSpPr>
        <p:grpSpPr>
          <a:xfrm>
            <a:off x="0" y="238913"/>
            <a:ext cx="1867989" cy="512679"/>
            <a:chOff x="0" y="95220"/>
            <a:chExt cx="2474975" cy="679269"/>
          </a:xfrm>
        </p:grpSpPr>
        <p:sp>
          <p:nvSpPr>
            <p:cNvPr id="10" name="任意多边形 9"/>
            <p:cNvSpPr/>
            <p:nvPr/>
          </p:nvSpPr>
          <p:spPr>
            <a:xfrm>
              <a:off x="1611795" y="185716"/>
              <a:ext cx="356502" cy="588773"/>
            </a:xfrm>
            <a:custGeom>
              <a:avLst/>
              <a:gdLst>
                <a:gd name="connsiteX0" fmla="*/ 825458 w 1756168"/>
                <a:gd name="connsiteY0" fmla="*/ 0 h 2900363"/>
                <a:gd name="connsiteX1" fmla="*/ 1418888 w 1756168"/>
                <a:gd name="connsiteY1" fmla="*/ 0 h 2900363"/>
                <a:gd name="connsiteX2" fmla="*/ 590412 w 1756168"/>
                <a:gd name="connsiteY2" fmla="*/ 1495489 h 2900363"/>
                <a:gd name="connsiteX3" fmla="*/ 1756168 w 1756168"/>
                <a:gd name="connsiteY3" fmla="*/ 2900363 h 2900363"/>
                <a:gd name="connsiteX4" fmla="*/ 1170276 w 1756168"/>
                <a:gd name="connsiteY4" fmla="*/ 2900363 h 2900363"/>
                <a:gd name="connsiteX5" fmla="*/ 0 w 1756168"/>
                <a:gd name="connsiteY5" fmla="*/ 1490041 h 290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68" h="2900363">
                  <a:moveTo>
                    <a:pt x="825458" y="0"/>
                  </a:moveTo>
                  <a:lnTo>
                    <a:pt x="1418888" y="0"/>
                  </a:lnTo>
                  <a:lnTo>
                    <a:pt x="590412" y="1495489"/>
                  </a:lnTo>
                  <a:lnTo>
                    <a:pt x="1756168" y="2900363"/>
                  </a:lnTo>
                  <a:lnTo>
                    <a:pt x="1170276" y="2900363"/>
                  </a:lnTo>
                  <a:lnTo>
                    <a:pt x="0" y="1490041"/>
                  </a:lnTo>
                  <a:close/>
                </a:path>
              </a:pathLst>
            </a:cu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sp>
          <p:nvSpPr>
            <p:cNvPr id="11" name="任意多边形 10"/>
            <p:cNvSpPr/>
            <p:nvPr/>
          </p:nvSpPr>
          <p:spPr>
            <a:xfrm>
              <a:off x="0" y="449649"/>
              <a:ext cx="1799920" cy="324840"/>
            </a:xfrm>
            <a:custGeom>
              <a:avLst/>
              <a:gdLst>
                <a:gd name="connsiteX0" fmla="*/ 0 w 8866603"/>
                <a:gd name="connsiteY0" fmla="*/ 0 h 1600199"/>
                <a:gd name="connsiteX1" fmla="*/ 7538768 w 8866603"/>
                <a:gd name="connsiteY1" fmla="*/ 0 h 1600199"/>
                <a:gd name="connsiteX2" fmla="*/ 8866603 w 8866603"/>
                <a:gd name="connsiteY2" fmla="*/ 1600199 h 1600199"/>
                <a:gd name="connsiteX3" fmla="*/ 0 w 8866603"/>
                <a:gd name="connsiteY3" fmla="*/ 1600199 h 1600199"/>
              </a:gdLst>
              <a:ahLst/>
              <a:cxnLst>
                <a:cxn ang="0">
                  <a:pos x="connsiteX0" y="connsiteY0"/>
                </a:cxn>
                <a:cxn ang="0">
                  <a:pos x="connsiteX1" y="connsiteY1"/>
                </a:cxn>
                <a:cxn ang="0">
                  <a:pos x="connsiteX2" y="connsiteY2"/>
                </a:cxn>
                <a:cxn ang="0">
                  <a:pos x="connsiteX3" y="connsiteY3"/>
                </a:cxn>
              </a:cxnLst>
              <a:rect l="l" t="t" r="r" b="b"/>
              <a:pathLst>
                <a:path w="8866603" h="1600199">
                  <a:moveTo>
                    <a:pt x="0" y="0"/>
                  </a:moveTo>
                  <a:lnTo>
                    <a:pt x="7538768" y="0"/>
                  </a:lnTo>
                  <a:lnTo>
                    <a:pt x="8866603" y="1600199"/>
                  </a:lnTo>
                  <a:lnTo>
                    <a:pt x="0" y="1600199"/>
                  </a:lnTo>
                  <a:close/>
                </a:path>
              </a:pathLst>
            </a:custGeom>
            <a:solidFill>
              <a:srgbClr val="68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sp>
          <p:nvSpPr>
            <p:cNvPr id="12" name="任意多边形 11"/>
            <p:cNvSpPr/>
            <p:nvPr/>
          </p:nvSpPr>
          <p:spPr>
            <a:xfrm>
              <a:off x="0" y="95220"/>
              <a:ext cx="2474975" cy="319625"/>
            </a:xfrm>
            <a:custGeom>
              <a:avLst/>
              <a:gdLst>
                <a:gd name="connsiteX0" fmla="*/ 8427488 w 12191999"/>
                <a:gd name="connsiteY0" fmla="*/ 0 h 1574506"/>
                <a:gd name="connsiteX1" fmla="*/ 12191999 w 12191999"/>
                <a:gd name="connsiteY1" fmla="*/ 0 h 1574506"/>
                <a:gd name="connsiteX2" fmla="*/ 12191999 w 12191999"/>
                <a:gd name="connsiteY2" fmla="*/ 303715 h 1574506"/>
                <a:gd name="connsiteX3" fmla="*/ 8649669 w 12191999"/>
                <a:gd name="connsiteY3" fmla="*/ 303715 h 1574506"/>
                <a:gd name="connsiteX4" fmla="*/ 7945673 w 12191999"/>
                <a:gd name="connsiteY4" fmla="*/ 1574506 h 1574506"/>
                <a:gd name="connsiteX5" fmla="*/ 7555238 w 12191999"/>
                <a:gd name="connsiteY5" fmla="*/ 1574506 h 1574506"/>
                <a:gd name="connsiteX6" fmla="*/ 7555239 w 12191999"/>
                <a:gd name="connsiteY6" fmla="*/ 1574505 h 1574506"/>
                <a:gd name="connsiteX7" fmla="*/ 914400 w 12191999"/>
                <a:gd name="connsiteY7" fmla="*/ 1574505 h 1574506"/>
                <a:gd name="connsiteX8" fmla="*/ 185737 w 12191999"/>
                <a:gd name="connsiteY8" fmla="*/ 1574505 h 1574506"/>
                <a:gd name="connsiteX9" fmla="*/ 0 w 12191999"/>
                <a:gd name="connsiteY9" fmla="*/ 1574505 h 1574506"/>
                <a:gd name="connsiteX10" fmla="*/ 0 w 12191999"/>
                <a:gd name="connsiteY10" fmla="*/ 1244558 h 1574506"/>
                <a:gd name="connsiteX11" fmla="*/ 914400 w 12191999"/>
                <a:gd name="connsiteY11" fmla="*/ 1244558 h 1574506"/>
                <a:gd name="connsiteX12" fmla="*/ 914400 w 12191999"/>
                <a:gd name="connsiteY12" fmla="*/ 1245890 h 1574506"/>
                <a:gd name="connsiteX13" fmla="*/ 7737286 w 12191999"/>
                <a:gd name="connsiteY13" fmla="*/ 1245890 h 15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1574506">
                  <a:moveTo>
                    <a:pt x="8427488" y="0"/>
                  </a:moveTo>
                  <a:lnTo>
                    <a:pt x="12191999" y="0"/>
                  </a:lnTo>
                  <a:lnTo>
                    <a:pt x="12191999" y="303715"/>
                  </a:lnTo>
                  <a:lnTo>
                    <a:pt x="8649669" y="303715"/>
                  </a:lnTo>
                  <a:lnTo>
                    <a:pt x="7945673" y="1574506"/>
                  </a:lnTo>
                  <a:lnTo>
                    <a:pt x="7555238" y="1574506"/>
                  </a:lnTo>
                  <a:lnTo>
                    <a:pt x="7555239" y="1574505"/>
                  </a:lnTo>
                  <a:lnTo>
                    <a:pt x="914400" y="1574505"/>
                  </a:lnTo>
                  <a:lnTo>
                    <a:pt x="185737" y="1574505"/>
                  </a:lnTo>
                  <a:lnTo>
                    <a:pt x="0" y="1574505"/>
                  </a:lnTo>
                  <a:lnTo>
                    <a:pt x="0" y="1244558"/>
                  </a:lnTo>
                  <a:lnTo>
                    <a:pt x="914400" y="1244558"/>
                  </a:lnTo>
                  <a:lnTo>
                    <a:pt x="914400" y="1245890"/>
                  </a:lnTo>
                  <a:lnTo>
                    <a:pt x="7737286" y="1245890"/>
                  </a:lnTo>
                  <a:close/>
                </a:path>
              </a:pathLst>
            </a:custGeom>
            <a:solidFill>
              <a:srgbClr val="BC82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panose="020B0503020204020204" pitchFamily="34" charset="-122"/>
                <a:sym typeface="Century Gothic" panose="020B0502020202020204" pitchFamily="34" charset="0"/>
              </a:endParaRPr>
            </a:p>
          </p:txBody>
        </p:sp>
      </p:grpSp>
      <p:sp>
        <p:nvSpPr>
          <p:cNvPr id="13" name="任意多边形 12"/>
          <p:cNvSpPr/>
          <p:nvPr userDrawn="1"/>
        </p:nvSpPr>
        <p:spPr>
          <a:xfrm>
            <a:off x="4632507" y="478499"/>
            <a:ext cx="4690019" cy="234013"/>
          </a:xfrm>
          <a:custGeom>
            <a:avLst/>
            <a:gdLst>
              <a:gd name="connsiteX0" fmla="*/ 825458 w 4239421"/>
              <a:gd name="connsiteY0" fmla="*/ 0 h 2900363"/>
              <a:gd name="connsiteX1" fmla="*/ 4239421 w 4239421"/>
              <a:gd name="connsiteY1" fmla="*/ 0 h 2900363"/>
              <a:gd name="connsiteX2" fmla="*/ 4239421 w 4239421"/>
              <a:gd name="connsiteY2" fmla="*/ 2900363 h 2900363"/>
              <a:gd name="connsiteX3" fmla="*/ 1170276 w 4239421"/>
              <a:gd name="connsiteY3" fmla="*/ 2900363 h 2900363"/>
              <a:gd name="connsiteX4" fmla="*/ 0 w 4239421"/>
              <a:gd name="connsiteY4" fmla="*/ 1490041 h 2900363"/>
              <a:gd name="connsiteX0-1" fmla="*/ 825458 w 56291306"/>
              <a:gd name="connsiteY0-2" fmla="*/ 0 h 2900363"/>
              <a:gd name="connsiteX1-3" fmla="*/ 4239421 w 56291306"/>
              <a:gd name="connsiteY1-4" fmla="*/ 0 h 2900363"/>
              <a:gd name="connsiteX2-5" fmla="*/ 56291306 w 56291306"/>
              <a:gd name="connsiteY2-6" fmla="*/ 2900363 h 2900363"/>
              <a:gd name="connsiteX3-7" fmla="*/ 1170276 w 56291306"/>
              <a:gd name="connsiteY3-8" fmla="*/ 2900363 h 2900363"/>
              <a:gd name="connsiteX4-9" fmla="*/ 0 w 56291306"/>
              <a:gd name="connsiteY4-10" fmla="*/ 1490041 h 2900363"/>
              <a:gd name="connsiteX5" fmla="*/ 825458 w 56291306"/>
              <a:gd name="connsiteY5" fmla="*/ 0 h 2900363"/>
              <a:gd name="connsiteX0-11" fmla="*/ 825458 w 56374723"/>
              <a:gd name="connsiteY0-12" fmla="*/ 0 h 2900363"/>
              <a:gd name="connsiteX1-13" fmla="*/ 56374723 w 56374723"/>
              <a:gd name="connsiteY1-14" fmla="*/ 166835 h 2900363"/>
              <a:gd name="connsiteX2-15" fmla="*/ 56291306 w 56374723"/>
              <a:gd name="connsiteY2-16" fmla="*/ 2900363 h 2900363"/>
              <a:gd name="connsiteX3-17" fmla="*/ 1170276 w 56374723"/>
              <a:gd name="connsiteY3-18" fmla="*/ 2900363 h 2900363"/>
              <a:gd name="connsiteX4-19" fmla="*/ 0 w 56374723"/>
              <a:gd name="connsiteY4-20" fmla="*/ 1490041 h 2900363"/>
              <a:gd name="connsiteX5-21" fmla="*/ 825458 w 56374723"/>
              <a:gd name="connsiteY5-22" fmla="*/ 0 h 29003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56374723" h="2900363">
                <a:moveTo>
                  <a:pt x="825458" y="0"/>
                </a:moveTo>
                <a:lnTo>
                  <a:pt x="56374723" y="166835"/>
                </a:lnTo>
                <a:lnTo>
                  <a:pt x="56291306" y="2900363"/>
                </a:lnTo>
                <a:lnTo>
                  <a:pt x="1170276" y="2900363"/>
                </a:lnTo>
                <a:lnTo>
                  <a:pt x="0" y="1490041"/>
                </a:lnTo>
                <a:lnTo>
                  <a:pt x="825458" y="0"/>
                </a:lnTo>
                <a:close/>
              </a:path>
            </a:pathLst>
          </a:cu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panose="020B0503020204020204" pitchFamily="34" charset="-122"/>
              <a:sym typeface="Century Gothic" panose="020B0502020202020204" pitchFamily="34" charset="0"/>
            </a:endParaRPr>
          </a:p>
        </p:txBody>
      </p:sp>
      <p:sp>
        <p:nvSpPr>
          <p:cNvPr id="14" name="矩形 13"/>
          <p:cNvSpPr/>
          <p:nvPr userDrawn="1"/>
        </p:nvSpPr>
        <p:spPr>
          <a:xfrm>
            <a:off x="6975566" y="491562"/>
            <a:ext cx="5216434" cy="223200"/>
          </a:xfrm>
          <a:prstGeom prst="rect">
            <a:avLst/>
          </a:pr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7" name="矩形 6"/>
          <p:cNvSpPr/>
          <p:nvPr userDrawn="1"/>
        </p:nvSpPr>
        <p:spPr>
          <a:xfrm>
            <a:off x="1848169" y="171990"/>
            <a:ext cx="4519748" cy="306366"/>
          </a:xfrm>
          <a:prstGeom prst="rect">
            <a:avLst/>
          </a:prstGeom>
        </p:spPr>
        <p:txBody>
          <a:bodyPr wrap="square">
            <a:spAutoFit/>
            <a:scene3d>
              <a:camera prst="orthographicFront"/>
              <a:lightRig rig="threePt" dir="t"/>
            </a:scene3d>
            <a:sp3d contourW="12700"/>
          </a:bodyPr>
          <a:lstStyle/>
          <a:p>
            <a:pPr lvl="0">
              <a:lnSpc>
                <a:spcPts val="1600"/>
              </a:lnSpc>
              <a:defRPr/>
            </a:pPr>
            <a:r>
              <a:rPr lang="en-US" altLang="zh-CN" dirty="0">
                <a:solidFill>
                  <a:schemeClr val="tx1">
                    <a:lumMod val="50000"/>
                    <a:lumOff val="50000"/>
                  </a:schemeClr>
                </a:solidFill>
                <a:effectLst>
                  <a:innerShdw blurRad="63500" dist="50800" dir="13500000">
                    <a:prstClr val="black">
                      <a:alpha val="50000"/>
                    </a:prstClr>
                  </a:innerShdw>
                </a:effectLst>
                <a:latin typeface="华康黑体W3(P)" panose="020B0300000000000000" pitchFamily="34" charset="-122"/>
                <a:ea typeface="华康黑体W3(P)" panose="020B0300000000000000" pitchFamily="34" charset="-122"/>
              </a:rPr>
              <a:t>Next work target plan</a:t>
            </a:r>
            <a:endParaRPr lang="en-US" altLang="zh-CN" dirty="0">
              <a:solidFill>
                <a:schemeClr val="tx1">
                  <a:lumMod val="50000"/>
                  <a:lumOff val="50000"/>
                </a:schemeClr>
              </a:solidFill>
              <a:effectLst>
                <a:innerShdw blurRad="63500" dist="50800" dir="13500000">
                  <a:prstClr val="black">
                    <a:alpha val="50000"/>
                  </a:prstClr>
                </a:innerShdw>
              </a:effectLst>
              <a:latin typeface="华康黑体W3(P)" panose="020B0300000000000000" pitchFamily="34" charset="-122"/>
              <a:ea typeface="华康黑体W3(P)" panose="020B0300000000000000" pitchFamily="34" charset="-122"/>
            </a:endParaRPr>
          </a:p>
        </p:txBody>
      </p:sp>
      <p:sp>
        <p:nvSpPr>
          <p:cNvPr id="8" name="文本框 7"/>
          <p:cNvSpPr txBox="1"/>
          <p:nvPr userDrawn="1"/>
        </p:nvSpPr>
        <p:spPr>
          <a:xfrm>
            <a:off x="1376030" y="346404"/>
            <a:ext cx="2646879" cy="461665"/>
          </a:xfrm>
          <a:prstGeom prst="rect">
            <a:avLst/>
          </a:prstGeom>
          <a:noFill/>
        </p:spPr>
        <p:txBody>
          <a:bodyPr wrap="non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i="0" u="none" strike="noStrike" kern="1200" cap="none" spc="0" normalizeH="0" baseline="0" noProof="0" dirty="0">
                <a:ln>
                  <a:noFill/>
                </a:ln>
                <a:solidFill>
                  <a:srgbClr val="38636E"/>
                </a:solidFill>
                <a:effectLst>
                  <a:innerShdw blurRad="63500" dist="50800" dir="13500000">
                    <a:prstClr val="black">
                      <a:alpha val="50000"/>
                    </a:prstClr>
                  </a:innerShdw>
                </a:effectLst>
                <a:uLnTx/>
                <a:uFillTx/>
                <a:latin typeface="华康黑体W5(P)" panose="020B0500000000000000" pitchFamily="34" charset="-122"/>
                <a:ea typeface="华康黑体W5(P)" panose="020B0500000000000000" pitchFamily="34" charset="-122"/>
                <a:sym typeface="Arial" panose="020B0604020202020204"/>
              </a:rPr>
              <a:t>下步工作目标计划</a:t>
            </a:r>
            <a:endParaRPr kumimoji="0" lang="zh-CN" altLang="en-US" sz="2400" i="0" u="none" strike="noStrike" kern="1200" cap="none" spc="0" normalizeH="0" baseline="0" noProof="0" dirty="0">
              <a:ln>
                <a:noFill/>
              </a:ln>
              <a:solidFill>
                <a:srgbClr val="38636E"/>
              </a:solidFill>
              <a:effectLst>
                <a:innerShdw blurRad="63500" dist="50800" dir="13500000">
                  <a:prstClr val="black">
                    <a:alpha val="50000"/>
                  </a:prstClr>
                </a:innerShdw>
              </a:effectLst>
              <a:uLnTx/>
              <a:uFillTx/>
              <a:latin typeface="华康黑体W5(P)" panose="020B0500000000000000" pitchFamily="34" charset="-122"/>
              <a:ea typeface="华康黑体W5(P)" panose="020B0500000000000000" pitchFamily="34" charset="-122"/>
              <a:sym typeface="Arial" panose="020B0604020202020204"/>
            </a:endParaRPr>
          </a:p>
        </p:txBody>
      </p:sp>
      <p:grpSp>
        <p:nvGrpSpPr>
          <p:cNvPr id="9" name="组合 8"/>
          <p:cNvGrpSpPr/>
          <p:nvPr userDrawn="1"/>
        </p:nvGrpSpPr>
        <p:grpSpPr>
          <a:xfrm>
            <a:off x="0" y="238913"/>
            <a:ext cx="1867989" cy="512679"/>
            <a:chOff x="0" y="95220"/>
            <a:chExt cx="2474975" cy="679269"/>
          </a:xfrm>
        </p:grpSpPr>
        <p:sp>
          <p:nvSpPr>
            <p:cNvPr id="10" name="任意多边形 9"/>
            <p:cNvSpPr/>
            <p:nvPr/>
          </p:nvSpPr>
          <p:spPr>
            <a:xfrm>
              <a:off x="1611795" y="185716"/>
              <a:ext cx="356502" cy="588773"/>
            </a:xfrm>
            <a:custGeom>
              <a:avLst/>
              <a:gdLst>
                <a:gd name="connsiteX0" fmla="*/ 825458 w 1756168"/>
                <a:gd name="connsiteY0" fmla="*/ 0 h 2900363"/>
                <a:gd name="connsiteX1" fmla="*/ 1418888 w 1756168"/>
                <a:gd name="connsiteY1" fmla="*/ 0 h 2900363"/>
                <a:gd name="connsiteX2" fmla="*/ 590412 w 1756168"/>
                <a:gd name="connsiteY2" fmla="*/ 1495489 h 2900363"/>
                <a:gd name="connsiteX3" fmla="*/ 1756168 w 1756168"/>
                <a:gd name="connsiteY3" fmla="*/ 2900363 h 2900363"/>
                <a:gd name="connsiteX4" fmla="*/ 1170276 w 1756168"/>
                <a:gd name="connsiteY4" fmla="*/ 2900363 h 2900363"/>
                <a:gd name="connsiteX5" fmla="*/ 0 w 1756168"/>
                <a:gd name="connsiteY5" fmla="*/ 1490041 h 290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68" h="2900363">
                  <a:moveTo>
                    <a:pt x="825458" y="0"/>
                  </a:moveTo>
                  <a:lnTo>
                    <a:pt x="1418888" y="0"/>
                  </a:lnTo>
                  <a:lnTo>
                    <a:pt x="590412" y="1495489"/>
                  </a:lnTo>
                  <a:lnTo>
                    <a:pt x="1756168" y="2900363"/>
                  </a:lnTo>
                  <a:lnTo>
                    <a:pt x="1170276" y="2900363"/>
                  </a:lnTo>
                  <a:lnTo>
                    <a:pt x="0" y="1490041"/>
                  </a:lnTo>
                  <a:close/>
                </a:path>
              </a:pathLst>
            </a:cu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sp>
          <p:nvSpPr>
            <p:cNvPr id="11" name="任意多边形 10"/>
            <p:cNvSpPr/>
            <p:nvPr/>
          </p:nvSpPr>
          <p:spPr>
            <a:xfrm>
              <a:off x="0" y="449649"/>
              <a:ext cx="1799920" cy="324840"/>
            </a:xfrm>
            <a:custGeom>
              <a:avLst/>
              <a:gdLst>
                <a:gd name="connsiteX0" fmla="*/ 0 w 8866603"/>
                <a:gd name="connsiteY0" fmla="*/ 0 h 1600199"/>
                <a:gd name="connsiteX1" fmla="*/ 7538768 w 8866603"/>
                <a:gd name="connsiteY1" fmla="*/ 0 h 1600199"/>
                <a:gd name="connsiteX2" fmla="*/ 8866603 w 8866603"/>
                <a:gd name="connsiteY2" fmla="*/ 1600199 h 1600199"/>
                <a:gd name="connsiteX3" fmla="*/ 0 w 8866603"/>
                <a:gd name="connsiteY3" fmla="*/ 1600199 h 1600199"/>
              </a:gdLst>
              <a:ahLst/>
              <a:cxnLst>
                <a:cxn ang="0">
                  <a:pos x="connsiteX0" y="connsiteY0"/>
                </a:cxn>
                <a:cxn ang="0">
                  <a:pos x="connsiteX1" y="connsiteY1"/>
                </a:cxn>
                <a:cxn ang="0">
                  <a:pos x="connsiteX2" y="connsiteY2"/>
                </a:cxn>
                <a:cxn ang="0">
                  <a:pos x="connsiteX3" y="connsiteY3"/>
                </a:cxn>
              </a:cxnLst>
              <a:rect l="l" t="t" r="r" b="b"/>
              <a:pathLst>
                <a:path w="8866603" h="1600199">
                  <a:moveTo>
                    <a:pt x="0" y="0"/>
                  </a:moveTo>
                  <a:lnTo>
                    <a:pt x="7538768" y="0"/>
                  </a:lnTo>
                  <a:lnTo>
                    <a:pt x="8866603" y="1600199"/>
                  </a:lnTo>
                  <a:lnTo>
                    <a:pt x="0" y="1600199"/>
                  </a:lnTo>
                  <a:close/>
                </a:path>
              </a:pathLst>
            </a:custGeom>
            <a:solidFill>
              <a:srgbClr val="68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sp>
          <p:nvSpPr>
            <p:cNvPr id="12" name="任意多边形 11"/>
            <p:cNvSpPr/>
            <p:nvPr/>
          </p:nvSpPr>
          <p:spPr>
            <a:xfrm>
              <a:off x="0" y="95220"/>
              <a:ext cx="2474975" cy="319625"/>
            </a:xfrm>
            <a:custGeom>
              <a:avLst/>
              <a:gdLst>
                <a:gd name="connsiteX0" fmla="*/ 8427488 w 12191999"/>
                <a:gd name="connsiteY0" fmla="*/ 0 h 1574506"/>
                <a:gd name="connsiteX1" fmla="*/ 12191999 w 12191999"/>
                <a:gd name="connsiteY1" fmla="*/ 0 h 1574506"/>
                <a:gd name="connsiteX2" fmla="*/ 12191999 w 12191999"/>
                <a:gd name="connsiteY2" fmla="*/ 303715 h 1574506"/>
                <a:gd name="connsiteX3" fmla="*/ 8649669 w 12191999"/>
                <a:gd name="connsiteY3" fmla="*/ 303715 h 1574506"/>
                <a:gd name="connsiteX4" fmla="*/ 7945673 w 12191999"/>
                <a:gd name="connsiteY4" fmla="*/ 1574506 h 1574506"/>
                <a:gd name="connsiteX5" fmla="*/ 7555238 w 12191999"/>
                <a:gd name="connsiteY5" fmla="*/ 1574506 h 1574506"/>
                <a:gd name="connsiteX6" fmla="*/ 7555239 w 12191999"/>
                <a:gd name="connsiteY6" fmla="*/ 1574505 h 1574506"/>
                <a:gd name="connsiteX7" fmla="*/ 914400 w 12191999"/>
                <a:gd name="connsiteY7" fmla="*/ 1574505 h 1574506"/>
                <a:gd name="connsiteX8" fmla="*/ 185737 w 12191999"/>
                <a:gd name="connsiteY8" fmla="*/ 1574505 h 1574506"/>
                <a:gd name="connsiteX9" fmla="*/ 0 w 12191999"/>
                <a:gd name="connsiteY9" fmla="*/ 1574505 h 1574506"/>
                <a:gd name="connsiteX10" fmla="*/ 0 w 12191999"/>
                <a:gd name="connsiteY10" fmla="*/ 1244558 h 1574506"/>
                <a:gd name="connsiteX11" fmla="*/ 914400 w 12191999"/>
                <a:gd name="connsiteY11" fmla="*/ 1244558 h 1574506"/>
                <a:gd name="connsiteX12" fmla="*/ 914400 w 12191999"/>
                <a:gd name="connsiteY12" fmla="*/ 1245890 h 1574506"/>
                <a:gd name="connsiteX13" fmla="*/ 7737286 w 12191999"/>
                <a:gd name="connsiteY13" fmla="*/ 1245890 h 15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1574506">
                  <a:moveTo>
                    <a:pt x="8427488" y="0"/>
                  </a:moveTo>
                  <a:lnTo>
                    <a:pt x="12191999" y="0"/>
                  </a:lnTo>
                  <a:lnTo>
                    <a:pt x="12191999" y="303715"/>
                  </a:lnTo>
                  <a:lnTo>
                    <a:pt x="8649669" y="303715"/>
                  </a:lnTo>
                  <a:lnTo>
                    <a:pt x="7945673" y="1574506"/>
                  </a:lnTo>
                  <a:lnTo>
                    <a:pt x="7555238" y="1574506"/>
                  </a:lnTo>
                  <a:lnTo>
                    <a:pt x="7555239" y="1574505"/>
                  </a:lnTo>
                  <a:lnTo>
                    <a:pt x="914400" y="1574505"/>
                  </a:lnTo>
                  <a:lnTo>
                    <a:pt x="185737" y="1574505"/>
                  </a:lnTo>
                  <a:lnTo>
                    <a:pt x="0" y="1574505"/>
                  </a:lnTo>
                  <a:lnTo>
                    <a:pt x="0" y="1244558"/>
                  </a:lnTo>
                  <a:lnTo>
                    <a:pt x="914400" y="1244558"/>
                  </a:lnTo>
                  <a:lnTo>
                    <a:pt x="914400" y="1245890"/>
                  </a:lnTo>
                  <a:lnTo>
                    <a:pt x="7737286" y="1245890"/>
                  </a:lnTo>
                  <a:close/>
                </a:path>
              </a:pathLst>
            </a:custGeom>
            <a:solidFill>
              <a:srgbClr val="BC82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panose="020B0503020204020204" pitchFamily="34" charset="-122"/>
                <a:sym typeface="Century Gothic" panose="020B0502020202020204" pitchFamily="34" charset="0"/>
              </a:endParaRPr>
            </a:p>
          </p:txBody>
        </p:sp>
      </p:grpSp>
      <p:sp>
        <p:nvSpPr>
          <p:cNvPr id="13" name="任意多边形 12"/>
          <p:cNvSpPr/>
          <p:nvPr userDrawn="1"/>
        </p:nvSpPr>
        <p:spPr>
          <a:xfrm>
            <a:off x="4022907" y="478499"/>
            <a:ext cx="4690019" cy="234013"/>
          </a:xfrm>
          <a:custGeom>
            <a:avLst/>
            <a:gdLst>
              <a:gd name="connsiteX0" fmla="*/ 825458 w 4239421"/>
              <a:gd name="connsiteY0" fmla="*/ 0 h 2900363"/>
              <a:gd name="connsiteX1" fmla="*/ 4239421 w 4239421"/>
              <a:gd name="connsiteY1" fmla="*/ 0 h 2900363"/>
              <a:gd name="connsiteX2" fmla="*/ 4239421 w 4239421"/>
              <a:gd name="connsiteY2" fmla="*/ 2900363 h 2900363"/>
              <a:gd name="connsiteX3" fmla="*/ 1170276 w 4239421"/>
              <a:gd name="connsiteY3" fmla="*/ 2900363 h 2900363"/>
              <a:gd name="connsiteX4" fmla="*/ 0 w 4239421"/>
              <a:gd name="connsiteY4" fmla="*/ 1490041 h 2900363"/>
              <a:gd name="connsiteX0-1" fmla="*/ 825458 w 56291306"/>
              <a:gd name="connsiteY0-2" fmla="*/ 0 h 2900363"/>
              <a:gd name="connsiteX1-3" fmla="*/ 4239421 w 56291306"/>
              <a:gd name="connsiteY1-4" fmla="*/ 0 h 2900363"/>
              <a:gd name="connsiteX2-5" fmla="*/ 56291306 w 56291306"/>
              <a:gd name="connsiteY2-6" fmla="*/ 2900363 h 2900363"/>
              <a:gd name="connsiteX3-7" fmla="*/ 1170276 w 56291306"/>
              <a:gd name="connsiteY3-8" fmla="*/ 2900363 h 2900363"/>
              <a:gd name="connsiteX4-9" fmla="*/ 0 w 56291306"/>
              <a:gd name="connsiteY4-10" fmla="*/ 1490041 h 2900363"/>
              <a:gd name="connsiteX5" fmla="*/ 825458 w 56291306"/>
              <a:gd name="connsiteY5" fmla="*/ 0 h 2900363"/>
              <a:gd name="connsiteX0-11" fmla="*/ 825458 w 56374723"/>
              <a:gd name="connsiteY0-12" fmla="*/ 0 h 2900363"/>
              <a:gd name="connsiteX1-13" fmla="*/ 56374723 w 56374723"/>
              <a:gd name="connsiteY1-14" fmla="*/ 166835 h 2900363"/>
              <a:gd name="connsiteX2-15" fmla="*/ 56291306 w 56374723"/>
              <a:gd name="connsiteY2-16" fmla="*/ 2900363 h 2900363"/>
              <a:gd name="connsiteX3-17" fmla="*/ 1170276 w 56374723"/>
              <a:gd name="connsiteY3-18" fmla="*/ 2900363 h 2900363"/>
              <a:gd name="connsiteX4-19" fmla="*/ 0 w 56374723"/>
              <a:gd name="connsiteY4-20" fmla="*/ 1490041 h 2900363"/>
              <a:gd name="connsiteX5-21" fmla="*/ 825458 w 56374723"/>
              <a:gd name="connsiteY5-22" fmla="*/ 0 h 29003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56374723" h="2900363">
                <a:moveTo>
                  <a:pt x="825458" y="0"/>
                </a:moveTo>
                <a:lnTo>
                  <a:pt x="56374723" y="166835"/>
                </a:lnTo>
                <a:lnTo>
                  <a:pt x="56291306" y="2900363"/>
                </a:lnTo>
                <a:lnTo>
                  <a:pt x="1170276" y="2900363"/>
                </a:lnTo>
                <a:lnTo>
                  <a:pt x="0" y="1490041"/>
                </a:lnTo>
                <a:lnTo>
                  <a:pt x="825458" y="0"/>
                </a:lnTo>
                <a:close/>
              </a:path>
            </a:pathLst>
          </a:cu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微软雅黑" panose="020B0503020204020204" pitchFamily="34" charset="-122"/>
              <a:sym typeface="Century Gothic" panose="020B0502020202020204" pitchFamily="34" charset="0"/>
            </a:endParaRPr>
          </a:p>
        </p:txBody>
      </p:sp>
      <p:sp>
        <p:nvSpPr>
          <p:cNvPr id="14" name="矩形 13"/>
          <p:cNvSpPr/>
          <p:nvPr userDrawn="1"/>
        </p:nvSpPr>
        <p:spPr>
          <a:xfrm>
            <a:off x="6975566" y="491562"/>
            <a:ext cx="5216434" cy="223200"/>
          </a:xfrm>
          <a:prstGeom prst="rect">
            <a:avLst/>
          </a:pr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B6C9C5B-08E2-43FA-94D5-1D700CE207F9}" type="slidenum">
              <a:rPr lang="zh-CN" altLang="en-US" smtClean="0"/>
            </a:fld>
            <a:endParaRPr lang="zh-CN" altLang="en-US"/>
          </a:p>
        </p:txBody>
      </p:sp>
      <p:sp>
        <p:nvSpPr>
          <p:cNvPr id="5" name="矩形 4"/>
          <p:cNvSpPr/>
          <p:nvPr userDrawn="1"/>
        </p:nvSpPr>
        <p:spPr>
          <a:xfrm>
            <a:off x="0" y="6400800"/>
            <a:ext cx="11798548" cy="457200"/>
          </a:xfrm>
          <a:prstGeom prst="rect">
            <a:avLst/>
          </a:prstGeom>
          <a:solidFill>
            <a:srgbClr val="D5D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11521714" y="6400800"/>
            <a:ext cx="670285" cy="457200"/>
            <a:chOff x="7939879" y="3957637"/>
            <a:chExt cx="4252121" cy="2900363"/>
          </a:xfrm>
        </p:grpSpPr>
        <p:sp>
          <p:nvSpPr>
            <p:cNvPr id="7" name="任意多边形 3"/>
            <p:cNvSpPr/>
            <p:nvPr/>
          </p:nvSpPr>
          <p:spPr>
            <a:xfrm>
              <a:off x="7952579" y="3957637"/>
              <a:ext cx="4239421" cy="2900363"/>
            </a:xfrm>
            <a:custGeom>
              <a:avLst/>
              <a:gdLst>
                <a:gd name="connsiteX0" fmla="*/ 825458 w 4239421"/>
                <a:gd name="connsiteY0" fmla="*/ 0 h 2900363"/>
                <a:gd name="connsiteX1" fmla="*/ 4239421 w 4239421"/>
                <a:gd name="connsiteY1" fmla="*/ 0 h 2900363"/>
                <a:gd name="connsiteX2" fmla="*/ 4239421 w 4239421"/>
                <a:gd name="connsiteY2" fmla="*/ 2900363 h 2900363"/>
                <a:gd name="connsiteX3" fmla="*/ 1170276 w 4239421"/>
                <a:gd name="connsiteY3" fmla="*/ 2900363 h 2900363"/>
                <a:gd name="connsiteX4" fmla="*/ 0 w 4239421"/>
                <a:gd name="connsiteY4" fmla="*/ 1490041 h 2900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421" h="2900363">
                  <a:moveTo>
                    <a:pt x="825458" y="0"/>
                  </a:moveTo>
                  <a:lnTo>
                    <a:pt x="4239421" y="0"/>
                  </a:lnTo>
                  <a:lnTo>
                    <a:pt x="4239421" y="2900363"/>
                  </a:lnTo>
                  <a:lnTo>
                    <a:pt x="1170276" y="2900363"/>
                  </a:lnTo>
                  <a:lnTo>
                    <a:pt x="0" y="1490041"/>
                  </a:lnTo>
                  <a:close/>
                </a:path>
              </a:pathLst>
            </a:custGeom>
            <a:solidFill>
              <a:srgbClr val="687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entury Gothic" panose="020B0502020202020204" pitchFamily="34" charset="0"/>
                <a:ea typeface="微软雅黑" panose="020B0503020204020204" pitchFamily="34" charset="-122"/>
                <a:sym typeface="Century Gothic" panose="020B0502020202020204" pitchFamily="34" charset="0"/>
              </a:endParaRPr>
            </a:p>
          </p:txBody>
        </p:sp>
        <p:sp>
          <p:nvSpPr>
            <p:cNvPr id="8" name="任意多边形 4"/>
            <p:cNvSpPr/>
            <p:nvPr/>
          </p:nvSpPr>
          <p:spPr>
            <a:xfrm>
              <a:off x="7939879" y="3957637"/>
              <a:ext cx="1756168" cy="2900363"/>
            </a:xfrm>
            <a:custGeom>
              <a:avLst/>
              <a:gdLst>
                <a:gd name="connsiteX0" fmla="*/ 825458 w 1756168"/>
                <a:gd name="connsiteY0" fmla="*/ 0 h 2900363"/>
                <a:gd name="connsiteX1" fmla="*/ 1418888 w 1756168"/>
                <a:gd name="connsiteY1" fmla="*/ 0 h 2900363"/>
                <a:gd name="connsiteX2" fmla="*/ 590412 w 1756168"/>
                <a:gd name="connsiteY2" fmla="*/ 1495489 h 2900363"/>
                <a:gd name="connsiteX3" fmla="*/ 1756168 w 1756168"/>
                <a:gd name="connsiteY3" fmla="*/ 2900363 h 2900363"/>
                <a:gd name="connsiteX4" fmla="*/ 1170276 w 1756168"/>
                <a:gd name="connsiteY4" fmla="*/ 2900363 h 2900363"/>
                <a:gd name="connsiteX5" fmla="*/ 0 w 1756168"/>
                <a:gd name="connsiteY5" fmla="*/ 1490041 h 290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168" h="2900363">
                  <a:moveTo>
                    <a:pt x="825458" y="0"/>
                  </a:moveTo>
                  <a:lnTo>
                    <a:pt x="1418888" y="0"/>
                  </a:lnTo>
                  <a:lnTo>
                    <a:pt x="590412" y="1495489"/>
                  </a:lnTo>
                  <a:lnTo>
                    <a:pt x="1756168" y="2900363"/>
                  </a:lnTo>
                  <a:lnTo>
                    <a:pt x="1170276" y="2900363"/>
                  </a:lnTo>
                  <a:lnTo>
                    <a:pt x="0" y="1490041"/>
                  </a:lnTo>
                  <a:close/>
                </a:path>
              </a:pathLst>
            </a:custGeom>
            <a:solidFill>
              <a:srgbClr val="BC82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康黑体W7(P)" panose="020B0700000000000000" pitchFamily="34" charset="-122"/>
                <a:ea typeface="华康黑体W7(P)" panose="020B0700000000000000" pitchFamily="34" charset="-122"/>
                <a:sym typeface="Century Gothic" panose="020B0502020202020204" pitchFamily="34" charset="0"/>
              </a:endParaRPr>
            </a:p>
          </p:txBody>
        </p:sp>
      </p:grpSp>
      <p:sp>
        <p:nvSpPr>
          <p:cNvPr id="9" name="文本框 8"/>
          <p:cNvSpPr txBox="1"/>
          <p:nvPr userDrawn="1"/>
        </p:nvSpPr>
        <p:spPr>
          <a:xfrm>
            <a:off x="11654671" y="6441319"/>
            <a:ext cx="537328" cy="369332"/>
          </a:xfrm>
          <a:prstGeom prst="rect">
            <a:avLst/>
          </a:prstGeom>
          <a:noFill/>
        </p:spPr>
        <p:txBody>
          <a:bodyPr wrap="square" rtlCol="0">
            <a:spAutoFit/>
          </a:bodyPr>
          <a:lstStyle/>
          <a:p>
            <a:pPr algn="ctr"/>
            <a:fld id="{5CFC53CC-41C8-4FCD-8641-DE59ECB234DA}" type="slidenum">
              <a:rPr lang="zh-CN" altLang="en-US" b="1" smtClean="0">
                <a:solidFill>
                  <a:schemeClr val="bg1"/>
                </a:solidFill>
              </a:rPr>
            </a:fld>
            <a:endParaRPr lang="zh-CN" altLang="en-US" b="1" dirty="0">
              <a:solidFill>
                <a:schemeClr val="bg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3C6CEF5-C12D-4E67-BC4A-DB72EA10F67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B6C9C5B-08E2-43FA-94D5-1D700CE207F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DEA"/>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6CEF5-C12D-4E67-BC4A-DB72EA10F67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6C9C5B-08E2-43FA-94D5-1D700CE207F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image" Target="../media/image3.wmf"/><Relationship Id="rId8" Type="http://schemas.openxmlformats.org/officeDocument/2006/relationships/oleObject" Target="../embeddings/oleObject3.bin"/><Relationship Id="rId7" Type="http://schemas.openxmlformats.org/officeDocument/2006/relationships/tags" Target="../tags/tag4.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tags" Target="../tags/tag3.xml"/><Relationship Id="rId3" Type="http://schemas.openxmlformats.org/officeDocument/2006/relationships/image" Target="../media/image1.wmf"/><Relationship Id="rId2" Type="http://schemas.openxmlformats.org/officeDocument/2006/relationships/oleObject" Target="../embeddings/oleObject1.bin"/><Relationship Id="rId11" Type="http://schemas.openxmlformats.org/officeDocument/2006/relationships/vmlDrawing" Target="../drawings/vmlDrawing1.vml"/><Relationship Id="rId10"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0.xml"/><Relationship Id="rId6" Type="http://schemas.openxmlformats.org/officeDocument/2006/relationships/image" Target="../media/image5.wmf"/><Relationship Id="rId5" Type="http://schemas.openxmlformats.org/officeDocument/2006/relationships/oleObject" Target="../embeddings/oleObject5.bin"/><Relationship Id="rId4" Type="http://schemas.openxmlformats.org/officeDocument/2006/relationships/tags" Target="../tags/tag6.xml"/><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7.xml"/><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6.png"/><Relationship Id="rId2" Type="http://schemas.microsoft.com/office/2007/relationships/media" Target="../media/media1.m4a"/><Relationship Id="rId1" Type="http://schemas.openxmlformats.org/officeDocument/2006/relationships/audio" Target="../media/media1.m4a"/></Relationships>
</file>

<file path=ppt/slides/_rels/slide6.xml.rels><?xml version="1.0" encoding="UTF-8" standalone="yes"?>
<Relationships xmlns="http://schemas.openxmlformats.org/package/2006/relationships"><Relationship Id="rId9" Type="http://schemas.openxmlformats.org/officeDocument/2006/relationships/image" Target="../media/image5.wmf"/><Relationship Id="rId8" Type="http://schemas.openxmlformats.org/officeDocument/2006/relationships/oleObject" Target="../embeddings/oleObject7.bin"/><Relationship Id="rId7" Type="http://schemas.openxmlformats.org/officeDocument/2006/relationships/tags" Target="../tags/tag9.xml"/><Relationship Id="rId6" Type="http://schemas.openxmlformats.org/officeDocument/2006/relationships/image" Target="../media/image4.wmf"/><Relationship Id="rId5" Type="http://schemas.openxmlformats.org/officeDocument/2006/relationships/oleObject" Target="../embeddings/oleObject6.bin"/><Relationship Id="rId4" Type="http://schemas.openxmlformats.org/officeDocument/2006/relationships/tags" Target="../tags/tag8.xml"/><Relationship Id="rId3" Type="http://schemas.openxmlformats.org/officeDocument/2006/relationships/image" Target="../media/image6.png"/><Relationship Id="rId2" Type="http://schemas.microsoft.com/office/2007/relationships/media" Target="../media/media2.m4a"/><Relationship Id="rId12" Type="http://schemas.openxmlformats.org/officeDocument/2006/relationships/vmlDrawing" Target="../drawings/vmlDrawing3.vml"/><Relationship Id="rId11" Type="http://schemas.openxmlformats.org/officeDocument/2006/relationships/slideLayout" Target="../slideLayouts/slideLayout1.xml"/><Relationship Id="rId10" Type="http://schemas.openxmlformats.org/officeDocument/2006/relationships/tags" Target="../tags/tag10.xml"/><Relationship Id="rId1" Type="http://schemas.openxmlformats.org/officeDocument/2006/relationships/audio" Target="../media/media2.m4a"/></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1.xml"/><Relationship Id="rId3" Type="http://schemas.openxmlformats.org/officeDocument/2006/relationships/image" Target="../media/image6.png"/><Relationship Id="rId2" Type="http://schemas.microsoft.com/office/2007/relationships/media" Target="../media/media3.m4a"/><Relationship Id="rId1" Type="http://schemas.openxmlformats.org/officeDocument/2006/relationships/audio" Target="../media/media3.m4a"/></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xml"/><Relationship Id="rId7" Type="http://schemas.openxmlformats.org/officeDocument/2006/relationships/tags" Target="../tags/tag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6.png"/><Relationship Id="rId2" Type="http://schemas.microsoft.com/office/2007/relationships/media" Target="../media/media3.m4a"/><Relationship Id="rId1" Type="http://schemas.openxmlformats.org/officeDocument/2006/relationships/audio" Target="../media/media3.m4a"/></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tags" Target="../tags/tag13.xml"/><Relationship Id="rId4" Type="http://schemas.openxmlformats.org/officeDocument/2006/relationships/image" Target="../media/image12.png"/><Relationship Id="rId3" Type="http://schemas.openxmlformats.org/officeDocument/2006/relationships/image" Target="../media/image6.png"/><Relationship Id="rId2" Type="http://schemas.microsoft.com/office/2007/relationships/media" Target="../media/media3.m4a"/><Relationship Id="rId1" Type="http://schemas.openxmlformats.org/officeDocument/2006/relationships/audio" Target="../media/media3.m4a"/></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4.xml"/><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6.png"/><Relationship Id="rId2" Type="http://schemas.microsoft.com/office/2007/relationships/media" Target="../media/media3.m4a"/><Relationship Id="rId1" Type="http://schemas.openxmlformats.org/officeDocument/2006/relationships/audio" Target="../media/media3.m4a"/></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xml"/><Relationship Id="rId4" Type="http://schemas.openxmlformats.org/officeDocument/2006/relationships/image" Target="../media/image17.png"/><Relationship Id="rId3" Type="http://schemas.openxmlformats.org/officeDocument/2006/relationships/image" Target="../media/image6.png"/><Relationship Id="rId2" Type="http://schemas.microsoft.com/office/2007/relationships/media" Target="../media/media3.m4a"/><Relationship Id="rId1" Type="http://schemas.openxmlformats.org/officeDocument/2006/relationships/audio" Target="../media/media3.m4a"/></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6.xml"/><Relationship Id="rId4" Type="http://schemas.openxmlformats.org/officeDocument/2006/relationships/image" Target="../media/image18.png"/><Relationship Id="rId3" Type="http://schemas.openxmlformats.org/officeDocument/2006/relationships/image" Target="../media/image6.png"/><Relationship Id="rId2" Type="http://schemas.microsoft.com/office/2007/relationships/media" Target="../media/media3.m4a"/><Relationship Id="rId1" Type="http://schemas.openxmlformats.org/officeDocument/2006/relationships/audio" Target="../media/media3.m4a"/></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7.xml"/><Relationship Id="rId3" Type="http://schemas.openxmlformats.org/officeDocument/2006/relationships/image" Target="../media/image6.png"/><Relationship Id="rId2" Type="http://schemas.microsoft.com/office/2007/relationships/media" Target="../media/media3.m4a"/><Relationship Id="rId1" Type="http://schemas.openxmlformats.org/officeDocument/2006/relationships/audio" Target="../media/media3.m4a"/></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xml"/><Relationship Id="rId5" Type="http://schemas.openxmlformats.org/officeDocument/2006/relationships/tags" Target="../tags/tag18.xml"/><Relationship Id="rId4" Type="http://schemas.openxmlformats.org/officeDocument/2006/relationships/image" Target="../media/image19.jpeg"/><Relationship Id="rId3" Type="http://schemas.openxmlformats.org/officeDocument/2006/relationships/image" Target="../media/image6.png"/><Relationship Id="rId2" Type="http://schemas.microsoft.com/office/2007/relationships/media" Target="../media/media4.m4a"/><Relationship Id="rId1" Type="http://schemas.openxmlformats.org/officeDocument/2006/relationships/audio" Target="../media/media4.m4a"/></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tags" Target="../tags/tag19.xml"/><Relationship Id="rId5" Type="http://schemas.openxmlformats.org/officeDocument/2006/relationships/image" Target="../media/image6.png"/><Relationship Id="rId4" Type="http://schemas.microsoft.com/office/2007/relationships/media" Target="../media/media4.m4a"/><Relationship Id="rId3" Type="http://schemas.openxmlformats.org/officeDocument/2006/relationships/audio" Target="../media/media4.m4a"/><Relationship Id="rId2" Type="http://schemas.openxmlformats.org/officeDocument/2006/relationships/image" Target="../media/image21.emf"/><Relationship Id="rId1" Type="http://schemas.openxmlformats.org/officeDocument/2006/relationships/image" Target="../media/image20.emf"/></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tags" Target="../tags/tag20.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0.emf"/></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image" Target="../media/image24.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tags" Target="../tags/tag22.xml"/><Relationship Id="rId2" Type="http://schemas.openxmlformats.org/officeDocument/2006/relationships/image" Target="../media/image24.jpeg"/><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tags" Target="../tags/tag23.xml"/><Relationship Id="rId3" Type="http://schemas.openxmlformats.org/officeDocument/2006/relationships/image" Target="../media/image24.jpeg"/><Relationship Id="rId2" Type="http://schemas.openxmlformats.org/officeDocument/2006/relationships/image" Target="../media/image26.png"/><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8.png"/><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custDataLst>
              <p:tags r:id="rId1"/>
            </p:custDataLst>
          </p:nvPr>
        </p:nvSpPr>
        <p:spPr>
          <a:xfrm>
            <a:off x="3677090" y="2251175"/>
            <a:ext cx="3787775" cy="706755"/>
          </a:xfrm>
          <a:prstGeom prst="rect">
            <a:avLst/>
          </a:prstGeom>
        </p:spPr>
        <p:txBody>
          <a:bodyPr wrap="none">
            <a:spAutoFit/>
          </a:bodyPr>
          <a:lstStyle/>
          <a:p>
            <a:r>
              <a:rPr lang="zh-CN" altLang="en-US" sz="4000" b="1" dirty="0">
                <a:solidFill>
                  <a:schemeClr val="tx1"/>
                </a:solidFill>
                <a:latin typeface="微软雅黑" panose="020B0503020204020204" pitchFamily="34" charset="-122"/>
                <a:ea typeface="微软雅黑" panose="020B0503020204020204" pitchFamily="34" charset="-122"/>
              </a:rPr>
              <a:t>	显著性检测</a:t>
            </a:r>
            <a:r>
              <a:rPr lang="zh-CN" altLang="en-US" sz="4000" dirty="0">
                <a:solidFill>
                  <a:schemeClr val="bg1"/>
                </a:solidFill>
                <a:latin typeface="微软雅黑" panose="020B0503020204020204" pitchFamily="34" charset="-122"/>
                <a:ea typeface="微软雅黑" panose="020B0503020204020204" pitchFamily="34" charset="-122"/>
              </a:rPr>
              <a:t> </a:t>
            </a:r>
            <a:endParaRPr lang="zh-CN" altLang="en-US" sz="40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83341" y="1026746"/>
            <a:ext cx="9352725" cy="5632311"/>
          </a:xfrm>
          <a:prstGeom prst="rect">
            <a:avLst/>
          </a:prstGeom>
          <a:noFill/>
        </p:spPr>
        <p:txBody>
          <a:bodyPr wrap="square" rtlCol="0" anchor="t">
            <a:spAutoFit/>
          </a:bodyPr>
          <a:lstStyle/>
          <a:p>
            <a:pPr algn="just" defTabSz="720090">
              <a:lnSpc>
                <a:spcPct val="250000"/>
              </a:lnSpc>
              <a:spcAft>
                <a:spcPts val="600"/>
              </a:spcAft>
              <a:defRPr/>
            </a:pPr>
            <a:r>
              <a:rPr lang="en-US" altLang="zh-CN" sz="2800" dirty="0" smtClean="0">
                <a:latin typeface="微软雅黑" panose="020B0503020204020204" pitchFamily="34" charset="-122"/>
                <a:ea typeface="微软雅黑" panose="020B0503020204020204" pitchFamily="34" charset="-122"/>
                <a:sym typeface="+mn-ea"/>
              </a:rPr>
              <a:t>1 </a:t>
            </a:r>
            <a:r>
              <a:rPr lang="zh-CN" altLang="en-US" sz="2800" dirty="0" smtClean="0">
                <a:latin typeface="微软雅黑" panose="020B0503020204020204" pitchFamily="34" charset="-122"/>
                <a:ea typeface="微软雅黑" panose="020B0503020204020204" pitchFamily="34" charset="-122"/>
                <a:sym typeface="+mn-ea"/>
              </a:rPr>
              <a:t>显著性概述</a:t>
            </a:r>
            <a:endParaRPr lang="en-US" altLang="zh-CN" sz="2800" dirty="0" smtClean="0">
              <a:latin typeface="微软雅黑" panose="020B0503020204020204" pitchFamily="34" charset="-122"/>
              <a:ea typeface="微软雅黑" panose="020B0503020204020204" pitchFamily="34" charset="-122"/>
              <a:sym typeface="+mn-ea"/>
            </a:endParaRPr>
          </a:p>
          <a:p>
            <a:pPr algn="just" defTabSz="720090">
              <a:lnSpc>
                <a:spcPct val="250000"/>
              </a:lnSpc>
              <a:spcAft>
                <a:spcPts val="600"/>
              </a:spcAft>
              <a:defRPr/>
            </a:pPr>
            <a:r>
              <a:rPr lang="en-US" altLang="zh-CN" sz="2800" dirty="0" smtClean="0">
                <a:latin typeface="微软雅黑" panose="020B0503020204020204" pitchFamily="34" charset="-122"/>
                <a:ea typeface="微软雅黑" panose="020B0503020204020204" pitchFamily="34" charset="-122"/>
              </a:rPr>
              <a:t>2 </a:t>
            </a:r>
            <a:r>
              <a:rPr lang="zh-CN" altLang="zh-CN" sz="2800" dirty="0" smtClean="0">
                <a:latin typeface="微软雅黑" panose="020B0503020204020204" pitchFamily="34" charset="-122"/>
                <a:ea typeface="微软雅黑" panose="020B0503020204020204" pitchFamily="34" charset="-122"/>
              </a:rPr>
              <a:t>基于</a:t>
            </a:r>
            <a:r>
              <a:rPr lang="zh-CN" altLang="en-US" sz="2800" dirty="0">
                <a:latin typeface="微软雅黑" panose="020B0503020204020204" pitchFamily="34" charset="-122"/>
                <a:ea typeface="微软雅黑" panose="020B0503020204020204" pitchFamily="34" charset="-122"/>
              </a:rPr>
              <a:t>频率调谐</a:t>
            </a:r>
            <a:r>
              <a:rPr lang="zh-CN" altLang="zh-CN" sz="2800" dirty="0">
                <a:latin typeface="微软雅黑" panose="020B0503020204020204" pitchFamily="34" charset="-122"/>
                <a:ea typeface="微软雅黑" panose="020B0503020204020204" pitchFamily="34" charset="-122"/>
              </a:rPr>
              <a:t>的</a:t>
            </a:r>
            <a:r>
              <a:rPr lang="zh-CN" altLang="en-US" sz="2800" dirty="0">
                <a:latin typeface="微软雅黑" panose="020B0503020204020204" pitchFamily="34" charset="-122"/>
                <a:ea typeface="微软雅黑" panose="020B0503020204020204" pitchFamily="34" charset="-122"/>
              </a:rPr>
              <a:t>显著性</a:t>
            </a:r>
            <a:r>
              <a:rPr lang="zh-CN" altLang="zh-CN" sz="2800" dirty="0" smtClean="0">
                <a:latin typeface="微软雅黑" panose="020B0503020204020204" pitchFamily="34" charset="-122"/>
                <a:ea typeface="微软雅黑" panose="020B0503020204020204" pitchFamily="34" charset="-122"/>
              </a:rPr>
              <a:t>检测</a:t>
            </a:r>
            <a:endParaRPr lang="en-US" altLang="zh-CN" sz="2800" dirty="0" smtClean="0">
              <a:latin typeface="微软雅黑" panose="020B0503020204020204" pitchFamily="34" charset="-122"/>
              <a:ea typeface="微软雅黑" panose="020B0503020204020204" pitchFamily="34" charset="-122"/>
            </a:endParaRPr>
          </a:p>
          <a:p>
            <a:pPr lvl="0" algn="just" defTabSz="720090">
              <a:lnSpc>
                <a:spcPct val="250000"/>
              </a:lnSpc>
              <a:spcAft>
                <a:spcPts val="600"/>
              </a:spcAft>
              <a:defRPr/>
            </a:pPr>
            <a:r>
              <a:rPr lang="en-US" altLang="zh-CN" sz="2800" dirty="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3  </a:t>
            </a:r>
            <a:r>
              <a:rPr lang="zh-CN" altLang="zh-CN" sz="2800" dirty="0">
                <a:latin typeface="微软雅黑" panose="020B0503020204020204" pitchFamily="34" charset="-122"/>
                <a:ea typeface="微软雅黑" panose="020B0503020204020204" pitchFamily="34" charset="-122"/>
              </a:rPr>
              <a:t>基于对比度的</a:t>
            </a:r>
            <a:r>
              <a:rPr lang="zh-CN" altLang="en-US" sz="2800" dirty="0">
                <a:latin typeface="微软雅黑" panose="020B0503020204020204" pitchFamily="34" charset="-122"/>
                <a:ea typeface="微软雅黑" panose="020B0503020204020204" pitchFamily="34" charset="-122"/>
              </a:rPr>
              <a:t>显著性</a:t>
            </a:r>
            <a:r>
              <a:rPr lang="zh-CN" altLang="zh-CN" sz="2800" dirty="0">
                <a:latin typeface="微软雅黑" panose="020B0503020204020204" pitchFamily="34" charset="-122"/>
                <a:ea typeface="微软雅黑" panose="020B0503020204020204" pitchFamily="34" charset="-122"/>
              </a:rPr>
              <a:t>检测</a:t>
            </a:r>
            <a:endParaRPr lang="zh-CN" altLang="en-US" sz="2800" dirty="0">
              <a:effectLst>
                <a:innerShdw blurRad="63500" dist="50800" dir="13500000">
                  <a:prstClr val="black">
                    <a:alpha val="50000"/>
                  </a:prstClr>
                </a:innerShdw>
              </a:effectLst>
              <a:latin typeface="微软雅黑" panose="020B0503020204020204" pitchFamily="34" charset="-122"/>
              <a:ea typeface="微软雅黑" panose="020B0503020204020204" pitchFamily="34" charset="-122"/>
              <a:sym typeface="Arial" panose="020B0604020202020204" pitchFamily="34" charset="0"/>
            </a:endParaRPr>
          </a:p>
          <a:p>
            <a:pPr algn="just" defTabSz="720090">
              <a:lnSpc>
                <a:spcPct val="125000"/>
              </a:lnSpc>
              <a:spcAft>
                <a:spcPts val="600"/>
              </a:spcAft>
              <a:defRPr/>
            </a:pPr>
            <a:endParaRPr lang="zh-CN" altLang="en-US" sz="2400" b="1" dirty="0">
              <a:effectLst>
                <a:innerShdw blurRad="63500" dist="50800" dir="13500000">
                  <a:prstClr val="black">
                    <a:alpha val="50000"/>
                  </a:prstClr>
                </a:innerShdw>
              </a:effectLst>
              <a:latin typeface="微软雅黑" panose="020B0503020204020204" pitchFamily="34" charset="-122"/>
              <a:ea typeface="微软雅黑" panose="020B0503020204020204" pitchFamily="34" charset="-122"/>
              <a:sym typeface="Arial" panose="020B0604020202020204" pitchFamily="34" charset="0"/>
            </a:endParaRPr>
          </a:p>
          <a:p>
            <a:pPr algn="just" defTabSz="720090">
              <a:lnSpc>
                <a:spcPct val="125000"/>
              </a:lnSpc>
              <a:spcAft>
                <a:spcPts val="600"/>
              </a:spcAft>
              <a:defRPr/>
            </a:pPr>
            <a:endParaRPr lang="en-US" altLang="zh-CN" sz="2400" dirty="0" smtClean="0">
              <a:latin typeface="微软雅黑" panose="020B0503020204020204" pitchFamily="34" charset="-122"/>
              <a:ea typeface="微软雅黑" panose="020B0503020204020204" pitchFamily="34" charset="-122"/>
              <a:sym typeface="+mn-ea"/>
            </a:endParaRPr>
          </a:p>
          <a:p>
            <a:pPr algn="just" defTabSz="720090">
              <a:lnSpc>
                <a:spcPct val="125000"/>
              </a:lnSpc>
              <a:spcAft>
                <a:spcPts val="600"/>
              </a:spcAft>
              <a:defRPr/>
            </a:pPr>
            <a:endParaRPr lang="en-US" altLang="zh-CN" sz="2400" dirty="0">
              <a:latin typeface="微软雅黑" panose="020B0503020204020204" pitchFamily="34" charset="-122"/>
              <a:ea typeface="微软雅黑" panose="020B0503020204020204" pitchFamily="34" charset="-122"/>
            </a:endParaRPr>
          </a:p>
          <a:p>
            <a:pPr algn="just" defTabSz="720090">
              <a:lnSpc>
                <a:spcPct val="125000"/>
              </a:lnSpc>
              <a:spcAft>
                <a:spcPts val="600"/>
              </a:spcAft>
              <a:defRPr/>
            </a:pPr>
            <a:r>
              <a:rPr lang="en-US" altLang="zh-CN" sz="2400" dirty="0">
                <a:latin typeface="微软雅黑" panose="020B0503020204020204" pitchFamily="34" charset="-122"/>
                <a:ea typeface="微软雅黑" panose="020B0503020204020204" pitchFamily="34" charset="-122"/>
                <a:sym typeface="+mn-ea"/>
              </a:rPr>
              <a:t>	</a:t>
            </a:r>
            <a:endParaRPr lang="zh-CN" altLang="zh-CN" sz="2400" dirty="0">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511999" y="323995"/>
            <a:ext cx="2700000" cy="492443"/>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kumimoji="0" lang="zh-CN" altLang="en-US" sz="3200" b="1" i="0" u="none" strike="noStrike" kern="1200" cap="none" spc="0" normalizeH="0" baseline="0" noProof="0" dirty="0" smtClean="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rPr>
              <a:t>目录</a:t>
            </a:r>
            <a:endParaRPr kumimoji="0" lang="zh-CN" altLang="en-US" sz="32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9951" y="1026746"/>
            <a:ext cx="9556115" cy="2014855"/>
          </a:xfrm>
          <a:prstGeom prst="rect">
            <a:avLst/>
          </a:prstGeom>
          <a:noFill/>
        </p:spPr>
        <p:txBody>
          <a:bodyPr wrap="square" rtlCol="0" anchor="t">
            <a:spAutoFit/>
          </a:bodyPr>
          <a:lstStyle/>
          <a:p>
            <a:pPr algn="just" defTabSz="720090">
              <a:lnSpc>
                <a:spcPct val="125000"/>
              </a:lnSpc>
              <a:spcAft>
                <a:spcPts val="600"/>
              </a:spcAft>
              <a:defRPr/>
            </a:pPr>
            <a:r>
              <a:rPr lang="en-US" altLang="zh-CN" sz="2400" dirty="0">
                <a:latin typeface="微软雅黑" panose="020B0503020204020204" pitchFamily="34" charset="-122"/>
                <a:ea typeface="微软雅黑" panose="020B0503020204020204" pitchFamily="34" charset="-122"/>
                <a:sym typeface="+mn-ea"/>
              </a:rPr>
              <a:t>      </a:t>
            </a:r>
            <a:r>
              <a:rPr lang="zh-CN" altLang="en-US" sz="2400" dirty="0">
                <a:latin typeface="微软雅黑" panose="020B0503020204020204" pitchFamily="34" charset="-122"/>
                <a:ea typeface="微软雅黑" panose="020B0503020204020204" pitchFamily="34" charset="-122"/>
                <a:sym typeface="+mn-ea"/>
              </a:rPr>
              <a:t>显著性是指图像中某些区域更容易吸引人注意的程度。视觉显著性通常与人的主观视觉感知有关，主要来源于目标区域与周围背景在颜色、亮度、纹理、边缘或方向等底层视觉特征上的差异和对比。</a:t>
            </a:r>
            <a:endParaRPr lang="en-US" altLang="zh-CN" sz="2400" dirty="0">
              <a:latin typeface="微软雅黑" panose="020B0503020204020204" pitchFamily="34" charset="-122"/>
              <a:ea typeface="微软雅黑" panose="020B0503020204020204" pitchFamily="34" charset="-122"/>
            </a:endParaRPr>
          </a:p>
          <a:p>
            <a:pPr algn="just" defTabSz="720090">
              <a:lnSpc>
                <a:spcPct val="125000"/>
              </a:lnSpc>
              <a:spcAft>
                <a:spcPts val="600"/>
              </a:spcAft>
              <a:defRPr/>
            </a:pPr>
            <a:r>
              <a:rPr lang="en-US" altLang="zh-CN" sz="2400" dirty="0">
                <a:latin typeface="微软雅黑" panose="020B0503020204020204" pitchFamily="34" charset="-122"/>
                <a:ea typeface="微软雅黑" panose="020B0503020204020204" pitchFamily="34" charset="-122"/>
                <a:sym typeface="+mn-ea"/>
              </a:rPr>
              <a:t>	</a:t>
            </a:r>
            <a:endParaRPr lang="zh-CN" altLang="zh-CN" sz="2400" dirty="0">
              <a:latin typeface="微软雅黑" panose="020B0503020204020204" pitchFamily="34" charset="-122"/>
              <a:ea typeface="微软雅黑" panose="020B0503020204020204" pitchFamily="34" charset="-122"/>
              <a:sym typeface="+mn-ea"/>
            </a:endParaRPr>
          </a:p>
        </p:txBody>
      </p:sp>
      <p:graphicFrame>
        <p:nvGraphicFramePr>
          <p:cNvPr id="7" name="对象 6"/>
          <p:cNvGraphicFramePr/>
          <p:nvPr>
            <p:custDataLst>
              <p:tags r:id="rId1"/>
            </p:custDataLst>
          </p:nvPr>
        </p:nvGraphicFramePr>
        <p:xfrm>
          <a:off x="4422140" y="2699385"/>
          <a:ext cx="3642360" cy="2803525"/>
        </p:xfrm>
        <a:graphic>
          <a:graphicData uri="http://schemas.openxmlformats.org/presentationml/2006/ole">
            <mc:AlternateContent xmlns:mc="http://schemas.openxmlformats.org/markup-compatibility/2006">
              <mc:Choice xmlns:v="urn:schemas-microsoft-com:vml" Requires="v">
                <p:oleObj spid="_x0000_s1148" name="" r:id="rId2" imgW="3629025" imgH="2771775" progId="Paint.Picture">
                  <p:embed/>
                </p:oleObj>
              </mc:Choice>
              <mc:Fallback>
                <p:oleObj name="" r:id="rId2" imgW="3629025" imgH="2771775" progId="Paint.Picture">
                  <p:embed/>
                  <p:pic>
                    <p:nvPicPr>
                      <p:cNvPr id="0" name="图片 7"/>
                      <p:cNvPicPr/>
                      <p:nvPr/>
                    </p:nvPicPr>
                    <p:blipFill>
                      <a:blip r:embed="rId3"/>
                      <a:stretch>
                        <a:fillRect/>
                      </a:stretch>
                    </p:blipFill>
                    <p:spPr>
                      <a:xfrm>
                        <a:off x="4422140" y="2699385"/>
                        <a:ext cx="3642360" cy="2803525"/>
                      </a:xfrm>
                      <a:prstGeom prst="rect">
                        <a:avLst/>
                      </a:prstGeom>
                    </p:spPr>
                  </p:pic>
                </p:oleObj>
              </mc:Fallback>
            </mc:AlternateContent>
          </a:graphicData>
        </a:graphic>
      </p:graphicFrame>
      <p:graphicFrame>
        <p:nvGraphicFramePr>
          <p:cNvPr id="9" name="对象 8"/>
          <p:cNvGraphicFramePr/>
          <p:nvPr>
            <p:custDataLst>
              <p:tags r:id="rId4"/>
            </p:custDataLst>
          </p:nvPr>
        </p:nvGraphicFramePr>
        <p:xfrm>
          <a:off x="629920" y="2699385"/>
          <a:ext cx="3661410" cy="2803525"/>
        </p:xfrm>
        <a:graphic>
          <a:graphicData uri="http://schemas.openxmlformats.org/presentationml/2006/ole">
            <mc:AlternateContent xmlns:mc="http://schemas.openxmlformats.org/markup-compatibility/2006">
              <mc:Choice xmlns:v="urn:schemas-microsoft-com:vml" Requires="v">
                <p:oleObj spid="_x0000_s1149" name="" r:id="rId5" imgW="2324100" imgH="1609725" progId="Paint.Picture">
                  <p:embed/>
                </p:oleObj>
              </mc:Choice>
              <mc:Fallback>
                <p:oleObj name="" r:id="rId5" imgW="2324100" imgH="1609725" progId="Paint.Picture">
                  <p:embed/>
                  <p:pic>
                    <p:nvPicPr>
                      <p:cNvPr id="0" name="图片 9"/>
                      <p:cNvPicPr/>
                      <p:nvPr/>
                    </p:nvPicPr>
                    <p:blipFill>
                      <a:blip r:embed="rId6"/>
                      <a:stretch>
                        <a:fillRect/>
                      </a:stretch>
                    </p:blipFill>
                    <p:spPr>
                      <a:xfrm>
                        <a:off x="629920" y="2699385"/>
                        <a:ext cx="3661410" cy="2803525"/>
                      </a:xfrm>
                      <a:prstGeom prst="rect">
                        <a:avLst/>
                      </a:prstGeom>
                    </p:spPr>
                  </p:pic>
                </p:oleObj>
              </mc:Fallback>
            </mc:AlternateContent>
          </a:graphicData>
        </a:graphic>
      </p:graphicFrame>
      <p:graphicFrame>
        <p:nvGraphicFramePr>
          <p:cNvPr id="11" name="对象 10"/>
          <p:cNvGraphicFramePr/>
          <p:nvPr>
            <p:custDataLst>
              <p:tags r:id="rId7"/>
            </p:custDataLst>
          </p:nvPr>
        </p:nvGraphicFramePr>
        <p:xfrm>
          <a:off x="8195310" y="2699385"/>
          <a:ext cx="3048000" cy="2802890"/>
        </p:xfrm>
        <a:graphic>
          <a:graphicData uri="http://schemas.openxmlformats.org/presentationml/2006/ole">
            <mc:AlternateContent xmlns:mc="http://schemas.openxmlformats.org/markup-compatibility/2006">
              <mc:Choice xmlns:v="urn:schemas-microsoft-com:vml" Requires="v">
                <p:oleObj spid="_x0000_s1150" name="" r:id="rId8" imgW="2047875" imgH="1524000" progId="Paint.Picture">
                  <p:embed/>
                </p:oleObj>
              </mc:Choice>
              <mc:Fallback>
                <p:oleObj name="" r:id="rId8" imgW="2047875" imgH="1524000" progId="Paint.Picture">
                  <p:embed/>
                  <p:pic>
                    <p:nvPicPr>
                      <p:cNvPr id="0" name="图片 11"/>
                      <p:cNvPicPr/>
                      <p:nvPr/>
                    </p:nvPicPr>
                    <p:blipFill>
                      <a:blip r:embed="rId9"/>
                      <a:stretch>
                        <a:fillRect/>
                      </a:stretch>
                    </p:blipFill>
                    <p:spPr>
                      <a:xfrm>
                        <a:off x="8195310" y="2699385"/>
                        <a:ext cx="3048000" cy="2802890"/>
                      </a:xfrm>
                      <a:prstGeom prst="rect">
                        <a:avLst/>
                      </a:prstGeom>
                    </p:spPr>
                  </p:pic>
                </p:oleObj>
              </mc:Fallback>
            </mc:AlternateContent>
          </a:graphicData>
        </a:graphic>
      </p:graphicFrame>
      <p:sp>
        <p:nvSpPr>
          <p:cNvPr id="6" name="文本框 5"/>
          <p:cNvSpPr txBox="1"/>
          <p:nvPr/>
        </p:nvSpPr>
        <p:spPr>
          <a:xfrm>
            <a:off x="1511999" y="323995"/>
            <a:ext cx="2700000" cy="54000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4.1  </a:t>
            </a:r>
            <a:r>
              <a:rPr lang="zh-CN" altLang="zh-CN" sz="2800" b="1" dirty="0" smtClean="0">
                <a:latin typeface="微软雅黑" panose="020B0503020204020204" pitchFamily="34" charset="-122"/>
                <a:ea typeface="微软雅黑" panose="020B0503020204020204" pitchFamily="34" charset="-122"/>
              </a:rPr>
              <a:t>显著</a:t>
            </a:r>
            <a:r>
              <a:rPr lang="zh-CN" altLang="zh-CN" sz="2800" b="1" dirty="0">
                <a:latin typeface="微软雅黑" panose="020B0503020204020204" pitchFamily="34" charset="-122"/>
                <a:ea typeface="微软雅黑" panose="020B0503020204020204" pitchFamily="34" charset="-122"/>
              </a:rPr>
              <a:t>性概述</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33219" y="196215"/>
            <a:ext cx="8275711" cy="2707005"/>
          </a:xfrm>
          <a:prstGeom prst="rect">
            <a:avLst/>
          </a:prstGeom>
          <a:noFill/>
        </p:spPr>
        <p:txBody>
          <a:bodyPr wrap="square" rtlCol="0" anchor="t">
            <a:spAutoFit/>
          </a:bodyPr>
          <a:lstStyle/>
          <a:p>
            <a:pPr marL="285750" indent="-285750">
              <a:lnSpc>
                <a:spcPct val="150000"/>
              </a:lnSpc>
              <a:buFont typeface="Wingdings" panose="05000000000000000000" charset="0"/>
              <a:buChar char="l"/>
            </a:pPr>
            <a:r>
              <a:rPr lang="zh-CN" altLang="en-US" sz="2000" b="1" dirty="0" smtClean="0">
                <a:sym typeface="+mn-ea"/>
              </a:rPr>
              <a:t>显著</a:t>
            </a:r>
            <a:r>
              <a:rPr lang="zh-CN" altLang="en-US" sz="2000" b="1" dirty="0">
                <a:sym typeface="+mn-ea"/>
              </a:rPr>
              <a:t>区域</a:t>
            </a:r>
            <a:r>
              <a:rPr lang="en-US" altLang="zh-CN" sz="2000" b="1" dirty="0">
                <a:sym typeface="+mn-ea"/>
              </a:rPr>
              <a:t>: </a:t>
            </a:r>
            <a:r>
              <a:rPr lang="zh-CN" altLang="en-US" sz="2000" dirty="0">
                <a:sym typeface="+mn-ea"/>
              </a:rPr>
              <a:t>图像中最容易引起人眼注意、相对重要的区域。</a:t>
            </a:r>
            <a:endParaRPr lang="zh-CN" altLang="en-US" sz="2000" dirty="0">
              <a:sym typeface="+mn-ea"/>
            </a:endParaRPr>
          </a:p>
          <a:p>
            <a:pPr indent="0">
              <a:lnSpc>
                <a:spcPct val="150000"/>
              </a:lnSpc>
              <a:buFont typeface="Wingdings" panose="05000000000000000000" charset="0"/>
              <a:buNone/>
            </a:pPr>
            <a:r>
              <a:rPr lang="en-US" altLang="zh-CN" sz="2000" dirty="0">
                <a:sym typeface="+mn-ea"/>
              </a:rPr>
              <a:t>      </a:t>
            </a:r>
            <a:r>
              <a:rPr lang="zh-CN" altLang="en-US" sz="2000" dirty="0">
                <a:sym typeface="+mn-ea"/>
              </a:rPr>
              <a:t>例如人眼在观看一幅图片时首先关注的区域</a:t>
            </a:r>
            <a:r>
              <a:rPr lang="zh-CN" altLang="en-US" sz="2000" dirty="0" smtClean="0">
                <a:sym typeface="+mn-ea"/>
              </a:rPr>
              <a:t>。</a:t>
            </a:r>
            <a:endParaRPr lang="en-US" altLang="zh-CN" sz="2000" dirty="0" smtClean="0"/>
          </a:p>
          <a:p>
            <a:pPr marL="285750" indent="-285750">
              <a:lnSpc>
                <a:spcPct val="150000"/>
              </a:lnSpc>
              <a:buFont typeface="Wingdings" panose="05000000000000000000" charset="0"/>
              <a:buChar char="l"/>
            </a:pPr>
            <a:r>
              <a:rPr lang="zh-CN" altLang="en-US" sz="2000" b="1" dirty="0"/>
              <a:t>显著性检测</a:t>
            </a:r>
            <a:r>
              <a:rPr lang="zh-CN" altLang="en-US" sz="2000" dirty="0" smtClean="0"/>
              <a:t>：利用计算机视觉算法自动定位图像中的显著区域，模拟人眼快速关注重要区域的视觉机制。</a:t>
            </a:r>
            <a:endParaRPr lang="en-US" altLang="zh-CN" sz="2000" dirty="0" smtClean="0"/>
          </a:p>
          <a:p>
            <a:pPr marL="285750" indent="-285750">
              <a:lnSpc>
                <a:spcPct val="150000"/>
              </a:lnSpc>
              <a:buFont typeface="Wingdings" panose="05000000000000000000" charset="0"/>
              <a:buChar char="l"/>
            </a:pPr>
            <a:r>
              <a:rPr lang="zh-CN" altLang="en-US" sz="2000" b="1" dirty="0"/>
              <a:t>应用场景</a:t>
            </a:r>
            <a:r>
              <a:rPr lang="zh-CN" altLang="en-US" sz="2000" dirty="0"/>
              <a:t>：目标识别、图像分割、图像编辑、图像检索等。</a:t>
            </a:r>
            <a:endParaRPr lang="zh-CN" altLang="en-US" sz="2000" dirty="0"/>
          </a:p>
          <a:p>
            <a:endParaRPr lang="zh-CN" altLang="en-US" sz="2000" dirty="0"/>
          </a:p>
        </p:txBody>
      </p:sp>
      <p:graphicFrame>
        <p:nvGraphicFramePr>
          <p:cNvPr id="3" name="对象 2"/>
          <p:cNvGraphicFramePr/>
          <p:nvPr>
            <p:custDataLst>
              <p:tags r:id="rId1"/>
            </p:custDataLst>
          </p:nvPr>
        </p:nvGraphicFramePr>
        <p:xfrm>
          <a:off x="2066290" y="2698750"/>
          <a:ext cx="3910965" cy="2936240"/>
        </p:xfrm>
        <a:graphic>
          <a:graphicData uri="http://schemas.openxmlformats.org/presentationml/2006/ole">
            <mc:AlternateContent xmlns:mc="http://schemas.openxmlformats.org/markup-compatibility/2006">
              <mc:Choice xmlns:v="urn:schemas-microsoft-com:vml" Requires="v">
                <p:oleObj spid="_x0000_s2133" name="" r:id="rId2" imgW="4743450" imgH="3181350" progId="Paint.Picture">
                  <p:embed/>
                </p:oleObj>
              </mc:Choice>
              <mc:Fallback>
                <p:oleObj name="" r:id="rId2" imgW="4743450" imgH="3181350" progId="Paint.Picture">
                  <p:embed/>
                  <p:pic>
                    <p:nvPicPr>
                      <p:cNvPr id="0" name="图片 3"/>
                      <p:cNvPicPr/>
                      <p:nvPr/>
                    </p:nvPicPr>
                    <p:blipFill>
                      <a:blip r:embed="rId3"/>
                      <a:stretch>
                        <a:fillRect/>
                      </a:stretch>
                    </p:blipFill>
                    <p:spPr>
                      <a:xfrm>
                        <a:off x="2066290" y="2698750"/>
                        <a:ext cx="3910965" cy="2936240"/>
                      </a:xfrm>
                      <a:prstGeom prst="rect">
                        <a:avLst/>
                      </a:prstGeom>
                    </p:spPr>
                  </p:pic>
                </p:oleObj>
              </mc:Fallback>
            </mc:AlternateContent>
          </a:graphicData>
        </a:graphic>
      </p:graphicFrame>
      <p:graphicFrame>
        <p:nvGraphicFramePr>
          <p:cNvPr id="5" name="对象 4"/>
          <p:cNvGraphicFramePr/>
          <p:nvPr>
            <p:custDataLst>
              <p:tags r:id="rId4"/>
            </p:custDataLst>
          </p:nvPr>
        </p:nvGraphicFramePr>
        <p:xfrm>
          <a:off x="5998845" y="2700655"/>
          <a:ext cx="3910330" cy="2926715"/>
        </p:xfrm>
        <a:graphic>
          <a:graphicData uri="http://schemas.openxmlformats.org/presentationml/2006/ole">
            <mc:AlternateContent xmlns:mc="http://schemas.openxmlformats.org/markup-compatibility/2006">
              <mc:Choice xmlns:v="urn:schemas-microsoft-com:vml" Requires="v">
                <p:oleObj spid="_x0000_s2134" name="" r:id="rId5" imgW="4743450" imgH="3171825" progId="Paint.Picture">
                  <p:embed/>
                </p:oleObj>
              </mc:Choice>
              <mc:Fallback>
                <p:oleObj name="" r:id="rId5" imgW="4743450" imgH="3171825" progId="Paint.Picture">
                  <p:embed/>
                  <p:pic>
                    <p:nvPicPr>
                      <p:cNvPr id="0" name="图片 5"/>
                      <p:cNvPicPr/>
                      <p:nvPr/>
                    </p:nvPicPr>
                    <p:blipFill>
                      <a:blip r:embed="rId6"/>
                      <a:stretch>
                        <a:fillRect/>
                      </a:stretch>
                    </p:blipFill>
                    <p:spPr>
                      <a:xfrm>
                        <a:off x="5998845" y="2700655"/>
                        <a:ext cx="3910330" cy="2926715"/>
                      </a:xfrm>
                      <a:prstGeom prst="rect">
                        <a:avLst/>
                      </a:prstGeom>
                    </p:spPr>
                  </p:pic>
                </p:oleObj>
              </mc:Fallback>
            </mc:AlternateContent>
          </a:graphicData>
        </a:graphic>
      </p:graphicFrame>
      <p:sp>
        <p:nvSpPr>
          <p:cNvPr id="4" name="文本框 3"/>
          <p:cNvSpPr txBox="1"/>
          <p:nvPr/>
        </p:nvSpPr>
        <p:spPr>
          <a:xfrm>
            <a:off x="1337310" y="5634990"/>
            <a:ext cx="9172575" cy="706755"/>
          </a:xfrm>
          <a:prstGeom prst="rect">
            <a:avLst/>
          </a:prstGeom>
          <a:noFill/>
        </p:spPr>
        <p:txBody>
          <a:bodyPr wrap="square" rtlCol="0">
            <a:spAutoFit/>
          </a:bodyPr>
          <a:lstStyle/>
          <a:p>
            <a:pPr algn="ctr"/>
            <a:r>
              <a:rPr lang="zh-CN" altLang="en-US" sz="2000" dirty="0"/>
              <a:t>人眼首先关注的是躺在草坪上的内马尔，而非背景草坪，因此内马尔所在区域就是图像的显著区域</a:t>
            </a:r>
            <a:endParaRPr lang="zh-CN"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19383" y="680252"/>
            <a:ext cx="7251917" cy="4875181"/>
          </a:xfrm>
          <a:prstGeom prst="rect">
            <a:avLst/>
          </a:prstGeom>
        </p:spPr>
        <p:txBody>
          <a:bodyPr wrap="square">
            <a:spAutoFit/>
          </a:bodyPr>
          <a:lstStyle/>
          <a:p>
            <a:pPr marL="899795" indent="-539750" algn="just" defTabSz="720090">
              <a:lnSpc>
                <a:spcPct val="130000"/>
              </a:lnSpc>
              <a:spcBef>
                <a:spcPts val="600"/>
              </a:spcBef>
              <a:spcAft>
                <a:spcPts val="600"/>
              </a:spcAft>
            </a:pPr>
            <a:r>
              <a:rPr lang="en-US" altLang="zh-CN" sz="2400" dirty="0" smtClean="0">
                <a:latin typeface="Arial" panose="020B0604020202020204" pitchFamily="34" charset="0"/>
                <a:ea typeface="微软雅黑" panose="020B0503020204020204" pitchFamily="34" charset="-122"/>
                <a:cs typeface="Arial" panose="020B0604020202020204" pitchFamily="34" charset="0"/>
              </a:rPr>
              <a:t>(</a:t>
            </a:r>
            <a:r>
              <a:rPr lang="en-US" altLang="zh-CN" sz="2400" dirty="0">
                <a:latin typeface="Arial" panose="020B0604020202020204" pitchFamily="34" charset="0"/>
                <a:ea typeface="微软雅黑" panose="020B0503020204020204" pitchFamily="34" charset="-122"/>
                <a:cs typeface="Arial" panose="020B0604020202020204" pitchFamily="34" charset="0"/>
              </a:rPr>
              <a:t>1)</a:t>
            </a: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高层</a:t>
            </a:r>
            <a:r>
              <a:rPr lang="zh-CN" altLang="zh-CN" sz="2400" dirty="0">
                <a:latin typeface="微软雅黑" panose="020B0503020204020204" pitchFamily="34" charset="-122"/>
                <a:ea typeface="微软雅黑" panose="020B0503020204020204" pitchFamily="34" charset="-122"/>
              </a:rPr>
              <a:t>语义特征：人</a:t>
            </a:r>
            <a:r>
              <a:rPr lang="zh-CN" altLang="zh-CN" sz="2400" dirty="0" smtClean="0">
                <a:latin typeface="微软雅黑" panose="020B0503020204020204" pitchFamily="34" charset="-122"/>
                <a:ea typeface="微软雅黑" panose="020B0503020204020204" pitchFamily="34" charset="-122"/>
              </a:rPr>
              <a:t>在观察中注意到的对象（</a:t>
            </a:r>
            <a:r>
              <a:rPr lang="zh-CN" altLang="zh-CN" sz="2400" dirty="0">
                <a:latin typeface="微软雅黑" panose="020B0503020204020204" pitchFamily="34" charset="-122"/>
                <a:ea typeface="微软雅黑" panose="020B0503020204020204" pitchFamily="34" charset="-122"/>
              </a:rPr>
              <a:t>如人脸</a:t>
            </a:r>
            <a:r>
              <a:rPr lang="zh-CN" altLang="zh-CN" sz="2400" dirty="0" smtClean="0">
                <a:latin typeface="微软雅黑" panose="020B0503020204020204" pitchFamily="34" charset="-122"/>
                <a:ea typeface="微软雅黑" panose="020B0503020204020204" pitchFamily="34" charset="-122"/>
              </a:rPr>
              <a:t>、汽车</a:t>
            </a:r>
            <a:r>
              <a:rPr lang="zh-CN" altLang="zh-CN" sz="2400" dirty="0">
                <a:latin typeface="微软雅黑" panose="020B0503020204020204" pitchFamily="34" charset="-122"/>
                <a:ea typeface="微软雅黑" panose="020B0503020204020204" pitchFamily="34" charset="-122"/>
              </a:rPr>
              <a:t>等）经常对应图</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中的显著区域，本身</a:t>
            </a:r>
            <a:r>
              <a:rPr lang="zh-CN" altLang="zh-CN" sz="2400" dirty="0" smtClean="0">
                <a:latin typeface="微软雅黑" panose="020B0503020204020204" pitchFamily="34" charset="-122"/>
                <a:ea typeface="微软雅黑" panose="020B0503020204020204" pitchFamily="34" charset="-122"/>
              </a:rPr>
              <a:t>具有</a:t>
            </a:r>
            <a:r>
              <a:rPr lang="zh-CN" altLang="zh-CN" sz="2400" dirty="0">
                <a:latin typeface="微软雅黑" panose="020B0503020204020204" pitchFamily="34" charset="-122"/>
                <a:ea typeface="微软雅黑" panose="020B0503020204020204" pitchFamily="34" charset="-122"/>
              </a:rPr>
              <a:t>一定的认知语义含义</a:t>
            </a:r>
            <a:endParaRPr lang="zh-CN" altLang="zh-CN" sz="2400" dirty="0">
              <a:latin typeface="微软雅黑" panose="020B0503020204020204" pitchFamily="34" charset="-122"/>
              <a:ea typeface="微软雅黑" panose="020B0503020204020204" pitchFamily="34" charset="-122"/>
            </a:endParaRPr>
          </a:p>
          <a:p>
            <a:pPr marL="899795" indent="-539750" algn="just" defTabSz="720090">
              <a:lnSpc>
                <a:spcPct val="130000"/>
              </a:lnSpc>
              <a:spcBef>
                <a:spcPts val="600"/>
              </a:spcBef>
              <a:spcAft>
                <a:spcPts val="600"/>
              </a:spcAft>
            </a:pPr>
            <a:r>
              <a:rPr lang="en-US" altLang="zh-CN" sz="2400" dirty="0" smtClean="0">
                <a:latin typeface="Arial" panose="020B0604020202020204" pitchFamily="34" charset="0"/>
                <a:ea typeface="微软雅黑" panose="020B0503020204020204" pitchFamily="34" charset="-122"/>
                <a:cs typeface="Arial" panose="020B0604020202020204" pitchFamily="34" charset="0"/>
              </a:rPr>
              <a:t>(</a:t>
            </a:r>
            <a:r>
              <a:rPr lang="en-US" altLang="zh-CN" sz="2400" dirty="0">
                <a:latin typeface="Arial" panose="020B0604020202020204" pitchFamily="34" charset="0"/>
                <a:ea typeface="微软雅黑" panose="020B0503020204020204" pitchFamily="34" charset="-122"/>
                <a:cs typeface="Arial" panose="020B0604020202020204" pitchFamily="34" charset="0"/>
              </a:rPr>
              <a:t>2)</a:t>
            </a:r>
            <a:r>
              <a:rPr lang="en-US" altLang="zh-CN" sz="2400" dirty="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 </a:t>
            </a:r>
            <a:r>
              <a:rPr lang="zh-CN" altLang="zh-CN" sz="2400" dirty="0" smtClean="0">
                <a:latin typeface="微软雅黑" panose="020B0503020204020204" pitchFamily="34" charset="-122"/>
                <a:ea typeface="微软雅黑" panose="020B0503020204020204" pitchFamily="34" charset="-122"/>
              </a:rPr>
              <a:t>认知稳定性：显著区域对场景亮度、对象位置、朝向、尺度、以及观察条件等比较鲁棒</a:t>
            </a:r>
            <a:endParaRPr lang="zh-CN" altLang="zh-CN" sz="2400" dirty="0" smtClean="0">
              <a:latin typeface="微软雅黑" panose="020B0503020204020204" pitchFamily="34" charset="-122"/>
              <a:ea typeface="微软雅黑" panose="020B0503020204020204" pitchFamily="34" charset="-122"/>
            </a:endParaRPr>
          </a:p>
          <a:p>
            <a:pPr marL="899795" indent="-539750" algn="just" defTabSz="720090">
              <a:lnSpc>
                <a:spcPct val="130000"/>
              </a:lnSpc>
              <a:spcBef>
                <a:spcPts val="600"/>
              </a:spcBef>
              <a:spcAft>
                <a:spcPts val="600"/>
              </a:spcAft>
              <a:buAutoNum type="arabicParenBoth" startAt="3"/>
            </a:pPr>
            <a:r>
              <a:rPr lang="zh-CN" altLang="zh-CN" sz="2400" dirty="0" smtClean="0">
                <a:latin typeface="微软雅黑" panose="020B0503020204020204" pitchFamily="34" charset="-122"/>
                <a:ea typeface="微软雅黑" panose="020B0503020204020204" pitchFamily="34" charset="-122"/>
              </a:rPr>
              <a:t>全局稀缺性：从全局范围来看，显著区域出现的频率比较低（局部、稀少）</a:t>
            </a:r>
            <a:endParaRPr lang="en-US" altLang="zh-CN" sz="2400" dirty="0" smtClean="0">
              <a:latin typeface="微软雅黑" panose="020B0503020204020204" pitchFamily="34" charset="-122"/>
              <a:ea typeface="微软雅黑" panose="020B0503020204020204" pitchFamily="34" charset="-122"/>
            </a:endParaRPr>
          </a:p>
          <a:p>
            <a:pPr marL="899795" indent="-539750" algn="just" defTabSz="720090">
              <a:lnSpc>
                <a:spcPct val="130000"/>
              </a:lnSpc>
              <a:spcBef>
                <a:spcPts val="600"/>
              </a:spcBef>
              <a:spcAft>
                <a:spcPts val="600"/>
              </a:spcAft>
              <a:buAutoNum type="arabicParenBoth" startAt="3"/>
            </a:pPr>
            <a:r>
              <a:rPr lang="zh-CN" altLang="zh-CN" sz="2400" dirty="0" smtClean="0">
                <a:latin typeface="微软雅黑" panose="020B0503020204020204" pitchFamily="34" charset="-122"/>
                <a:ea typeface="微软雅黑" panose="020B0503020204020204" pitchFamily="34" charset="-122"/>
              </a:rPr>
              <a:t>局部差异性：显著区域总是与周围区域具有明显的特性</a:t>
            </a:r>
            <a:r>
              <a:rPr lang="zh-CN" altLang="en-US" sz="2400" dirty="0" smtClean="0">
                <a:latin typeface="微软雅黑" panose="020B0503020204020204" pitchFamily="34" charset="-122"/>
                <a:ea typeface="微软雅黑" panose="020B0503020204020204" pitchFamily="34" charset="-122"/>
              </a:rPr>
              <a:t>（颜色、边缘、朝向）</a:t>
            </a:r>
            <a:r>
              <a:rPr lang="zh-CN" altLang="zh-CN" sz="2400" dirty="0" smtClean="0">
                <a:latin typeface="微软雅黑" panose="020B0503020204020204" pitchFamily="34" charset="-122"/>
                <a:ea typeface="微软雅黑" panose="020B0503020204020204" pitchFamily="34" charset="-122"/>
              </a:rPr>
              <a:t>差异</a:t>
            </a:r>
            <a:endParaRPr lang="zh-CN" altLang="zh-CN" sz="2400" dirty="0">
              <a:latin typeface="微软雅黑" panose="020B0503020204020204" pitchFamily="34" charset="-122"/>
              <a:ea typeface="微软雅黑" panose="020B0503020204020204" pitchFamily="34" charset="-122"/>
            </a:endParaRPr>
          </a:p>
        </p:txBody>
      </p:sp>
      <p:sp>
        <p:nvSpPr>
          <p:cNvPr id="4" name="矩形 3"/>
          <p:cNvSpPr/>
          <p:nvPr/>
        </p:nvSpPr>
        <p:spPr>
          <a:xfrm>
            <a:off x="1418292" y="243093"/>
            <a:ext cx="2698175" cy="523220"/>
          </a:xfrm>
          <a:prstGeom prst="rect">
            <a:avLst/>
          </a:prstGeom>
        </p:spPr>
        <p:txBody>
          <a:bodyPr wrap="none">
            <a:spAutoFit/>
          </a:bodyPr>
          <a:lstStyle/>
          <a:p>
            <a:pPr algn="just" defTabSz="720090"/>
            <a:r>
              <a:rPr lang="zh-CN" altLang="zh-CN" sz="2800" b="1" dirty="0">
                <a:latin typeface="微软雅黑" panose="020B0503020204020204" pitchFamily="34" charset="-122"/>
                <a:ea typeface="微软雅黑" panose="020B0503020204020204" pitchFamily="34" charset="-122"/>
              </a:rPr>
              <a:t>显著区域的特点</a:t>
            </a:r>
            <a:endParaRPr lang="en-US" altLang="zh-CN" sz="2800" b="1" dirty="0">
              <a:latin typeface="微软雅黑" panose="020B0503020204020204" pitchFamily="34" charset="-122"/>
              <a:ea typeface="微软雅黑" panose="020B0503020204020204" pitchFamily="34" charset="-122"/>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pic>
        <p:nvPicPr>
          <p:cNvPr id="3076" name="Picture 4" descr="https://img2.baidu.com/it/u=3661312863,248776258&amp;fm=253&amp;fmt=auto&amp;app=138&amp;f=JPEG?w=800&amp;h=1067"/>
          <p:cNvPicPr>
            <a:picLocks noChangeAspect="1" noChangeArrowheads="1"/>
          </p:cNvPicPr>
          <p:nvPr/>
        </p:nvPicPr>
        <p:blipFill rotWithShape="1">
          <a:blip r:embed="rId4">
            <a:extLst>
              <a:ext uri="{28A0092B-C50C-407E-A947-70E740481C1C}">
                <a14:useLocalDpi xmlns:a14="http://schemas.microsoft.com/office/drawing/2010/main" val="0"/>
              </a:ext>
            </a:extLst>
          </a:blip>
          <a:srcRect t="25650" b="10311"/>
          <a:stretch>
            <a:fillRect/>
          </a:stretch>
        </p:blipFill>
        <p:spPr bwMode="auto">
          <a:xfrm>
            <a:off x="177800" y="979170"/>
            <a:ext cx="4041140" cy="28733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img0.baidu.com/it/u=1540736842,764642913&amp;fm=253&amp;fmt=auto&amp;app=138&amp;f=JPEG?w=581&amp;h=38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177800" y="3999230"/>
            <a:ext cx="4041140" cy="269176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109357"/>
    </mc:Choice>
    <mc:Fallback>
      <p:transition spd="slow" advTm="1093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75785" y="836295"/>
            <a:ext cx="7524115" cy="4869815"/>
          </a:xfrm>
          <a:prstGeom prst="rect">
            <a:avLst/>
          </a:prstGeom>
        </p:spPr>
        <p:txBody>
          <a:bodyPr wrap="square">
            <a:spAutoFit/>
          </a:bodyPr>
          <a:lstStyle/>
          <a:p>
            <a:pPr algn="just" defTabSz="720090">
              <a:lnSpc>
                <a:spcPct val="130000"/>
              </a:lnSpc>
              <a:spcBef>
                <a:spcPts val="600"/>
              </a:spcBef>
            </a:pPr>
            <a:r>
              <a:rPr lang="zh-CN" altLang="en-US" sz="2400" dirty="0">
                <a:latin typeface="微软雅黑" panose="020B0503020204020204" pitchFamily="34" charset="-122"/>
                <a:ea typeface="微软雅黑" panose="020B0503020204020204" pitchFamily="34" charset="-122"/>
              </a:rPr>
              <a:t>显著图反映图像中各区域吸引人眼注意的程度。</a:t>
            </a:r>
            <a:endParaRPr lang="zh-CN" altLang="en-US"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pPr>
            <a:r>
              <a:rPr lang="zh-CN" altLang="en-US" sz="2400" dirty="0">
                <a:latin typeface="微软雅黑" panose="020B0503020204020204" pitchFamily="34" charset="-122"/>
                <a:ea typeface="微软雅黑" panose="020B0503020204020204" pitchFamily="34" charset="-122"/>
              </a:rPr>
              <a:t>显著图质量评价用于衡量算法生成的显著图与人工标注真值图之间的一致性，是评价显著性检测算法性能的重要标准。</a:t>
            </a:r>
            <a:endParaRPr lang="zh-CN" altLang="en-US"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pPr>
            <a:r>
              <a:rPr lang="zh-CN" altLang="en-US" sz="2400" dirty="0">
                <a:latin typeface="微软雅黑" panose="020B0503020204020204" pitchFamily="34" charset="-122"/>
                <a:ea typeface="微软雅黑" panose="020B0503020204020204" pitchFamily="34" charset="-122"/>
              </a:rPr>
              <a:t>高质量显著图应具备：</a:t>
            </a:r>
            <a:endParaRPr lang="zh-CN" altLang="en-US"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pPr>
            <a:r>
              <a:rPr lang="zh-CN" altLang="en-US" sz="2400" b="1" dirty="0">
                <a:latin typeface="微软雅黑" panose="020B0503020204020204" pitchFamily="34" charset="-122"/>
                <a:ea typeface="微软雅黑" panose="020B0503020204020204" pitchFamily="34" charset="-122"/>
              </a:rPr>
              <a:t>突出性</a:t>
            </a:r>
            <a:r>
              <a:rPr lang="zh-CN" altLang="en-US" sz="2400" dirty="0">
                <a:latin typeface="微软雅黑" panose="020B0503020204020204" pitchFamily="34" charset="-122"/>
                <a:ea typeface="微软雅黑" panose="020B0503020204020204" pitchFamily="34" charset="-122"/>
              </a:rPr>
              <a:t>：准确突出最显著目标，与人眼感知一致。</a:t>
            </a:r>
            <a:endParaRPr lang="zh-CN" altLang="en-US"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pPr>
            <a:r>
              <a:rPr lang="zh-CN" altLang="en-US" sz="2400" b="1" dirty="0">
                <a:latin typeface="微软雅黑" panose="020B0503020204020204" pitchFamily="34" charset="-122"/>
                <a:ea typeface="微软雅黑" panose="020B0503020204020204" pitchFamily="34" charset="-122"/>
              </a:rPr>
              <a:t>完整性</a:t>
            </a:r>
            <a:r>
              <a:rPr lang="zh-CN" altLang="en-US" sz="2400" dirty="0">
                <a:latin typeface="微软雅黑" panose="020B0503020204020204" pitchFamily="34" charset="-122"/>
                <a:ea typeface="微软雅黑" panose="020B0503020204020204" pitchFamily="34" charset="-122"/>
              </a:rPr>
              <a:t>：显著目标整体响应一致，避免只检测局部。</a:t>
            </a:r>
            <a:endParaRPr lang="zh-CN" altLang="en-US"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pPr>
            <a:r>
              <a:rPr lang="zh-CN" altLang="en-US" sz="2400" b="1" dirty="0">
                <a:latin typeface="微软雅黑" panose="020B0503020204020204" pitchFamily="34" charset="-122"/>
                <a:ea typeface="微软雅黑" panose="020B0503020204020204" pitchFamily="34" charset="-122"/>
              </a:rPr>
              <a:t>边界准确性</a:t>
            </a:r>
            <a:r>
              <a:rPr lang="zh-CN" altLang="en-US" sz="2400" dirty="0">
                <a:latin typeface="微软雅黑" panose="020B0503020204020204" pitchFamily="34" charset="-122"/>
                <a:ea typeface="微软雅黑" panose="020B0503020204020204" pitchFamily="34" charset="-122"/>
              </a:rPr>
              <a:t>：目标边界清晰完整，前景与背景分离准确。</a:t>
            </a:r>
            <a:endParaRPr lang="zh-CN" altLang="en-US"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pPr>
            <a:r>
              <a:rPr lang="zh-CN" altLang="en-US" sz="2400" b="1" dirty="0">
                <a:latin typeface="微软雅黑" panose="020B0503020204020204" pitchFamily="34" charset="-122"/>
                <a:ea typeface="微软雅黑" panose="020B0503020204020204" pitchFamily="34" charset="-122"/>
              </a:rPr>
              <a:t>高分辨率</a:t>
            </a:r>
            <a:r>
              <a:rPr lang="zh-CN" altLang="en-US" sz="2400" dirty="0">
                <a:latin typeface="微软雅黑" panose="020B0503020204020204" pitchFamily="34" charset="-122"/>
                <a:ea typeface="微软雅黑" panose="020B0503020204020204" pitchFamily="34" charset="-122"/>
              </a:rPr>
              <a:t>：保留图像细节，便于后续实际应用。</a:t>
            </a:r>
            <a:endParaRPr lang="zh-CN" altLang="en-US" sz="2400" dirty="0">
              <a:latin typeface="微软雅黑" panose="020B0503020204020204" pitchFamily="34" charset="-122"/>
              <a:ea typeface="微软雅黑" panose="020B0503020204020204" pitchFamily="34" charset="-122"/>
            </a:endParaRPr>
          </a:p>
        </p:txBody>
      </p:sp>
      <p:sp>
        <p:nvSpPr>
          <p:cNvPr id="4" name="矩形 3"/>
          <p:cNvSpPr/>
          <p:nvPr/>
        </p:nvSpPr>
        <p:spPr>
          <a:xfrm>
            <a:off x="1444397" y="291812"/>
            <a:ext cx="2698175" cy="523220"/>
          </a:xfrm>
          <a:prstGeom prst="rect">
            <a:avLst/>
          </a:prstGeom>
        </p:spPr>
        <p:txBody>
          <a:bodyPr wrap="none">
            <a:spAutoFit/>
          </a:bodyPr>
          <a:lstStyle/>
          <a:p>
            <a:pPr algn="just" defTabSz="720090"/>
            <a:r>
              <a:rPr lang="zh-CN" altLang="zh-CN" sz="2800" b="1" dirty="0">
                <a:latin typeface="微软雅黑" panose="020B0503020204020204" pitchFamily="34" charset="-122"/>
                <a:ea typeface="微软雅黑" panose="020B0503020204020204" pitchFamily="34" charset="-122"/>
              </a:rPr>
              <a:t>显著图</a:t>
            </a:r>
            <a:r>
              <a:rPr lang="zh-CN" altLang="zh-CN" sz="2800" b="1" dirty="0" smtClean="0">
                <a:latin typeface="微软雅黑" panose="020B0503020204020204" pitchFamily="34" charset="-122"/>
                <a:ea typeface="微软雅黑" panose="020B0503020204020204" pitchFamily="34" charset="-122"/>
              </a:rPr>
              <a:t>质量评价</a:t>
            </a:r>
            <a:endParaRPr lang="en-US" altLang="zh-CN" sz="2800" b="1" dirty="0">
              <a:latin typeface="微软雅黑" panose="020B0503020204020204" pitchFamily="34" charset="-122"/>
              <a:ea typeface="微软雅黑" panose="020B0503020204020204" pitchFamily="34" charset="-122"/>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graphicFrame>
        <p:nvGraphicFramePr>
          <p:cNvPr id="6" name="对象 5"/>
          <p:cNvGraphicFramePr/>
          <p:nvPr>
            <p:custDataLst>
              <p:tags r:id="rId4"/>
            </p:custDataLst>
          </p:nvPr>
        </p:nvGraphicFramePr>
        <p:xfrm>
          <a:off x="601121" y="1000423"/>
          <a:ext cx="3497580" cy="2416810"/>
        </p:xfrm>
        <a:graphic>
          <a:graphicData uri="http://schemas.openxmlformats.org/presentationml/2006/ole">
            <mc:AlternateContent xmlns:mc="http://schemas.openxmlformats.org/markup-compatibility/2006">
              <mc:Choice xmlns:v="urn:schemas-microsoft-com:vml" Requires="v">
                <p:oleObj spid="_x0000_s4151" name="" r:id="rId5" imgW="4743450" imgH="3181350" progId="Paint.Picture">
                  <p:embed/>
                </p:oleObj>
              </mc:Choice>
              <mc:Fallback>
                <p:oleObj name="" r:id="rId5" imgW="4743450" imgH="3181350" progId="Paint.Picture">
                  <p:embed/>
                  <p:pic>
                    <p:nvPicPr>
                      <p:cNvPr id="0" name="对象 2"/>
                      <p:cNvPicPr/>
                      <p:nvPr/>
                    </p:nvPicPr>
                    <p:blipFill>
                      <a:blip r:embed="rId6"/>
                      <a:stretch>
                        <a:fillRect/>
                      </a:stretch>
                    </p:blipFill>
                    <p:spPr>
                      <a:xfrm>
                        <a:off x="601121" y="1000423"/>
                        <a:ext cx="3497580" cy="2416810"/>
                      </a:xfrm>
                      <a:prstGeom prst="rect">
                        <a:avLst/>
                      </a:prstGeom>
                    </p:spPr>
                  </p:pic>
                </p:oleObj>
              </mc:Fallback>
            </mc:AlternateContent>
          </a:graphicData>
        </a:graphic>
      </p:graphicFrame>
      <p:graphicFrame>
        <p:nvGraphicFramePr>
          <p:cNvPr id="7" name="对象 6"/>
          <p:cNvGraphicFramePr/>
          <p:nvPr>
            <p:custDataLst>
              <p:tags r:id="rId7"/>
            </p:custDataLst>
          </p:nvPr>
        </p:nvGraphicFramePr>
        <p:xfrm>
          <a:off x="601756" y="3417233"/>
          <a:ext cx="3496945" cy="2409190"/>
        </p:xfrm>
        <a:graphic>
          <a:graphicData uri="http://schemas.openxmlformats.org/presentationml/2006/ole">
            <mc:AlternateContent xmlns:mc="http://schemas.openxmlformats.org/markup-compatibility/2006">
              <mc:Choice xmlns:v="urn:schemas-microsoft-com:vml" Requires="v">
                <p:oleObj spid="_x0000_s4152" name="" r:id="rId8" imgW="4743450" imgH="3171825" progId="Paint.Picture">
                  <p:embed/>
                </p:oleObj>
              </mc:Choice>
              <mc:Fallback>
                <p:oleObj name="" r:id="rId8" imgW="4743450" imgH="3171825" progId="Paint.Picture">
                  <p:embed/>
                  <p:pic>
                    <p:nvPicPr>
                      <p:cNvPr id="0" name="对象 4"/>
                      <p:cNvPicPr/>
                      <p:nvPr/>
                    </p:nvPicPr>
                    <p:blipFill>
                      <a:blip r:embed="rId9"/>
                      <a:stretch>
                        <a:fillRect/>
                      </a:stretch>
                    </p:blipFill>
                    <p:spPr>
                      <a:xfrm>
                        <a:off x="601756" y="3417233"/>
                        <a:ext cx="3496945" cy="2409190"/>
                      </a:xfrm>
                      <a:prstGeom prst="rect">
                        <a:avLst/>
                      </a:prstGeom>
                    </p:spPr>
                  </p:pic>
                </p:oleObj>
              </mc:Fallback>
            </mc:AlternateContent>
          </a:graphicData>
        </a:graphic>
      </p:graphicFrame>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advTm="71236"/>
    </mc:Choice>
    <mc:Fallback>
      <p:transition spd="slow" advTm="712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35" y="323850"/>
            <a:ext cx="8465185" cy="430530"/>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2  </a:t>
            </a:r>
            <a:r>
              <a:rPr lang="zh-CN" altLang="zh-CN" sz="2800" b="1" dirty="0" smtClean="0">
                <a:latin typeface="微软雅黑" panose="020B0503020204020204" pitchFamily="34" charset="-122"/>
                <a:ea typeface="微软雅黑" panose="020B0503020204020204" pitchFamily="34" charset="-122"/>
              </a:rPr>
              <a:t>基于</a:t>
            </a:r>
            <a:r>
              <a:rPr lang="zh-CN" altLang="en-US" sz="2800" b="1" dirty="0">
                <a:latin typeface="微软雅黑" panose="020B0503020204020204" pitchFamily="34" charset="-122"/>
                <a:ea typeface="微软雅黑" panose="020B0503020204020204" pitchFamily="34" charset="-122"/>
              </a:rPr>
              <a:t>频率</a:t>
            </a:r>
            <a:r>
              <a:rPr lang="zh-CN" altLang="en-US" sz="2800" b="1" dirty="0" smtClean="0">
                <a:latin typeface="微软雅黑" panose="020B0503020204020204" pitchFamily="34" charset="-122"/>
                <a:ea typeface="微软雅黑" panose="020B0503020204020204" pitchFamily="34" charset="-122"/>
              </a:rPr>
              <a:t>调谐</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smtClean="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sp>
        <p:nvSpPr>
          <p:cNvPr id="5" name="矩形 4"/>
          <p:cNvSpPr/>
          <p:nvPr/>
        </p:nvSpPr>
        <p:spPr>
          <a:xfrm>
            <a:off x="1021488" y="906559"/>
            <a:ext cx="10349345" cy="1198880"/>
          </a:xfrm>
          <a:prstGeom prst="rect">
            <a:avLst/>
          </a:prstGeom>
        </p:spPr>
        <p:txBody>
          <a:bodyPr wrap="square">
            <a:spAutoFit/>
          </a:bodyPr>
          <a:lstStyle/>
          <a:p>
            <a:pPr>
              <a:lnSpc>
                <a:spcPct val="150000"/>
              </a:lnSpc>
            </a:pPr>
            <a:r>
              <a:rPr lang="zh-CN" altLang="en-US" sz="2400" dirty="0"/>
              <a:t>频率</a:t>
            </a:r>
            <a:r>
              <a:rPr lang="zh-CN" altLang="en-US" sz="2400" dirty="0" smtClean="0"/>
              <a:t>调谐指对</a:t>
            </a:r>
            <a:r>
              <a:rPr lang="zh-CN" altLang="en-US" sz="2400" dirty="0"/>
              <a:t>某一类频率的选择性</a:t>
            </a:r>
            <a:r>
              <a:rPr lang="zh-CN" altLang="en-US" sz="2400" dirty="0" smtClean="0"/>
              <a:t>响应。</a:t>
            </a:r>
            <a:endParaRPr lang="en-US" altLang="zh-CN" sz="2400" dirty="0" smtClean="0"/>
          </a:p>
          <a:p>
            <a:pPr>
              <a:lnSpc>
                <a:spcPct val="150000"/>
              </a:lnSpc>
            </a:pPr>
            <a:endParaRPr lang="zh-CN" altLang="en-US" sz="2400" dirty="0"/>
          </a:p>
        </p:txBody>
      </p:sp>
      <p:sp>
        <p:nvSpPr>
          <p:cNvPr id="2" name="矩形 1"/>
          <p:cNvSpPr/>
          <p:nvPr/>
        </p:nvSpPr>
        <p:spPr>
          <a:xfrm>
            <a:off x="1021715" y="1389380"/>
            <a:ext cx="10716260" cy="2861310"/>
          </a:xfrm>
          <a:prstGeom prst="rect">
            <a:avLst/>
          </a:prstGeom>
        </p:spPr>
        <p:txBody>
          <a:bodyPr wrap="square">
            <a:spAutoFit/>
          </a:bodyPr>
          <a:lstStyle/>
          <a:p>
            <a:pPr algn="l">
              <a:lnSpc>
                <a:spcPct val="150000"/>
              </a:lnSpc>
              <a:buClrTx/>
              <a:buSzTx/>
              <a:buFontTx/>
            </a:pPr>
            <a:r>
              <a:rPr lang="zh-CN" altLang="en-US" sz="2400" b="0" i="0" dirty="0" smtClean="0">
                <a:solidFill>
                  <a:srgbClr val="121212"/>
                </a:solidFill>
                <a:latin typeface="-apple-system"/>
              </a:rPr>
              <a:t>图像频率反映像素值在空间中的变化快慢。</a:t>
            </a:r>
            <a:endParaRPr lang="zh-CN" altLang="en-US" sz="2400" b="0" i="0" dirty="0" smtClean="0">
              <a:solidFill>
                <a:srgbClr val="121212"/>
              </a:solidFill>
              <a:latin typeface="-apple-system"/>
            </a:endParaRPr>
          </a:p>
          <a:p>
            <a:pPr algn="l">
              <a:lnSpc>
                <a:spcPct val="150000"/>
              </a:lnSpc>
              <a:buClrTx/>
              <a:buSzTx/>
              <a:buFontTx/>
            </a:pPr>
            <a:r>
              <a:rPr lang="zh-CN" altLang="en-US" sz="2400" b="1" i="0" dirty="0" smtClean="0">
                <a:solidFill>
                  <a:srgbClr val="121212"/>
                </a:solidFill>
                <a:latin typeface="-apple-system"/>
              </a:rPr>
              <a:t>低频信息</a:t>
            </a:r>
            <a:r>
              <a:rPr lang="zh-CN" altLang="en-US" sz="2400" b="0" i="0" dirty="0" smtClean="0">
                <a:solidFill>
                  <a:srgbClr val="121212"/>
                </a:solidFill>
                <a:latin typeface="-apple-system"/>
              </a:rPr>
              <a:t>：大范围、平滑、缓慢变化的区域，如天空、草坪、大物体内部。</a:t>
            </a:r>
            <a:endParaRPr lang="zh-CN" altLang="en-US" sz="2400" b="0" i="0" dirty="0" smtClean="0">
              <a:solidFill>
                <a:srgbClr val="121212"/>
              </a:solidFill>
              <a:latin typeface="-apple-system"/>
            </a:endParaRPr>
          </a:p>
          <a:p>
            <a:pPr algn="l">
              <a:lnSpc>
                <a:spcPct val="150000"/>
              </a:lnSpc>
              <a:buClrTx/>
              <a:buSzTx/>
              <a:buFontTx/>
            </a:pPr>
            <a:r>
              <a:rPr lang="zh-CN" altLang="en-US" sz="2400" b="1" i="0" dirty="0" smtClean="0">
                <a:solidFill>
                  <a:srgbClr val="121212"/>
                </a:solidFill>
                <a:latin typeface="-apple-system"/>
              </a:rPr>
              <a:t>高频信息</a:t>
            </a:r>
            <a:r>
              <a:rPr lang="zh-CN" altLang="en-US" sz="2400" b="0" i="0" dirty="0" smtClean="0">
                <a:solidFill>
                  <a:srgbClr val="121212"/>
                </a:solidFill>
                <a:latin typeface="-apple-system"/>
              </a:rPr>
              <a:t>：局部突变明显的区域，如物体边界、轮廓。</a:t>
            </a:r>
            <a:endParaRPr lang="zh-CN" altLang="en-US" sz="2400" b="0" i="0" dirty="0" smtClean="0">
              <a:solidFill>
                <a:srgbClr val="121212"/>
              </a:solidFill>
              <a:latin typeface="-apple-system"/>
            </a:endParaRPr>
          </a:p>
          <a:p>
            <a:pPr algn="l">
              <a:lnSpc>
                <a:spcPct val="150000"/>
              </a:lnSpc>
              <a:buClrTx/>
              <a:buSzTx/>
              <a:buFontTx/>
              <a:buNone/>
            </a:pPr>
            <a:r>
              <a:rPr lang="zh-CN" altLang="en-US" sz="2400" b="1" i="0" dirty="0" smtClean="0">
                <a:solidFill>
                  <a:srgbClr val="121212"/>
                </a:solidFill>
                <a:latin typeface="-apple-system"/>
              </a:rPr>
              <a:t>更高频信息</a:t>
            </a:r>
            <a:r>
              <a:rPr lang="zh-CN" altLang="en-US" sz="2400" b="0" i="0" dirty="0" smtClean="0">
                <a:solidFill>
                  <a:srgbClr val="121212"/>
                </a:solidFill>
                <a:latin typeface="-apple-system"/>
              </a:rPr>
              <a:t>：细小、密集、重复变化的区域，如纹理、毛发、草叶、噪声。</a:t>
            </a:r>
            <a:endParaRPr lang="zh-CN" altLang="en-US" sz="2400" b="0" i="0" dirty="0" smtClean="0">
              <a:solidFill>
                <a:srgbClr val="121212"/>
              </a:solidFill>
              <a:latin typeface="-apple-system"/>
            </a:endParaRPr>
          </a:p>
          <a:p>
            <a:pPr algn="l">
              <a:lnSpc>
                <a:spcPct val="150000"/>
              </a:lnSpc>
              <a:buClrTx/>
              <a:buSzTx/>
              <a:buNone/>
            </a:pPr>
            <a:r>
              <a:rPr lang="zh-CN" altLang="en-US" sz="2400" b="1" i="0" dirty="0" smtClean="0">
                <a:solidFill>
                  <a:srgbClr val="121212"/>
                </a:solidFill>
                <a:latin typeface="-apple-system"/>
              </a:rPr>
              <a:t>区域越平滑，频率越低；变化越突然、越细碎，频率越高。</a:t>
            </a:r>
            <a:endParaRPr lang="zh-CN" altLang="en-US" sz="2400" b="1" i="0" dirty="0" smtClean="0">
              <a:solidFill>
                <a:srgbClr val="121212"/>
              </a:solidFill>
              <a:latin typeface="-apple-system"/>
            </a:endParaRPr>
          </a:p>
        </p:txBody>
      </p:sp>
      <p:sp>
        <p:nvSpPr>
          <p:cNvPr id="4" name="文本框 3"/>
          <p:cNvSpPr txBox="1"/>
          <p:nvPr/>
        </p:nvSpPr>
        <p:spPr>
          <a:xfrm>
            <a:off x="1022350" y="4358640"/>
            <a:ext cx="10348595" cy="1753235"/>
          </a:xfrm>
          <a:prstGeom prst="rect">
            <a:avLst/>
          </a:prstGeom>
          <a:noFill/>
        </p:spPr>
        <p:txBody>
          <a:bodyPr wrap="square" rtlCol="0" anchor="t">
            <a:spAutoFit/>
          </a:bodyPr>
          <a:p>
            <a:pPr>
              <a:lnSpc>
                <a:spcPct val="150000"/>
              </a:lnSpc>
            </a:pPr>
            <a:r>
              <a:rPr lang="zh-CN" altLang="en-US" sz="2400" b="1" dirty="0" smtClean="0">
                <a:solidFill>
                  <a:srgbClr val="121212"/>
                </a:solidFill>
                <a:latin typeface="-apple-system"/>
                <a:sym typeface="+mn-ea"/>
              </a:rPr>
              <a:t>频率</a:t>
            </a:r>
            <a:r>
              <a:rPr lang="zh-CN" altLang="en-US" sz="2400" b="1" dirty="0">
                <a:solidFill>
                  <a:srgbClr val="121212"/>
                </a:solidFill>
                <a:latin typeface="-apple-system"/>
                <a:sym typeface="+mn-ea"/>
              </a:rPr>
              <a:t>调谐</a:t>
            </a:r>
            <a:r>
              <a:rPr lang="zh-CN" altLang="en-US" sz="2400" b="1" dirty="0" smtClean="0">
                <a:solidFill>
                  <a:srgbClr val="121212"/>
                </a:solidFill>
                <a:latin typeface="-apple-system"/>
                <a:sym typeface="+mn-ea"/>
              </a:rPr>
              <a:t>算法</a:t>
            </a:r>
            <a:r>
              <a:rPr lang="zh-CN" altLang="en-US" sz="2400" dirty="0" smtClean="0">
                <a:solidFill>
                  <a:srgbClr val="121212"/>
                </a:solidFill>
                <a:latin typeface="-apple-system"/>
                <a:sym typeface="+mn-ea"/>
              </a:rPr>
              <a:t>：</a:t>
            </a:r>
            <a:r>
              <a:rPr lang="zh-CN" altLang="en-US" sz="2400" dirty="0">
                <a:sym typeface="+mn-ea"/>
              </a:rPr>
              <a:t>在 </a:t>
            </a:r>
            <a:r>
              <a:rPr lang="en-US" altLang="zh-CN" sz="2400" dirty="0">
                <a:sym typeface="+mn-ea"/>
              </a:rPr>
              <a:t>Lab </a:t>
            </a:r>
            <a:r>
              <a:rPr lang="zh-CN" altLang="en-US" sz="2400" dirty="0">
                <a:sym typeface="+mn-ea"/>
              </a:rPr>
              <a:t>颜色空间中计算每个像素与图像平均颜色向量的欧氏距离，差异越大，像素显著性越高。其核心思想是利用颜色对比突出与整体背景差异明显的区域。</a:t>
            </a:r>
            <a:endParaRPr lang="zh-CN" altLang="en-US" sz="2400" dirty="0">
              <a:sym typeface="+mn-ea"/>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65673"/>
    </mc:Choice>
    <mc:Fallback>
      <p:transition spd="slow" advTm="65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8" y="323995"/>
            <a:ext cx="8535643"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2  </a:t>
            </a:r>
            <a:r>
              <a:rPr lang="zh-CN" altLang="zh-CN" sz="2800" b="1" dirty="0" smtClean="0">
                <a:latin typeface="微软雅黑" panose="020B0503020204020204" pitchFamily="34" charset="-122"/>
                <a:ea typeface="微软雅黑" panose="020B0503020204020204" pitchFamily="34" charset="-122"/>
              </a:rPr>
              <a:t>基于</a:t>
            </a:r>
            <a:r>
              <a:rPr lang="zh-CN" altLang="en-US" sz="2800" b="1" dirty="0">
                <a:latin typeface="微软雅黑" panose="020B0503020204020204" pitchFamily="34" charset="-122"/>
                <a:ea typeface="微软雅黑" panose="020B0503020204020204" pitchFamily="34" charset="-122"/>
              </a:rPr>
              <a:t>频率</a:t>
            </a:r>
            <a:r>
              <a:rPr lang="zh-CN" altLang="en-US" sz="2800" b="1" dirty="0" smtClean="0">
                <a:latin typeface="微软雅黑" panose="020B0503020204020204" pitchFamily="34" charset="-122"/>
                <a:ea typeface="微软雅黑" panose="020B0503020204020204" pitchFamily="34" charset="-122"/>
              </a:rPr>
              <a:t>调谐</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smtClean="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sp>
        <p:nvSpPr>
          <p:cNvPr id="2" name="矩形 1"/>
          <p:cNvSpPr/>
          <p:nvPr/>
        </p:nvSpPr>
        <p:spPr>
          <a:xfrm>
            <a:off x="491361" y="1339025"/>
            <a:ext cx="4970585" cy="4431983"/>
          </a:xfrm>
          <a:prstGeom prst="rect">
            <a:avLst/>
          </a:prstGeom>
        </p:spPr>
        <p:txBody>
          <a:bodyPr wrap="square">
            <a:spAutoFit/>
          </a:bodyPr>
          <a:lstStyle/>
          <a:p>
            <a:pPr>
              <a:lnSpc>
                <a:spcPct val="150000"/>
              </a:lnSpc>
            </a:pPr>
            <a:r>
              <a:rPr lang="zh-CN" altLang="en-US" sz="2800" b="1" dirty="0">
                <a:solidFill>
                  <a:srgbClr val="FF0000"/>
                </a:solidFill>
                <a:latin typeface="PingFang SC"/>
              </a:rPr>
              <a:t>显著性映射的需求</a:t>
            </a:r>
            <a:endParaRPr lang="zh-CN" altLang="en-US" sz="2800" b="1" dirty="0">
              <a:solidFill>
                <a:srgbClr val="FF0000"/>
              </a:solidFill>
              <a:latin typeface="PingFang SC"/>
            </a:endParaRPr>
          </a:p>
          <a:p>
            <a:pPr marL="457200" indent="-457200">
              <a:lnSpc>
                <a:spcPct val="200000"/>
              </a:lnSpc>
              <a:buFont typeface="+mj-ea"/>
              <a:buAutoNum type="circleNumDbPlain"/>
            </a:pPr>
            <a:r>
              <a:rPr lang="zh-CN" altLang="en-US" sz="2400" dirty="0" smtClean="0">
                <a:solidFill>
                  <a:schemeClr val="accent5">
                    <a:lumMod val="50000"/>
                  </a:schemeClr>
                </a:solidFill>
                <a:latin typeface="-apple-system"/>
              </a:rPr>
              <a:t>强调</a:t>
            </a:r>
            <a:r>
              <a:rPr lang="zh-CN" altLang="en-US" sz="2400" dirty="0">
                <a:solidFill>
                  <a:schemeClr val="accent5">
                    <a:lumMod val="50000"/>
                  </a:schemeClr>
                </a:solidFill>
                <a:latin typeface="-apple-system"/>
              </a:rPr>
              <a:t>最大的</a:t>
            </a:r>
            <a:r>
              <a:rPr lang="zh-CN" altLang="en-US" sz="2400" dirty="0" smtClean="0">
                <a:solidFill>
                  <a:schemeClr val="accent5">
                    <a:lumMod val="50000"/>
                  </a:schemeClr>
                </a:solidFill>
                <a:latin typeface="-apple-system"/>
              </a:rPr>
              <a:t>显著物体</a:t>
            </a:r>
            <a:r>
              <a:rPr lang="zh-CN" altLang="en-US" sz="2400" dirty="0">
                <a:solidFill>
                  <a:schemeClr val="accent5">
                    <a:lumMod val="50000"/>
                  </a:schemeClr>
                </a:solidFill>
                <a:latin typeface="-apple-system"/>
              </a:rPr>
              <a:t>。</a:t>
            </a:r>
            <a:endParaRPr lang="zh-CN" altLang="en-US" sz="2400" dirty="0">
              <a:solidFill>
                <a:schemeClr val="accent5">
                  <a:lumMod val="50000"/>
                </a:schemeClr>
              </a:solidFill>
              <a:latin typeface="-apple-system"/>
            </a:endParaRPr>
          </a:p>
          <a:p>
            <a:pPr marL="457200" indent="-457200">
              <a:lnSpc>
                <a:spcPct val="200000"/>
              </a:lnSpc>
              <a:buFont typeface="+mj-ea"/>
              <a:buAutoNum type="circleNumDbPlain"/>
            </a:pPr>
            <a:r>
              <a:rPr lang="zh-CN" altLang="en-US" sz="2400" dirty="0" smtClean="0">
                <a:solidFill>
                  <a:srgbClr val="7030A0"/>
                </a:solidFill>
                <a:latin typeface="-apple-system"/>
              </a:rPr>
              <a:t>建立明确界定的边界突出对象</a:t>
            </a:r>
            <a:r>
              <a:rPr lang="zh-CN" altLang="en-US" sz="2400" dirty="0" smtClean="0">
                <a:latin typeface="-apple-system"/>
              </a:rPr>
              <a:t>。</a:t>
            </a:r>
            <a:endParaRPr lang="zh-CN" altLang="en-US" sz="2400" dirty="0">
              <a:latin typeface="-apple-system"/>
            </a:endParaRPr>
          </a:p>
          <a:p>
            <a:pPr marL="457200" indent="-457200">
              <a:lnSpc>
                <a:spcPct val="200000"/>
              </a:lnSpc>
              <a:buFont typeface="+mj-ea"/>
              <a:buAutoNum type="circleNumDbPlain"/>
            </a:pPr>
            <a:r>
              <a:rPr lang="zh-CN" altLang="en-US" sz="2400" dirty="0">
                <a:solidFill>
                  <a:schemeClr val="accent2">
                    <a:lumMod val="50000"/>
                  </a:schemeClr>
                </a:solidFill>
                <a:latin typeface="-apple-system"/>
              </a:rPr>
              <a:t>忽略</a:t>
            </a:r>
            <a:r>
              <a:rPr lang="zh-CN" altLang="en-US" sz="2400" dirty="0" smtClean="0">
                <a:solidFill>
                  <a:schemeClr val="accent2">
                    <a:lumMod val="50000"/>
                  </a:schemeClr>
                </a:solidFill>
                <a:latin typeface="-apple-system"/>
              </a:rPr>
              <a:t>由纹理</a:t>
            </a:r>
            <a:r>
              <a:rPr lang="zh-CN" altLang="en-US" sz="2400" dirty="0">
                <a:solidFill>
                  <a:schemeClr val="accent2">
                    <a:lumMod val="50000"/>
                  </a:schemeClr>
                </a:solidFill>
                <a:latin typeface="-apple-system"/>
              </a:rPr>
              <a:t>、噪声和阻塞伪影产生的高频。</a:t>
            </a:r>
            <a:endParaRPr lang="zh-CN" altLang="en-US" sz="2400" dirty="0">
              <a:solidFill>
                <a:schemeClr val="accent2">
                  <a:lumMod val="50000"/>
                </a:schemeClr>
              </a:solidFill>
              <a:latin typeface="-apple-system"/>
            </a:endParaRPr>
          </a:p>
          <a:p>
            <a:pPr marL="457200" indent="-457200">
              <a:lnSpc>
                <a:spcPct val="200000"/>
              </a:lnSpc>
              <a:buFont typeface="+mj-ea"/>
              <a:buAutoNum type="circleNumDbPlain"/>
            </a:pPr>
            <a:r>
              <a:rPr lang="zh-CN" altLang="en-US" sz="2400" dirty="0">
                <a:solidFill>
                  <a:schemeClr val="accent6">
                    <a:lumMod val="50000"/>
                  </a:schemeClr>
                </a:solidFill>
                <a:latin typeface="-apple-system"/>
              </a:rPr>
              <a:t>高效输出全分辨率的显著性映射。</a:t>
            </a:r>
            <a:endParaRPr lang="zh-CN" altLang="en-US" sz="2400" b="0" i="0" dirty="0">
              <a:solidFill>
                <a:schemeClr val="accent6">
                  <a:lumMod val="50000"/>
                </a:schemeClr>
              </a:solidFill>
              <a:effectLst/>
              <a:latin typeface="-apple-system"/>
            </a:endParaRPr>
          </a:p>
        </p:txBody>
      </p:sp>
      <p:grpSp>
        <p:nvGrpSpPr>
          <p:cNvPr id="11" name="组合 10"/>
          <p:cNvGrpSpPr/>
          <p:nvPr/>
        </p:nvGrpSpPr>
        <p:grpSpPr>
          <a:xfrm>
            <a:off x="5564816" y="1388555"/>
            <a:ext cx="6361754" cy="4407535"/>
            <a:chOff x="5614346" y="1939915"/>
            <a:chExt cx="6361754" cy="4407535"/>
          </a:xfrm>
        </p:grpSpPr>
        <p:sp>
          <p:nvSpPr>
            <p:cNvPr id="4" name="矩形 3"/>
            <p:cNvSpPr/>
            <p:nvPr/>
          </p:nvSpPr>
          <p:spPr>
            <a:xfrm>
              <a:off x="5614346" y="1939915"/>
              <a:ext cx="6361754" cy="4407535"/>
            </a:xfrm>
            <a:prstGeom prst="rect">
              <a:avLst/>
            </a:prstGeom>
          </p:spPr>
          <p:txBody>
            <a:bodyPr wrap="square">
              <a:spAutoFit/>
            </a:bodyPr>
            <a:lstStyle/>
            <a:p>
              <a:pPr>
                <a:lnSpc>
                  <a:spcPct val="130000"/>
                </a:lnSpc>
              </a:pPr>
              <a:r>
                <a:rPr lang="zh-CN" altLang="en-US" sz="2400" dirty="0" smtClean="0">
                  <a:latin typeface="Times New Roman" panose="02020603050405020304" pitchFamily="18" charset="0"/>
                  <a:cs typeface="Times New Roman" panose="02020603050405020304" pitchFamily="18" charset="0"/>
                </a:rPr>
                <a:t>设   </a:t>
              </a:r>
              <a:r>
                <a:rPr lang="en-US" altLang="zh-CN" sz="2400" dirty="0" smtClean="0">
                  <a:latin typeface="Times New Roman" panose="02020603050405020304" pitchFamily="18" charset="0"/>
                  <a:cs typeface="Times New Roman" panose="02020603050405020304" pitchFamily="18" charset="0"/>
                </a:rPr>
                <a:t>   </a:t>
              </a:r>
              <a:r>
                <a:rPr lang="zh-CN" altLang="en-US" sz="2400" dirty="0" smtClean="0">
                  <a:latin typeface="Times New Roman" panose="02020603050405020304" pitchFamily="18" charset="0"/>
                  <a:cs typeface="Times New Roman" panose="02020603050405020304" pitchFamily="18" charset="0"/>
                </a:rPr>
                <a:t>为</a:t>
              </a:r>
              <a:r>
                <a:rPr lang="zh-CN" altLang="en-US" sz="2400" dirty="0">
                  <a:latin typeface="Times New Roman" panose="02020603050405020304" pitchFamily="18" charset="0"/>
                  <a:cs typeface="Times New Roman" panose="02020603050405020304" pitchFamily="18" charset="0"/>
                </a:rPr>
                <a:t>低频截止值</a:t>
              </a:r>
              <a:r>
                <a:rPr lang="zh-CN" altLang="en-US" sz="2400" dirty="0" smtClean="0">
                  <a:latin typeface="Times New Roman" panose="02020603050405020304" pitchFamily="18" charset="0"/>
                  <a:cs typeface="Times New Roman" panose="02020603050405020304" pitchFamily="18" charset="0"/>
                </a:rPr>
                <a:t>，  </a:t>
              </a:r>
              <a:r>
                <a:rPr lang="en-US" altLang="zh-CN" sz="2400" dirty="0" smtClean="0">
                  <a:latin typeface="Times New Roman" panose="02020603050405020304" pitchFamily="18" charset="0"/>
                  <a:cs typeface="Times New Roman" panose="02020603050405020304" pitchFamily="18" charset="0"/>
                </a:rPr>
                <a:t>   ​ </a:t>
              </a:r>
              <a:r>
                <a:rPr lang="zh-CN" altLang="en-US" sz="2400" dirty="0" smtClean="0">
                  <a:latin typeface="Times New Roman" panose="02020603050405020304" pitchFamily="18" charset="0"/>
                  <a:cs typeface="Times New Roman" panose="02020603050405020304" pitchFamily="18" charset="0"/>
                </a:rPr>
                <a:t>为</a:t>
              </a:r>
              <a:r>
                <a:rPr lang="zh-CN" altLang="en-US" sz="2400" dirty="0">
                  <a:latin typeface="Times New Roman" panose="02020603050405020304" pitchFamily="18" charset="0"/>
                  <a:cs typeface="Times New Roman" panose="02020603050405020304" pitchFamily="18" charset="0"/>
                </a:rPr>
                <a:t>高频截止值</a:t>
              </a:r>
              <a:r>
                <a:rPr lang="zh-CN" altLang="en-US"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a:lnSpc>
                  <a:spcPct val="130000"/>
                </a:lnSpc>
              </a:pPr>
              <a:r>
                <a:rPr lang="en-US" altLang="zh-CN" sz="2400" dirty="0" smtClean="0">
                  <a:solidFill>
                    <a:schemeClr val="accent5">
                      <a:lumMod val="50000"/>
                    </a:schemeClr>
                  </a:solidFill>
                  <a:latin typeface="Times New Roman" panose="02020603050405020304" pitchFamily="18" charset="0"/>
                  <a:cs typeface="Times New Roman" panose="02020603050405020304" pitchFamily="18" charset="0"/>
                </a:rPr>
                <a:t>1 </a:t>
              </a:r>
              <a:r>
                <a:rPr lang="zh-CN" altLang="en-US" sz="2400" dirty="0" smtClean="0">
                  <a:solidFill>
                    <a:schemeClr val="accent5">
                      <a:lumMod val="50000"/>
                    </a:schemeClr>
                  </a:solidFill>
                  <a:latin typeface="Times New Roman" panose="02020603050405020304" pitchFamily="18" charset="0"/>
                  <a:cs typeface="Times New Roman" panose="02020603050405020304" pitchFamily="18" charset="0"/>
                </a:rPr>
                <a:t>为突出</a:t>
              </a:r>
              <a:r>
                <a:rPr lang="zh-CN" altLang="en-US" sz="2400" dirty="0">
                  <a:solidFill>
                    <a:schemeClr val="accent5">
                      <a:lumMod val="50000"/>
                    </a:schemeClr>
                  </a:solidFill>
                  <a:latin typeface="Times New Roman" panose="02020603050405020304" pitchFamily="18" charset="0"/>
                  <a:cs typeface="Times New Roman" panose="02020603050405020304" pitchFamily="18" charset="0"/>
                </a:rPr>
                <a:t>大的突出物</a:t>
              </a:r>
              <a:r>
                <a:rPr lang="zh-CN" altLang="en-US" sz="2400" dirty="0" smtClean="0">
                  <a:solidFill>
                    <a:schemeClr val="accent5">
                      <a:lumMod val="50000"/>
                    </a:schemeClr>
                  </a:solidFill>
                  <a:latin typeface="Times New Roman" panose="02020603050405020304" pitchFamily="18" charset="0"/>
                  <a:cs typeface="Times New Roman" panose="02020603050405020304" pitchFamily="18" charset="0"/>
                </a:rPr>
                <a:t>，考虑</a:t>
              </a:r>
              <a:r>
                <a:rPr lang="zh-CN" altLang="en-US" sz="2400" dirty="0">
                  <a:solidFill>
                    <a:schemeClr val="accent5">
                      <a:lumMod val="50000"/>
                    </a:schemeClr>
                  </a:solidFill>
                  <a:latin typeface="Times New Roman" panose="02020603050405020304" pitchFamily="18" charset="0"/>
                  <a:cs typeface="Times New Roman" panose="02020603050405020304" pitchFamily="18" charset="0"/>
                </a:rPr>
                <a:t>来自原始</a:t>
              </a:r>
              <a:r>
                <a:rPr lang="zh-CN" altLang="en-US" sz="2400" dirty="0" smtClean="0">
                  <a:solidFill>
                    <a:schemeClr val="accent5">
                      <a:lumMod val="50000"/>
                    </a:schemeClr>
                  </a:solidFill>
                  <a:latin typeface="Times New Roman" panose="02020603050405020304" pitchFamily="18" charset="0"/>
                  <a:cs typeface="Times New Roman" panose="02020603050405020304" pitchFamily="18" charset="0"/>
                </a:rPr>
                <a:t>图像低频率</a:t>
              </a:r>
              <a:r>
                <a:rPr lang="zh-CN" altLang="en-US" sz="2400" dirty="0">
                  <a:solidFill>
                    <a:schemeClr val="accent5">
                      <a:lumMod val="50000"/>
                    </a:schemeClr>
                  </a:solidFill>
                  <a:latin typeface="Times New Roman" panose="02020603050405020304" pitchFamily="18" charset="0"/>
                  <a:cs typeface="Times New Roman" panose="02020603050405020304" pitchFamily="18" charset="0"/>
                </a:rPr>
                <a:t>，</a:t>
              </a:r>
              <a:r>
                <a:rPr lang="zh-CN" altLang="en-US" sz="2400" dirty="0" smtClean="0">
                  <a:solidFill>
                    <a:schemeClr val="accent5">
                      <a:lumMod val="50000"/>
                    </a:schemeClr>
                  </a:solidFill>
                  <a:latin typeface="Times New Roman" panose="02020603050405020304" pitchFamily="18" charset="0"/>
                  <a:cs typeface="Times New Roman" panose="02020603050405020304" pitchFamily="18" charset="0"/>
                </a:rPr>
                <a:t>即</a:t>
              </a:r>
              <a:r>
                <a:rPr lang="en-US" altLang="zh-CN" sz="2400" dirty="0" smtClean="0">
                  <a:solidFill>
                    <a:schemeClr val="accent5">
                      <a:lumMod val="50000"/>
                    </a:schemeClr>
                  </a:solidFill>
                  <a:latin typeface="Times New Roman" panose="02020603050405020304" pitchFamily="18" charset="0"/>
                  <a:cs typeface="Times New Roman" panose="02020603050405020304" pitchFamily="18" charset="0"/>
                </a:rPr>
                <a:t>   </a:t>
              </a:r>
              <a:r>
                <a:rPr lang="zh-CN" altLang="en-US" sz="2400" dirty="0" smtClean="0">
                  <a:solidFill>
                    <a:schemeClr val="accent5">
                      <a:lumMod val="50000"/>
                    </a:schemeClr>
                  </a:solidFill>
                  <a:latin typeface="Times New Roman" panose="02020603050405020304" pitchFamily="18" charset="0"/>
                  <a:cs typeface="Times New Roman" panose="02020603050405020304" pitchFamily="18" charset="0"/>
                </a:rPr>
                <a:t>   必须</a:t>
              </a:r>
              <a:r>
                <a:rPr lang="zh-CN" altLang="en-US" sz="2400" dirty="0">
                  <a:solidFill>
                    <a:schemeClr val="accent5">
                      <a:lumMod val="50000"/>
                    </a:schemeClr>
                  </a:solidFill>
                  <a:latin typeface="Times New Roman" panose="02020603050405020304" pitchFamily="18" charset="0"/>
                  <a:cs typeface="Times New Roman" panose="02020603050405020304" pitchFamily="18" charset="0"/>
                </a:rPr>
                <a:t>是低的</a:t>
              </a:r>
              <a:r>
                <a:rPr lang="en-US" altLang="zh-CN" sz="2400" dirty="0">
                  <a:solidFill>
                    <a:schemeClr val="accent5">
                      <a:lumMod val="50000"/>
                    </a:schemeClr>
                  </a:solidFill>
                  <a:latin typeface="Times New Roman" panose="02020603050405020304" pitchFamily="18" charset="0"/>
                  <a:cs typeface="Times New Roman" panose="02020603050405020304" pitchFamily="18" charset="0"/>
                </a:rPr>
                <a:t>(</a:t>
              </a:r>
              <a:r>
                <a:rPr lang="zh-CN" altLang="en-US" sz="2400" dirty="0">
                  <a:solidFill>
                    <a:schemeClr val="accent5">
                      <a:lumMod val="50000"/>
                    </a:schemeClr>
                  </a:solidFill>
                  <a:latin typeface="Times New Roman" panose="02020603050405020304" pitchFamily="18" charset="0"/>
                  <a:cs typeface="Times New Roman" panose="02020603050405020304" pitchFamily="18" charset="0"/>
                </a:rPr>
                <a:t>第一个标准</a:t>
              </a:r>
              <a:r>
                <a:rPr lang="en-US" altLang="zh-CN" sz="2400" dirty="0">
                  <a:solidFill>
                    <a:schemeClr val="accent5">
                      <a:lumMod val="50000"/>
                    </a:schemeClr>
                  </a:solidFill>
                  <a:latin typeface="Times New Roman" panose="02020603050405020304" pitchFamily="18" charset="0"/>
                  <a:cs typeface="Times New Roman" panose="02020603050405020304" pitchFamily="18" charset="0"/>
                </a:rPr>
                <a:t>)</a:t>
              </a:r>
              <a:r>
                <a:rPr lang="zh-CN" altLang="en-US" sz="2400" dirty="0" smtClean="0">
                  <a:solidFill>
                    <a:schemeClr val="accent5">
                      <a:lumMod val="50000"/>
                    </a:schemeClr>
                  </a:solidFill>
                  <a:latin typeface="Times New Roman" panose="02020603050405020304" pitchFamily="18" charset="0"/>
                  <a:cs typeface="Times New Roman" panose="02020603050405020304" pitchFamily="18" charset="0"/>
                </a:rPr>
                <a:t>。</a:t>
              </a:r>
              <a:endParaRPr lang="en-US" altLang="zh-CN" sz="2400" dirty="0" smtClean="0">
                <a:solidFill>
                  <a:schemeClr val="accent5">
                    <a:lumMod val="50000"/>
                  </a:schemeClr>
                </a:solidFill>
                <a:latin typeface="Times New Roman" panose="02020603050405020304" pitchFamily="18" charset="0"/>
                <a:cs typeface="Times New Roman" panose="02020603050405020304" pitchFamily="18" charset="0"/>
              </a:endParaRPr>
            </a:p>
            <a:p>
              <a:pPr>
                <a:lnSpc>
                  <a:spcPct val="130000"/>
                </a:lnSpc>
              </a:pPr>
              <a:r>
                <a:rPr lang="en-US" altLang="zh-CN" sz="2400" dirty="0" smtClean="0">
                  <a:solidFill>
                    <a:srgbClr val="7030A0"/>
                  </a:solidFill>
                  <a:latin typeface="Times New Roman" panose="02020603050405020304" pitchFamily="18" charset="0"/>
                  <a:cs typeface="Times New Roman" panose="02020603050405020304" pitchFamily="18" charset="0"/>
                </a:rPr>
                <a:t>2 </a:t>
              </a:r>
              <a:r>
                <a:rPr lang="zh-CN" altLang="en-US" sz="2400" dirty="0" smtClean="0">
                  <a:solidFill>
                    <a:srgbClr val="7030A0"/>
                  </a:solidFill>
                  <a:latin typeface="Times New Roman" panose="02020603050405020304" pitchFamily="18" charset="0"/>
                  <a:cs typeface="Times New Roman" panose="02020603050405020304" pitchFamily="18" charset="0"/>
                </a:rPr>
                <a:t>为有</a:t>
              </a:r>
              <a:r>
                <a:rPr lang="zh-CN" altLang="en-US" sz="2400" dirty="0">
                  <a:solidFill>
                    <a:srgbClr val="7030A0"/>
                  </a:solidFill>
                  <a:latin typeface="Times New Roman" panose="02020603050405020304" pitchFamily="18" charset="0"/>
                  <a:cs typeface="Times New Roman" panose="02020603050405020304" pitchFamily="18" charset="0"/>
                </a:rPr>
                <a:t>明确的边界</a:t>
              </a:r>
              <a:r>
                <a:rPr lang="zh-CN" altLang="en-US" sz="2400" dirty="0" smtClean="0">
                  <a:solidFill>
                    <a:srgbClr val="7030A0"/>
                  </a:solidFill>
                  <a:latin typeface="Times New Roman" panose="02020603050405020304" pitchFamily="18" charset="0"/>
                  <a:cs typeface="Times New Roman" panose="02020603050405020304" pitchFamily="18" charset="0"/>
                </a:rPr>
                <a:t>，需要</a:t>
              </a:r>
              <a:r>
                <a:rPr lang="zh-CN" altLang="en-US" sz="2400" dirty="0">
                  <a:solidFill>
                    <a:srgbClr val="7030A0"/>
                  </a:solidFill>
                  <a:latin typeface="Times New Roman" panose="02020603050405020304" pitchFamily="18" charset="0"/>
                  <a:cs typeface="Times New Roman" panose="02020603050405020304" pitchFamily="18" charset="0"/>
                </a:rPr>
                <a:t>保留原始图像的高频率，</a:t>
              </a:r>
              <a:r>
                <a:rPr lang="zh-CN" altLang="en-US" sz="2400" dirty="0" smtClean="0">
                  <a:solidFill>
                    <a:srgbClr val="7030A0"/>
                  </a:solidFill>
                  <a:latin typeface="Times New Roman" panose="02020603050405020304" pitchFamily="18" charset="0"/>
                  <a:cs typeface="Times New Roman" panose="02020603050405020304" pitchFamily="18" charset="0"/>
                </a:rPr>
                <a:t>即   </a:t>
              </a:r>
              <a:r>
                <a:rPr lang="en-US" altLang="zh-CN" sz="2400" dirty="0" smtClean="0">
                  <a:solidFill>
                    <a:srgbClr val="7030A0"/>
                  </a:solidFill>
                  <a:latin typeface="Times New Roman" panose="02020603050405020304" pitchFamily="18" charset="0"/>
                  <a:cs typeface="Times New Roman" panose="02020603050405020304" pitchFamily="18" charset="0"/>
                </a:rPr>
                <a:t>    </a:t>
              </a:r>
              <a:r>
                <a:rPr lang="zh-CN" altLang="en-US" sz="2400" dirty="0" smtClean="0">
                  <a:solidFill>
                    <a:srgbClr val="7030A0"/>
                  </a:solidFill>
                  <a:latin typeface="Times New Roman" panose="02020603050405020304" pitchFamily="18" charset="0"/>
                  <a:cs typeface="Times New Roman" panose="02020603050405020304" pitchFamily="18" charset="0"/>
                </a:rPr>
                <a:t> 必须</a:t>
              </a:r>
              <a:r>
                <a:rPr lang="zh-CN" altLang="en-US" sz="2400" dirty="0">
                  <a:solidFill>
                    <a:srgbClr val="7030A0"/>
                  </a:solidFill>
                  <a:latin typeface="Times New Roman" panose="02020603050405020304" pitchFamily="18" charset="0"/>
                  <a:cs typeface="Times New Roman" panose="02020603050405020304" pitchFamily="18" charset="0"/>
                </a:rPr>
                <a:t>是高的</a:t>
              </a:r>
              <a:r>
                <a:rPr lang="en-US" altLang="zh-CN" sz="2400" dirty="0">
                  <a:solidFill>
                    <a:srgbClr val="7030A0"/>
                  </a:solidFill>
                  <a:latin typeface="Times New Roman" panose="02020603050405020304" pitchFamily="18" charset="0"/>
                  <a:cs typeface="Times New Roman" panose="02020603050405020304" pitchFamily="18" charset="0"/>
                </a:rPr>
                <a:t>(</a:t>
              </a:r>
              <a:r>
                <a:rPr lang="zh-CN" altLang="en-US" sz="2400" dirty="0">
                  <a:solidFill>
                    <a:srgbClr val="7030A0"/>
                  </a:solidFill>
                  <a:latin typeface="Times New Roman" panose="02020603050405020304" pitchFamily="18" charset="0"/>
                  <a:cs typeface="Times New Roman" panose="02020603050405020304" pitchFamily="18" charset="0"/>
                </a:rPr>
                <a:t>第二个标准</a:t>
              </a:r>
              <a:r>
                <a:rPr lang="en-US" altLang="zh-CN" sz="2400" dirty="0">
                  <a:solidFill>
                    <a:srgbClr val="7030A0"/>
                  </a:solidFill>
                  <a:latin typeface="Times New Roman" panose="02020603050405020304" pitchFamily="18" charset="0"/>
                  <a:cs typeface="Times New Roman" panose="02020603050405020304" pitchFamily="18" charset="0"/>
                </a:rPr>
                <a:t>)</a:t>
              </a:r>
              <a:r>
                <a:rPr lang="zh-CN" altLang="en-US" sz="2400" dirty="0" smtClean="0">
                  <a:solidFill>
                    <a:srgbClr val="7030A0"/>
                  </a:solidFill>
                  <a:latin typeface="Times New Roman" panose="02020603050405020304" pitchFamily="18" charset="0"/>
                  <a:cs typeface="Times New Roman" panose="02020603050405020304" pitchFamily="18" charset="0"/>
                </a:rPr>
                <a:t>。</a:t>
              </a:r>
              <a:endParaRPr lang="en-US" altLang="zh-CN" sz="2400" dirty="0" smtClean="0">
                <a:solidFill>
                  <a:srgbClr val="7030A0"/>
                </a:solidFill>
                <a:latin typeface="Times New Roman" panose="02020603050405020304" pitchFamily="18" charset="0"/>
                <a:cs typeface="Times New Roman" panose="02020603050405020304" pitchFamily="18" charset="0"/>
              </a:endParaRPr>
            </a:p>
            <a:p>
              <a:pPr>
                <a:lnSpc>
                  <a:spcPct val="130000"/>
                </a:lnSpc>
              </a:pPr>
              <a:r>
                <a:rPr lang="en-US" altLang="zh-CN" sz="2400" dirty="0" smtClean="0">
                  <a:solidFill>
                    <a:schemeClr val="accent4">
                      <a:lumMod val="50000"/>
                    </a:schemeClr>
                  </a:solidFill>
                  <a:latin typeface="Times New Roman" panose="02020603050405020304" pitchFamily="18" charset="0"/>
                  <a:cs typeface="Times New Roman" panose="02020603050405020304" pitchFamily="18" charset="0"/>
                </a:rPr>
                <a:t>3 </a:t>
              </a:r>
              <a:r>
                <a:rPr lang="zh-CN" altLang="en-US" sz="2400" dirty="0" smtClean="0">
                  <a:solidFill>
                    <a:schemeClr val="accent4">
                      <a:lumMod val="50000"/>
                    </a:schemeClr>
                  </a:solidFill>
                  <a:latin typeface="Times New Roman" panose="02020603050405020304" pitchFamily="18" charset="0"/>
                  <a:cs typeface="Times New Roman" panose="02020603050405020304" pitchFamily="18" charset="0"/>
                </a:rPr>
                <a:t>为了</a:t>
              </a:r>
              <a:r>
                <a:rPr lang="zh-CN" altLang="en-US" sz="2400" dirty="0">
                  <a:solidFill>
                    <a:schemeClr val="accent4">
                      <a:lumMod val="50000"/>
                    </a:schemeClr>
                  </a:solidFill>
                  <a:latin typeface="Times New Roman" panose="02020603050405020304" pitchFamily="18" charset="0"/>
                  <a:cs typeface="Times New Roman" panose="02020603050405020304" pitchFamily="18" charset="0"/>
                </a:rPr>
                <a:t>避免噪声、编码伪影和纹理模式，</a:t>
              </a:r>
              <a:r>
                <a:rPr lang="zh-CN" altLang="en-US" sz="2400" dirty="0" smtClean="0">
                  <a:solidFill>
                    <a:schemeClr val="accent4">
                      <a:lumMod val="50000"/>
                    </a:schemeClr>
                  </a:solidFill>
                  <a:latin typeface="Times New Roman" panose="02020603050405020304" pitchFamily="18" charset="0"/>
                  <a:cs typeface="Times New Roman" panose="02020603050405020304" pitchFamily="18" charset="0"/>
                </a:rPr>
                <a:t>需忽略</a:t>
              </a:r>
              <a:r>
                <a:rPr lang="zh-CN" altLang="en-US" sz="2400" dirty="0">
                  <a:solidFill>
                    <a:schemeClr val="accent4">
                      <a:lumMod val="50000"/>
                    </a:schemeClr>
                  </a:solidFill>
                  <a:latin typeface="Times New Roman" panose="02020603050405020304" pitchFamily="18" charset="0"/>
                  <a:cs typeface="Times New Roman" panose="02020603050405020304" pitchFamily="18" charset="0"/>
                </a:rPr>
                <a:t>最高频率</a:t>
              </a:r>
              <a:r>
                <a:rPr lang="en-US" altLang="zh-CN" sz="2400" dirty="0">
                  <a:solidFill>
                    <a:schemeClr val="accent4">
                      <a:lumMod val="50000"/>
                    </a:schemeClr>
                  </a:solidFill>
                  <a:latin typeface="Times New Roman" panose="02020603050405020304" pitchFamily="18" charset="0"/>
                  <a:cs typeface="Times New Roman" panose="02020603050405020304" pitchFamily="18" charset="0"/>
                </a:rPr>
                <a:t>(</a:t>
              </a:r>
              <a:r>
                <a:rPr lang="zh-CN" altLang="en-US" sz="2400" dirty="0" smtClean="0">
                  <a:solidFill>
                    <a:schemeClr val="accent4">
                      <a:lumMod val="50000"/>
                    </a:schemeClr>
                  </a:solidFill>
                  <a:latin typeface="Times New Roman" panose="02020603050405020304" pitchFamily="18" charset="0"/>
                  <a:cs typeface="Times New Roman" panose="02020603050405020304" pitchFamily="18" charset="0"/>
                </a:rPr>
                <a:t>第三个</a:t>
              </a:r>
              <a:r>
                <a:rPr lang="zh-CN" altLang="en-US" sz="2400" dirty="0">
                  <a:solidFill>
                    <a:schemeClr val="accent4">
                      <a:lumMod val="50000"/>
                    </a:schemeClr>
                  </a:solidFill>
                  <a:latin typeface="Times New Roman" panose="02020603050405020304" pitchFamily="18" charset="0"/>
                  <a:cs typeface="Times New Roman" panose="02020603050405020304" pitchFamily="18" charset="0"/>
                </a:rPr>
                <a:t>标准</a:t>
              </a:r>
              <a:r>
                <a:rPr lang="en-US" altLang="zh-CN" sz="2400" dirty="0">
                  <a:solidFill>
                    <a:schemeClr val="accent4">
                      <a:lumMod val="50000"/>
                    </a:schemeClr>
                  </a:solidFill>
                  <a:latin typeface="Times New Roman" panose="02020603050405020304" pitchFamily="18" charset="0"/>
                  <a:cs typeface="Times New Roman" panose="02020603050405020304" pitchFamily="18" charset="0"/>
                </a:rPr>
                <a:t>)</a:t>
              </a:r>
              <a:r>
                <a:rPr lang="zh-CN" altLang="en-US" sz="2400" dirty="0" smtClean="0">
                  <a:solidFill>
                    <a:schemeClr val="accent4">
                      <a:lumMod val="50000"/>
                    </a:schemeClr>
                  </a:solidFill>
                  <a:latin typeface="Times New Roman" panose="02020603050405020304" pitchFamily="18" charset="0"/>
                  <a:cs typeface="Times New Roman" panose="02020603050405020304" pitchFamily="18" charset="0"/>
                </a:rPr>
                <a:t>。</a:t>
              </a:r>
              <a:endParaRPr lang="en-US" altLang="zh-CN" sz="2400" dirty="0" smtClean="0">
                <a:solidFill>
                  <a:schemeClr val="accent4">
                    <a:lumMod val="50000"/>
                  </a:schemeClr>
                </a:solidFill>
                <a:latin typeface="Times New Roman" panose="02020603050405020304" pitchFamily="18" charset="0"/>
                <a:cs typeface="Times New Roman" panose="02020603050405020304" pitchFamily="18" charset="0"/>
              </a:endParaRPr>
            </a:p>
            <a:p>
              <a:pPr>
                <a:lnSpc>
                  <a:spcPct val="130000"/>
                </a:lnSpc>
              </a:pPr>
              <a:r>
                <a:rPr lang="en-US" altLang="zh-CN" sz="2400" dirty="0" smtClean="0">
                  <a:solidFill>
                    <a:schemeClr val="accent6">
                      <a:lumMod val="50000"/>
                    </a:schemeClr>
                  </a:solidFill>
                  <a:latin typeface="Times New Roman" panose="02020603050405020304" pitchFamily="18" charset="0"/>
                  <a:cs typeface="Times New Roman" panose="02020603050405020304" pitchFamily="18" charset="0"/>
                </a:rPr>
                <a:t>4 </a:t>
              </a:r>
              <a:r>
                <a:rPr lang="zh-CN" altLang="en-US" sz="2400" dirty="0" smtClean="0">
                  <a:solidFill>
                    <a:schemeClr val="accent6">
                      <a:lumMod val="50000"/>
                    </a:schemeClr>
                  </a:solidFill>
                  <a:latin typeface="Times New Roman" panose="02020603050405020304" pitchFamily="18" charset="0"/>
                  <a:cs typeface="Times New Roman" panose="02020603050405020304" pitchFamily="18" charset="0"/>
                </a:rPr>
                <a:t>由于对</a:t>
              </a:r>
              <a:r>
                <a:rPr lang="zh-CN" altLang="en-US" sz="2400" dirty="0">
                  <a:solidFill>
                    <a:schemeClr val="accent6">
                      <a:lumMod val="50000"/>
                    </a:schemeClr>
                  </a:solidFill>
                  <a:latin typeface="Times New Roman" panose="02020603050405020304" pitchFamily="18" charset="0"/>
                  <a:cs typeface="Times New Roman" panose="02020603050405020304" pitchFamily="18" charset="0"/>
                </a:rPr>
                <a:t>包含广泛频率范围的显著性映射感兴趣，</a:t>
              </a:r>
              <a:r>
                <a:rPr lang="zh-CN" altLang="en-US" sz="2400" dirty="0" smtClean="0">
                  <a:solidFill>
                    <a:schemeClr val="accent6">
                      <a:lumMod val="50000"/>
                    </a:schemeClr>
                  </a:solidFill>
                  <a:latin typeface="Times New Roman" panose="02020603050405020304" pitchFamily="18" charset="0"/>
                  <a:cs typeface="Times New Roman" panose="02020603050405020304" pitchFamily="18" charset="0"/>
                </a:rPr>
                <a:t>因此需要一个通频带         。  </a:t>
              </a:r>
              <a:endParaRPr lang="zh-CN" altLang="en-US" sz="2400" dirty="0">
                <a:solidFill>
                  <a:schemeClr val="accent6">
                    <a:lumMod val="50000"/>
                  </a:schemeClr>
                </a:solidFill>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4"/>
            <a:stretch>
              <a:fillRect/>
            </a:stretch>
          </p:blipFill>
          <p:spPr>
            <a:xfrm>
              <a:off x="6057167" y="2060061"/>
              <a:ext cx="390525" cy="295275"/>
            </a:xfrm>
            <a:prstGeom prst="rect">
              <a:avLst/>
            </a:prstGeom>
          </p:spPr>
        </p:pic>
        <p:pic>
          <p:nvPicPr>
            <p:cNvPr id="7" name="图片 6"/>
            <p:cNvPicPr>
              <a:picLocks noChangeAspect="1"/>
            </p:cNvPicPr>
            <p:nvPr/>
          </p:nvPicPr>
          <p:blipFill>
            <a:blip r:embed="rId5"/>
            <a:stretch>
              <a:fillRect/>
            </a:stretch>
          </p:blipFill>
          <p:spPr>
            <a:xfrm>
              <a:off x="8463223" y="2050536"/>
              <a:ext cx="514350" cy="304800"/>
            </a:xfrm>
            <a:prstGeom prst="rect">
              <a:avLst/>
            </a:prstGeom>
          </p:spPr>
        </p:pic>
        <p:pic>
          <p:nvPicPr>
            <p:cNvPr id="9" name="图片 8"/>
            <p:cNvPicPr>
              <a:picLocks noChangeAspect="1"/>
            </p:cNvPicPr>
            <p:nvPr/>
          </p:nvPicPr>
          <p:blipFill>
            <a:blip r:embed="rId4"/>
            <a:stretch>
              <a:fillRect/>
            </a:stretch>
          </p:blipFill>
          <p:spPr>
            <a:xfrm>
              <a:off x="6648259" y="3027271"/>
              <a:ext cx="390525" cy="295275"/>
            </a:xfrm>
            <a:prstGeom prst="rect">
              <a:avLst/>
            </a:prstGeom>
          </p:spPr>
        </p:pic>
        <p:pic>
          <p:nvPicPr>
            <p:cNvPr id="10" name="图片 9"/>
            <p:cNvPicPr>
              <a:picLocks noChangeAspect="1"/>
            </p:cNvPicPr>
            <p:nvPr/>
          </p:nvPicPr>
          <p:blipFill>
            <a:blip r:embed="rId5"/>
            <a:stretch>
              <a:fillRect/>
            </a:stretch>
          </p:blipFill>
          <p:spPr>
            <a:xfrm>
              <a:off x="6648259" y="3994273"/>
              <a:ext cx="514350" cy="304800"/>
            </a:xfrm>
            <a:prstGeom prst="rect">
              <a:avLst/>
            </a:prstGeom>
          </p:spPr>
        </p:pic>
        <p:pic>
          <p:nvPicPr>
            <p:cNvPr id="8" name="图片 7"/>
            <p:cNvPicPr>
              <a:picLocks noChangeAspect="1"/>
            </p:cNvPicPr>
            <p:nvPr/>
          </p:nvPicPr>
          <p:blipFill>
            <a:blip r:embed="rId6"/>
            <a:stretch>
              <a:fillRect/>
            </a:stretch>
          </p:blipFill>
          <p:spPr>
            <a:xfrm>
              <a:off x="9119440" y="5848425"/>
              <a:ext cx="1104900" cy="352425"/>
            </a:xfrm>
            <a:prstGeom prst="rect">
              <a:avLst/>
            </a:prstGeom>
          </p:spPr>
        </p:pic>
      </p:grpSp>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65673"/>
    </mc:Choice>
    <mc:Fallback>
      <p:transition spd="slow" advTm="65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9" y="323995"/>
            <a:ext cx="7420986"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2  </a:t>
            </a:r>
            <a:r>
              <a:rPr lang="zh-CN" altLang="zh-CN" sz="2800" b="1" dirty="0" smtClean="0">
                <a:latin typeface="微软雅黑" panose="020B0503020204020204" pitchFamily="34" charset="-122"/>
                <a:ea typeface="微软雅黑" panose="020B0503020204020204" pitchFamily="34" charset="-122"/>
              </a:rPr>
              <a:t>基于</a:t>
            </a:r>
            <a:r>
              <a:rPr lang="zh-CN" altLang="en-US" sz="2800" b="1" dirty="0">
                <a:latin typeface="微软雅黑" panose="020B0503020204020204" pitchFamily="34" charset="-122"/>
                <a:ea typeface="微软雅黑" panose="020B0503020204020204" pitchFamily="34" charset="-122"/>
              </a:rPr>
              <a:t>频率调谐</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lang="zh-CN" altLang="en-US" sz="2800" b="1" dirty="0">
              <a:effectLst>
                <a:innerShdw blurRad="63500" dist="50800" dir="13500000">
                  <a:prstClr val="black">
                    <a:alpha val="50000"/>
                  </a:prstClr>
                </a:innerShdw>
              </a:effectLst>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sp>
        <p:nvSpPr>
          <p:cNvPr id="2" name="矩形 1"/>
          <p:cNvSpPr/>
          <p:nvPr/>
        </p:nvSpPr>
        <p:spPr>
          <a:xfrm>
            <a:off x="1271815" y="1387044"/>
            <a:ext cx="4970585" cy="461665"/>
          </a:xfrm>
          <a:prstGeom prst="rect">
            <a:avLst/>
          </a:prstGeom>
        </p:spPr>
        <p:txBody>
          <a:bodyPr wrap="square">
            <a:spAutoFit/>
          </a:bodyPr>
          <a:lstStyle/>
          <a:p>
            <a:r>
              <a:rPr lang="zh-CN" altLang="en-US" sz="2400" b="1" dirty="0">
                <a:solidFill>
                  <a:srgbClr val="FF0000"/>
                </a:solidFill>
              </a:rPr>
              <a:t>结合 </a:t>
            </a:r>
            <a:r>
              <a:rPr lang="en-US" altLang="zh-CN" sz="2400" b="1" dirty="0" err="1">
                <a:solidFill>
                  <a:srgbClr val="FF0000"/>
                </a:solidFill>
              </a:rPr>
              <a:t>DoG</a:t>
            </a:r>
            <a:r>
              <a:rPr lang="zh-CN" altLang="en-US" sz="2400" b="1" dirty="0" smtClean="0">
                <a:solidFill>
                  <a:srgbClr val="FF0000"/>
                </a:solidFill>
              </a:rPr>
              <a:t>带通滤波器</a:t>
            </a:r>
            <a:endParaRPr lang="zh-CN" altLang="en-US" sz="2400" b="1" dirty="0">
              <a:solidFill>
                <a:srgbClr val="FF0000"/>
              </a:solidFill>
            </a:endParaRPr>
          </a:p>
        </p:txBody>
      </p:sp>
      <p:pic>
        <p:nvPicPr>
          <p:cNvPr id="13" name="图片 12"/>
          <p:cNvPicPr>
            <a:picLocks noChangeAspect="1"/>
          </p:cNvPicPr>
          <p:nvPr/>
        </p:nvPicPr>
        <p:blipFill>
          <a:blip r:embed="rId4"/>
          <a:stretch>
            <a:fillRect/>
          </a:stretch>
        </p:blipFill>
        <p:spPr>
          <a:xfrm>
            <a:off x="2149720" y="1992923"/>
            <a:ext cx="5622680" cy="1430046"/>
          </a:xfrm>
          <a:prstGeom prst="rect">
            <a:avLst/>
          </a:prstGeom>
        </p:spPr>
      </p:pic>
      <p:sp>
        <p:nvSpPr>
          <p:cNvPr id="14" name="矩形 13"/>
          <p:cNvSpPr/>
          <p:nvPr/>
        </p:nvSpPr>
        <p:spPr>
          <a:xfrm>
            <a:off x="1386253" y="3584683"/>
            <a:ext cx="9382151" cy="2306955"/>
          </a:xfrm>
          <a:prstGeom prst="rect">
            <a:avLst/>
          </a:prstGeom>
        </p:spPr>
        <p:txBody>
          <a:bodyPr wrap="square">
            <a:spAutoFit/>
          </a:bodyPr>
          <a:lstStyle/>
          <a:p>
            <a:pPr>
              <a:lnSpc>
                <a:spcPct val="150000"/>
              </a:lnSpc>
            </a:pPr>
            <a:r>
              <a:rPr lang="en-US" altLang="zh-CN" sz="2400" dirty="0" err="1" smtClean="0">
                <a:solidFill>
                  <a:srgbClr val="121212"/>
                </a:solidFill>
                <a:latin typeface="Times New Roman" panose="02020603050405020304" pitchFamily="18" charset="0"/>
                <a:cs typeface="Times New Roman" panose="02020603050405020304" pitchFamily="18" charset="0"/>
              </a:rPr>
              <a:t>DoG</a:t>
            </a:r>
            <a:r>
              <a:rPr lang="zh-CN" altLang="en-US" sz="2400" dirty="0" smtClean="0">
                <a:solidFill>
                  <a:srgbClr val="121212"/>
                </a:solidFill>
                <a:latin typeface="Times New Roman" panose="02020603050405020304" pitchFamily="18" charset="0"/>
                <a:cs typeface="Times New Roman" panose="02020603050405020304" pitchFamily="18" charset="0"/>
              </a:rPr>
              <a:t>全称</a:t>
            </a:r>
            <a:r>
              <a:rPr lang="en-US" altLang="zh-CN" sz="2400" dirty="0" smtClean="0">
                <a:solidFill>
                  <a:srgbClr val="121212"/>
                </a:solidFill>
                <a:latin typeface="Times New Roman" panose="02020603050405020304" pitchFamily="18" charset="0"/>
                <a:cs typeface="Times New Roman" panose="02020603050405020304" pitchFamily="18" charset="0"/>
              </a:rPr>
              <a:t>Difference </a:t>
            </a:r>
            <a:r>
              <a:rPr lang="en-US" altLang="zh-CN" sz="2400" dirty="0">
                <a:solidFill>
                  <a:srgbClr val="121212"/>
                </a:solidFill>
                <a:latin typeface="Times New Roman" panose="02020603050405020304" pitchFamily="18" charset="0"/>
                <a:cs typeface="Times New Roman" panose="02020603050405020304" pitchFamily="18" charset="0"/>
              </a:rPr>
              <a:t>of Gaussian</a:t>
            </a:r>
            <a:r>
              <a:rPr lang="zh-CN" altLang="en-US" sz="2400" dirty="0" smtClean="0">
                <a:solidFill>
                  <a:srgbClr val="121212"/>
                </a:solidFill>
                <a:latin typeface="Times New Roman" panose="02020603050405020304" pitchFamily="18" charset="0"/>
                <a:cs typeface="Times New Roman" panose="02020603050405020304" pitchFamily="18" charset="0"/>
              </a:rPr>
              <a:t>，两</a:t>
            </a:r>
            <a:r>
              <a:rPr lang="zh-CN" altLang="en-US" sz="2400" dirty="0">
                <a:solidFill>
                  <a:srgbClr val="121212"/>
                </a:solidFill>
                <a:latin typeface="Times New Roman" panose="02020603050405020304" pitchFamily="18" charset="0"/>
                <a:cs typeface="Times New Roman" panose="02020603050405020304" pitchFamily="18" charset="0"/>
              </a:rPr>
              <a:t>个</a:t>
            </a:r>
            <a:r>
              <a:rPr lang="en-US" altLang="zh-CN" sz="2400" dirty="0">
                <a:solidFill>
                  <a:srgbClr val="121212"/>
                </a:solidFill>
                <a:latin typeface="Times New Roman" panose="02020603050405020304" pitchFamily="18" charset="0"/>
                <a:cs typeface="Times New Roman" panose="02020603050405020304" pitchFamily="18" charset="0"/>
              </a:rPr>
              <a:t>Gauss</a:t>
            </a:r>
            <a:r>
              <a:rPr lang="zh-CN" altLang="en-US" sz="2400" dirty="0">
                <a:solidFill>
                  <a:srgbClr val="121212"/>
                </a:solidFill>
                <a:latin typeface="Times New Roman" panose="02020603050405020304" pitchFamily="18" charset="0"/>
                <a:cs typeface="Times New Roman" panose="02020603050405020304" pitchFamily="18" charset="0"/>
              </a:rPr>
              <a:t>做减法，本质上是一个带通滤波器，它的作用是把特别高频的分量给剔除</a:t>
            </a:r>
            <a:r>
              <a:rPr lang="zh-CN" altLang="en-US" sz="2400" dirty="0">
                <a:solidFill>
                  <a:srgbClr val="121212"/>
                </a:solidFill>
                <a:latin typeface="-apple-system"/>
              </a:rPr>
              <a:t>，保留中频部分，当然也具备降噪性能，由于高斯核是可调节大小的，所以通过调整高斯核就可以调整边缘提取的频段。</a:t>
            </a:r>
            <a:endParaRPr lang="zh-CN" altLang="en-US" sz="2400" dirty="0"/>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65673"/>
    </mc:Choice>
    <mc:Fallback>
      <p:transition spd="slow" advTm="65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9" y="323995"/>
            <a:ext cx="6462624"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2 </a:t>
            </a:r>
            <a:r>
              <a:rPr lang="zh-CN" altLang="zh-CN" sz="2800" b="1" dirty="0" smtClean="0">
                <a:latin typeface="微软雅黑" panose="020B0503020204020204" pitchFamily="34" charset="-122"/>
                <a:ea typeface="微软雅黑" panose="020B0503020204020204" pitchFamily="34" charset="-122"/>
              </a:rPr>
              <a:t>基于</a:t>
            </a:r>
            <a:r>
              <a:rPr lang="zh-CN" altLang="en-US" sz="2800" b="1" dirty="0">
                <a:latin typeface="微软雅黑" panose="020B0503020204020204" pitchFamily="34" charset="-122"/>
                <a:ea typeface="微软雅黑" panose="020B0503020204020204" pitchFamily="34" charset="-122"/>
              </a:rPr>
              <a:t>频率调谐</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sp>
        <p:nvSpPr>
          <p:cNvPr id="7" name="矩形 6"/>
          <p:cNvSpPr/>
          <p:nvPr/>
        </p:nvSpPr>
        <p:spPr>
          <a:xfrm>
            <a:off x="1511998" y="1127400"/>
            <a:ext cx="6884655" cy="4521835"/>
          </a:xfrm>
          <a:prstGeom prst="rect">
            <a:avLst/>
          </a:prstGeom>
        </p:spPr>
        <p:txBody>
          <a:bodyPr wrap="square">
            <a:spAutoFit/>
          </a:bodyPr>
          <a:lstStyle/>
          <a:p>
            <a:pPr>
              <a:lnSpc>
                <a:spcPct val="120000"/>
              </a:lnSpc>
            </a:pPr>
            <a:r>
              <a:rPr lang="zh-CN" altLang="en-US" sz="2400" dirty="0">
                <a:solidFill>
                  <a:srgbClr val="121212"/>
                </a:solidFill>
                <a:latin typeface="Times New Roman" panose="02020603050405020304" pitchFamily="18" charset="0"/>
                <a:cs typeface="Times New Roman" panose="02020603050405020304" pitchFamily="18" charset="0"/>
              </a:rPr>
              <a:t>算法</a:t>
            </a:r>
            <a:r>
              <a:rPr lang="zh-CN" altLang="en-US" sz="2400" dirty="0" smtClean="0">
                <a:solidFill>
                  <a:srgbClr val="121212"/>
                </a:solidFill>
                <a:latin typeface="Times New Roman" panose="02020603050405020304" pitchFamily="18" charset="0"/>
                <a:cs typeface="Times New Roman" panose="02020603050405020304" pitchFamily="18" charset="0"/>
              </a:rPr>
              <a:t>步骤：</a:t>
            </a:r>
            <a:endParaRPr lang="zh-CN" altLang="en-US" sz="2400" dirty="0">
              <a:solidFill>
                <a:srgbClr val="121212"/>
              </a:solidFill>
              <a:latin typeface="Times New Roman" panose="02020603050405020304" pitchFamily="18" charset="0"/>
              <a:cs typeface="Times New Roman" panose="02020603050405020304" pitchFamily="18" charset="0"/>
            </a:endParaRPr>
          </a:p>
          <a:p>
            <a:pPr>
              <a:lnSpc>
                <a:spcPct val="120000"/>
              </a:lnSpc>
            </a:pPr>
            <a:r>
              <a:rPr lang="en-US" altLang="zh-CN" sz="2400" dirty="0" smtClean="0">
                <a:solidFill>
                  <a:srgbClr val="121212"/>
                </a:solidFill>
                <a:latin typeface="Times New Roman" panose="02020603050405020304" pitchFamily="18" charset="0"/>
                <a:cs typeface="Times New Roman" panose="02020603050405020304" pitchFamily="18" charset="0"/>
                <a:sym typeface="+mn-ea"/>
              </a:rPr>
              <a:t>(</a:t>
            </a:r>
            <a:r>
              <a:rPr lang="en-US" altLang="zh-CN" sz="2400" dirty="0">
                <a:solidFill>
                  <a:srgbClr val="121212"/>
                </a:solidFill>
                <a:latin typeface="Times New Roman" panose="02020603050405020304" pitchFamily="18" charset="0"/>
                <a:cs typeface="Times New Roman" panose="02020603050405020304" pitchFamily="18" charset="0"/>
              </a:rPr>
              <a:t>1</a:t>
            </a:r>
            <a:r>
              <a:rPr lang="en-US" altLang="zh-CN" sz="2400" dirty="0">
                <a:solidFill>
                  <a:srgbClr val="121212"/>
                </a:solidFill>
                <a:latin typeface="Times New Roman" panose="02020603050405020304" pitchFamily="18" charset="0"/>
                <a:cs typeface="Times New Roman" panose="02020603050405020304" pitchFamily="18" charset="0"/>
                <a:sym typeface="+mn-ea"/>
              </a:rPr>
              <a:t>)</a:t>
            </a:r>
            <a:r>
              <a:rPr lang="zh-CN" altLang="en-US" sz="2400" dirty="0">
                <a:solidFill>
                  <a:srgbClr val="121212"/>
                </a:solidFill>
                <a:latin typeface="Times New Roman" panose="02020603050405020304" pitchFamily="18" charset="0"/>
                <a:cs typeface="Times New Roman" panose="02020603050405020304" pitchFamily="18" charset="0"/>
              </a:rPr>
              <a:t>输入图像进行高斯滤波，去除高频信息；</a:t>
            </a:r>
            <a:endParaRPr lang="zh-CN" altLang="en-US" sz="2400" dirty="0">
              <a:solidFill>
                <a:srgbClr val="121212"/>
              </a:solidFill>
              <a:latin typeface="Times New Roman" panose="02020603050405020304" pitchFamily="18" charset="0"/>
              <a:cs typeface="Times New Roman" panose="02020603050405020304" pitchFamily="18" charset="0"/>
            </a:endParaRPr>
          </a:p>
          <a:p>
            <a:pPr>
              <a:lnSpc>
                <a:spcPct val="120000"/>
              </a:lnSpc>
            </a:pPr>
            <a:r>
              <a:rPr lang="en-US" altLang="zh-CN" sz="2400" dirty="0" smtClean="0">
                <a:solidFill>
                  <a:srgbClr val="121212"/>
                </a:solidFill>
                <a:latin typeface="Times New Roman" panose="02020603050405020304" pitchFamily="18" charset="0"/>
                <a:cs typeface="Times New Roman" panose="02020603050405020304" pitchFamily="18" charset="0"/>
                <a:sym typeface="+mn-ea"/>
              </a:rPr>
              <a:t>(</a:t>
            </a:r>
            <a:r>
              <a:rPr lang="en-US" altLang="zh-CN" sz="2400" dirty="0">
                <a:solidFill>
                  <a:srgbClr val="121212"/>
                </a:solidFill>
                <a:latin typeface="Times New Roman" panose="02020603050405020304" pitchFamily="18" charset="0"/>
                <a:cs typeface="Times New Roman" panose="02020603050405020304" pitchFamily="18" charset="0"/>
              </a:rPr>
              <a:t>2</a:t>
            </a:r>
            <a:r>
              <a:rPr lang="en-US" altLang="zh-CN" sz="2400" dirty="0">
                <a:solidFill>
                  <a:srgbClr val="121212"/>
                </a:solidFill>
                <a:latin typeface="Times New Roman" panose="02020603050405020304" pitchFamily="18" charset="0"/>
                <a:cs typeface="Times New Roman" panose="02020603050405020304" pitchFamily="18" charset="0"/>
                <a:sym typeface="+mn-ea"/>
              </a:rPr>
              <a:t>)</a:t>
            </a:r>
            <a:r>
              <a:rPr lang="zh-CN" altLang="en-US" sz="2400" dirty="0">
                <a:solidFill>
                  <a:srgbClr val="121212"/>
                </a:solidFill>
                <a:latin typeface="Times New Roman" panose="02020603050405020304" pitchFamily="18" charset="0"/>
                <a:cs typeface="Times New Roman" panose="02020603050405020304" pitchFamily="18" charset="0"/>
              </a:rPr>
              <a:t>将原图与滤波后的图像从</a:t>
            </a:r>
            <a:r>
              <a:rPr lang="en-US" altLang="zh-CN" sz="2400" dirty="0">
                <a:solidFill>
                  <a:srgbClr val="121212"/>
                </a:solidFill>
                <a:latin typeface="Times New Roman" panose="02020603050405020304" pitchFamily="18" charset="0"/>
                <a:cs typeface="Times New Roman" panose="02020603050405020304" pitchFamily="18" charset="0"/>
              </a:rPr>
              <a:t>RGB</a:t>
            </a:r>
            <a:r>
              <a:rPr lang="zh-CN" altLang="en-US" sz="2400" dirty="0">
                <a:solidFill>
                  <a:srgbClr val="121212"/>
                </a:solidFill>
                <a:latin typeface="Times New Roman" panose="02020603050405020304" pitchFamily="18" charset="0"/>
                <a:cs typeface="Times New Roman" panose="02020603050405020304" pitchFamily="18" charset="0"/>
              </a:rPr>
              <a:t>颜色空间转换到</a:t>
            </a:r>
            <a:r>
              <a:rPr lang="en-US" altLang="zh-CN" sz="2400" dirty="0">
                <a:solidFill>
                  <a:srgbClr val="121212"/>
                </a:solidFill>
                <a:latin typeface="Times New Roman" panose="02020603050405020304" pitchFamily="18" charset="0"/>
                <a:cs typeface="Times New Roman" panose="02020603050405020304" pitchFamily="18" charset="0"/>
              </a:rPr>
              <a:t>Lab</a:t>
            </a:r>
            <a:r>
              <a:rPr lang="zh-CN" altLang="en-US" sz="2400" dirty="0">
                <a:solidFill>
                  <a:srgbClr val="121212"/>
                </a:solidFill>
                <a:latin typeface="Times New Roman" panose="02020603050405020304" pitchFamily="18" charset="0"/>
                <a:cs typeface="Times New Roman" panose="02020603050405020304" pitchFamily="18" charset="0"/>
              </a:rPr>
              <a:t>颜色空间；</a:t>
            </a:r>
            <a:endParaRPr lang="zh-CN" altLang="en-US" sz="2400" dirty="0">
              <a:solidFill>
                <a:srgbClr val="121212"/>
              </a:solidFill>
              <a:latin typeface="Times New Roman" panose="02020603050405020304" pitchFamily="18" charset="0"/>
              <a:cs typeface="Times New Roman" panose="02020603050405020304" pitchFamily="18" charset="0"/>
            </a:endParaRPr>
          </a:p>
          <a:p>
            <a:pPr>
              <a:lnSpc>
                <a:spcPct val="120000"/>
              </a:lnSpc>
            </a:pPr>
            <a:r>
              <a:rPr lang="en-US" altLang="zh-CN" sz="2400" dirty="0" smtClean="0">
                <a:solidFill>
                  <a:srgbClr val="121212"/>
                </a:solidFill>
                <a:latin typeface="Times New Roman" panose="02020603050405020304" pitchFamily="18" charset="0"/>
                <a:cs typeface="Times New Roman" panose="02020603050405020304" pitchFamily="18" charset="0"/>
                <a:sym typeface="+mn-ea"/>
              </a:rPr>
              <a:t>(</a:t>
            </a:r>
            <a:r>
              <a:rPr lang="en-US" altLang="zh-CN" sz="2400" dirty="0">
                <a:solidFill>
                  <a:srgbClr val="121212"/>
                </a:solidFill>
                <a:latin typeface="Times New Roman" panose="02020603050405020304" pitchFamily="18" charset="0"/>
                <a:cs typeface="Times New Roman" panose="02020603050405020304" pitchFamily="18" charset="0"/>
              </a:rPr>
              <a:t>3</a:t>
            </a:r>
            <a:r>
              <a:rPr lang="en-US" altLang="zh-CN" sz="2400" dirty="0">
                <a:solidFill>
                  <a:srgbClr val="121212"/>
                </a:solidFill>
                <a:latin typeface="Times New Roman" panose="02020603050405020304" pitchFamily="18" charset="0"/>
                <a:cs typeface="Times New Roman" panose="02020603050405020304" pitchFamily="18" charset="0"/>
                <a:sym typeface="+mn-ea"/>
              </a:rPr>
              <a:t>)</a:t>
            </a:r>
            <a:r>
              <a:rPr lang="zh-CN" altLang="en-US" sz="2400" dirty="0">
                <a:solidFill>
                  <a:srgbClr val="121212"/>
                </a:solidFill>
                <a:latin typeface="Times New Roman" panose="02020603050405020304" pitchFamily="18" charset="0"/>
                <a:cs typeface="Times New Roman" panose="02020603050405020304" pitchFamily="18" charset="0"/>
              </a:rPr>
              <a:t>在原图上计算</a:t>
            </a:r>
            <a:r>
              <a:rPr lang="en-US" altLang="zh-CN" sz="2400" dirty="0">
                <a:solidFill>
                  <a:srgbClr val="121212"/>
                </a:solidFill>
                <a:latin typeface="Times New Roman" panose="02020603050405020304" pitchFamily="18" charset="0"/>
                <a:cs typeface="Times New Roman" panose="02020603050405020304" pitchFamily="18" charset="0"/>
              </a:rPr>
              <a:t>Lab</a:t>
            </a:r>
            <a:r>
              <a:rPr lang="zh-CN" altLang="en-US" sz="2400" dirty="0">
                <a:solidFill>
                  <a:srgbClr val="121212"/>
                </a:solidFill>
                <a:latin typeface="Times New Roman" panose="02020603050405020304" pitchFamily="18" charset="0"/>
                <a:cs typeface="Times New Roman" panose="02020603050405020304" pitchFamily="18" charset="0"/>
              </a:rPr>
              <a:t>空间颜色向量平均值 </a:t>
            </a:r>
            <a:r>
              <a:rPr lang="zh-CN" altLang="en-US" sz="2400" dirty="0" smtClean="0">
                <a:solidFill>
                  <a:srgbClr val="121212"/>
                </a:solidFill>
                <a:latin typeface="Times New Roman" panose="02020603050405020304" pitchFamily="18" charset="0"/>
                <a:cs typeface="Times New Roman" panose="02020603050405020304" pitchFamily="18" charset="0"/>
              </a:rPr>
              <a:t> </a:t>
            </a:r>
            <a:endParaRPr lang="en-US" altLang="zh-CN" sz="2400" dirty="0" smtClean="0">
              <a:solidFill>
                <a:srgbClr val="121212"/>
              </a:solidFill>
              <a:latin typeface="Times New Roman" panose="02020603050405020304" pitchFamily="18" charset="0"/>
              <a:cs typeface="Times New Roman" panose="02020603050405020304" pitchFamily="18" charset="0"/>
            </a:endParaRPr>
          </a:p>
          <a:p>
            <a:pPr>
              <a:lnSpc>
                <a:spcPct val="120000"/>
              </a:lnSpc>
            </a:pPr>
            <a:r>
              <a:rPr lang="en-US" altLang="zh-CN" sz="2400" dirty="0" smtClean="0">
                <a:solidFill>
                  <a:srgbClr val="121212"/>
                </a:solidFill>
                <a:latin typeface="Times New Roman" panose="02020603050405020304" pitchFamily="18" charset="0"/>
                <a:cs typeface="Times New Roman" panose="02020603050405020304" pitchFamily="18" charset="0"/>
              </a:rPr>
              <a:t> (</a:t>
            </a:r>
            <a:r>
              <a:rPr lang="en-US" altLang="zh-CN" sz="2400" dirty="0">
                <a:solidFill>
                  <a:srgbClr val="121212"/>
                </a:solidFill>
                <a:latin typeface="Times New Roman" panose="02020603050405020304" pitchFamily="18" charset="0"/>
                <a:cs typeface="Times New Roman" panose="02020603050405020304" pitchFamily="18" charset="0"/>
              </a:rPr>
              <a:t>4)</a:t>
            </a:r>
            <a:r>
              <a:rPr lang="zh-CN" altLang="en-US" sz="2400" dirty="0">
                <a:solidFill>
                  <a:srgbClr val="121212"/>
                </a:solidFill>
                <a:latin typeface="Times New Roman" panose="02020603050405020304" pitchFamily="18" charset="0"/>
                <a:cs typeface="Times New Roman" panose="02020603050405020304" pitchFamily="18" charset="0"/>
              </a:rPr>
              <a:t>计算三个通道均值与高斯滤波后图像的欧氏距离之</a:t>
            </a:r>
            <a:r>
              <a:rPr lang="zh-CN" altLang="en-US" sz="2400" dirty="0" smtClean="0">
                <a:solidFill>
                  <a:srgbClr val="121212"/>
                </a:solidFill>
                <a:latin typeface="Times New Roman" panose="02020603050405020304" pitchFamily="18" charset="0"/>
                <a:cs typeface="Times New Roman" panose="02020603050405020304" pitchFamily="18" charset="0"/>
              </a:rPr>
              <a:t>和 </a:t>
            </a:r>
            <a:endParaRPr lang="zh-CN" altLang="en-US" sz="2400" dirty="0">
              <a:solidFill>
                <a:srgbClr val="121212"/>
              </a:solidFill>
              <a:latin typeface="Times New Roman" panose="02020603050405020304" pitchFamily="18" charset="0"/>
              <a:cs typeface="Times New Roman" panose="02020603050405020304" pitchFamily="18" charset="0"/>
            </a:endParaRPr>
          </a:p>
          <a:p>
            <a:pPr>
              <a:lnSpc>
                <a:spcPct val="120000"/>
              </a:lnSpc>
            </a:pPr>
            <a:r>
              <a:rPr lang="zh-CN" altLang="en-US" sz="2400" dirty="0" smtClean="0">
                <a:solidFill>
                  <a:srgbClr val="121212"/>
                </a:solidFill>
                <a:latin typeface="Times New Roman" panose="02020603050405020304" pitchFamily="18" charset="0"/>
                <a:cs typeface="Times New Roman" panose="02020603050405020304" pitchFamily="18" charset="0"/>
              </a:rPr>
              <a:t>    </a:t>
            </a:r>
            <a:r>
              <a:rPr lang="zh-CN" altLang="en-US" sz="2400" dirty="0">
                <a:solidFill>
                  <a:srgbClr val="121212"/>
                </a:solidFill>
                <a:latin typeface="Times New Roman" panose="02020603050405020304" pitchFamily="18" charset="0"/>
                <a:cs typeface="Times New Roman" panose="02020603050405020304" pitchFamily="18" charset="0"/>
              </a:rPr>
              <a:t> </a:t>
            </a:r>
            <a:r>
              <a:rPr lang="en-US" altLang="zh-CN" sz="2400" dirty="0">
                <a:solidFill>
                  <a:srgbClr val="121212"/>
                </a:solidFill>
                <a:latin typeface="Times New Roman" panose="02020603050405020304" pitchFamily="18" charset="0"/>
                <a:cs typeface="Times New Roman" panose="02020603050405020304" pitchFamily="18" charset="0"/>
              </a:rPr>
              <a:t>        </a:t>
            </a:r>
            <a:r>
              <a:rPr lang="zh-CN" altLang="en-US" sz="2400" dirty="0">
                <a:solidFill>
                  <a:srgbClr val="121212"/>
                </a:solidFill>
                <a:latin typeface="Times New Roman" panose="02020603050405020304" pitchFamily="18" charset="0"/>
                <a:cs typeface="Times New Roman" panose="02020603050405020304" pitchFamily="18" charset="0"/>
              </a:rPr>
              <a:t>为图像中某点的显著值</a:t>
            </a:r>
            <a:r>
              <a:rPr lang="zh-CN" altLang="en-US" sz="2400" dirty="0" smtClean="0">
                <a:solidFill>
                  <a:srgbClr val="121212"/>
                </a:solidFill>
                <a:latin typeface="Times New Roman" panose="02020603050405020304" pitchFamily="18" charset="0"/>
                <a:cs typeface="Times New Roman" panose="02020603050405020304" pitchFamily="18" charset="0"/>
              </a:rPr>
              <a:t>，</a:t>
            </a:r>
            <a:r>
              <a:rPr lang="en-US" altLang="zh-CN" sz="2400" dirty="0" smtClean="0">
                <a:solidFill>
                  <a:srgbClr val="121212"/>
                </a:solidFill>
                <a:latin typeface="Times New Roman" panose="02020603050405020304" pitchFamily="18" charset="0"/>
                <a:cs typeface="Times New Roman" panose="02020603050405020304" pitchFamily="18" charset="0"/>
              </a:rPr>
              <a:t>   </a:t>
            </a:r>
            <a:r>
              <a:rPr lang="zh-CN" altLang="en-US" sz="2400" dirty="0" smtClean="0">
                <a:solidFill>
                  <a:srgbClr val="121212"/>
                </a:solidFill>
                <a:latin typeface="Times New Roman" panose="02020603050405020304" pitchFamily="18" charset="0"/>
                <a:cs typeface="Times New Roman" panose="02020603050405020304" pitchFamily="18" charset="0"/>
              </a:rPr>
              <a:t>   为</a:t>
            </a:r>
            <a:r>
              <a:rPr lang="zh-CN" altLang="en-US" sz="2400" dirty="0">
                <a:solidFill>
                  <a:srgbClr val="121212"/>
                </a:solidFill>
                <a:latin typeface="Times New Roman" panose="02020603050405020304" pitchFamily="18" charset="0"/>
                <a:cs typeface="Times New Roman" panose="02020603050405020304" pitchFamily="18" charset="0"/>
              </a:rPr>
              <a:t>该点高斯滤波后的像素值向量</a:t>
            </a:r>
            <a:r>
              <a:rPr lang="zh-CN" altLang="en-US" sz="2400" dirty="0" smtClean="0">
                <a:solidFill>
                  <a:srgbClr val="121212"/>
                </a:solidFill>
                <a:latin typeface="Times New Roman" panose="02020603050405020304" pitchFamily="18" charset="0"/>
                <a:cs typeface="Times New Roman" panose="02020603050405020304" pitchFamily="18" charset="0"/>
              </a:rPr>
              <a:t>。</a:t>
            </a:r>
            <a:endParaRPr lang="en-US" altLang="zh-CN" sz="2400" dirty="0" smtClean="0">
              <a:solidFill>
                <a:srgbClr val="121212"/>
              </a:solidFill>
              <a:latin typeface="Times New Roman" panose="02020603050405020304" pitchFamily="18" charset="0"/>
              <a:cs typeface="Times New Roman" panose="02020603050405020304" pitchFamily="18" charset="0"/>
            </a:endParaRPr>
          </a:p>
          <a:p>
            <a:pPr>
              <a:lnSpc>
                <a:spcPct val="120000"/>
              </a:lnSpc>
            </a:pPr>
            <a:r>
              <a:rPr lang="en-US" altLang="zh-CN" sz="2400" b="0" i="0" dirty="0">
                <a:solidFill>
                  <a:srgbClr val="121212"/>
                </a:solidFill>
                <a:effectLst/>
                <a:latin typeface="Times New Roman" panose="02020603050405020304" pitchFamily="18" charset="0"/>
                <a:cs typeface="Times New Roman" panose="02020603050405020304" pitchFamily="18" charset="0"/>
              </a:rPr>
              <a:t> </a:t>
            </a:r>
            <a:r>
              <a:rPr lang="en-US" altLang="zh-CN" sz="2400" b="0" i="0" dirty="0" smtClean="0">
                <a:solidFill>
                  <a:srgbClr val="121212"/>
                </a:solidFill>
                <a:effectLst/>
                <a:latin typeface="Times New Roman" panose="02020603050405020304" pitchFamily="18" charset="0"/>
                <a:cs typeface="Times New Roman" panose="02020603050405020304" pitchFamily="18" charset="0"/>
              </a:rPr>
              <a:t> (5)</a:t>
            </a:r>
            <a:r>
              <a:rPr lang="zh-CN" altLang="en-US" sz="2400" b="0" i="0" dirty="0" smtClean="0">
                <a:solidFill>
                  <a:srgbClr val="121212"/>
                </a:solidFill>
                <a:effectLst/>
                <a:latin typeface="Times New Roman" panose="02020603050405020304" pitchFamily="18" charset="0"/>
                <a:cs typeface="Times New Roman" panose="02020603050405020304" pitchFamily="18" charset="0"/>
              </a:rPr>
              <a:t>对</a:t>
            </a:r>
            <a:r>
              <a:rPr lang="en-US" altLang="zh-CN" sz="2400" b="0" i="0" dirty="0" smtClean="0">
                <a:solidFill>
                  <a:srgbClr val="121212"/>
                </a:solidFill>
                <a:effectLst/>
                <a:latin typeface="Times New Roman" panose="02020603050405020304" pitchFamily="18" charset="0"/>
                <a:cs typeface="Times New Roman" panose="02020603050405020304" pitchFamily="18" charset="0"/>
              </a:rPr>
              <a:t>S</a:t>
            </a:r>
            <a:r>
              <a:rPr lang="zh-CN" altLang="en-US" sz="2400" b="0" i="0" dirty="0" smtClean="0">
                <a:solidFill>
                  <a:srgbClr val="121212"/>
                </a:solidFill>
                <a:effectLst/>
                <a:latin typeface="Times New Roman" panose="02020603050405020304" pitchFamily="18" charset="0"/>
                <a:cs typeface="Times New Roman" panose="02020603050405020304" pitchFamily="18" charset="0"/>
              </a:rPr>
              <a:t>做归一化得到显著度图</a:t>
            </a:r>
            <a:endParaRPr lang="zh-CN" altLang="en-US" sz="2400" b="0" i="0" dirty="0">
              <a:solidFill>
                <a:srgbClr val="121212"/>
              </a:solidFill>
              <a:effectLst/>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4"/>
          <a:stretch>
            <a:fillRect/>
          </a:stretch>
        </p:blipFill>
        <p:spPr>
          <a:xfrm>
            <a:off x="7104451" y="2924789"/>
            <a:ext cx="1895475" cy="438150"/>
          </a:xfrm>
          <a:prstGeom prst="rect">
            <a:avLst/>
          </a:prstGeom>
        </p:spPr>
      </p:pic>
      <p:pic>
        <p:nvPicPr>
          <p:cNvPr id="8" name="图片 7"/>
          <p:cNvPicPr>
            <a:picLocks noChangeAspect="1"/>
          </p:cNvPicPr>
          <p:nvPr/>
        </p:nvPicPr>
        <p:blipFill>
          <a:blip r:embed="rId5"/>
          <a:stretch>
            <a:fillRect/>
          </a:stretch>
        </p:blipFill>
        <p:spPr>
          <a:xfrm>
            <a:off x="2566670" y="3819238"/>
            <a:ext cx="3257550" cy="495300"/>
          </a:xfrm>
          <a:prstGeom prst="rect">
            <a:avLst/>
          </a:prstGeom>
        </p:spPr>
      </p:pic>
      <p:pic>
        <p:nvPicPr>
          <p:cNvPr id="9" name="图片 8"/>
          <p:cNvPicPr>
            <a:picLocks noChangeAspect="1"/>
          </p:cNvPicPr>
          <p:nvPr/>
        </p:nvPicPr>
        <p:blipFill>
          <a:blip r:embed="rId6"/>
          <a:stretch>
            <a:fillRect/>
          </a:stretch>
        </p:blipFill>
        <p:spPr>
          <a:xfrm>
            <a:off x="1690103" y="4314538"/>
            <a:ext cx="876300" cy="361950"/>
          </a:xfrm>
          <a:prstGeom prst="rect">
            <a:avLst/>
          </a:prstGeom>
        </p:spPr>
      </p:pic>
      <p:pic>
        <p:nvPicPr>
          <p:cNvPr id="10" name="图片 9"/>
          <p:cNvPicPr>
            <a:picLocks noChangeAspect="1"/>
          </p:cNvPicPr>
          <p:nvPr/>
        </p:nvPicPr>
        <p:blipFill>
          <a:blip r:embed="rId7"/>
          <a:stretch>
            <a:fillRect/>
          </a:stretch>
        </p:blipFill>
        <p:spPr>
          <a:xfrm>
            <a:off x="5824537" y="4314946"/>
            <a:ext cx="542925" cy="314325"/>
          </a:xfrm>
          <a:prstGeom prst="rect">
            <a:avLst/>
          </a:prstGeom>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advTm="65673"/>
    </mc:Choice>
    <mc:Fallback>
      <p:transition spd="slow" advTm="65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9" y="323995"/>
            <a:ext cx="6462624"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2</a:t>
            </a:r>
            <a:r>
              <a:rPr lang="zh-CN" altLang="zh-CN" sz="2800" b="1" dirty="0">
                <a:latin typeface="微软雅黑" panose="020B0503020204020204" pitchFamily="34" charset="-122"/>
                <a:ea typeface="微软雅黑" panose="020B0503020204020204" pitchFamily="34" charset="-122"/>
              </a:rPr>
              <a:t>基于</a:t>
            </a:r>
            <a:r>
              <a:rPr lang="zh-CN" altLang="en-US" sz="2800" b="1" dirty="0">
                <a:latin typeface="微软雅黑" panose="020B0503020204020204" pitchFamily="34" charset="-122"/>
                <a:ea typeface="微软雅黑" panose="020B0503020204020204" pitchFamily="34" charset="-122"/>
              </a:rPr>
              <a:t>频率调谐</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pic>
        <p:nvPicPr>
          <p:cNvPr id="2" name="图片 1"/>
          <p:cNvPicPr>
            <a:picLocks noChangeAspect="1"/>
          </p:cNvPicPr>
          <p:nvPr/>
        </p:nvPicPr>
        <p:blipFill>
          <a:blip r:embed="rId4"/>
          <a:stretch>
            <a:fillRect/>
          </a:stretch>
        </p:blipFill>
        <p:spPr>
          <a:xfrm>
            <a:off x="246100" y="937300"/>
            <a:ext cx="11730000" cy="540000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65673"/>
    </mc:Choice>
    <mc:Fallback>
      <p:transition spd="slow" advTm="65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9" y="323995"/>
            <a:ext cx="7420986"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2</a:t>
            </a:r>
            <a:r>
              <a:rPr lang="zh-CN" altLang="zh-CN" sz="2800" b="1" dirty="0">
                <a:latin typeface="微软雅黑" panose="020B0503020204020204" pitchFamily="34" charset="-122"/>
                <a:ea typeface="微软雅黑" panose="020B0503020204020204" pitchFamily="34" charset="-122"/>
              </a:rPr>
              <a:t>基于</a:t>
            </a:r>
            <a:r>
              <a:rPr lang="zh-CN" altLang="en-US" sz="2800" b="1" dirty="0">
                <a:latin typeface="微软雅黑" panose="020B0503020204020204" pitchFamily="34" charset="-122"/>
                <a:ea typeface="微软雅黑" panose="020B0503020204020204" pitchFamily="34" charset="-122"/>
              </a:rPr>
              <a:t>频率调谐</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sp>
        <p:nvSpPr>
          <p:cNvPr id="2" name="矩形 1"/>
          <p:cNvSpPr/>
          <p:nvPr/>
        </p:nvSpPr>
        <p:spPr>
          <a:xfrm>
            <a:off x="1271815" y="1387044"/>
            <a:ext cx="4970585" cy="461665"/>
          </a:xfrm>
          <a:prstGeom prst="rect">
            <a:avLst/>
          </a:prstGeom>
        </p:spPr>
        <p:txBody>
          <a:bodyPr wrap="square">
            <a:spAutoFit/>
          </a:bodyPr>
          <a:lstStyle/>
          <a:p>
            <a:r>
              <a:rPr lang="zh-CN" altLang="en-US" sz="2400" b="1" dirty="0" smtClean="0">
                <a:solidFill>
                  <a:srgbClr val="FF0000"/>
                </a:solidFill>
              </a:rPr>
              <a:t>结果</a:t>
            </a:r>
            <a:endParaRPr lang="zh-CN" altLang="en-US" sz="2400" b="1" dirty="0">
              <a:solidFill>
                <a:srgbClr val="FF0000"/>
              </a:solidFill>
            </a:endParaRPr>
          </a:p>
        </p:txBody>
      </p:sp>
      <p:pic>
        <p:nvPicPr>
          <p:cNvPr id="4" name="图片 3"/>
          <p:cNvPicPr>
            <a:picLocks noChangeAspect="1"/>
          </p:cNvPicPr>
          <p:nvPr/>
        </p:nvPicPr>
        <p:blipFill>
          <a:blip r:embed="rId4"/>
          <a:stretch>
            <a:fillRect/>
          </a:stretch>
        </p:blipFill>
        <p:spPr>
          <a:xfrm>
            <a:off x="1271814" y="1848708"/>
            <a:ext cx="8932075" cy="4200399"/>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65673"/>
    </mc:Choice>
    <mc:Fallback>
      <p:transition spd="slow" advTm="65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43641" y="1398221"/>
            <a:ext cx="9352725" cy="2630170"/>
          </a:xfrm>
          <a:prstGeom prst="rect">
            <a:avLst/>
          </a:prstGeom>
          <a:noFill/>
        </p:spPr>
        <p:txBody>
          <a:bodyPr wrap="square" rtlCol="0" anchor="t">
            <a:spAutoFit/>
          </a:bodyPr>
          <a:lstStyle/>
          <a:p>
            <a:pPr indent="0" algn="just" defTabSz="720090" fontAlgn="auto">
              <a:lnSpc>
                <a:spcPct val="125000"/>
              </a:lnSpc>
              <a:spcAft>
                <a:spcPts val="600"/>
              </a:spcAft>
              <a:defRPr/>
            </a:pPr>
            <a:r>
              <a:rPr lang="en-US" altLang="zh-CN" sz="2400" dirty="0">
                <a:latin typeface="微软雅黑" panose="020B0503020204020204" pitchFamily="34" charset="-122"/>
                <a:ea typeface="微软雅黑" panose="020B0503020204020204" pitchFamily="34" charset="-122"/>
                <a:sym typeface="+mn-ea"/>
              </a:rPr>
              <a:t>1.</a:t>
            </a:r>
            <a:r>
              <a:rPr lang="zh-CN" altLang="en-US" sz="2400" dirty="0">
                <a:latin typeface="微软雅黑" panose="020B0503020204020204" pitchFamily="34" charset="-122"/>
                <a:ea typeface="微软雅黑" panose="020B0503020204020204" pitchFamily="34" charset="-122"/>
                <a:sym typeface="+mn-ea"/>
              </a:rPr>
              <a:t>显著性概述</a:t>
            </a:r>
            <a:endParaRPr lang="zh-CN" altLang="en-US" sz="2400" dirty="0">
              <a:latin typeface="微软雅黑" panose="020B0503020204020204" pitchFamily="34" charset="-122"/>
              <a:ea typeface="微软雅黑" panose="020B0503020204020204" pitchFamily="34" charset="-122"/>
              <a:sym typeface="+mn-ea"/>
            </a:endParaRPr>
          </a:p>
          <a:p>
            <a:pPr indent="0" algn="just" defTabSz="720090" fontAlgn="auto">
              <a:lnSpc>
                <a:spcPct val="125000"/>
              </a:lnSpc>
              <a:spcAft>
                <a:spcPts val="600"/>
              </a:spcAft>
              <a:defRPr/>
            </a:pPr>
            <a:r>
              <a:rPr lang="zh-CN" altLang="en-US" sz="2400" dirty="0">
                <a:latin typeface="微软雅黑" panose="020B0503020204020204" pitchFamily="34" charset="-122"/>
                <a:ea typeface="微软雅黑" panose="020B0503020204020204" pitchFamily="34" charset="-122"/>
                <a:sym typeface="+mn-ea"/>
              </a:rPr>
              <a:t>核心是特征差异，需掌握显著区域特点、显著图质量标准；</a:t>
            </a:r>
            <a:endParaRPr lang="zh-CN" altLang="en-US" sz="2400" dirty="0">
              <a:latin typeface="微软雅黑" panose="020B0503020204020204" pitchFamily="34" charset="-122"/>
              <a:ea typeface="微软雅黑" panose="020B0503020204020204" pitchFamily="34" charset="-122"/>
              <a:sym typeface="+mn-ea"/>
            </a:endParaRPr>
          </a:p>
          <a:p>
            <a:pPr indent="0" algn="just" defTabSz="720090" fontAlgn="auto">
              <a:lnSpc>
                <a:spcPct val="125000"/>
              </a:lnSpc>
              <a:spcAft>
                <a:spcPts val="600"/>
              </a:spcAft>
              <a:defRPr/>
            </a:pPr>
            <a:r>
              <a:rPr lang="en-US" altLang="zh-CN" sz="2400" dirty="0">
                <a:latin typeface="微软雅黑" panose="020B0503020204020204" pitchFamily="34" charset="-122"/>
                <a:ea typeface="微软雅黑" panose="020B0503020204020204" pitchFamily="34" charset="-122"/>
                <a:sym typeface="+mn-ea"/>
              </a:rPr>
              <a:t>2.</a:t>
            </a:r>
            <a:r>
              <a:rPr lang="zh-CN" altLang="zh-CN" sz="2400" dirty="0" smtClean="0">
                <a:latin typeface="微软雅黑" panose="020B0503020204020204" pitchFamily="34" charset="-122"/>
                <a:ea typeface="微软雅黑" panose="020B0503020204020204" pitchFamily="34" charset="-122"/>
                <a:sym typeface="+mn-ea"/>
              </a:rPr>
              <a:t>基于</a:t>
            </a:r>
            <a:r>
              <a:rPr lang="zh-CN" altLang="en-US" sz="2400" dirty="0">
                <a:latin typeface="微软雅黑" panose="020B0503020204020204" pitchFamily="34" charset="-122"/>
                <a:ea typeface="微软雅黑" panose="020B0503020204020204" pitchFamily="34" charset="-122"/>
                <a:sym typeface="+mn-ea"/>
              </a:rPr>
              <a:t>频率调谐</a:t>
            </a:r>
            <a:r>
              <a:rPr lang="zh-CN" altLang="zh-CN" sz="2400" dirty="0">
                <a:latin typeface="微软雅黑" panose="020B0503020204020204" pitchFamily="34" charset="-122"/>
                <a:ea typeface="微软雅黑" panose="020B0503020204020204" pitchFamily="34" charset="-122"/>
                <a:sym typeface="+mn-ea"/>
              </a:rPr>
              <a:t>的</a:t>
            </a:r>
            <a:r>
              <a:rPr lang="zh-CN" altLang="en-US" sz="2400" dirty="0">
                <a:latin typeface="微软雅黑" panose="020B0503020204020204" pitchFamily="34" charset="-122"/>
                <a:ea typeface="微软雅黑" panose="020B0503020204020204" pitchFamily="34" charset="-122"/>
                <a:sym typeface="+mn-ea"/>
              </a:rPr>
              <a:t>显著性</a:t>
            </a:r>
            <a:r>
              <a:rPr lang="zh-CN" altLang="zh-CN" sz="2400" dirty="0" smtClean="0">
                <a:latin typeface="微软雅黑" panose="020B0503020204020204" pitchFamily="34" charset="-122"/>
                <a:ea typeface="微软雅黑" panose="020B0503020204020204" pitchFamily="34" charset="-122"/>
                <a:sym typeface="+mn-ea"/>
              </a:rPr>
              <a:t>检测</a:t>
            </a:r>
            <a:endParaRPr lang="zh-CN" altLang="zh-CN" sz="2400" dirty="0" smtClean="0">
              <a:latin typeface="微软雅黑" panose="020B0503020204020204" pitchFamily="34" charset="-122"/>
              <a:ea typeface="微软雅黑" panose="020B0503020204020204" pitchFamily="34" charset="-122"/>
              <a:sym typeface="+mn-ea"/>
            </a:endParaRPr>
          </a:p>
          <a:p>
            <a:pPr indent="0" algn="just" defTabSz="720090" fontAlgn="auto">
              <a:lnSpc>
                <a:spcPct val="125000"/>
              </a:lnSpc>
              <a:spcAft>
                <a:spcPts val="600"/>
              </a:spcAft>
              <a:defRPr/>
            </a:pPr>
            <a:r>
              <a:rPr lang="zh-CN" altLang="en-US" sz="2400" dirty="0">
                <a:latin typeface="微软雅黑" panose="020B0503020204020204" pitchFamily="34" charset="-122"/>
                <a:ea typeface="微软雅黑" panose="020B0503020204020204" pitchFamily="34" charset="-122"/>
                <a:sym typeface="+mn-ea"/>
              </a:rPr>
              <a:t>以</a:t>
            </a:r>
            <a:r>
              <a:rPr lang="en-US" altLang="zh-CN" sz="2400" dirty="0">
                <a:latin typeface="微软雅黑" panose="020B0503020204020204" pitchFamily="34" charset="-122"/>
                <a:ea typeface="微软雅黑" panose="020B0503020204020204" pitchFamily="34" charset="-122"/>
                <a:sym typeface="+mn-ea"/>
              </a:rPr>
              <a:t>Lab</a:t>
            </a:r>
            <a:r>
              <a:rPr lang="zh-CN" altLang="en-US" sz="2400" dirty="0">
                <a:latin typeface="微软雅黑" panose="020B0503020204020204" pitchFamily="34" charset="-122"/>
                <a:ea typeface="微软雅黑" panose="020B0503020204020204" pitchFamily="34" charset="-122"/>
                <a:sym typeface="+mn-ea"/>
              </a:rPr>
              <a:t>颜色差异量化显著度，核心是</a:t>
            </a:r>
            <a:r>
              <a:rPr lang="en-US" altLang="zh-CN" sz="2400" dirty="0">
                <a:latin typeface="微软雅黑" panose="020B0503020204020204" pitchFamily="34" charset="-122"/>
                <a:ea typeface="微软雅黑" panose="020B0503020204020204" pitchFamily="34" charset="-122"/>
                <a:sym typeface="+mn-ea"/>
              </a:rPr>
              <a:t>DoG</a:t>
            </a:r>
            <a:r>
              <a:rPr lang="zh-CN" altLang="en-US" sz="2400" dirty="0">
                <a:latin typeface="微软雅黑" panose="020B0503020204020204" pitchFamily="34" charset="-122"/>
                <a:ea typeface="微软雅黑" panose="020B0503020204020204" pitchFamily="34" charset="-122"/>
                <a:sym typeface="+mn-ea"/>
              </a:rPr>
              <a:t>滤波与欧氏距离计算，优势明显但有局限。</a:t>
            </a:r>
            <a:endParaRPr lang="zh-CN" altLang="zh-CN" sz="2400" dirty="0">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511999" y="323995"/>
            <a:ext cx="2700000" cy="492443"/>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kumimoji="0" lang="zh-CN" altLang="en-US" sz="3200" b="1" i="0" u="none" strike="noStrike" kern="1200" cap="none" spc="0" normalizeH="0" baseline="0" noProof="0" dirty="0" smtClean="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rPr>
              <a:t>总结</a:t>
            </a:r>
            <a:endParaRPr kumimoji="0" lang="zh-CN" altLang="en-US" sz="32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8" y="323995"/>
            <a:ext cx="4705921"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3  </a:t>
            </a:r>
            <a:r>
              <a:rPr lang="zh-CN" altLang="zh-CN" sz="2800" b="1" dirty="0" smtClean="0">
                <a:latin typeface="微软雅黑" panose="020B0503020204020204" pitchFamily="34" charset="-122"/>
                <a:ea typeface="微软雅黑" panose="020B0503020204020204" pitchFamily="34" charset="-122"/>
              </a:rPr>
              <a:t>基于</a:t>
            </a:r>
            <a:r>
              <a:rPr lang="zh-CN" altLang="zh-CN" sz="2800" b="1" dirty="0">
                <a:latin typeface="微软雅黑" panose="020B0503020204020204" pitchFamily="34" charset="-122"/>
                <a:ea typeface="微软雅黑" panose="020B0503020204020204" pitchFamily="34" charset="-122"/>
              </a:rPr>
              <a:t>对比度</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920750" y="764540"/>
            <a:ext cx="9782175" cy="5572760"/>
          </a:xfrm>
          <a:prstGeom prst="rect">
            <a:avLst/>
          </a:prstGeom>
        </p:spPr>
        <p:txBody>
          <a:bodyPr wrap="square">
            <a:noAutofit/>
          </a:bodyPr>
          <a:lstStyle/>
          <a:p>
            <a:pPr defTabSz="720090">
              <a:lnSpc>
                <a:spcPct val="130000"/>
              </a:lnSpc>
              <a:spcBef>
                <a:spcPts val="600"/>
              </a:spcBef>
            </a:pPr>
            <a:r>
              <a:rPr lang="en-US" altLang="zh-CN" sz="2400" dirty="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基于</a:t>
            </a:r>
            <a:r>
              <a:rPr lang="zh-CN" altLang="en-US" sz="2400" b="1" dirty="0">
                <a:latin typeface="微软雅黑" panose="020B0503020204020204" pitchFamily="34" charset="-122"/>
                <a:ea typeface="微软雅黑" panose="020B0503020204020204" pitchFamily="34" charset="-122"/>
              </a:rPr>
              <a:t>对比度的显著性</a:t>
            </a:r>
            <a:r>
              <a:rPr lang="zh-CN" altLang="en-US" sz="2400" b="1" dirty="0">
                <a:latin typeface="微软雅黑" panose="020B0503020204020204" pitchFamily="34" charset="-122"/>
                <a:ea typeface="微软雅黑" panose="020B0503020204020204" pitchFamily="34" charset="-122"/>
              </a:rPr>
              <a:t>检测</a:t>
            </a:r>
            <a:r>
              <a:rPr lang="zh-CN" altLang="zh-CN" sz="2400" b="1" dirty="0" smtClean="0">
                <a:latin typeface="微软雅黑" panose="020B0503020204020204" pitchFamily="34" charset="-122"/>
                <a:ea typeface="微软雅黑" panose="020B0503020204020204" pitchFamily="34" charset="-122"/>
              </a:rPr>
              <a:t>方法</a:t>
            </a:r>
            <a:r>
              <a:rPr lang="zh-CN" altLang="zh-CN" sz="2400" b="1" dirty="0">
                <a:latin typeface="微软雅黑" panose="020B0503020204020204" pitchFamily="34" charset="-122"/>
                <a:ea typeface="微软雅黑" panose="020B0503020204020204" pitchFamily="34" charset="-122"/>
              </a:rPr>
              <a:t>主要</a:t>
            </a:r>
            <a:r>
              <a:rPr lang="zh-CN" altLang="zh-CN" sz="2400" b="1" dirty="0" smtClean="0">
                <a:latin typeface="微软雅黑" panose="020B0503020204020204" pitchFamily="34" charset="-122"/>
                <a:ea typeface="微软雅黑" panose="020B0503020204020204" pitchFamily="34" charset="-122"/>
              </a:rPr>
              <a:t>分</a:t>
            </a:r>
            <a:r>
              <a:rPr lang="en-US" altLang="zh-CN" sz="2400" b="1" dirty="0" smtClean="0">
                <a:latin typeface="Arial" panose="020B0604020202020204" pitchFamily="34" charset="0"/>
                <a:ea typeface="微软雅黑" panose="020B0503020204020204" pitchFamily="34" charset="-122"/>
                <a:cs typeface="Arial" panose="020B0604020202020204" pitchFamily="34" charset="0"/>
              </a:rPr>
              <a:t>3</a:t>
            </a:r>
            <a:r>
              <a:rPr lang="zh-CN" altLang="zh-CN" sz="2400" b="1" dirty="0" smtClean="0">
                <a:latin typeface="微软雅黑" panose="020B0503020204020204" pitchFamily="34" charset="-122"/>
                <a:ea typeface="微软雅黑" panose="020B0503020204020204" pitchFamily="34" charset="-122"/>
              </a:rPr>
              <a:t>类：</a:t>
            </a:r>
            <a:endParaRPr lang="en-US" altLang="zh-CN" sz="2400" b="1" dirty="0" smtClean="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en-US" altLang="zh-CN" sz="2400" dirty="0">
                <a:latin typeface="微软雅黑" panose="020B0503020204020204" pitchFamily="34" charset="-122"/>
                <a:ea typeface="微软雅黑" panose="020B0503020204020204" pitchFamily="34" charset="-122"/>
              </a:rPr>
              <a:t>	</a:t>
            </a:r>
            <a:r>
              <a:rPr lang="en-US" altLang="zh-CN" sz="2400" dirty="0">
                <a:latin typeface="Arial" panose="020B0604020202020204" pitchFamily="34" charset="0"/>
                <a:ea typeface="微软雅黑" panose="020B0503020204020204" pitchFamily="34" charset="-122"/>
                <a:cs typeface="Arial" panose="020B0604020202020204" pitchFamily="34" charset="0"/>
              </a:rPr>
              <a:t>(1)</a:t>
            </a: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利用局部对比度先验知识</a:t>
            </a:r>
            <a:endParaRPr lang="en-US" altLang="zh-CN" sz="2400" dirty="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将每个</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素仅仅与图</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局部中某些</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a:t>
            </a:r>
            <a:r>
              <a:rPr lang="zh-CN" altLang="zh-CN" sz="2400" dirty="0" smtClean="0">
                <a:latin typeface="微软雅黑" panose="020B0503020204020204" pitchFamily="34" charset="-122"/>
                <a:ea typeface="微软雅黑" panose="020B0503020204020204" pitchFamily="34" charset="-122"/>
              </a:rPr>
              <a:t>比较</a:t>
            </a:r>
            <a:endParaRPr lang="en-US" altLang="zh-CN" sz="2400" dirty="0" smtClean="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zh-CN" altLang="en-US" sz="2400" dirty="0" smtClean="0"/>
              <a:t>          </a:t>
            </a:r>
            <a:r>
              <a:rPr lang="zh-CN" altLang="en-US" sz="2400" dirty="0">
                <a:latin typeface="微软雅黑" panose="020B0503020204020204" pitchFamily="34" charset="-122"/>
                <a:ea typeface="微软雅黑" panose="020B0503020204020204" pitchFamily="34" charset="-122"/>
              </a:rPr>
              <a:t>特点：计算快，</a:t>
            </a:r>
            <a:r>
              <a:rPr lang="zh-CN" altLang="en-US" sz="2400" dirty="0">
                <a:latin typeface="微软雅黑" panose="020B0503020204020204" pitchFamily="34" charset="-122"/>
                <a:ea typeface="微软雅黑" panose="020B0503020204020204" pitchFamily="34" charset="-122"/>
              </a:rPr>
              <a:t>受噪声影响大，缺乏全局信息</a:t>
            </a:r>
            <a:endParaRPr lang="zh-CN" altLang="en-US" sz="2400" dirty="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en-US" altLang="zh-CN" sz="2400" dirty="0">
                <a:latin typeface="微软雅黑" panose="020B0503020204020204" pitchFamily="34" charset="-122"/>
                <a:ea typeface="微软雅黑" panose="020B0503020204020204" pitchFamily="34" charset="-122"/>
              </a:rPr>
              <a:t>	</a:t>
            </a:r>
            <a:r>
              <a:rPr lang="en-US" altLang="zh-CN" sz="2400" dirty="0">
                <a:latin typeface="Arial" panose="020B0604020202020204" pitchFamily="34" charset="0"/>
                <a:ea typeface="微软雅黑" panose="020B0503020204020204" pitchFamily="34" charset="-122"/>
                <a:cs typeface="Arial" panose="020B0604020202020204" pitchFamily="34" charset="0"/>
              </a:rPr>
              <a:t>(2)</a:t>
            </a: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利用全局对比度先验知识</a:t>
            </a:r>
            <a:endParaRPr lang="en-US" altLang="zh-CN" sz="2400" dirty="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将目标</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素与图</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中其余所有</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素进行</a:t>
            </a:r>
            <a:r>
              <a:rPr lang="zh-CN" altLang="zh-CN" sz="2400" dirty="0" smtClean="0">
                <a:latin typeface="微软雅黑" panose="020B0503020204020204" pitchFamily="34" charset="-122"/>
                <a:ea typeface="微软雅黑" panose="020B0503020204020204" pitchFamily="34" charset="-122"/>
              </a:rPr>
              <a:t>特征差异</a:t>
            </a:r>
            <a:r>
              <a:rPr lang="zh-CN" altLang="zh-CN" sz="2400" dirty="0">
                <a:latin typeface="微软雅黑" panose="020B0503020204020204" pitchFamily="34" charset="-122"/>
                <a:ea typeface="微软雅黑" panose="020B0503020204020204" pitchFamily="34" charset="-122"/>
              </a:rPr>
              <a:t>度</a:t>
            </a:r>
            <a:r>
              <a:rPr lang="zh-CN" altLang="zh-CN" sz="2400" dirty="0" smtClean="0">
                <a:latin typeface="微软雅黑" panose="020B0503020204020204" pitchFamily="34" charset="-122"/>
                <a:ea typeface="微软雅黑" panose="020B0503020204020204" pitchFamily="34" charset="-122"/>
              </a:rPr>
              <a:t>计算</a:t>
            </a:r>
            <a:endParaRPr lang="en-US" altLang="zh-CN" sz="2400" dirty="0" smtClean="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zh-CN" altLang="en-US" sz="2400" dirty="0" smtClean="0">
                <a:latin typeface="微软雅黑" panose="020B0503020204020204" pitchFamily="34" charset="-122"/>
                <a:ea typeface="微软雅黑" panose="020B0503020204020204" pitchFamily="34" charset="-122"/>
              </a:rPr>
              <a:t>       特点：反映</a:t>
            </a:r>
            <a:r>
              <a:rPr lang="zh-CN" altLang="en-US" sz="2400" dirty="0">
                <a:latin typeface="微软雅黑" panose="020B0503020204020204" pitchFamily="34" charset="-122"/>
                <a:ea typeface="微软雅黑" panose="020B0503020204020204" pitchFamily="34" charset="-122"/>
              </a:rPr>
              <a:t>整体显著</a:t>
            </a:r>
            <a:r>
              <a:rPr lang="zh-CN" altLang="en-US" sz="2400" dirty="0" smtClean="0">
                <a:latin typeface="微软雅黑" panose="020B0503020204020204" pitchFamily="34" charset="-122"/>
                <a:ea typeface="微软雅黑" panose="020B0503020204020204" pitchFamily="34" charset="-122"/>
              </a:rPr>
              <a:t>性，但计算</a:t>
            </a:r>
            <a:r>
              <a:rPr lang="zh-CN" altLang="en-US" sz="2400" dirty="0">
                <a:latin typeface="微软雅黑" panose="020B0503020204020204" pitchFamily="34" charset="-122"/>
                <a:ea typeface="微软雅黑" panose="020B0503020204020204" pitchFamily="34" charset="-122"/>
              </a:rPr>
              <a:t>量大</a:t>
            </a:r>
            <a:endParaRPr lang="en-US" altLang="zh-CN" sz="2400" dirty="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en-US" altLang="zh-CN" sz="2400" dirty="0">
                <a:latin typeface="微软雅黑" panose="020B0503020204020204" pitchFamily="34" charset="-122"/>
                <a:ea typeface="微软雅黑" panose="020B0503020204020204" pitchFamily="34" charset="-122"/>
              </a:rPr>
              <a:t>	</a:t>
            </a:r>
            <a:r>
              <a:rPr lang="en-US" altLang="zh-CN" sz="2400" dirty="0">
                <a:latin typeface="Arial" panose="020B0604020202020204" pitchFamily="34" charset="0"/>
                <a:ea typeface="微软雅黑" panose="020B0503020204020204" pitchFamily="34" charset="-122"/>
                <a:cs typeface="Arial" panose="020B0604020202020204" pitchFamily="34" charset="0"/>
              </a:rPr>
              <a:t>(3)</a:t>
            </a: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利用背景先验知识</a:t>
            </a:r>
            <a:endParaRPr lang="en-US" altLang="zh-CN" sz="2400" dirty="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背景先验：图</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的四周对应</a:t>
            </a:r>
            <a:r>
              <a:rPr lang="zh-CN" altLang="zh-CN" sz="2400" dirty="0" smtClean="0">
                <a:latin typeface="微软雅黑" panose="020B0503020204020204" pitchFamily="34" charset="-122"/>
                <a:ea typeface="微软雅黑" panose="020B0503020204020204" pitchFamily="34" charset="-122"/>
              </a:rPr>
              <a:t>背景</a:t>
            </a:r>
            <a:endParaRPr lang="en-US" altLang="zh-CN" sz="2400" dirty="0" smtClean="0">
              <a:latin typeface="微软雅黑" panose="020B0503020204020204" pitchFamily="34" charset="-122"/>
              <a:ea typeface="微软雅黑" panose="020B0503020204020204" pitchFamily="34" charset="-122"/>
            </a:endParaRPr>
          </a:p>
          <a:p>
            <a:pPr defTabSz="720090">
              <a:lnSpc>
                <a:spcPct val="130000"/>
              </a:lnSpc>
              <a:spcBef>
                <a:spcPts val="0"/>
              </a:spcBef>
              <a:spcAft>
                <a:spcPts val="0"/>
              </a:spcAft>
            </a:pPr>
            <a:r>
              <a:rPr lang="zh-CN" altLang="en-US" sz="2400" dirty="0" smtClean="0">
                <a:latin typeface="微软雅黑" panose="020B0503020204020204" pitchFamily="34" charset="-122"/>
                <a:ea typeface="微软雅黑" panose="020B0503020204020204" pitchFamily="34" charset="-122"/>
              </a:rPr>
              <a:t>      特点：突出主体，简单有效，对</a:t>
            </a:r>
            <a:r>
              <a:rPr lang="zh-CN" altLang="en-US" sz="2400" dirty="0">
                <a:latin typeface="微软雅黑" panose="020B0503020204020204" pitchFamily="34" charset="-122"/>
                <a:ea typeface="微软雅黑" panose="020B0503020204020204" pitchFamily="34" charset="-122"/>
              </a:rPr>
              <a:t>非中心目标不适用</a:t>
            </a:r>
            <a:endParaRPr lang="zh-CN" altLang="zh-CN" sz="2400" dirty="0">
              <a:latin typeface="微软雅黑" panose="020B0503020204020204" pitchFamily="34" charset="-122"/>
              <a:ea typeface="微软雅黑" panose="020B0503020204020204" pitchFamily="34" charset="-122"/>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65673"/>
    </mc:Choice>
    <mc:Fallback>
      <p:transition spd="slow" advTm="65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8" y="323995"/>
            <a:ext cx="4447737"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3  </a:t>
            </a:r>
            <a:r>
              <a:rPr lang="zh-CN" altLang="zh-CN" sz="2800" b="1" dirty="0" smtClean="0">
                <a:latin typeface="微软雅黑" panose="020B0503020204020204" pitchFamily="34" charset="-122"/>
                <a:ea typeface="微软雅黑" panose="020B0503020204020204" pitchFamily="34" charset="-122"/>
              </a:rPr>
              <a:t>基于</a:t>
            </a:r>
            <a:r>
              <a:rPr lang="zh-CN" altLang="zh-CN" sz="2800" b="1" dirty="0">
                <a:latin typeface="微软雅黑" panose="020B0503020204020204" pitchFamily="34" charset="-122"/>
                <a:ea typeface="微软雅黑" panose="020B0503020204020204" pitchFamily="34" charset="-122"/>
              </a:rPr>
              <a:t>对比度</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矩形 3"/>
          <p:cNvSpPr/>
          <p:nvPr/>
        </p:nvSpPr>
        <p:spPr>
          <a:xfrm>
            <a:off x="990294" y="1260000"/>
            <a:ext cx="2954655" cy="461665"/>
          </a:xfrm>
          <a:prstGeom prst="rect">
            <a:avLst/>
          </a:prstGeom>
        </p:spPr>
        <p:txBody>
          <a:bodyPr wrap="none">
            <a:spAutoFit/>
          </a:bodyPr>
          <a:lstStyle/>
          <a:p>
            <a:r>
              <a:rPr lang="zh-CN" altLang="zh-CN" sz="2400" b="1" kern="0" dirty="0" smtClean="0">
                <a:latin typeface="微软雅黑" panose="020B0503020204020204" pitchFamily="34" charset="-122"/>
                <a:ea typeface="微软雅黑" panose="020B0503020204020204" pitchFamily="34" charset="-122"/>
              </a:rPr>
              <a:t>基于</a:t>
            </a:r>
            <a:r>
              <a:rPr lang="zh-CN" altLang="en-US" sz="2400" b="1" kern="0" dirty="0" smtClean="0">
                <a:latin typeface="微软雅黑" panose="020B0503020204020204" pitchFamily="34" charset="-122"/>
                <a:ea typeface="微软雅黑" panose="020B0503020204020204" pitchFamily="34" charset="-122"/>
              </a:rPr>
              <a:t>全局</a:t>
            </a:r>
            <a:r>
              <a:rPr lang="zh-CN" altLang="zh-CN" sz="2400" b="1" kern="0" dirty="0" smtClean="0">
                <a:latin typeface="微软雅黑" panose="020B0503020204020204" pitchFamily="34" charset="-122"/>
                <a:ea typeface="微软雅黑" panose="020B0503020204020204" pitchFamily="34" charset="-122"/>
              </a:rPr>
              <a:t>对比度</a:t>
            </a:r>
            <a:r>
              <a:rPr lang="zh-CN" altLang="en-US" sz="2400" b="1" kern="0" dirty="0" smtClean="0">
                <a:latin typeface="微软雅黑" panose="020B0503020204020204" pitchFamily="34" charset="-122"/>
                <a:ea typeface="微软雅黑" panose="020B0503020204020204" pitchFamily="34" charset="-122"/>
              </a:rPr>
              <a:t>检测</a:t>
            </a:r>
            <a:endParaRPr lang="en-US" altLang="zh-CN" sz="2400" b="1" dirty="0">
              <a:latin typeface="微软雅黑" panose="020B0503020204020204" pitchFamily="34" charset="-122"/>
              <a:ea typeface="微软雅黑" panose="020B0503020204020204" pitchFamily="34" charset="-122"/>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11671300" y="6337300"/>
            <a:ext cx="304800" cy="304800"/>
          </a:xfrm>
          <a:prstGeom prst="rect">
            <a:avLst/>
          </a:prstGeom>
        </p:spPr>
      </p:pic>
      <p:sp>
        <p:nvSpPr>
          <p:cNvPr id="7" name="矩形 6"/>
          <p:cNvSpPr/>
          <p:nvPr/>
        </p:nvSpPr>
        <p:spPr>
          <a:xfrm>
            <a:off x="654685" y="1878965"/>
            <a:ext cx="6649720" cy="3969385"/>
          </a:xfrm>
          <a:prstGeom prst="rect">
            <a:avLst/>
          </a:prstGeom>
        </p:spPr>
        <p:txBody>
          <a:bodyPr wrap="square">
            <a:spAutoFit/>
          </a:bodyPr>
          <a:lstStyle/>
          <a:p>
            <a:pPr>
              <a:lnSpc>
                <a:spcPct val="150000"/>
              </a:lnSpc>
              <a:buFont typeface="Arial" panose="020B0604020202020204" pitchFamily="34" charset="0"/>
              <a:buChar char="•"/>
            </a:pPr>
            <a:r>
              <a:rPr lang="zh-CN" altLang="en-US" sz="2400" b="0" i="0" dirty="0">
                <a:effectLst/>
                <a:latin typeface="-apple-system"/>
              </a:rPr>
              <a:t>基于全局对比度的显著性检测通过比较图像区域与整幅图像中其他区域的差异来计算显著性。</a:t>
            </a:r>
            <a:endParaRPr lang="zh-CN" altLang="en-US" sz="2400" b="0" i="0" dirty="0">
              <a:effectLst/>
              <a:latin typeface="-apple-system"/>
            </a:endParaRPr>
          </a:p>
          <a:p>
            <a:pPr>
              <a:lnSpc>
                <a:spcPct val="150000"/>
              </a:lnSpc>
              <a:buFont typeface="Arial" panose="020B0604020202020204" pitchFamily="34" charset="0"/>
              <a:buChar char="•"/>
            </a:pPr>
            <a:r>
              <a:rPr lang="zh-CN" altLang="en-US" sz="2400" b="0" i="0" dirty="0">
                <a:effectLst/>
                <a:latin typeface="-apple-system"/>
              </a:rPr>
              <a:t>区域与周围环境差异越大，显著性越高；</a:t>
            </a:r>
            <a:endParaRPr lang="zh-CN" altLang="en-US" sz="2400" b="0" i="0" dirty="0">
              <a:effectLst/>
              <a:latin typeface="-apple-system"/>
            </a:endParaRPr>
          </a:p>
          <a:p>
            <a:pPr>
              <a:lnSpc>
                <a:spcPct val="150000"/>
              </a:lnSpc>
              <a:buFont typeface="Arial" panose="020B0604020202020204" pitchFamily="34" charset="0"/>
              <a:buChar char="•"/>
            </a:pPr>
            <a:r>
              <a:rPr lang="zh-CN" altLang="en-US" sz="2400" b="0" i="0" dirty="0">
                <a:effectLst/>
                <a:latin typeface="-apple-system"/>
              </a:rPr>
              <a:t>相似区域具有相近显著性值，有利于完整、均匀地突出显著目标。</a:t>
            </a:r>
            <a:endParaRPr lang="zh-CN" altLang="en-US" sz="2400" b="0" i="0" dirty="0">
              <a:effectLst/>
              <a:latin typeface="-apple-system"/>
            </a:endParaRPr>
          </a:p>
          <a:p>
            <a:pPr>
              <a:lnSpc>
                <a:spcPct val="150000"/>
              </a:lnSpc>
              <a:buFont typeface="Arial" panose="020B0604020202020204" pitchFamily="34" charset="0"/>
              <a:buChar char="•"/>
            </a:pPr>
            <a:r>
              <a:rPr lang="zh-CN" altLang="en-US" sz="2400" b="0" i="0" dirty="0">
                <a:effectLst/>
                <a:latin typeface="-apple-system"/>
              </a:rPr>
              <a:t>通常还会结合空间距离权重，使邻近区域对显著性的影响更大，远距离区域影响较小。</a:t>
            </a:r>
            <a:endParaRPr lang="zh-CN" altLang="en-US" sz="2400" b="0" i="0" dirty="0">
              <a:effectLst/>
              <a:latin typeface="-apple-system"/>
            </a:endParaRPr>
          </a:p>
        </p:txBody>
      </p:sp>
      <p:pic>
        <p:nvPicPr>
          <p:cNvPr id="5122" name="Picture 2" descr="https://img2.baidu.com/it/u=1784462262,3713360385&amp;fm=253&amp;fmt=auto&amp;app=120&amp;f=JPEG?w=800&amp;h=10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5532" y="754881"/>
            <a:ext cx="4125768" cy="551305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09353"/>
    </mc:Choice>
    <mc:Fallback>
      <p:transition spd="slow" advTm="1093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9" y="323995"/>
            <a:ext cx="4555314"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3  </a:t>
            </a:r>
            <a:r>
              <a:rPr lang="zh-CN" altLang="zh-CN" sz="2800" b="1" dirty="0" smtClean="0">
                <a:latin typeface="微软雅黑" panose="020B0503020204020204" pitchFamily="34" charset="-122"/>
                <a:ea typeface="微软雅黑" panose="020B0503020204020204" pitchFamily="34" charset="-122"/>
              </a:rPr>
              <a:t>基于</a:t>
            </a:r>
            <a:r>
              <a:rPr lang="zh-CN" altLang="zh-CN" sz="2800" b="1" dirty="0">
                <a:latin typeface="微软雅黑" panose="020B0503020204020204" pitchFamily="34" charset="-122"/>
                <a:ea typeface="微软雅黑" panose="020B0503020204020204" pitchFamily="34" charset="-122"/>
              </a:rPr>
              <a:t>对比度</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214256" y="1111103"/>
            <a:ext cx="11877339" cy="4818242"/>
          </a:xfrm>
          <a:prstGeom prst="rect">
            <a:avLst/>
          </a:prstGeom>
        </p:spPr>
        <p:txBody>
          <a:bodyPr wrap="square">
            <a:spAutoFit/>
          </a:bodyPr>
          <a:lstStyle/>
          <a:p>
            <a:pPr defTabSz="720090">
              <a:lnSpc>
                <a:spcPct val="130000"/>
              </a:lnSpc>
              <a:spcBef>
                <a:spcPts val="600"/>
              </a:spcBef>
              <a:spcAft>
                <a:spcPts val="300"/>
              </a:spcAft>
              <a:defRPr/>
            </a:pPr>
            <a:r>
              <a:rPr lang="en-US" altLang="zh-CN" sz="2400"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基于</a:t>
            </a:r>
            <a:r>
              <a:rPr lang="zh-CN" altLang="en-US" sz="2400" b="1" dirty="0" smtClean="0">
                <a:latin typeface="微软雅黑" panose="020B0503020204020204" pitchFamily="34" charset="-122"/>
                <a:ea typeface="微软雅黑" panose="020B0503020204020204" pitchFamily="34" charset="-122"/>
              </a:rPr>
              <a:t>直方图的全局对比度显著性检测算法</a:t>
            </a:r>
            <a:r>
              <a:rPr lang="zh-CN" altLang="en-US" sz="2400" b="1"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每个像素的显著性值是由它与图像中全部其它像素的颜色差异来确定的，得到全分辨率显著性</a:t>
            </a:r>
            <a:r>
              <a:rPr lang="zh-CN" altLang="en-US" sz="2400" dirty="0">
                <a:latin typeface="微软雅黑" panose="020B0503020204020204" pitchFamily="34" charset="-122"/>
                <a:ea typeface="微软雅黑" panose="020B0503020204020204" pitchFamily="34" charset="-122"/>
              </a:rPr>
              <a:t>图像。</a:t>
            </a:r>
            <a:endParaRPr lang="en-US" altLang="zh-CN"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一个</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素的显著性是该</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素与图</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中所有其他</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素之间的颜色</a:t>
            </a:r>
            <a:r>
              <a:rPr lang="en-US" altLang="zh-CN" sz="2400" dirty="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灰度的</a:t>
            </a:r>
            <a:r>
              <a:rPr lang="zh-CN" altLang="zh-CN" sz="2400" dirty="0" smtClean="0">
                <a:latin typeface="微软雅黑" panose="020B0503020204020204" pitchFamily="34" charset="-122"/>
                <a:ea typeface="微软雅黑" panose="020B0503020204020204" pitchFamily="34" charset="-122"/>
              </a:rPr>
              <a:t>对比度</a:t>
            </a:r>
            <a:r>
              <a:rPr lang="zh-CN" altLang="en-US" sz="2400" dirty="0">
                <a:latin typeface="微软雅黑" panose="020B0503020204020204" pitchFamily="34" charset="-122"/>
                <a:ea typeface="微软雅黑" panose="020B0503020204020204" pitchFamily="34" charset="-122"/>
              </a:rPr>
              <a:t>之</a:t>
            </a:r>
            <a:r>
              <a:rPr lang="zh-CN" altLang="en-US" sz="2400" dirty="0" smtClean="0">
                <a:latin typeface="微软雅黑" panose="020B0503020204020204" pitchFamily="34" charset="-122"/>
                <a:ea typeface="微软雅黑" panose="020B0503020204020204" pitchFamily="34" charset="-122"/>
              </a:rPr>
              <a:t>和</a:t>
            </a:r>
            <a:endParaRPr lang="en-US" altLang="zh-CN" sz="2400" dirty="0" smtClean="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endParaRPr lang="en-US" altLang="zh-CN"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即</a:t>
            </a:r>
            <a:endParaRPr lang="en-US" altLang="zh-CN"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endParaRPr lang="en-US" altLang="zh-CN" sz="2400" dirty="0" smtClean="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其中</a:t>
            </a:r>
            <a:endParaRPr lang="en-US" altLang="zh-CN"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endParaRPr lang="en-US" altLang="zh-CN" sz="2400" dirty="0">
              <a:latin typeface="微软雅黑" panose="020B0503020204020204" pitchFamily="34" charset="-122"/>
              <a:ea typeface="微软雅黑" panose="020B0503020204020204" pitchFamily="34" charset="-122"/>
            </a:endParaRPr>
          </a:p>
        </p:txBody>
      </p:sp>
      <p:pic>
        <p:nvPicPr>
          <p:cNvPr id="5"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670978" y="3910402"/>
            <a:ext cx="2804831" cy="761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2670978" y="2762613"/>
            <a:ext cx="6158543" cy="652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音频 2">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11671300" y="6337300"/>
            <a:ext cx="304800" cy="304800"/>
          </a:xfrm>
          <a:prstGeom prst="rect">
            <a:avLst/>
          </a:prstGeom>
        </p:spPr>
      </p:pic>
      <p:pic>
        <p:nvPicPr>
          <p:cNvPr id="11" name="图片 3"/>
          <p:cNvPicPr/>
          <p:nvPr/>
        </p:nvPicPr>
        <p:blipFill rotWithShape="1">
          <a:blip r:embed="rId1">
            <a:extLst>
              <a:ext uri="{28A0092B-C50C-407E-A947-70E740481C1C}">
                <a14:useLocalDpi xmlns:a14="http://schemas.microsoft.com/office/drawing/2010/main" val="0"/>
              </a:ext>
            </a:extLst>
          </a:blip>
          <a:srcRect l="57242" b="38191"/>
          <a:stretch>
            <a:fillRect/>
          </a:stretch>
        </p:blipFill>
        <p:spPr bwMode="auto">
          <a:xfrm>
            <a:off x="2572930" y="5387724"/>
            <a:ext cx="1108291" cy="40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3580424" y="5337782"/>
            <a:ext cx="4647426" cy="461665"/>
          </a:xfrm>
          <a:prstGeom prst="rect">
            <a:avLst/>
          </a:prstGeom>
        </p:spPr>
        <p:txBody>
          <a:bodyPr wrap="none">
            <a:spAutoFit/>
          </a:bodyPr>
          <a:lstStyle/>
          <a:p>
            <a:r>
              <a:rPr lang="zh-CN" altLang="en-US" sz="2400" dirty="0">
                <a:solidFill>
                  <a:srgbClr val="333333"/>
                </a:solidFill>
                <a:latin typeface="宋体" panose="02010600030101010101" pitchFamily="2" charset="-122"/>
                <a:ea typeface="宋体" panose="02010600030101010101" pitchFamily="2" charset="-122"/>
              </a:rPr>
              <a:t>表示</a:t>
            </a:r>
            <a:r>
              <a:rPr lang="zh-CN" altLang="en-US" sz="2400" dirty="0" smtClean="0">
                <a:solidFill>
                  <a:srgbClr val="333333"/>
                </a:solidFill>
                <a:latin typeface="宋体" panose="02010600030101010101" pitchFamily="2" charset="-122"/>
                <a:ea typeface="宋体" panose="02010600030101010101" pitchFamily="2" charset="-122"/>
              </a:rPr>
              <a:t>像素在</a:t>
            </a:r>
            <a:r>
              <a:rPr lang="en-US" altLang="zh-CN" sz="2400" dirty="0">
                <a:solidFill>
                  <a:srgbClr val="333333"/>
                </a:solidFill>
                <a:latin typeface="宋体" panose="02010600030101010101" pitchFamily="2" charset="-122"/>
                <a:ea typeface="宋体" panose="02010600030101010101" pitchFamily="2" charset="-122"/>
              </a:rPr>
              <a:t>LAB</a:t>
            </a:r>
            <a:r>
              <a:rPr lang="zh-CN" altLang="en-US" sz="2400" dirty="0">
                <a:solidFill>
                  <a:srgbClr val="333333"/>
                </a:solidFill>
                <a:latin typeface="宋体" panose="02010600030101010101" pitchFamily="2" charset="-122"/>
                <a:ea typeface="宋体" panose="02010600030101010101" pitchFamily="2" charset="-122"/>
              </a:rPr>
              <a:t>颜色空间的</a:t>
            </a:r>
            <a:r>
              <a:rPr lang="zh-CN" altLang="en-US" sz="2400" dirty="0" smtClean="0">
                <a:solidFill>
                  <a:srgbClr val="333333"/>
                </a:solidFill>
                <a:latin typeface="宋体" panose="02010600030101010101" pitchFamily="2" charset="-122"/>
                <a:ea typeface="宋体" panose="02010600030101010101" pitchFamily="2" charset="-122"/>
              </a:rPr>
              <a:t>距离。</a:t>
            </a:r>
            <a:endParaRPr lang="zh-CN" altLang="en-US" sz="2400" dirty="0"/>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109353"/>
    </mc:Choice>
    <mc:Fallback>
      <p:transition spd="slow" advTm="1093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9" y="323995"/>
            <a:ext cx="4555314"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3  </a:t>
            </a:r>
            <a:r>
              <a:rPr lang="zh-CN" altLang="zh-CN" sz="2800" b="1" dirty="0" smtClean="0">
                <a:latin typeface="微软雅黑" panose="020B0503020204020204" pitchFamily="34" charset="-122"/>
                <a:ea typeface="微软雅黑" panose="020B0503020204020204" pitchFamily="34" charset="-122"/>
              </a:rPr>
              <a:t>基于</a:t>
            </a:r>
            <a:r>
              <a:rPr lang="zh-CN" altLang="zh-CN" sz="2800" b="1" dirty="0">
                <a:latin typeface="微软雅黑" panose="020B0503020204020204" pitchFamily="34" charset="-122"/>
                <a:ea typeface="微软雅黑" panose="020B0503020204020204" pitchFamily="34" charset="-122"/>
              </a:rPr>
              <a:t>对比度</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214256" y="1111103"/>
            <a:ext cx="11877339" cy="2471420"/>
          </a:xfrm>
          <a:prstGeom prst="rect">
            <a:avLst/>
          </a:prstGeom>
        </p:spPr>
        <p:txBody>
          <a:bodyPr wrap="square">
            <a:spAutoFit/>
          </a:bodyPr>
          <a:lstStyle/>
          <a:p>
            <a:pPr algn="just" defTabSz="720090">
              <a:lnSpc>
                <a:spcPct val="130000"/>
              </a:lnSpc>
              <a:spcBef>
                <a:spcPts val="600"/>
              </a:spcBef>
              <a:spcAft>
                <a:spcPts val="600"/>
              </a:spcAft>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一个</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素的显著性是该</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素与图</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中所有其他</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素之间的颜色</a:t>
            </a:r>
            <a:r>
              <a:rPr lang="en-US" altLang="zh-CN" sz="2400" dirty="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灰度的</a:t>
            </a:r>
            <a:r>
              <a:rPr lang="zh-CN" altLang="zh-CN" sz="2400" dirty="0" smtClean="0">
                <a:latin typeface="微软雅黑" panose="020B0503020204020204" pitchFamily="34" charset="-122"/>
                <a:ea typeface="微软雅黑" panose="020B0503020204020204" pitchFamily="34" charset="-122"/>
              </a:rPr>
              <a:t>对比度</a:t>
            </a:r>
            <a:r>
              <a:rPr lang="zh-CN" altLang="en-US" sz="2400" dirty="0">
                <a:latin typeface="微软雅黑" panose="020B0503020204020204" pitchFamily="34" charset="-122"/>
                <a:ea typeface="微软雅黑" panose="020B0503020204020204" pitchFamily="34" charset="-122"/>
              </a:rPr>
              <a:t>之</a:t>
            </a:r>
            <a:r>
              <a:rPr lang="zh-CN" altLang="en-US" sz="2400" dirty="0" smtClean="0">
                <a:latin typeface="微软雅黑" panose="020B0503020204020204" pitchFamily="34" charset="-122"/>
                <a:ea typeface="微软雅黑" panose="020B0503020204020204" pitchFamily="34" charset="-122"/>
              </a:rPr>
              <a:t>和</a:t>
            </a:r>
            <a:endParaRPr lang="en-US" altLang="zh-CN" sz="2400" dirty="0" smtClean="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endParaRPr lang="en-US" altLang="zh-CN" sz="2400" dirty="0" smtClean="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其中</a:t>
            </a:r>
            <a:endParaRPr lang="en-US" altLang="zh-CN" sz="2400" dirty="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endParaRPr lang="zh-CN" altLang="zh-CN" sz="2400" dirty="0">
              <a:latin typeface="微软雅黑" panose="020B0503020204020204" pitchFamily="34" charset="-122"/>
              <a:ea typeface="微软雅黑" panose="020B0503020204020204" pitchFamily="34" charset="-122"/>
            </a:endParaRPr>
          </a:p>
        </p:txBody>
      </p:sp>
      <p:pic>
        <p:nvPicPr>
          <p:cNvPr id="5"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387240" y="1745307"/>
            <a:ext cx="2804831" cy="761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3"/>
          <p:cNvPicPr/>
          <p:nvPr/>
        </p:nvPicPr>
        <p:blipFill rotWithShape="1">
          <a:blip r:embed="rId1">
            <a:extLst>
              <a:ext uri="{28A0092B-C50C-407E-A947-70E740481C1C}">
                <a14:useLocalDpi xmlns:a14="http://schemas.microsoft.com/office/drawing/2010/main" val="0"/>
              </a:ext>
            </a:extLst>
          </a:blip>
          <a:srcRect l="57242" b="38191"/>
          <a:stretch>
            <a:fillRect/>
          </a:stretch>
        </p:blipFill>
        <p:spPr bwMode="auto">
          <a:xfrm>
            <a:off x="2347020" y="3010279"/>
            <a:ext cx="1108291" cy="40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3354514" y="2960337"/>
            <a:ext cx="4647426" cy="461665"/>
          </a:xfrm>
          <a:prstGeom prst="rect">
            <a:avLst/>
          </a:prstGeom>
        </p:spPr>
        <p:txBody>
          <a:bodyPr wrap="none">
            <a:spAutoFit/>
          </a:bodyPr>
          <a:lstStyle/>
          <a:p>
            <a:r>
              <a:rPr lang="zh-CN" altLang="en-US" sz="2400" dirty="0">
                <a:solidFill>
                  <a:srgbClr val="333333"/>
                </a:solidFill>
                <a:latin typeface="宋体" panose="02010600030101010101" pitchFamily="2" charset="-122"/>
                <a:ea typeface="宋体" panose="02010600030101010101" pitchFamily="2" charset="-122"/>
              </a:rPr>
              <a:t>表示</a:t>
            </a:r>
            <a:r>
              <a:rPr lang="zh-CN" altLang="en-US" sz="2400" dirty="0" smtClean="0">
                <a:solidFill>
                  <a:srgbClr val="333333"/>
                </a:solidFill>
                <a:latin typeface="宋体" panose="02010600030101010101" pitchFamily="2" charset="-122"/>
                <a:ea typeface="宋体" panose="02010600030101010101" pitchFamily="2" charset="-122"/>
              </a:rPr>
              <a:t>像素在</a:t>
            </a:r>
            <a:r>
              <a:rPr lang="en-US" altLang="zh-CN" sz="2400" dirty="0">
                <a:solidFill>
                  <a:srgbClr val="333333"/>
                </a:solidFill>
                <a:latin typeface="宋体" panose="02010600030101010101" pitchFamily="2" charset="-122"/>
                <a:ea typeface="宋体" panose="02010600030101010101" pitchFamily="2" charset="-122"/>
              </a:rPr>
              <a:t>LAB</a:t>
            </a:r>
            <a:r>
              <a:rPr lang="zh-CN" altLang="en-US" sz="2400" dirty="0">
                <a:solidFill>
                  <a:srgbClr val="333333"/>
                </a:solidFill>
                <a:latin typeface="宋体" panose="02010600030101010101" pitchFamily="2" charset="-122"/>
                <a:ea typeface="宋体" panose="02010600030101010101" pitchFamily="2" charset="-122"/>
              </a:rPr>
              <a:t>颜色空间的</a:t>
            </a:r>
            <a:r>
              <a:rPr lang="zh-CN" altLang="en-US" sz="2400" dirty="0" smtClean="0">
                <a:solidFill>
                  <a:srgbClr val="333333"/>
                </a:solidFill>
                <a:latin typeface="宋体" panose="02010600030101010101" pitchFamily="2" charset="-122"/>
                <a:ea typeface="宋体" panose="02010600030101010101" pitchFamily="2" charset="-122"/>
              </a:rPr>
              <a:t>距离。</a:t>
            </a:r>
            <a:endParaRPr lang="zh-CN" altLang="en-US" sz="2400" dirty="0"/>
          </a:p>
        </p:txBody>
      </p:sp>
      <p:sp>
        <p:nvSpPr>
          <p:cNvPr id="4" name="矩形 3"/>
          <p:cNvSpPr/>
          <p:nvPr/>
        </p:nvSpPr>
        <p:spPr>
          <a:xfrm>
            <a:off x="1068592" y="3471944"/>
            <a:ext cx="10452847" cy="1052596"/>
          </a:xfrm>
          <a:prstGeom prst="rect">
            <a:avLst/>
          </a:prstGeom>
        </p:spPr>
        <p:txBody>
          <a:bodyPr wrap="square">
            <a:spAutoFit/>
          </a:bodyPr>
          <a:lstStyle/>
          <a:p>
            <a:pPr algn="just" defTabSz="720090">
              <a:lnSpc>
                <a:spcPct val="130000"/>
              </a:lnSpc>
              <a:spcBef>
                <a:spcPts val="600"/>
              </a:spcBef>
              <a:spcAft>
                <a:spcPts val="600"/>
              </a:spcAft>
              <a:defRPr/>
            </a:pPr>
            <a:r>
              <a:rPr lang="zh-CN" altLang="zh-CN" sz="2400" dirty="0">
                <a:latin typeface="微软雅黑" panose="020B0503020204020204" pitchFamily="34" charset="-122"/>
                <a:ea typeface="微软雅黑" panose="020B0503020204020204" pitchFamily="34" charset="-122"/>
              </a:rPr>
              <a:t>具有相同颜色</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灰度</a:t>
            </a:r>
            <a:r>
              <a:rPr lang="zh-CN" altLang="zh-CN" sz="2400" dirty="0">
                <a:latin typeface="微软雅黑" panose="020B0503020204020204" pitchFamily="34" charset="-122"/>
                <a:ea typeface="微软雅黑" panose="020B0503020204020204" pitchFamily="34" charset="-122"/>
              </a:rPr>
              <a:t>的</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素具有相同的显著性值</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将对应具有相同颜色</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灰度</a:t>
            </a:r>
            <a:r>
              <a:rPr lang="zh-CN" altLang="zh-CN" sz="2400" dirty="0">
                <a:latin typeface="微软雅黑" panose="020B0503020204020204" pitchFamily="34" charset="-122"/>
                <a:ea typeface="微软雅黑" panose="020B0503020204020204" pitchFamily="34" charset="-122"/>
              </a:rPr>
              <a:t>值</a:t>
            </a:r>
            <a:r>
              <a:rPr lang="en-US" altLang="zh-CN" sz="2400" dirty="0">
                <a:latin typeface="微软雅黑" panose="020B0503020204020204" pitchFamily="34" charset="-122"/>
                <a:ea typeface="微软雅黑" panose="020B0503020204020204" pitchFamily="34" charset="-122"/>
              </a:rPr>
              <a:t>c</a:t>
            </a:r>
            <a:r>
              <a:rPr lang="en-US" altLang="zh-CN" sz="2400" baseline="-25000" dirty="0">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的</a:t>
            </a:r>
            <a:r>
              <a:rPr lang="zh-CN" altLang="en-US" sz="2400" dirty="0">
                <a:latin typeface="微软雅黑" panose="020B0503020204020204" pitchFamily="34" charset="-122"/>
                <a:ea typeface="微软雅黑" panose="020B0503020204020204" pitchFamily="34" charset="-122"/>
              </a:rPr>
              <a:t>像</a:t>
            </a:r>
            <a:r>
              <a:rPr lang="zh-CN" altLang="zh-CN" sz="2400" dirty="0">
                <a:latin typeface="微软雅黑" panose="020B0503020204020204" pitchFamily="34" charset="-122"/>
                <a:ea typeface="微软雅黑" panose="020B0503020204020204" pitchFamily="34" charset="-122"/>
              </a:rPr>
              <a:t>素</a:t>
            </a:r>
            <a:r>
              <a:rPr lang="en-US" altLang="zh-CN" sz="2400" dirty="0">
                <a:latin typeface="微软雅黑" panose="020B0503020204020204" pitchFamily="34" charset="-122"/>
                <a:ea typeface="微软雅黑" panose="020B0503020204020204" pitchFamily="34" charset="-122"/>
              </a:rPr>
              <a:t>I</a:t>
            </a:r>
            <a:r>
              <a:rPr lang="en-US" altLang="zh-CN" sz="2400" baseline="-25000" dirty="0">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分在</a:t>
            </a:r>
            <a:r>
              <a:rPr lang="zh-CN" altLang="en-US" sz="2400" dirty="0">
                <a:latin typeface="微软雅黑" panose="020B0503020204020204" pitchFamily="34" charset="-122"/>
                <a:ea typeface="微软雅黑" panose="020B0503020204020204" pitchFamily="34" charset="-122"/>
              </a:rPr>
              <a:t>同</a:t>
            </a:r>
            <a:r>
              <a:rPr lang="zh-CN" altLang="zh-CN" sz="2400" dirty="0">
                <a:latin typeface="微软雅黑" panose="020B0503020204020204" pitchFamily="34" charset="-122"/>
                <a:ea typeface="微软雅黑" panose="020B0503020204020204" pitchFamily="34" charset="-122"/>
              </a:rPr>
              <a:t>一</a:t>
            </a:r>
            <a:r>
              <a:rPr lang="zh-CN" altLang="zh-CN" sz="2400" dirty="0" smtClean="0">
                <a:latin typeface="微软雅黑" panose="020B0503020204020204" pitchFamily="34" charset="-122"/>
                <a:ea typeface="微软雅黑" panose="020B0503020204020204" pitchFamily="34" charset="-122"/>
              </a:rPr>
              <a:t>组</a:t>
            </a:r>
            <a:r>
              <a:rPr lang="zh-CN" altLang="en-US" sz="2400" dirty="0" smtClean="0">
                <a:latin typeface="微软雅黑" panose="020B0503020204020204" pitchFamily="34" charset="-122"/>
                <a:ea typeface="微软雅黑" panose="020B0503020204020204" pitchFamily="34" charset="-122"/>
              </a:rPr>
              <a:t>，即</a:t>
            </a:r>
            <a:endParaRPr lang="en-US" altLang="zh-CN" sz="2400" dirty="0">
              <a:latin typeface="微软雅黑" panose="020B0503020204020204" pitchFamily="34" charset="-122"/>
              <a:ea typeface="微软雅黑" panose="020B0503020204020204" pitchFamily="34" charset="-122"/>
            </a:endParaRPr>
          </a:p>
        </p:txBody>
      </p:sp>
      <p:sp>
        <p:nvSpPr>
          <p:cNvPr id="10" name="矩形 9"/>
          <p:cNvSpPr>
            <a:spLocks noChangeArrowheads="1"/>
          </p:cNvSpPr>
          <p:nvPr/>
        </p:nvSpPr>
        <p:spPr bwMode="auto">
          <a:xfrm>
            <a:off x="6548418" y="5564976"/>
            <a:ext cx="38968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200">
                <a:solidFill>
                  <a:schemeClr val="bg1"/>
                </a:solidFill>
                <a:latin typeface="Times New Roman" panose="02020603050405020304" pitchFamily="18" charset="0"/>
                <a:ea typeface="宋体" panose="02010600030101010101" pitchFamily="2" charset="-122"/>
              </a:defRPr>
            </a:lvl1pPr>
            <a:lvl2pPr marL="742950" indent="-285750">
              <a:defRPr kumimoji="1" sz="3200">
                <a:solidFill>
                  <a:schemeClr val="bg1"/>
                </a:solidFill>
                <a:latin typeface="Times New Roman" panose="02020603050405020304" pitchFamily="18" charset="0"/>
                <a:ea typeface="宋体" panose="02010600030101010101" pitchFamily="2" charset="-122"/>
              </a:defRPr>
            </a:lvl2pPr>
            <a:lvl3pPr marL="1143000" indent="-228600">
              <a:defRPr kumimoji="1" sz="3200">
                <a:solidFill>
                  <a:schemeClr val="bg1"/>
                </a:solidFill>
                <a:latin typeface="Times New Roman" panose="02020603050405020304" pitchFamily="18" charset="0"/>
                <a:ea typeface="宋体" panose="02010600030101010101" pitchFamily="2" charset="-122"/>
              </a:defRPr>
            </a:lvl3pPr>
            <a:lvl4pPr marL="1600200" indent="-228600">
              <a:defRPr kumimoji="1" sz="3200">
                <a:solidFill>
                  <a:schemeClr val="bg1"/>
                </a:solidFill>
                <a:latin typeface="Times New Roman" panose="02020603050405020304" pitchFamily="18" charset="0"/>
                <a:ea typeface="宋体" panose="02010600030101010101" pitchFamily="2" charset="-122"/>
              </a:defRPr>
            </a:lvl4pPr>
            <a:lvl5pPr marL="2057400" indent="-228600">
              <a:defRPr kumimoji="1" sz="3200">
                <a:solidFill>
                  <a:schemeClr val="bg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bg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bg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bg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bg1"/>
                </a:solidFill>
                <a:latin typeface="Times New Roman" panose="02020603050405020304" pitchFamily="18" charset="0"/>
                <a:ea typeface="宋体" panose="02010600030101010101" pitchFamily="2" charset="-122"/>
              </a:defRPr>
            </a:lvl9pPr>
          </a:lstStyle>
          <a:p>
            <a:r>
              <a:rPr lang="zh-CN" altLang="en-US" sz="2400" dirty="0">
                <a:solidFill>
                  <a:schemeClr val="tx1"/>
                </a:solidFill>
                <a:latin typeface="微软雅黑" panose="020B0503020204020204" pitchFamily="34" charset="-122"/>
                <a:ea typeface="微软雅黑" panose="020B0503020204020204" pitchFamily="34" charset="-122"/>
              </a:rPr>
              <a:t>对应直方图表达，计算</a:t>
            </a:r>
            <a:r>
              <a:rPr lang="zh-CN" altLang="en-US" sz="2400" dirty="0" smtClean="0">
                <a:solidFill>
                  <a:schemeClr val="tx1"/>
                </a:solidFill>
                <a:latin typeface="微软雅黑" panose="020B0503020204020204" pitchFamily="34" charset="-122"/>
                <a:ea typeface="微软雅黑" panose="020B0503020204020204" pitchFamily="34" charset="-122"/>
              </a:rPr>
              <a:t>快捷。</a:t>
            </a:r>
            <a:endParaRPr lang="zh-CN" altLang="en-US" sz="2400" dirty="0">
              <a:solidFill>
                <a:schemeClr val="tx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2"/>
          <a:stretch>
            <a:fillRect/>
          </a:stretch>
        </p:blipFill>
        <p:spPr>
          <a:xfrm>
            <a:off x="2447813" y="4507753"/>
            <a:ext cx="3619500" cy="866775"/>
          </a:xfrm>
          <a:prstGeom prst="rect">
            <a:avLst/>
          </a:prstGeom>
        </p:spPr>
      </p:pic>
      <p:pic>
        <p:nvPicPr>
          <p:cNvPr id="13" name="图片 12"/>
          <p:cNvPicPr>
            <a:picLocks noChangeAspect="1"/>
          </p:cNvPicPr>
          <p:nvPr/>
        </p:nvPicPr>
        <p:blipFill>
          <a:blip r:embed="rId3"/>
          <a:stretch>
            <a:fillRect/>
          </a:stretch>
        </p:blipFill>
        <p:spPr>
          <a:xfrm>
            <a:off x="2447813" y="5504285"/>
            <a:ext cx="4100605" cy="55227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109353"/>
    </mc:Choice>
    <mc:Fallback>
      <p:transition spd="slow" advTm="109353"/>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9" y="323995"/>
            <a:ext cx="4480010"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3  </a:t>
            </a:r>
            <a:r>
              <a:rPr lang="zh-CN" altLang="zh-CN" sz="2800" b="1" dirty="0" smtClean="0">
                <a:latin typeface="微软雅黑" panose="020B0503020204020204" pitchFamily="34" charset="-122"/>
                <a:ea typeface="微软雅黑" panose="020B0503020204020204" pitchFamily="34" charset="-122"/>
              </a:rPr>
              <a:t>基于</a:t>
            </a:r>
            <a:r>
              <a:rPr lang="zh-CN" altLang="zh-CN" sz="2800" b="1" dirty="0">
                <a:latin typeface="微软雅黑" panose="020B0503020204020204" pitchFamily="34" charset="-122"/>
                <a:ea typeface="微软雅黑" panose="020B0503020204020204" pitchFamily="34" charset="-122"/>
              </a:rPr>
              <a:t>对比度</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4163209" y="1131653"/>
            <a:ext cx="7304443" cy="2320635"/>
          </a:xfrm>
          <a:prstGeom prst="rect">
            <a:avLst/>
          </a:prstGeom>
        </p:spPr>
        <p:txBody>
          <a:bodyPr wrap="square">
            <a:spAutoFit/>
          </a:bodyPr>
          <a:lstStyle/>
          <a:p>
            <a:pPr defTabSz="720090">
              <a:lnSpc>
                <a:spcPct val="130000"/>
              </a:lnSpc>
              <a:spcBef>
                <a:spcPts val="600"/>
              </a:spcBef>
              <a:spcAft>
                <a:spcPts val="600"/>
              </a:spcAft>
              <a:defRPr/>
            </a:pPr>
            <a:r>
              <a:rPr lang="zh-CN" altLang="en-US" sz="2400" b="1" dirty="0" smtClean="0">
                <a:latin typeface="微软雅黑" panose="020B0503020204020204" pitchFamily="34" charset="-122"/>
                <a:ea typeface="微软雅黑" panose="020B0503020204020204" pitchFamily="34" charset="-122"/>
              </a:rPr>
              <a:t>基于</a:t>
            </a:r>
            <a:r>
              <a:rPr lang="zh-CN" altLang="en-US" sz="2400" b="1" dirty="0">
                <a:latin typeface="微软雅黑" panose="020B0503020204020204" pitchFamily="34" charset="-122"/>
                <a:ea typeface="微软雅黑" panose="020B0503020204020204" pitchFamily="34" charset="-122"/>
              </a:rPr>
              <a:t>区域对比度</a:t>
            </a:r>
            <a:r>
              <a:rPr lang="zh-CN" altLang="en-US" sz="2400" b="1" dirty="0" smtClean="0">
                <a:latin typeface="微软雅黑" panose="020B0503020204020204" pitchFamily="34" charset="-122"/>
                <a:ea typeface="微软雅黑" panose="020B0503020204020204" pitchFamily="34" charset="-122"/>
              </a:rPr>
              <a:t>的显著性检测算法</a:t>
            </a:r>
            <a:endParaRPr lang="en-US" altLang="zh-CN" sz="2400" b="1" dirty="0" smtClean="0">
              <a:latin typeface="微软雅黑" panose="020B0503020204020204" pitchFamily="34" charset="-122"/>
              <a:ea typeface="微软雅黑" panose="020B0503020204020204" pitchFamily="34" charset="-122"/>
            </a:endParaRPr>
          </a:p>
          <a:p>
            <a:pPr defTabSz="720090">
              <a:lnSpc>
                <a:spcPct val="130000"/>
              </a:lnSpc>
              <a:spcBef>
                <a:spcPts val="600"/>
              </a:spcBef>
              <a:spcAft>
                <a:spcPts val="600"/>
              </a:spcAft>
              <a:defRPr/>
            </a:pPr>
            <a:r>
              <a:rPr lang="zh-CN" altLang="en-US" sz="2400" dirty="0" smtClean="0">
                <a:latin typeface="宋体" panose="02010600030101010101" pitchFamily="2" charset="-122"/>
                <a:ea typeface="宋体" panose="02010600030101010101" pitchFamily="2" charset="-122"/>
              </a:rPr>
              <a:t>同一区域具有相同的显著度，</a:t>
            </a:r>
            <a:r>
              <a:rPr lang="zh-CN" altLang="en-US" sz="2400" dirty="0">
                <a:latin typeface="宋体" panose="02010600030101010101" pitchFamily="2" charset="-122"/>
                <a:ea typeface="宋体" panose="02010600030101010101" pitchFamily="2" charset="-122"/>
              </a:rPr>
              <a:t>是基于</a:t>
            </a:r>
            <a:r>
              <a:rPr lang="zh-CN" altLang="en-US" sz="2400" dirty="0">
                <a:latin typeface="宋体" panose="02010600030101010101" pitchFamily="2" charset="-122"/>
                <a:ea typeface="宋体" panose="02010600030101010101" pitchFamily="2" charset="-122"/>
              </a:rPr>
              <a:t>直方图的全局对比度显著性检测</a:t>
            </a:r>
            <a:r>
              <a:rPr lang="zh-CN" altLang="en-US" sz="2400" dirty="0">
                <a:latin typeface="宋体" panose="02010600030101010101" pitchFamily="2" charset="-122"/>
                <a:ea typeface="宋体" panose="02010600030101010101" pitchFamily="2" charset="-122"/>
              </a:rPr>
              <a:t>算法的扩展。</a:t>
            </a:r>
            <a:endParaRPr lang="en-US" altLang="zh-CN" sz="2400" dirty="0">
              <a:latin typeface="宋体" panose="02010600030101010101" pitchFamily="2" charset="-122"/>
              <a:ea typeface="宋体" panose="02010600030101010101" pitchFamily="2" charset="-122"/>
            </a:endParaRPr>
          </a:p>
          <a:p>
            <a:pPr algn="just" defTabSz="720090">
              <a:lnSpc>
                <a:spcPct val="130000"/>
              </a:lnSpc>
              <a:spcBef>
                <a:spcPts val="600"/>
              </a:spcBef>
              <a:spcAft>
                <a:spcPts val="600"/>
              </a:spcAft>
              <a:defRPr/>
            </a:pPr>
            <a:r>
              <a:rPr lang="en-US" altLang="zh-CN" sz="24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pic>
        <p:nvPicPr>
          <p:cNvPr id="12" name="Picture 2" descr="https://pic2.zhimg.com/v2-8ef2418b87198045b2a1f0620488fead_r.jpg"/>
          <p:cNvPicPr>
            <a:picLocks noChangeAspect="1" noChangeArrowheads="1"/>
          </p:cNvPicPr>
          <p:nvPr/>
        </p:nvPicPr>
        <p:blipFill rotWithShape="1">
          <a:blip r:embed="rId1">
            <a:extLst>
              <a:ext uri="{28A0092B-C50C-407E-A947-70E740481C1C}">
                <a14:useLocalDpi xmlns:a14="http://schemas.microsoft.com/office/drawing/2010/main" val="0"/>
              </a:ext>
            </a:extLst>
          </a:blip>
          <a:srcRect l="54365" b="46251"/>
          <a:stretch>
            <a:fillRect/>
          </a:stretch>
        </p:blipFill>
        <p:spPr bwMode="auto">
          <a:xfrm>
            <a:off x="118333" y="841197"/>
            <a:ext cx="3650434" cy="528958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768767" y="2783649"/>
            <a:ext cx="8325667" cy="2306955"/>
          </a:xfrm>
          <a:prstGeom prst="rect">
            <a:avLst/>
          </a:prstGeom>
        </p:spPr>
        <p:txBody>
          <a:bodyPr wrap="square">
            <a:spAutoFit/>
          </a:bodyPr>
          <a:lstStyle/>
          <a:p>
            <a:pPr marL="457200" indent="-457200">
              <a:lnSpc>
                <a:spcPct val="150000"/>
              </a:lnSpc>
              <a:buFont typeface="+mj-ea"/>
              <a:buAutoNum type="circleNumDbPlain"/>
            </a:pPr>
            <a:r>
              <a:rPr lang="zh-CN" altLang="en-US" sz="2400" dirty="0">
                <a:latin typeface="宋体" panose="02010600030101010101" pitchFamily="2" charset="-122"/>
                <a:ea typeface="宋体" panose="02010600030101010101" pitchFamily="2" charset="-122"/>
              </a:rPr>
              <a:t>将图像分割成若干区域</a:t>
            </a:r>
            <a:endParaRPr lang="zh-CN" altLang="en-US" sz="2400" dirty="0">
              <a:latin typeface="宋体" panose="02010600030101010101" pitchFamily="2" charset="-122"/>
              <a:ea typeface="宋体" panose="02010600030101010101" pitchFamily="2" charset="-122"/>
            </a:endParaRPr>
          </a:p>
          <a:p>
            <a:pPr marL="457200" indent="-457200">
              <a:lnSpc>
                <a:spcPct val="150000"/>
              </a:lnSpc>
              <a:buFont typeface="+mj-ea"/>
              <a:buAutoNum type="circleNumDbPlain"/>
            </a:pPr>
            <a:r>
              <a:rPr lang="zh-CN" altLang="en-US" sz="2400" dirty="0">
                <a:latin typeface="宋体" panose="02010600030101010101" pitchFamily="2" charset="-122"/>
                <a:ea typeface="宋体" panose="02010600030101010101" pitchFamily="2" charset="-122"/>
              </a:rPr>
              <a:t>计算区域颜色对比度</a:t>
            </a:r>
            <a:endParaRPr lang="zh-CN" altLang="en-US" sz="2400" dirty="0">
              <a:latin typeface="宋体" panose="02010600030101010101" pitchFamily="2" charset="-122"/>
              <a:ea typeface="宋体" panose="02010600030101010101" pitchFamily="2" charset="-122"/>
            </a:endParaRPr>
          </a:p>
          <a:p>
            <a:pPr marL="457200" indent="-457200">
              <a:lnSpc>
                <a:spcPct val="150000"/>
              </a:lnSpc>
              <a:buFont typeface="+mj-ea"/>
              <a:buAutoNum type="circleNumDbPlain"/>
            </a:pPr>
            <a:r>
              <a:rPr lang="zh-CN" altLang="en-US" sz="2400" dirty="0">
                <a:latin typeface="宋体" panose="02010600030101010101" pitchFamily="2" charset="-122"/>
                <a:ea typeface="宋体" panose="02010600030101010101" pitchFamily="2" charset="-122"/>
              </a:rPr>
              <a:t>区域显著性值定义为当前区域和其他区域对比度加权和。权值由区域空间距离决定，较远的区域分配较小的权值</a:t>
            </a:r>
            <a:endParaRPr lang="zh-CN" altLang="en-US" sz="2400" dirty="0">
              <a:latin typeface="宋体" panose="02010600030101010101" pitchFamily="2" charset="-122"/>
              <a:ea typeface="宋体" panose="02010600030101010101" pitchFamily="2"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83014"/>
    </mc:Choice>
    <mc:Fallback>
      <p:transition spd="slow" advTm="83014"/>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511998" y="323995"/>
            <a:ext cx="4598345"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3  </a:t>
            </a:r>
            <a:r>
              <a:rPr lang="zh-CN" altLang="zh-CN" sz="2800" b="1" dirty="0" smtClean="0">
                <a:latin typeface="微软雅黑" panose="020B0503020204020204" pitchFamily="34" charset="-122"/>
                <a:ea typeface="微软雅黑" panose="020B0503020204020204" pitchFamily="34" charset="-122"/>
              </a:rPr>
              <a:t>基于</a:t>
            </a:r>
            <a:r>
              <a:rPr lang="zh-CN" altLang="zh-CN" sz="2800" b="1" dirty="0">
                <a:latin typeface="微软雅黑" panose="020B0503020204020204" pitchFamily="34" charset="-122"/>
                <a:ea typeface="微软雅黑" panose="020B0503020204020204" pitchFamily="34" charset="-122"/>
              </a:rPr>
              <a:t>对比度</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3115950" y="840681"/>
            <a:ext cx="9000000" cy="1840504"/>
          </a:xfrm>
          <a:prstGeom prst="rect">
            <a:avLst/>
          </a:prstGeom>
        </p:spPr>
        <p:txBody>
          <a:bodyPr wrap="square">
            <a:spAutoFit/>
          </a:bodyPr>
          <a:lstStyle/>
          <a:p>
            <a:pPr defTabSz="720090">
              <a:lnSpc>
                <a:spcPct val="130000"/>
              </a:lnSpc>
              <a:spcBef>
                <a:spcPts val="600"/>
              </a:spcBef>
              <a:spcAft>
                <a:spcPts val="600"/>
              </a:spcAft>
              <a:defRPr/>
            </a:pPr>
            <a:r>
              <a:rPr lang="en-US" altLang="zh-CN" sz="2400"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基于区域对比度的显著性检测</a:t>
            </a:r>
            <a:r>
              <a:rPr lang="zh-CN" altLang="en-US" sz="2400" b="1" dirty="0" smtClean="0">
                <a:latin typeface="微软雅黑" panose="020B0503020204020204" pitchFamily="34" charset="-122"/>
                <a:ea typeface="微软雅黑" panose="020B0503020204020204" pitchFamily="34" charset="-122"/>
              </a:rPr>
              <a:t>算法 </a:t>
            </a:r>
            <a:endParaRPr lang="en-US" altLang="zh-CN" sz="2400" b="1" dirty="0">
              <a:latin typeface="微软雅黑" panose="020B0503020204020204" pitchFamily="34" charset="-122"/>
              <a:ea typeface="微软雅黑" panose="020B0503020204020204" pitchFamily="34" charset="-122"/>
            </a:endParaRPr>
          </a:p>
          <a:p>
            <a:pPr defTabSz="720090">
              <a:lnSpc>
                <a:spcPct val="130000"/>
              </a:lnSpc>
              <a:spcBef>
                <a:spcPts val="600"/>
              </a:spcBef>
              <a:spcAft>
                <a:spcPts val="600"/>
              </a:spcAft>
              <a:defRPr/>
            </a:pPr>
            <a:endParaRPr lang="en-US" altLang="zh-CN" sz="2400" b="1" dirty="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r>
              <a:rPr lang="en-US" altLang="zh-CN" sz="24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6" name="矩形 5"/>
          <p:cNvSpPr/>
          <p:nvPr/>
        </p:nvSpPr>
        <p:spPr>
          <a:xfrm>
            <a:off x="3874235" y="1352516"/>
            <a:ext cx="7734000" cy="830997"/>
          </a:xfrm>
          <a:prstGeom prst="rect">
            <a:avLst/>
          </a:prstGeom>
        </p:spPr>
        <p:txBody>
          <a:bodyPr wrap="square">
            <a:spAutoFit/>
          </a:bodyPr>
          <a:lstStyle/>
          <a:p>
            <a:r>
              <a:rPr lang="zh-CN" altLang="en-US" sz="2400" dirty="0" smtClean="0">
                <a:solidFill>
                  <a:srgbClr val="4D4D4D"/>
                </a:solidFill>
                <a:latin typeface="-apple-system"/>
              </a:rPr>
              <a:t>    对于</a:t>
            </a:r>
            <a:r>
              <a:rPr lang="zh-CN" altLang="en-US" sz="2400" dirty="0">
                <a:solidFill>
                  <a:srgbClr val="4D4D4D"/>
                </a:solidFill>
                <a:latin typeface="-apple-system"/>
              </a:rPr>
              <a:t>每个</a:t>
            </a:r>
            <a:r>
              <a:rPr lang="zh-CN" altLang="en-US" sz="2400" dirty="0" smtClean="0">
                <a:solidFill>
                  <a:srgbClr val="4D4D4D"/>
                </a:solidFill>
                <a:latin typeface="-apple-system"/>
              </a:rPr>
              <a:t>区域</a:t>
            </a:r>
            <a:r>
              <a:rPr lang="zh-CN" altLang="en-US" sz="2400" dirty="0" smtClean="0">
                <a:solidFill>
                  <a:srgbClr val="4D4D4D"/>
                </a:solidFill>
                <a:latin typeface="-apple-system"/>
              </a:rPr>
              <a:t>，测量</a:t>
            </a:r>
            <a:r>
              <a:rPr lang="zh-CN" altLang="en-US" sz="2400" dirty="0">
                <a:solidFill>
                  <a:srgbClr val="4D4D4D"/>
                </a:solidFill>
                <a:latin typeface="-apple-system"/>
              </a:rPr>
              <a:t>它与其他区域的颜色对比度来计算它的显著性</a:t>
            </a:r>
            <a:r>
              <a:rPr lang="zh-CN" altLang="en-US" sz="2400" dirty="0" smtClean="0">
                <a:solidFill>
                  <a:srgbClr val="4D4D4D"/>
                </a:solidFill>
                <a:latin typeface="-apple-system"/>
              </a:rPr>
              <a:t>值。</a:t>
            </a:r>
            <a:endParaRPr lang="zh-CN" altLang="en-US" sz="2400" dirty="0"/>
          </a:p>
        </p:txBody>
      </p:sp>
      <p:pic>
        <p:nvPicPr>
          <p:cNvPr id="8" name="图片 7"/>
          <p:cNvPicPr>
            <a:picLocks noChangeAspect="1"/>
          </p:cNvPicPr>
          <p:nvPr/>
        </p:nvPicPr>
        <p:blipFill>
          <a:blip r:embed="rId1"/>
          <a:stretch>
            <a:fillRect/>
          </a:stretch>
        </p:blipFill>
        <p:spPr>
          <a:xfrm>
            <a:off x="4500830" y="2123408"/>
            <a:ext cx="7107405" cy="4734592"/>
          </a:xfrm>
          <a:prstGeom prst="rect">
            <a:avLst/>
          </a:prstGeom>
        </p:spPr>
      </p:pic>
      <p:pic>
        <p:nvPicPr>
          <p:cNvPr id="7" name="Picture 2" descr="https://pic2.zhimg.com/v2-8ef2418b87198045b2a1f0620488fead_r.jpg"/>
          <p:cNvPicPr>
            <a:picLocks noChangeAspect="1" noChangeArrowheads="1"/>
          </p:cNvPicPr>
          <p:nvPr/>
        </p:nvPicPr>
        <p:blipFill rotWithShape="1">
          <a:blip r:embed="rId2">
            <a:extLst>
              <a:ext uri="{28A0092B-C50C-407E-A947-70E740481C1C}">
                <a14:useLocalDpi xmlns:a14="http://schemas.microsoft.com/office/drawing/2010/main" val="0"/>
              </a:ext>
            </a:extLst>
          </a:blip>
          <a:srcRect l="54365" b="46251"/>
          <a:stretch>
            <a:fillRect/>
          </a:stretch>
        </p:blipFill>
        <p:spPr bwMode="auto">
          <a:xfrm>
            <a:off x="160736" y="1352516"/>
            <a:ext cx="3650434" cy="528958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advTm="83014"/>
    </mc:Choice>
    <mc:Fallback>
      <p:transition spd="slow" advTm="83014"/>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下箭头 4"/>
          <p:cNvSpPr/>
          <p:nvPr/>
        </p:nvSpPr>
        <p:spPr>
          <a:xfrm>
            <a:off x="7143088" y="4227761"/>
            <a:ext cx="193637" cy="5809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1511998" y="323995"/>
            <a:ext cx="4598345" cy="430887"/>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lang="en-US" altLang="zh-CN" sz="2800" b="1" dirty="0" smtClean="0">
                <a:effectLst>
                  <a:innerShdw blurRad="63500" dist="50800" dir="13500000">
                    <a:prstClr val="black">
                      <a:alpha val="50000"/>
                    </a:prstClr>
                  </a:innerShdw>
                </a:effectLst>
                <a:latin typeface="Arial" panose="020B0604020202020204" pitchFamily="34" charset="0"/>
                <a:ea typeface="微软雅黑" panose="020B0503020204020204" pitchFamily="34" charset="-122"/>
                <a:sym typeface="Arial" panose="020B0604020202020204" pitchFamily="34" charset="0"/>
              </a:rPr>
              <a:t>3  </a:t>
            </a:r>
            <a:r>
              <a:rPr lang="zh-CN" altLang="zh-CN" sz="2800" b="1" dirty="0" smtClean="0">
                <a:latin typeface="微软雅黑" panose="020B0503020204020204" pitchFamily="34" charset="-122"/>
                <a:ea typeface="微软雅黑" panose="020B0503020204020204" pitchFamily="34" charset="-122"/>
              </a:rPr>
              <a:t>基于</a:t>
            </a:r>
            <a:r>
              <a:rPr lang="zh-CN" altLang="zh-CN" sz="2800" b="1" dirty="0">
                <a:latin typeface="微软雅黑" panose="020B0503020204020204" pitchFamily="34" charset="-122"/>
                <a:ea typeface="微软雅黑" panose="020B0503020204020204" pitchFamily="34" charset="-122"/>
              </a:rPr>
              <a:t>对比度</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a:latin typeface="微软雅黑" panose="020B0503020204020204" pitchFamily="34" charset="-122"/>
                <a:ea typeface="微软雅黑" panose="020B0503020204020204" pitchFamily="34" charset="-122"/>
              </a:rPr>
              <a:t>显著性</a:t>
            </a:r>
            <a:r>
              <a:rPr lang="zh-CN" altLang="zh-CN" sz="2800" b="1" dirty="0" smtClean="0">
                <a:latin typeface="微软雅黑" panose="020B0503020204020204" pitchFamily="34" charset="-122"/>
                <a:ea typeface="微软雅黑" panose="020B0503020204020204" pitchFamily="34" charset="-122"/>
              </a:rPr>
              <a:t>检测</a:t>
            </a:r>
            <a:endParaRPr kumimoji="0" lang="zh-CN" altLang="en-US" sz="28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3192000" y="813002"/>
            <a:ext cx="9000000" cy="1286506"/>
          </a:xfrm>
          <a:prstGeom prst="rect">
            <a:avLst/>
          </a:prstGeom>
        </p:spPr>
        <p:txBody>
          <a:bodyPr wrap="square">
            <a:spAutoFit/>
          </a:bodyPr>
          <a:lstStyle/>
          <a:p>
            <a:pPr defTabSz="720090">
              <a:lnSpc>
                <a:spcPct val="130000"/>
              </a:lnSpc>
              <a:spcBef>
                <a:spcPts val="600"/>
              </a:spcBef>
              <a:spcAft>
                <a:spcPts val="600"/>
              </a:spcAft>
              <a:defRPr/>
            </a:pPr>
            <a:r>
              <a:rPr lang="en-US" altLang="zh-CN" sz="2400"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基于区域对比度的显著性检测算法</a:t>
            </a:r>
            <a:endParaRPr lang="en-US" altLang="zh-CN" sz="2800" b="1" dirty="0">
              <a:latin typeface="微软雅黑" panose="020B0503020204020204" pitchFamily="34" charset="-122"/>
              <a:ea typeface="微软雅黑" panose="020B0503020204020204" pitchFamily="34" charset="-122"/>
            </a:endParaRPr>
          </a:p>
          <a:p>
            <a:pPr algn="just" defTabSz="720090">
              <a:lnSpc>
                <a:spcPct val="130000"/>
              </a:lnSpc>
              <a:spcBef>
                <a:spcPts val="600"/>
              </a:spcBef>
              <a:spcAft>
                <a:spcPts val="600"/>
              </a:spcAft>
              <a:defRPr/>
            </a:pPr>
            <a:r>
              <a:rPr lang="en-US" altLang="zh-CN" sz="24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6" name="矩形 5"/>
          <p:cNvSpPr/>
          <p:nvPr/>
        </p:nvSpPr>
        <p:spPr>
          <a:xfrm>
            <a:off x="4101938" y="1455739"/>
            <a:ext cx="7799294" cy="1846659"/>
          </a:xfrm>
          <a:prstGeom prst="rect">
            <a:avLst/>
          </a:prstGeom>
        </p:spPr>
        <p:txBody>
          <a:bodyPr wrap="square">
            <a:spAutoFit/>
          </a:bodyPr>
          <a:lstStyle/>
          <a:p>
            <a:r>
              <a:rPr lang="zh-CN" altLang="en-US" sz="2400" b="1" dirty="0">
                <a:solidFill>
                  <a:srgbClr val="4D4D4D"/>
                </a:solidFill>
                <a:latin typeface="-apple-system"/>
              </a:rPr>
              <a:t>空间加权区域对比度</a:t>
            </a:r>
            <a:endParaRPr lang="en-US" altLang="zh-CN" sz="2400" b="1" dirty="0">
              <a:solidFill>
                <a:srgbClr val="4D4D4D"/>
              </a:solidFill>
              <a:latin typeface="-apple-system"/>
            </a:endParaRPr>
          </a:p>
          <a:p>
            <a:pPr>
              <a:lnSpc>
                <a:spcPct val="150000"/>
              </a:lnSpc>
            </a:pPr>
            <a:r>
              <a:rPr lang="zh-CN" altLang="en-US" sz="2000" dirty="0" smtClean="0"/>
              <a:t>引进</a:t>
            </a:r>
            <a:r>
              <a:rPr lang="zh-CN" altLang="en-US" sz="2000" dirty="0"/>
              <a:t>空间权值，增加区域的空间影响效果。近邻的区域增大影响，较远的区域减小影响</a:t>
            </a:r>
            <a:r>
              <a:rPr lang="zh-CN" altLang="en-US" sz="2000" dirty="0" smtClean="0"/>
              <a:t>。</a:t>
            </a:r>
            <a:r>
              <a:rPr lang="zh-CN" altLang="en-US" sz="2000" dirty="0"/>
              <a:t>对任意</a:t>
            </a:r>
            <a:r>
              <a:rPr lang="zh-CN" altLang="en-US" sz="2000" dirty="0" smtClean="0"/>
              <a:t>区域，</a:t>
            </a:r>
            <a:r>
              <a:rPr lang="zh-CN" altLang="en-US" sz="2000" dirty="0"/>
              <a:t>基于空间加权区域对比度的显著性定义为</a:t>
            </a:r>
            <a:endParaRPr lang="zh-CN" altLang="en-US" sz="2000" dirty="0"/>
          </a:p>
        </p:txBody>
      </p:sp>
      <p:pic>
        <p:nvPicPr>
          <p:cNvPr id="8" name="图片 7"/>
          <p:cNvPicPr>
            <a:picLocks noChangeAspect="1"/>
          </p:cNvPicPr>
          <p:nvPr/>
        </p:nvPicPr>
        <p:blipFill rotWithShape="1">
          <a:blip r:embed="rId1"/>
          <a:srcRect b="79376"/>
          <a:stretch>
            <a:fillRect/>
          </a:stretch>
        </p:blipFill>
        <p:spPr>
          <a:xfrm>
            <a:off x="4362907" y="3381120"/>
            <a:ext cx="7063573" cy="970466"/>
          </a:xfrm>
          <a:prstGeom prst="rect">
            <a:avLst/>
          </a:prstGeom>
        </p:spPr>
      </p:pic>
      <p:pic>
        <p:nvPicPr>
          <p:cNvPr id="4" name="图片 3"/>
          <p:cNvPicPr>
            <a:picLocks noChangeAspect="1"/>
          </p:cNvPicPr>
          <p:nvPr/>
        </p:nvPicPr>
        <p:blipFill>
          <a:blip r:embed="rId2"/>
          <a:stretch>
            <a:fillRect/>
          </a:stretch>
        </p:blipFill>
        <p:spPr>
          <a:xfrm>
            <a:off x="4467683" y="4812674"/>
            <a:ext cx="6577474" cy="1829426"/>
          </a:xfrm>
          <a:prstGeom prst="rect">
            <a:avLst/>
          </a:prstGeom>
        </p:spPr>
      </p:pic>
      <p:pic>
        <p:nvPicPr>
          <p:cNvPr id="9" name="Picture 2" descr="https://pic2.zhimg.com/v2-8ef2418b87198045b2a1f0620488fead_r.jpg"/>
          <p:cNvPicPr>
            <a:picLocks noChangeAspect="1" noChangeArrowheads="1"/>
          </p:cNvPicPr>
          <p:nvPr/>
        </p:nvPicPr>
        <p:blipFill rotWithShape="1">
          <a:blip r:embed="rId3">
            <a:extLst>
              <a:ext uri="{28A0092B-C50C-407E-A947-70E740481C1C}">
                <a14:useLocalDpi xmlns:a14="http://schemas.microsoft.com/office/drawing/2010/main" val="0"/>
              </a:ext>
            </a:extLst>
          </a:blip>
          <a:srcRect l="54365" b="46251"/>
          <a:stretch>
            <a:fillRect/>
          </a:stretch>
        </p:blipFill>
        <p:spPr bwMode="auto">
          <a:xfrm>
            <a:off x="160736" y="1352516"/>
            <a:ext cx="3650434" cy="528958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83014"/>
    </mc:Choice>
    <mc:Fallback>
      <p:transition spd="slow" advTm="83014"/>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79786" y="1171526"/>
            <a:ext cx="9352725" cy="2707005"/>
          </a:xfrm>
          <a:prstGeom prst="rect">
            <a:avLst/>
          </a:prstGeom>
          <a:noFill/>
        </p:spPr>
        <p:txBody>
          <a:bodyPr wrap="square" rtlCol="0" anchor="t">
            <a:spAutoFit/>
          </a:bodyPr>
          <a:lstStyle/>
          <a:p>
            <a:pPr algn="just" defTabSz="720090">
              <a:lnSpc>
                <a:spcPct val="125000"/>
              </a:lnSpc>
              <a:spcAft>
                <a:spcPts val="600"/>
              </a:spcAft>
              <a:defRP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基于对比度的显著性检测，含三类方法</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gn="just" defTabSz="720090">
              <a:lnSpc>
                <a:spcPct val="125000"/>
              </a:lnSpc>
              <a:spcAft>
                <a:spcPts val="600"/>
              </a:spcAft>
              <a:buFont typeface="+mj-lt"/>
              <a:buAutoNum type="arabicPeriod"/>
              <a:defRP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局部对比度：小范围对比，快但抗噪差，适合实时、简单场景；</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gn="just" defTabSz="720090">
              <a:lnSpc>
                <a:spcPct val="125000"/>
              </a:lnSpc>
              <a:spcAft>
                <a:spcPts val="600"/>
              </a:spcAft>
              <a:buFont typeface="+mj-lt"/>
              <a:buAutoNum type="arabicPeriod"/>
              <a:defRP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全局对比度：全像素对比，准但计算量大，适合多显著物体场景；</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lgn="just" defTabSz="720090">
              <a:lnSpc>
                <a:spcPct val="125000"/>
              </a:lnSpc>
              <a:spcAft>
                <a:spcPts val="600"/>
              </a:spcAft>
              <a:buFont typeface="+mj-lt"/>
              <a:buAutoNum type="arabicPeriod"/>
              <a:defRP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背景先验：四周为背景，简但依赖目标位置，适合中心目标场景。</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defTabSz="720090">
              <a:lnSpc>
                <a:spcPct val="125000"/>
              </a:lnSpc>
              <a:spcAft>
                <a:spcPts val="600"/>
              </a:spcAft>
              <a:defRP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nvSpPr>
        <p:spPr>
          <a:xfrm>
            <a:off x="1511999" y="323995"/>
            <a:ext cx="2700000" cy="492443"/>
          </a:xfrm>
          <a:prstGeom prst="rect">
            <a:avLst/>
          </a:prstGeom>
          <a:solidFill>
            <a:srgbClr val="EBEDEA"/>
          </a:solidFill>
        </p:spPr>
        <p:txBody>
          <a:bodyPr wrap="square" lIns="0" tIns="0" rIns="0" bIns="0" rtlCol="0">
            <a:spAutoFit/>
            <a:scene3d>
              <a:camera prst="orthographicFront"/>
              <a:lightRig rig="threePt" dir="t"/>
            </a:scene3d>
            <a:sp3d contourW="12700"/>
          </a:bodyPr>
          <a:lstStyle/>
          <a:p>
            <a:pPr lvl="0">
              <a:defRPr/>
            </a:pPr>
            <a:r>
              <a:rPr kumimoji="0" lang="zh-CN" altLang="en-US" sz="3200" b="1" i="0" u="none" strike="noStrike" kern="1200" cap="none" spc="0" normalizeH="0" baseline="0" noProof="0" dirty="0" smtClean="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rPr>
              <a:t>总结</a:t>
            </a:r>
            <a:endParaRPr kumimoji="0" lang="zh-CN" altLang="en-US" sz="3200" b="1" i="0" u="none" strike="noStrike" kern="1200" cap="none" spc="0" normalizeH="0" baseline="0" noProof="0" dirty="0">
              <a:ln>
                <a:noFill/>
              </a:ln>
              <a:effectLst>
                <a:innerShdw blurRad="63500" dist="50800" dir="13500000">
                  <a:prstClr val="black">
                    <a:alpha val="50000"/>
                  </a:prstClr>
                </a:inn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nvSpPr>
        <p:spPr>
          <a:xfrm>
            <a:off x="610235" y="3578860"/>
            <a:ext cx="7239635" cy="2399665"/>
          </a:xfrm>
          <a:prstGeom prst="rect">
            <a:avLst/>
          </a:prstGeom>
        </p:spPr>
        <p:txBody>
          <a:bodyPr wrap="square">
            <a:spAutoFit/>
          </a:bodyPr>
          <a:p>
            <a:pPr defTabSz="266700" fontAlgn="auto">
              <a:lnSpc>
                <a:spcPct val="125000"/>
              </a:lnSpc>
            </a:pPr>
            <a:r>
              <a:rPr lang="zh-CN" altLang="en-US" sz="2400" dirty="0">
                <a:latin typeface="微软雅黑" panose="020B0503020204020204" pitchFamily="34" charset="-122"/>
                <a:ea typeface="微软雅黑" panose="020B0503020204020204" pitchFamily="34" charset="-122"/>
                <a:sym typeface="+mn-ea"/>
              </a:rPr>
              <a:t>基于</a:t>
            </a:r>
            <a:r>
              <a:rPr lang="zh-CN" altLang="en-US" sz="2400" dirty="0" smtClean="0">
                <a:latin typeface="微软雅黑" panose="020B0503020204020204" pitchFamily="34" charset="-122"/>
                <a:ea typeface="微软雅黑" panose="020B0503020204020204" pitchFamily="34" charset="-122"/>
                <a:sym typeface="+mn-ea"/>
              </a:rPr>
              <a:t>对比度显著性检测算法</a:t>
            </a:r>
            <a:r>
              <a:rPr lang="zh-CN" altLang="en-US" sz="2400">
                <a:latin typeface="微软雅黑" panose="020B0503020204020204" pitchFamily="34" charset="-122"/>
                <a:ea typeface="微软雅黑" panose="020B0503020204020204" pitchFamily="34" charset="-122"/>
              </a:rPr>
              <a:t>实现算法分为</a:t>
            </a:r>
            <a:r>
              <a:rPr lang="zh-CN" altLang="en-US"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a:p>
            <a:pPr marL="457200" indent="-457200" defTabSz="266700" fontAlgn="auto">
              <a:lnSpc>
                <a:spcPct val="125000"/>
              </a:lnSpc>
              <a:buFont typeface="+mj-lt"/>
              <a:buAutoNum type="arabicPeriod"/>
            </a:pPr>
            <a:r>
              <a:rPr lang="zh-CN" altLang="en-US" sz="2400" dirty="0">
                <a:latin typeface="微软雅黑" panose="020B0503020204020204" pitchFamily="34" charset="-122"/>
                <a:ea typeface="微软雅黑" panose="020B0503020204020204" pitchFamily="34" charset="-122"/>
                <a:cs typeface="+mn-ea"/>
                <a:sym typeface="+mn-ea"/>
              </a:rPr>
              <a:t>基于直方图的全局对比度</a:t>
            </a:r>
            <a:endParaRPr lang="zh-CN" altLang="en-US" sz="2400" dirty="0">
              <a:latin typeface="微软雅黑" panose="020B0503020204020204" pitchFamily="34" charset="-122"/>
              <a:ea typeface="微软雅黑" panose="020B0503020204020204" pitchFamily="34" charset="-122"/>
              <a:cs typeface="+mn-ea"/>
            </a:endParaRPr>
          </a:p>
          <a:p>
            <a:pPr marL="457200" indent="-457200" defTabSz="266700" fontAlgn="auto">
              <a:lnSpc>
                <a:spcPct val="125000"/>
              </a:lnSpc>
              <a:buFont typeface="+mj-lt"/>
              <a:buAutoNum type="arabicPeriod"/>
            </a:pPr>
            <a:r>
              <a:rPr lang="zh-CN" altLang="en-US" sz="2400" dirty="0">
                <a:latin typeface="微软雅黑" panose="020B0503020204020204" pitchFamily="34" charset="-122"/>
                <a:ea typeface="微软雅黑" panose="020B0503020204020204" pitchFamily="34" charset="-122"/>
                <a:cs typeface="+mn-ea"/>
                <a:sym typeface="+mn-ea"/>
              </a:rPr>
              <a:t>区域对比度</a:t>
            </a:r>
            <a:endParaRPr lang="zh-CN" altLang="en-US" sz="2400" dirty="0">
              <a:latin typeface="微软雅黑" panose="020B0503020204020204" pitchFamily="34" charset="-122"/>
              <a:ea typeface="微软雅黑" panose="020B0503020204020204" pitchFamily="34" charset="-122"/>
              <a:cs typeface="+mn-ea"/>
            </a:endParaRPr>
          </a:p>
          <a:p>
            <a:pPr marL="457200" indent="-457200" algn="l" defTabSz="266700" fontAlgn="auto">
              <a:lnSpc>
                <a:spcPct val="125000"/>
              </a:lnSpc>
              <a:buClrTx/>
              <a:buSzTx/>
              <a:buFont typeface="+mj-lt"/>
              <a:buAutoNum type="arabicPeriod"/>
            </a:pPr>
            <a:r>
              <a:rPr lang="zh-CN" altLang="en-US" sz="2400" dirty="0">
                <a:latin typeface="微软雅黑" panose="020B0503020204020204" pitchFamily="34" charset="-122"/>
                <a:ea typeface="微软雅黑" panose="020B0503020204020204" pitchFamily="34" charset="-122"/>
                <a:cs typeface="+mn-ea"/>
                <a:sym typeface="+mn-ea"/>
              </a:rPr>
              <a:t>空间加权区域对比度</a:t>
            </a:r>
            <a:endParaRPr lang="zh-CN" altLang="en-US" sz="2400" dirty="0">
              <a:latin typeface="微软雅黑" panose="020B0503020204020204" pitchFamily="34" charset="-122"/>
              <a:ea typeface="微软雅黑" panose="020B0503020204020204" pitchFamily="34" charset="-122"/>
              <a:cs typeface="+mn-ea"/>
            </a:endParaRPr>
          </a:p>
          <a:p>
            <a:pPr defTabSz="266700" fontAlgn="auto">
              <a:lnSpc>
                <a:spcPct val="125000"/>
              </a:lnSpc>
            </a:pP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909955" y="2058670"/>
            <a:ext cx="8009890" cy="521970"/>
          </a:xfrm>
          <a:prstGeom prst="rect">
            <a:avLst/>
          </a:prstGeom>
        </p:spPr>
        <p:txBody>
          <a:bodyPr wrap="square">
            <a:spAutoFit/>
          </a:bodyPr>
          <a:lstStyle/>
          <a:p>
            <a:pPr defTabSz="720090"/>
            <a:r>
              <a:rPr lang="zh-CN" altLang="en-US" sz="2800" b="1" dirty="0" smtClean="0">
                <a:latin typeface="微软雅黑" panose="020B0503020204020204" pitchFamily="34" charset="-122"/>
                <a:ea typeface="微软雅黑" panose="020B0503020204020204" pitchFamily="34" charset="-122"/>
              </a:rPr>
              <a:t>编程实现基于频率调谐</a:t>
            </a:r>
            <a:r>
              <a:rPr lang="zh-CN" altLang="zh-CN" sz="2800" b="1" dirty="0" smtClean="0">
                <a:latin typeface="微软雅黑" panose="020B0503020204020204" pitchFamily="34" charset="-122"/>
                <a:ea typeface="微软雅黑" panose="020B0503020204020204" pitchFamily="34" charset="-122"/>
              </a:rPr>
              <a:t>的</a:t>
            </a:r>
            <a:r>
              <a:rPr lang="zh-CN" altLang="en-US" sz="2800" b="1" dirty="0" smtClean="0">
                <a:latin typeface="微软雅黑" panose="020B0503020204020204" pitchFamily="34" charset="-122"/>
                <a:ea typeface="微软雅黑" panose="020B0503020204020204" pitchFamily="34" charset="-122"/>
              </a:rPr>
              <a:t>图像显著性</a:t>
            </a:r>
            <a:r>
              <a:rPr lang="zh-CN" altLang="zh-CN" sz="2800" b="1" dirty="0" smtClean="0">
                <a:latin typeface="微软雅黑" panose="020B0503020204020204" pitchFamily="34" charset="-122"/>
                <a:ea typeface="微软雅黑" panose="020B0503020204020204" pitchFamily="34" charset="-122"/>
              </a:rPr>
              <a:t>检测</a:t>
            </a:r>
            <a:endParaRPr lang="en-US" altLang="zh-CN" sz="2800" b="1" dirty="0">
              <a:latin typeface="微软雅黑" panose="020B0503020204020204" pitchFamily="34" charset="-122"/>
              <a:ea typeface="微软雅黑" panose="020B0503020204020204" pitchFamily="34" charset="-122"/>
            </a:endParaRPr>
          </a:p>
        </p:txBody>
      </p:sp>
      <p:sp>
        <p:nvSpPr>
          <p:cNvPr id="2" name="矩形 1"/>
          <p:cNvSpPr/>
          <p:nvPr/>
        </p:nvSpPr>
        <p:spPr>
          <a:xfrm>
            <a:off x="910019" y="1033828"/>
            <a:ext cx="2316480" cy="521970"/>
          </a:xfrm>
          <a:prstGeom prst="rect">
            <a:avLst/>
          </a:prstGeom>
        </p:spPr>
        <p:txBody>
          <a:bodyPr wrap="none">
            <a:spAutoFit/>
          </a:bodyPr>
          <a:lstStyle/>
          <a:p>
            <a:pPr defTabSz="720090"/>
            <a:r>
              <a:rPr lang="zh-CN" altLang="en-US" sz="2800" b="1" dirty="0" smtClean="0">
                <a:latin typeface="微软雅黑" panose="020B0503020204020204" pitchFamily="34" charset="-122"/>
                <a:ea typeface="微软雅黑" panose="020B0503020204020204" pitchFamily="34" charset="-122"/>
              </a:rPr>
              <a:t>实验（选</a:t>
            </a:r>
            <a:r>
              <a:rPr lang="zh-CN" altLang="en-US" sz="2800" b="1" dirty="0" smtClean="0">
                <a:latin typeface="微软雅黑" panose="020B0503020204020204" pitchFamily="34" charset="-122"/>
                <a:ea typeface="微软雅黑" panose="020B0503020204020204" pitchFamily="34" charset="-122"/>
              </a:rPr>
              <a:t>做）</a:t>
            </a:r>
            <a:endParaRPr lang="zh-CN" altLang="en-US" sz="2800" b="1" dirty="0" smtClean="0">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44805" y="1187450"/>
            <a:ext cx="11501120" cy="5406390"/>
          </a:xfrm>
          <a:prstGeom prst="rect">
            <a:avLst/>
          </a:prstGeom>
        </p:spPr>
        <p:txBody>
          <a:bodyPr wrap="square">
            <a:spAutoFit/>
          </a:bodyPr>
          <a:p>
            <a:pPr>
              <a:spcAft>
                <a:spcPct val="60000"/>
              </a:spcAft>
            </a:pPr>
            <a:r>
              <a:rPr lang="zh-CN" altLang="en-US" sz="2800" b="1"/>
              <a:t>一、填空题</a:t>
            </a:r>
            <a:endParaRPr lang="zh-CN" altLang="en-US" sz="2800" b="1"/>
          </a:p>
          <a:p>
            <a:r>
              <a:rPr lang="en-US" altLang="zh-CN" sz="2000"/>
              <a:t>1. </a:t>
            </a:r>
            <a:r>
              <a:rPr lang="zh-CN" altLang="en-US" sz="2000"/>
              <a:t>显著性是指图像中某些区域更容易吸引人注意的程度，通常来源于目标区域与背景在颜色、亮度、纹理、边缘或方向等底层视觉特征上的</a:t>
            </a:r>
            <a:r>
              <a:rPr lang="en-US" altLang="zh-CN" sz="2000"/>
              <a:t>__________</a:t>
            </a:r>
            <a:r>
              <a:rPr lang="zh-CN" altLang="en-US" sz="2000"/>
              <a:t>和</a:t>
            </a:r>
            <a:r>
              <a:rPr lang="en-US" altLang="zh-CN" sz="2000"/>
              <a:t>__________</a:t>
            </a:r>
            <a:r>
              <a:rPr lang="zh-CN" altLang="en-US" sz="2000"/>
              <a:t>。</a:t>
            </a:r>
            <a:endParaRPr lang="zh-CN" altLang="en-US" sz="2000"/>
          </a:p>
          <a:p>
            <a:r>
              <a:rPr lang="en-US" altLang="zh-CN" sz="2000"/>
              <a:t>2. </a:t>
            </a:r>
            <a:r>
              <a:rPr lang="zh-CN" altLang="en-US" sz="2000"/>
              <a:t>显著性检测是利用计算机视觉算法自动定位图像中的</a:t>
            </a:r>
            <a:r>
              <a:rPr lang="en-US" altLang="zh-CN" sz="2000"/>
              <a:t>__________</a:t>
            </a:r>
            <a:r>
              <a:rPr lang="zh-CN" altLang="en-US" sz="2000"/>
              <a:t>区域，模拟人眼快速关注重要区域的视觉机制。</a:t>
            </a:r>
            <a:endParaRPr lang="zh-CN" altLang="en-US" sz="2000"/>
          </a:p>
          <a:p>
            <a:r>
              <a:rPr lang="en-US" altLang="zh-CN" sz="2000"/>
              <a:t>3. </a:t>
            </a:r>
            <a:r>
              <a:rPr lang="zh-CN" altLang="en-US" sz="2000"/>
              <a:t>图像频率反映像素值在空间中的变化快慢，其中大范围、平滑、缓慢变化的区域属于</a:t>
            </a:r>
            <a:r>
              <a:rPr lang="en-US" altLang="zh-CN" sz="2000"/>
              <a:t>__________</a:t>
            </a:r>
            <a:r>
              <a:rPr lang="zh-CN" altLang="en-US" sz="2000"/>
              <a:t>信息，边界、轮廓等局部突变明显的区域属于</a:t>
            </a:r>
            <a:r>
              <a:rPr lang="en-US" altLang="zh-CN" sz="2000"/>
              <a:t>__________</a:t>
            </a:r>
            <a:r>
              <a:rPr lang="zh-CN" altLang="en-US" sz="2000"/>
              <a:t>信息。</a:t>
            </a:r>
            <a:endParaRPr lang="zh-CN" altLang="en-US" sz="2000"/>
          </a:p>
          <a:p>
            <a:r>
              <a:rPr lang="en-US" altLang="zh-CN" sz="2000"/>
              <a:t>4. </a:t>
            </a:r>
            <a:r>
              <a:rPr lang="zh-CN" altLang="en-US" sz="2000"/>
              <a:t>基于频率调谐的显著性检测算法通常在</a:t>
            </a:r>
            <a:r>
              <a:rPr lang="en-US" altLang="zh-CN" sz="2000"/>
              <a:t>__________</a:t>
            </a:r>
            <a:r>
              <a:rPr lang="zh-CN" altLang="en-US" sz="2000"/>
              <a:t>颜色空间中，计算像素颜色向量与图像平均颜色向量之间的</a:t>
            </a:r>
            <a:r>
              <a:rPr lang="en-US" altLang="zh-CN" sz="2000"/>
              <a:t>__________</a:t>
            </a:r>
            <a:r>
              <a:rPr lang="zh-CN" altLang="en-US" sz="2000"/>
              <a:t>距离。</a:t>
            </a:r>
            <a:endParaRPr lang="zh-CN" altLang="en-US" sz="2000"/>
          </a:p>
          <a:p>
            <a:r>
              <a:rPr lang="en-US" altLang="zh-CN" sz="2000"/>
              <a:t>5. DoG </a:t>
            </a:r>
            <a:r>
              <a:rPr lang="zh-CN" altLang="en-US" sz="2000"/>
              <a:t>的全称是 </a:t>
            </a:r>
            <a:r>
              <a:rPr lang="en-US" altLang="zh-CN" sz="2000"/>
              <a:t>Difference of Gaussian</a:t>
            </a:r>
            <a:r>
              <a:rPr lang="zh-CN" altLang="en-US" sz="2000"/>
              <a:t>，本质上是一种</a:t>
            </a:r>
            <a:r>
              <a:rPr lang="en-US" altLang="zh-CN" sz="2000"/>
              <a:t>__________</a:t>
            </a:r>
            <a:r>
              <a:rPr lang="zh-CN" altLang="en-US" sz="2000"/>
              <a:t>滤波器，可以剔除特别高频的噪声和纹理信息。</a:t>
            </a:r>
            <a:endParaRPr lang="zh-CN" altLang="en-US" sz="2000"/>
          </a:p>
          <a:p>
            <a:r>
              <a:rPr lang="zh-CN" altLang="en-US" sz="2000"/>
              <a:t>答案：</a:t>
            </a:r>
            <a:r>
              <a:rPr lang="en-US" altLang="zh-CN" sz="2000"/>
              <a:t>1 </a:t>
            </a:r>
            <a:r>
              <a:rPr lang="zh-CN" altLang="en-US" sz="2000"/>
              <a:t>差异；对比</a:t>
            </a:r>
            <a:endParaRPr lang="zh-CN" altLang="en-US" sz="2000"/>
          </a:p>
          <a:p>
            <a:r>
              <a:rPr lang="en-US" altLang="zh-CN" sz="2000"/>
              <a:t>2 </a:t>
            </a:r>
            <a:r>
              <a:rPr lang="zh-CN" altLang="en-US" sz="2000"/>
              <a:t>显著</a:t>
            </a:r>
            <a:endParaRPr lang="zh-CN" altLang="en-US" sz="2000"/>
          </a:p>
          <a:p>
            <a:r>
              <a:rPr lang="en-US" altLang="zh-CN" sz="2000"/>
              <a:t>3 </a:t>
            </a:r>
            <a:r>
              <a:rPr lang="zh-CN" altLang="en-US" sz="2000"/>
              <a:t>低频；高频</a:t>
            </a:r>
            <a:endParaRPr lang="zh-CN" altLang="en-US" sz="2000"/>
          </a:p>
          <a:p>
            <a:r>
              <a:rPr lang="en-US" altLang="zh-CN" sz="2000"/>
              <a:t>4 Lab；</a:t>
            </a:r>
            <a:r>
              <a:rPr lang="zh-CN" altLang="en-US" sz="2000"/>
              <a:t>欧氏</a:t>
            </a:r>
            <a:endParaRPr lang="zh-CN" altLang="en-US" sz="2000"/>
          </a:p>
          <a:p>
            <a:r>
              <a:rPr lang="en-US" altLang="zh-CN" sz="2000"/>
              <a:t>5 </a:t>
            </a:r>
            <a:r>
              <a:rPr lang="zh-CN" altLang="en-US" sz="2000"/>
              <a:t>带通</a:t>
            </a:r>
            <a:endParaRPr lang="zh-CN" alt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24840" y="1310640"/>
            <a:ext cx="10493375" cy="3251835"/>
          </a:xfrm>
          <a:prstGeom prst="rect">
            <a:avLst/>
          </a:prstGeom>
        </p:spPr>
        <p:txBody>
          <a:bodyPr wrap="square">
            <a:spAutoFit/>
          </a:bodyPr>
          <a:p>
            <a:pPr>
              <a:spcAft>
                <a:spcPct val="60000"/>
              </a:spcAft>
            </a:pPr>
            <a:r>
              <a:rPr lang="zh-CN" altLang="en-US" sz="2800" b="1"/>
              <a:t>二、判断题</a:t>
            </a:r>
            <a:endParaRPr lang="zh-CN" altLang="en-US" sz="2800" b="1"/>
          </a:p>
          <a:p>
            <a:r>
              <a:rPr lang="en-US" altLang="zh-CN" sz="1600"/>
              <a:t>1. </a:t>
            </a:r>
            <a:r>
              <a:rPr lang="zh-CN" altLang="en-US" sz="1600"/>
              <a:t>显著区域一定是图像中心区域。</a:t>
            </a:r>
            <a:endParaRPr lang="zh-CN" altLang="en-US" sz="1600"/>
          </a:p>
          <a:p>
            <a:r>
              <a:rPr lang="zh-CN" altLang="en-US" sz="1600"/>
              <a:t> （</a:t>
            </a:r>
            <a:r>
              <a:rPr lang="en-US" altLang="zh-CN" sz="1600"/>
              <a:t>×</a:t>
            </a:r>
            <a:r>
              <a:rPr lang="zh-CN" altLang="en-US" sz="1600"/>
              <a:t>）</a:t>
            </a:r>
            <a:endParaRPr lang="zh-CN" altLang="en-US" sz="1600"/>
          </a:p>
          <a:p>
            <a:r>
              <a:rPr lang="en-US" altLang="zh-CN" sz="1600"/>
              <a:t>2. </a:t>
            </a:r>
            <a:r>
              <a:rPr lang="zh-CN" altLang="en-US" sz="1600"/>
              <a:t>高质量显著图应具有突出性、完整性、边界准确性和较高分辨率。</a:t>
            </a:r>
            <a:endParaRPr lang="zh-CN" altLang="en-US" sz="1600"/>
          </a:p>
          <a:p>
            <a:r>
              <a:rPr lang="zh-CN" altLang="en-US" sz="1600"/>
              <a:t> （</a:t>
            </a:r>
            <a:r>
              <a:rPr lang="en-US" altLang="zh-CN" sz="1600"/>
              <a:t>√</a:t>
            </a:r>
            <a:r>
              <a:rPr lang="zh-CN" altLang="en-US" sz="1600"/>
              <a:t>）</a:t>
            </a:r>
            <a:endParaRPr lang="zh-CN" altLang="en-US" sz="1600"/>
          </a:p>
          <a:p>
            <a:r>
              <a:rPr lang="en-US" altLang="zh-CN" sz="1600"/>
              <a:t>3. </a:t>
            </a:r>
            <a:r>
              <a:rPr lang="zh-CN" altLang="en-US" sz="1600"/>
              <a:t>频率调谐显著性检测需要完全保留图像中的最高频纹理和噪声信息。</a:t>
            </a:r>
            <a:endParaRPr lang="zh-CN" altLang="en-US" sz="1600"/>
          </a:p>
          <a:p>
            <a:r>
              <a:rPr lang="zh-CN" altLang="en-US" sz="1600"/>
              <a:t> （</a:t>
            </a:r>
            <a:r>
              <a:rPr lang="en-US" altLang="zh-CN" sz="1600"/>
              <a:t>×</a:t>
            </a:r>
            <a:r>
              <a:rPr lang="zh-CN" altLang="en-US" sz="1600"/>
              <a:t>）</a:t>
            </a:r>
            <a:endParaRPr lang="zh-CN" altLang="en-US" sz="1600"/>
          </a:p>
          <a:p>
            <a:r>
              <a:rPr lang="en-US" altLang="zh-CN" sz="1600"/>
              <a:t>4. </a:t>
            </a:r>
            <a:r>
              <a:rPr lang="zh-CN" altLang="en-US" sz="1600"/>
              <a:t>基于全局对比度的显著性检测通过比较目标像素或区域与图像中其他像素或区域的差异来计算显著性。</a:t>
            </a:r>
            <a:endParaRPr lang="zh-CN" altLang="en-US" sz="1600"/>
          </a:p>
          <a:p>
            <a:r>
              <a:rPr lang="zh-CN" altLang="en-US" sz="1600"/>
              <a:t> （</a:t>
            </a:r>
            <a:r>
              <a:rPr lang="en-US" altLang="zh-CN" sz="1600"/>
              <a:t>√</a:t>
            </a:r>
            <a:r>
              <a:rPr lang="zh-CN" altLang="en-US" sz="1600"/>
              <a:t>）</a:t>
            </a:r>
            <a:endParaRPr lang="zh-CN" altLang="en-US" sz="1600"/>
          </a:p>
          <a:p>
            <a:r>
              <a:rPr lang="en-US" altLang="zh-CN" sz="1600"/>
              <a:t>5. </a:t>
            </a:r>
            <a:r>
              <a:rPr lang="zh-CN" altLang="en-US" sz="1600"/>
              <a:t>背景先验方法通常假设图像四周为背景，因此对非中心目标或目标靠近边界的图像可能不适用。</a:t>
            </a:r>
            <a:endParaRPr lang="zh-CN" altLang="en-US" sz="1600"/>
          </a:p>
          <a:p>
            <a:r>
              <a:rPr lang="zh-CN" altLang="en-US" sz="1600"/>
              <a:t> （</a:t>
            </a:r>
            <a:r>
              <a:rPr lang="en-US" altLang="zh-CN" sz="1600"/>
              <a:t>√</a:t>
            </a:r>
            <a:r>
              <a:rPr lang="zh-CN" altLang="en-US" sz="1600"/>
              <a:t>）</a:t>
            </a:r>
            <a:endParaRPr lang="zh-CN" altLang="en-US" sz="1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70815" y="996315"/>
            <a:ext cx="6100445" cy="4824730"/>
          </a:xfrm>
          <a:prstGeom prst="rect">
            <a:avLst/>
          </a:prstGeom>
        </p:spPr>
      </p:pic>
      <p:sp>
        <p:nvSpPr>
          <p:cNvPr id="4" name="矩形 3"/>
          <p:cNvSpPr/>
          <p:nvPr/>
        </p:nvSpPr>
        <p:spPr>
          <a:xfrm>
            <a:off x="1372870" y="325120"/>
            <a:ext cx="1333500" cy="521970"/>
          </a:xfrm>
          <a:prstGeom prst="rect">
            <a:avLst/>
          </a:prstGeom>
        </p:spPr>
        <p:txBody>
          <a:bodyPr wrap="square">
            <a:spAutoFit/>
          </a:bodyPr>
          <a:lstStyle/>
          <a:p>
            <a:pPr defTabSz="720090"/>
            <a:r>
              <a:rPr lang="zh-CN" altLang="en-US" sz="2800" b="1" dirty="0" smtClean="0">
                <a:latin typeface="微软雅黑" panose="020B0503020204020204" pitchFamily="34" charset="-122"/>
                <a:ea typeface="微软雅黑" panose="020B0503020204020204" pitchFamily="34" charset="-122"/>
              </a:rPr>
              <a:t>计算</a:t>
            </a:r>
            <a:r>
              <a:rPr lang="zh-CN" altLang="en-US" sz="2800" b="1" dirty="0" smtClean="0">
                <a:latin typeface="微软雅黑" panose="020B0503020204020204" pitchFamily="34" charset="-122"/>
                <a:ea typeface="微软雅黑" panose="020B0503020204020204" pitchFamily="34" charset="-122"/>
              </a:rPr>
              <a:t>题</a:t>
            </a:r>
            <a:endParaRPr lang="zh-CN" altLang="en-US" sz="2800" b="1" dirty="0" smtClean="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5842635" y="996315"/>
            <a:ext cx="6202045" cy="39211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1120" y="142240"/>
            <a:ext cx="11832590" cy="6657975"/>
          </a:xfrm>
          <a:prstGeom prst="rect">
            <a:avLst/>
          </a:prstGeom>
        </p:spPr>
        <p:txBody>
          <a:bodyPr wrap="square">
            <a:noAutofit/>
          </a:bodyPr>
          <a:p>
            <a:pPr>
              <a:spcAft>
                <a:spcPct val="60000"/>
              </a:spcAft>
            </a:pPr>
            <a:r>
              <a:rPr lang="zh-CN" altLang="en-US" sz="2300" b="1"/>
              <a:t>四、简答题</a:t>
            </a:r>
            <a:endParaRPr lang="zh-CN" altLang="en-US" sz="2300" b="1"/>
          </a:p>
          <a:p>
            <a:r>
              <a:rPr lang="en-US" altLang="zh-CN" sz="2000"/>
              <a:t>1. </a:t>
            </a:r>
            <a:r>
              <a:rPr lang="zh-CN" altLang="en-US" sz="2000"/>
              <a:t>什么是显著区域？什么是显著性检测？</a:t>
            </a:r>
            <a:endParaRPr lang="zh-CN" altLang="en-US" sz="2000"/>
          </a:p>
          <a:p>
            <a:r>
              <a:rPr lang="zh-CN" altLang="en-US" sz="2000"/>
              <a:t> 显著区域是图像中最容易引起人眼注意、相对重要的区域。显著性检测是利用计算机视觉算法自动定位图像中的显著区域，模拟人眼快速关注重要区域的视觉机制。</a:t>
            </a:r>
            <a:endParaRPr lang="zh-CN" altLang="en-US" sz="2000"/>
          </a:p>
          <a:p>
            <a:r>
              <a:rPr lang="en-US" altLang="zh-CN" sz="2000"/>
              <a:t>2. </a:t>
            </a:r>
            <a:r>
              <a:rPr lang="zh-CN" altLang="en-US" sz="2000"/>
              <a:t>高质量显著图应具备哪些特点？</a:t>
            </a:r>
            <a:endParaRPr lang="zh-CN" altLang="en-US" sz="2000"/>
          </a:p>
          <a:p>
            <a:r>
              <a:rPr lang="zh-CN" altLang="en-US" sz="2000"/>
              <a:t> 高质量显著图应具备突出性、完整性、边界准确性和高分辨率。突出性要求显著目标响应明显；完整性要求目标整体被均匀检测；边界准确性要求前景与背景分离清楚；高分辨率有利于保留细节并服务后续应用。</a:t>
            </a:r>
            <a:endParaRPr lang="zh-CN" altLang="en-US" sz="2000"/>
          </a:p>
          <a:p>
            <a:r>
              <a:rPr lang="en-US" altLang="zh-CN" sz="2000"/>
              <a:t>3. </a:t>
            </a:r>
            <a:r>
              <a:rPr lang="zh-CN" altLang="en-US" sz="2000"/>
              <a:t>请解释低频信息、高频信息和更高频信息在图像中的含义，并分别举例。</a:t>
            </a:r>
            <a:endParaRPr lang="zh-CN" altLang="en-US" sz="2000"/>
          </a:p>
          <a:p>
            <a:r>
              <a:rPr lang="zh-CN" altLang="en-US" sz="2000"/>
              <a:t> 低频信息表示像素值在空间中变化缓慢，常对应天空、草坪、大物体内部等平滑区域。高频信息表示像素值发生明显突变，常对应物体边界、轮廓等区域。更高频信息通常指细小、密集、重复变化的区域，如纹理、毛发、草叶和噪声。</a:t>
            </a:r>
            <a:endParaRPr lang="zh-CN" altLang="en-US" sz="2000"/>
          </a:p>
          <a:p>
            <a:r>
              <a:rPr lang="en-US" altLang="zh-CN" sz="2000"/>
              <a:t>4. </a:t>
            </a:r>
            <a:r>
              <a:rPr lang="zh-CN" altLang="en-US" sz="2000"/>
              <a:t>基于频率调谐的显著性检测算法的基本思想是什么？</a:t>
            </a:r>
            <a:endParaRPr lang="zh-CN" altLang="en-US" sz="2000"/>
          </a:p>
          <a:p>
            <a:r>
              <a:rPr lang="zh-CN" altLang="en-US" sz="2000"/>
              <a:t> 该方法的核心思想是在 </a:t>
            </a:r>
            <a:r>
              <a:rPr lang="en-US" altLang="zh-CN" sz="2000"/>
              <a:t>Lab </a:t>
            </a:r>
            <a:r>
              <a:rPr lang="zh-CN" altLang="en-US" sz="2000"/>
              <a:t>颜色空间中计算每个像素与图像平均颜色向量之间的差异。像素颜色与整体平均颜色差异越大，说明该像素越不同于图像整体背景，其显著性越高。同时通过高斯滤波或 </a:t>
            </a:r>
            <a:r>
              <a:rPr lang="en-US" altLang="zh-CN" sz="2000"/>
              <a:t>DoG </a:t>
            </a:r>
            <a:r>
              <a:rPr lang="zh-CN" altLang="en-US" sz="2000"/>
              <a:t>思想抑制纹理、噪声等高频干扰，使显著图更关注主要目标。</a:t>
            </a:r>
            <a:endParaRPr lang="zh-CN" altLang="en-US" sz="2000"/>
          </a:p>
          <a:p>
            <a:r>
              <a:rPr lang="en-US" altLang="zh-CN" sz="2000"/>
              <a:t>5. </a:t>
            </a:r>
            <a:r>
              <a:rPr lang="zh-CN" altLang="en-US" sz="2000"/>
              <a:t>基于对比度的显著性检测主要包括哪三类方法？各自有什么特点？</a:t>
            </a:r>
            <a:endParaRPr lang="zh-CN" altLang="en-US" sz="2000"/>
          </a:p>
          <a:p>
            <a:r>
              <a:rPr lang="zh-CN" altLang="en-US" sz="2000"/>
              <a:t> 主要包括局部对比度、全局对比度和背景先验三类方法。局部对比度方法只在小范围内比较像素差异，计算速度快，但容易受噪声影响，缺乏全局信息。全局对比度方法将像素或区域与整幅图像中其他像素或区域比较，能较好反映整体显著性，但计算量较大。背景先验方法通常假设图像四周为背景，方法简单有效，但当目标靠近边界或不符合中心目标假设时效果可能下降。</a:t>
            </a:r>
            <a:endParaRPr lang="zh-CN" altLang="en-US" sz="200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ISLIDE.PICTURE" val="#209955;#209955;"/>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ISLIDE.PICTURE" val="#209955;#209955;"/>
</p:tagLst>
</file>

<file path=ppt/tags/tag11.xml><?xml version="1.0" encoding="utf-8"?>
<p:tagLst xmlns:p="http://schemas.openxmlformats.org/presentationml/2006/main">
  <p:tag name="ISLIDE.PICTURE" val="#209955;#209955;"/>
</p:tagLst>
</file>

<file path=ppt/tags/tag12.xml><?xml version="1.0" encoding="utf-8"?>
<p:tagLst xmlns:p="http://schemas.openxmlformats.org/presentationml/2006/main">
  <p:tag name="ISLIDE.PICTURE" val="#209955;#209955;"/>
</p:tagLst>
</file>

<file path=ppt/tags/tag13.xml><?xml version="1.0" encoding="utf-8"?>
<p:tagLst xmlns:p="http://schemas.openxmlformats.org/presentationml/2006/main">
  <p:tag name="ISLIDE.PICTURE" val="#209955;#209955;"/>
</p:tagLst>
</file>

<file path=ppt/tags/tag14.xml><?xml version="1.0" encoding="utf-8"?>
<p:tagLst xmlns:p="http://schemas.openxmlformats.org/presentationml/2006/main">
  <p:tag name="ISLIDE.PICTURE" val="#209955;#209955;"/>
</p:tagLst>
</file>

<file path=ppt/tags/tag15.xml><?xml version="1.0" encoding="utf-8"?>
<p:tagLst xmlns:p="http://schemas.openxmlformats.org/presentationml/2006/main">
  <p:tag name="ISLIDE.PICTURE" val="#209955;#209955;"/>
</p:tagLst>
</file>

<file path=ppt/tags/tag16.xml><?xml version="1.0" encoding="utf-8"?>
<p:tagLst xmlns:p="http://schemas.openxmlformats.org/presentationml/2006/main">
  <p:tag name="ISLIDE.PICTURE" val="#209955;#209955;"/>
</p:tagLst>
</file>

<file path=ppt/tags/tag17.xml><?xml version="1.0" encoding="utf-8"?>
<p:tagLst xmlns:p="http://schemas.openxmlformats.org/presentationml/2006/main">
  <p:tag name="ISLIDE.PICTURE" val="#209955;#209955;"/>
</p:tagLst>
</file>

<file path=ppt/tags/tag18.xml><?xml version="1.0" encoding="utf-8"?>
<p:tagLst xmlns:p="http://schemas.openxmlformats.org/presentationml/2006/main">
  <p:tag name="ISLIDE.PICTURE" val="#209955;#209955;"/>
</p:tagLst>
</file>

<file path=ppt/tags/tag19.xml><?xml version="1.0" encoding="utf-8"?>
<p:tagLst xmlns:p="http://schemas.openxmlformats.org/presentationml/2006/main">
  <p:tag name="ISLIDE.PICTURE" val="#209955;#209955;"/>
</p:tagLst>
</file>

<file path=ppt/tags/tag20.xml><?xml version="1.0" encoding="utf-8"?>
<p:tagLst xmlns:p="http://schemas.openxmlformats.org/presentationml/2006/main">
  <p:tag name="ISLIDE.PICTURE" val="#209955;#209955;"/>
</p:tagLst>
</file>

<file path=ppt/tags/tag21.xml><?xml version="1.0" encoding="utf-8"?>
<p:tagLst xmlns:p="http://schemas.openxmlformats.org/presentationml/2006/main">
  <p:tag name="ISLIDE.PICTURE" val="#209955;#209955;"/>
</p:tagLst>
</file>

<file path=ppt/tags/tag22.xml><?xml version="1.0" encoding="utf-8"?>
<p:tagLst xmlns:p="http://schemas.openxmlformats.org/presentationml/2006/main">
  <p:tag name="ISLIDE.PICTURE" val="#209955;#209955;"/>
</p:tagLst>
</file>

<file path=ppt/tags/tag23.xml><?xml version="1.0" encoding="utf-8"?>
<p:tagLst xmlns:p="http://schemas.openxmlformats.org/presentationml/2006/main">
  <p:tag name="ISLIDE.PICTURE" val="#209955;#209955;"/>
</p:tagLst>
</file>

<file path=ppt/tags/tag24.xml><?xml version="1.0" encoding="utf-8"?>
<p:tagLst xmlns:p="http://schemas.openxmlformats.org/presentationml/2006/main">
  <p:tag name="COMMONDATA" val="eyJoZGlkIjoiYjQ4Y2I1Y2RlNWNmZmJlZjE1MTIzNGJlYTJiNGZhMT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4084</Words>
  <Application>WPS 演示</Application>
  <PresentationFormat>宽屏</PresentationFormat>
  <Paragraphs>227</Paragraphs>
  <Slides>26</Slides>
  <Notes>7</Notes>
  <HiddenSlides>0</HiddenSlides>
  <MMClips>16</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7</vt:i4>
      </vt:variant>
      <vt:variant>
        <vt:lpstr>幻灯片标题</vt:lpstr>
      </vt:variant>
      <vt:variant>
        <vt:i4>26</vt:i4>
      </vt:variant>
    </vt:vector>
  </HeadingPairs>
  <TitlesOfParts>
    <vt:vector size="53" baseType="lpstr">
      <vt:lpstr>Arial</vt:lpstr>
      <vt:lpstr>宋体</vt:lpstr>
      <vt:lpstr>Wingdings</vt:lpstr>
      <vt:lpstr>华康黑体W7(P)</vt:lpstr>
      <vt:lpstr>Century Gothic</vt:lpstr>
      <vt:lpstr>微软雅黑</vt:lpstr>
      <vt:lpstr>华康黑体W3(P)</vt:lpstr>
      <vt:lpstr>黑体</vt:lpstr>
      <vt:lpstr>华康黑体W5(P)</vt:lpstr>
      <vt:lpstr>Arial</vt:lpstr>
      <vt:lpstr>Wingdings</vt:lpstr>
      <vt:lpstr>-apple-system</vt:lpstr>
      <vt:lpstr>ZWSimpleStroke</vt:lpstr>
      <vt:lpstr>Times New Roman</vt:lpstr>
      <vt:lpstr>PingFang SC</vt:lpstr>
      <vt:lpstr>Calibri</vt:lpstr>
      <vt:lpstr>Arial Unicode MS</vt:lpstr>
      <vt:lpstr>Calibri Light</vt:lpstr>
      <vt:lpstr>等线</vt:lpstr>
      <vt:lpstr>Office 主题</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章毓晋</dc:creator>
  <cp:keywords>第4章	显著性检测 </cp:keywords>
  <dc:subject>计算机视觉教程（第3版）</dc:subject>
  <cp:lastModifiedBy>WD</cp:lastModifiedBy>
  <cp:revision>421</cp:revision>
  <dcterms:created xsi:type="dcterms:W3CDTF">2020-01-07T03:26:00Z</dcterms:created>
  <dcterms:modified xsi:type="dcterms:W3CDTF">2026-05-18T14:28:58Z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9D5B7FCE4E6E4A018174DA5140E73AB8_13</vt:lpwstr>
  </property>
</Properties>
</file>