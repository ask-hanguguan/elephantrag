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2" r:id="rId5"/>
    <p:sldId id="286" r:id="rId6"/>
    <p:sldId id="283" r:id="rId7"/>
    <p:sldId id="285" r:id="rId8"/>
    <p:sldId id="284" r:id="rId9"/>
    <p:sldId id="258" r:id="rId10"/>
    <p:sldId id="314" r:id="rId11"/>
    <p:sldId id="259" r:id="rId12"/>
    <p:sldId id="261" r:id="rId13"/>
    <p:sldId id="262" r:id="rId14"/>
    <p:sldId id="263" r:id="rId15"/>
    <p:sldId id="264" r:id="rId16"/>
    <p:sldId id="265" r:id="rId17"/>
    <p:sldId id="266" r:id="rId18"/>
    <p:sldId id="267" r:id="rId19"/>
    <p:sldId id="268" r:id="rId20"/>
    <p:sldId id="269" r:id="rId21"/>
    <p:sldId id="337"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021041" y="526002"/>
            <a:ext cx="8915399" cy="2262781"/>
          </a:xfrm>
        </p:spPr>
        <p:txBody>
          <a:bodyPr/>
          <a:lstStyle/>
          <a:p>
            <a:pPr algn="ctr"/>
            <a:r>
              <a:rPr lang="zh-CN" altLang="en-US" dirty="0"/>
              <a:t>数据挖掘算法原理与实现</a:t>
            </a:r>
            <a:endParaRPr lang="zh-CN" altLang="en-US" dirty="0"/>
          </a:p>
        </p:txBody>
      </p:sp>
      <p:sp>
        <p:nvSpPr>
          <p:cNvPr id="3" name="副标题 2"/>
          <p:cNvSpPr>
            <a:spLocks noGrp="1"/>
          </p:cNvSpPr>
          <p:nvPr>
            <p:ph type="subTitle" idx="1"/>
          </p:nvPr>
        </p:nvSpPr>
        <p:spPr/>
        <p:txBody>
          <a:bodyPr>
            <a:normAutofit/>
          </a:bodyPr>
          <a:lstStyle/>
          <a:p>
            <a:pPr algn="ctr"/>
            <a:r>
              <a:rPr lang="zh-CN" altLang="en-US" sz="4400" dirty="0"/>
              <a:t>第一章 绪论</a:t>
            </a:r>
            <a:endParaRPr lang="zh-CN" alt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数据挖掘的概念</a:t>
            </a:r>
            <a:endParaRPr lang="zh-CN" altLang="en-US" dirty="0"/>
          </a:p>
        </p:txBody>
      </p:sp>
      <p:sp>
        <p:nvSpPr>
          <p:cNvPr id="3" name="内容占位符 2"/>
          <p:cNvSpPr>
            <a:spLocks noGrp="1"/>
          </p:cNvSpPr>
          <p:nvPr>
            <p:ph idx="1"/>
          </p:nvPr>
        </p:nvSpPr>
        <p:spPr/>
        <p:txBody>
          <a:bodyPr>
            <a:normAutofit/>
          </a:bodyPr>
          <a:lstStyle/>
          <a:p>
            <a:r>
              <a:rPr lang="en-US" altLang="zh-CN" sz="2800" dirty="0"/>
              <a:t>   </a:t>
            </a:r>
            <a:r>
              <a:rPr lang="en-US" altLang="zh-CN" sz="3600" dirty="0"/>
              <a:t> </a:t>
            </a:r>
            <a:r>
              <a:rPr lang="zh-CN" altLang="zh-CN" sz="3600" dirty="0">
                <a:ea typeface="楷体" panose="02010609060101010101" pitchFamily="49" charset="-122"/>
              </a:rPr>
              <a:t>数据挖掘（</a:t>
            </a:r>
            <a:r>
              <a:rPr lang="en-US" altLang="zh-CN" sz="3600" dirty="0">
                <a:ea typeface="楷体" panose="02010609060101010101" pitchFamily="49" charset="-122"/>
              </a:rPr>
              <a:t>Data Mining</a:t>
            </a:r>
            <a:r>
              <a:rPr lang="zh-CN" altLang="zh-CN" sz="3600" dirty="0">
                <a:ea typeface="楷体" panose="02010609060101010101" pitchFamily="49" charset="-122"/>
              </a:rPr>
              <a:t>，</a:t>
            </a:r>
            <a:r>
              <a:rPr lang="en-US" altLang="zh-CN" sz="3600" b="1" dirty="0">
                <a:ea typeface="楷体" panose="02010609060101010101" pitchFamily="49" charset="-122"/>
              </a:rPr>
              <a:t>DM</a:t>
            </a:r>
            <a:r>
              <a:rPr lang="zh-CN" altLang="zh-CN" sz="3600" dirty="0">
                <a:ea typeface="楷体" panose="02010609060101010101" pitchFamily="49" charset="-122"/>
              </a:rPr>
              <a:t>）又称数据库中的知识发现（</a:t>
            </a:r>
            <a:r>
              <a:rPr lang="en-US" altLang="zh-CN" sz="3600" dirty="0">
                <a:ea typeface="楷体" panose="02010609060101010101" pitchFamily="49" charset="-122"/>
              </a:rPr>
              <a:t>Knowledge Discover in Database</a:t>
            </a:r>
            <a:r>
              <a:rPr lang="zh-CN" altLang="zh-CN" sz="3600" dirty="0">
                <a:ea typeface="楷体" panose="02010609060101010101" pitchFamily="49" charset="-122"/>
              </a:rPr>
              <a:t>，</a:t>
            </a:r>
            <a:r>
              <a:rPr lang="en-US" altLang="zh-CN" sz="3600" b="1" dirty="0">
                <a:ea typeface="楷体" panose="02010609060101010101" pitchFamily="49" charset="-122"/>
              </a:rPr>
              <a:t>KDD</a:t>
            </a:r>
            <a:r>
              <a:rPr lang="zh-CN" altLang="zh-CN" sz="3600" dirty="0">
                <a:ea typeface="楷体" panose="02010609060101010101" pitchFamily="49" charset="-122"/>
              </a:rPr>
              <a:t>）。</a:t>
            </a:r>
            <a:endParaRPr lang="en-US" altLang="zh-CN" sz="3600" dirty="0">
              <a:ea typeface="楷体" panose="02010609060101010101" pitchFamily="49" charset="-122"/>
            </a:endParaRPr>
          </a:p>
          <a:p>
            <a:pPr marL="0" indent="0">
              <a:buNone/>
            </a:pPr>
            <a:endParaRPr lang="en-US" altLang="zh-CN" sz="3600" dirty="0">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1939925" y="1384935"/>
            <a:ext cx="9564370" cy="4708525"/>
          </a:xfrm>
        </p:spPr>
        <p:txBody>
          <a:bodyPr>
            <a:normAutofit lnSpcReduction="10000"/>
          </a:bodyPr>
          <a:p>
            <a:r>
              <a:rPr lang="en-US" altLang="zh-CN" sz="3200" b="1" i="1" dirty="0">
                <a:ea typeface="楷体" panose="02010609060101010101" pitchFamily="49" charset="-122"/>
                <a:sym typeface="+mn-ea"/>
              </a:rPr>
              <a:t>    </a:t>
            </a:r>
            <a:r>
              <a:rPr lang="zh-CN" altLang="zh-CN" sz="3200" b="1" i="1" dirty="0">
                <a:ea typeface="楷体" panose="02010609060101010101" pitchFamily="49" charset="-122"/>
                <a:sym typeface="+mn-ea"/>
              </a:rPr>
              <a:t>数据挖掘就是从数据库的大量数据中挖掘出有用的信息，即从</a:t>
            </a:r>
            <a:r>
              <a:rPr lang="zh-CN" altLang="zh-CN" sz="3200" b="1" i="1" dirty="0">
                <a:solidFill>
                  <a:schemeClr val="accent1"/>
                </a:solidFill>
                <a:effectLst>
                  <a:outerShdw blurRad="38100" dist="25400" dir="5400000" algn="ctr" rotWithShape="0">
                    <a:srgbClr val="6E747A">
                      <a:alpha val="43000"/>
                    </a:srgbClr>
                  </a:outerShdw>
                </a:effectLst>
                <a:ea typeface="楷体" panose="02010609060101010101" pitchFamily="49" charset="-122"/>
                <a:sym typeface="+mn-ea"/>
              </a:rPr>
              <a:t>大量的、不完全的、有噪声的、模糊的、随机的</a:t>
            </a:r>
            <a:r>
              <a:rPr lang="zh-CN" altLang="zh-CN" sz="3200" b="1" i="1" dirty="0">
                <a:ea typeface="楷体" panose="02010609060101010101" pitchFamily="49" charset="-122"/>
                <a:sym typeface="+mn-ea"/>
              </a:rPr>
              <a:t>实际应用数据中，发现</a:t>
            </a:r>
            <a:r>
              <a:rPr lang="zh-CN" altLang="zh-CN" sz="3200" b="1" i="1" dirty="0">
                <a:solidFill>
                  <a:schemeClr val="accent1"/>
                </a:solidFill>
                <a:effectLst>
                  <a:outerShdw blurRad="38100" dist="25400" dir="5400000" algn="ctr" rotWithShape="0">
                    <a:srgbClr val="6E747A">
                      <a:alpha val="43000"/>
                    </a:srgbClr>
                  </a:outerShdw>
                </a:effectLst>
                <a:ea typeface="楷体" panose="02010609060101010101" pitchFamily="49" charset="-122"/>
                <a:sym typeface="+mn-ea"/>
              </a:rPr>
              <a:t>隐含的、规律性的、人们事先未知的，但又是潜在有用的并且最终可理解的</a:t>
            </a:r>
            <a:r>
              <a:rPr lang="zh-CN" altLang="zh-CN" sz="3200" b="1" i="1" dirty="0">
                <a:ea typeface="楷体" panose="02010609060101010101" pitchFamily="49" charset="-122"/>
                <a:sym typeface="+mn-ea"/>
              </a:rPr>
              <a:t>信息和知识的非平凡过程。</a:t>
            </a:r>
            <a:endParaRPr lang="zh-CN" altLang="zh-CN" sz="3200" b="1" i="1" dirty="0">
              <a:ea typeface="楷体" panose="02010609060101010101" pitchFamily="49" charset="-122"/>
              <a:sym typeface="+mn-ea"/>
            </a:endParaRPr>
          </a:p>
          <a:p>
            <a:endParaRPr lang="en-US" altLang="zh-CN" sz="2400" b="1" i="1" dirty="0">
              <a:ea typeface="楷体" panose="02010609060101010101" pitchFamily="49" charset="-122"/>
            </a:endParaRPr>
          </a:p>
          <a:p>
            <a:pPr marL="0" indent="0">
              <a:buNone/>
            </a:pPr>
            <a:r>
              <a:rPr lang="en-US" altLang="zh-CN" sz="2400" dirty="0">
                <a:ea typeface="楷体" panose="02010609060101010101" pitchFamily="49" charset="-122"/>
                <a:sym typeface="+mn-ea"/>
              </a:rPr>
              <a:t>    </a:t>
            </a:r>
            <a:endParaRPr lang="zh-CN" altLang="en-US"/>
          </a:p>
        </p:txBody>
      </p:sp>
      <p:sp>
        <p:nvSpPr>
          <p:cNvPr id="4" name="文本框 3"/>
          <p:cNvSpPr txBox="1"/>
          <p:nvPr/>
        </p:nvSpPr>
        <p:spPr>
          <a:xfrm>
            <a:off x="2425065" y="4177030"/>
            <a:ext cx="9288780" cy="1568450"/>
          </a:xfrm>
          <a:prstGeom prst="rect">
            <a:avLst/>
          </a:prstGeom>
          <a:solidFill>
            <a:schemeClr val="bg2"/>
          </a:solidFill>
          <a:ln>
            <a:solidFill>
              <a:srgbClr val="C00000"/>
            </a:solidFill>
          </a:ln>
        </p:spPr>
        <p:txBody>
          <a:bodyPr wrap="square" rtlCol="0">
            <a:spAutoFit/>
          </a:bodyPr>
          <a:p>
            <a:r>
              <a:rPr lang="zh-CN" altLang="en-US" sz="2400" dirty="0">
                <a:sym typeface="+mn-ea"/>
              </a:rPr>
              <a:t>随着信息技术的高速发展，数据库应用的规模、范围和深度不断扩大，网络环境成为主流等等。产生“</a:t>
            </a:r>
            <a:r>
              <a:rPr lang="zh-CN" altLang="en-US" sz="2400" b="1" dirty="0">
                <a:solidFill>
                  <a:schemeClr val="accent1"/>
                </a:solidFill>
                <a:effectLst>
                  <a:outerShdw blurRad="38100" dist="25400" dir="5400000" algn="ctr" rotWithShape="0">
                    <a:srgbClr val="6E747A">
                      <a:alpha val="43000"/>
                    </a:srgbClr>
                  </a:outerShdw>
                </a:effectLst>
                <a:sym typeface="+mn-ea"/>
              </a:rPr>
              <a:t>数据丰富而信息贫乏（</a:t>
            </a:r>
            <a:r>
              <a:rPr lang="en-US" altLang="zh-CN" sz="2400" b="1">
                <a:solidFill>
                  <a:schemeClr val="accent1"/>
                </a:solidFill>
                <a:effectLst>
                  <a:outerShdw blurRad="38100" dist="25400" dir="5400000" algn="ctr" rotWithShape="0">
                    <a:srgbClr val="6E747A">
                      <a:alpha val="43000"/>
                    </a:srgbClr>
                  </a:outerShdw>
                </a:effectLst>
                <a:sym typeface="+mn-ea"/>
              </a:rPr>
              <a:t>Data Rich &amp; Information Poor</a:t>
            </a:r>
            <a:r>
              <a:rPr lang="zh-CN" altLang="en-US" sz="2400" b="1" dirty="0">
                <a:solidFill>
                  <a:schemeClr val="accent1"/>
                </a:solidFill>
                <a:effectLst>
                  <a:outerShdw blurRad="38100" dist="25400" dir="5400000" algn="ctr" rotWithShape="0">
                    <a:srgbClr val="6E747A">
                      <a:alpha val="43000"/>
                    </a:srgbClr>
                  </a:outerShdw>
                </a:effectLst>
                <a:sym typeface="+mn-ea"/>
              </a:rPr>
              <a:t>）</a:t>
            </a:r>
            <a:r>
              <a:rPr lang="zh-CN" altLang="en-US" sz="2400" dirty="0">
                <a:sym typeface="+mn-ea"/>
              </a:rPr>
              <a:t>”现象。</a:t>
            </a:r>
            <a:endParaRPr lang="zh-CN" altLang="en-US" sz="2400" dirty="0"/>
          </a:p>
          <a:p>
            <a:endParaRPr lang="zh-CN"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800" b="1"/>
              <a:t>一部电影：《点球成金》</a:t>
            </a:r>
            <a:endParaRPr lang="zh-CN" altLang="en-US" sz="2800" b="1"/>
          </a:p>
          <a:p>
            <a:endParaRPr lang="zh-CN" altLang="en-US" sz="2800" b="1"/>
          </a:p>
          <a:p>
            <a:endParaRPr lang="zh-CN" altLang="en-US" sz="2800" b="1"/>
          </a:p>
          <a:p>
            <a:r>
              <a:rPr lang="zh-CN" altLang="en-US" sz="2800" b="1"/>
              <a:t>一个案例：</a:t>
            </a:r>
            <a:r>
              <a:rPr lang="en-US" altLang="zh-CN" sz="2800" b="1"/>
              <a:t>“</a:t>
            </a:r>
            <a:r>
              <a:rPr lang="zh-CN" altLang="en-US" sz="2800" b="1"/>
              <a:t>啤酒与尿布</a:t>
            </a:r>
            <a:r>
              <a:rPr lang="en-US" altLang="zh-CN" sz="2800" b="1"/>
              <a:t>”</a:t>
            </a:r>
            <a:endParaRPr lang="en-US" altLang="zh-CN" sz="2800" b="1"/>
          </a:p>
        </p:txBody>
      </p:sp>
      <p:pic>
        <p:nvPicPr>
          <p:cNvPr id="4" name="图片 3" descr="A3GNRFGT10Z16]LV@WWH@(L"/>
          <p:cNvPicPr>
            <a:picLocks noChangeAspect="1"/>
          </p:cNvPicPr>
          <p:nvPr/>
        </p:nvPicPr>
        <p:blipFill>
          <a:blip r:embed="rId1"/>
          <a:stretch>
            <a:fillRect/>
          </a:stretch>
        </p:blipFill>
        <p:spPr>
          <a:xfrm>
            <a:off x="7823200" y="1056005"/>
            <a:ext cx="1938655" cy="2813050"/>
          </a:xfrm>
          <a:prstGeom prst="rect">
            <a:avLst/>
          </a:prstGeom>
        </p:spPr>
      </p:pic>
      <p:pic>
        <p:nvPicPr>
          <p:cNvPr id="5" name="图片 4" descr="(BV}6SVXHQC93_$7T9ZQL$A"/>
          <p:cNvPicPr>
            <a:picLocks noChangeAspect="1"/>
          </p:cNvPicPr>
          <p:nvPr/>
        </p:nvPicPr>
        <p:blipFill>
          <a:blip r:embed="rId2"/>
          <a:stretch>
            <a:fillRect/>
          </a:stretch>
        </p:blipFill>
        <p:spPr>
          <a:xfrm>
            <a:off x="7506970" y="4138295"/>
            <a:ext cx="2571750" cy="22764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zh-CN" sz="3600" b="1" dirty="0">
                <a:ea typeface="楷体" panose="02010609060101010101" pitchFamily="49" charset="-122"/>
                <a:sym typeface="+mn-ea"/>
              </a:rPr>
              <a:t>数据挖掘主要有</a:t>
            </a:r>
            <a:r>
              <a:rPr lang="zh-CN" altLang="zh-CN" sz="3600" b="1" i="1" dirty="0">
                <a:ea typeface="楷体" panose="02010609060101010101" pitchFamily="49" charset="-122"/>
                <a:sym typeface="+mn-ea"/>
              </a:rPr>
              <a:t>数据准备、规律寻找和规律表示</a:t>
            </a:r>
            <a:r>
              <a:rPr lang="zh-CN" altLang="zh-CN" sz="3600" b="1" dirty="0">
                <a:ea typeface="楷体" panose="02010609060101010101" pitchFamily="49" charset="-122"/>
                <a:sym typeface="+mn-ea"/>
              </a:rPr>
              <a:t>三个步骤。</a:t>
            </a:r>
            <a:endParaRPr lang="zh-CN" altLang="zh-CN" sz="3600" b="1" dirty="0">
              <a:ea typeface="楷体" panose="02010609060101010101" pitchFamily="49" charset="-122"/>
              <a:sym typeface="+mn-ea"/>
            </a:endParaRPr>
          </a:p>
          <a:p>
            <a:pPr marL="0" indent="0">
              <a:buNone/>
            </a:pPr>
            <a:r>
              <a:rPr lang="zh-CN" altLang="zh-CN" sz="2800" dirty="0">
                <a:ea typeface="楷体" panose="02010609060101010101" pitchFamily="49" charset="-122"/>
                <a:sym typeface="+mn-ea"/>
              </a:rPr>
              <a:t>  数据准备是从相关的数据源中选取所需的数据并整合</a:t>
            </a:r>
            <a:r>
              <a:rPr lang="en-US" altLang="zh-CN" sz="2800" dirty="0">
                <a:ea typeface="楷体" panose="02010609060101010101" pitchFamily="49" charset="-122"/>
                <a:sym typeface="+mn-ea"/>
              </a:rPr>
              <a:t> </a:t>
            </a:r>
            <a:r>
              <a:rPr lang="zh-CN" altLang="zh-CN" sz="2800" dirty="0">
                <a:ea typeface="楷体" panose="02010609060101010101" pitchFamily="49" charset="-122"/>
                <a:sym typeface="+mn-ea"/>
              </a:rPr>
              <a:t>成用于数据挖掘的数据集，规律寻找是用某种方法</a:t>
            </a:r>
            <a:r>
              <a:rPr lang="en-US" altLang="zh-CN" sz="2800" dirty="0">
                <a:ea typeface="楷体" panose="02010609060101010101" pitchFamily="49" charset="-122"/>
                <a:sym typeface="+mn-ea"/>
              </a:rPr>
              <a:t> </a:t>
            </a:r>
            <a:r>
              <a:rPr lang="zh-CN" altLang="zh-CN" sz="2800" dirty="0">
                <a:ea typeface="楷体" panose="02010609060101010101" pitchFamily="49" charset="-122"/>
                <a:sym typeface="+mn-ea"/>
              </a:rPr>
              <a:t>将数据集所含的规律找出来，而规律表示是尽可能以用户可理解的方式（如可视化）将找出的规律表示出来。</a:t>
            </a:r>
            <a:endParaRPr lang="zh-CN" altLang="zh-CN" sz="2800" dirty="0">
              <a:ea typeface="楷体" panose="02010609060101010101" pitchFamily="49" charset="-122"/>
            </a:endParaRPr>
          </a:p>
          <a:p>
            <a:pPr marL="0" indent="0">
              <a:buNone/>
            </a:pPr>
            <a:endParaRPr lang="zh-CN" altLang="en-US" dirty="0"/>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89212" y="1905000"/>
            <a:ext cx="8915400" cy="3777622"/>
          </a:xfrm>
        </p:spPr>
        <p:txBody>
          <a:bodyPr/>
          <a:p>
            <a:r>
              <a:rPr lang="zh-CN" altLang="zh-CN" sz="3600" dirty="0">
                <a:ea typeface="楷体" panose="02010609060101010101" pitchFamily="49" charset="-122"/>
                <a:sym typeface="+mn-ea"/>
              </a:rPr>
              <a:t>数据挖掘涉及</a:t>
            </a:r>
            <a:r>
              <a:rPr lang="zh-CN" altLang="zh-CN" sz="3600" b="1" dirty="0">
                <a:solidFill>
                  <a:schemeClr val="accent1"/>
                </a:solidFill>
                <a:effectLst>
                  <a:outerShdw blurRad="38100" dist="25400" dir="5400000" algn="ctr" rotWithShape="0">
                    <a:srgbClr val="6E747A">
                      <a:alpha val="43000"/>
                    </a:srgbClr>
                  </a:outerShdw>
                </a:effectLst>
                <a:ea typeface="楷体" panose="02010609060101010101" pitchFamily="49" charset="-122"/>
                <a:sym typeface="+mn-ea"/>
              </a:rPr>
              <a:t>机器学习</a:t>
            </a:r>
            <a:r>
              <a:rPr lang="zh-CN" altLang="zh-CN" sz="3600" dirty="0">
                <a:ea typeface="楷体" panose="02010609060101010101" pitchFamily="49" charset="-122"/>
                <a:sym typeface="+mn-ea"/>
              </a:rPr>
              <a:t>、</a:t>
            </a:r>
            <a:r>
              <a:rPr lang="zh-CN" altLang="zh-CN" sz="3600" b="1" dirty="0">
                <a:solidFill>
                  <a:schemeClr val="accent1"/>
                </a:solidFill>
                <a:effectLst>
                  <a:outerShdw blurRad="38100" dist="25400" dir="5400000" algn="ctr" rotWithShape="0">
                    <a:srgbClr val="6E747A">
                      <a:alpha val="43000"/>
                    </a:srgbClr>
                  </a:outerShdw>
                </a:effectLst>
                <a:ea typeface="楷体" panose="02010609060101010101" pitchFamily="49" charset="-122"/>
                <a:sym typeface="+mn-ea"/>
              </a:rPr>
              <a:t>人工智能</a:t>
            </a:r>
            <a:r>
              <a:rPr lang="zh-CN" altLang="zh-CN" sz="3600" dirty="0">
                <a:ea typeface="楷体" panose="02010609060101010101" pitchFamily="49" charset="-122"/>
                <a:sym typeface="+mn-ea"/>
              </a:rPr>
              <a:t>、</a:t>
            </a:r>
            <a:r>
              <a:rPr lang="zh-CN" altLang="zh-CN" sz="3600" b="1" dirty="0">
                <a:solidFill>
                  <a:schemeClr val="accent1"/>
                </a:solidFill>
                <a:effectLst>
                  <a:outerShdw blurRad="38100" dist="25400" dir="5400000" algn="ctr" rotWithShape="0">
                    <a:srgbClr val="6E747A">
                      <a:alpha val="43000"/>
                    </a:srgbClr>
                  </a:outerShdw>
                </a:effectLst>
                <a:ea typeface="楷体" panose="02010609060101010101" pitchFamily="49" charset="-122"/>
                <a:sym typeface="+mn-ea"/>
              </a:rPr>
              <a:t>数据库理论</a:t>
            </a:r>
            <a:r>
              <a:rPr lang="zh-CN" altLang="zh-CN" sz="3600" dirty="0">
                <a:ea typeface="楷体" panose="02010609060101010101" pitchFamily="49" charset="-122"/>
                <a:sym typeface="+mn-ea"/>
              </a:rPr>
              <a:t>以及</a:t>
            </a:r>
            <a:r>
              <a:rPr lang="zh-CN" altLang="zh-CN" sz="3600" b="1" dirty="0">
                <a:solidFill>
                  <a:schemeClr val="accent1"/>
                </a:solidFill>
                <a:effectLst>
                  <a:outerShdw blurRad="38100" dist="25400" dir="5400000" algn="ctr" rotWithShape="0">
                    <a:srgbClr val="6E747A">
                      <a:alpha val="43000"/>
                    </a:srgbClr>
                  </a:outerShdw>
                </a:effectLst>
                <a:ea typeface="楷体" panose="02010609060101010101" pitchFamily="49" charset="-122"/>
                <a:sym typeface="+mn-ea"/>
              </a:rPr>
              <a:t>统计学</a:t>
            </a:r>
            <a:r>
              <a:rPr lang="zh-CN" altLang="zh-CN" sz="3600" dirty="0">
                <a:ea typeface="楷体" panose="02010609060101010101" pitchFamily="49" charset="-122"/>
                <a:sym typeface="+mn-ea"/>
              </a:rPr>
              <a:t>等学科的交叉研究领域</a:t>
            </a:r>
            <a:endParaRPr lang="zh-CN" altLang="zh-CN" sz="3600" dirty="0">
              <a:ea typeface="楷体" panose="02010609060101010101"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693251" name="文本占位符 693250"/>
          <p:cNvSpPr>
            <a:spLocks noGrp="1"/>
          </p:cNvSpPr>
          <p:nvPr/>
        </p:nvSpPr>
        <p:spPr>
          <a:xfrm>
            <a:off x="2588578" y="897573"/>
            <a:ext cx="8280400" cy="5495925"/>
          </a:xfrm>
          <a:prstGeom prst="rect">
            <a:avLst/>
          </a:prstGeom>
          <a:noFill/>
          <a:ln w="57150" cap="flat" cmpd="thickThin">
            <a:solidFill>
              <a:srgbClr val="660033"/>
            </a:solidFill>
            <a:prstDash val="solid"/>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
                <a:srgbClr val="660033"/>
              </a:buClr>
              <a:buSzPct val="60000"/>
              <a:buFont typeface="Wingdings" panose="05000000000000000000" pitchFamily="2" charset="2"/>
              <a:buChar char="n"/>
              <a:defRPr sz="28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宋体" panose="02010600030101010101" pitchFamily="2" charset="-122"/>
                <a:ea typeface="宋体" panose="02010600030101010101" pitchFamily="2" charset="-122"/>
                <a:cs typeface="+mn-cs"/>
              </a:defRPr>
            </a:lvl2pPr>
            <a:lvl3pPr marL="1143000" lvl="2" indent="-228600" algn="l" defTabSz="914400" rtl="0" eaLnBrk="1" fontAlgn="base" latinLnBrk="0" hangingPunct="1">
              <a:lnSpc>
                <a:spcPct val="100000"/>
              </a:lnSpc>
              <a:spcBef>
                <a:spcPct val="0"/>
              </a:spcBef>
              <a:spcAft>
                <a:spcPct val="0"/>
              </a:spcAft>
              <a:buClr>
                <a:schemeClr val="folHlink"/>
              </a:buClr>
              <a:buSzPct val="50000"/>
              <a:buFont typeface="Wingdings" panose="05000000000000000000" pitchFamily="2" charset="2"/>
              <a:buChar char="n"/>
              <a:defRPr sz="2000" b="0" i="0" u="none" kern="1200" baseline="0">
                <a:solidFill>
                  <a:schemeClr val="tx1"/>
                </a:solidFill>
                <a:latin typeface="楷体_GB2312" pitchFamily="49" charset="-122"/>
                <a:ea typeface="楷体_GB2312" pitchFamily="49" charset="-122"/>
                <a:cs typeface="+mn-cs"/>
              </a:defRPr>
            </a:lvl3pPr>
            <a:lvl4pPr marL="1600200" lvl="3" indent="-228600" algn="l" defTabSz="914400" rtl="0" eaLnBrk="1" fontAlgn="base" latinLnBrk="0" hangingPunct="1">
              <a:lnSpc>
                <a:spcPct val="8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cs typeface="+mn-cs"/>
              </a:defRPr>
            </a:lvl4pPr>
            <a:lvl5pPr marL="2057400" lvl="4" indent="-228600" algn="l" defTabSz="914400" rtl="0" eaLnBrk="1" fontAlgn="base" latinLnBrk="0" hangingPunct="1">
              <a:lnSpc>
                <a:spcPct val="8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cs typeface="+mn-cs"/>
              </a:defRPr>
            </a:lvl5pPr>
            <a:lvl6pPr marL="2514600" lvl="5" indent="-228600" algn="l" defTabSz="914400" rtl="0" eaLnBrk="1" fontAlgn="base" latinLnBrk="0" hangingPunct="1">
              <a:lnSpc>
                <a:spcPct val="8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cs typeface="+mn-cs"/>
              </a:defRPr>
            </a:lvl6pPr>
            <a:lvl7pPr marL="2971800" lvl="6" indent="-228600" algn="l" defTabSz="914400" rtl="0" eaLnBrk="1" fontAlgn="base" latinLnBrk="0" hangingPunct="1">
              <a:lnSpc>
                <a:spcPct val="8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cs typeface="+mn-cs"/>
              </a:defRPr>
            </a:lvl7pPr>
            <a:lvl8pPr marL="3429000" lvl="7" indent="-228600" algn="l" defTabSz="914400" rtl="0" eaLnBrk="1" fontAlgn="base" latinLnBrk="0" hangingPunct="1">
              <a:lnSpc>
                <a:spcPct val="8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cs typeface="+mn-cs"/>
              </a:defRPr>
            </a:lvl8pPr>
            <a:lvl9pPr marL="3886200" lvl="8" indent="-228600" algn="l" defTabSz="914400" rtl="0" eaLnBrk="1" fontAlgn="base" latinLnBrk="0" hangingPunct="1">
              <a:lnSpc>
                <a:spcPct val="8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cs typeface="+mn-cs"/>
              </a:defRPr>
            </a:lvl9pPr>
          </a:lstStyle>
          <a:p>
            <a:pPr>
              <a:buNone/>
            </a:pPr>
            <a:r>
              <a:rPr lang="zh-CN" altLang="en-US" dirty="0"/>
              <a:t> </a:t>
            </a:r>
            <a:endParaRPr lang="zh-CN" altLang="en-US" dirty="0"/>
          </a:p>
        </p:txBody>
      </p:sp>
      <p:sp>
        <p:nvSpPr>
          <p:cNvPr id="693265" name="矩形 693264"/>
          <p:cNvSpPr/>
          <p:nvPr/>
        </p:nvSpPr>
        <p:spPr>
          <a:xfrm>
            <a:off x="5549265" y="2948623"/>
            <a:ext cx="2209800" cy="914400"/>
          </a:xfrm>
          <a:prstGeom prst="rect">
            <a:avLst/>
          </a:prstGeom>
          <a:solidFill>
            <a:schemeClr val="folHlink"/>
          </a:solidFill>
          <a:ln w="9525" cap="flat" cmpd="sng">
            <a:solidFill>
              <a:schemeClr val="tx1"/>
            </a:solidFill>
            <a:prstDash val="solid"/>
            <a:miter/>
            <a:headEnd type="none" w="med" len="med"/>
            <a:tailEnd type="none" w="med" len="med"/>
          </a:ln>
        </p:spPr>
        <p:txBody>
          <a:bodyPr wrap="none" anchor="ctr"/>
          <a:p>
            <a:pPr algn="ctr"/>
            <a:r>
              <a:rPr lang="en-US" altLang="zh-CN">
                <a:latin typeface="Tahoma" panose="020B0604030504040204" pitchFamily="34" charset="0"/>
              </a:rPr>
              <a:t>Data Mining</a:t>
            </a:r>
            <a:endParaRPr lang="en-US" altLang="zh-CN">
              <a:latin typeface="Tahoma" panose="020B0604030504040204" pitchFamily="34" charset="0"/>
            </a:endParaRPr>
          </a:p>
        </p:txBody>
      </p:sp>
      <p:sp>
        <p:nvSpPr>
          <p:cNvPr id="693266" name="矩形 693265"/>
          <p:cNvSpPr/>
          <p:nvPr/>
        </p:nvSpPr>
        <p:spPr>
          <a:xfrm>
            <a:off x="3872865" y="1424623"/>
            <a:ext cx="1981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sz="2400">
                <a:latin typeface="Tahoma" panose="020B0604030504040204" pitchFamily="34" charset="0"/>
              </a:rPr>
              <a:t>Database </a:t>
            </a:r>
            <a:endParaRPr lang="en-US" altLang="zh-CN" sz="2400">
              <a:latin typeface="Tahoma" panose="020B0604030504040204" pitchFamily="34" charset="0"/>
            </a:endParaRPr>
          </a:p>
          <a:p>
            <a:pPr algn="ctr"/>
            <a:r>
              <a:rPr lang="en-US" altLang="zh-CN" sz="2400">
                <a:latin typeface="Tahoma" panose="020B0604030504040204" pitchFamily="34" charset="0"/>
              </a:rPr>
              <a:t>Technology</a:t>
            </a:r>
            <a:endParaRPr lang="en-US" altLang="zh-CN" sz="2400">
              <a:latin typeface="Tahoma" panose="020B0604030504040204" pitchFamily="34" charset="0"/>
            </a:endParaRPr>
          </a:p>
        </p:txBody>
      </p:sp>
      <p:sp>
        <p:nvSpPr>
          <p:cNvPr id="693267" name="矩形 693266"/>
          <p:cNvSpPr/>
          <p:nvPr/>
        </p:nvSpPr>
        <p:spPr>
          <a:xfrm>
            <a:off x="7225665" y="1424623"/>
            <a:ext cx="1981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sz="2400">
                <a:latin typeface="Tahoma" panose="020B0604030504040204" pitchFamily="34" charset="0"/>
              </a:rPr>
              <a:t>Statistics</a:t>
            </a:r>
            <a:endParaRPr lang="en-US" altLang="zh-CN" sz="2400">
              <a:latin typeface="Tahoma" panose="020B0604030504040204" pitchFamily="34" charset="0"/>
            </a:endParaRPr>
          </a:p>
        </p:txBody>
      </p:sp>
      <p:sp>
        <p:nvSpPr>
          <p:cNvPr id="693268" name="矩形 693267"/>
          <p:cNvSpPr/>
          <p:nvPr/>
        </p:nvSpPr>
        <p:spPr>
          <a:xfrm>
            <a:off x="7759065" y="4777423"/>
            <a:ext cx="1981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sz="2400">
                <a:latin typeface="Tahoma" panose="020B0604030504040204" pitchFamily="34" charset="0"/>
              </a:rPr>
              <a:t>Other</a:t>
            </a:r>
            <a:endParaRPr lang="en-US" altLang="zh-CN" sz="2400">
              <a:latin typeface="Tahoma" panose="020B0604030504040204" pitchFamily="34" charset="0"/>
            </a:endParaRPr>
          </a:p>
          <a:p>
            <a:pPr algn="ctr"/>
            <a:r>
              <a:rPr lang="en-US" altLang="zh-CN" sz="2400">
                <a:latin typeface="Tahoma" panose="020B0604030504040204" pitchFamily="34" charset="0"/>
              </a:rPr>
              <a:t>Disciplines</a:t>
            </a:r>
            <a:endParaRPr lang="en-US" altLang="zh-CN" sz="2400">
              <a:latin typeface="Tahoma" panose="020B0604030504040204" pitchFamily="34" charset="0"/>
            </a:endParaRPr>
          </a:p>
        </p:txBody>
      </p:sp>
      <p:sp>
        <p:nvSpPr>
          <p:cNvPr id="693269" name="矩形 693268"/>
          <p:cNvSpPr/>
          <p:nvPr/>
        </p:nvSpPr>
        <p:spPr>
          <a:xfrm>
            <a:off x="3491865" y="4701223"/>
            <a:ext cx="1981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sz="2400">
                <a:latin typeface="Tahoma" panose="020B0604030504040204" pitchFamily="34" charset="0"/>
              </a:rPr>
              <a:t>Information</a:t>
            </a:r>
            <a:endParaRPr lang="en-US" altLang="zh-CN" sz="2400">
              <a:latin typeface="Tahoma" panose="020B0604030504040204" pitchFamily="34" charset="0"/>
            </a:endParaRPr>
          </a:p>
          <a:p>
            <a:pPr algn="ctr"/>
            <a:r>
              <a:rPr lang="en-US" altLang="zh-CN" sz="2400">
                <a:latin typeface="Tahoma" panose="020B0604030504040204" pitchFamily="34" charset="0"/>
              </a:rPr>
              <a:t>Science</a:t>
            </a:r>
            <a:endParaRPr lang="en-US" altLang="zh-CN" sz="2400">
              <a:latin typeface="Tahoma" panose="020B0604030504040204" pitchFamily="34" charset="0"/>
            </a:endParaRPr>
          </a:p>
        </p:txBody>
      </p:sp>
      <p:sp>
        <p:nvSpPr>
          <p:cNvPr id="693270" name="矩形 693269"/>
          <p:cNvSpPr/>
          <p:nvPr/>
        </p:nvSpPr>
        <p:spPr>
          <a:xfrm>
            <a:off x="2694940" y="3024823"/>
            <a:ext cx="1981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r>
              <a:rPr lang="en-US" altLang="zh-CN">
                <a:latin typeface="Tahoma" panose="020B0604030504040204" pitchFamily="34" charset="0"/>
              </a:rPr>
              <a:t>AI /</a:t>
            </a:r>
            <a:r>
              <a:rPr lang="en-US" altLang="zh-CN" sz="2400">
                <a:latin typeface="Tahoma" panose="020B0604030504040204" pitchFamily="34" charset="0"/>
              </a:rPr>
              <a:t>Machine</a:t>
            </a:r>
            <a:endParaRPr lang="en-US" altLang="zh-CN" sz="2400">
              <a:latin typeface="Tahoma" panose="020B0604030504040204" pitchFamily="34" charset="0"/>
            </a:endParaRPr>
          </a:p>
          <a:p>
            <a:pPr algn="ctr"/>
            <a:r>
              <a:rPr lang="en-US" altLang="zh-CN" sz="2400">
                <a:latin typeface="Tahoma" panose="020B0604030504040204" pitchFamily="34" charset="0"/>
              </a:rPr>
              <a:t>Learning</a:t>
            </a:r>
            <a:endParaRPr lang="en-US" altLang="zh-CN" sz="2400">
              <a:latin typeface="Tahoma" panose="020B0604030504040204" pitchFamily="34" charset="0"/>
            </a:endParaRPr>
          </a:p>
        </p:txBody>
      </p:sp>
      <p:sp>
        <p:nvSpPr>
          <p:cNvPr id="693271" name="矩形 693270"/>
          <p:cNvSpPr/>
          <p:nvPr/>
        </p:nvSpPr>
        <p:spPr>
          <a:xfrm>
            <a:off x="8779828" y="3024823"/>
            <a:ext cx="1981200" cy="762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algn="ctr">
              <a:lnSpc>
                <a:spcPct val="110000"/>
              </a:lnSpc>
              <a:spcBef>
                <a:spcPct val="20000"/>
              </a:spcBef>
              <a:buClr>
                <a:schemeClr val="folHlink"/>
              </a:buClr>
              <a:buSzPct val="60000"/>
              <a:buFont typeface="Wingdings" panose="05000000000000000000" pitchFamily="2" charset="2"/>
            </a:pPr>
            <a:r>
              <a:rPr lang="en-US" altLang="zh-CN" sz="2400">
                <a:latin typeface="Tahoma" panose="020B0604030504040204" pitchFamily="34" charset="0"/>
              </a:rPr>
              <a:t>Visualization</a:t>
            </a:r>
            <a:endParaRPr lang="en-US" altLang="zh-CN">
              <a:latin typeface="Tahoma" panose="020B0604030504040204" pitchFamily="34" charset="0"/>
            </a:endParaRPr>
          </a:p>
        </p:txBody>
      </p:sp>
      <p:sp>
        <p:nvSpPr>
          <p:cNvPr id="693272" name="直接连接符 693271"/>
          <p:cNvSpPr/>
          <p:nvPr/>
        </p:nvSpPr>
        <p:spPr>
          <a:xfrm>
            <a:off x="4676140" y="3380423"/>
            <a:ext cx="873125" cy="25400"/>
          </a:xfrm>
          <a:prstGeom prst="line">
            <a:avLst/>
          </a:prstGeom>
          <a:ln w="28575" cap="flat" cmpd="sng">
            <a:solidFill>
              <a:schemeClr val="tx1"/>
            </a:solidFill>
            <a:prstDash val="solid"/>
            <a:miter/>
            <a:headEnd type="none" w="med" len="med"/>
            <a:tailEnd type="triangle" w="med" len="med"/>
          </a:ln>
        </p:spPr>
      </p:sp>
      <p:sp>
        <p:nvSpPr>
          <p:cNvPr id="693273" name="直接连接符 693272"/>
          <p:cNvSpPr/>
          <p:nvPr/>
        </p:nvSpPr>
        <p:spPr>
          <a:xfrm>
            <a:off x="5015865" y="2186623"/>
            <a:ext cx="1295400" cy="762000"/>
          </a:xfrm>
          <a:prstGeom prst="line">
            <a:avLst/>
          </a:prstGeom>
          <a:ln w="28575" cap="flat" cmpd="sng">
            <a:solidFill>
              <a:schemeClr val="tx1"/>
            </a:solidFill>
            <a:prstDash val="solid"/>
            <a:miter/>
            <a:headEnd type="none" w="med" len="med"/>
            <a:tailEnd type="triangle" w="med" len="med"/>
          </a:ln>
        </p:spPr>
      </p:sp>
      <p:sp>
        <p:nvSpPr>
          <p:cNvPr id="693274" name="直接连接符 693273"/>
          <p:cNvSpPr/>
          <p:nvPr/>
        </p:nvSpPr>
        <p:spPr>
          <a:xfrm flipH="1">
            <a:off x="6997065" y="2186623"/>
            <a:ext cx="1143000" cy="762000"/>
          </a:xfrm>
          <a:prstGeom prst="line">
            <a:avLst/>
          </a:prstGeom>
          <a:ln w="28575" cap="flat" cmpd="sng">
            <a:solidFill>
              <a:schemeClr val="tx1"/>
            </a:solidFill>
            <a:prstDash val="solid"/>
            <a:miter/>
            <a:headEnd type="none" w="med" len="med"/>
            <a:tailEnd type="triangle" w="med" len="med"/>
          </a:ln>
        </p:spPr>
      </p:sp>
      <p:sp>
        <p:nvSpPr>
          <p:cNvPr id="693275" name="直接连接符 693274"/>
          <p:cNvSpPr/>
          <p:nvPr/>
        </p:nvSpPr>
        <p:spPr>
          <a:xfrm flipH="1">
            <a:off x="7835265" y="3380423"/>
            <a:ext cx="801688" cy="25400"/>
          </a:xfrm>
          <a:prstGeom prst="line">
            <a:avLst/>
          </a:prstGeom>
          <a:ln w="28575" cap="flat" cmpd="sng">
            <a:solidFill>
              <a:schemeClr val="tx1"/>
            </a:solidFill>
            <a:prstDash val="solid"/>
            <a:miter/>
            <a:headEnd type="none" w="med" len="med"/>
            <a:tailEnd type="triangle" w="med" len="med"/>
          </a:ln>
        </p:spPr>
      </p:sp>
      <p:sp>
        <p:nvSpPr>
          <p:cNvPr id="693276" name="直接连接符 693275"/>
          <p:cNvSpPr/>
          <p:nvPr/>
        </p:nvSpPr>
        <p:spPr>
          <a:xfrm flipH="1" flipV="1">
            <a:off x="7149465" y="3939223"/>
            <a:ext cx="1524000" cy="838200"/>
          </a:xfrm>
          <a:prstGeom prst="line">
            <a:avLst/>
          </a:prstGeom>
          <a:ln w="28575" cap="flat" cmpd="sng">
            <a:solidFill>
              <a:schemeClr val="tx1"/>
            </a:solidFill>
            <a:prstDash val="solid"/>
            <a:miter/>
            <a:headEnd type="none" w="med" len="med"/>
            <a:tailEnd type="triangle" w="med" len="med"/>
          </a:ln>
        </p:spPr>
      </p:sp>
      <p:sp>
        <p:nvSpPr>
          <p:cNvPr id="693277" name="直接连接符 693276"/>
          <p:cNvSpPr/>
          <p:nvPr/>
        </p:nvSpPr>
        <p:spPr>
          <a:xfrm flipV="1">
            <a:off x="4558665" y="3939223"/>
            <a:ext cx="1600200" cy="762000"/>
          </a:xfrm>
          <a:prstGeom prst="line">
            <a:avLst/>
          </a:prstGeom>
          <a:ln w="28575" cap="flat" cmpd="sng">
            <a:solidFill>
              <a:schemeClr val="tx1"/>
            </a:solidFill>
            <a:prstDash val="solid"/>
            <a:miter/>
            <a:headEnd type="none" w="med" len="med"/>
            <a:tailEnd type="triangle" w="med" len="me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a:t>
            </a:r>
            <a:r>
              <a:rPr lang="zh-CN" altLang="zh-CN" dirty="0"/>
              <a:t>数据挖掘的历史及发展</a:t>
            </a:r>
            <a:br>
              <a:rPr lang="zh-CN" altLang="zh-CN" b="1" dirty="0"/>
            </a:br>
            <a:endParaRPr lang="zh-CN" altLang="en-US" dirty="0"/>
          </a:p>
        </p:txBody>
      </p:sp>
      <p:sp>
        <p:nvSpPr>
          <p:cNvPr id="3" name="内容占位符 2"/>
          <p:cNvSpPr>
            <a:spLocks noGrp="1"/>
          </p:cNvSpPr>
          <p:nvPr>
            <p:ph idx="1"/>
          </p:nvPr>
        </p:nvSpPr>
        <p:spPr>
          <a:xfrm>
            <a:off x="2588895" y="1617345"/>
            <a:ext cx="8915400" cy="5059680"/>
          </a:xfrm>
        </p:spPr>
        <p:txBody>
          <a:bodyPr>
            <a:normAutofit fontScale="90000"/>
          </a:bodyPr>
          <a:lstStyle/>
          <a:p>
            <a:r>
              <a:rPr lang="zh-CN" altLang="zh-CN" sz="2800" b="1" dirty="0">
                <a:latin typeface="楷体" panose="02010609060101010101" pitchFamily="49" charset="-122"/>
                <a:ea typeface="楷体" panose="02010609060101010101" pitchFamily="49" charset="-122"/>
              </a:rPr>
              <a:t>数据挖掘的发展历史是建立在相关学科发展的基础上的。</a:t>
            </a:r>
            <a:endParaRPr lang="zh-CN" altLang="zh-CN" sz="2800" b="1" dirty="0">
              <a:latin typeface="楷体" panose="02010609060101010101" pitchFamily="49" charset="-122"/>
              <a:ea typeface="楷体" panose="02010609060101010101" pitchFamily="49" charset="-122"/>
            </a:endParaRPr>
          </a:p>
          <a:p>
            <a:r>
              <a:rPr lang="zh-CN" altLang="zh-CN" sz="2700" b="1" dirty="0">
                <a:latin typeface="楷体" panose="02010609060101010101" pitchFamily="49" charset="-122"/>
                <a:ea typeface="楷体" panose="02010609060101010101" pitchFamily="49" charset="-122"/>
              </a:rPr>
              <a:t>随着数据库技术的发展及数据应用，人们积累的数据越来越多</a:t>
            </a:r>
            <a:r>
              <a:rPr lang="zh-CN" altLang="zh-CN" dirty="0">
                <a:latin typeface="楷体" panose="02010609060101010101" pitchFamily="49" charset="-122"/>
                <a:ea typeface="楷体" panose="02010609060101010101" pitchFamily="49" charset="-122"/>
              </a:rPr>
              <a:t>。激增的数据背后隐藏着许多重要信息，简单的查询和统计已经无法满足商业的需求，需要出现一种挖掘数据背后隐藏知识的手段</a:t>
            </a:r>
            <a:r>
              <a:rPr lang="zh-CN" altLang="zh-CN" dirty="0">
                <a:latin typeface="楷体" panose="02010609060101010101" pitchFamily="49" charset="-122"/>
              </a:rPr>
              <a:t>。</a:t>
            </a:r>
            <a:endParaRPr lang="en-US" altLang="zh-CN" dirty="0">
              <a:latin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计算机技术的另一领域——人工智能（</a:t>
            </a:r>
            <a:r>
              <a:rPr lang="en-US" altLang="zh-CN" sz="2800" b="1" dirty="0">
                <a:latin typeface="楷体" panose="02010609060101010101" pitchFamily="49" charset="-122"/>
                <a:ea typeface="楷体" panose="02010609060101010101" pitchFamily="49" charset="-122"/>
              </a:rPr>
              <a:t>Artificial Intelligence</a:t>
            </a:r>
            <a:r>
              <a:rPr lang="zh-CN" altLang="zh-CN"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AI</a:t>
            </a:r>
            <a:r>
              <a:rPr lang="zh-CN" altLang="zh-CN" sz="2800" b="1" dirty="0">
                <a:latin typeface="楷体" panose="02010609060101010101" pitchFamily="49" charset="-122"/>
                <a:ea typeface="楷体" panose="02010609060101010101" pitchFamily="49" charset="-122"/>
              </a:rPr>
              <a:t>）自</a:t>
            </a:r>
            <a:r>
              <a:rPr lang="en-US" altLang="zh-CN" sz="2800" b="1" dirty="0">
                <a:latin typeface="楷体" panose="02010609060101010101" pitchFamily="49" charset="-122"/>
                <a:ea typeface="楷体" panose="02010609060101010101" pitchFamily="49" charset="-122"/>
              </a:rPr>
              <a:t>1956</a:t>
            </a:r>
            <a:r>
              <a:rPr lang="zh-CN" altLang="zh-CN" sz="2800" b="1" dirty="0">
                <a:latin typeface="楷体" panose="02010609060101010101" pitchFamily="49" charset="-122"/>
                <a:ea typeface="楷体" panose="02010609060101010101" pitchFamily="49" charset="-122"/>
              </a:rPr>
              <a:t>年诞生之后取得了重大进展。</a:t>
            </a:r>
            <a:r>
              <a:rPr lang="zh-CN" altLang="zh-CN" dirty="0">
                <a:latin typeface="楷体" panose="02010609060101010101" pitchFamily="49" charset="-122"/>
                <a:ea typeface="楷体" panose="02010609060101010101" pitchFamily="49" charset="-122"/>
              </a:rPr>
              <a:t>经历了博弈时期、自然语言理解、知识工程等阶段，目前的热点是机器学习。</a:t>
            </a:r>
            <a:endParaRPr lang="zh-CN" altLang="zh-CN"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用数据库管理系统来存储数据，用机器学习的方法来分析数据，挖掘大量数据背后的知识，这两者的结合促成了数据库中的知识发现（</a:t>
            </a:r>
            <a:r>
              <a:rPr lang="en-US" altLang="zh-CN" sz="2800" b="1" dirty="0">
                <a:latin typeface="楷体" panose="02010609060101010101" pitchFamily="49" charset="-122"/>
                <a:ea typeface="楷体" panose="02010609060101010101" pitchFamily="49" charset="-122"/>
              </a:rPr>
              <a:t>Knowledge Discovery in Databases</a:t>
            </a:r>
            <a:r>
              <a:rPr lang="zh-CN" altLang="zh-CN"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KDD</a:t>
            </a:r>
            <a:r>
              <a:rPr lang="zh-CN" altLang="zh-CN" sz="2800" b="1" dirty="0">
                <a:latin typeface="楷体" panose="02010609060101010101" pitchFamily="49" charset="-122"/>
                <a:ea typeface="楷体" panose="02010609060101010101" pitchFamily="49" charset="-122"/>
              </a:rPr>
              <a:t>）的产生。</a:t>
            </a:r>
            <a:r>
              <a:rPr lang="zh-CN" altLang="zh-CN" dirty="0">
                <a:latin typeface="楷体" panose="02010609060101010101" pitchFamily="49" charset="-122"/>
                <a:ea typeface="楷体" panose="02010609060101010101" pitchFamily="49" charset="-122"/>
              </a:rPr>
              <a:t>数据库中的知识发现是一门交叉性学科，涉及机器学习、模式识别、统计学、智能数据库、知识获取、数据可视化、高性能计算、专家系统等多个领域。从数据库中发现出来的知识可以用在信息管理、过程控制、科学研究、决策支持等许多方面。</a:t>
            </a:r>
            <a:endParaRPr lang="zh-CN" altLang="zh-CN"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7346" name="标题 697345"/>
          <p:cNvSpPr>
            <a:spLocks noGrp="1"/>
          </p:cNvSpPr>
          <p:nvPr>
            <p:ph type="title"/>
          </p:nvPr>
        </p:nvSpPr>
        <p:spPr>
          <a:xfrm>
            <a:off x="2509740" y="141510"/>
            <a:ext cx="8911687" cy="1280890"/>
          </a:xfrm>
        </p:spPr>
        <p:txBody>
          <a:bodyPr anchor="b"/>
          <a:p>
            <a:r>
              <a:rPr lang="zh-CN" altLang="en-US" dirty="0"/>
              <a:t>了解：数据库系统的发展</a:t>
            </a:r>
            <a:endParaRPr lang="zh-CN" altLang="en-US" dirty="0"/>
          </a:p>
        </p:txBody>
      </p:sp>
      <p:sp>
        <p:nvSpPr>
          <p:cNvPr id="697347" name="文本占位符 697346"/>
          <p:cNvSpPr>
            <a:spLocks noGrp="1"/>
          </p:cNvSpPr>
          <p:nvPr>
            <p:ph type="body" idx="1"/>
          </p:nvPr>
        </p:nvSpPr>
        <p:spPr>
          <a:xfrm>
            <a:off x="2509203" y="1680845"/>
            <a:ext cx="8280400" cy="5495925"/>
          </a:xfrm>
        </p:spPr>
        <p:txBody>
          <a:bodyPr/>
          <a:p>
            <a:pPr>
              <a:lnSpc>
                <a:spcPct val="110000"/>
              </a:lnSpc>
            </a:pPr>
            <a:r>
              <a:rPr lang="en-US" altLang="zh-CN"/>
              <a:t>60</a:t>
            </a:r>
            <a:r>
              <a:rPr lang="zh-CN" altLang="en-US" dirty="0"/>
              <a:t>年代：简单文件处理系统向数据库系统变革 。</a:t>
            </a:r>
            <a:endParaRPr lang="en-US" altLang="zh-CN"/>
          </a:p>
          <a:p>
            <a:pPr>
              <a:lnSpc>
                <a:spcPct val="110000"/>
              </a:lnSpc>
            </a:pPr>
            <a:r>
              <a:rPr lang="en-US" altLang="zh-CN">
                <a:solidFill>
                  <a:srgbClr val="000099"/>
                </a:solidFill>
              </a:rPr>
              <a:t>70</a:t>
            </a:r>
            <a:r>
              <a:rPr lang="zh-CN" altLang="en-US" dirty="0">
                <a:solidFill>
                  <a:srgbClr val="000099"/>
                </a:solidFill>
              </a:rPr>
              <a:t>年代：层次、网络和关系型数据库普及。</a:t>
            </a:r>
            <a:r>
              <a:rPr lang="zh-CN" altLang="en-US" dirty="0"/>
              <a:t> </a:t>
            </a:r>
            <a:endParaRPr lang="en-US" altLang="zh-CN"/>
          </a:p>
          <a:p>
            <a:pPr>
              <a:lnSpc>
                <a:spcPct val="110000"/>
              </a:lnSpc>
            </a:pPr>
            <a:r>
              <a:rPr lang="en-US" altLang="zh-CN"/>
              <a:t>80</a:t>
            </a:r>
            <a:r>
              <a:rPr lang="zh-CN" altLang="en-US" dirty="0"/>
              <a:t>年代：</a:t>
            </a:r>
            <a:r>
              <a:rPr lang="en-US" altLang="zh-CN"/>
              <a:t>RDBS</a:t>
            </a:r>
            <a:r>
              <a:rPr lang="zh-CN" altLang="en-US" dirty="0"/>
              <a:t>及其相关工具、数据索引及数据组织技术被广泛采用；中期开始，分布式数据库广发讨论，关系数据库技术和新型技术的结合。 </a:t>
            </a:r>
            <a:endParaRPr lang="zh-CN" altLang="en-US" dirty="0"/>
          </a:p>
          <a:p>
            <a:pPr>
              <a:lnSpc>
                <a:spcPct val="110000"/>
              </a:lnSpc>
            </a:pPr>
            <a:r>
              <a:rPr lang="en-US" altLang="zh-CN">
                <a:solidFill>
                  <a:srgbClr val="000099"/>
                </a:solidFill>
              </a:rPr>
              <a:t>90</a:t>
            </a:r>
            <a:r>
              <a:rPr lang="zh-CN" altLang="en-US" dirty="0">
                <a:solidFill>
                  <a:srgbClr val="000099"/>
                </a:solidFill>
              </a:rPr>
              <a:t>年代：数据库领域中的新内容、新应用、新技术层出不穷，形成了庞大的数据库家族；人们期望分析预测、决策支持等高级应用， </a:t>
            </a:r>
            <a:r>
              <a:rPr lang="en-US" altLang="zh-CN">
                <a:solidFill>
                  <a:srgbClr val="000099"/>
                </a:solidFill>
              </a:rPr>
              <a:t>Data mining and data warehousing</a:t>
            </a:r>
            <a:r>
              <a:rPr lang="zh-CN" altLang="en-US" dirty="0">
                <a:solidFill>
                  <a:srgbClr val="000099"/>
                </a:solidFill>
              </a:rPr>
              <a:t>等出现。</a:t>
            </a:r>
            <a:endParaRPr lang="zh-CN" altLang="en-US" dirty="0">
              <a:solidFill>
                <a:srgbClr val="000099"/>
              </a:solidFill>
            </a:endParaRPr>
          </a:p>
          <a:p>
            <a:pPr>
              <a:lnSpc>
                <a:spcPct val="110000"/>
              </a:lnSpc>
            </a:pPr>
            <a:r>
              <a:rPr lang="zh-CN" altLang="en-US" dirty="0"/>
              <a:t>本世纪开始： </a:t>
            </a:r>
            <a:r>
              <a:rPr lang="en-US" altLang="zh-CN"/>
              <a:t>Data mining </a:t>
            </a:r>
            <a:r>
              <a:rPr lang="zh-CN" altLang="en-US" dirty="0"/>
              <a:t>得到理论</a:t>
            </a:r>
            <a:r>
              <a:rPr lang="en-US" altLang="zh-CN"/>
              <a:t>/</a:t>
            </a:r>
            <a:r>
              <a:rPr lang="zh-CN" altLang="en-US" dirty="0"/>
              <a:t>技术深化。</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71700" y="1090295"/>
            <a:ext cx="8915400" cy="5142865"/>
          </a:xfrm>
        </p:spPr>
        <p:txBody>
          <a:bodyPr>
            <a:normAutofit/>
          </a:bodyPr>
          <a:lstStyle/>
          <a:p>
            <a:r>
              <a:rPr lang="zh-CN" altLang="zh-CN" sz="2400" dirty="0">
                <a:latin typeface="楷体" panose="02010609060101010101" pitchFamily="49" charset="-122"/>
                <a:ea typeface="楷体" panose="02010609060101010101" pitchFamily="49" charset="-122"/>
              </a:rPr>
              <a:t>进入</a:t>
            </a:r>
            <a:r>
              <a:rPr lang="en-US" altLang="zh-CN" sz="2400" dirty="0">
                <a:latin typeface="楷体" panose="02010609060101010101" pitchFamily="49" charset="-122"/>
                <a:ea typeface="楷体" panose="02010609060101010101" pitchFamily="49" charset="-122"/>
              </a:rPr>
              <a:t>20</a:t>
            </a:r>
            <a:r>
              <a:rPr lang="zh-CN" altLang="zh-CN" sz="2400" dirty="0">
                <a:latin typeface="楷体" panose="02010609060101010101" pitchFamily="49" charset="-122"/>
                <a:ea typeface="楷体" panose="02010609060101010101" pitchFamily="49" charset="-122"/>
              </a:rPr>
              <a:t>世纪</a:t>
            </a:r>
            <a:r>
              <a:rPr lang="en-US" altLang="zh-CN" sz="2400" dirty="0">
                <a:latin typeface="楷体" panose="02010609060101010101" pitchFamily="49" charset="-122"/>
                <a:ea typeface="楷体" panose="02010609060101010101" pitchFamily="49" charset="-122"/>
              </a:rPr>
              <a:t>70</a:t>
            </a:r>
            <a:r>
              <a:rPr lang="zh-CN" altLang="zh-CN" sz="2400" dirty="0">
                <a:latin typeface="楷体" panose="02010609060101010101" pitchFamily="49" charset="-122"/>
                <a:ea typeface="楷体" panose="02010609060101010101" pitchFamily="49" charset="-122"/>
              </a:rPr>
              <a:t>年代后期，在数据挖掘领域取得了下面两个主要成就</a:t>
            </a:r>
            <a:r>
              <a:rPr lang="zh-CN" altLang="en-US"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endParaRPr lang="zh-CN" altLang="zh-CN" dirty="0">
              <a:latin typeface="楷体" panose="02010609060101010101" pitchFamily="49" charset="-122"/>
              <a:ea typeface="楷体" panose="02010609060101010101" pitchFamily="49" charset="-122"/>
            </a:endParaRPr>
          </a:p>
          <a:p>
            <a:endParaRPr lang="zh-CN" altLang="en-US" dirty="0"/>
          </a:p>
        </p:txBody>
      </p:sp>
      <p:sp>
        <p:nvSpPr>
          <p:cNvPr id="2" name="内容占位符 2"/>
          <p:cNvSpPr>
            <a:spLocks noGrp="1"/>
          </p:cNvSpPr>
          <p:nvPr/>
        </p:nvSpPr>
        <p:spPr>
          <a:xfrm>
            <a:off x="2171999" y="2222673"/>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zh-CN" altLang="zh-CN" sz="2400" dirty="0"/>
              <a:t>（</a:t>
            </a:r>
            <a:r>
              <a:rPr lang="en-US" altLang="zh-CN" sz="2400" dirty="0"/>
              <a:t>1</a:t>
            </a:r>
            <a:r>
              <a:rPr lang="zh-CN" altLang="zh-CN" sz="2400" dirty="0"/>
              <a:t>）广义线性模型</a:t>
            </a:r>
            <a:endParaRPr lang="en-US" altLang="zh-CN" sz="2400" dirty="0"/>
          </a:p>
          <a:p>
            <a:pPr marL="0" indent="0">
              <a:buNone/>
            </a:pPr>
            <a:r>
              <a:rPr lang="en-US" altLang="zh-CN" sz="2000" dirty="0">
                <a:latin typeface="楷体" panose="02010609060101010101" pitchFamily="49" charset="-122"/>
                <a:ea typeface="楷体" panose="02010609060101010101" pitchFamily="49" charset="-122"/>
              </a:rPr>
              <a:t>    </a:t>
            </a:r>
            <a:r>
              <a:rPr lang="zh-CN" altLang="zh-CN" sz="2000" dirty="0">
                <a:latin typeface="楷体" panose="02010609060101010101" pitchFamily="49" charset="-122"/>
                <a:ea typeface="楷体" panose="02010609060101010101" pitchFamily="49" charset="-122"/>
              </a:rPr>
              <a:t>广义线性建模是线性模型在研究响应值的非正太分布以及非线性模型的简洁直接的线性转化时的一种发展，其最大的作用就是将看似零碎的统计研究的多方面的贡献统一</a:t>
            </a:r>
            <a:r>
              <a:rPr lang="zh-CN" altLang="zh-CN" sz="2000" dirty="0">
                <a:latin typeface="楷体" panose="02010609060101010101" pitchFamily="49" charset="-122"/>
                <a:ea typeface="楷体" panose="02010609060101010101" pitchFamily="49" charset="-122"/>
              </a:rPr>
              <a:t>起来，概括了基于正态理论以外的线性模型的研究。</a:t>
            </a:r>
            <a:endParaRPr lang="zh-CN" altLang="zh-CN" sz="2000" dirty="0">
              <a:latin typeface="楷体" panose="02010609060101010101" pitchFamily="49" charset="-122"/>
              <a:ea typeface="楷体" panose="02010609060101010101" pitchFamily="49" charset="-122"/>
            </a:endParaRPr>
          </a:p>
          <a:p>
            <a:r>
              <a:rPr lang="zh-CN" altLang="zh-CN" sz="2400" dirty="0"/>
              <a:t>（</a:t>
            </a:r>
            <a:r>
              <a:rPr lang="en-US" altLang="zh-CN" sz="2400" dirty="0"/>
              <a:t>2</a:t>
            </a:r>
            <a:r>
              <a:rPr lang="zh-CN" altLang="zh-CN" sz="2400" dirty="0"/>
              <a:t>）</a:t>
            </a:r>
            <a:r>
              <a:rPr lang="en-US" altLang="zh-CN" sz="2400" dirty="0"/>
              <a:t>EM</a:t>
            </a:r>
            <a:r>
              <a:rPr lang="zh-CN" altLang="zh-CN" sz="2400" dirty="0"/>
              <a:t>算法</a:t>
            </a:r>
            <a:endParaRPr lang="zh-CN" altLang="zh-CN" sz="2400" dirty="0"/>
          </a:p>
          <a:p>
            <a:pPr marL="0" indent="0">
              <a:buNone/>
            </a:pPr>
            <a:r>
              <a:rPr lang="en-US" altLang="zh-CN" sz="2000" dirty="0">
                <a:latin typeface="楷体" panose="02010609060101010101" pitchFamily="49" charset="-122"/>
                <a:ea typeface="楷体" panose="02010609060101010101" pitchFamily="49" charset="-122"/>
              </a:rPr>
              <a:t>    EM</a:t>
            </a:r>
            <a:r>
              <a:rPr lang="zh-CN" altLang="zh-CN" sz="2000" dirty="0">
                <a:latin typeface="楷体" panose="02010609060101010101" pitchFamily="49" charset="-122"/>
                <a:ea typeface="楷体" panose="02010609060101010101" pitchFamily="49" charset="-122"/>
              </a:rPr>
              <a:t>算法是</a:t>
            </a:r>
            <a:r>
              <a:rPr lang="en-US" altLang="zh-CN" sz="2000" dirty="0">
                <a:latin typeface="楷体" panose="02010609060101010101" pitchFamily="49" charset="-122"/>
                <a:ea typeface="楷体" panose="02010609060101010101" pitchFamily="49" charset="-122"/>
              </a:rPr>
              <a:t>Dempster</a:t>
            </a:r>
            <a:r>
              <a:rPr lang="zh-CN" altLang="zh-CN" sz="2000" dirty="0">
                <a:latin typeface="楷体" panose="02010609060101010101" pitchFamily="49" charset="-122"/>
                <a:ea typeface="楷体" panose="02010609060101010101" pitchFamily="49" charset="-122"/>
              </a:rPr>
              <a:t>，</a:t>
            </a:r>
            <a:r>
              <a:rPr lang="en-US" altLang="zh-CN" sz="2000" dirty="0" err="1">
                <a:latin typeface="楷体" panose="02010609060101010101" pitchFamily="49" charset="-122"/>
                <a:ea typeface="楷体" panose="02010609060101010101" pitchFamily="49" charset="-122"/>
              </a:rPr>
              <a:t>Laind</a:t>
            </a:r>
            <a:r>
              <a:rPr lang="zh-CN" altLang="zh-CN"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Rubin</a:t>
            </a:r>
            <a:r>
              <a:rPr lang="zh-CN" altLang="zh-CN" sz="2000" dirty="0">
                <a:latin typeface="楷体" panose="02010609060101010101" pitchFamily="49" charset="-122"/>
                <a:ea typeface="楷体" panose="02010609060101010101" pitchFamily="49" charset="-122"/>
              </a:rPr>
              <a:t>于</a:t>
            </a:r>
            <a:r>
              <a:rPr lang="en-US" altLang="zh-CN" sz="2000" dirty="0">
                <a:latin typeface="楷体" panose="02010609060101010101" pitchFamily="49" charset="-122"/>
                <a:ea typeface="楷体" panose="02010609060101010101" pitchFamily="49" charset="-122"/>
              </a:rPr>
              <a:t>1977</a:t>
            </a:r>
            <a:r>
              <a:rPr lang="zh-CN" altLang="zh-CN" sz="2000" dirty="0">
                <a:latin typeface="楷体" panose="02010609060101010101" pitchFamily="49" charset="-122"/>
                <a:ea typeface="楷体" panose="02010609060101010101" pitchFamily="49" charset="-122"/>
              </a:rPr>
              <a:t>年提出的一种求参数极大似然估计的方法，它可以从非完整数据集中对参数进行</a:t>
            </a:r>
            <a:r>
              <a:rPr lang="en-US" altLang="zh-CN" sz="2000" dirty="0">
                <a:latin typeface="楷体" panose="02010609060101010101" pitchFamily="49" charset="-122"/>
                <a:ea typeface="楷体" panose="02010609060101010101" pitchFamily="49" charset="-122"/>
              </a:rPr>
              <a:t>MLE</a:t>
            </a:r>
            <a:r>
              <a:rPr lang="zh-CN" altLang="zh-CN" sz="2000" dirty="0">
                <a:latin typeface="楷体" panose="02010609060101010101" pitchFamily="49" charset="-122"/>
                <a:ea typeface="楷体" panose="02010609060101010101" pitchFamily="49" charset="-122"/>
              </a:rPr>
              <a:t>估计，是一种非常简单实用的学习算法。这种方法可以广泛地应用于处理缺损数据，截尾数据，带有噪声等所谓的不完全数据（</a:t>
            </a:r>
            <a:r>
              <a:rPr lang="en-US" altLang="zh-CN" sz="2000" dirty="0">
                <a:latin typeface="楷体" panose="02010609060101010101" pitchFamily="49" charset="-122"/>
                <a:ea typeface="楷体" panose="02010609060101010101" pitchFamily="49" charset="-122"/>
              </a:rPr>
              <a:t>Incomplete Data</a:t>
            </a:r>
            <a:r>
              <a:rPr lang="zh-CN" altLang="zh-CN" sz="2000" dirty="0">
                <a:latin typeface="楷体" panose="02010609060101010101" pitchFamily="49" charset="-122"/>
                <a:ea typeface="楷体" panose="02010609060101010101" pitchFamily="49" charset="-122"/>
              </a:rPr>
              <a:t>），其重要作用是解决不完整数据估计问题的数值方法，即使数据完整，缺失值在最优估计的计算中也有用。</a:t>
            </a:r>
            <a:endParaRPr lang="zh-CN" altLang="zh-CN" sz="2000" dirty="0">
              <a:latin typeface="楷体" panose="02010609060101010101" pitchFamily="49" charset="-122"/>
              <a:ea typeface="楷体" panose="02010609060101010101" pitchFamily="49" charset="-122"/>
            </a:endParaRPr>
          </a:p>
          <a:p>
            <a:endParaRPr lang="en-US" altLang="zh-CN" dirty="0"/>
          </a:p>
          <a:p>
            <a:endParaRPr lang="zh-CN" altLang="zh-CN" dirty="0"/>
          </a:p>
          <a:p>
            <a:pPr marL="0" indent="0">
              <a:buNone/>
            </a:pPr>
            <a:endParaRPr lang="zh-CN" altLang="zh-CN" dirty="0">
              <a:latin typeface="楷体" panose="02010609060101010101" pitchFamily="49" charset="-122"/>
              <a:ea typeface="楷体" panose="02010609060101010101" pitchFamily="49" charset="-122"/>
            </a:endParaRPr>
          </a:p>
          <a:p>
            <a:pPr marL="0" indent="0">
              <a:buNone/>
            </a:pP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940340"/>
            <a:ext cx="8911687" cy="1280890"/>
          </a:xfrm>
        </p:spPr>
        <p:txBody>
          <a:bodyPr>
            <a:noAutofit/>
          </a:bodyPr>
          <a:lstStyle/>
          <a:p>
            <a:r>
              <a:rPr lang="en-US" altLang="zh-CN" sz="2400" dirty="0"/>
              <a:t>    20</a:t>
            </a:r>
            <a:r>
              <a:rPr lang="zh-CN" altLang="zh-CN" sz="2400" dirty="0"/>
              <a:t>世纪</a:t>
            </a:r>
            <a:r>
              <a:rPr lang="en-US" altLang="zh-CN" sz="2400" dirty="0"/>
              <a:t>80</a:t>
            </a:r>
            <a:r>
              <a:rPr lang="zh-CN" altLang="zh-CN" sz="2400" dirty="0"/>
              <a:t>年代及以后</a:t>
            </a:r>
            <a:r>
              <a:rPr lang="zh-CN" altLang="zh-CN" sz="2400" b="1" dirty="0"/>
              <a:t>资料模拟</a:t>
            </a:r>
            <a:r>
              <a:rPr lang="zh-CN" altLang="zh-CN" sz="2400" dirty="0"/>
              <a:t>及</a:t>
            </a:r>
            <a:r>
              <a:rPr lang="zh-CN" altLang="zh-CN" sz="2400" b="1" dirty="0"/>
              <a:t>非参统计</a:t>
            </a:r>
            <a:r>
              <a:rPr lang="zh-CN" altLang="zh-CN" sz="2400" dirty="0"/>
              <a:t>的发展使得数据挖掘技术进入崭新的阶段，</a:t>
            </a:r>
            <a:r>
              <a:rPr lang="en-US" altLang="zh-CN" sz="2400" dirty="0"/>
              <a:t>SVM</a:t>
            </a:r>
            <a:r>
              <a:rPr lang="zh-CN" altLang="zh-CN" sz="2400" dirty="0"/>
              <a:t>、神经网络、</a:t>
            </a:r>
            <a:r>
              <a:rPr lang="en-US" altLang="zh-CN" sz="2400" dirty="0"/>
              <a:t>Bootstrap</a:t>
            </a:r>
            <a:r>
              <a:rPr lang="zh-CN" altLang="zh-CN" sz="2400" dirty="0"/>
              <a:t>法的提出，以及处理变量非线性关系的核光滑（</a:t>
            </a:r>
            <a:r>
              <a:rPr lang="en-US" altLang="zh-CN" sz="2400" dirty="0"/>
              <a:t>Kernel Smoothing</a:t>
            </a:r>
            <a:r>
              <a:rPr lang="zh-CN" altLang="zh-CN" sz="2400" dirty="0"/>
              <a:t>）法增强了数据挖掘的模式识别能力。</a:t>
            </a:r>
            <a:endParaRPr lang="zh-CN" altLang="zh-CN" sz="2400" dirty="0"/>
          </a:p>
        </p:txBody>
      </p:sp>
      <p:sp>
        <p:nvSpPr>
          <p:cNvPr id="3" name="内容占位符 2"/>
          <p:cNvSpPr>
            <a:spLocks noGrp="1"/>
          </p:cNvSpPr>
          <p:nvPr>
            <p:ph idx="1"/>
          </p:nvPr>
        </p:nvSpPr>
        <p:spPr>
          <a:xfrm>
            <a:off x="2593022" y="2632710"/>
            <a:ext cx="8915400" cy="3777622"/>
          </a:xfrm>
        </p:spPr>
        <p:txBody>
          <a:bodyPr/>
          <a:lstStyle/>
          <a:p>
            <a:r>
              <a:rPr lang="zh-CN" altLang="zh-CN" sz="2000" dirty="0"/>
              <a:t>（</a:t>
            </a:r>
            <a:r>
              <a:rPr lang="en-US" altLang="zh-CN" sz="2000" dirty="0"/>
              <a:t>1</a:t>
            </a:r>
            <a:r>
              <a:rPr lang="zh-CN" altLang="zh-CN" sz="2000" dirty="0"/>
              <a:t>）</a:t>
            </a:r>
            <a:r>
              <a:rPr lang="en-US" altLang="zh-CN" sz="2000" dirty="0"/>
              <a:t>SVM</a:t>
            </a:r>
            <a:endParaRPr lang="zh-CN" altLang="zh-CN" sz="2000" dirty="0"/>
          </a:p>
          <a:p>
            <a:pPr marL="0" indent="0">
              <a:buNone/>
            </a:pPr>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支持向量机（</a:t>
            </a:r>
            <a:r>
              <a:rPr lang="en-US" altLang="zh-CN" dirty="0">
                <a:latin typeface="楷体" panose="02010609060101010101" pitchFamily="49" charset="-122"/>
                <a:ea typeface="楷体" panose="02010609060101010101" pitchFamily="49" charset="-122"/>
              </a:rPr>
              <a:t>Support Vector Machine</a:t>
            </a:r>
            <a:r>
              <a:rPr lang="zh-CN" altLang="zh-CN" dirty="0">
                <a:latin typeface="楷体" panose="02010609060101010101" pitchFamily="49" charset="-122"/>
                <a:ea typeface="楷体" panose="02010609060101010101" pitchFamily="49" charset="-122"/>
              </a:rPr>
              <a:t>）是</a:t>
            </a:r>
            <a:r>
              <a:rPr lang="en-US" altLang="zh-CN" dirty="0">
                <a:latin typeface="楷体" panose="02010609060101010101" pitchFamily="49" charset="-122"/>
                <a:ea typeface="楷体" panose="02010609060101010101" pitchFamily="49" charset="-122"/>
              </a:rPr>
              <a:t>Cortes</a:t>
            </a:r>
            <a:r>
              <a:rPr lang="zh-CN" altLang="zh-CN" dirty="0">
                <a:latin typeface="楷体" panose="02010609060101010101" pitchFamily="49" charset="-122"/>
                <a:ea typeface="楷体" panose="02010609060101010101" pitchFamily="49" charset="-122"/>
              </a:rPr>
              <a:t>和</a:t>
            </a:r>
            <a:r>
              <a:rPr lang="en-US" altLang="zh-CN" dirty="0" err="1">
                <a:latin typeface="楷体" panose="02010609060101010101" pitchFamily="49" charset="-122"/>
                <a:ea typeface="楷体" panose="02010609060101010101" pitchFamily="49" charset="-122"/>
              </a:rPr>
              <a:t>Vapnik</a:t>
            </a:r>
            <a:r>
              <a:rPr lang="zh-CN" altLang="zh-CN" dirty="0">
                <a:latin typeface="楷体" panose="02010609060101010101" pitchFamily="49" charset="-122"/>
                <a:ea typeface="楷体" panose="02010609060101010101" pitchFamily="49" charset="-122"/>
              </a:rPr>
              <a:t>于</a:t>
            </a:r>
            <a:r>
              <a:rPr lang="en-US" altLang="zh-CN" dirty="0">
                <a:latin typeface="楷体" panose="02010609060101010101" pitchFamily="49" charset="-122"/>
                <a:ea typeface="楷体" panose="02010609060101010101" pitchFamily="49" charset="-122"/>
              </a:rPr>
              <a:t>1995</a:t>
            </a:r>
            <a:r>
              <a:rPr lang="zh-CN" altLang="zh-CN" dirty="0">
                <a:latin typeface="楷体" panose="02010609060101010101" pitchFamily="49" charset="-122"/>
                <a:ea typeface="楷体" panose="02010609060101010101" pitchFamily="49" charset="-122"/>
              </a:rPr>
              <a:t>年首先提出的，它在解决小样本、非线性及高维模式识别中表现出许多特有的优势，并能够推广应用到函数拟合等其他机器学习问题中。</a:t>
            </a:r>
            <a:endParaRPr lang="zh-CN" altLang="zh-CN" dirty="0">
              <a:latin typeface="楷体" panose="02010609060101010101" pitchFamily="49" charset="-122"/>
              <a:ea typeface="楷体" panose="02010609060101010101" pitchFamily="49" charset="-122"/>
            </a:endParaRPr>
          </a:p>
          <a:p>
            <a:r>
              <a:rPr lang="zh-CN" altLang="zh-CN" sz="2000" dirty="0"/>
              <a:t>（</a:t>
            </a:r>
            <a:r>
              <a:rPr lang="en-US" altLang="zh-CN" sz="2000" dirty="0"/>
              <a:t>2</a:t>
            </a:r>
            <a:r>
              <a:rPr lang="zh-CN" altLang="zh-CN" sz="2000" dirty="0"/>
              <a:t>）神经网络</a:t>
            </a:r>
            <a:endParaRPr lang="zh-CN" altLang="zh-CN" sz="2000" dirty="0"/>
          </a:p>
          <a:p>
            <a:pPr marL="0" indent="0">
              <a:buNone/>
            </a:pPr>
            <a:r>
              <a:rPr lang="en-US" altLang="zh-CN" dirty="0">
                <a:latin typeface="楷体" panose="02010609060101010101" pitchFamily="49" charset="-122"/>
                <a:ea typeface="楷体" panose="02010609060101010101" pitchFamily="49" charset="-122"/>
              </a:rPr>
              <a:t>    20</a:t>
            </a:r>
            <a:r>
              <a:rPr lang="zh-CN" altLang="zh-CN" dirty="0">
                <a:latin typeface="楷体" panose="02010609060101010101" pitchFamily="49" charset="-122"/>
                <a:ea typeface="楷体" panose="02010609060101010101" pitchFamily="49" charset="-122"/>
              </a:rPr>
              <a:t>世纪</a:t>
            </a:r>
            <a:r>
              <a:rPr lang="en-US" altLang="zh-CN" dirty="0">
                <a:latin typeface="楷体" panose="02010609060101010101" pitchFamily="49" charset="-122"/>
                <a:ea typeface="楷体" panose="02010609060101010101" pitchFamily="49" charset="-122"/>
              </a:rPr>
              <a:t>80</a:t>
            </a:r>
            <a:r>
              <a:rPr lang="zh-CN" altLang="zh-CN" dirty="0">
                <a:latin typeface="楷体" panose="02010609060101010101" pitchFamily="49" charset="-122"/>
                <a:ea typeface="楷体" panose="02010609060101010101" pitchFamily="49" charset="-122"/>
              </a:rPr>
              <a:t>年代初期，模拟与数字混合的超大规模集成电路制作技术提高到新的水平，完全实现了实用化，此外，数字计算机的发展在若干应用领域遇到困难。这一背景和</a:t>
            </a:r>
            <a:r>
              <a:rPr lang="en-US" altLang="zh-CN" dirty="0">
                <a:latin typeface="楷体" panose="02010609060101010101" pitchFamily="49" charset="-122"/>
                <a:ea typeface="楷体" panose="02010609060101010101" pitchFamily="49" charset="-122"/>
              </a:rPr>
              <a:t>1984</a:t>
            </a:r>
            <a:r>
              <a:rPr lang="zh-CN" altLang="zh-CN" dirty="0">
                <a:latin typeface="楷体" panose="02010609060101010101" pitchFamily="49" charset="-122"/>
                <a:ea typeface="楷体" panose="02010609060101010101" pitchFamily="49" charset="-122"/>
              </a:rPr>
              <a:t>年在美国科学院院刊上发表的两篇关于人工神经网络的研究论文，引起了科学界的巨大反响，人们重新认识到神经网络的威力以及付诸应用的现实性。随即一大批学者和研究人员围绕着</a:t>
            </a:r>
            <a:r>
              <a:rPr lang="en-US" altLang="zh-CN" dirty="0">
                <a:latin typeface="楷体" panose="02010609060101010101" pitchFamily="49" charset="-122"/>
                <a:ea typeface="楷体" panose="02010609060101010101" pitchFamily="49" charset="-122"/>
              </a:rPr>
              <a:t>Hopfield</a:t>
            </a:r>
            <a:r>
              <a:rPr lang="zh-CN" altLang="zh-CN" dirty="0">
                <a:latin typeface="楷体" panose="02010609060101010101" pitchFamily="49" charset="-122"/>
                <a:ea typeface="楷体" panose="02010609060101010101" pitchFamily="49" charset="-122"/>
              </a:rPr>
              <a:t>提出的方法展开了进一步的工作，推动了人工神经网络的发展。</a:t>
            </a:r>
            <a:endParaRPr lang="zh-CN" altLang="zh-CN" dirty="0">
              <a:latin typeface="楷体" panose="02010609060101010101" pitchFamily="49" charset="-122"/>
              <a:ea typeface="楷体" panose="02010609060101010101" pitchFamily="49" charset="-122"/>
            </a:endParaRPr>
          </a:p>
          <a:p>
            <a:pPr marL="0" indent="0">
              <a:buNone/>
            </a:pP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56180" y="1014730"/>
            <a:ext cx="8915400" cy="5208270"/>
          </a:xfrm>
        </p:spPr>
        <p:txBody>
          <a:bodyPr>
            <a:normAutofit/>
          </a:bodyPr>
          <a:lstStyle/>
          <a:p>
            <a:r>
              <a:rPr lang="zh-CN" altLang="zh-CN" sz="2400" dirty="0"/>
              <a:t>（</a:t>
            </a:r>
            <a:r>
              <a:rPr lang="en-US" altLang="zh-CN" sz="2400" dirty="0"/>
              <a:t>3</a:t>
            </a:r>
            <a:r>
              <a:rPr lang="zh-CN" altLang="zh-CN" sz="2400" dirty="0"/>
              <a:t>）</a:t>
            </a:r>
            <a:r>
              <a:rPr lang="en-US" altLang="zh-CN" sz="2400" dirty="0"/>
              <a:t>Bootstrap</a:t>
            </a:r>
            <a:r>
              <a:rPr lang="zh-CN" altLang="zh-CN" sz="2400" dirty="0"/>
              <a:t>法</a:t>
            </a:r>
            <a:endParaRPr lang="zh-CN" altLang="zh-CN" sz="2400" dirty="0"/>
          </a:p>
          <a:p>
            <a:pPr marL="0" indent="0">
              <a:buNone/>
            </a:pPr>
            <a:r>
              <a:rPr lang="en-US" altLang="zh-CN" sz="2000" dirty="0">
                <a:latin typeface="楷体" panose="02010609060101010101" pitchFamily="49" charset="-122"/>
                <a:ea typeface="楷体" panose="02010609060101010101" pitchFamily="49" charset="-122"/>
              </a:rPr>
              <a:t>    1970</a:t>
            </a:r>
            <a:r>
              <a:rPr lang="zh-CN" altLang="zh-CN" sz="2000" dirty="0">
                <a:latin typeface="楷体" panose="02010609060101010101" pitchFamily="49" charset="-122"/>
                <a:ea typeface="楷体" panose="02010609060101010101" pitchFamily="49" charset="-122"/>
              </a:rPr>
              <a:t>年，</a:t>
            </a:r>
            <a:r>
              <a:rPr lang="en-US" altLang="zh-CN" sz="2000" dirty="0" err="1">
                <a:latin typeface="楷体" panose="02010609060101010101" pitchFamily="49" charset="-122"/>
                <a:ea typeface="楷体" panose="02010609060101010101" pitchFamily="49" charset="-122"/>
              </a:rPr>
              <a:t>Efron</a:t>
            </a:r>
            <a:r>
              <a:rPr lang="zh-CN" altLang="zh-CN" sz="2000" dirty="0">
                <a:latin typeface="楷体" panose="02010609060101010101" pitchFamily="49" charset="-122"/>
                <a:ea typeface="楷体" panose="02010609060101010101" pitchFamily="49" charset="-122"/>
              </a:rPr>
              <a:t>等人发表了一系列的论文作为</a:t>
            </a:r>
            <a:r>
              <a:rPr lang="en-US" altLang="zh-CN" sz="2000" dirty="0">
                <a:latin typeface="楷体" panose="02010609060101010101" pitchFamily="49" charset="-122"/>
                <a:ea typeface="楷体" panose="02010609060101010101" pitchFamily="49" charset="-122"/>
              </a:rPr>
              <a:t>Bootstrap</a:t>
            </a:r>
            <a:r>
              <a:rPr lang="zh-CN" altLang="zh-CN" sz="2000" dirty="0">
                <a:latin typeface="楷体" panose="02010609060101010101" pitchFamily="49" charset="-122"/>
                <a:ea typeface="楷体" panose="02010609060101010101" pitchFamily="49" charset="-122"/>
              </a:rPr>
              <a:t>法诞生的标志，即在已知数据的基础上，通过用计算机来模拟</a:t>
            </a:r>
            <a:r>
              <a:rPr lang="en-US" altLang="zh-CN" sz="2000" dirty="0">
                <a:latin typeface="楷体" panose="02010609060101010101" pitchFamily="49" charset="-122"/>
                <a:ea typeface="楷体" panose="02010609060101010101" pitchFamily="49" charset="-122"/>
              </a:rPr>
              <a:t>N</a:t>
            </a:r>
            <a:r>
              <a:rPr lang="zh-CN" altLang="zh-CN" sz="2000" dirty="0">
                <a:latin typeface="楷体" panose="02010609060101010101" pitchFamily="49" charset="-122"/>
                <a:ea typeface="楷体" panose="02010609060101010101" pitchFamily="49" charset="-122"/>
              </a:rPr>
              <a:t>趋近于无穷大时的情况，把已知的数据不断地重新抽样，从而在新的数据中得出原始数据的信息。更简单地讲就是有</a:t>
            </a:r>
            <a:r>
              <a:rPr lang="en-US" altLang="zh-CN" sz="2000" dirty="0">
                <a:latin typeface="楷体" panose="02010609060101010101" pitchFamily="49" charset="-122"/>
                <a:ea typeface="楷体" panose="02010609060101010101" pitchFamily="49" charset="-122"/>
              </a:rPr>
              <a:t>100</a:t>
            </a:r>
            <a:r>
              <a:rPr lang="zh-CN" altLang="zh-CN" sz="2000" dirty="0">
                <a:latin typeface="楷体" panose="02010609060101010101" pitchFamily="49" charset="-122"/>
                <a:ea typeface="楷体" panose="02010609060101010101" pitchFamily="49" charset="-122"/>
              </a:rPr>
              <a:t>个数据，但是它们没办法真实反映样本的全貌，则对这</a:t>
            </a:r>
            <a:r>
              <a:rPr lang="en-US" altLang="zh-CN" sz="2000" dirty="0">
                <a:latin typeface="楷体" panose="02010609060101010101" pitchFamily="49" charset="-122"/>
                <a:ea typeface="楷体" panose="02010609060101010101" pitchFamily="49" charset="-122"/>
              </a:rPr>
              <a:t>100</a:t>
            </a:r>
            <a:r>
              <a:rPr lang="zh-CN" altLang="zh-CN" sz="2000" dirty="0">
                <a:latin typeface="楷体" panose="02010609060101010101" pitchFamily="49" charset="-122"/>
                <a:ea typeface="楷体" panose="02010609060101010101" pitchFamily="49" charset="-122"/>
              </a:rPr>
              <a:t>个数据重新随机地抽样</a:t>
            </a:r>
            <a:r>
              <a:rPr lang="en-US" altLang="zh-CN" sz="2000" dirty="0">
                <a:latin typeface="楷体" panose="02010609060101010101" pitchFamily="49" charset="-122"/>
                <a:ea typeface="楷体" panose="02010609060101010101" pitchFamily="49" charset="-122"/>
              </a:rPr>
              <a:t>1000</a:t>
            </a:r>
            <a:r>
              <a:rPr lang="zh-CN" altLang="zh-CN" sz="2000" dirty="0">
                <a:latin typeface="楷体" panose="02010609060101010101" pitchFamily="49" charset="-122"/>
                <a:ea typeface="楷体" panose="02010609060101010101" pitchFamily="49" charset="-122"/>
              </a:rPr>
              <a:t>次，这样得到</a:t>
            </a:r>
            <a:r>
              <a:rPr lang="en-US" altLang="zh-CN" sz="2000" dirty="0">
                <a:latin typeface="楷体" panose="02010609060101010101" pitchFamily="49" charset="-122"/>
                <a:ea typeface="楷体" panose="02010609060101010101" pitchFamily="49" charset="-122"/>
              </a:rPr>
              <a:t>100*1000</a:t>
            </a:r>
            <a:r>
              <a:rPr lang="zh-CN" altLang="zh-CN" sz="2000" dirty="0">
                <a:latin typeface="楷体" panose="02010609060101010101" pitchFamily="49" charset="-122"/>
                <a:ea typeface="楷体" panose="02010609060101010101" pitchFamily="49" charset="-122"/>
              </a:rPr>
              <a:t>个数据点，如此以来样本量就会增大很多。这个方法把统计学的发展大大推进了一步，和计算机的结合又紧密了很多。</a:t>
            </a:r>
            <a:endParaRPr lang="zh-CN" altLang="zh-CN" sz="2000" dirty="0">
              <a:latin typeface="楷体" panose="02010609060101010101" pitchFamily="49" charset="-122"/>
              <a:ea typeface="楷体" panose="02010609060101010101" pitchFamily="49" charset="-122"/>
            </a:endParaRPr>
          </a:p>
          <a:p>
            <a:r>
              <a:rPr lang="zh-CN" altLang="zh-CN" sz="2800" dirty="0"/>
              <a:t>（</a:t>
            </a:r>
            <a:r>
              <a:rPr lang="en-US" altLang="zh-CN" sz="2800" dirty="0"/>
              <a:t>4</a:t>
            </a:r>
            <a:r>
              <a:rPr lang="zh-CN" altLang="zh-CN" sz="2800" dirty="0"/>
              <a:t>）核光滑</a:t>
            </a:r>
            <a:endParaRPr lang="zh-CN" altLang="zh-CN" sz="2800" dirty="0"/>
          </a:p>
          <a:p>
            <a:pPr marL="0" indent="0">
              <a:buNone/>
            </a:pPr>
            <a:r>
              <a:rPr lang="en-US" altLang="zh-CN" sz="2000" dirty="0">
                <a:latin typeface="楷体" panose="02010609060101010101" pitchFamily="49" charset="-122"/>
                <a:ea typeface="楷体" panose="02010609060101010101" pitchFamily="49" charset="-122"/>
              </a:rPr>
              <a:t>    20</a:t>
            </a:r>
            <a:r>
              <a:rPr lang="zh-CN" altLang="zh-CN" sz="2000" dirty="0">
                <a:latin typeface="楷体" panose="02010609060101010101" pitchFamily="49" charset="-122"/>
                <a:ea typeface="楷体" panose="02010609060101010101" pitchFamily="49" charset="-122"/>
              </a:rPr>
              <a:t>世纪</a:t>
            </a:r>
            <a:r>
              <a:rPr lang="en-US" altLang="zh-CN" sz="2000" dirty="0">
                <a:latin typeface="楷体" panose="02010609060101010101" pitchFamily="49" charset="-122"/>
                <a:ea typeface="楷体" panose="02010609060101010101" pitchFamily="49" charset="-122"/>
              </a:rPr>
              <a:t>80</a:t>
            </a:r>
            <a:r>
              <a:rPr lang="zh-CN" altLang="zh-CN" sz="2000" dirty="0">
                <a:latin typeface="楷体" panose="02010609060101010101" pitchFamily="49" charset="-122"/>
                <a:ea typeface="楷体" panose="02010609060101010101" pitchFamily="49" charset="-122"/>
              </a:rPr>
              <a:t>年代后期，在非参数领域中，核光滑方法（</a:t>
            </a:r>
            <a:r>
              <a:rPr lang="en-US" altLang="zh-CN" sz="2000" dirty="0">
                <a:latin typeface="楷体" panose="02010609060101010101" pitchFamily="49" charset="-122"/>
                <a:ea typeface="楷体" panose="02010609060101010101" pitchFamily="49" charset="-122"/>
              </a:rPr>
              <a:t>Kernel Smoothing</a:t>
            </a:r>
            <a:r>
              <a:rPr lang="zh-CN" altLang="zh-CN" sz="2000" dirty="0">
                <a:latin typeface="楷体" panose="02010609060101010101" pitchFamily="49" charset="-122"/>
                <a:ea typeface="楷体" panose="02010609060101010101" pitchFamily="49" charset="-122"/>
              </a:rPr>
              <a:t>）以局部估计的特点展示了统计在处理变量的非线性关系中的能力。到</a:t>
            </a:r>
            <a:r>
              <a:rPr lang="en-US" altLang="zh-CN" sz="2000" dirty="0">
                <a:latin typeface="楷体" panose="02010609060101010101" pitchFamily="49" charset="-122"/>
                <a:ea typeface="楷体" panose="02010609060101010101" pitchFamily="49" charset="-122"/>
              </a:rPr>
              <a:t>20</a:t>
            </a:r>
            <a:r>
              <a:rPr lang="zh-CN" altLang="zh-CN" sz="2000" dirty="0">
                <a:latin typeface="楷体" panose="02010609060101010101" pitchFamily="49" charset="-122"/>
                <a:ea typeface="楷体" panose="02010609060101010101" pitchFamily="49" charset="-122"/>
              </a:rPr>
              <a:t>世纪</a:t>
            </a:r>
            <a:r>
              <a:rPr lang="en-US" altLang="zh-CN" sz="2000" dirty="0">
                <a:latin typeface="楷体" panose="02010609060101010101" pitchFamily="49" charset="-122"/>
                <a:ea typeface="楷体" panose="02010609060101010101" pitchFamily="49" charset="-122"/>
              </a:rPr>
              <a:t>90</a:t>
            </a:r>
            <a:r>
              <a:rPr lang="zh-CN" altLang="zh-CN" sz="2000" dirty="0">
                <a:latin typeface="楷体" panose="02010609060101010101" pitchFamily="49" charset="-122"/>
                <a:ea typeface="楷体" panose="02010609060101010101" pitchFamily="49" charset="-122"/>
              </a:rPr>
              <a:t>年代，由于许多应用问题和统计问题都存在对象复杂和正确识别模型结构的困难，这些问题推动了统计技术的研究，比如，通过马尔科夫链模特卡罗方法（</a:t>
            </a:r>
            <a:r>
              <a:rPr lang="en-US" altLang="zh-CN" sz="2000" dirty="0">
                <a:latin typeface="楷体" panose="02010609060101010101" pitchFamily="49" charset="-122"/>
                <a:ea typeface="楷体" panose="02010609060101010101" pitchFamily="49" charset="-122"/>
              </a:rPr>
              <a:t>Markov Chain Monte Carlo</a:t>
            </a:r>
            <a:r>
              <a:rPr lang="zh-CN" altLang="zh-CN"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MCMC</a:t>
            </a:r>
            <a:r>
              <a:rPr lang="zh-CN" altLang="zh-CN" sz="2000" dirty="0">
                <a:latin typeface="楷体" panose="02010609060101010101" pitchFamily="49" charset="-122"/>
                <a:ea typeface="楷体" panose="02010609060101010101" pitchFamily="49" charset="-122"/>
              </a:rPr>
              <a:t>）模拟解决复杂性问题。</a:t>
            </a:r>
            <a:endParaRPr lang="zh-CN" altLang="zh-CN" sz="2000" dirty="0">
              <a:latin typeface="楷体" panose="02010609060101010101" pitchFamily="49" charset="-122"/>
              <a:ea typeface="楷体" panose="02010609060101010101" pitchFamily="49" charset="-122"/>
            </a:endParaRPr>
          </a:p>
          <a:p>
            <a:endParaRPr lang="zh-CN" altLang="zh-CN" sz="2000" dirty="0">
              <a:latin typeface="楷体" panose="02010609060101010101" pitchFamily="49" charset="-122"/>
              <a:ea typeface="楷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2400" dirty="0"/>
              <a:t>    </a:t>
            </a:r>
            <a:r>
              <a:rPr lang="zh-CN" altLang="zh-CN" sz="2400" dirty="0"/>
              <a:t>数据挖掘中还存在许多问题有待进一步研究，包括下列几个研究方向：</a:t>
            </a:r>
            <a:br>
              <a:rPr lang="zh-CN" altLang="zh-CN" sz="2400" dirty="0"/>
            </a:br>
            <a:endParaRPr lang="zh-CN" altLang="en-US" sz="2400" dirty="0"/>
          </a:p>
        </p:txBody>
      </p:sp>
      <p:sp>
        <p:nvSpPr>
          <p:cNvPr id="3" name="内容占位符 2"/>
          <p:cNvSpPr>
            <a:spLocks noGrp="1"/>
          </p:cNvSpPr>
          <p:nvPr>
            <p:ph idx="1"/>
          </p:nvPr>
        </p:nvSpPr>
        <p:spPr>
          <a:xfrm>
            <a:off x="2588895" y="1667510"/>
            <a:ext cx="8915400" cy="4243705"/>
          </a:xfrm>
        </p:spPr>
        <p:txBody>
          <a:bodyPr>
            <a:noAutofit/>
          </a:bodyPr>
          <a:lstStyle/>
          <a:p>
            <a:r>
              <a:rPr lang="zh-CN" altLang="zh-CN" sz="2000" dirty="0"/>
              <a:t>（</a:t>
            </a:r>
            <a:r>
              <a:rPr lang="en-US" altLang="zh-CN" sz="2000" dirty="0"/>
              <a:t>1</a:t>
            </a:r>
            <a:r>
              <a:rPr lang="zh-CN" altLang="zh-CN" sz="2000" dirty="0"/>
              <a:t>）算法效率和可伸缩性</a:t>
            </a:r>
            <a:endParaRPr lang="zh-CN" altLang="zh-CN" sz="2000" dirty="0"/>
          </a:p>
          <a:p>
            <a:r>
              <a:rPr lang="zh-CN" altLang="zh-CN" sz="2000" dirty="0"/>
              <a:t>（</a:t>
            </a:r>
            <a:r>
              <a:rPr lang="en-US" altLang="zh-CN" sz="2000" dirty="0"/>
              <a:t>2</a:t>
            </a:r>
            <a:r>
              <a:rPr lang="zh-CN" altLang="zh-CN" sz="2000" dirty="0"/>
              <a:t>）处理不同类型的数据和数据源</a:t>
            </a:r>
            <a:endParaRPr lang="zh-CN" altLang="zh-CN" sz="2000" dirty="0"/>
          </a:p>
          <a:p>
            <a:r>
              <a:rPr lang="zh-CN" altLang="zh-CN" sz="2000" dirty="0"/>
              <a:t>（</a:t>
            </a:r>
            <a:r>
              <a:rPr lang="en-US" altLang="zh-CN" sz="2000" dirty="0"/>
              <a:t>3</a:t>
            </a:r>
            <a:r>
              <a:rPr lang="zh-CN" altLang="zh-CN" sz="2000" dirty="0"/>
              <a:t>）数据挖掘系统的交互性</a:t>
            </a:r>
            <a:endParaRPr lang="zh-CN" altLang="zh-CN" sz="2000" dirty="0"/>
          </a:p>
          <a:p>
            <a:r>
              <a:rPr lang="zh-CN" altLang="zh-CN" sz="2000" dirty="0"/>
              <a:t>（</a:t>
            </a:r>
            <a:r>
              <a:rPr lang="en-US" altLang="zh-CN" sz="2000" dirty="0"/>
              <a:t>4</a:t>
            </a:r>
            <a:r>
              <a:rPr lang="zh-CN" altLang="zh-CN" sz="2000" dirty="0"/>
              <a:t>）</a:t>
            </a:r>
            <a:r>
              <a:rPr lang="en-US" altLang="zh-CN" sz="2000" dirty="0"/>
              <a:t>Web</a:t>
            </a:r>
            <a:r>
              <a:rPr lang="zh-CN" altLang="zh-CN" sz="2000" dirty="0"/>
              <a:t>挖掘</a:t>
            </a:r>
            <a:endParaRPr lang="zh-CN" altLang="zh-CN" sz="2000" dirty="0"/>
          </a:p>
          <a:p>
            <a:r>
              <a:rPr lang="zh-CN" altLang="zh-CN" sz="2000" dirty="0"/>
              <a:t>（</a:t>
            </a:r>
            <a:r>
              <a:rPr lang="en-US" altLang="zh-CN" sz="2000" dirty="0"/>
              <a:t>6</a:t>
            </a:r>
            <a:r>
              <a:rPr lang="zh-CN" altLang="zh-CN" sz="2000" dirty="0"/>
              <a:t>）探索新的应用领域。</a:t>
            </a:r>
            <a:endParaRPr lang="zh-CN" altLang="zh-CN" sz="2000" dirty="0"/>
          </a:p>
          <a:p>
            <a:r>
              <a:rPr lang="zh-CN" altLang="zh-CN" sz="2000" dirty="0"/>
              <a:t>（</a:t>
            </a:r>
            <a:r>
              <a:rPr lang="en-US" altLang="zh-CN" sz="2000" dirty="0"/>
              <a:t>7</a:t>
            </a:r>
            <a:r>
              <a:rPr lang="zh-CN" altLang="zh-CN" sz="2000" dirty="0"/>
              <a:t>）标准的数据挖掘语言或相关方面的标准化工作将有助于数据挖掘系统的研究和</a:t>
            </a:r>
            <a:r>
              <a:rPr lang="en-US" altLang="zh-CN" sz="2000" dirty="0"/>
              <a:t>         </a:t>
            </a:r>
            <a:r>
              <a:rPr lang="zh-CN" altLang="zh-CN" sz="2000" dirty="0"/>
              <a:t>开发，有利于用户学习和使用数据挖掘系统。</a:t>
            </a:r>
            <a:endParaRPr lang="en-US" altLang="zh-CN" sz="2000" dirty="0"/>
          </a:p>
          <a:p>
            <a:r>
              <a:rPr lang="zh-CN" altLang="zh-CN" sz="2000" dirty="0"/>
              <a:t>（</a:t>
            </a:r>
            <a:r>
              <a:rPr lang="en-US" altLang="zh-CN" sz="2000" dirty="0"/>
              <a:t>8</a:t>
            </a:r>
            <a:r>
              <a:rPr lang="zh-CN" altLang="zh-CN" sz="2000" dirty="0"/>
              <a:t>）数据挖掘结果的可用性、确定性及可表达性</a:t>
            </a:r>
            <a:endParaRPr lang="zh-CN" altLang="zh-CN" sz="2000" dirty="0"/>
          </a:p>
          <a:p>
            <a:r>
              <a:rPr lang="zh-CN" altLang="zh-CN" sz="2000" dirty="0"/>
              <a:t>（</a:t>
            </a:r>
            <a:r>
              <a:rPr lang="en-US" altLang="zh-CN" sz="2000" dirty="0"/>
              <a:t>9</a:t>
            </a:r>
            <a:r>
              <a:rPr lang="zh-CN" altLang="zh-CN" sz="2000" dirty="0"/>
              <a:t>）各种数据挖掘结果的表达 </a:t>
            </a:r>
            <a:endParaRPr lang="zh-CN" altLang="zh-CN" sz="2000" dirty="0"/>
          </a:p>
          <a:p>
            <a:r>
              <a:rPr lang="zh-CN" altLang="zh-CN" sz="2000" dirty="0"/>
              <a:t>（</a:t>
            </a:r>
            <a:r>
              <a:rPr lang="en-US" altLang="zh-CN" sz="2000" dirty="0"/>
              <a:t>10</a:t>
            </a:r>
            <a:r>
              <a:rPr lang="zh-CN" altLang="zh-CN" sz="2000" dirty="0"/>
              <a:t>）可视化数据挖掘</a:t>
            </a:r>
            <a:endParaRPr lang="zh-CN" altLang="zh-CN" sz="2000" dirty="0"/>
          </a:p>
          <a:p>
            <a:endParaRPr lang="zh-CN" altLang="zh-CN"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a:t>
            </a:r>
            <a:r>
              <a:rPr lang="zh-CN" altLang="zh-CN" dirty="0"/>
              <a:t>数据挖掘的研究内容及功能</a:t>
            </a:r>
            <a:br>
              <a:rPr lang="zh-CN" altLang="zh-CN" b="1" dirty="0"/>
            </a:br>
            <a:endParaRPr lang="zh-CN" altLang="en-US" dirty="0"/>
          </a:p>
        </p:txBody>
      </p:sp>
      <p:sp>
        <p:nvSpPr>
          <p:cNvPr id="3" name="内容占位符 2"/>
          <p:cNvSpPr>
            <a:spLocks noGrp="1"/>
          </p:cNvSpPr>
          <p:nvPr>
            <p:ph idx="1"/>
          </p:nvPr>
        </p:nvSpPr>
        <p:spPr/>
        <p:txBody>
          <a:bodyPr>
            <a:noAutofit/>
          </a:bodyPr>
          <a:lstStyle/>
          <a:p>
            <a:r>
              <a:rPr lang="en-US" altLang="zh-CN" sz="2800" dirty="0"/>
              <a:t>1.3.1</a:t>
            </a:r>
            <a:r>
              <a:rPr lang="zh-CN" altLang="zh-CN" sz="2800" dirty="0"/>
              <a:t>数据挖掘的研究内容</a:t>
            </a:r>
            <a:endParaRPr lang="zh-CN" altLang="zh-CN" sz="2800" b="1" dirty="0"/>
          </a:p>
          <a:p>
            <a:pPr marL="0" indent="0">
              <a:buNone/>
            </a:pPr>
            <a:r>
              <a:rPr lang="en-US" altLang="zh-CN" sz="2800" dirty="0"/>
              <a:t>    </a:t>
            </a:r>
            <a:r>
              <a:rPr lang="zh-CN" altLang="zh-CN" sz="2800" dirty="0">
                <a:latin typeface="楷体" panose="02010609060101010101" pitchFamily="49" charset="-122"/>
                <a:ea typeface="楷体" panose="02010609060101010101" pitchFamily="49" charset="-122"/>
              </a:rPr>
              <a:t>随着数据挖掘研究逐步走向深入，已经形成了三支强大的技术支柱：</a:t>
            </a:r>
            <a:r>
              <a:rPr lang="zh-CN" altLang="zh-CN" sz="28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数据库</a:t>
            </a:r>
            <a:r>
              <a:rPr lang="zh-CN" altLang="zh-CN" sz="2800" dirty="0">
                <a:latin typeface="楷体" panose="02010609060101010101" pitchFamily="49" charset="-122"/>
                <a:ea typeface="楷体" panose="02010609060101010101" pitchFamily="49" charset="-122"/>
              </a:rPr>
              <a:t>、</a:t>
            </a:r>
            <a:r>
              <a:rPr lang="zh-CN" altLang="zh-CN" sz="28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人工智能</a:t>
            </a:r>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和</a:t>
            </a:r>
            <a:r>
              <a:rPr lang="zh-CN" altLang="zh-CN" sz="28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数理统计</a:t>
            </a:r>
            <a:r>
              <a:rPr lang="zh-CN" altLang="zh-CN" sz="2800" dirty="0">
                <a:latin typeface="楷体" panose="02010609060101010101" pitchFamily="49" charset="-122"/>
                <a:ea typeface="楷体" panose="02010609060101010101" pitchFamily="49" charset="-122"/>
              </a:rPr>
              <a:t>。</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a:p>
            <a:pPr marL="0" indent="0">
              <a:buNone/>
            </a:pPr>
            <a:r>
              <a:rPr lang="zh-CN" altLang="zh-CN" sz="2800" dirty="0">
                <a:latin typeface="楷体" panose="02010609060101010101" pitchFamily="49" charset="-122"/>
                <a:ea typeface="楷体" panose="02010609060101010101" pitchFamily="49" charset="-122"/>
              </a:rPr>
              <a:t>目前数据挖掘的主要研究内容包括基础理论、发现算法、数据仓库、可视化技术、定性定量互换模型、知识表示方法、发现知识的维护和再利用、半结构化和非结构化数据中的知识发现以及</a:t>
            </a:r>
            <a:r>
              <a:rPr lang="en-US" altLang="zh-CN" sz="2800" dirty="0">
                <a:latin typeface="楷体" panose="02010609060101010101" pitchFamily="49" charset="-122"/>
                <a:ea typeface="楷体" panose="02010609060101010101" pitchFamily="49" charset="-122"/>
              </a:rPr>
              <a:t>Web</a:t>
            </a:r>
            <a:r>
              <a:rPr lang="zh-CN" altLang="zh-CN" sz="2800" dirty="0">
                <a:latin typeface="楷体" panose="02010609060101010101" pitchFamily="49" charset="-122"/>
                <a:ea typeface="楷体" panose="02010609060101010101" pitchFamily="49" charset="-122"/>
              </a:rPr>
              <a:t>数据挖掘等。数据挖掘所发现的知识最常见的有以下五类：　</a:t>
            </a:r>
            <a:endParaRPr lang="zh-CN" altLang="zh-CN" sz="2800" dirty="0">
              <a:latin typeface="楷体" panose="02010609060101010101" pitchFamily="49" charset="-122"/>
              <a:ea typeface="楷体" panose="02010609060101010101" pitchFamily="49" charset="-122"/>
            </a:endParaRPr>
          </a:p>
          <a:p>
            <a:pPr marL="0" indent="0">
              <a:buNone/>
            </a:pP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42983" y="392096"/>
            <a:ext cx="8915400" cy="6073807"/>
          </a:xfrm>
        </p:spPr>
        <p:txBody>
          <a:bodyPr>
            <a:normAutofit/>
          </a:bodyPr>
          <a:lstStyle/>
          <a:p>
            <a:r>
              <a:rPr lang="zh-CN" altLang="zh-CN" dirty="0"/>
              <a:t>（</a:t>
            </a:r>
            <a:r>
              <a:rPr lang="en-US" altLang="zh-CN" dirty="0"/>
              <a:t>1</a:t>
            </a:r>
            <a:r>
              <a:rPr lang="zh-CN" altLang="zh-CN" dirty="0"/>
              <a:t>） 广义知识（</a:t>
            </a:r>
            <a:r>
              <a:rPr lang="en-US" altLang="zh-CN" dirty="0"/>
              <a:t>Generalization</a:t>
            </a:r>
            <a:r>
              <a:rPr lang="zh-CN" altLang="zh-CN" dirty="0"/>
              <a:t>）</a:t>
            </a:r>
            <a:endParaRPr lang="zh-CN" altLang="zh-CN" dirty="0"/>
          </a:p>
          <a:p>
            <a:pPr marL="0" indent="0">
              <a:buNone/>
            </a:pPr>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广义知识指类别特征的概括性描述知识，是根据数据的微观特性发现其表征的、带有普遍性的、较高层次概念的、中观和宏观的知识，反映同类事物共同性质，它是对数据的概括、精炼和抽象。</a:t>
            </a:r>
            <a:endParaRPr lang="zh-CN" altLang="zh-CN" dirty="0">
              <a:latin typeface="楷体" panose="02010609060101010101" pitchFamily="49" charset="-122"/>
              <a:ea typeface="楷体" panose="02010609060101010101" pitchFamily="49" charset="-122"/>
            </a:endParaRPr>
          </a:p>
          <a:p>
            <a:r>
              <a:rPr lang="zh-CN" altLang="zh-CN" dirty="0"/>
              <a:t>（</a:t>
            </a:r>
            <a:r>
              <a:rPr lang="en-US" altLang="zh-CN" dirty="0"/>
              <a:t>2</a:t>
            </a:r>
            <a:r>
              <a:rPr lang="zh-CN" altLang="zh-CN" dirty="0"/>
              <a:t>）关联知识（</a:t>
            </a:r>
            <a:r>
              <a:rPr lang="en-US" altLang="zh-CN" dirty="0"/>
              <a:t>Association</a:t>
            </a:r>
            <a:r>
              <a:rPr lang="zh-CN" altLang="zh-CN" dirty="0"/>
              <a:t>）</a:t>
            </a:r>
            <a:endParaRPr lang="zh-CN" altLang="zh-CN" dirty="0"/>
          </a:p>
          <a:p>
            <a:pPr marL="0" indent="0">
              <a:buNone/>
            </a:pPr>
            <a:r>
              <a:rPr lang="en-US" altLang="zh-CN" dirty="0"/>
              <a:t>    </a:t>
            </a:r>
            <a:r>
              <a:rPr lang="zh-CN" altLang="zh-CN" dirty="0">
                <a:latin typeface="楷体" panose="02010609060101010101" pitchFamily="49" charset="-122"/>
                <a:ea typeface="楷体" panose="02010609060101010101" pitchFamily="49" charset="-122"/>
              </a:rPr>
              <a:t>关联知识反映一个事件和其他事件之间依赖或关联的知识，又称依赖（</a:t>
            </a:r>
            <a:r>
              <a:rPr lang="en-US" altLang="zh-CN" dirty="0">
                <a:latin typeface="楷体" panose="02010609060101010101" pitchFamily="49" charset="-122"/>
                <a:ea typeface="楷体" panose="02010609060101010101" pitchFamily="49" charset="-122"/>
              </a:rPr>
              <a:t>Dependency</a:t>
            </a:r>
            <a:r>
              <a:rPr lang="zh-CN" altLang="zh-CN" dirty="0">
                <a:latin typeface="楷体" panose="02010609060101010101" pitchFamily="49" charset="-122"/>
                <a:ea typeface="楷体" panose="02010609060101010101" pitchFamily="49" charset="-122"/>
              </a:rPr>
              <a:t>）关系。这类知识可用于数据库中的归一化、查询优化等。</a:t>
            </a:r>
            <a:endParaRPr lang="en-US" altLang="zh-CN" dirty="0">
              <a:latin typeface="楷体" panose="02010609060101010101" pitchFamily="49" charset="-122"/>
              <a:ea typeface="楷体" panose="02010609060101010101" pitchFamily="49" charset="-122"/>
            </a:endParaRPr>
          </a:p>
          <a:p>
            <a:r>
              <a:rPr lang="zh-CN" altLang="zh-CN" dirty="0"/>
              <a:t>（</a:t>
            </a:r>
            <a:r>
              <a:rPr lang="en-US" altLang="zh-CN" dirty="0"/>
              <a:t>3</a:t>
            </a:r>
            <a:r>
              <a:rPr lang="zh-CN" altLang="zh-CN" dirty="0"/>
              <a:t>）分类知识</a:t>
            </a:r>
            <a:r>
              <a:rPr lang="en-US" altLang="zh-CN" dirty="0"/>
              <a:t>(Classification</a:t>
            </a:r>
            <a:r>
              <a:rPr lang="zh-CN" altLang="zh-CN" dirty="0"/>
              <a:t>＆</a:t>
            </a:r>
            <a:r>
              <a:rPr lang="en-US" altLang="zh-CN" dirty="0"/>
              <a:t>Clustering)</a:t>
            </a:r>
            <a:endParaRPr lang="zh-CN" altLang="zh-CN" dirty="0"/>
          </a:p>
          <a:p>
            <a:pPr marL="0" indent="0">
              <a:buNone/>
            </a:pPr>
            <a:r>
              <a:rPr lang="en-US" altLang="zh-CN" dirty="0"/>
              <a:t>    </a:t>
            </a:r>
            <a:r>
              <a:rPr lang="zh-CN" altLang="zh-CN" dirty="0">
                <a:latin typeface="楷体" panose="02010609060101010101" pitchFamily="49" charset="-122"/>
                <a:ea typeface="楷体" panose="02010609060101010101" pitchFamily="49" charset="-122"/>
              </a:rPr>
              <a:t>分类知识用来反映同类事物共同性质的特征型知识和不同事物之间的差异型特征知识，用于反映数据的汇聚模式或根据对象的属性区分其所属类别。</a:t>
            </a:r>
            <a:endParaRPr lang="en-US" altLang="zh-CN" dirty="0">
              <a:latin typeface="楷体" panose="02010609060101010101" pitchFamily="49" charset="-122"/>
              <a:ea typeface="楷体" panose="02010609060101010101" pitchFamily="49" charset="-122"/>
            </a:endParaRPr>
          </a:p>
          <a:p>
            <a:r>
              <a:rPr lang="zh-CN" altLang="zh-CN" dirty="0"/>
              <a:t>（</a:t>
            </a:r>
            <a:r>
              <a:rPr lang="en-US" altLang="zh-CN" dirty="0"/>
              <a:t>4</a:t>
            </a:r>
            <a:r>
              <a:rPr lang="zh-CN" altLang="zh-CN" dirty="0"/>
              <a:t>）预测型知识（</a:t>
            </a:r>
            <a:r>
              <a:rPr lang="en-US" altLang="zh-CN" dirty="0"/>
              <a:t>Prediction</a:t>
            </a:r>
            <a:r>
              <a:rPr lang="zh-CN" altLang="zh-CN" dirty="0"/>
              <a:t>）</a:t>
            </a:r>
            <a:endParaRPr lang="en-US" altLang="zh-CN" dirty="0"/>
          </a:p>
          <a:p>
            <a:pPr marL="0" indent="0">
              <a:buNone/>
            </a:pPr>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预测型知识根据</a:t>
            </a:r>
            <a:r>
              <a:rPr lang="zh-CN" altLang="zh-CN" b="1" dirty="0">
                <a:latin typeface="楷体" panose="02010609060101010101" pitchFamily="49" charset="-122"/>
                <a:ea typeface="楷体" panose="02010609060101010101" pitchFamily="49" charset="-122"/>
              </a:rPr>
              <a:t>时间序列型数据</a:t>
            </a:r>
            <a:r>
              <a:rPr lang="zh-CN" altLang="zh-CN" dirty="0">
                <a:latin typeface="楷体" panose="02010609060101010101" pitchFamily="49" charset="-122"/>
                <a:ea typeface="楷体" panose="02010609060101010101" pitchFamily="49" charset="-122"/>
              </a:rPr>
              <a:t>，由历史的和当前的数据去推测未来的数据，也可以认为是以时间为关键属性的关联知识。</a:t>
            </a:r>
            <a:endParaRPr lang="en-US" altLang="zh-CN" dirty="0">
              <a:latin typeface="楷体" panose="02010609060101010101" pitchFamily="49" charset="-122"/>
              <a:ea typeface="楷体" panose="02010609060101010101" pitchFamily="49" charset="-122"/>
            </a:endParaRPr>
          </a:p>
          <a:p>
            <a:r>
              <a:rPr lang="zh-CN" altLang="zh-CN" dirty="0"/>
              <a:t>（</a:t>
            </a:r>
            <a:r>
              <a:rPr lang="en-US" altLang="zh-CN" dirty="0"/>
              <a:t>5</a:t>
            </a:r>
            <a:r>
              <a:rPr lang="zh-CN" altLang="zh-CN" dirty="0"/>
              <a:t>）偏差型知识</a:t>
            </a:r>
            <a:r>
              <a:rPr lang="en-US" altLang="zh-CN" dirty="0"/>
              <a:t>(Deviation)</a:t>
            </a:r>
            <a:endParaRPr lang="zh-CN" altLang="zh-CN" dirty="0"/>
          </a:p>
          <a:p>
            <a:pPr marL="0" indent="0">
              <a:buNone/>
            </a:pPr>
            <a:r>
              <a:rPr lang="en-US" altLang="zh-CN" dirty="0"/>
              <a:t>    </a:t>
            </a:r>
            <a:r>
              <a:rPr lang="zh-CN" altLang="zh-CN" dirty="0">
                <a:latin typeface="楷体" panose="02010609060101010101" pitchFamily="49" charset="-122"/>
                <a:ea typeface="楷体" panose="02010609060101010101" pitchFamily="49" charset="-122"/>
              </a:rPr>
              <a:t>偏差型知识是对差异和极端特例的描述，揭示事物偏离常规的异常现象，如标准类外的特例，数据聚类外的离群值等。所有这些知识都可以在</a:t>
            </a:r>
            <a:r>
              <a:rPr lang="zh-CN" altLang="zh-CN" b="1" dirty="0">
                <a:latin typeface="楷体" panose="02010609060101010101" pitchFamily="49" charset="-122"/>
                <a:ea typeface="楷体" panose="02010609060101010101" pitchFamily="49" charset="-122"/>
              </a:rPr>
              <a:t>不同的概念层次</a:t>
            </a:r>
            <a:r>
              <a:rPr lang="zh-CN" altLang="zh-CN" dirty="0">
                <a:latin typeface="楷体" panose="02010609060101010101" pitchFamily="49" charset="-122"/>
                <a:ea typeface="楷体" panose="02010609060101010101" pitchFamily="49" charset="-122"/>
              </a:rPr>
              <a:t>上被发现，并随着概念层次的提升，从微观到中观、到宏观，以满足不同用户不同层次决策的需要。</a:t>
            </a:r>
            <a:endParaRPr lang="zh-CN" altLang="zh-CN" dirty="0">
              <a:latin typeface="楷体" panose="02010609060101010101" pitchFamily="49" charset="-122"/>
              <a:ea typeface="楷体" panose="02010609060101010101" pitchFamily="49" charset="-122"/>
            </a:endParaRPr>
          </a:p>
          <a:p>
            <a:endParaRPr lang="zh-CN" altLang="zh-CN" dirty="0"/>
          </a:p>
          <a:p>
            <a:pPr marL="0" indent="0">
              <a:buNone/>
            </a:pP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1.3.2</a:t>
            </a:r>
            <a:r>
              <a:rPr lang="zh-CN" altLang="zh-CN" sz="2800" dirty="0"/>
              <a:t>数据挖掘的功能</a:t>
            </a:r>
            <a:br>
              <a:rPr lang="zh-CN" altLang="zh-CN" b="1" dirty="0"/>
            </a:br>
            <a:endParaRPr lang="zh-CN" altLang="en-US" dirty="0"/>
          </a:p>
        </p:txBody>
      </p:sp>
      <p:sp>
        <p:nvSpPr>
          <p:cNvPr id="3" name="内容占位符 2"/>
          <p:cNvSpPr>
            <a:spLocks noGrp="1"/>
          </p:cNvSpPr>
          <p:nvPr>
            <p:ph idx="1"/>
          </p:nvPr>
        </p:nvSpPr>
        <p:spPr>
          <a:xfrm>
            <a:off x="2127574" y="1905000"/>
            <a:ext cx="8915400" cy="3777622"/>
          </a:xfrm>
        </p:spPr>
        <p:txBody>
          <a:bodyPr>
            <a:normAutofit/>
          </a:bodyPr>
          <a:lstStyle/>
          <a:p>
            <a:r>
              <a:rPr lang="en-US" altLang="zh-CN" sz="2400" dirty="0"/>
              <a:t>  </a:t>
            </a:r>
            <a:r>
              <a:rPr lang="zh-CN" altLang="zh-CN" sz="3200" dirty="0">
                <a:latin typeface="楷体" panose="02010609060101010101" pitchFamily="49" charset="-122"/>
                <a:ea typeface="楷体" panose="02010609060101010101" pitchFamily="49" charset="-122"/>
              </a:rPr>
              <a:t>数据挖掘用于在指定数据挖掘任务中找到模式类型，数据挖掘任务一般可以分两类：</a:t>
            </a:r>
            <a:r>
              <a:rPr lang="zh-CN" altLang="zh-CN" sz="32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描述和预测</a:t>
            </a:r>
            <a:r>
              <a:rPr lang="zh-CN" altLang="zh-CN" sz="3200" dirty="0">
                <a:latin typeface="楷体" panose="02010609060101010101" pitchFamily="49" charset="-122"/>
                <a:ea typeface="楷体" panose="02010609060101010101" pitchFamily="49" charset="-122"/>
              </a:rPr>
              <a:t>。描述性挖掘任务刻画数据库中数据的一般特性；预测性挖掘任务在当前数据中进行推测和预测。</a:t>
            </a:r>
            <a:endParaRPr lang="zh-CN" altLang="zh-CN" sz="3200" dirty="0">
              <a:latin typeface="楷体" panose="02010609060101010101" pitchFamily="49" charset="-122"/>
              <a:ea typeface="楷体" panose="02010609060101010101" pitchFamily="49" charset="-122"/>
            </a:endParaRPr>
          </a:p>
          <a:p>
            <a:r>
              <a:rPr lang="zh-CN" altLang="zh-CN" sz="3200" dirty="0">
                <a:latin typeface="楷体" panose="02010609060101010101" pitchFamily="49" charset="-122"/>
                <a:ea typeface="楷体" panose="02010609060101010101" pitchFamily="49" charset="-122"/>
              </a:rPr>
              <a:t>数据挖掘的功能主要体现在以下六个方面。</a:t>
            </a:r>
            <a:endParaRPr lang="zh-CN" altLang="zh-CN" sz="3200" dirty="0">
              <a:latin typeface="楷体" panose="02010609060101010101" pitchFamily="49" charset="-122"/>
              <a:ea typeface="楷体" panose="02010609060101010101" pitchFamily="49" charset="-122"/>
            </a:endParaRPr>
          </a:p>
          <a:p>
            <a:pPr marL="0" indent="0">
              <a:buNone/>
            </a:pPr>
            <a:endParaRPr lang="zh-CN" altLang="zh-CN" sz="3200" dirty="0">
              <a:latin typeface="楷体" panose="02010609060101010101" pitchFamily="49" charset="-122"/>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1.</a:t>
            </a:r>
            <a:r>
              <a:rPr lang="zh-CN" altLang="zh-CN" sz="2800" dirty="0"/>
              <a:t>类</a:t>
            </a:r>
            <a:r>
              <a:rPr lang="en-US" altLang="zh-CN" sz="2800" dirty="0"/>
              <a:t>/</a:t>
            </a:r>
            <a:r>
              <a:rPr lang="zh-CN" altLang="zh-CN" sz="2800" dirty="0"/>
              <a:t>概念描述：特征化和区分</a:t>
            </a:r>
            <a:br>
              <a:rPr lang="zh-CN" altLang="zh-CN" dirty="0"/>
            </a:br>
            <a:endParaRPr lang="zh-CN" altLang="en-US" dirty="0"/>
          </a:p>
        </p:txBody>
      </p:sp>
      <p:sp>
        <p:nvSpPr>
          <p:cNvPr id="3" name="内容占位符 2"/>
          <p:cNvSpPr>
            <a:spLocks noGrp="1"/>
          </p:cNvSpPr>
          <p:nvPr>
            <p:ph idx="1"/>
          </p:nvPr>
        </p:nvSpPr>
        <p:spPr>
          <a:xfrm>
            <a:off x="2455862" y="1375330"/>
            <a:ext cx="8915400" cy="3777622"/>
          </a:xfrm>
        </p:spPr>
        <p:txBody>
          <a:bodyPr>
            <a:normAutofit lnSpcReduction="10000"/>
          </a:bodyPr>
          <a:lstStyle/>
          <a:p>
            <a:r>
              <a:rPr lang="en-US" altLang="zh-CN" sz="2000" dirty="0">
                <a:latin typeface="楷体" panose="02010609060101010101" pitchFamily="49" charset="-122"/>
                <a:ea typeface="楷体" panose="02010609060101010101" pitchFamily="49" charset="-122"/>
              </a:rPr>
              <a:t>    </a:t>
            </a:r>
            <a:r>
              <a:rPr lang="zh-CN" altLang="zh-CN" sz="2000" dirty="0">
                <a:latin typeface="楷体" panose="02010609060101010101" pitchFamily="49" charset="-122"/>
                <a:ea typeface="楷体" panose="02010609060101010101" pitchFamily="49" charset="-122"/>
              </a:rPr>
              <a:t>数据可以与类或概念相关联。一个概念常常是对一个包含大量数据的数据集合总体情况的概述。对含有大量数据的数据集合进行描述性的总结并获得简明、准确的描述，这种描述就称为类</a:t>
            </a:r>
            <a:r>
              <a:rPr lang="en-US" altLang="zh-CN" sz="2000" dirty="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概念描述（</a:t>
            </a:r>
            <a:r>
              <a:rPr lang="en-US" altLang="zh-CN" sz="2000" dirty="0">
                <a:latin typeface="楷体" panose="02010609060101010101" pitchFamily="49" charset="-122"/>
                <a:ea typeface="楷体" panose="02010609060101010101" pitchFamily="49" charset="-122"/>
              </a:rPr>
              <a:t>Class/Concept Description</a:t>
            </a:r>
            <a:r>
              <a:rPr lang="zh-CN" altLang="zh-CN" sz="2000" dirty="0">
                <a:latin typeface="楷体" panose="02010609060101010101" pitchFamily="49" charset="-122"/>
                <a:ea typeface="楷体" panose="02010609060101010101" pitchFamily="49" charset="-122"/>
              </a:rPr>
              <a:t>）。这种描述可以通过下述方法得到：</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1.</a:t>
            </a:r>
            <a:r>
              <a:rPr lang="zh-CN" altLang="zh-CN" sz="2000" dirty="0">
                <a:latin typeface="楷体" panose="02010609060101010101" pitchFamily="49" charset="-122"/>
                <a:ea typeface="楷体" panose="02010609060101010101" pitchFamily="49" charset="-122"/>
              </a:rPr>
              <a:t>数据特征化，一般地汇总所研究类（称为目标类（</a:t>
            </a:r>
            <a:r>
              <a:rPr lang="en-US" altLang="zh-CN" sz="2000" dirty="0">
                <a:latin typeface="楷体" panose="02010609060101010101" pitchFamily="49" charset="-122"/>
                <a:ea typeface="楷体" panose="02010609060101010101" pitchFamily="49" charset="-122"/>
              </a:rPr>
              <a:t>Target Class</a:t>
            </a:r>
            <a:r>
              <a:rPr lang="zh-CN" altLang="zh-CN" sz="2000" dirty="0">
                <a:latin typeface="楷体" panose="02010609060101010101" pitchFamily="49" charset="-122"/>
                <a:ea typeface="楷体" panose="02010609060101010101" pitchFamily="49" charset="-122"/>
              </a:rPr>
              <a:t>））的数据。</a:t>
            </a:r>
            <a:endParaRPr lang="en-US" altLang="zh-CN" sz="2000" dirty="0">
              <a:latin typeface="楷体" panose="02010609060101010101" pitchFamily="49" charset="-122"/>
              <a:ea typeface="楷体" panose="02010609060101010101" pitchFamily="49" charset="-122"/>
            </a:endParaRPr>
          </a:p>
          <a:p>
            <a:endParaRPr lang="zh-CN"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2.</a:t>
            </a:r>
            <a:r>
              <a:rPr lang="zh-CN" altLang="zh-CN" sz="2000" dirty="0">
                <a:latin typeface="楷体" panose="02010609060101010101" pitchFamily="49" charset="-122"/>
                <a:ea typeface="楷体" panose="02010609060101010101" pitchFamily="49" charset="-122"/>
              </a:rPr>
              <a:t>数据区分，将目标类与一个或者多个比较类（常称为对比类（</a:t>
            </a:r>
            <a:r>
              <a:rPr lang="en-US" altLang="zh-CN" sz="2000" dirty="0">
                <a:latin typeface="楷体" panose="02010609060101010101" pitchFamily="49" charset="-122"/>
                <a:ea typeface="楷体" panose="02010609060101010101" pitchFamily="49" charset="-122"/>
              </a:rPr>
              <a:t>Contrasting Class</a:t>
            </a:r>
            <a:r>
              <a:rPr lang="zh-CN" altLang="zh-CN" sz="2000" dirty="0">
                <a:latin typeface="楷体" panose="02010609060101010101" pitchFamily="49" charset="-122"/>
                <a:ea typeface="楷体" panose="02010609060101010101" pitchFamily="49" charset="-122"/>
              </a:rPr>
              <a:t>））比较。</a:t>
            </a:r>
            <a:endParaRPr lang="en-US" altLang="zh-CN" sz="2000" dirty="0">
              <a:latin typeface="楷体" panose="02010609060101010101" pitchFamily="49" charset="-122"/>
              <a:ea typeface="楷体" panose="02010609060101010101" pitchFamily="49" charset="-122"/>
            </a:endParaRPr>
          </a:p>
          <a:p>
            <a:pPr marL="0" indent="0">
              <a:buNone/>
            </a:pPr>
            <a:endParaRPr lang="zh-CN"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3.</a:t>
            </a:r>
            <a:r>
              <a:rPr lang="zh-CN" altLang="zh-CN" sz="2000" dirty="0">
                <a:latin typeface="楷体" panose="02010609060101010101" pitchFamily="49" charset="-122"/>
                <a:ea typeface="楷体" panose="02010609060101010101" pitchFamily="49" charset="-122"/>
              </a:rPr>
              <a:t>数据特征化和比较。</a:t>
            </a:r>
            <a:endParaRPr lang="en-US" altLang="zh-CN" sz="2000" dirty="0">
              <a:latin typeface="楷体" panose="02010609060101010101" pitchFamily="49" charset="-122"/>
              <a:ea typeface="楷体" panose="02010609060101010101" pitchFamily="49" charset="-122"/>
            </a:endParaRPr>
          </a:p>
          <a:p>
            <a:pPr marL="0" indent="0">
              <a:buNone/>
            </a:pPr>
            <a:endParaRPr lang="zh-CN" altLang="zh-CN" dirty="0"/>
          </a:p>
          <a:p>
            <a:pPr marL="0" indent="0">
              <a:buNone/>
            </a:pPr>
            <a:endParaRPr lang="zh-CN" altLang="zh-CN" dirty="0">
              <a:latin typeface="楷体" panose="02010609060101010101" pitchFamily="49" charset="-122"/>
              <a:ea typeface="楷体" panose="02010609060101010101" pitchFamily="49" charset="-122"/>
            </a:endParaRPr>
          </a:p>
          <a:p>
            <a:endParaRPr lang="zh-CN" altLang="en-US" dirty="0"/>
          </a:p>
        </p:txBody>
      </p:sp>
      <p:sp>
        <p:nvSpPr>
          <p:cNvPr id="4" name="文本框 3"/>
          <p:cNvSpPr txBox="1"/>
          <p:nvPr/>
        </p:nvSpPr>
        <p:spPr>
          <a:xfrm>
            <a:off x="7135495" y="4559300"/>
            <a:ext cx="4777740" cy="460375"/>
          </a:xfrm>
          <a:prstGeom prst="rect">
            <a:avLst/>
          </a:prstGeom>
          <a:noFill/>
        </p:spPr>
        <p:txBody>
          <a:bodyPr wrap="square" rtlCol="0">
            <a:spAutoFit/>
            <a:scene3d>
              <a:camera prst="orthographicFront"/>
              <a:lightRig rig="threePt" dir="t"/>
            </a:scene3d>
          </a:bodyPr>
          <a:p>
            <a:r>
              <a:rPr lang="zh-CN" altLang="en-US" sz="2400" b="1" dirty="0">
                <a:solidFill>
                  <a:schemeClr val="accent1"/>
                </a:solidFill>
                <a:effectLst>
                  <a:outerShdw blurRad="38100" dist="25400" dir="5400000" algn="ctr" rotWithShape="0">
                    <a:srgbClr val="6E747A">
                      <a:alpha val="43000"/>
                    </a:srgbClr>
                  </a:outerShdw>
                </a:effectLst>
                <a:sym typeface="+mn-ea"/>
              </a:rPr>
              <a:t>例：兔子是怎样的动物？</a:t>
            </a:r>
            <a:endParaRPr lang="zh-CN" altLang="en-US" sz="2400" b="1" dirty="0">
              <a:solidFill>
                <a:schemeClr val="accent1"/>
              </a:solidFill>
              <a:effectLst>
                <a:outerShdw blurRad="38100" dist="25400" dir="5400000" algn="ctr" rotWithShape="0">
                  <a:srgbClr val="6E747A">
                    <a:alpha val="43000"/>
                  </a:srgbClr>
                </a:outerShdw>
              </a:effectLst>
              <a:sym typeface="+mn-ea"/>
            </a:endParaRPr>
          </a:p>
        </p:txBody>
      </p:sp>
      <p:pic>
        <p:nvPicPr>
          <p:cNvPr id="5" name="图片 4" descr="~9MBCV@F9Z8_FF3F39}ECZR"/>
          <p:cNvPicPr>
            <a:picLocks noChangeAspect="1"/>
          </p:cNvPicPr>
          <p:nvPr/>
        </p:nvPicPr>
        <p:blipFill>
          <a:blip r:embed="rId1"/>
          <a:stretch>
            <a:fillRect/>
          </a:stretch>
        </p:blipFill>
        <p:spPr>
          <a:xfrm>
            <a:off x="8855075" y="5019675"/>
            <a:ext cx="2155825" cy="14147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2.</a:t>
            </a:r>
            <a:r>
              <a:rPr lang="zh-CN" altLang="zh-CN" sz="2800" dirty="0"/>
              <a:t>关联分析</a:t>
            </a:r>
            <a:br>
              <a:rPr lang="zh-CN" altLang="zh-CN" dirty="0"/>
            </a:br>
            <a:endParaRPr lang="zh-CN" altLang="en-US" dirty="0"/>
          </a:p>
        </p:txBody>
      </p:sp>
      <p:sp>
        <p:nvSpPr>
          <p:cNvPr id="3" name="内容占位符 2"/>
          <p:cNvSpPr>
            <a:spLocks noGrp="1"/>
          </p:cNvSpPr>
          <p:nvPr>
            <p:ph idx="1"/>
          </p:nvPr>
        </p:nvSpPr>
        <p:spPr>
          <a:xfrm>
            <a:off x="2589212" y="1627573"/>
            <a:ext cx="8915400" cy="3777622"/>
          </a:xfrm>
        </p:spPr>
        <p:txBody>
          <a:bodyPr/>
          <a:lstStyle/>
          <a:p>
            <a:r>
              <a:rPr lang="en-US" altLang="zh-CN" sz="2400" b="1" dirty="0"/>
              <a:t>    </a:t>
            </a:r>
            <a:r>
              <a:rPr lang="zh-CN" altLang="zh-CN" sz="2400" b="1" dirty="0">
                <a:latin typeface="楷体" panose="02010609060101010101" pitchFamily="49" charset="-122"/>
                <a:ea typeface="楷体" panose="02010609060101010101" pitchFamily="49" charset="-122"/>
              </a:rPr>
              <a:t>关联分析（</a:t>
            </a:r>
            <a:r>
              <a:rPr lang="en-US" altLang="zh-CN" sz="2400" b="1" dirty="0">
                <a:latin typeface="楷体" panose="02010609060101010101" pitchFamily="49" charset="-122"/>
                <a:ea typeface="楷体" panose="02010609060101010101" pitchFamily="49" charset="-122"/>
              </a:rPr>
              <a:t>Association Analysis</a:t>
            </a:r>
            <a:r>
              <a:rPr lang="zh-CN" altLang="zh-CN" sz="2400" b="1" dirty="0">
                <a:latin typeface="楷体" panose="02010609060101010101" pitchFamily="49" charset="-122"/>
                <a:ea typeface="楷体" panose="02010609060101010101" pitchFamily="49" charset="-122"/>
              </a:rPr>
              <a:t>）就是从给定的数据集中发现频繁出现的项集</a:t>
            </a:r>
            <a:r>
              <a:rPr lang="en-US" altLang="zh-CN" sz="2400" b="1" dirty="0">
                <a:latin typeface="楷体" panose="02010609060101010101" pitchFamily="49" charset="-122"/>
                <a:ea typeface="楷体" panose="02010609060101010101" pitchFamily="49" charset="-122"/>
              </a:rPr>
              <a:t>  </a:t>
            </a:r>
            <a:r>
              <a:rPr lang="zh-CN" altLang="zh-CN" sz="2400" b="1" dirty="0">
                <a:latin typeface="楷体" panose="02010609060101010101" pitchFamily="49" charset="-122"/>
                <a:ea typeface="楷体" panose="02010609060101010101" pitchFamily="49" charset="-122"/>
              </a:rPr>
              <a:t>模式知识，又称为关联规则（</a:t>
            </a:r>
            <a:r>
              <a:rPr lang="en-US" altLang="zh-CN" sz="2400" b="1" dirty="0">
                <a:latin typeface="楷体" panose="02010609060101010101" pitchFamily="49" charset="-122"/>
                <a:ea typeface="楷体" panose="02010609060101010101" pitchFamily="49" charset="-122"/>
              </a:rPr>
              <a:t>Association Rules</a:t>
            </a:r>
            <a:r>
              <a:rPr lang="zh-CN" altLang="zh-CN" sz="2400" b="1" dirty="0">
                <a:latin typeface="楷体" panose="02010609060101010101" pitchFamily="49" charset="-122"/>
                <a:ea typeface="楷体" panose="02010609060101010101" pitchFamily="49" charset="-122"/>
              </a:rPr>
              <a:t>）。关联分析广泛应用于市场营销、事务分析等领域。</a:t>
            </a:r>
            <a:endParaRPr lang="zh-CN" altLang="zh-CN" sz="2400" b="1" dirty="0">
              <a:latin typeface="楷体" panose="02010609060101010101" pitchFamily="49" charset="-122"/>
              <a:ea typeface="楷体" panose="02010609060101010101" pitchFamily="49" charset="-122"/>
            </a:endParaRPr>
          </a:p>
          <a:p>
            <a:r>
              <a:rPr lang="zh-CN" altLang="en-US" dirty="0"/>
              <a:t>    </a:t>
            </a:r>
            <a:r>
              <a:rPr lang="zh-CN" altLang="en-US" dirty="0">
                <a:latin typeface="楷体" panose="02010609060101010101" pitchFamily="49" charset="-122"/>
                <a:ea typeface="楷体" panose="02010609060101010101" pitchFamily="49" charset="-122"/>
              </a:rPr>
              <a:t>通常关联规则具有      关联规则       </a:t>
            </a:r>
            <a:r>
              <a:rPr lang="zh-CN" altLang="zh-CN" dirty="0">
                <a:latin typeface="楷体" panose="02010609060101010101" pitchFamily="49" charset="-122"/>
                <a:ea typeface="楷体" panose="02010609060101010101" pitchFamily="49" charset="-122"/>
              </a:rPr>
              <a:t>表示“数据库中的</a:t>
            </a:r>
            <a:r>
              <a:rPr lang="en-US" altLang="zh-CN" dirty="0">
                <a:latin typeface="楷体" panose="02010609060101010101" pitchFamily="49" charset="-122"/>
                <a:ea typeface="楷体" panose="02010609060101010101" pitchFamily="49" charset="-122"/>
              </a:rPr>
              <a:t>  </a:t>
            </a:r>
            <a:endParaRPr lang="en-US" altLang="zh-CN" dirty="0">
              <a:latin typeface="楷体" panose="02010609060101010101" pitchFamily="49" charset="-122"/>
              <a:ea typeface="楷体" panose="02010609060101010101" pitchFamily="49" charset="-122"/>
            </a:endParaRPr>
          </a:p>
          <a:p>
            <a:pPr marL="0" indent="0">
              <a:buNone/>
            </a:pP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满足</a:t>
            </a:r>
            <a:r>
              <a:rPr lang="en-US" altLang="zh-CN" dirty="0">
                <a:latin typeface="楷体" panose="02010609060101010101" pitchFamily="49" charset="-122"/>
                <a:ea typeface="楷体" panose="02010609060101010101" pitchFamily="49" charset="-122"/>
              </a:rPr>
              <a:t>X</a:t>
            </a:r>
            <a:r>
              <a:rPr lang="zh-CN" altLang="en-US" dirty="0">
                <a:latin typeface="楷体" panose="02010609060101010101" pitchFamily="49" charset="-122"/>
                <a:ea typeface="楷体" panose="02010609060101010101" pitchFamily="49" charset="-122"/>
              </a:rPr>
              <a:t>中条件的记录也一定满足</a:t>
            </a:r>
            <a:r>
              <a:rPr lang="en-US" altLang="zh-CN" dirty="0">
                <a:latin typeface="楷体" panose="02010609060101010101" pitchFamily="49" charset="-122"/>
                <a:ea typeface="楷体" panose="02010609060101010101" pitchFamily="49" charset="-122"/>
              </a:rPr>
              <a:t>Y</a:t>
            </a:r>
            <a:r>
              <a:rPr lang="zh-CN" altLang="en-US" dirty="0">
                <a:latin typeface="楷体" panose="02010609060101010101" pitchFamily="49" charset="-122"/>
                <a:ea typeface="楷体" panose="02010609060101010101" pitchFamily="49" charset="-122"/>
              </a:rPr>
              <a:t>中的条件。</a:t>
            </a:r>
            <a:endParaRPr lang="en-US" altLang="zh-CN"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p:txBody>
      </p:sp>
      <p:pic>
        <p:nvPicPr>
          <p:cNvPr id="23" name="图片 22"/>
          <p:cNvPicPr>
            <a:picLocks noChangeAspect="1"/>
          </p:cNvPicPr>
          <p:nvPr/>
        </p:nvPicPr>
        <p:blipFill>
          <a:blip r:embed="rId1"/>
          <a:stretch>
            <a:fillRect/>
          </a:stretch>
        </p:blipFill>
        <p:spPr>
          <a:xfrm>
            <a:off x="5140258" y="3271032"/>
            <a:ext cx="530001" cy="271795"/>
          </a:xfrm>
          <a:prstGeom prst="rect">
            <a:avLst/>
          </a:prstGeom>
        </p:spPr>
      </p:pic>
      <p:pic>
        <p:nvPicPr>
          <p:cNvPr id="26" name="图片 25"/>
          <p:cNvPicPr>
            <a:picLocks noChangeAspect="1"/>
          </p:cNvPicPr>
          <p:nvPr/>
        </p:nvPicPr>
        <p:blipFill>
          <a:blip r:embed="rId2"/>
          <a:stretch>
            <a:fillRect/>
          </a:stretch>
        </p:blipFill>
        <p:spPr>
          <a:xfrm>
            <a:off x="6786102" y="3274666"/>
            <a:ext cx="524301" cy="268247"/>
          </a:xfrm>
          <a:prstGeom prst="rect">
            <a:avLst/>
          </a:prstGeom>
        </p:spPr>
      </p:pic>
      <p:sp>
        <p:nvSpPr>
          <p:cNvPr id="4" name="文本框 3"/>
          <p:cNvSpPr txBox="1"/>
          <p:nvPr/>
        </p:nvSpPr>
        <p:spPr>
          <a:xfrm>
            <a:off x="5288280" y="4476750"/>
            <a:ext cx="6025515" cy="460375"/>
          </a:xfrm>
          <a:prstGeom prst="rect">
            <a:avLst/>
          </a:prstGeom>
          <a:noFill/>
        </p:spPr>
        <p:txBody>
          <a:bodyPr wrap="square" rtlCol="0">
            <a:spAutoFit/>
            <a:scene3d>
              <a:camera prst="orthographicFront"/>
              <a:lightRig rig="threePt" dir="t"/>
            </a:scene3d>
          </a:bodyPr>
          <a:p>
            <a:r>
              <a:rPr lang="zh-CN" altLang="en-US" sz="2400" b="1" dirty="0">
                <a:solidFill>
                  <a:schemeClr val="accent1"/>
                </a:solidFill>
                <a:effectLst>
                  <a:outerShdw blurRad="38100" dist="25400" dir="5400000" algn="ctr" rotWithShape="0">
                    <a:srgbClr val="6E747A">
                      <a:alpha val="43000"/>
                    </a:srgbClr>
                  </a:outerShdw>
                </a:effectLst>
                <a:sym typeface="+mn-ea"/>
              </a:rPr>
              <a:t>例：</a:t>
            </a:r>
            <a:r>
              <a:rPr lang="en-US" altLang="zh-CN" sz="2400" b="1" dirty="0">
                <a:solidFill>
                  <a:schemeClr val="accent1"/>
                </a:solidFill>
                <a:effectLst>
                  <a:outerShdw blurRad="38100" dist="25400" dir="5400000" algn="ctr" rotWithShape="0">
                    <a:srgbClr val="6E747A">
                      <a:alpha val="43000"/>
                    </a:srgbClr>
                  </a:outerShdw>
                </a:effectLst>
                <a:sym typeface="+mn-ea"/>
              </a:rPr>
              <a:t>“</a:t>
            </a:r>
            <a:r>
              <a:rPr lang="zh-CN" altLang="en-US" sz="2400" b="1" dirty="0">
                <a:solidFill>
                  <a:schemeClr val="accent1"/>
                </a:solidFill>
                <a:effectLst>
                  <a:outerShdw blurRad="38100" dist="25400" dir="5400000" algn="ctr" rotWithShape="0">
                    <a:srgbClr val="6E747A">
                      <a:alpha val="43000"/>
                    </a:srgbClr>
                  </a:outerShdw>
                </a:effectLst>
                <a:sym typeface="+mn-ea"/>
              </a:rPr>
              <a:t>啤酒与尿布</a:t>
            </a:r>
            <a:r>
              <a:rPr lang="en-US" altLang="zh-CN" sz="2400" b="1" dirty="0">
                <a:solidFill>
                  <a:schemeClr val="accent1"/>
                </a:solidFill>
                <a:effectLst>
                  <a:outerShdw blurRad="38100" dist="25400" dir="5400000" algn="ctr" rotWithShape="0">
                    <a:srgbClr val="6E747A">
                      <a:alpha val="43000"/>
                    </a:srgbClr>
                  </a:outerShdw>
                </a:effectLst>
                <a:sym typeface="+mn-ea"/>
              </a:rPr>
              <a:t>”</a:t>
            </a:r>
            <a:endParaRPr lang="en-US" altLang="zh-CN" sz="2400" b="1" dirty="0">
              <a:solidFill>
                <a:schemeClr val="accent1"/>
              </a:solidFill>
              <a:effectLst>
                <a:outerShdw blurRad="38100" dist="25400" dir="5400000" algn="ctr" rotWithShape="0">
                  <a:srgbClr val="6E747A">
                    <a:alpha val="43000"/>
                  </a:srgbClr>
                </a:outerShdw>
              </a:effectLst>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3.</a:t>
            </a:r>
            <a:r>
              <a:rPr lang="zh-CN" altLang="zh-CN" sz="2800" dirty="0"/>
              <a:t>分类和预测</a:t>
            </a:r>
            <a:br>
              <a:rPr lang="zh-CN" altLang="zh-CN" dirty="0"/>
            </a:br>
            <a:endParaRPr lang="zh-CN" altLang="en-US" dirty="0"/>
          </a:p>
        </p:txBody>
      </p:sp>
      <p:sp>
        <p:nvSpPr>
          <p:cNvPr id="3" name="内容占位符 2"/>
          <p:cNvSpPr>
            <a:spLocks noGrp="1"/>
          </p:cNvSpPr>
          <p:nvPr>
            <p:ph idx="1"/>
          </p:nvPr>
        </p:nvSpPr>
        <p:spPr>
          <a:xfrm>
            <a:off x="2588895" y="1539875"/>
            <a:ext cx="8915400" cy="5158740"/>
          </a:xfrm>
        </p:spPr>
        <p:txBody>
          <a:bodyPr>
            <a:normAutofit/>
          </a:bodyPr>
          <a:lstStyle/>
          <a:p>
            <a:r>
              <a:rPr lang="en-US" altLang="zh-CN" sz="1900" dirty="0">
                <a:latin typeface="楷体" panose="02010609060101010101" pitchFamily="49" charset="-122"/>
                <a:ea typeface="楷体" panose="02010609060101010101" pitchFamily="49" charset="-122"/>
              </a:rPr>
              <a:t>   </a:t>
            </a:r>
            <a:r>
              <a:rPr lang="en-US" altLang="zh-CN" sz="1900" b="1" dirty="0">
                <a:latin typeface="楷体" panose="02010609060101010101" pitchFamily="49" charset="-122"/>
                <a:ea typeface="楷体" panose="02010609060101010101" pitchFamily="49" charset="-122"/>
              </a:rPr>
              <a:t> </a:t>
            </a:r>
            <a:r>
              <a:rPr lang="zh-CN" altLang="zh-CN" sz="2400" b="1" dirty="0">
                <a:latin typeface="楷体" panose="02010609060101010101" pitchFamily="49" charset="-122"/>
                <a:ea typeface="楷体" panose="02010609060101010101" pitchFamily="49" charset="-122"/>
              </a:rPr>
              <a:t>分类（</a:t>
            </a:r>
            <a:r>
              <a:rPr lang="en-US" altLang="zh-CN" sz="2400" b="1" dirty="0">
                <a:latin typeface="楷体" panose="02010609060101010101" pitchFamily="49" charset="-122"/>
                <a:ea typeface="楷体" panose="02010609060101010101" pitchFamily="49" charset="-122"/>
              </a:rPr>
              <a:t>Classification</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就是找出一组能够描述数据集合典型特征的模型（或函数），以便能够分类识别未知数据的归属或类别（</a:t>
            </a:r>
            <a:r>
              <a:rPr lang="en-US" altLang="zh-CN" sz="2400" dirty="0">
                <a:latin typeface="楷体" panose="02010609060101010101" pitchFamily="49" charset="-122"/>
                <a:ea typeface="楷体" panose="02010609060101010101" pitchFamily="49" charset="-122"/>
              </a:rPr>
              <a:t>Class</a:t>
            </a:r>
            <a:r>
              <a:rPr lang="zh-CN" altLang="zh-CN" sz="2400" dirty="0">
                <a:latin typeface="楷体" panose="02010609060101010101" pitchFamily="49" charset="-122"/>
                <a:ea typeface="楷体" panose="02010609060101010101" pitchFamily="49" charset="-122"/>
              </a:rPr>
              <a:t>），即将未知事例映射到某种离散类别之一。</a:t>
            </a:r>
            <a:r>
              <a:rPr lang="zh-CN" altLang="zh-CN" sz="1900" dirty="0">
                <a:latin typeface="楷体" panose="02010609060101010101" pitchFamily="49" charset="-122"/>
                <a:ea typeface="楷体" panose="02010609060101010101" pitchFamily="49" charset="-122"/>
              </a:rPr>
              <a:t>分类模式（或函数）可以通过分类挖掘算法从一组训练样本数据（其类别归属已知）中学习获得。</a:t>
            </a:r>
            <a:endParaRPr lang="en-US" altLang="zh-CN" sz="1900" dirty="0">
              <a:latin typeface="楷体" panose="02010609060101010101" pitchFamily="49" charset="-122"/>
              <a:ea typeface="楷体" panose="02010609060101010101" pitchFamily="49" charset="-122"/>
            </a:endParaRPr>
          </a:p>
          <a:p>
            <a:pPr marL="0" indent="0" algn="just">
              <a:buNone/>
            </a:pPr>
            <a:r>
              <a:rPr lang="zh-CN" altLang="zh-CN" sz="1900" dirty="0">
                <a:solidFill>
                  <a:srgbClr val="FF0000"/>
                </a:solidFill>
                <a:latin typeface="楷体" panose="02010609060101010101" pitchFamily="49" charset="-122"/>
                <a:ea typeface="楷体" panose="02010609060101010101" pitchFamily="49" charset="-122"/>
              </a:rPr>
              <a:t>    分类挖掘所获得的分类模型可以采用多种形式加以描述输出。其中主要的表示方法有：分类规则（</a:t>
            </a:r>
            <a:r>
              <a:rPr lang="en-US" altLang="zh-CN" sz="1900" dirty="0">
                <a:solidFill>
                  <a:srgbClr val="FF0000"/>
                </a:solidFill>
                <a:latin typeface="楷体" panose="02010609060101010101" pitchFamily="49" charset="-122"/>
                <a:ea typeface="楷体" panose="02010609060101010101" pitchFamily="49" charset="-122"/>
              </a:rPr>
              <a:t>IF-THEN</a:t>
            </a:r>
            <a:r>
              <a:rPr lang="zh-CN" altLang="zh-CN" sz="1900" dirty="0">
                <a:solidFill>
                  <a:srgbClr val="FF0000"/>
                </a:solidFill>
                <a:latin typeface="楷体" panose="02010609060101010101" pitchFamily="49" charset="-122"/>
                <a:ea typeface="楷体" panose="02010609060101010101" pitchFamily="49" charset="-122"/>
              </a:rPr>
              <a:t>）、决策树（</a:t>
            </a:r>
            <a:r>
              <a:rPr lang="en-US" altLang="zh-CN" sz="1900" dirty="0">
                <a:solidFill>
                  <a:srgbClr val="FF0000"/>
                </a:solidFill>
                <a:latin typeface="楷体" panose="02010609060101010101" pitchFamily="49" charset="-122"/>
                <a:ea typeface="楷体" panose="02010609060101010101" pitchFamily="49" charset="-122"/>
              </a:rPr>
              <a:t>Decision Trees</a:t>
            </a:r>
            <a:r>
              <a:rPr lang="zh-CN" altLang="zh-CN" sz="1900" dirty="0">
                <a:solidFill>
                  <a:srgbClr val="FF0000"/>
                </a:solidFill>
                <a:latin typeface="楷体" panose="02010609060101010101" pitchFamily="49" charset="-122"/>
                <a:ea typeface="楷体" panose="02010609060101010101" pitchFamily="49" charset="-122"/>
              </a:rPr>
              <a:t>）、数学公式（</a:t>
            </a:r>
            <a:r>
              <a:rPr lang="en-US" altLang="zh-CN" sz="1900" dirty="0">
                <a:solidFill>
                  <a:srgbClr val="FF0000"/>
                </a:solidFill>
                <a:latin typeface="楷体" panose="02010609060101010101" pitchFamily="49" charset="-122"/>
                <a:ea typeface="楷体" panose="02010609060101010101" pitchFamily="49" charset="-122"/>
              </a:rPr>
              <a:t>Mathematical Formulae</a:t>
            </a:r>
            <a:r>
              <a:rPr lang="zh-CN" altLang="zh-CN" sz="1900" dirty="0">
                <a:solidFill>
                  <a:srgbClr val="FF0000"/>
                </a:solidFill>
                <a:latin typeface="楷体" panose="02010609060101010101" pitchFamily="49" charset="-122"/>
                <a:ea typeface="楷体" panose="02010609060101010101" pitchFamily="49" charset="-122"/>
              </a:rPr>
              <a:t>）和神经网络。</a:t>
            </a:r>
            <a:endParaRPr lang="en-US" altLang="zh-CN" sz="1900" dirty="0">
              <a:solidFill>
                <a:srgbClr val="FF0000"/>
              </a:solidFill>
              <a:latin typeface="楷体" panose="02010609060101010101" pitchFamily="49" charset="-122"/>
              <a:ea typeface="楷体" panose="02010609060101010101" pitchFamily="49" charset="-122"/>
            </a:endParaRPr>
          </a:p>
          <a:p>
            <a:r>
              <a:rPr lang="en-US" altLang="zh-CN" sz="1900" dirty="0">
                <a:latin typeface="楷体" panose="02010609060101010101" pitchFamily="49" charset="-122"/>
                <a:ea typeface="楷体" panose="02010609060101010101" pitchFamily="49" charset="-122"/>
              </a:rPr>
              <a:t>    </a:t>
            </a:r>
            <a:r>
              <a:rPr lang="zh-CN" altLang="zh-CN" sz="1900" dirty="0">
                <a:latin typeface="楷体" panose="02010609060101010101" pitchFamily="49" charset="-122"/>
                <a:ea typeface="楷体" panose="02010609060101010101" pitchFamily="49" charset="-122"/>
              </a:rPr>
              <a:t>分类可以用来预测数据对象的类标记。然而，在某些应用中，人们可能希望预测某些空缺或未知的数据值，而不是类标记。</a:t>
            </a:r>
            <a:r>
              <a:rPr lang="zh-CN" altLang="zh-CN" sz="2800" b="1" dirty="0">
                <a:latin typeface="楷体" panose="02010609060101010101" pitchFamily="49" charset="-122"/>
                <a:ea typeface="楷体" panose="02010609060101010101" pitchFamily="49" charset="-122"/>
              </a:rPr>
              <a:t>当被预测的值是数据数值时，通常称之为预测（</a:t>
            </a:r>
            <a:r>
              <a:rPr lang="en-US" altLang="zh-CN" sz="2800" b="1" dirty="0">
                <a:latin typeface="楷体" panose="02010609060101010101" pitchFamily="49" charset="-122"/>
                <a:ea typeface="楷体" panose="02010609060101010101" pitchFamily="49" charset="-122"/>
              </a:rPr>
              <a:t>Prediction</a:t>
            </a:r>
            <a:r>
              <a:rPr lang="zh-CN" altLang="zh-CN" sz="2800" b="1" dirty="0">
                <a:latin typeface="楷体" panose="02010609060101010101" pitchFamily="49" charset="-122"/>
                <a:ea typeface="楷体" panose="02010609060101010101" pitchFamily="49" charset="-122"/>
              </a:rPr>
              <a:t>）。</a:t>
            </a:r>
            <a:endParaRPr lang="zh-CN" altLang="zh-CN" sz="2800" b="1" dirty="0">
              <a:latin typeface="楷体" panose="02010609060101010101" pitchFamily="49" charset="-122"/>
              <a:ea typeface="楷体" panose="02010609060101010101" pitchFamily="49" charset="-122"/>
            </a:endParaRPr>
          </a:p>
          <a:p>
            <a:r>
              <a:rPr lang="en-US" altLang="zh-CN" sz="1900" dirty="0">
                <a:latin typeface="楷体" panose="02010609060101010101" pitchFamily="49" charset="-122"/>
                <a:ea typeface="楷体" panose="02010609060101010101" pitchFamily="49" charset="-122"/>
              </a:rPr>
              <a:t>    </a:t>
            </a:r>
            <a:r>
              <a:rPr lang="zh-CN" altLang="zh-CN" sz="1900" dirty="0">
                <a:latin typeface="楷体" panose="02010609060101010101" pitchFamily="49" charset="-122"/>
                <a:ea typeface="楷体" panose="02010609060101010101" pitchFamily="49" charset="-122"/>
              </a:rPr>
              <a:t>相关分析（</a:t>
            </a:r>
            <a:r>
              <a:rPr lang="en-US" altLang="zh-CN" sz="1900" dirty="0">
                <a:latin typeface="楷体" panose="02010609060101010101" pitchFamily="49" charset="-122"/>
                <a:ea typeface="楷体" panose="02010609060101010101" pitchFamily="49" charset="-122"/>
              </a:rPr>
              <a:t>Relevance Analysis</a:t>
            </a:r>
            <a:r>
              <a:rPr lang="zh-CN" altLang="zh-CN" sz="1900" dirty="0">
                <a:latin typeface="楷体" panose="02010609060101010101" pitchFamily="49" charset="-122"/>
                <a:ea typeface="楷体" panose="02010609060101010101" pitchFamily="49" charset="-122"/>
              </a:rPr>
              <a:t>）可能需要在分类和预测之前进行，它试图识别对于分类和预测无用的属性，这些属性应当排除。</a:t>
            </a:r>
            <a:endParaRPr lang="zh-CN" altLang="zh-CN" sz="1900" dirty="0">
              <a:latin typeface="楷体" panose="02010609060101010101" pitchFamily="49" charset="-122"/>
              <a:ea typeface="楷体" panose="02010609060101010101" pitchFamily="49" charset="-122"/>
            </a:endParaRPr>
          </a:p>
          <a:p>
            <a:endParaRPr lang="zh-CN" altLang="zh-CN" dirty="0">
              <a:latin typeface="楷体" panose="02010609060101010101" pitchFamily="49" charset="-122"/>
              <a:ea typeface="楷体" panose="02010609060101010101" pitchFamily="49" charset="-122"/>
            </a:endParaRPr>
          </a:p>
          <a:p>
            <a:endParaRPr lang="zh-CN" altLang="zh-CN" dirty="0"/>
          </a:p>
          <a:p>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89212" y="5767705"/>
            <a:ext cx="8915400" cy="3777622"/>
          </a:xfrm>
        </p:spPr>
        <p:txBody>
          <a:bodyPr/>
          <a:p>
            <a:endParaRPr lang="zh-CN" altLang="en-US"/>
          </a:p>
        </p:txBody>
      </p:sp>
      <p:sp>
        <p:nvSpPr>
          <p:cNvPr id="4" name="文本框 3"/>
          <p:cNvSpPr txBox="1"/>
          <p:nvPr/>
        </p:nvSpPr>
        <p:spPr>
          <a:xfrm>
            <a:off x="2592705" y="1264285"/>
            <a:ext cx="7728585" cy="829945"/>
          </a:xfrm>
          <a:prstGeom prst="rect">
            <a:avLst/>
          </a:prstGeom>
          <a:noFill/>
        </p:spPr>
        <p:txBody>
          <a:bodyPr wrap="square" rtlCol="0">
            <a:spAutoFit/>
            <a:scene3d>
              <a:camera prst="orthographicFront"/>
              <a:lightRig rig="threePt" dir="t"/>
            </a:scene3d>
          </a:bodyPr>
          <a:p>
            <a:r>
              <a:rPr lang="zh-CN" altLang="en-US" sz="2400" b="1" dirty="0">
                <a:solidFill>
                  <a:schemeClr val="accent1"/>
                </a:solidFill>
                <a:effectLst>
                  <a:outerShdw blurRad="38100" dist="25400" dir="5400000" algn="ctr" rotWithShape="0">
                    <a:srgbClr val="6E747A">
                      <a:alpha val="43000"/>
                    </a:srgbClr>
                  </a:outerShdw>
                </a:effectLst>
                <a:sym typeface="+mn-ea"/>
              </a:rPr>
              <a:t>例：已知一些兔子的特征数据，和一些猫的特征数据。现有某个未知类别的样本</a:t>
            </a:r>
            <a:r>
              <a:rPr lang="en-US" altLang="zh-CN" sz="2400" b="1" dirty="0">
                <a:solidFill>
                  <a:schemeClr val="accent1"/>
                </a:solidFill>
                <a:effectLst>
                  <a:outerShdw blurRad="38100" dist="25400" dir="5400000" algn="ctr" rotWithShape="0">
                    <a:srgbClr val="6E747A">
                      <a:alpha val="43000"/>
                    </a:srgbClr>
                  </a:outerShdw>
                </a:effectLst>
                <a:sym typeface="+mn-ea"/>
              </a:rPr>
              <a:t>A</a:t>
            </a:r>
            <a:r>
              <a:rPr lang="zh-CN" altLang="en-US" sz="2400" b="1" dirty="0">
                <a:solidFill>
                  <a:schemeClr val="accent1"/>
                </a:solidFill>
                <a:effectLst>
                  <a:outerShdw blurRad="38100" dist="25400" dir="5400000" algn="ctr" rotWithShape="0">
                    <a:srgbClr val="6E747A">
                      <a:alpha val="43000"/>
                    </a:srgbClr>
                  </a:outerShdw>
                </a:effectLst>
                <a:sym typeface="+mn-ea"/>
              </a:rPr>
              <a:t>，它是兔子还是</a:t>
            </a:r>
            <a:r>
              <a:rPr lang="zh-CN" altLang="en-US" sz="2400" b="1" dirty="0">
                <a:solidFill>
                  <a:schemeClr val="accent1"/>
                </a:solidFill>
                <a:effectLst>
                  <a:outerShdw blurRad="38100" dist="25400" dir="5400000" algn="ctr" rotWithShape="0">
                    <a:srgbClr val="6E747A">
                      <a:alpha val="43000"/>
                    </a:srgbClr>
                  </a:outerShdw>
                </a:effectLst>
                <a:sym typeface="+mn-ea"/>
              </a:rPr>
              <a:t>猫？</a:t>
            </a:r>
            <a:endParaRPr lang="zh-CN" altLang="en-US" sz="2400" b="1" dirty="0">
              <a:solidFill>
                <a:schemeClr val="accent1"/>
              </a:solidFill>
              <a:effectLst>
                <a:outerShdw blurRad="38100" dist="25400" dir="5400000" algn="ctr" rotWithShape="0">
                  <a:srgbClr val="6E747A">
                    <a:alpha val="43000"/>
                  </a:srgbClr>
                </a:outerShdw>
              </a:effectLst>
              <a:sym typeface="+mn-ea"/>
            </a:endParaRPr>
          </a:p>
        </p:txBody>
      </p:sp>
      <p:pic>
        <p:nvPicPr>
          <p:cNvPr id="5" name="图片 4" descr="~9MBCV@F9Z8_FF3F39}ECZR"/>
          <p:cNvPicPr>
            <a:picLocks noChangeAspect="1"/>
          </p:cNvPicPr>
          <p:nvPr>
            <p:custDataLst>
              <p:tags r:id="rId1"/>
            </p:custDataLst>
          </p:nvPr>
        </p:nvPicPr>
        <p:blipFill>
          <a:blip r:embed="rId2"/>
          <a:stretch>
            <a:fillRect/>
          </a:stretch>
        </p:blipFill>
        <p:spPr>
          <a:xfrm>
            <a:off x="2992120" y="2606040"/>
            <a:ext cx="2155825" cy="14147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4.</a:t>
            </a:r>
            <a:r>
              <a:rPr lang="zh-CN" altLang="zh-CN" sz="2800" dirty="0"/>
              <a:t>聚类分析</a:t>
            </a:r>
            <a:br>
              <a:rPr lang="zh-CN" altLang="zh-CN" dirty="0"/>
            </a:br>
            <a:endParaRPr lang="zh-CN" altLang="en-US" dirty="0"/>
          </a:p>
        </p:txBody>
      </p:sp>
      <p:sp>
        <p:nvSpPr>
          <p:cNvPr id="3" name="内容占位符 2"/>
          <p:cNvSpPr>
            <a:spLocks noGrp="1"/>
          </p:cNvSpPr>
          <p:nvPr>
            <p:ph idx="1"/>
          </p:nvPr>
        </p:nvSpPr>
        <p:spPr>
          <a:xfrm>
            <a:off x="2589212" y="1334609"/>
            <a:ext cx="8915400" cy="1932373"/>
          </a:xfrm>
        </p:spPr>
        <p:txBody>
          <a:bodyPr/>
          <a:lstStyle/>
          <a:p>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聚类分析（</a:t>
            </a:r>
            <a:r>
              <a:rPr lang="en-US" altLang="zh-CN" dirty="0">
                <a:latin typeface="楷体" panose="02010609060101010101" pitchFamily="49" charset="-122"/>
                <a:ea typeface="楷体" panose="02010609060101010101" pitchFamily="49" charset="-122"/>
              </a:rPr>
              <a:t>Clustering Analysis</a:t>
            </a:r>
            <a:r>
              <a:rPr lang="zh-CN" altLang="zh-CN" dirty="0">
                <a:latin typeface="楷体" panose="02010609060101010101" pitchFamily="49" charset="-122"/>
                <a:ea typeface="楷体" panose="02010609060101010101" pitchFamily="49" charset="-122"/>
              </a:rPr>
              <a:t>）与分类预测方法的明显不同之处在于，后者所学习获得分类预测模型所使用的数据是已知类别属性（</a:t>
            </a:r>
            <a:r>
              <a:rPr lang="en-US" altLang="zh-CN" dirty="0">
                <a:latin typeface="楷体" panose="02010609060101010101" pitchFamily="49" charset="-122"/>
                <a:ea typeface="楷体" panose="02010609060101010101" pitchFamily="49" charset="-122"/>
              </a:rPr>
              <a:t>Class-labeled Data</a:t>
            </a:r>
            <a:r>
              <a:rPr lang="zh-CN" altLang="zh-CN" dirty="0">
                <a:latin typeface="楷体" panose="02010609060101010101" pitchFamily="49" charset="-122"/>
                <a:ea typeface="楷体" panose="02010609060101010101" pitchFamily="49" charset="-122"/>
              </a:rPr>
              <a:t>），属于有监督学习方法，而聚类分析（无论是在学习还是在归类预测时）所分析处理的数据均是无（事先确定）类别归属的。类别归属标志在聚类分析处理的数据集中是不存在的，聚类也便于将观察到的内容分类编制（</a:t>
            </a:r>
            <a:r>
              <a:rPr lang="en-US" altLang="zh-CN" dirty="0">
                <a:latin typeface="楷体" panose="02010609060101010101" pitchFamily="49" charset="-122"/>
                <a:ea typeface="楷体" panose="02010609060101010101" pitchFamily="49" charset="-122"/>
              </a:rPr>
              <a:t>Taxonomy Formation</a:t>
            </a:r>
            <a:r>
              <a:rPr lang="zh-CN" altLang="zh-CN" dirty="0">
                <a:latin typeface="楷体" panose="02010609060101010101" pitchFamily="49" charset="-122"/>
                <a:ea typeface="楷体" panose="02010609060101010101" pitchFamily="49" charset="-122"/>
              </a:rPr>
              <a:t>）成类分层结构，把类似的事件组织在一起。</a:t>
            </a:r>
            <a:endParaRPr lang="zh-CN" altLang="zh-CN" dirty="0">
              <a:latin typeface="楷体" panose="02010609060101010101" pitchFamily="49" charset="-122"/>
              <a:ea typeface="楷体" panose="02010609060101010101" pitchFamily="49" charset="-122"/>
            </a:endParaRPr>
          </a:p>
          <a:p>
            <a:endParaRPr lang="zh-CN" altLang="en-US" dirty="0"/>
          </a:p>
        </p:txBody>
      </p:sp>
      <p:sp>
        <p:nvSpPr>
          <p:cNvPr id="4" name="标题 1"/>
          <p:cNvSpPr txBox="1"/>
          <p:nvPr/>
        </p:nvSpPr>
        <p:spPr>
          <a:xfrm>
            <a:off x="2592925" y="3156010"/>
            <a:ext cx="8911687" cy="936595"/>
          </a:xfrm>
          <a:prstGeom prst="rect">
            <a:avLst/>
          </a:prstGeom>
        </p:spPr>
        <p:txBody>
          <a:bodyPr vert="horz" lIns="91440" tIns="45720" rIns="91440" bIns="45720" rtlCol="0" anchor="t">
            <a:normAutofit fontScale="475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5900" dirty="0"/>
              <a:t>5.</a:t>
            </a:r>
            <a:r>
              <a:rPr lang="zh-CN" altLang="zh-CN" sz="5900" dirty="0"/>
              <a:t>孤立点分析</a:t>
            </a:r>
            <a:endParaRPr lang="zh-CN" altLang="zh-CN" sz="5900" dirty="0"/>
          </a:p>
          <a:p>
            <a:br>
              <a:rPr lang="zh-CN" altLang="zh-CN" dirty="0"/>
            </a:br>
            <a:endParaRPr lang="zh-CN" altLang="en-US" dirty="0"/>
          </a:p>
        </p:txBody>
      </p:sp>
      <p:sp>
        <p:nvSpPr>
          <p:cNvPr id="5" name="内容占位符 2"/>
          <p:cNvSpPr txBox="1"/>
          <p:nvPr/>
        </p:nvSpPr>
        <p:spPr>
          <a:xfrm>
            <a:off x="2585499" y="3755539"/>
            <a:ext cx="8915400" cy="2378931"/>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zh-CN" sz="2300" dirty="0">
                <a:latin typeface="楷体" panose="02010609060101010101" pitchFamily="49" charset="-122"/>
                <a:ea typeface="楷体" panose="02010609060101010101" pitchFamily="49" charset="-122"/>
              </a:rPr>
              <a:t>    </a:t>
            </a:r>
            <a:r>
              <a:rPr lang="zh-CN" altLang="zh-CN" sz="2300" dirty="0">
                <a:latin typeface="楷体" panose="02010609060101010101" pitchFamily="49" charset="-122"/>
                <a:ea typeface="楷体" panose="02010609060101010101" pitchFamily="49" charset="-122"/>
              </a:rPr>
              <a:t>数据库中可能包含一些与数据的一般行为或模型不一致的数据对象，这些数据对象被称为孤立点（</a:t>
            </a:r>
            <a:r>
              <a:rPr lang="en-US" altLang="zh-CN" sz="2300" dirty="0">
                <a:latin typeface="楷体" panose="02010609060101010101" pitchFamily="49" charset="-122"/>
                <a:ea typeface="楷体" panose="02010609060101010101" pitchFamily="49" charset="-122"/>
              </a:rPr>
              <a:t>Outlier</a:t>
            </a:r>
            <a:r>
              <a:rPr lang="zh-CN" altLang="zh-CN" sz="2300" dirty="0">
                <a:latin typeface="楷体" panose="02010609060101010101" pitchFamily="49" charset="-122"/>
                <a:ea typeface="楷体" panose="02010609060101010101" pitchFamily="49" charset="-122"/>
              </a:rPr>
              <a:t>）。大部分数据挖掘方法将孤立点视为噪声或异常而丢弃，然而在一些应用场合，如各种商业欺诈行为的自动检测中，小概率发生的事件（数据）往往比经常发生的事件（数据）更有挖掘价值，孤立点数据分析通常称作孤立点挖掘（</a:t>
            </a:r>
            <a:r>
              <a:rPr lang="en-US" altLang="zh-CN" sz="2300" dirty="0">
                <a:latin typeface="楷体" panose="02010609060101010101" pitchFamily="49" charset="-122"/>
                <a:ea typeface="楷体" panose="02010609060101010101" pitchFamily="49" charset="-122"/>
              </a:rPr>
              <a:t>Outlier Mining</a:t>
            </a:r>
            <a:r>
              <a:rPr lang="zh-CN" altLang="zh-CN" sz="2300" dirty="0">
                <a:latin typeface="楷体" panose="02010609060101010101" pitchFamily="49" charset="-122"/>
                <a:ea typeface="楷体" panose="02010609060101010101" pitchFamily="49" charset="-122"/>
              </a:rPr>
              <a:t>）。</a:t>
            </a:r>
            <a:endParaRPr lang="zh-CN" altLang="zh-CN" sz="2300" dirty="0">
              <a:latin typeface="楷体" panose="02010609060101010101" pitchFamily="49" charset="-122"/>
              <a:ea typeface="楷体" panose="02010609060101010101" pitchFamily="49" charset="-122"/>
            </a:endParaRPr>
          </a:p>
          <a:p>
            <a:r>
              <a:rPr lang="en-US" altLang="zh-CN" sz="2300" dirty="0">
                <a:latin typeface="楷体" panose="02010609060101010101" pitchFamily="49" charset="-122"/>
                <a:ea typeface="楷体" panose="02010609060101010101" pitchFamily="49" charset="-122"/>
              </a:rPr>
              <a:t>    </a:t>
            </a:r>
            <a:r>
              <a:rPr lang="zh-CN" altLang="zh-CN" sz="2300" dirty="0">
                <a:latin typeface="楷体" panose="02010609060101010101" pitchFamily="49" charset="-122"/>
                <a:ea typeface="楷体" panose="02010609060101010101" pitchFamily="49" charset="-122"/>
              </a:rPr>
              <a:t>孤立点可以使用统计试验检测。它假定一个数据分布或概率模型，并使用距离进行度量，到其他聚类的距离很大的对象被视为孤立点。基于偏差的方法通过考察一群对象主要特征上的差别来识别孤立点，而不是使用统计或距离度量。</a:t>
            </a:r>
            <a:endParaRPr lang="zh-CN" altLang="zh-CN" sz="2300"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6.</a:t>
            </a:r>
            <a:r>
              <a:rPr lang="zh-CN" altLang="zh-CN" sz="2800" dirty="0"/>
              <a:t>演变分析</a:t>
            </a:r>
            <a:br>
              <a:rPr lang="zh-CN" altLang="zh-CN" dirty="0"/>
            </a:br>
            <a:endParaRPr lang="zh-CN" altLang="en-US" dirty="0"/>
          </a:p>
        </p:txBody>
      </p:sp>
      <p:sp>
        <p:nvSpPr>
          <p:cNvPr id="3" name="内容占位符 2"/>
          <p:cNvSpPr>
            <a:spLocks noGrp="1"/>
          </p:cNvSpPr>
          <p:nvPr>
            <p:ph idx="1"/>
          </p:nvPr>
        </p:nvSpPr>
        <p:spPr>
          <a:xfrm>
            <a:off x="2589212" y="1760738"/>
            <a:ext cx="8915400" cy="3777622"/>
          </a:xfrm>
        </p:spPr>
        <p:txBody>
          <a:bodyPr/>
          <a:lstStyle/>
          <a:p>
            <a:r>
              <a:rPr lang="en-US" altLang="zh-CN" sz="2400" dirty="0"/>
              <a:t>     </a:t>
            </a:r>
            <a:r>
              <a:rPr lang="zh-CN" altLang="zh-CN" sz="2400" dirty="0">
                <a:latin typeface="楷体" panose="02010609060101010101" pitchFamily="49" charset="-122"/>
                <a:ea typeface="楷体" panose="02010609060101010101" pitchFamily="49" charset="-122"/>
              </a:rPr>
              <a:t>数据演变分析（</a:t>
            </a:r>
            <a:r>
              <a:rPr lang="en-US" altLang="zh-CN" sz="2400" dirty="0">
                <a:latin typeface="楷体" panose="02010609060101010101" pitchFamily="49" charset="-122"/>
                <a:ea typeface="楷体" panose="02010609060101010101" pitchFamily="49" charset="-122"/>
              </a:rPr>
              <a:t>Evolution Analysis</a:t>
            </a:r>
            <a:r>
              <a:rPr lang="zh-CN" altLang="zh-CN" sz="2400" dirty="0">
                <a:latin typeface="楷体" panose="02010609060101010101" pitchFamily="49" charset="-122"/>
                <a:ea typeface="楷体" panose="02010609060101010101" pitchFamily="49" charset="-122"/>
              </a:rPr>
              <a:t>）就是对随时间变化的数据对象的变化规律和趋势进行建模描述。这一建模手段包括概念描述、对比概念描述、关联分析、分类分析、时间相关数据（</a:t>
            </a:r>
            <a:r>
              <a:rPr lang="en-US" altLang="zh-CN" sz="2400" dirty="0">
                <a:latin typeface="楷体" panose="02010609060101010101" pitchFamily="49" charset="-122"/>
                <a:ea typeface="楷体" panose="02010609060101010101" pitchFamily="49" charset="-122"/>
              </a:rPr>
              <a:t>Time-Related</a:t>
            </a:r>
            <a:r>
              <a:rPr lang="zh-CN" altLang="zh-CN" sz="2400" dirty="0">
                <a:latin typeface="楷体" panose="02010609060101010101" pitchFamily="49" charset="-122"/>
                <a:ea typeface="楷体" panose="02010609060101010101" pitchFamily="49" charset="-122"/>
              </a:rPr>
              <a:t>）分析，时间相关数据分析又包括时序数据分析，序列或周期模式匹配，以及基于相似性的数据分析等。</a:t>
            </a:r>
            <a:endParaRPr lang="zh-CN" altLang="zh-CN" sz="2400" dirty="0">
              <a:latin typeface="楷体" panose="02010609060101010101" pitchFamily="49" charset="-122"/>
              <a:ea typeface="楷体" panose="02010609060101010101" pitchFamily="49" charset="-122"/>
            </a:endParaRPr>
          </a:p>
          <a:p>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a:t>
            </a:r>
            <a:r>
              <a:rPr lang="zh-CN" altLang="zh-CN" dirty="0"/>
              <a:t>数据挖掘的常用技术及工具</a:t>
            </a:r>
            <a:br>
              <a:rPr lang="zh-CN" altLang="zh-CN" b="1" dirty="0"/>
            </a:br>
            <a:endParaRPr lang="zh-CN" altLang="en-US" dirty="0"/>
          </a:p>
        </p:txBody>
      </p:sp>
      <p:sp>
        <p:nvSpPr>
          <p:cNvPr id="3" name="内容占位符 2"/>
          <p:cNvSpPr>
            <a:spLocks noGrp="1"/>
          </p:cNvSpPr>
          <p:nvPr>
            <p:ph idx="1"/>
          </p:nvPr>
        </p:nvSpPr>
        <p:spPr>
          <a:xfrm>
            <a:off x="2589212" y="1529919"/>
            <a:ext cx="8915400" cy="4826492"/>
          </a:xfrm>
        </p:spPr>
        <p:txBody>
          <a:bodyPr/>
          <a:lstStyle/>
          <a:p>
            <a:pPr marL="0" indent="0">
              <a:buNone/>
            </a:pPr>
            <a:r>
              <a:rPr lang="en-US" altLang="zh-CN" sz="2400" dirty="0"/>
              <a:t>1.4.1</a:t>
            </a:r>
            <a:r>
              <a:rPr lang="zh-CN" altLang="zh-CN" sz="2400" dirty="0"/>
              <a:t>数据挖掘的常用技术</a:t>
            </a:r>
            <a:endParaRPr lang="zh-CN" altLang="zh-CN" sz="2400" b="1" dirty="0"/>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zh-CN" dirty="0">
                <a:latin typeface="楷体" panose="02010609060101010101" pitchFamily="49" charset="-122"/>
                <a:ea typeface="楷体" panose="02010609060101010101" pitchFamily="49" charset="-122"/>
              </a:rPr>
              <a:t>）预测（</a:t>
            </a:r>
            <a:r>
              <a:rPr lang="en-US" altLang="zh-CN" dirty="0">
                <a:latin typeface="楷体" panose="02010609060101010101" pitchFamily="49" charset="-122"/>
                <a:ea typeface="楷体" panose="02010609060101010101" pitchFamily="49" charset="-122"/>
              </a:rPr>
              <a:t>Forecast</a:t>
            </a:r>
            <a:r>
              <a:rPr lang="zh-CN" altLang="zh-CN" dirty="0">
                <a:latin typeface="楷体" panose="02010609060101010101" pitchFamily="49" charset="-122"/>
                <a:ea typeface="楷体" panose="02010609060101010101" pitchFamily="49" charset="-122"/>
              </a:rPr>
              <a:t>）技术</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zh-CN" dirty="0">
                <a:latin typeface="楷体" panose="02010609060101010101" pitchFamily="49" charset="-122"/>
                <a:ea typeface="楷体" panose="02010609060101010101" pitchFamily="49" charset="-122"/>
              </a:rPr>
              <a:t>）关联规则（</a:t>
            </a:r>
            <a:r>
              <a:rPr lang="en-US" altLang="zh-CN" dirty="0">
                <a:latin typeface="楷体" panose="02010609060101010101" pitchFamily="49" charset="-122"/>
                <a:ea typeface="楷体" panose="02010609060101010101" pitchFamily="49" charset="-122"/>
              </a:rPr>
              <a:t>Association Rules</a:t>
            </a:r>
            <a:r>
              <a:rPr lang="zh-CN" altLang="zh-CN" dirty="0">
                <a:latin typeface="楷体" panose="02010609060101010101" pitchFamily="49" charset="-122"/>
                <a:ea typeface="楷体" panose="02010609060101010101" pitchFamily="49" charset="-122"/>
              </a:rPr>
              <a:t>）技术</a:t>
            </a:r>
            <a:endParaRPr lang="en-US"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3</a:t>
            </a:r>
            <a:r>
              <a:rPr lang="zh-CN" altLang="zh-CN" dirty="0">
                <a:latin typeface="楷体" panose="02010609060101010101" pitchFamily="49" charset="-122"/>
                <a:ea typeface="楷体" panose="02010609060101010101" pitchFamily="49" charset="-122"/>
              </a:rPr>
              <a:t>）聚类分析（</a:t>
            </a:r>
            <a:r>
              <a:rPr lang="en-US" altLang="zh-CN" dirty="0">
                <a:latin typeface="楷体" panose="02010609060101010101" pitchFamily="49" charset="-122"/>
                <a:ea typeface="楷体" panose="02010609060101010101" pitchFamily="49" charset="-122"/>
              </a:rPr>
              <a:t>Clustering Analysis</a:t>
            </a:r>
            <a:r>
              <a:rPr lang="zh-CN" altLang="zh-CN" dirty="0">
                <a:latin typeface="楷体" panose="02010609060101010101" pitchFamily="49" charset="-122"/>
                <a:ea typeface="楷体" panose="02010609060101010101" pitchFamily="49" charset="-122"/>
              </a:rPr>
              <a:t>）技术</a:t>
            </a:r>
            <a:endParaRPr lang="zh-CN"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粗糙集（</a:t>
            </a:r>
            <a:r>
              <a:rPr lang="en-US" altLang="zh-CN" dirty="0">
                <a:latin typeface="楷体" panose="02010609060101010101" pitchFamily="49" charset="-122"/>
                <a:ea typeface="楷体" panose="02010609060101010101" pitchFamily="49" charset="-122"/>
              </a:rPr>
              <a:t>Rough Sets</a:t>
            </a:r>
            <a:r>
              <a:rPr lang="zh-CN" altLang="zh-CN" dirty="0">
                <a:latin typeface="楷体" panose="02010609060101010101" pitchFamily="49" charset="-122"/>
                <a:ea typeface="楷体" panose="02010609060101010101" pitchFamily="49" charset="-122"/>
              </a:rPr>
              <a:t>）技术</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进化计算（</a:t>
            </a:r>
            <a:r>
              <a:rPr lang="en-US" altLang="zh-CN" dirty="0">
                <a:latin typeface="楷体" panose="02010609060101010101" pitchFamily="49" charset="-122"/>
                <a:ea typeface="楷体" panose="02010609060101010101" pitchFamily="49" charset="-122"/>
              </a:rPr>
              <a:t>Evolutionary Computation</a:t>
            </a:r>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EC</a:t>
            </a:r>
            <a:r>
              <a:rPr lang="zh-CN" altLang="zh-CN" dirty="0">
                <a:latin typeface="楷体" panose="02010609060101010101" pitchFamily="49" charset="-122"/>
                <a:ea typeface="楷体" panose="02010609060101010101" pitchFamily="49" charset="-122"/>
              </a:rPr>
              <a:t>）技术</a:t>
            </a:r>
            <a:endParaRPr lang="en-US"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6</a:t>
            </a:r>
            <a:r>
              <a:rPr lang="zh-CN" altLang="zh-CN" dirty="0">
                <a:latin typeface="楷体" panose="02010609060101010101" pitchFamily="49" charset="-122"/>
                <a:ea typeface="楷体" panose="02010609060101010101" pitchFamily="49" charset="-122"/>
              </a:rPr>
              <a:t>）灰色系统（</a:t>
            </a:r>
            <a:r>
              <a:rPr lang="en-US" altLang="zh-CN" dirty="0">
                <a:latin typeface="楷体" panose="02010609060101010101" pitchFamily="49" charset="-122"/>
                <a:ea typeface="楷体" panose="02010609060101010101" pitchFamily="49" charset="-122"/>
              </a:rPr>
              <a:t>Grey System</a:t>
            </a:r>
            <a:r>
              <a:rPr lang="zh-CN" altLang="zh-CN" dirty="0">
                <a:latin typeface="楷体" panose="02010609060101010101" pitchFamily="49" charset="-122"/>
                <a:ea typeface="楷体" panose="02010609060101010101" pitchFamily="49" charset="-122"/>
              </a:rPr>
              <a:t>）技术</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7</a:t>
            </a:r>
            <a:r>
              <a:rPr lang="zh-CN" altLang="zh-CN" dirty="0">
                <a:latin typeface="楷体" panose="02010609060101010101" pitchFamily="49" charset="-122"/>
                <a:ea typeface="楷体" panose="02010609060101010101" pitchFamily="49" charset="-122"/>
              </a:rPr>
              <a:t>）模糊逻辑（</a:t>
            </a:r>
            <a:r>
              <a:rPr lang="en-US" altLang="zh-CN" dirty="0">
                <a:latin typeface="楷体" panose="02010609060101010101" pitchFamily="49" charset="-122"/>
                <a:ea typeface="楷体" panose="02010609060101010101" pitchFamily="49" charset="-122"/>
              </a:rPr>
              <a:t>Fuzzy Logic</a:t>
            </a:r>
            <a:r>
              <a:rPr lang="zh-CN"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8</a:t>
            </a:r>
            <a:r>
              <a:rPr lang="zh-CN" altLang="zh-CN" dirty="0">
                <a:latin typeface="楷体" panose="02010609060101010101" pitchFamily="49" charset="-122"/>
                <a:ea typeface="楷体" panose="02010609060101010101" pitchFamily="49" charset="-122"/>
              </a:rPr>
              <a:t>）人工智能（</a:t>
            </a:r>
            <a:r>
              <a:rPr lang="en-US" altLang="zh-CN" dirty="0">
                <a:latin typeface="楷体" panose="02010609060101010101" pitchFamily="49" charset="-122"/>
                <a:ea typeface="楷体" panose="02010609060101010101" pitchFamily="49" charset="-122"/>
              </a:rPr>
              <a:t>Artificial Intelligence</a:t>
            </a:r>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AI</a:t>
            </a:r>
            <a:r>
              <a:rPr lang="zh-CN" altLang="zh-CN" dirty="0">
                <a:latin typeface="楷体" panose="02010609060101010101" pitchFamily="49" charset="-122"/>
                <a:ea typeface="楷体" panose="02010609060101010101" pitchFamily="49" charset="-122"/>
              </a:rPr>
              <a:t>）技术</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9</a:t>
            </a:r>
            <a:r>
              <a:rPr lang="zh-CN" altLang="zh-CN" dirty="0">
                <a:latin typeface="楷体" panose="02010609060101010101" pitchFamily="49" charset="-122"/>
                <a:ea typeface="楷体" panose="02010609060101010101" pitchFamily="49" charset="-122"/>
              </a:rPr>
              <a:t>）决策树（</a:t>
            </a:r>
            <a:r>
              <a:rPr lang="en-US" altLang="zh-CN" dirty="0">
                <a:latin typeface="楷体" panose="02010609060101010101" pitchFamily="49" charset="-122"/>
                <a:ea typeface="楷体" panose="02010609060101010101" pitchFamily="49" charset="-122"/>
              </a:rPr>
              <a:t>Decision Tree</a:t>
            </a:r>
            <a:r>
              <a:rPr lang="zh-CN" altLang="zh-CN" dirty="0">
                <a:latin typeface="楷体" panose="02010609060101010101" pitchFamily="49" charset="-122"/>
                <a:ea typeface="楷体" panose="02010609060101010101" pitchFamily="49" charset="-122"/>
              </a:rPr>
              <a:t>）技术</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10</a:t>
            </a:r>
            <a:r>
              <a:rPr lang="zh-CN" altLang="zh-CN" dirty="0">
                <a:latin typeface="楷体" panose="02010609060101010101" pitchFamily="49" charset="-122"/>
                <a:ea typeface="楷体" panose="02010609060101010101" pitchFamily="49" charset="-122"/>
              </a:rPr>
              <a:t>）统计分析（</a:t>
            </a:r>
            <a:r>
              <a:rPr lang="en-US" altLang="zh-CN" dirty="0">
                <a:latin typeface="楷体" panose="02010609060101010101" pitchFamily="49" charset="-122"/>
                <a:ea typeface="楷体" panose="02010609060101010101" pitchFamily="49" charset="-122"/>
              </a:rPr>
              <a:t>Statistical Analysis</a:t>
            </a:r>
            <a:r>
              <a:rPr lang="zh-CN" altLang="zh-CN" dirty="0">
                <a:latin typeface="楷体" panose="02010609060101010101" pitchFamily="49" charset="-122"/>
                <a:ea typeface="楷体" panose="02010609060101010101" pitchFamily="49" charset="-122"/>
              </a:rPr>
              <a:t>）方法</a:t>
            </a:r>
            <a:endParaRPr lang="zh-CN" altLang="zh-CN" dirty="0">
              <a:latin typeface="楷体" panose="02010609060101010101" pitchFamily="49" charset="-122"/>
              <a:ea typeface="楷体" panose="02010609060101010101" pitchFamily="49" charset="-122"/>
            </a:endParaRPr>
          </a:p>
          <a:p>
            <a:endParaRPr lang="zh-CN" altLang="zh-CN" dirty="0"/>
          </a:p>
          <a:p>
            <a:endParaRPr lang="zh-CN" altLang="zh-CN" dirty="0"/>
          </a:p>
          <a:p>
            <a:endParaRPr lang="zh-CN" altLang="zh-CN" dirty="0"/>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44824" y="848557"/>
            <a:ext cx="8915400" cy="2580443"/>
          </a:xfrm>
        </p:spPr>
        <p:txBody>
          <a:bodyPr/>
          <a:lstStyle/>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11</a:t>
            </a:r>
            <a:r>
              <a:rPr lang="zh-CN" altLang="zh-CN" dirty="0">
                <a:latin typeface="楷体" panose="02010609060101010101" pitchFamily="49" charset="-122"/>
                <a:ea typeface="楷体" panose="02010609060101010101" pitchFamily="49" charset="-122"/>
              </a:rPr>
              <a:t>）知识获取（</a:t>
            </a:r>
            <a:r>
              <a:rPr lang="en-US" altLang="zh-CN" dirty="0">
                <a:latin typeface="楷体" panose="02010609060101010101" pitchFamily="49" charset="-122"/>
                <a:ea typeface="楷体" panose="02010609060101010101" pitchFamily="49" charset="-122"/>
              </a:rPr>
              <a:t>Knowledge Acquisition</a:t>
            </a:r>
            <a:r>
              <a:rPr lang="zh-CN" altLang="zh-CN" dirty="0">
                <a:latin typeface="楷体" panose="02010609060101010101" pitchFamily="49" charset="-122"/>
                <a:ea typeface="楷体" panose="02010609060101010101" pitchFamily="49" charset="-122"/>
              </a:rPr>
              <a:t>）、知识表示（</a:t>
            </a:r>
            <a:r>
              <a:rPr lang="en-US" altLang="zh-CN" dirty="0">
                <a:latin typeface="楷体" panose="02010609060101010101" pitchFamily="49" charset="-122"/>
                <a:ea typeface="楷体" panose="02010609060101010101" pitchFamily="49" charset="-122"/>
              </a:rPr>
              <a:t>Knowledge Representation</a:t>
            </a:r>
            <a:r>
              <a:rPr lang="zh-CN" altLang="zh-CN" dirty="0">
                <a:latin typeface="楷体" panose="02010609060101010101" pitchFamily="49" charset="-122"/>
                <a:ea typeface="楷体" panose="02010609060101010101" pitchFamily="49" charset="-122"/>
              </a:rPr>
              <a:t>）、知识推理（</a:t>
            </a:r>
            <a:r>
              <a:rPr lang="en-US" altLang="zh-CN" dirty="0">
                <a:latin typeface="楷体" panose="02010609060101010101" pitchFamily="49" charset="-122"/>
                <a:ea typeface="楷体" panose="02010609060101010101" pitchFamily="49" charset="-122"/>
              </a:rPr>
              <a:t>Knowledge Reasoning</a:t>
            </a:r>
            <a:r>
              <a:rPr lang="zh-CN" altLang="zh-CN" dirty="0">
                <a:latin typeface="楷体" panose="02010609060101010101" pitchFamily="49" charset="-122"/>
                <a:ea typeface="楷体" panose="02010609060101010101" pitchFamily="49" charset="-122"/>
              </a:rPr>
              <a:t>）和知识搜索（</a:t>
            </a:r>
            <a:r>
              <a:rPr lang="en-US" altLang="zh-CN" dirty="0">
                <a:latin typeface="楷体" panose="02010609060101010101" pitchFamily="49" charset="-122"/>
                <a:ea typeface="楷体" panose="02010609060101010101" pitchFamily="49" charset="-122"/>
              </a:rPr>
              <a:t>Knowledge Search</a:t>
            </a:r>
            <a:r>
              <a:rPr lang="zh-CN" altLang="zh-CN" dirty="0">
                <a:latin typeface="楷体" panose="02010609060101010101" pitchFamily="49" charset="-122"/>
                <a:ea typeface="楷体" panose="02010609060101010101" pitchFamily="49" charset="-122"/>
              </a:rPr>
              <a:t>）技术</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12</a:t>
            </a:r>
            <a:r>
              <a:rPr lang="zh-CN" altLang="zh-CN" dirty="0">
                <a:latin typeface="楷体" panose="02010609060101010101" pitchFamily="49" charset="-122"/>
                <a:ea typeface="楷体" panose="02010609060101010101" pitchFamily="49" charset="-122"/>
              </a:rPr>
              <a:t>）决策与控制理论（</a:t>
            </a:r>
            <a:r>
              <a:rPr lang="en-US" altLang="zh-CN" dirty="0">
                <a:latin typeface="楷体" panose="02010609060101010101" pitchFamily="49" charset="-122"/>
                <a:ea typeface="楷体" panose="02010609060101010101" pitchFamily="49" charset="-122"/>
              </a:rPr>
              <a:t>Decision and Control</a:t>
            </a:r>
            <a:r>
              <a:rPr lang="zh-CN" altLang="zh-CN"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13</a:t>
            </a:r>
            <a:r>
              <a:rPr lang="zh-CN" altLang="zh-CN" dirty="0">
                <a:latin typeface="楷体" panose="02010609060101010101" pitchFamily="49" charset="-122"/>
                <a:ea typeface="楷体" panose="02010609060101010101" pitchFamily="49" charset="-122"/>
              </a:rPr>
              <a:t>）可视化技术（</a:t>
            </a:r>
            <a:r>
              <a:rPr lang="en-US" altLang="zh-CN" dirty="0">
                <a:latin typeface="楷体" panose="02010609060101010101" pitchFamily="49" charset="-122"/>
                <a:ea typeface="楷体" panose="02010609060101010101" pitchFamily="49" charset="-122"/>
              </a:rPr>
              <a:t>Visual Technology</a:t>
            </a:r>
            <a:r>
              <a:rPr lang="zh-CN" altLang="zh-CN"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r>
              <a:rPr lang="zh-CN" altLang="zh-CN"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14</a:t>
            </a:r>
            <a:r>
              <a:rPr lang="zh-CN" altLang="zh-CN" dirty="0">
                <a:latin typeface="楷体" panose="02010609060101010101" pitchFamily="49" charset="-122"/>
                <a:ea typeface="楷体" panose="02010609060101010101" pitchFamily="49" charset="-122"/>
              </a:rPr>
              <a:t>）并行计算技术（</a:t>
            </a:r>
            <a:r>
              <a:rPr lang="en-US" altLang="zh-CN" dirty="0">
                <a:latin typeface="楷体" panose="02010609060101010101" pitchFamily="49" charset="-122"/>
                <a:ea typeface="楷体" panose="02010609060101010101" pitchFamily="49" charset="-122"/>
              </a:rPr>
              <a:t>Parallel Computing Technologies</a:t>
            </a:r>
            <a:r>
              <a:rPr lang="zh-CN" altLang="zh-CN" dirty="0">
                <a:latin typeface="楷体" panose="02010609060101010101" pitchFamily="49" charset="-122"/>
                <a:ea typeface="楷体" panose="02010609060101010101" pitchFamily="49" charset="-122"/>
              </a:rPr>
              <a:t>）和海量存储（</a:t>
            </a:r>
            <a:r>
              <a:rPr lang="en-US" altLang="zh-CN" dirty="0">
                <a:latin typeface="楷体" panose="02010609060101010101" pitchFamily="49" charset="-122"/>
                <a:ea typeface="楷体" panose="02010609060101010101" pitchFamily="49" charset="-122"/>
              </a:rPr>
              <a:t>Mass Storage</a:t>
            </a:r>
            <a:r>
              <a:rPr lang="zh-CN" altLang="zh-CN"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endParaRPr lang="zh-CN" altLang="en-US" dirty="0"/>
          </a:p>
        </p:txBody>
      </p:sp>
      <p:pic>
        <p:nvPicPr>
          <p:cNvPr id="4" name="图片 3"/>
          <p:cNvPicPr>
            <a:picLocks noChangeAspect="1"/>
          </p:cNvPicPr>
          <p:nvPr/>
        </p:nvPicPr>
        <p:blipFill>
          <a:blip r:embed="rId1"/>
          <a:stretch>
            <a:fillRect/>
          </a:stretch>
        </p:blipFill>
        <p:spPr>
          <a:xfrm>
            <a:off x="2974340" y="3564890"/>
            <a:ext cx="8056245" cy="29876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1.4.2  </a:t>
            </a:r>
            <a:r>
              <a:rPr lang="zh-CN" altLang="zh-CN" sz="2400" dirty="0"/>
              <a:t>数据挖掘的工具</a:t>
            </a:r>
            <a:br>
              <a:rPr lang="zh-CN" altLang="zh-CN" b="1" dirty="0"/>
            </a:br>
            <a:endParaRPr lang="zh-CN" altLang="en-US" dirty="0"/>
          </a:p>
        </p:txBody>
      </p:sp>
      <p:sp>
        <p:nvSpPr>
          <p:cNvPr id="3" name="内容占位符 2"/>
          <p:cNvSpPr>
            <a:spLocks noGrp="1"/>
          </p:cNvSpPr>
          <p:nvPr>
            <p:ph idx="1"/>
          </p:nvPr>
        </p:nvSpPr>
        <p:spPr>
          <a:xfrm>
            <a:off x="2592925" y="1405631"/>
            <a:ext cx="8915400" cy="5279254"/>
          </a:xfrm>
        </p:spPr>
        <p:txBody>
          <a:bodyPr>
            <a:normAutofit fontScale="92500" lnSpcReduction="10000"/>
          </a:bodyPr>
          <a:lstStyle/>
          <a:p>
            <a:r>
              <a:rPr lang="en-US" altLang="zh-CN" dirty="0"/>
              <a:t>1 </a:t>
            </a:r>
            <a:r>
              <a:rPr lang="zh-CN" altLang="zh-CN" dirty="0"/>
              <a:t>基于神经网络的工具</a:t>
            </a:r>
            <a:endParaRPr lang="zh-CN" altLang="zh-CN" dirty="0"/>
          </a:p>
          <a:p>
            <a:pPr marL="0" indent="0">
              <a:buNone/>
            </a:pPr>
            <a:r>
              <a:rPr lang="en-US" altLang="zh-CN" dirty="0"/>
              <a:t>    </a:t>
            </a:r>
            <a:r>
              <a:rPr lang="zh-CN" altLang="zh-CN" dirty="0">
                <a:latin typeface="楷体" panose="02010609060101010101" pitchFamily="49" charset="-122"/>
                <a:ea typeface="楷体" panose="02010609060101010101" pitchFamily="49" charset="-122"/>
              </a:rPr>
              <a:t>神经网络用于分类、特征挖掘、预测和模式识别。人工神经网络仿真生物神经网络，本质上是一个分散型或矩阵结构，它通过训练数据的挖掘，逐步计算网络连接的加权值，由于对非线性数据具有快速建模能力，基于神经网络的数据挖掘工具现在越来越流行。其开采过程基本上是将数据聚类，然后分类计算权值。神经网络很适合分析非线性数据和含噪声数据，所以在市场数据库的分析和建模方面应用广泛。</a:t>
            </a:r>
            <a:endParaRPr lang="zh-CN" altLang="zh-CN" dirty="0">
              <a:latin typeface="楷体" panose="02010609060101010101" pitchFamily="49" charset="-122"/>
              <a:ea typeface="楷体" panose="02010609060101010101" pitchFamily="49" charset="-122"/>
            </a:endParaRPr>
          </a:p>
          <a:p>
            <a:r>
              <a:rPr lang="en-US" altLang="zh-CN" dirty="0"/>
              <a:t>2 </a:t>
            </a:r>
            <a:r>
              <a:rPr lang="zh-CN" altLang="zh-CN" dirty="0"/>
              <a:t>基于规则和决策树的工具</a:t>
            </a:r>
            <a:endParaRPr lang="zh-CN" altLang="zh-CN" dirty="0"/>
          </a:p>
          <a:p>
            <a:pPr marL="0" indent="0">
              <a:buNone/>
            </a:pPr>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大部分数据挖掘工具采用规则发现或决策树分类技术来发现数据模式和规则，其核心是某种归纳算法。这类工具通常是对数据库的数据进行开采，产生规则和决策树，然后对新数据进行分析和预测。其主要优点是：规则和决策树都是可读的。</a:t>
            </a:r>
            <a:endParaRPr lang="zh-CN" altLang="zh-CN" dirty="0">
              <a:latin typeface="楷体" panose="02010609060101010101" pitchFamily="49" charset="-122"/>
              <a:ea typeface="楷体" panose="02010609060101010101" pitchFamily="49" charset="-122"/>
            </a:endParaRPr>
          </a:p>
          <a:p>
            <a:r>
              <a:rPr lang="en-US" altLang="zh-CN" dirty="0"/>
              <a:t>3 </a:t>
            </a:r>
            <a:r>
              <a:rPr lang="zh-CN" altLang="zh-CN" dirty="0"/>
              <a:t>基于模糊逻辑的工具</a:t>
            </a:r>
            <a:endParaRPr lang="zh-CN" altLang="zh-CN" dirty="0"/>
          </a:p>
          <a:p>
            <a:pPr marL="0" indent="0">
              <a:buNone/>
            </a:pPr>
            <a:r>
              <a:rPr lang="en-US" altLang="zh-CN"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该方法应用模糊逻辑进行数据查询、排序等。它使用模糊概念和“最近”搜索技术的数据查询工具，可以让用户制定目标，然后对数据库进行搜索，找出接近目标的所有记录，并对结果进行评估。</a:t>
            </a:r>
            <a:endParaRPr lang="zh-CN" altLang="zh-CN" dirty="0">
              <a:latin typeface="楷体" panose="02010609060101010101" pitchFamily="49" charset="-122"/>
              <a:ea typeface="楷体" panose="02010609060101010101" pitchFamily="49" charset="-122"/>
            </a:endParaRPr>
          </a:p>
          <a:p>
            <a:r>
              <a:rPr lang="en-US" altLang="zh-CN" dirty="0"/>
              <a:t>4 </a:t>
            </a:r>
            <a:r>
              <a:rPr lang="zh-CN" altLang="zh-CN" dirty="0"/>
              <a:t>综合多方法的工具</a:t>
            </a:r>
            <a:endParaRPr lang="zh-CN" altLang="zh-CN" dirty="0"/>
          </a:p>
          <a:p>
            <a:pPr marL="0" indent="0">
              <a:buNone/>
            </a:pPr>
            <a:r>
              <a:rPr lang="en-US" altLang="zh-CN" dirty="0"/>
              <a:t>    </a:t>
            </a:r>
            <a:r>
              <a:rPr lang="zh-CN" altLang="zh-CN" dirty="0">
                <a:latin typeface="楷体" panose="02010609060101010101" pitchFamily="49" charset="-122"/>
                <a:ea typeface="楷体" panose="02010609060101010101" pitchFamily="49" charset="-122"/>
              </a:rPr>
              <a:t>不少数据挖掘工具采用了多种开采方法，这类工具一般规模较大，适用于大型数据库（包括并行数据库）。这类工具开采能力很强，但价格昂贵，并要花很长时间进行学习。</a:t>
            </a:r>
            <a:endParaRPr lang="zh-CN" altLang="zh-CN"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 </a:t>
            </a:r>
            <a:r>
              <a:rPr lang="zh-CN" altLang="zh-CN" dirty="0"/>
              <a:t>数据挖掘的应用热点</a:t>
            </a:r>
            <a:br>
              <a:rPr lang="zh-CN" altLang="zh-CN" b="1" dirty="0"/>
            </a:br>
            <a:endParaRPr lang="zh-CN" altLang="en-US" dirty="0"/>
          </a:p>
        </p:txBody>
      </p:sp>
      <p:sp>
        <p:nvSpPr>
          <p:cNvPr id="3" name="内容占位符 2"/>
          <p:cNvSpPr>
            <a:spLocks noGrp="1"/>
          </p:cNvSpPr>
          <p:nvPr>
            <p:ph idx="1"/>
          </p:nvPr>
        </p:nvSpPr>
        <p:spPr/>
        <p:txBody>
          <a:bodyPr/>
          <a:lstStyle/>
          <a:p>
            <a:r>
              <a:rPr lang="en-US" altLang="zh-CN" sz="3200" dirty="0"/>
              <a:t>    </a:t>
            </a:r>
            <a:r>
              <a:rPr lang="zh-CN" altLang="zh-CN" sz="3200" dirty="0">
                <a:latin typeface="楷体" panose="02010609060101010101" pitchFamily="49" charset="-122"/>
                <a:ea typeface="楷体" panose="02010609060101010101" pitchFamily="49" charset="-122"/>
              </a:rPr>
              <a:t>数据挖掘技术源于商业的直接需求，并在各种领域都有广泛的使用价值。数据挖掘已在金融、零售、医药、通信、电子工程、航空、旅馆等具有大量数据和深度分析需求、易产生大量数字信息的领域得到广泛使用，并带来了巨大的社会效益和经济效益。</a:t>
            </a:r>
            <a:endParaRPr lang="zh-CN" altLang="zh-CN" sz="3200" dirty="0">
              <a:latin typeface="楷体" panose="02010609060101010101" pitchFamily="49" charset="-122"/>
              <a:ea typeface="楷体" panose="02010609060101010101" pitchFamily="49" charset="-122"/>
            </a:endParaRPr>
          </a:p>
          <a:p>
            <a:endParaRPr lang="zh-CN" altLang="zh-CN" sz="3200" dirty="0">
              <a:latin typeface="楷体" panose="02010609060101010101" pitchFamily="49" charset="-122"/>
              <a:ea typeface="楷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56180" y="1192530"/>
            <a:ext cx="8915400" cy="5665470"/>
          </a:xfrm>
        </p:spPr>
        <p:txBody>
          <a:bodyPr>
            <a:normAutofit/>
          </a:bodyPr>
          <a:lstStyle/>
          <a:p>
            <a:r>
              <a:rPr lang="en-US" altLang="zh-CN" sz="2600" dirty="0"/>
              <a:t>1.</a:t>
            </a:r>
            <a:r>
              <a:rPr lang="zh-CN" altLang="zh-CN" sz="2600" dirty="0"/>
              <a:t>金融领域的应用</a:t>
            </a:r>
            <a:endParaRPr lang="en-US" altLang="zh-CN" sz="2600" dirty="0"/>
          </a:p>
          <a:p>
            <a:endParaRPr lang="zh-CN" altLang="zh-CN" sz="2400" dirty="0"/>
          </a:p>
          <a:p>
            <a:pPr marL="0" indent="0">
              <a:buNone/>
            </a:pPr>
            <a:r>
              <a:rPr lang="en-US" altLang="zh-CN" sz="2500" dirty="0"/>
              <a:t>     </a:t>
            </a:r>
            <a:r>
              <a:rPr lang="zh-CN" altLang="zh-CN" sz="2500" dirty="0">
                <a:latin typeface="楷体" panose="02010609060101010101" pitchFamily="49" charset="-122"/>
                <a:ea typeface="楷体" panose="02010609060101010101" pitchFamily="49" charset="-122"/>
              </a:rPr>
              <a:t>在金融方面，银行和金融机构往往持有大量关于客户的、各种服务的以及交易事务的数据，并且这些数据通常比较完整可靠和高质量，这大大方便了系统化的数据分析和数据挖掘。</a:t>
            </a:r>
            <a:endParaRPr lang="zh-CN" altLang="zh-CN" sz="2500" dirty="0">
              <a:latin typeface="楷体" panose="02010609060101010101" pitchFamily="49" charset="-122"/>
              <a:ea typeface="楷体" panose="02010609060101010101" pitchFamily="49" charset="-122"/>
            </a:endParaRPr>
          </a:p>
          <a:p>
            <a:pPr marL="0" indent="0">
              <a:buNone/>
            </a:pPr>
            <a:r>
              <a:rPr lang="zh-CN" altLang="zh-CN" sz="2500" b="1" dirty="0">
                <a:latin typeface="楷体" panose="02010609060101010101" pitchFamily="49" charset="-122"/>
                <a:ea typeface="楷体" panose="02010609060101010101" pitchFamily="49" charset="-122"/>
                <a:sym typeface="+mn-ea"/>
              </a:rPr>
              <a:t>欺诈管理、金融犯罪识别</a:t>
            </a:r>
            <a:endParaRPr lang="zh-CN" altLang="zh-CN" sz="2500" b="1" dirty="0">
              <a:latin typeface="楷体" panose="02010609060101010101" pitchFamily="49" charset="-122"/>
              <a:ea typeface="楷体" panose="02010609060101010101" pitchFamily="49" charset="-122"/>
            </a:endParaRPr>
          </a:p>
          <a:p>
            <a:pPr marL="0" indent="0">
              <a:buNone/>
            </a:pPr>
            <a:r>
              <a:rPr lang="zh-CN" altLang="zh-CN" sz="2500" b="1" dirty="0">
                <a:latin typeface="楷体" panose="02010609060101010101" pitchFamily="49" charset="-122"/>
                <a:ea typeface="楷体" panose="02010609060101010101" pitchFamily="49" charset="-122"/>
              </a:rPr>
              <a:t>风险评估</a:t>
            </a:r>
            <a:endParaRPr lang="zh-CN" altLang="zh-CN" sz="2500" b="1" dirty="0">
              <a:latin typeface="楷体" panose="02010609060101010101" pitchFamily="49" charset="-122"/>
              <a:ea typeface="楷体" panose="02010609060101010101" pitchFamily="49" charset="-122"/>
            </a:endParaRPr>
          </a:p>
          <a:p>
            <a:pPr marL="0" indent="0">
              <a:buNone/>
            </a:pPr>
            <a:r>
              <a:rPr lang="zh-CN" altLang="zh-CN" sz="2500" b="1" dirty="0">
                <a:latin typeface="楷体" panose="02010609060101010101" pitchFamily="49" charset="-122"/>
                <a:ea typeface="楷体" panose="02010609060101010101" pitchFamily="49" charset="-122"/>
              </a:rPr>
              <a:t>趋势分析、效益分析、顾客分析</a:t>
            </a:r>
            <a:endParaRPr lang="zh-CN" altLang="zh-CN" sz="2500" b="1" dirty="0">
              <a:latin typeface="楷体" panose="02010609060101010101" pitchFamily="49" charset="-122"/>
              <a:ea typeface="楷体" panose="02010609060101010101" pitchFamily="49" charset="-122"/>
            </a:endParaRPr>
          </a:p>
          <a:p>
            <a:pPr marL="0" indent="0">
              <a:buNone/>
            </a:pPr>
            <a:r>
              <a:rPr lang="zh-CN" altLang="zh-CN" sz="2500" b="1" dirty="0">
                <a:latin typeface="楷体" panose="02010609060101010101" pitchFamily="49" charset="-122"/>
                <a:ea typeface="楷体" panose="02010609060101010101" pitchFamily="49" charset="-122"/>
              </a:rPr>
              <a:t>客户关系管理和竞争优势分析</a:t>
            </a:r>
            <a:endParaRPr lang="zh-CN" altLang="zh-CN" sz="2500" b="1" dirty="0">
              <a:latin typeface="楷体" panose="02010609060101010101" pitchFamily="49" charset="-122"/>
              <a:ea typeface="楷体" panose="02010609060101010101" pitchFamily="49" charset="-122"/>
            </a:endParaRPr>
          </a:p>
          <a:p>
            <a:endParaRPr lang="zh-CN" altLang="zh-CN" sz="2500" b="1" dirty="0">
              <a:latin typeface="楷体" panose="02010609060101010101" pitchFamily="49" charset="-122"/>
              <a:ea typeface="楷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56047" y="669524"/>
            <a:ext cx="8915400" cy="5518952"/>
          </a:xfrm>
        </p:spPr>
        <p:txBody>
          <a:bodyPr>
            <a:normAutofit/>
          </a:bodyPr>
          <a:lstStyle/>
          <a:p>
            <a:r>
              <a:rPr lang="en-US" altLang="zh-CN" sz="2600" dirty="0"/>
              <a:t>2.</a:t>
            </a:r>
            <a:r>
              <a:rPr lang="zh-CN" altLang="zh-CN" sz="2600" dirty="0"/>
              <a:t>网络金融交易方面</a:t>
            </a:r>
            <a:endParaRPr lang="zh-CN" altLang="zh-CN" sz="2600" dirty="0"/>
          </a:p>
          <a:p>
            <a:pPr marL="0" indent="0">
              <a:buNone/>
            </a:pPr>
            <a:endParaRPr lang="zh-CN" altLang="zh-CN" sz="2400" dirty="0"/>
          </a:p>
          <a:p>
            <a:pPr marL="0" indent="0">
              <a:buNone/>
            </a:pPr>
            <a:r>
              <a:rPr lang="zh-CN" altLang="zh-CN" sz="2800" b="1" dirty="0">
                <a:latin typeface="楷体" panose="02010609060101010101" pitchFamily="49" charset="-122"/>
                <a:ea typeface="楷体" panose="02010609060101010101" pitchFamily="49" charset="-122"/>
              </a:rPr>
              <a:t>股市动态数据挖掘</a:t>
            </a:r>
            <a:endParaRPr lang="zh-CN" altLang="zh-CN" sz="2800" b="1" dirty="0">
              <a:latin typeface="楷体" panose="02010609060101010101" pitchFamily="49" charset="-122"/>
              <a:ea typeface="楷体" panose="02010609060101010101" pitchFamily="49" charset="-122"/>
            </a:endParaRPr>
          </a:p>
          <a:p>
            <a:pPr marL="0" indent="0">
              <a:buNone/>
            </a:pPr>
            <a:r>
              <a:rPr lang="zh-CN" altLang="zh-CN" sz="2800" b="1" dirty="0">
                <a:latin typeface="楷体" panose="02010609060101010101" pitchFamily="49" charset="-122"/>
                <a:ea typeface="楷体" panose="02010609060101010101" pitchFamily="49" charset="-122"/>
              </a:rPr>
              <a:t>股市炒作检测</a:t>
            </a:r>
            <a:endParaRPr lang="zh-CN" altLang="zh-CN" sz="2800" b="1" dirty="0">
              <a:latin typeface="楷体" panose="02010609060101010101" pitchFamily="49" charset="-122"/>
              <a:ea typeface="楷体" panose="02010609060101010101" pitchFamily="49" charset="-122"/>
            </a:endParaRPr>
          </a:p>
          <a:p>
            <a:pPr marL="0" indent="0">
              <a:buNone/>
            </a:pPr>
            <a:r>
              <a:rPr lang="zh-CN" altLang="zh-CN" sz="2800" b="1" dirty="0">
                <a:latin typeface="楷体" panose="02010609060101010101" pitchFamily="49" charset="-122"/>
                <a:ea typeface="楷体" panose="02010609060101010101" pitchFamily="49" charset="-122"/>
              </a:rPr>
              <a:t>交易异常检测</a:t>
            </a:r>
            <a:endParaRPr lang="en-US" altLang="zh-CN" sz="2800" b="1" dirty="0">
              <a:latin typeface="楷体" panose="02010609060101010101" pitchFamily="49" charset="-122"/>
              <a:ea typeface="楷体" panose="02010609060101010101" pitchFamily="49" charset="-122"/>
            </a:endParaRPr>
          </a:p>
          <a:p>
            <a:pPr marL="0" indent="0">
              <a:buNone/>
            </a:pPr>
            <a:endParaRPr lang="zh-CN" altLang="zh-CN"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76148" y="580006"/>
            <a:ext cx="8915400" cy="5492319"/>
          </a:xfrm>
        </p:spPr>
        <p:txBody>
          <a:bodyPr>
            <a:normAutofit/>
          </a:bodyPr>
          <a:lstStyle/>
          <a:p>
            <a:r>
              <a:rPr lang="en-US" altLang="zh-CN" sz="2600" dirty="0"/>
              <a:t>3.</a:t>
            </a:r>
            <a:r>
              <a:rPr lang="zh-CN" altLang="zh-CN" sz="2600" dirty="0"/>
              <a:t>零售业务应用</a:t>
            </a:r>
            <a:endParaRPr lang="zh-CN" altLang="zh-CN" sz="2600" dirty="0"/>
          </a:p>
          <a:p>
            <a:pPr marL="0" indent="0">
              <a:buNone/>
            </a:pPr>
            <a:endParaRPr lang="zh-CN" altLang="zh-CN" sz="2400" dirty="0"/>
          </a:p>
          <a:p>
            <a:pPr marL="0" indent="0">
              <a:buNone/>
            </a:pPr>
            <a:r>
              <a:rPr lang="en-US" altLang="zh-CN" sz="2400" b="1" dirty="0">
                <a:latin typeface="楷体" panose="02010609060101010101" pitchFamily="49" charset="-122"/>
                <a:ea typeface="楷体" panose="02010609060101010101" pitchFamily="49" charset="-122"/>
              </a:rPr>
              <a:t>    </a:t>
            </a:r>
            <a:r>
              <a:rPr lang="zh-CN" altLang="zh-CN" sz="2400" b="1" dirty="0">
                <a:latin typeface="楷体" panose="02010609060101010101" pitchFamily="49" charset="-122"/>
                <a:ea typeface="楷体" panose="02010609060101010101" pitchFamily="49" charset="-122"/>
              </a:rPr>
              <a:t>零售业中数据挖掘的成功应用包括：</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a:t>
            </a:r>
            <a:r>
              <a:rPr lang="zh-CN" altLang="zh-CN" sz="2400" b="1" dirty="0">
                <a:latin typeface="楷体" panose="02010609060101010101" pitchFamily="49" charset="-122"/>
                <a:ea typeface="楷体" panose="02010609060101010101" pitchFamily="49" charset="-122"/>
              </a:rPr>
              <a:t>）销售、顾客、产品、时间和地区的多维分析；</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2</a:t>
            </a:r>
            <a:r>
              <a:rPr lang="zh-CN" altLang="zh-CN" sz="2400" b="1" dirty="0">
                <a:latin typeface="楷体" panose="02010609060101010101" pitchFamily="49" charset="-122"/>
                <a:ea typeface="楷体" panose="02010609060101010101" pitchFamily="49" charset="-122"/>
              </a:rPr>
              <a:t>）对促销活动有效性的分析，以此提高企业利润；</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3</a:t>
            </a:r>
            <a:r>
              <a:rPr lang="zh-CN" altLang="zh-CN" sz="2400" b="1" dirty="0">
                <a:latin typeface="楷体" panose="02010609060101010101" pitchFamily="49" charset="-122"/>
                <a:ea typeface="楷体" panose="02010609060101010101" pitchFamily="49" charset="-122"/>
              </a:rPr>
              <a:t>）对顾客忠诚度的分析，以留住老客户，吸引新客户；</a:t>
            </a:r>
            <a:endParaRPr lang="zh-CN" altLang="zh-CN" sz="2400" b="1" dirty="0">
              <a:latin typeface="楷体" panose="02010609060101010101" pitchFamily="49" charset="-122"/>
              <a:ea typeface="楷体" panose="02010609060101010101" pitchFamily="49" charset="-122"/>
            </a:endParaRPr>
          </a:p>
          <a:p>
            <a:pPr marL="0" indent="0">
              <a:buNone/>
            </a:pPr>
            <a:r>
              <a:rPr lang="zh-CN" altLang="zh-CN"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4</a:t>
            </a:r>
            <a:r>
              <a:rPr lang="zh-CN" altLang="zh-CN" sz="2400" b="1" dirty="0">
                <a:latin typeface="楷体" panose="02010609060101010101" pitchFamily="49" charset="-122"/>
                <a:ea typeface="楷体" panose="02010609060101010101" pitchFamily="49" charset="-122"/>
              </a:rPr>
              <a:t>）挖掘关联信息，以形成购买推荐和商品参照，以帮助顾客选择商品，提高销量。</a:t>
            </a:r>
            <a:endParaRPr lang="zh-CN" altLang="zh-CN" sz="2400" b="1" dirty="0">
              <a:latin typeface="楷体" panose="02010609060101010101" pitchFamily="49" charset="-122"/>
              <a:ea typeface="楷体" panose="02010609060101010101" pitchFamily="49" charset="-122"/>
            </a:endParaRPr>
          </a:p>
          <a:p>
            <a:pPr marL="0" indent="0">
              <a:buNone/>
            </a:pPr>
            <a:endParaRPr lang="zh-CN" altLang="zh-CN" sz="2400" b="1" dirty="0">
              <a:latin typeface="楷体" panose="02010609060101010101" pitchFamily="49" charset="-122"/>
              <a:ea typeface="楷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20536" y="691718"/>
            <a:ext cx="8915400" cy="5474564"/>
          </a:xfrm>
        </p:spPr>
        <p:txBody>
          <a:bodyPr>
            <a:normAutofit/>
          </a:bodyPr>
          <a:lstStyle/>
          <a:p>
            <a:r>
              <a:rPr lang="en-US" altLang="zh-CN" sz="2600" dirty="0"/>
              <a:t>4.</a:t>
            </a:r>
            <a:r>
              <a:rPr lang="zh-CN" altLang="zh-CN" sz="2600" dirty="0"/>
              <a:t>医疗电信领域应用</a:t>
            </a:r>
            <a:endParaRPr lang="zh-CN" altLang="zh-CN" sz="2600" dirty="0"/>
          </a:p>
          <a:p>
            <a:endParaRPr lang="en-US" altLang="zh-CN" sz="2400" dirty="0"/>
          </a:p>
          <a:p>
            <a:pPr marL="0" indent="0">
              <a:buNone/>
            </a:pPr>
            <a:r>
              <a:rPr lang="zh-CN" altLang="zh-CN" sz="2400" dirty="0"/>
              <a:t>医疗以及生命科学领域：</a:t>
            </a:r>
            <a:endParaRPr lang="zh-CN" altLang="zh-CN" sz="2400" dirty="0"/>
          </a:p>
          <a:p>
            <a:pPr marL="0" indent="0">
              <a:buNone/>
            </a:pPr>
            <a:r>
              <a:rPr lang="zh-CN" altLang="en-US" sz="2600" b="1" dirty="0"/>
              <a:t>药物试验</a:t>
            </a:r>
            <a:endParaRPr lang="zh-CN" altLang="en-US" sz="2600" b="1" dirty="0"/>
          </a:p>
          <a:p>
            <a:pPr marL="0" indent="0">
              <a:buNone/>
            </a:pPr>
            <a:r>
              <a:rPr lang="en-US" altLang="zh-CN" sz="2600" b="1" dirty="0"/>
              <a:t>DNA</a:t>
            </a:r>
            <a:r>
              <a:rPr lang="zh-CN" altLang="en-US" sz="2600" b="1" dirty="0"/>
              <a:t>数据分析</a:t>
            </a:r>
            <a:endParaRPr lang="zh-CN" altLang="en-US" sz="2600" b="1" dirty="0"/>
          </a:p>
          <a:p>
            <a:pPr marL="0" indent="0">
              <a:buNone/>
            </a:pPr>
            <a:r>
              <a:rPr lang="en-US" altLang="zh-CN" dirty="0">
                <a:latin typeface="楷体" panose="02010609060101010101" pitchFamily="49" charset="-122"/>
                <a:ea typeface="楷体" panose="02010609060101010101" pitchFamily="49" charset="-122"/>
              </a:rPr>
              <a:t> </a:t>
            </a:r>
            <a:endParaRPr lang="en-US" altLang="zh-CN" dirty="0">
              <a:latin typeface="楷体" panose="02010609060101010101" pitchFamily="49" charset="-122"/>
              <a:ea typeface="楷体" panose="02010609060101010101" pitchFamily="49" charset="-122"/>
            </a:endParaRPr>
          </a:p>
          <a:p>
            <a:pPr marL="0" indent="0">
              <a:buNone/>
            </a:pPr>
            <a:r>
              <a:rPr lang="zh-CN" altLang="zh-CN" sz="2400" dirty="0">
                <a:latin typeface="楷体" panose="02010609060101010101" pitchFamily="49" charset="-122"/>
                <a:ea typeface="楷体" panose="02010609060101010101" pitchFamily="49" charset="-122"/>
              </a:rPr>
              <a:t>数据挖掘在电信业的应用包括：</a:t>
            </a:r>
            <a:endParaRPr lang="zh-CN" altLang="zh-CN" sz="2400" dirty="0">
              <a:latin typeface="楷体" panose="02010609060101010101" pitchFamily="49" charset="-122"/>
              <a:ea typeface="楷体" panose="02010609060101010101" pitchFamily="49" charset="-122"/>
            </a:endParaRPr>
          </a:p>
          <a:p>
            <a:pPr marL="0" indent="0">
              <a:buNone/>
            </a:pPr>
            <a:r>
              <a:rPr lang="zh-CN" altLang="zh-CN" b="1" dirty="0">
                <a:latin typeface="楷体" panose="02010609060101010101" pitchFamily="49" charset="-122"/>
                <a:ea typeface="楷体" panose="02010609060101010101" pitchFamily="49" charset="-122"/>
              </a:rPr>
              <a:t>对电信数据的多维分析；</a:t>
            </a:r>
            <a:endParaRPr lang="zh-CN" altLang="zh-CN" b="1" dirty="0">
              <a:latin typeface="楷体" panose="02010609060101010101" pitchFamily="49" charset="-122"/>
              <a:ea typeface="楷体" panose="02010609060101010101" pitchFamily="49" charset="-122"/>
            </a:endParaRPr>
          </a:p>
          <a:p>
            <a:pPr marL="0" indent="0">
              <a:buNone/>
            </a:pPr>
            <a:r>
              <a:rPr lang="zh-CN" altLang="zh-CN" b="1" dirty="0">
                <a:latin typeface="楷体" panose="02010609060101010101" pitchFamily="49" charset="-122"/>
                <a:ea typeface="楷体" panose="02010609060101010101" pitchFamily="49" charset="-122"/>
              </a:rPr>
              <a:t>检测非典型的使用模式以寻找潜在的盗用者；</a:t>
            </a:r>
            <a:endParaRPr lang="zh-CN" altLang="zh-CN" b="1" dirty="0">
              <a:latin typeface="楷体" panose="02010609060101010101" pitchFamily="49" charset="-122"/>
              <a:ea typeface="楷体" panose="02010609060101010101" pitchFamily="49" charset="-122"/>
            </a:endParaRPr>
          </a:p>
          <a:p>
            <a:pPr marL="0" indent="0">
              <a:buNone/>
            </a:pPr>
            <a:r>
              <a:rPr lang="zh-CN" altLang="zh-CN" b="1" dirty="0">
                <a:latin typeface="楷体" panose="02010609060101010101" pitchFamily="49" charset="-122"/>
                <a:ea typeface="楷体" panose="02010609060101010101" pitchFamily="49" charset="-122"/>
              </a:rPr>
              <a:t>分析用户一系列的电信服务使用模式来改进服务；</a:t>
            </a:r>
            <a:endParaRPr lang="zh-CN" altLang="zh-CN" b="1" dirty="0">
              <a:latin typeface="楷体" panose="02010609060101010101" pitchFamily="49" charset="-122"/>
              <a:ea typeface="楷体" panose="02010609060101010101" pitchFamily="49" charset="-122"/>
            </a:endParaRPr>
          </a:p>
          <a:p>
            <a:pPr marL="0" indent="0">
              <a:buNone/>
            </a:pPr>
            <a:r>
              <a:rPr lang="zh-CN" altLang="zh-CN" b="1" dirty="0">
                <a:latin typeface="楷体" panose="02010609060101010101" pitchFamily="49" charset="-122"/>
                <a:ea typeface="楷体" panose="02010609060101010101" pitchFamily="49" charset="-122"/>
              </a:rPr>
              <a:t>搅拌分析等。</a:t>
            </a:r>
            <a:endParaRPr lang="zh-CN" altLang="zh-CN" b="1" dirty="0">
              <a:latin typeface="楷体" panose="02010609060101010101" pitchFamily="49" charset="-122"/>
              <a:ea typeface="楷体" panose="02010609060101010101" pitchFamily="49" charset="-122"/>
            </a:endParaRPr>
          </a:p>
          <a:p>
            <a:endParaRPr lang="zh-CN" altLang="en-US"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a:t>
            </a:r>
            <a:r>
              <a:rPr lang="zh-CN" altLang="zh-CN" dirty="0"/>
              <a:t>小结</a:t>
            </a:r>
            <a:br>
              <a:rPr lang="zh-CN" altLang="zh-CN" b="1" dirty="0"/>
            </a:br>
            <a:endParaRPr lang="zh-CN" altLang="en-US" dirty="0"/>
          </a:p>
        </p:txBody>
      </p:sp>
      <p:sp>
        <p:nvSpPr>
          <p:cNvPr id="3" name="内容占位符 2"/>
          <p:cNvSpPr>
            <a:spLocks noGrp="1"/>
          </p:cNvSpPr>
          <p:nvPr>
            <p:ph idx="1"/>
          </p:nvPr>
        </p:nvSpPr>
        <p:spPr/>
        <p:txBody>
          <a:bodyPr/>
          <a:lstStyle/>
          <a:p>
            <a:r>
              <a:rPr lang="zh-CN" altLang="zh-CN" sz="2400" dirty="0"/>
              <a:t> </a:t>
            </a:r>
            <a:r>
              <a:rPr lang="en-US" altLang="zh-CN" sz="2400" dirty="0"/>
              <a:t>    </a:t>
            </a:r>
            <a:r>
              <a:rPr lang="zh-CN" altLang="zh-CN" sz="2400" dirty="0">
                <a:latin typeface="楷体" panose="02010609060101010101" pitchFamily="49" charset="-122"/>
                <a:ea typeface="楷体" panose="02010609060101010101" pitchFamily="49" charset="-122"/>
              </a:rPr>
              <a:t>数据库技术已经从原始的数据处理发展到开发具有事务处理能力的数据库管理系统。进一步的发展导致越来越需要有效的数据分析、数据挖掘和数据理解工具，这种需求是各种应用（如商务管理、行政管理以及环境控制等）收集的数据爆炸性增长的必然结果。本章详细分析了数据挖掘中的一些基本概念，阐述了数据挖掘技术的历史和发展，总结了数据挖掘的内容和功能，分析了现有数据挖掘技术和工具，同时介绍了数据挖掘的应用热点。</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思考题</a:t>
            </a:r>
            <a:br>
              <a:rPr lang="zh-CN" altLang="zh-CN" b="1" dirty="0"/>
            </a:br>
            <a:endParaRPr lang="zh-CN" altLang="en-US" dirty="0"/>
          </a:p>
        </p:txBody>
      </p:sp>
      <p:sp>
        <p:nvSpPr>
          <p:cNvPr id="3" name="内容占位符 2"/>
          <p:cNvSpPr>
            <a:spLocks noGrp="1"/>
          </p:cNvSpPr>
          <p:nvPr>
            <p:ph idx="1"/>
          </p:nvPr>
        </p:nvSpPr>
        <p:spPr/>
        <p:txBody>
          <a:bodyPr>
            <a:noAutofit/>
          </a:bodyPr>
          <a:lstStyle/>
          <a:p>
            <a:pPr lvl="0"/>
            <a:r>
              <a:rPr lang="en-US" altLang="zh-CN" sz="2400" dirty="0">
                <a:latin typeface="楷体" panose="02010609060101010101" pitchFamily="49" charset="-122"/>
                <a:ea typeface="楷体" panose="02010609060101010101" pitchFamily="49" charset="-122"/>
              </a:rPr>
              <a:t>1.</a:t>
            </a:r>
            <a:r>
              <a:rPr lang="zh-CN" altLang="zh-CN" sz="2400" dirty="0">
                <a:latin typeface="楷体" panose="02010609060101010101" pitchFamily="49" charset="-122"/>
                <a:ea typeface="楷体" panose="02010609060101010101" pitchFamily="49" charset="-122"/>
              </a:rPr>
              <a:t>什么是数据挖掘？</a:t>
            </a:r>
            <a:endParaRPr lang="en-US" altLang="zh-CN" sz="2400" dirty="0">
              <a:latin typeface="楷体" panose="02010609060101010101" pitchFamily="49" charset="-122"/>
              <a:ea typeface="楷体" panose="02010609060101010101" pitchFamily="49" charset="-122"/>
            </a:endParaRPr>
          </a:p>
          <a:p>
            <a:pPr lvl="0"/>
            <a:endParaRPr lang="zh-CN" altLang="zh-CN" sz="2400" dirty="0">
              <a:latin typeface="楷体" panose="02010609060101010101" pitchFamily="49" charset="-122"/>
              <a:ea typeface="楷体" panose="02010609060101010101" pitchFamily="49" charset="-122"/>
            </a:endParaRPr>
          </a:p>
          <a:p>
            <a:pPr lvl="0"/>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简述数据挖掘所发现的最常见的五类知识。</a:t>
            </a:r>
            <a:endParaRPr lang="en-US" altLang="zh-CN" sz="2400" dirty="0">
              <a:latin typeface="楷体" panose="02010609060101010101" pitchFamily="49" charset="-122"/>
              <a:ea typeface="楷体" panose="02010609060101010101" pitchFamily="49" charset="-122"/>
            </a:endParaRPr>
          </a:p>
          <a:p>
            <a:pPr lvl="0"/>
            <a:endParaRPr lang="zh-CN" altLang="zh-CN" sz="2400" dirty="0">
              <a:latin typeface="楷体" panose="02010609060101010101" pitchFamily="49" charset="-122"/>
              <a:ea typeface="楷体" panose="02010609060101010101" pitchFamily="49" charset="-122"/>
            </a:endParaRPr>
          </a:p>
          <a:p>
            <a:pPr lvl="0"/>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定义下列数据挖掘功能：特征化、区分、关联、分类、预测、聚类、和演变分析。</a:t>
            </a:r>
            <a:endParaRPr lang="en-US" altLang="zh-CN" sz="2400" dirty="0">
              <a:latin typeface="楷体" panose="02010609060101010101" pitchFamily="49" charset="-122"/>
              <a:ea typeface="楷体" panose="02010609060101010101" pitchFamily="49" charset="-122"/>
            </a:endParaRPr>
          </a:p>
          <a:p>
            <a:pPr lvl="0"/>
            <a:endParaRPr lang="zh-CN" altLang="zh-CN" sz="2400" dirty="0">
              <a:latin typeface="楷体" panose="02010609060101010101" pitchFamily="49" charset="-122"/>
              <a:ea typeface="楷体" panose="02010609060101010101" pitchFamily="49" charset="-122"/>
            </a:endParaRPr>
          </a:p>
          <a:p>
            <a:pPr lvl="0"/>
            <a:r>
              <a:rPr lang="en-US" altLang="zh-CN" sz="2400" dirty="0">
                <a:latin typeface="楷体" panose="02010609060101010101" pitchFamily="49" charset="-122"/>
                <a:ea typeface="楷体" panose="02010609060101010101" pitchFamily="49" charset="-122"/>
              </a:rPr>
              <a:t>4.</a:t>
            </a:r>
            <a:r>
              <a:rPr lang="zh-CN" altLang="zh-CN" sz="2400" dirty="0">
                <a:latin typeface="楷体" panose="02010609060101010101" pitchFamily="49" charset="-122"/>
                <a:ea typeface="楷体" panose="02010609060101010101" pitchFamily="49" charset="-122"/>
              </a:rPr>
              <a:t>列举数据挖掘的相关技术。</a:t>
            </a:r>
            <a:endParaRPr lang="zh-CN" altLang="zh-CN" sz="2400" dirty="0">
              <a:latin typeface="楷体" panose="02010609060101010101" pitchFamily="49" charset="-122"/>
              <a:ea typeface="楷体" panose="02010609060101010101" pitchFamily="49" charset="-122"/>
            </a:endParaRPr>
          </a:p>
          <a:p>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2228,&quot;width&quot;:3395}"/>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txDef>
      <a:spPr>
        <a:noFill/>
      </a:spPr>
      <a:bodyPr wrap="square" rtlCol="0">
        <a:spAutoFit/>
      </a:bodyPr>
      <a:lstStyle>
        <a:defPPr>
          <a:defRPr lang="zh-CN" altLang="en-US" sz="2400" dirty="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6998</Words>
  <Application>WPS 演示</Application>
  <PresentationFormat>宽屏</PresentationFormat>
  <Paragraphs>278</Paragraphs>
  <Slides>32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32</vt:i4>
      </vt:variant>
    </vt:vector>
  </HeadingPairs>
  <TitlesOfParts>
    <vt:vector size="47" baseType="lpstr">
      <vt:lpstr>Arial</vt:lpstr>
      <vt:lpstr>宋体</vt:lpstr>
      <vt:lpstr>Wingdings</vt:lpstr>
      <vt:lpstr>Wingdings 3</vt:lpstr>
      <vt:lpstr>Arial</vt:lpstr>
      <vt:lpstr>楷体</vt:lpstr>
      <vt:lpstr>楷体_GB2312</vt:lpstr>
      <vt:lpstr>新宋体</vt:lpstr>
      <vt:lpstr>Tahoma</vt:lpstr>
      <vt:lpstr>幼圆</vt:lpstr>
      <vt:lpstr>Century Gothic</vt:lpstr>
      <vt:lpstr>微软雅黑</vt:lpstr>
      <vt:lpstr>Arial Unicode MS</vt:lpstr>
      <vt:lpstr>Calibri</vt:lpstr>
      <vt:lpstr>丝状</vt:lpstr>
      <vt:lpstr>数据挖掘算法原理与实现</vt:lpstr>
      <vt:lpstr>1.1 数据挖掘的概念</vt:lpstr>
      <vt:lpstr>PowerPoint 演示文稿</vt:lpstr>
      <vt:lpstr>PowerPoint 演示文稿</vt:lpstr>
      <vt:lpstr>PowerPoint 演示文稿</vt:lpstr>
      <vt:lpstr>PowerPoint 演示文稿</vt:lpstr>
      <vt:lpstr>PowerPoint 演示文稿</vt:lpstr>
      <vt:lpstr>1.2数据挖掘的历史及发展 </vt:lpstr>
      <vt:lpstr>了解：数据库系统的发展</vt:lpstr>
      <vt:lpstr>PowerPoint 演示文稿</vt:lpstr>
      <vt:lpstr>    20世纪80年代及以后资料模拟及非参统计的发展使得数据挖掘技术进入崭新的阶段，SVM、神经网络、Bootstrap法的提出，以及处理变量非线性关系的核光滑（Kernel Smoothing）法增强了数据挖掘的模式识别能力。</vt:lpstr>
      <vt:lpstr>PowerPoint 演示文稿</vt:lpstr>
      <vt:lpstr>    数据挖掘中还存在许多问题有待进一步研究，包括下列几个研究方向： </vt:lpstr>
      <vt:lpstr>1.3数据挖掘的研究内容及功能 </vt:lpstr>
      <vt:lpstr>PowerPoint 演示文稿</vt:lpstr>
      <vt:lpstr>1.3.2数据挖掘的功能 </vt:lpstr>
      <vt:lpstr>1.类/概念描述：特征化和区分 </vt:lpstr>
      <vt:lpstr>2.关联分析 </vt:lpstr>
      <vt:lpstr>3.分类和预测 </vt:lpstr>
      <vt:lpstr>PowerPoint 演示文稿</vt:lpstr>
      <vt:lpstr>4.聚类分析 </vt:lpstr>
      <vt:lpstr>6.演变分析 </vt:lpstr>
      <vt:lpstr>1.4 数据挖掘的常用技术及工具 </vt:lpstr>
      <vt:lpstr>PowerPoint 演示文稿</vt:lpstr>
      <vt:lpstr>1.4.2  数据挖掘的工具 </vt:lpstr>
      <vt:lpstr>1.5 数据挖掘的应用热点 </vt:lpstr>
      <vt:lpstr>PowerPoint 演示文稿</vt:lpstr>
      <vt:lpstr>PowerPoint 演示文稿</vt:lpstr>
      <vt:lpstr>PowerPoint 演示文稿</vt:lpstr>
      <vt:lpstr>PowerPoint 演示文稿</vt:lpstr>
      <vt:lpstr>1.6 小结 </vt:lpstr>
      <vt:lpstr>思考题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霓彩</cp:lastModifiedBy>
  <cp:revision>59</cp:revision>
  <dcterms:created xsi:type="dcterms:W3CDTF">2019-12-16T01:20:00Z</dcterms:created>
  <dcterms:modified xsi:type="dcterms:W3CDTF">2021-09-01T01:40:28Z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429601F0394C49928DD34147086776C2</vt:lpwstr>
  </property>
</Properties>
</file>