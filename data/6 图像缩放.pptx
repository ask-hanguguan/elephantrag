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328" r:id="rId4"/>
    <p:sldId id="258" r:id="rId5"/>
    <p:sldId id="331" r:id="rId6"/>
    <p:sldId id="260" r:id="rId7"/>
    <p:sldId id="261" r:id="rId9"/>
    <p:sldId id="262" r:id="rId10"/>
    <p:sldId id="263" r:id="rId11"/>
    <p:sldId id="337" r:id="rId12"/>
    <p:sldId id="259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313" r:id="rId29"/>
    <p:sldId id="314" r:id="rId30"/>
    <p:sldId id="315" r:id="rId31"/>
    <p:sldId id="316" r:id="rId32"/>
    <p:sldId id="329" r:id="rId33"/>
    <p:sldId id="289" r:id="rId34"/>
    <p:sldId id="317" r:id="rId35"/>
    <p:sldId id="318" r:id="rId36"/>
    <p:sldId id="319" r:id="rId37"/>
    <p:sldId id="320" r:id="rId38"/>
    <p:sldId id="321" r:id="rId39"/>
    <p:sldId id="322" r:id="rId40"/>
    <p:sldId id="323" r:id="rId41"/>
    <p:sldId id="290" r:id="rId42"/>
    <p:sldId id="291" r:id="rId43"/>
    <p:sldId id="292" r:id="rId44"/>
    <p:sldId id="293" r:id="rId45"/>
    <p:sldId id="294" r:id="rId46"/>
    <p:sldId id="295" r:id="rId47"/>
    <p:sldId id="307" r:id="rId48"/>
    <p:sldId id="308" r:id="rId49"/>
    <p:sldId id="300" r:id="rId50"/>
    <p:sldId id="325" r:id="rId51"/>
    <p:sldId id="326" r:id="rId52"/>
    <p:sldId id="301" r:id="rId53"/>
    <p:sldId id="330" r:id="rId54"/>
    <p:sldId id="342" r:id="rId55"/>
    <p:sldId id="341" r:id="rId56"/>
    <p:sldId id="340" r:id="rId57"/>
    <p:sldId id="339" r:id="rId58"/>
    <p:sldId id="338" r:id="rId59"/>
    <p:sldId id="343" r:id="rId60"/>
  </p:sldIdLst>
  <p:sldSz cx="12192000" cy="6858000"/>
  <p:notesSz cx="6858000" cy="9144000"/>
  <p:custDataLst>
    <p:tags r:id="rId6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8" userDrawn="1">
          <p15:clr>
            <a:srgbClr val="A4A3A4"/>
          </p15:clr>
        </p15:guide>
        <p15:guide id="2" pos="38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2" y="202"/>
      </p:cViewPr>
      <p:guideLst>
        <p:guide orient="horz" pos="2138"/>
        <p:guide pos="388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4" Type="http://schemas.openxmlformats.org/officeDocument/2006/relationships/tags" Target="tags/tag91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This sounds like a simple enough question, and video resizing has been done for years of course, mostly using these three simple techniques. Imagine we wish to display this video on a narrow screen. For the rest of the talk I will explain everything for squeezing videos horizontally, but the opposite, widening operation is essentially the same, just think of it as squeezing vertically. </a:t>
            </a:r>
            <a:endParaRPr lang="en-US" altLang="zh-TW"/>
          </a:p>
          <a:p>
            <a:endParaRPr lang="en-US" altLang="zh-TW"/>
          </a:p>
        </p:txBody>
      </p:sp>
      <p:sp>
        <p:nvSpPr>
          <p:cNvPr id="67588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21D17A75-1715-4F71-969C-5743F20819C3}" type="slidenum">
              <a:rPr lang="en-US" altLang="zh-TW" sz="1200"/>
            </a:fld>
            <a:endParaRPr lang="en-US" altLang="zh-TW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So, to squeeze this video, we can apply simple linear scaling [click] – but then the entire content is distorted.</a:t>
            </a:r>
            <a:endParaRPr lang="en-US" altLang="zh-TW"/>
          </a:p>
        </p:txBody>
      </p:sp>
      <p:sp>
        <p:nvSpPr>
          <p:cNvPr id="69636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4CA9B8B4-61B2-49ED-A2A7-99053ACFD1BB}" type="slidenum">
              <a:rPr lang="en-US" altLang="zh-TW" sz="1200"/>
            </a:fld>
            <a:endParaRPr lang="en-US" altLang="zh-TW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Another option is letterboxing, where we do not distort anything [click], but then we must add these black stripes on the sides of the image, and everything gets smaller. And we don’t take advantage of the whole screen.</a:t>
            </a:r>
            <a:endParaRPr lang="en-US" altLang="zh-TW"/>
          </a:p>
        </p:txBody>
      </p:sp>
      <p:sp>
        <p:nvSpPr>
          <p:cNvPr id="71684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F3146C86-585F-45B7-9825-5276D510F9A9}" type="slidenum">
              <a:rPr lang="en-US" altLang="zh-TW" sz="1200"/>
            </a:fld>
            <a:endParaRPr lang="en-US" altLang="zh-TW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Finally, cropping is a very common solution. [click] Cropping does not distort any shapes, but it can potentially remove important parts of the image or video if they are close to the boundaries.</a:t>
            </a:r>
            <a:endParaRPr lang="en-US" altLang="zh-TW"/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F7F46BD7-5946-425E-A6FC-9452A1C0D452}" type="slidenum">
              <a:rPr lang="en-US" altLang="zh-TW" sz="1200"/>
            </a:fld>
            <a:endParaRPr lang="en-US" altLang="zh-TW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E6F5F16-8F15-4B98-8BF0-DD055F59F649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E6F5F16-8F15-4B98-8BF0-DD055F59F649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E6F5F16-8F15-4B98-8BF0-DD055F59F649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Seam carving.</a:t>
            </a:r>
            <a:r>
              <a:rPr lang="en-US" altLang="zh-TW" baseline="0" dirty="0"/>
              <a:t> (1) compute an importance map such as gradient at each pixel and its value is ranged between (0,1). Continuous pixels along continuous lines with low energy</a:t>
            </a:r>
            <a:endParaRPr lang="en-US" altLang="zh-TW" baseline="0" dirty="0"/>
          </a:p>
          <a:p>
            <a:endParaRPr lang="en-US" altLang="zh-TW" baseline="0" dirty="0"/>
          </a:p>
          <a:p>
            <a:r>
              <a:rPr lang="en-US" altLang="zh-TW" baseline="0" dirty="0"/>
              <a:t>(2) Remove a 1D seam (continuous pixels along a seam line by line)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E6F5F16-8F15-4B98-8BF0-DD055F59F649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E6F5F16-8F15-4B98-8BF0-DD055F59F649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979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anose="020B0604020202020204" pitchFamily="34" charset="0"/>
            </a:endParaRPr>
          </a:p>
        </p:txBody>
      </p:sp>
      <p:sp>
        <p:nvSpPr>
          <p:cNvPr id="289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18F3F38-B629-4BFE-969A-827C86296078}" type="slidenum"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877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>
              <a:latin typeface="Arial" panose="020B0604020202020204" pitchFamily="34" charset="0"/>
            </a:endParaRPr>
          </a:p>
        </p:txBody>
      </p:sp>
      <p:sp>
        <p:nvSpPr>
          <p:cNvPr id="288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BEB955-E7F5-4783-8CF7-69EDFC2E5D97}" type="slidenum"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877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>
              <a:latin typeface="Arial" panose="020B0604020202020204" pitchFamily="34" charset="0"/>
            </a:endParaRPr>
          </a:p>
        </p:txBody>
      </p:sp>
      <p:sp>
        <p:nvSpPr>
          <p:cNvPr id="288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BEB955-E7F5-4783-8CF7-69EDFC2E5D97}" type="slidenum"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9C3390-DEA3-45C4-B1DA-733B7BB985F4}" type="slidenum">
              <a:rPr 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9C3390-DEA3-45C4-B1DA-733B7BB985F4}" type="slidenum">
              <a:rPr 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9C3390-DEA3-45C4-B1DA-733B7BB985F4}" type="slidenum">
              <a:rPr 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E6F5F16-8F15-4B98-8BF0-DD055F59F649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D26EE-767E-4ECC-B93A-381E986AA468}" type="slidenum">
              <a:rPr 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image" Target="../media/image4.png"/><Relationship Id="rId7" Type="http://schemas.openxmlformats.org/officeDocument/2006/relationships/tags" Target="../tags/tag72.xml"/><Relationship Id="rId6" Type="http://schemas.openxmlformats.org/officeDocument/2006/relationships/image" Target="../media/image3.png"/><Relationship Id="rId5" Type="http://schemas.openxmlformats.org/officeDocument/2006/relationships/tags" Target="../tags/tag71.xml"/><Relationship Id="rId4" Type="http://schemas.openxmlformats.org/officeDocument/2006/relationships/image" Target="../media/image2.png"/><Relationship Id="rId3" Type="http://schemas.openxmlformats.org/officeDocument/2006/relationships/tags" Target="../tags/tag70.xml"/><Relationship Id="rId2" Type="http://schemas.openxmlformats.org/officeDocument/2006/relationships/image" Target="../media/image1.png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microsoft.com/office/2007/relationships/media" Target="file:///D:\Tony-yee%20Lee%20New\China%20Graph%202010%20Talk\chinagrah_2010\BunnyCrop.wmv" TargetMode="External"/><Relationship Id="rId1" Type="http://schemas.openxmlformats.org/officeDocument/2006/relationships/video" Target="file:///D:\Tony-yee%20Lee%20New\China%20Graph%202010%20Talk\chinagrah_2010\BunnyCrop.wmv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image" Target="../media/image8.jpeg"/><Relationship Id="rId1" Type="http://schemas.openxmlformats.org/officeDocument/2006/relationships/tags" Target="../tags/tag7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emf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emf"/><Relationship Id="rId1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emf"/><Relationship Id="rId1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1.png"/><Relationship Id="rId7" Type="http://schemas.openxmlformats.org/officeDocument/2006/relationships/oleObject" Target="../embeddings/oleObject4.bin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oleObject" Target="../embeddings/oleObject3.bin"/><Relationship Id="rId2" Type="http://schemas.openxmlformats.org/officeDocument/2006/relationships/image" Target="../media/image17.png"/><Relationship Id="rId11" Type="http://schemas.openxmlformats.org/officeDocument/2006/relationships/notesSlide" Target="../notesSlides/notesSlide8.xml"/><Relationship Id="rId10" Type="http://schemas.openxmlformats.org/officeDocument/2006/relationships/vmlDrawing" Target="../drawings/vmlDrawing2.vml"/><Relationship Id="rId1" Type="http://schemas.openxmlformats.org/officeDocument/2006/relationships/oleObject" Target="../embeddings/oleObject2.bin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tags" Target="../tags/tag85.xml"/><Relationship Id="rId4" Type="http://schemas.openxmlformats.org/officeDocument/2006/relationships/image" Target="../media/image32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image" Target="../media/image32.w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35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34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31.png"/><Relationship Id="rId13" Type="http://schemas.openxmlformats.org/officeDocument/2006/relationships/notesSlide" Target="../notesSlides/notesSlide12.xml"/><Relationship Id="rId12" Type="http://schemas.openxmlformats.org/officeDocument/2006/relationships/vmlDrawing" Target="../drawings/vmlDrawing4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33.png"/><Relationship Id="rId1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vmlDrawing" Target="../drawings/vmlDrawing5.v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31.png"/><Relationship Id="rId3" Type="http://schemas.openxmlformats.org/officeDocument/2006/relationships/image" Target="../media/image37.png"/><Relationship Id="rId2" Type="http://schemas.openxmlformats.org/officeDocument/2006/relationships/image" Target="../media/image36.wmf"/><Relationship Id="rId1" Type="http://schemas.openxmlformats.org/officeDocument/2006/relationships/oleObject" Target="../embeddings/oleObject9.bin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6.wmf"/><Relationship Id="rId7" Type="http://schemas.openxmlformats.org/officeDocument/2006/relationships/oleObject" Target="../embeddings/oleObject12.bin"/><Relationship Id="rId6" Type="http://schemas.openxmlformats.org/officeDocument/2006/relationships/image" Target="../media/image39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7.png"/><Relationship Id="rId3" Type="http://schemas.openxmlformats.org/officeDocument/2006/relationships/image" Target="../media/image31.png"/><Relationship Id="rId2" Type="http://schemas.openxmlformats.org/officeDocument/2006/relationships/image" Target="../media/image38.wmf"/><Relationship Id="rId11" Type="http://schemas.openxmlformats.org/officeDocument/2006/relationships/notesSlide" Target="../notesSlides/notesSlide14.xml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10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6.wmf"/><Relationship Id="rId7" Type="http://schemas.openxmlformats.org/officeDocument/2006/relationships/oleObject" Target="../embeddings/oleObject15.bin"/><Relationship Id="rId6" Type="http://schemas.openxmlformats.org/officeDocument/2006/relationships/image" Target="../media/image39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37.png"/><Relationship Id="rId3" Type="http://schemas.openxmlformats.org/officeDocument/2006/relationships/image" Target="../media/image31.png"/><Relationship Id="rId2" Type="http://schemas.openxmlformats.org/officeDocument/2006/relationships/image" Target="../media/image38.wmf"/><Relationship Id="rId11" Type="http://schemas.openxmlformats.org/officeDocument/2006/relationships/notesSlide" Target="../notesSlides/notesSlide15.xml"/><Relationship Id="rId10" Type="http://schemas.openxmlformats.org/officeDocument/2006/relationships/vmlDrawing" Target="../drawings/vmlDrawing7.vml"/><Relationship Id="rId1" Type="http://schemas.openxmlformats.org/officeDocument/2006/relationships/oleObject" Target="../embeddings/oleObject13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jpeg"/><Relationship Id="rId1" Type="http://schemas.openxmlformats.org/officeDocument/2006/relationships/image" Target="../media/image41.jpe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5.png"/><Relationship Id="rId2" Type="http://schemas.openxmlformats.org/officeDocument/2006/relationships/image" Target="../media/image44.jpeg"/><Relationship Id="rId1" Type="http://schemas.openxmlformats.org/officeDocument/2006/relationships/image" Target="../media/image43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1" Type="http://schemas.openxmlformats.org/officeDocument/2006/relationships/tags" Target="../tags/tag90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zh-CN" dirty="0"/>
              <a:t>图像缩放</a:t>
            </a:r>
            <a:endParaRPr lang="zh-CN" alt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Resizing</a:t>
            </a:r>
            <a:endParaRPr lang="zh-CN" alt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800"/>
              <a:t>1 </a:t>
            </a:r>
            <a:r>
              <a:rPr lang="zh-CN" altLang="en-US" sz="2800"/>
              <a:t>背景介绍</a:t>
            </a:r>
            <a:endParaRPr lang="zh-CN" altLang="en-US" sz="28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/>
              <a:t>2 </a:t>
            </a:r>
            <a:r>
              <a:rPr lang="zh-CN" altLang="en-US" sz="2800"/>
              <a:t>常规图像缩放方案</a:t>
            </a:r>
            <a:endParaRPr lang="zh-CN" altLang="en-US" sz="28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/>
              <a:t>3 </a:t>
            </a:r>
            <a:r>
              <a:rPr lang="zh-CN" altLang="en-US" sz="2800">
                <a:sym typeface="+mn-ea"/>
              </a:rPr>
              <a:t>自适应图像缩放</a:t>
            </a:r>
            <a:endParaRPr lang="en-US" altLang="zh-CN" sz="280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背景</a:t>
            </a:r>
            <a:r>
              <a:rPr lang="zh-CN" altLang="en-US" dirty="0" smtClean="0"/>
              <a:t>介绍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6105254" cy="4759200"/>
          </a:xfrm>
        </p:spPr>
        <p:txBody>
          <a:bodyPr>
            <a:normAutofit/>
          </a:bodyPr>
          <a:lstStyle/>
          <a:p>
            <a:r>
              <a:rPr lang="zh-CN" altLang="en-US" sz="2800" dirty="0" smtClean="0">
                <a:solidFill>
                  <a:schemeClr val="tx1"/>
                </a:solidFill>
              </a:rPr>
              <a:t>显示设备多种</a:t>
            </a:r>
            <a:endParaRPr lang="en-US" altLang="zh-CN" sz="2800" dirty="0" smtClean="0">
              <a:solidFill>
                <a:schemeClr val="tx1"/>
              </a:solidFill>
            </a:endParaRPr>
          </a:p>
          <a:p>
            <a:r>
              <a:rPr lang="zh-CN" altLang="en-US" sz="2800" dirty="0" smtClean="0">
                <a:solidFill>
                  <a:schemeClr val="tx1"/>
                </a:solidFill>
              </a:rPr>
              <a:t>充分利用屏幕的分辨率显示图像，图像可能变形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418854" y="1940878"/>
            <a:ext cx="3970337" cy="3965885"/>
            <a:chOff x="6418854" y="1940878"/>
            <a:chExt cx="3970337" cy="3965885"/>
          </a:xfrm>
        </p:grpSpPr>
        <p:pic>
          <p:nvPicPr>
            <p:cNvPr id="62468" name="Picture 5"/>
            <p:cNvPicPr>
              <a:picLocks noChangeAspect="1" noChangeArrowheads="1"/>
            </p:cNvPicPr>
            <p:nvPr>
              <p:custDataLst>
                <p:tags r:id="rId1"/>
              </p:custDataLst>
            </p:nvPr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5997" y="1966278"/>
              <a:ext cx="542925" cy="1589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469" name="Picture 9"/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56485" y="1940878"/>
              <a:ext cx="1189037" cy="1614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470" name="Picture 10"/>
            <p:cNvPicPr>
              <a:picLocks noChangeAspect="1" noChangeArrowheads="1"/>
            </p:cNvPicPr>
            <p:nvPr>
              <p:custDataLst>
                <p:tags r:id="rId5"/>
              </p:custDataLst>
            </p:nvPr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88954" y="4462138"/>
              <a:ext cx="1900237" cy="1349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471" name="Picture 11"/>
            <p:cNvPicPr>
              <a:picLocks noChangeAspect="1" noChangeArrowheads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8854" y="3870000"/>
              <a:ext cx="1287462" cy="2036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TextBox 13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950916" y="2980985"/>
              <a:ext cx="762000" cy="490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TW" sz="1800" dirty="0"/>
                <a:t>16 : 9</a:t>
              </a:r>
              <a:endParaRPr lang="en-US" altLang="zh-TW" sz="1800" dirty="0"/>
            </a:p>
          </p:txBody>
        </p:sp>
        <p:sp>
          <p:nvSpPr>
            <p:cNvPr id="15" name="TextBox 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062585" y="3064828"/>
              <a:ext cx="633412" cy="490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TW" sz="1800"/>
                <a:t>? : ?</a:t>
              </a:r>
              <a:endParaRPr lang="en-US" altLang="zh-TW" sz="1800"/>
            </a:p>
          </p:txBody>
        </p:sp>
        <p:sp>
          <p:nvSpPr>
            <p:cNvPr id="16" name="TextBox 15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8950916" y="4941563"/>
              <a:ext cx="954088" cy="490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TW" sz="1800" dirty="0"/>
                <a:t>2.39 : 1</a:t>
              </a:r>
              <a:endParaRPr lang="en-US" altLang="zh-TW" sz="1800" dirty="0"/>
            </a:p>
          </p:txBody>
        </p:sp>
        <p:sp>
          <p:nvSpPr>
            <p:cNvPr id="17" name="TextBox 16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539586" y="4318772"/>
              <a:ext cx="633413" cy="493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TW" sz="1800" dirty="0"/>
                <a:t>4 : 3</a:t>
              </a:r>
              <a:endParaRPr lang="en-US" altLang="zh-TW" sz="1800" dirty="0"/>
            </a:p>
          </p:txBody>
        </p:sp>
      </p:grpSp>
    </p:spTree>
    <p:custDataLst>
      <p:tags r:id="rId1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39395" y="243840"/>
            <a:ext cx="11867515" cy="64598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600" b="1"/>
              <a:t>图像缩放概念</a:t>
            </a:r>
            <a:endParaRPr lang="zh-CN" altLang="en-US" sz="3600" b="1"/>
          </a:p>
          <a:p>
            <a:endParaRPr lang="zh-CN" altLang="en-US" sz="3600" b="1"/>
          </a:p>
          <a:p>
            <a:endParaRPr lang="en-US" altLang="zh-CN"/>
          </a:p>
          <a:p>
            <a:pPr indent="457200"/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图像缩放是指在不改变图像内容本质的前提下，调整图像的尺寸（宽度和高度）的过程。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它是图像几何变换的一种，通过插值计算生成新的像素点，用以放大或缩小图像。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：增加图像像素数量，使图像尺寸变大。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缩小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：减少图像像素数量，使图像尺寸变小。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缩放的关键目标是尽可能保持图像的清晰度、细节与结构一致性</a:t>
            </a:r>
            <a:r>
              <a:rPr lang="zh-CN" altLang="en-US"/>
              <a:t>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BunnyCrop.wmv">
            <a:hlinkClick r:id="" action="ppaction://media"/>
          </p:cNvPr>
          <p:cNvPicPr>
            <a:picLocks noRot="1"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6888" y="3322638"/>
            <a:ext cx="3236912" cy="238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3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>
                <a:latin typeface="A" charset="0"/>
                <a:ea typeface="PMingLiU" pitchFamily="18" charset="-120"/>
              </a:rPr>
              <a:t>2</a:t>
            </a:r>
            <a:r>
              <a:rPr lang="zh-CN" altLang="en-US">
                <a:sym typeface="+mn-ea"/>
              </a:rPr>
              <a:t>常规图像缩放方案</a:t>
            </a:r>
            <a:endParaRPr lang="en-US" dirty="0">
              <a:latin typeface="A" charset="0"/>
              <a:ea typeface="PMingLiU" pitchFamily="18" charset="-120"/>
            </a:endParaRPr>
          </a:p>
        </p:txBody>
      </p:sp>
      <p:sp>
        <p:nvSpPr>
          <p:cNvPr id="66564" name="Content Placeholder 2"/>
          <p:cNvSpPr>
            <a:spLocks noGrp="1"/>
          </p:cNvSpPr>
          <p:nvPr>
            <p:ph sz="half" idx="4294967295"/>
          </p:nvPr>
        </p:nvSpPr>
        <p:spPr>
          <a:xfrm>
            <a:off x="1981200" y="1600200"/>
            <a:ext cx="4038600" cy="4525963"/>
          </a:xfrm>
        </p:spPr>
        <p:txBody>
          <a:bodyPr>
            <a:normAutofit fontScale="97500"/>
          </a:bodyPr>
          <a:lstStyle/>
          <a:p>
            <a:r>
              <a:rPr lang="zh-CN" altLang="en-US" sz="2800" dirty="0" smtClean="0">
                <a:solidFill>
                  <a:schemeClr val="tx1"/>
                </a:solidFill>
              </a:rPr>
              <a:t>线性缩放</a:t>
            </a:r>
            <a:endParaRPr lang="en-US" altLang="zh-CN" sz="2800" dirty="0" smtClean="0">
              <a:solidFill>
                <a:schemeClr val="tx1"/>
              </a:solidFill>
            </a:endParaRPr>
          </a:p>
          <a:p>
            <a:pPr lvl="1"/>
            <a:r>
              <a:rPr lang="zh-CN" altLang="en-US" sz="2600" dirty="0" smtClean="0">
                <a:solidFill>
                  <a:schemeClr val="tx1"/>
                </a:solidFill>
              </a:rPr>
              <a:t>整个内容变形</a:t>
            </a:r>
            <a:endParaRPr lang="en-US" altLang="zh-TW" sz="2200" dirty="0">
              <a:solidFill>
                <a:schemeClr val="tx1"/>
              </a:solidFill>
            </a:endParaRPr>
          </a:p>
          <a:p>
            <a:r>
              <a:rPr lang="zh-CN" altLang="en-US" sz="2800" dirty="0" smtClean="0">
                <a:solidFill>
                  <a:schemeClr val="tx1"/>
                </a:solidFill>
              </a:rPr>
              <a:t>黑边</a:t>
            </a:r>
            <a:endParaRPr lang="en-US" altLang="zh-TW" sz="2800" dirty="0">
              <a:solidFill>
                <a:schemeClr val="tx1"/>
              </a:solidFill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</a:rPr>
              <a:t>屏幕不能被充分</a:t>
            </a:r>
            <a:r>
              <a:rPr lang="zh-CN" altLang="en-US" sz="2400" dirty="0" smtClean="0">
                <a:solidFill>
                  <a:schemeClr val="tx1"/>
                </a:solidFill>
              </a:rPr>
              <a:t>利用</a:t>
            </a:r>
            <a:endParaRPr lang="en-US" altLang="zh-TW" sz="2400" dirty="0" smtClean="0">
              <a:solidFill>
                <a:schemeClr val="tx1"/>
              </a:solidFill>
            </a:endParaRPr>
          </a:p>
          <a:p>
            <a:r>
              <a:rPr lang="zh-CN" altLang="en-US" sz="2800" dirty="0" smtClean="0">
                <a:solidFill>
                  <a:schemeClr val="tx1"/>
                </a:solidFill>
              </a:rPr>
              <a:t>裁剪</a:t>
            </a:r>
            <a:endParaRPr lang="en-US" altLang="zh-CN" sz="2800" dirty="0" smtClean="0">
              <a:solidFill>
                <a:schemeClr val="tx1"/>
              </a:solidFill>
            </a:endParaRPr>
          </a:p>
          <a:p>
            <a:pPr lvl="1"/>
            <a:r>
              <a:rPr lang="zh-CN" altLang="en-US" sz="2600" dirty="0" smtClean="0">
                <a:solidFill>
                  <a:schemeClr val="tx1"/>
                </a:solidFill>
              </a:rPr>
              <a:t>一些</a:t>
            </a:r>
            <a:r>
              <a:rPr lang="zh-CN" altLang="en-US" sz="2600" dirty="0">
                <a:solidFill>
                  <a:schemeClr val="tx1"/>
                </a:solidFill>
              </a:rPr>
              <a:t>内容被删除</a:t>
            </a:r>
            <a:endParaRPr lang="en-US" altLang="zh-TW" sz="2600" dirty="0">
              <a:solidFill>
                <a:schemeClr val="tx1"/>
              </a:solidFill>
            </a:endParaRPr>
          </a:p>
        </p:txBody>
      </p:sp>
      <p:sp>
        <p:nvSpPr>
          <p:cNvPr id="66565" name="TextBox 4"/>
          <p:cNvSpPr txBox="1">
            <a:spLocks noChangeArrowheads="1"/>
          </p:cNvSpPr>
          <p:nvPr/>
        </p:nvSpPr>
        <p:spPr bwMode="auto">
          <a:xfrm>
            <a:off x="9426575" y="6529388"/>
            <a:ext cx="1229995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1000">
                <a:sym typeface="Symbol" panose="05050102010706020507" pitchFamily="18" charset="2"/>
              </a:rPr>
              <a:t> </a:t>
            </a:r>
            <a:r>
              <a:rPr lang="en-US" altLang="zh-TW" sz="900">
                <a:latin typeface="Times New Roman" panose="02020603050405020304" pitchFamily="18" charset="0"/>
                <a:cs typeface="Times New Roman" panose="02020603050405020304" pitchFamily="18" charset="0"/>
              </a:rPr>
              <a:t>Blender Foundation</a:t>
            </a:r>
            <a:endParaRPr lang="en-US" altLang="zh-TW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6566" name="Group 20"/>
          <p:cNvGrpSpPr/>
          <p:nvPr/>
        </p:nvGrpSpPr>
        <p:grpSpPr bwMode="auto">
          <a:xfrm>
            <a:off x="6846888" y="2557463"/>
            <a:ext cx="3216275" cy="4022725"/>
            <a:chOff x="5323642" y="1918248"/>
            <a:chExt cx="3215614" cy="3017520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5323642" y="2200470"/>
              <a:ext cx="801522" cy="119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7737733" y="2200470"/>
              <a:ext cx="801523" cy="1191"/>
            </a:xfrm>
            <a:prstGeom prst="straightConnector1">
              <a:avLst/>
            </a:prstGeom>
            <a:ln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5400000">
              <a:off x="4616404" y="3427008"/>
              <a:ext cx="301752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5400000">
              <a:off x="6238495" y="3427008"/>
              <a:ext cx="301752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5323642" y="4551135"/>
              <a:ext cx="801522" cy="238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7737733" y="4551135"/>
              <a:ext cx="801523" cy="2382"/>
            </a:xfrm>
            <a:prstGeom prst="straightConnector1">
              <a:avLst/>
            </a:prstGeom>
            <a:ln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518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latin typeface="A" charset="0"/>
                <a:ea typeface="PMingLiU" pitchFamily="18" charset="-120"/>
              </a:rPr>
              <a:t>图像缩放</a:t>
            </a:r>
            <a:r>
              <a:rPr lang="en-US" altLang="zh-TW" dirty="0">
                <a:latin typeface="A" charset="0"/>
                <a:ea typeface="PMingLiU" pitchFamily="18" charset="-120"/>
              </a:rPr>
              <a:t> – </a:t>
            </a:r>
            <a:r>
              <a:rPr lang="zh-CN" altLang="en-US" dirty="0">
                <a:latin typeface="A" charset="0"/>
                <a:ea typeface="PMingLiU" pitchFamily="18" charset="-120"/>
              </a:rPr>
              <a:t>常规方案</a:t>
            </a:r>
            <a:endParaRPr lang="en-US" altLang="zh-TW" dirty="0">
              <a:latin typeface="A" charset="0"/>
              <a:ea typeface="PMingLiU" pitchFamily="18" charset="-120"/>
            </a:endParaRPr>
          </a:p>
        </p:txBody>
      </p:sp>
      <p:sp>
        <p:nvSpPr>
          <p:cNvPr id="68611" name="Content Placeholder 2"/>
          <p:cNvSpPr>
            <a:spLocks noGrp="1"/>
          </p:cNvSpPr>
          <p:nvPr>
            <p:ph sz="half" idx="4294967295"/>
          </p:nvPr>
        </p:nvSpPr>
        <p:spPr>
          <a:xfrm>
            <a:off x="1981200" y="1600200"/>
            <a:ext cx="4038600" cy="4525963"/>
          </a:xfrm>
        </p:spPr>
        <p:txBody>
          <a:bodyPr>
            <a:normAutofit fontScale="97500"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线性缩放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1"/>
            <a:r>
              <a:rPr lang="zh-CN" altLang="en-US" sz="2600" dirty="0">
                <a:solidFill>
                  <a:srgbClr val="FF0000"/>
                </a:solidFill>
              </a:rPr>
              <a:t>整个内容变形</a:t>
            </a:r>
            <a:endParaRPr lang="en-US" altLang="zh-TW" sz="2200" dirty="0">
              <a:solidFill>
                <a:srgbClr val="FF0000"/>
              </a:solidFill>
            </a:endParaRPr>
          </a:p>
          <a:p>
            <a:r>
              <a:rPr lang="zh-CN" altLang="en-US" sz="2800" dirty="0">
                <a:solidFill>
                  <a:schemeClr val="tx1"/>
                </a:solidFill>
              </a:rPr>
              <a:t>黑边</a:t>
            </a:r>
            <a:endParaRPr lang="en-US" altLang="zh-TW" sz="2800" dirty="0">
              <a:solidFill>
                <a:schemeClr val="tx1"/>
              </a:solidFill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</a:rPr>
              <a:t>屏幕不能被充分利用</a:t>
            </a:r>
            <a:endParaRPr lang="en-US" altLang="zh-TW" sz="2400" dirty="0">
              <a:solidFill>
                <a:schemeClr val="tx1"/>
              </a:solidFill>
            </a:endParaRPr>
          </a:p>
          <a:p>
            <a:r>
              <a:rPr lang="zh-CN" altLang="en-US" sz="2800" dirty="0">
                <a:solidFill>
                  <a:schemeClr val="tx1"/>
                </a:solidFill>
              </a:rPr>
              <a:t>裁剪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lvl="1"/>
            <a:r>
              <a:rPr lang="zh-CN" altLang="en-US" sz="2600" dirty="0">
                <a:solidFill>
                  <a:schemeClr val="tx1"/>
                </a:solidFill>
              </a:rPr>
              <a:t>一些内容被删除</a:t>
            </a:r>
            <a:endParaRPr lang="en-US" altLang="zh-TW" sz="2600" dirty="0">
              <a:solidFill>
                <a:schemeClr val="tx1"/>
              </a:solidFill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6888" y="3332163"/>
            <a:ext cx="3225800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3" name="TextBox 4"/>
          <p:cNvSpPr txBox="1">
            <a:spLocks noChangeArrowheads="1"/>
          </p:cNvSpPr>
          <p:nvPr/>
        </p:nvSpPr>
        <p:spPr bwMode="auto">
          <a:xfrm>
            <a:off x="9426575" y="6529388"/>
            <a:ext cx="1229995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1000">
                <a:sym typeface="Symbol" panose="05050102010706020507" pitchFamily="18" charset="2"/>
              </a:rPr>
              <a:t> </a:t>
            </a:r>
            <a:r>
              <a:rPr lang="en-US" altLang="zh-TW" sz="900">
                <a:latin typeface="Times New Roman" panose="02020603050405020304" pitchFamily="18" charset="0"/>
                <a:cs typeface="Times New Roman" panose="02020603050405020304" pitchFamily="18" charset="0"/>
              </a:rPr>
              <a:t>Blender Foundation</a:t>
            </a:r>
            <a:endParaRPr lang="en-US" altLang="zh-TW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8614" name="Group 11"/>
          <p:cNvGrpSpPr/>
          <p:nvPr/>
        </p:nvGrpSpPr>
        <p:grpSpPr bwMode="auto">
          <a:xfrm>
            <a:off x="6846888" y="2557463"/>
            <a:ext cx="3216275" cy="4022725"/>
            <a:chOff x="5323642" y="1918248"/>
            <a:chExt cx="3215614" cy="3017520"/>
          </a:xfrm>
        </p:grpSpPr>
        <p:cxnSp>
          <p:nvCxnSpPr>
            <p:cNvPr id="13" name="Straight Arrow Connector 12"/>
            <p:cNvCxnSpPr/>
            <p:nvPr/>
          </p:nvCxnSpPr>
          <p:spPr>
            <a:xfrm>
              <a:off x="5323642" y="2200470"/>
              <a:ext cx="801522" cy="119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7737733" y="2200470"/>
              <a:ext cx="801523" cy="1191"/>
            </a:xfrm>
            <a:prstGeom prst="straightConnector1">
              <a:avLst/>
            </a:prstGeom>
            <a:ln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5400000">
              <a:off x="4616404" y="3427008"/>
              <a:ext cx="301752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5400000">
              <a:off x="6238495" y="3427008"/>
              <a:ext cx="301752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5323642" y="4551135"/>
              <a:ext cx="801522" cy="238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7737733" y="4551135"/>
              <a:ext cx="801523" cy="2382"/>
            </a:xfrm>
            <a:prstGeom prst="straightConnector1">
              <a:avLst/>
            </a:prstGeom>
            <a:ln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20482"/>
                                        </p:tgtEl>
                                      </p:cBhvr>
                                      <p:by x="5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650163" y="3332163"/>
            <a:ext cx="1612900" cy="24193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 altLang="zh-TW" sz="1800">
              <a:solidFill>
                <a:srgbClr val="FFFFFF"/>
              </a:solidFill>
              <a:latin typeface="Calibri" panose="020F0502020204030204" charset="0"/>
            </a:endParaRPr>
          </a:p>
        </p:txBody>
      </p:sp>
      <p:sp>
        <p:nvSpPr>
          <p:cNvPr id="70659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latin typeface="A" charset="0"/>
                <a:ea typeface="PMingLiU" pitchFamily="18" charset="-120"/>
              </a:rPr>
              <a:t>图像缩放</a:t>
            </a:r>
            <a:r>
              <a:rPr lang="en-US" altLang="zh-TW" dirty="0">
                <a:latin typeface="A" charset="0"/>
                <a:ea typeface="PMingLiU" pitchFamily="18" charset="-120"/>
              </a:rPr>
              <a:t> – </a:t>
            </a:r>
            <a:r>
              <a:rPr lang="zh-CN" altLang="en-US" dirty="0">
                <a:latin typeface="A" charset="0"/>
                <a:ea typeface="PMingLiU" pitchFamily="18" charset="-120"/>
              </a:rPr>
              <a:t>常规方案</a:t>
            </a:r>
            <a:endParaRPr lang="en-US" altLang="zh-TW" dirty="0">
              <a:latin typeface="A" charset="0"/>
              <a:ea typeface="PMingLiU" pitchFamily="18" charset="-120"/>
            </a:endParaRPr>
          </a:p>
        </p:txBody>
      </p:sp>
      <p:sp>
        <p:nvSpPr>
          <p:cNvPr id="70660" name="Content Placeholder 2"/>
          <p:cNvSpPr>
            <a:spLocks noGrp="1"/>
          </p:cNvSpPr>
          <p:nvPr>
            <p:ph sz="half" idx="4294967295"/>
          </p:nvPr>
        </p:nvSpPr>
        <p:spPr>
          <a:xfrm>
            <a:off x="1981200" y="1600200"/>
            <a:ext cx="4038600" cy="4525963"/>
          </a:xfrm>
        </p:spPr>
        <p:txBody>
          <a:bodyPr>
            <a:normAutofit fontScale="95000"/>
          </a:bodyPr>
          <a:lstStyle/>
          <a:p>
            <a:r>
              <a:rPr lang="zh-CN" altLang="en-US" sz="2800" dirty="0">
                <a:solidFill>
                  <a:schemeClr val="tx1"/>
                </a:solidFill>
              </a:rPr>
              <a:t>线性缩放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lvl="1"/>
            <a:r>
              <a:rPr lang="zh-CN" altLang="en-US" sz="2600" dirty="0">
                <a:solidFill>
                  <a:schemeClr val="tx1"/>
                </a:solidFill>
              </a:rPr>
              <a:t>整个内容变形</a:t>
            </a:r>
            <a:endParaRPr lang="en-US" altLang="zh-TW" sz="2200" dirty="0">
              <a:solidFill>
                <a:schemeClr val="tx1"/>
              </a:solidFill>
            </a:endParaRPr>
          </a:p>
          <a:p>
            <a:r>
              <a:rPr lang="zh-CN" altLang="en-US" sz="2800" dirty="0">
                <a:solidFill>
                  <a:srgbClr val="FF0000"/>
                </a:solidFill>
              </a:rPr>
              <a:t>黑边</a:t>
            </a:r>
            <a:endParaRPr lang="en-US" altLang="zh-TW" sz="2800" dirty="0">
              <a:solidFill>
                <a:srgbClr val="FF0000"/>
              </a:solidFill>
            </a:endParaRPr>
          </a:p>
          <a:p>
            <a:pPr lvl="1"/>
            <a:r>
              <a:rPr lang="zh-CN" altLang="en-US" sz="2400" dirty="0">
                <a:solidFill>
                  <a:srgbClr val="FF0000"/>
                </a:solidFill>
              </a:rPr>
              <a:t>屏幕不能被充分利用</a:t>
            </a:r>
            <a:endParaRPr lang="en-US" altLang="zh-TW" sz="2400" dirty="0">
              <a:solidFill>
                <a:srgbClr val="FF0000"/>
              </a:solidFill>
            </a:endParaRPr>
          </a:p>
          <a:p>
            <a:r>
              <a:rPr lang="zh-CN" altLang="en-US" sz="2800" dirty="0">
                <a:solidFill>
                  <a:schemeClr val="tx1"/>
                </a:solidFill>
              </a:rPr>
              <a:t>裁剪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lvl="1"/>
            <a:r>
              <a:rPr lang="zh-CN" altLang="en-US" sz="2600" dirty="0">
                <a:solidFill>
                  <a:schemeClr val="tx1"/>
                </a:solidFill>
              </a:rPr>
              <a:t>一些内容被删除</a:t>
            </a:r>
            <a:endParaRPr lang="en-US" altLang="zh-TW" sz="2600" dirty="0">
              <a:solidFill>
                <a:schemeClr val="tx1"/>
              </a:solidFill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6888" y="3332163"/>
            <a:ext cx="3225800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2" name="TextBox 6"/>
          <p:cNvSpPr txBox="1">
            <a:spLocks noChangeArrowheads="1"/>
          </p:cNvSpPr>
          <p:nvPr/>
        </p:nvSpPr>
        <p:spPr bwMode="auto">
          <a:xfrm>
            <a:off x="9426575" y="6529388"/>
            <a:ext cx="1229995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1000">
                <a:sym typeface="Symbol" panose="05050102010706020507" pitchFamily="18" charset="2"/>
              </a:rPr>
              <a:t> </a:t>
            </a:r>
            <a:r>
              <a:rPr lang="en-US" altLang="zh-TW" sz="900">
                <a:latin typeface="Times New Roman" panose="02020603050405020304" pitchFamily="18" charset="0"/>
                <a:cs typeface="Times New Roman" panose="02020603050405020304" pitchFamily="18" charset="0"/>
              </a:rPr>
              <a:t>Blender Foundation</a:t>
            </a:r>
            <a:endParaRPr lang="en-US" altLang="zh-TW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0663" name="Group 13"/>
          <p:cNvGrpSpPr/>
          <p:nvPr/>
        </p:nvGrpSpPr>
        <p:grpSpPr bwMode="auto">
          <a:xfrm>
            <a:off x="6846888" y="2557463"/>
            <a:ext cx="3216275" cy="4022725"/>
            <a:chOff x="5323642" y="1918248"/>
            <a:chExt cx="3215614" cy="3017520"/>
          </a:xfrm>
        </p:grpSpPr>
        <p:cxnSp>
          <p:nvCxnSpPr>
            <p:cNvPr id="15" name="Straight Arrow Connector 14"/>
            <p:cNvCxnSpPr/>
            <p:nvPr/>
          </p:nvCxnSpPr>
          <p:spPr>
            <a:xfrm>
              <a:off x="5323642" y="2200470"/>
              <a:ext cx="801522" cy="119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7737733" y="2200470"/>
              <a:ext cx="801523" cy="1191"/>
            </a:xfrm>
            <a:prstGeom prst="straightConnector1">
              <a:avLst/>
            </a:prstGeom>
            <a:ln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>
              <a:off x="4616404" y="3427008"/>
              <a:ext cx="301752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5400000">
              <a:off x="6238495" y="3427008"/>
              <a:ext cx="301752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5323642" y="4551135"/>
              <a:ext cx="801522" cy="238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7737733" y="4551135"/>
              <a:ext cx="801523" cy="2382"/>
            </a:xfrm>
            <a:prstGeom prst="straightConnector1">
              <a:avLst/>
            </a:prstGeom>
            <a:ln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20482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latin typeface="A" charset="0"/>
                <a:ea typeface="PMingLiU" pitchFamily="18" charset="-120"/>
              </a:rPr>
              <a:t>图像缩放</a:t>
            </a:r>
            <a:r>
              <a:rPr lang="en-US" altLang="zh-TW" dirty="0">
                <a:latin typeface="A" charset="0"/>
                <a:ea typeface="PMingLiU" pitchFamily="18" charset="-120"/>
              </a:rPr>
              <a:t> – </a:t>
            </a:r>
            <a:r>
              <a:rPr lang="zh-CN" altLang="en-US" dirty="0">
                <a:latin typeface="A" charset="0"/>
                <a:ea typeface="PMingLiU" pitchFamily="18" charset="-120"/>
              </a:rPr>
              <a:t>常规方案</a:t>
            </a:r>
            <a:endParaRPr lang="en-US" altLang="zh-TW" dirty="0">
              <a:latin typeface="A" charset="0"/>
              <a:ea typeface="PMingLiU" pitchFamily="18" charset="-120"/>
            </a:endParaRPr>
          </a:p>
        </p:txBody>
      </p:sp>
      <p:sp>
        <p:nvSpPr>
          <p:cNvPr id="72707" name="Content Placeholder 2"/>
          <p:cNvSpPr>
            <a:spLocks noGrp="1"/>
          </p:cNvSpPr>
          <p:nvPr>
            <p:ph sz="half" idx="4294967295"/>
          </p:nvPr>
        </p:nvSpPr>
        <p:spPr>
          <a:xfrm>
            <a:off x="1981200" y="1600200"/>
            <a:ext cx="4038600" cy="4525963"/>
          </a:xfrm>
        </p:spPr>
        <p:txBody>
          <a:bodyPr>
            <a:normAutofit fontScale="95000"/>
          </a:bodyPr>
          <a:lstStyle/>
          <a:p>
            <a:r>
              <a:rPr lang="zh-CN" altLang="en-US" sz="2800" dirty="0">
                <a:solidFill>
                  <a:schemeClr val="tx1"/>
                </a:solidFill>
              </a:rPr>
              <a:t>线性缩放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lvl="1"/>
            <a:r>
              <a:rPr lang="zh-CN" altLang="en-US" sz="2600" dirty="0">
                <a:solidFill>
                  <a:schemeClr val="tx1"/>
                </a:solidFill>
              </a:rPr>
              <a:t>整个内容变形</a:t>
            </a:r>
            <a:endParaRPr lang="en-US" altLang="zh-TW" sz="2200" dirty="0">
              <a:solidFill>
                <a:schemeClr val="tx1"/>
              </a:solidFill>
            </a:endParaRPr>
          </a:p>
          <a:p>
            <a:r>
              <a:rPr lang="zh-CN" altLang="en-US" sz="2800" dirty="0">
                <a:solidFill>
                  <a:schemeClr val="tx1"/>
                </a:solidFill>
              </a:rPr>
              <a:t>黑边</a:t>
            </a:r>
            <a:endParaRPr lang="en-US" altLang="zh-TW" sz="2800" dirty="0">
              <a:solidFill>
                <a:schemeClr val="tx1"/>
              </a:solidFill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</a:rPr>
              <a:t>屏幕不能被充分利用</a:t>
            </a:r>
            <a:endParaRPr lang="en-US" altLang="zh-TW" sz="2400" dirty="0">
              <a:solidFill>
                <a:schemeClr val="tx1"/>
              </a:solidFill>
            </a:endParaRPr>
          </a:p>
          <a:p>
            <a:r>
              <a:rPr lang="zh-CN" altLang="en-US" sz="2800" dirty="0">
                <a:solidFill>
                  <a:srgbClr val="FF0000"/>
                </a:solidFill>
              </a:rPr>
              <a:t>裁剪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1"/>
            <a:r>
              <a:rPr lang="zh-CN" altLang="en-US" sz="2600" dirty="0">
                <a:solidFill>
                  <a:srgbClr val="FF0000"/>
                </a:solidFill>
              </a:rPr>
              <a:t>一些内容被</a:t>
            </a:r>
            <a:r>
              <a:rPr lang="zh-CN" altLang="en-US" sz="2600" dirty="0" smtClean="0">
                <a:solidFill>
                  <a:srgbClr val="FF0000"/>
                </a:solidFill>
              </a:rPr>
              <a:t>删除</a:t>
            </a:r>
            <a:endParaRPr lang="en-US" altLang="zh-CN" sz="2600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sz="2600" dirty="0" smtClean="0">
                <a:solidFill>
                  <a:srgbClr val="FF0000"/>
                </a:solidFill>
              </a:rPr>
              <a:t>可能丢失重要的内容</a:t>
            </a:r>
            <a:endParaRPr lang="en-US" altLang="zh-TW" sz="2600" dirty="0">
              <a:solidFill>
                <a:srgbClr val="FF0000"/>
              </a:solidFill>
            </a:endParaRPr>
          </a:p>
        </p:txBody>
      </p:sp>
      <p:pic>
        <p:nvPicPr>
          <p:cNvPr id="7270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6888" y="3332163"/>
            <a:ext cx="3225800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6846888" y="3027363"/>
            <a:ext cx="801687" cy="2724150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 altLang="zh-TW" sz="1800">
              <a:solidFill>
                <a:srgbClr val="FFFFFF"/>
              </a:solidFill>
              <a:latin typeface="Calibri" panose="020F050202020403020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271000" y="3027363"/>
            <a:ext cx="801688" cy="2724150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 altLang="zh-TW" sz="1800">
              <a:solidFill>
                <a:srgbClr val="FFFFFF"/>
              </a:solidFill>
              <a:latin typeface="Calibri" panose="020F0502020204030204" charset="0"/>
            </a:endParaRPr>
          </a:p>
        </p:txBody>
      </p:sp>
      <p:sp>
        <p:nvSpPr>
          <p:cNvPr id="72711" name="TextBox 6"/>
          <p:cNvSpPr txBox="1">
            <a:spLocks noChangeArrowheads="1"/>
          </p:cNvSpPr>
          <p:nvPr/>
        </p:nvSpPr>
        <p:spPr bwMode="auto">
          <a:xfrm>
            <a:off x="9426575" y="6529388"/>
            <a:ext cx="1229995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1000">
                <a:sym typeface="Symbol" panose="05050102010706020507" pitchFamily="18" charset="2"/>
              </a:rPr>
              <a:t> </a:t>
            </a:r>
            <a:r>
              <a:rPr lang="en-US" altLang="zh-TW" sz="900">
                <a:latin typeface="Times New Roman" panose="02020603050405020304" pitchFamily="18" charset="0"/>
                <a:cs typeface="Times New Roman" panose="02020603050405020304" pitchFamily="18" charset="0"/>
              </a:rPr>
              <a:t>Blender Foundation</a:t>
            </a:r>
            <a:endParaRPr lang="en-US" altLang="zh-TW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2712" name="Group 23"/>
          <p:cNvGrpSpPr/>
          <p:nvPr/>
        </p:nvGrpSpPr>
        <p:grpSpPr bwMode="auto">
          <a:xfrm>
            <a:off x="6846888" y="2557463"/>
            <a:ext cx="3216275" cy="4022725"/>
            <a:chOff x="5323642" y="1918248"/>
            <a:chExt cx="3215614" cy="3017520"/>
          </a:xfrm>
        </p:grpSpPr>
        <p:cxnSp>
          <p:nvCxnSpPr>
            <p:cNvPr id="25" name="Straight Arrow Connector 24"/>
            <p:cNvCxnSpPr/>
            <p:nvPr/>
          </p:nvCxnSpPr>
          <p:spPr>
            <a:xfrm>
              <a:off x="5323642" y="2200470"/>
              <a:ext cx="801522" cy="119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7737733" y="2200470"/>
              <a:ext cx="801523" cy="1191"/>
            </a:xfrm>
            <a:prstGeom prst="straightConnector1">
              <a:avLst/>
            </a:prstGeom>
            <a:ln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4616404" y="3427008"/>
              <a:ext cx="301752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6238495" y="3427008"/>
              <a:ext cx="301752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5323642" y="4551135"/>
              <a:ext cx="801522" cy="238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7737733" y="4551135"/>
              <a:ext cx="801523" cy="2382"/>
            </a:xfrm>
            <a:prstGeom prst="straightConnector1">
              <a:avLst/>
            </a:prstGeom>
            <a:ln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对象 5"/>
          <p:cNvGraphicFramePr/>
          <p:nvPr/>
        </p:nvGraphicFramePr>
        <p:xfrm>
          <a:off x="252095" y="2023110"/>
          <a:ext cx="11687175" cy="2811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11677650" imgH="2809875" progId="Paint.Picture">
                  <p:embed/>
                </p:oleObj>
              </mc:Choice>
              <mc:Fallback>
                <p:oleObj name="" r:id="rId1" imgW="11677650" imgH="2809875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2095" y="2023110"/>
                        <a:ext cx="11687175" cy="28117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ow do I resize an image?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0" b="60194"/>
          <a:stretch>
            <a:fillRect/>
          </a:stretch>
        </p:blipFill>
        <p:spPr bwMode="auto">
          <a:xfrm>
            <a:off x="388679" y="3223966"/>
            <a:ext cx="3779443" cy="2638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1377344" y="1042052"/>
            <a:ext cx="6096000" cy="2072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Bef>
                <a:spcPct val="20000"/>
              </a:spcBef>
              <a:buClr>
                <a:srgbClr val="FF0000"/>
              </a:buClr>
              <a:buFontTx/>
              <a:buChar char="•"/>
            </a:pPr>
            <a:r>
              <a:rPr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调整图像大小以适应新设备的尺寸</a:t>
            </a:r>
            <a:endParaRPr lang="en-US" altLang="zh-CN" sz="2800" b="1" dirty="0" smtClean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>
              <a:spcBef>
                <a:spcPct val="20000"/>
              </a:spcBef>
              <a:buClr>
                <a:srgbClr val="FF0000"/>
              </a:buClr>
              <a:buFontTx/>
              <a:buChar char="•"/>
            </a:pPr>
            <a:r>
              <a:rPr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图像内容瑕疵尽可能少</a:t>
            </a:r>
            <a:endParaRPr lang="en-US" altLang="zh-CN" sz="2800" b="1" dirty="0" smtClean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>
              <a:spcBef>
                <a:spcPct val="20000"/>
              </a:spcBef>
              <a:buClr>
                <a:srgbClr val="FF0000"/>
              </a:buClr>
              <a:buFontTx/>
              <a:buChar char="•"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新图要展现重要内容和结构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rgbClr val="FF0000"/>
              </a:buClr>
              <a:buFontTx/>
              <a:buChar char="•"/>
            </a:pPr>
            <a:r>
              <a:rPr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自适应的调整图像到各种设备</a:t>
            </a:r>
            <a:endParaRPr lang="en-US" altLang="zh-CN" sz="2800" b="1" dirty="0" smtClean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7" name="Picture 2" descr="How do I resize an image?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97" b="34441"/>
          <a:stretch>
            <a:fillRect/>
          </a:stretch>
        </p:blipFill>
        <p:spPr bwMode="auto">
          <a:xfrm>
            <a:off x="4260562" y="3893173"/>
            <a:ext cx="3779443" cy="1968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ow do I resize an image?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140" b="3664"/>
          <a:stretch>
            <a:fillRect/>
          </a:stretch>
        </p:blipFill>
        <p:spPr bwMode="auto">
          <a:xfrm>
            <a:off x="8224884" y="3496201"/>
            <a:ext cx="3779443" cy="2365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778082" y="92610"/>
            <a:ext cx="10969200" cy="705600"/>
          </a:xfrm>
        </p:spPr>
        <p:txBody>
          <a:bodyPr/>
          <a:lstStyle/>
          <a:p>
            <a:r>
              <a:rPr lang="zh-CN" altLang="en-US" dirty="0" smtClean="0"/>
              <a:t>问题描述</a:t>
            </a:r>
            <a:endParaRPr lang="zh-CN" altLang="en-US" dirty="0"/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>
          <a:xfrm>
            <a:off x="542412" y="434563"/>
            <a:ext cx="10969200" cy="705600"/>
          </a:xfrm>
        </p:spPr>
        <p:txBody>
          <a:bodyPr/>
          <a:lstStyle/>
          <a:p>
            <a:r>
              <a:rPr lang="zh-CN" altLang="en-US" dirty="0" smtClean="0"/>
              <a:t>图像缩小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229600" cy="493712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zh-CN" altLang="en-US" sz="2400" b="1" dirty="0" smtClean="0"/>
              <a:t> 四种策略减少图像宽度</a:t>
            </a:r>
            <a:endParaRPr lang="en-US" altLang="zh-TW" sz="2400" b="1" dirty="0"/>
          </a:p>
          <a:p>
            <a:pPr marL="0" indent="0">
              <a:buNone/>
              <a:defRPr/>
            </a:pPr>
            <a:r>
              <a:rPr lang="en-US" altLang="zh-TW" sz="2400" b="1" dirty="0" smtClean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en-US" altLang="zh-CN" sz="2400" b="1" dirty="0" smtClean="0">
                <a:solidFill>
                  <a:srgbClr val="FF0000"/>
                </a:solidFill>
                <a:latin typeface="+mj-ea"/>
                <a:ea typeface="+mj-ea"/>
              </a:rPr>
              <a:t>b</a:t>
            </a:r>
            <a:r>
              <a:rPr lang="en-US" altLang="zh-TW" sz="2400" b="1" dirty="0" smtClean="0">
                <a:solidFill>
                  <a:srgbClr val="FF0000"/>
                </a:solidFill>
                <a:latin typeface="+mj-ea"/>
                <a:ea typeface="+mj-ea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选择</a:t>
            </a:r>
            <a:r>
              <a:rPr lang="zh-TW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最高</a:t>
            </a:r>
            <a:r>
              <a:rPr lang="zh-TW" altLang="en-US" sz="2400" b="1" dirty="0" smtClean="0">
                <a:solidFill>
                  <a:srgbClr val="FF0000"/>
                </a:solidFill>
                <a:latin typeface="+mj-ea"/>
                <a:ea typeface="+mj-ea"/>
              </a:rPr>
              <a:t>能量的子</a:t>
            </a:r>
            <a:r>
              <a:rPr lang="zh-CN" altLang="en-US" sz="2400" b="1" dirty="0" smtClean="0">
                <a:solidFill>
                  <a:srgbClr val="FF0000"/>
                </a:solidFill>
                <a:latin typeface="+mj-ea"/>
                <a:ea typeface="+mj-ea"/>
              </a:rPr>
              <a:t>视窗</a:t>
            </a:r>
            <a:r>
              <a:rPr lang="zh-TW" altLang="en-US" sz="2400" b="1" dirty="0" smtClean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zh-TW" sz="2400" b="1" dirty="0" smtClean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zh-CN" altLang="en-US" sz="2400" b="1" dirty="0" smtClean="0">
                <a:solidFill>
                  <a:srgbClr val="FF0000"/>
                </a:solidFill>
                <a:latin typeface="+mj-ea"/>
                <a:ea typeface="+mj-ea"/>
              </a:rPr>
              <a:t>裁剪</a:t>
            </a:r>
            <a:r>
              <a:rPr lang="en-US" altLang="zh-TW" sz="2400" b="1" dirty="0" smtClean="0">
                <a:solidFill>
                  <a:srgbClr val="FF0000"/>
                </a:solidFill>
                <a:latin typeface="+mj-ea"/>
                <a:ea typeface="+mj-ea"/>
              </a:rPr>
              <a:t>)</a:t>
            </a:r>
            <a:endParaRPr lang="en-US" altLang="zh-TW" sz="24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0" indent="0">
              <a:buNone/>
              <a:defRPr/>
            </a:pPr>
            <a:r>
              <a:rPr lang="en-US" altLang="zh-TW" sz="2400" b="1" dirty="0" smtClean="0"/>
              <a:t>(c)</a:t>
            </a:r>
            <a:r>
              <a:rPr lang="zh-TW" altLang="en-US" sz="2400" b="1" dirty="0">
                <a:latin typeface="+mj-ea"/>
                <a:ea typeface="+mj-ea"/>
              </a:rPr>
              <a:t>移除</a:t>
            </a:r>
            <a:r>
              <a:rPr lang="zh-TW" altLang="en-US" sz="2400" b="1" dirty="0" smtClean="0">
                <a:latin typeface="+mj-ea"/>
                <a:ea typeface="+mj-ea"/>
              </a:rPr>
              <a:t>每</a:t>
            </a:r>
            <a:r>
              <a:rPr lang="zh-CN" altLang="en-US" sz="2400" b="1" dirty="0" smtClean="0">
                <a:latin typeface="+mj-ea"/>
                <a:ea typeface="+mj-ea"/>
              </a:rPr>
              <a:t>列</a:t>
            </a:r>
            <a:r>
              <a:rPr lang="zh-TW" altLang="en-US" sz="2400" b="1" dirty="0" smtClean="0">
                <a:latin typeface="+mj-ea"/>
                <a:ea typeface="+mj-ea"/>
              </a:rPr>
              <a:t>最低</a:t>
            </a:r>
            <a:r>
              <a:rPr lang="zh-TW" altLang="en-US" sz="2400" b="1" dirty="0">
                <a:latin typeface="+mj-ea"/>
                <a:ea typeface="+mj-ea"/>
              </a:rPr>
              <a:t>能量</a:t>
            </a:r>
            <a:endParaRPr lang="en-US" altLang="zh-TW" sz="2400" b="1" dirty="0">
              <a:latin typeface="+mj-ea"/>
              <a:ea typeface="+mj-ea"/>
            </a:endParaRPr>
          </a:p>
          <a:p>
            <a:pPr marL="0" indent="0">
              <a:buNone/>
              <a:defRPr/>
            </a:pPr>
            <a:r>
              <a:rPr lang="en-US" altLang="zh-TW" sz="2400" b="1" dirty="0" smtClean="0"/>
              <a:t>(e)</a:t>
            </a:r>
            <a:r>
              <a:rPr lang="zh-TW" altLang="en-US" sz="2400" b="1" dirty="0">
                <a:latin typeface="+mj-ea"/>
                <a:ea typeface="+mj-ea"/>
              </a:rPr>
              <a:t>每行移除</a:t>
            </a:r>
            <a:r>
              <a:rPr lang="zh-TW" altLang="en-US" sz="2400" b="1" dirty="0" smtClean="0">
                <a:latin typeface="+mj-ea"/>
                <a:ea typeface="+mj-ea"/>
              </a:rPr>
              <a:t>相同</a:t>
            </a:r>
            <a:r>
              <a:rPr lang="zh-CN" altLang="en-US" sz="2400" b="1" dirty="0" smtClean="0">
                <a:latin typeface="+mj-ea"/>
                <a:ea typeface="+mj-ea"/>
              </a:rPr>
              <a:t>数</a:t>
            </a:r>
            <a:r>
              <a:rPr lang="zh-TW" altLang="en-US" sz="2400" b="1" dirty="0" smtClean="0">
                <a:latin typeface="+mj-ea"/>
                <a:ea typeface="+mj-ea"/>
              </a:rPr>
              <a:t>的</a:t>
            </a:r>
            <a:r>
              <a:rPr lang="zh-TW" altLang="en-US" sz="2400" b="1" dirty="0">
                <a:latin typeface="+mj-ea"/>
                <a:ea typeface="+mj-ea"/>
              </a:rPr>
              <a:t>低能量</a:t>
            </a:r>
            <a:endParaRPr lang="en-US" altLang="zh-TW" sz="2400" b="1" dirty="0">
              <a:latin typeface="+mj-ea"/>
              <a:ea typeface="+mj-ea"/>
            </a:endParaRPr>
          </a:p>
          <a:p>
            <a:pPr marL="0" indent="0">
              <a:buNone/>
              <a:defRPr/>
            </a:pPr>
            <a:r>
              <a:rPr lang="en-US" altLang="zh-TW" sz="2400" b="1" dirty="0" smtClean="0"/>
              <a:t>(d)</a:t>
            </a:r>
            <a:r>
              <a:rPr lang="zh-TW" altLang="en-US" sz="2400" b="1" dirty="0" smtClean="0"/>
              <a:t> </a:t>
            </a:r>
            <a:r>
              <a:rPr lang="en-US" altLang="zh-TW" sz="2400" b="1" dirty="0" smtClean="0"/>
              <a:t>Seam</a:t>
            </a:r>
            <a:r>
              <a:rPr lang="zh-CN" altLang="en-US" sz="2400" b="1" dirty="0" smtClean="0"/>
              <a:t>移除</a:t>
            </a:r>
            <a:endParaRPr lang="en-US" altLang="zh-TW" sz="2400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16DA4-4601-478C-905B-E4BF11B8A0C9}" type="slidenum">
              <a:rPr lang="zh-TW" altLang="en-US" smtClean="0"/>
            </a:fld>
            <a:endParaRPr lang="zh-TW" altLang="en-US"/>
          </a:p>
        </p:txBody>
      </p:sp>
      <p:pic>
        <p:nvPicPr>
          <p:cNvPr id="12293" name="Picture 7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7087" y="2071881"/>
            <a:ext cx="3216275" cy="2160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324" y="4311506"/>
            <a:ext cx="7200800" cy="254649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图像</a:t>
            </a:r>
            <a:r>
              <a:rPr lang="zh-CN" altLang="en-US" dirty="0" smtClean="0"/>
              <a:t>缩小</a:t>
            </a:r>
            <a:r>
              <a:rPr lang="en-US" altLang="zh-CN" dirty="0" smtClean="0"/>
              <a:t>--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选择</a:t>
            </a:r>
            <a:r>
              <a:rPr lang="zh-TW" altLang="en-US" dirty="0">
                <a:solidFill>
                  <a:srgbClr val="FF0000"/>
                </a:solidFill>
                <a:latin typeface="+mj-ea"/>
              </a:rPr>
              <a:t>最高能量的</a:t>
            </a:r>
            <a:r>
              <a:rPr lang="zh-TW" altLang="en-US" dirty="0" smtClean="0">
                <a:solidFill>
                  <a:srgbClr val="FF0000"/>
                </a:solidFill>
                <a:latin typeface="+mj-ea"/>
              </a:rPr>
              <a:t>子</a:t>
            </a:r>
            <a:r>
              <a:rPr lang="zh-CN" altLang="en-US" dirty="0" smtClean="0">
                <a:solidFill>
                  <a:srgbClr val="FF0000"/>
                </a:solidFill>
                <a:latin typeface="+mj-ea"/>
              </a:rPr>
              <a:t>视</a:t>
            </a:r>
            <a:r>
              <a:rPr lang="zh-TW" altLang="en-US" dirty="0" smtClean="0">
                <a:solidFill>
                  <a:srgbClr val="FF0000"/>
                </a:solidFill>
                <a:latin typeface="+mj-ea"/>
              </a:rPr>
              <a:t>窗 </a:t>
            </a:r>
            <a:r>
              <a:rPr lang="en-US" altLang="zh-TW" dirty="0">
                <a:solidFill>
                  <a:srgbClr val="FF0000"/>
                </a:solidFill>
                <a:latin typeface="+mj-ea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裁剪</a:t>
            </a:r>
            <a:r>
              <a:rPr lang="en-US" altLang="zh-TW" dirty="0" smtClean="0">
                <a:solidFill>
                  <a:srgbClr val="FF0000"/>
                </a:solidFill>
                <a:latin typeface="+mj-ea"/>
              </a:rPr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16DA4-4601-478C-905B-E4BF11B8A0C9}" type="slidenum">
              <a:rPr lang="zh-TW" altLang="en-US" smtClean="0"/>
            </a:fld>
            <a:endParaRPr lang="zh-TW" altLang="en-US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912" y="1484784"/>
            <a:ext cx="7221344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423592" y="5445224"/>
          <a:ext cx="685800" cy="2838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 dirty="0">
                          <a:effectLst/>
                        </a:rPr>
                        <a:t>12.8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2354580" y="1516380"/>
            <a:ext cx="3573780" cy="3543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16DA4-4601-478C-905B-E4BF11B8A0C9}" type="slidenum">
              <a:rPr lang="zh-TW" altLang="en-US" smtClean="0"/>
            </a:fld>
            <a:endParaRPr lang="zh-TW" altLang="en-US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912" y="1484784"/>
            <a:ext cx="7221344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423592" y="5445224"/>
          <a:ext cx="685800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12.8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3075424" y="1516380"/>
            <a:ext cx="3573780" cy="3543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610000" y="5445224"/>
          <a:ext cx="685800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12.8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9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图像</a:t>
            </a:r>
            <a:r>
              <a:rPr lang="zh-CN" altLang="en-US" dirty="0" smtClean="0"/>
              <a:t>缩小</a:t>
            </a:r>
            <a:r>
              <a:rPr lang="en-US" altLang="zh-CN" dirty="0" smtClean="0"/>
              <a:t>--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选择</a:t>
            </a:r>
            <a:r>
              <a:rPr lang="zh-TW" altLang="en-US" dirty="0">
                <a:solidFill>
                  <a:srgbClr val="FF0000"/>
                </a:solidFill>
                <a:latin typeface="+mj-ea"/>
              </a:rPr>
              <a:t>最高能量的</a:t>
            </a:r>
            <a:r>
              <a:rPr lang="zh-TW" altLang="en-US" dirty="0" smtClean="0">
                <a:solidFill>
                  <a:srgbClr val="FF0000"/>
                </a:solidFill>
                <a:latin typeface="+mj-ea"/>
              </a:rPr>
              <a:t>子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视</a:t>
            </a:r>
            <a:r>
              <a:rPr lang="zh-TW" altLang="en-US" dirty="0" smtClean="0">
                <a:solidFill>
                  <a:srgbClr val="FF0000"/>
                </a:solidFill>
                <a:latin typeface="+mj-ea"/>
              </a:rPr>
              <a:t>窗 </a:t>
            </a:r>
            <a:r>
              <a:rPr lang="en-US" altLang="zh-TW" dirty="0">
                <a:solidFill>
                  <a:srgbClr val="FF0000"/>
                </a:solidFill>
                <a:latin typeface="+mj-ea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裁剪</a:t>
            </a:r>
            <a:r>
              <a:rPr lang="en-US" altLang="zh-TW" dirty="0" smtClean="0">
                <a:solidFill>
                  <a:srgbClr val="FF0000"/>
                </a:solidFill>
                <a:latin typeface="+mj-ea"/>
              </a:rPr>
              <a:t>)</a:t>
            </a:r>
            <a:endParaRPr lang="zh-TW" altLang="en-US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16DA4-4601-478C-905B-E4BF11B8A0C9}" type="slidenum">
              <a:rPr lang="zh-TW" altLang="en-US" smtClean="0"/>
            </a:fld>
            <a:endParaRPr lang="zh-TW" altLang="en-US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912" y="1484784"/>
            <a:ext cx="7221344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423592" y="5445224"/>
          <a:ext cx="685800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12.8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3795504" y="1516380"/>
            <a:ext cx="3573780" cy="3543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647728" y="5445224"/>
          <a:ext cx="685800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12.8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799856" y="5445224"/>
          <a:ext cx="685800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13.4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0" name="標題 1"/>
          <p:cNvSpPr txBox="1"/>
          <p:nvPr/>
        </p:nvSpPr>
        <p:spPr>
          <a:xfrm>
            <a:off x="734423" y="442182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/>
              <a:t>图像缩小</a:t>
            </a:r>
            <a:r>
              <a:rPr lang="en-US" altLang="zh-CN" dirty="0" smtClean="0"/>
              <a:t>--</a:t>
            </a:r>
            <a:r>
              <a:rPr lang="zh-CN" altLang="en-US" dirty="0" smtClean="0">
                <a:solidFill>
                  <a:srgbClr val="FF0000"/>
                </a:solidFill>
                <a:latin typeface="+mj-ea"/>
              </a:rPr>
              <a:t>选择</a:t>
            </a:r>
            <a:r>
              <a:rPr lang="zh-TW" altLang="en-US" dirty="0" smtClean="0">
                <a:solidFill>
                  <a:srgbClr val="FF0000"/>
                </a:solidFill>
                <a:latin typeface="+mj-ea"/>
              </a:rPr>
              <a:t>最高能量的子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视</a:t>
            </a:r>
            <a:r>
              <a:rPr lang="zh-TW" altLang="en-US" dirty="0" smtClean="0">
                <a:solidFill>
                  <a:srgbClr val="FF0000"/>
                </a:solidFill>
                <a:latin typeface="+mj-ea"/>
              </a:rPr>
              <a:t>窗 </a:t>
            </a:r>
            <a:r>
              <a:rPr lang="en-US" altLang="zh-TW" dirty="0" smtClean="0">
                <a:solidFill>
                  <a:srgbClr val="FF0000"/>
                </a:solidFill>
                <a:latin typeface="+mj-ea"/>
              </a:rPr>
              <a:t>(</a:t>
            </a:r>
            <a:r>
              <a:rPr lang="zh-CN" altLang="en-US" dirty="0" smtClean="0">
                <a:solidFill>
                  <a:srgbClr val="FF0000"/>
                </a:solidFill>
                <a:latin typeface="+mj-ea"/>
              </a:rPr>
              <a:t>裁剪</a:t>
            </a:r>
            <a:r>
              <a:rPr lang="en-US" altLang="zh-TW" dirty="0" smtClean="0">
                <a:solidFill>
                  <a:srgbClr val="FF0000"/>
                </a:solidFill>
                <a:latin typeface="+mj-ea"/>
              </a:rPr>
              <a:t>)</a:t>
            </a:r>
            <a:endParaRPr lang="zh-TW" altLang="en-US" dirty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16DA4-4601-478C-905B-E4BF11B8A0C9}" type="slidenum">
              <a:rPr lang="zh-TW" altLang="en-US" smtClean="0"/>
            </a:fld>
            <a:endParaRPr lang="zh-TW" altLang="en-US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912" y="1484784"/>
            <a:ext cx="7221344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423592" y="5445224"/>
          <a:ext cx="685800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12.8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4504536" y="1516380"/>
            <a:ext cx="3573780" cy="3543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647728" y="5445224"/>
          <a:ext cx="685800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12.8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799856" y="5445224"/>
          <a:ext cx="685800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13.4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948526" y="5445224"/>
          <a:ext cx="685800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13.1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1" name="標題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>
            <a:normAutofit/>
          </a:bodyPr>
          <a:lstStyle/>
          <a:p>
            <a:r>
              <a:rPr lang="zh-CN" altLang="en-US" dirty="0"/>
              <a:t>图像</a:t>
            </a:r>
            <a:r>
              <a:rPr lang="zh-CN" altLang="en-US" dirty="0" smtClean="0"/>
              <a:t>缩小</a:t>
            </a:r>
            <a:r>
              <a:rPr lang="en-US" altLang="zh-CN" dirty="0" smtClean="0"/>
              <a:t>--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选择</a:t>
            </a:r>
            <a:r>
              <a:rPr lang="zh-TW" altLang="en-US" dirty="0">
                <a:solidFill>
                  <a:srgbClr val="FF0000"/>
                </a:solidFill>
                <a:latin typeface="+mj-ea"/>
              </a:rPr>
              <a:t>最高能量的</a:t>
            </a:r>
            <a:r>
              <a:rPr lang="zh-TW" altLang="en-US" dirty="0" smtClean="0">
                <a:solidFill>
                  <a:srgbClr val="FF0000"/>
                </a:solidFill>
                <a:latin typeface="+mj-ea"/>
              </a:rPr>
              <a:t>子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视</a:t>
            </a:r>
            <a:r>
              <a:rPr lang="zh-TW" altLang="en-US" dirty="0" smtClean="0">
                <a:solidFill>
                  <a:srgbClr val="FF0000"/>
                </a:solidFill>
                <a:latin typeface="+mj-ea"/>
              </a:rPr>
              <a:t>窗 </a:t>
            </a:r>
            <a:r>
              <a:rPr lang="en-US" altLang="zh-TW" dirty="0">
                <a:solidFill>
                  <a:srgbClr val="FF0000"/>
                </a:solidFill>
                <a:latin typeface="+mj-ea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裁剪</a:t>
            </a:r>
            <a:r>
              <a:rPr lang="en-US" altLang="zh-TW" dirty="0" smtClean="0">
                <a:solidFill>
                  <a:srgbClr val="FF0000"/>
                </a:solidFill>
                <a:latin typeface="+mj-ea"/>
              </a:rPr>
              <a:t>)</a:t>
            </a:r>
            <a:endParaRPr lang="zh-TW" altLang="en-US" dirty="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16DA4-4601-478C-905B-E4BF11B8A0C9}" type="slidenum">
              <a:rPr lang="zh-TW" altLang="en-US" smtClean="0"/>
            </a:fld>
            <a:endParaRPr lang="zh-TW" altLang="en-US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912" y="1484784"/>
            <a:ext cx="7221344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423592" y="5445224"/>
          <a:ext cx="685800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12.8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5228044" y="1516380"/>
            <a:ext cx="3573780" cy="3543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647728" y="5445224"/>
          <a:ext cx="685800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12.8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799856" y="5445224"/>
          <a:ext cx="685800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13.4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948526" y="5445224"/>
          <a:ext cx="685800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13.1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7014934" y="5445224"/>
          <a:ext cx="685800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13.5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2" name="標題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>
            <a:normAutofit/>
          </a:bodyPr>
          <a:lstStyle/>
          <a:p>
            <a:r>
              <a:rPr lang="zh-CN" altLang="en-US" dirty="0"/>
              <a:t>图像</a:t>
            </a:r>
            <a:r>
              <a:rPr lang="zh-CN" altLang="en-US" dirty="0" smtClean="0"/>
              <a:t>缩小</a:t>
            </a:r>
            <a:r>
              <a:rPr lang="en-US" altLang="zh-CN" dirty="0" smtClean="0"/>
              <a:t>--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选择</a:t>
            </a:r>
            <a:r>
              <a:rPr lang="zh-TW" altLang="en-US" dirty="0">
                <a:solidFill>
                  <a:srgbClr val="FF0000"/>
                </a:solidFill>
                <a:latin typeface="+mj-ea"/>
              </a:rPr>
              <a:t>最高能量的</a:t>
            </a:r>
            <a:r>
              <a:rPr lang="zh-TW" altLang="en-US" dirty="0" smtClean="0">
                <a:solidFill>
                  <a:srgbClr val="FF0000"/>
                </a:solidFill>
                <a:latin typeface="+mj-ea"/>
              </a:rPr>
              <a:t>子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视</a:t>
            </a:r>
            <a:r>
              <a:rPr lang="zh-TW" altLang="en-US" dirty="0" smtClean="0">
                <a:solidFill>
                  <a:srgbClr val="FF0000"/>
                </a:solidFill>
                <a:latin typeface="+mj-ea"/>
              </a:rPr>
              <a:t>窗 </a:t>
            </a:r>
            <a:r>
              <a:rPr lang="en-US" altLang="zh-TW" dirty="0">
                <a:solidFill>
                  <a:srgbClr val="FF0000"/>
                </a:solidFill>
                <a:latin typeface="+mj-ea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裁剪</a:t>
            </a:r>
            <a:r>
              <a:rPr lang="en-US" altLang="zh-TW" dirty="0" smtClean="0">
                <a:solidFill>
                  <a:srgbClr val="FF0000"/>
                </a:solidFill>
                <a:latin typeface="+mj-ea"/>
              </a:rPr>
              <a:t>)</a:t>
            </a:r>
            <a:endParaRPr lang="zh-TW" altLang="en-US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16DA4-4601-478C-905B-E4BF11B8A0C9}" type="slidenum">
              <a:rPr lang="zh-TW" altLang="en-US" smtClean="0"/>
            </a:fld>
            <a:endParaRPr lang="zh-TW" altLang="en-US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912" y="1484784"/>
            <a:ext cx="7221344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423592" y="5445224"/>
          <a:ext cx="685800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12.8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5929456" y="1516380"/>
            <a:ext cx="3573780" cy="3543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655720" y="5445224"/>
          <a:ext cx="685800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12.8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913764" y="5445224"/>
          <a:ext cx="685800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13.4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198830" y="5445224"/>
          <a:ext cx="685800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13.1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7409254" y="5445224"/>
          <a:ext cx="685800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13.5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578552" y="5445224"/>
          <a:ext cx="685800" cy="23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500" u="none" strike="noStrike" dirty="0">
                          <a:effectLst/>
                        </a:rPr>
                        <a:t>12</a:t>
                      </a:r>
                      <a:endParaRPr lang="en-US" altLang="zh-TW" sz="15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5" name="標題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>
            <a:normAutofit/>
          </a:bodyPr>
          <a:lstStyle/>
          <a:p>
            <a:r>
              <a:rPr lang="zh-CN" altLang="en-US" dirty="0"/>
              <a:t>图像</a:t>
            </a:r>
            <a:r>
              <a:rPr lang="zh-CN" altLang="en-US" dirty="0" smtClean="0"/>
              <a:t>缩小</a:t>
            </a:r>
            <a:r>
              <a:rPr lang="en-US" altLang="zh-CN" dirty="0" smtClean="0"/>
              <a:t>--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选择</a:t>
            </a:r>
            <a:r>
              <a:rPr lang="zh-TW" altLang="en-US" dirty="0">
                <a:solidFill>
                  <a:srgbClr val="FF0000"/>
                </a:solidFill>
                <a:latin typeface="+mj-ea"/>
              </a:rPr>
              <a:t>最高能量的</a:t>
            </a:r>
            <a:r>
              <a:rPr lang="zh-TW" altLang="en-US" dirty="0" smtClean="0">
                <a:solidFill>
                  <a:srgbClr val="FF0000"/>
                </a:solidFill>
                <a:latin typeface="+mj-ea"/>
              </a:rPr>
              <a:t>子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视</a:t>
            </a:r>
            <a:r>
              <a:rPr lang="zh-TW" altLang="en-US" dirty="0" smtClean="0">
                <a:solidFill>
                  <a:srgbClr val="FF0000"/>
                </a:solidFill>
                <a:latin typeface="+mj-ea"/>
              </a:rPr>
              <a:t>窗 </a:t>
            </a:r>
            <a:r>
              <a:rPr lang="en-US" altLang="zh-TW" dirty="0">
                <a:solidFill>
                  <a:srgbClr val="FF0000"/>
                </a:solidFill>
                <a:latin typeface="+mj-ea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裁剪</a:t>
            </a:r>
            <a:r>
              <a:rPr lang="en-US" altLang="zh-TW" dirty="0" smtClean="0">
                <a:solidFill>
                  <a:srgbClr val="FF0000"/>
                </a:solidFill>
                <a:latin typeface="+mj-ea"/>
              </a:rPr>
              <a:t>)</a:t>
            </a:r>
            <a:endParaRPr lang="zh-TW" altLang="en-US" dirty="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261501" y="2279727"/>
            <a:ext cx="2700000" cy="316800"/>
          </a:xfrm>
        </p:spPr>
        <p:txBody>
          <a:bodyPr/>
          <a:lstStyle/>
          <a:p>
            <a:pPr>
              <a:defRPr/>
            </a:pPr>
            <a:fld id="{9BA16DA4-4601-478C-905B-E4BF11B8A0C9}" type="slidenum">
              <a:rPr lang="zh-TW" altLang="en-US" smtClean="0"/>
            </a:fld>
            <a:endParaRPr lang="zh-TW" altLang="en-US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449" y="1484784"/>
            <a:ext cx="7221344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4931129" y="5445224"/>
          <a:ext cx="685800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12.8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7735581" y="1516380"/>
            <a:ext cx="3573780" cy="3543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163257" y="5445224"/>
          <a:ext cx="685800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12.8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7421301" y="5445224"/>
          <a:ext cx="685800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13.4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706367" y="5445224"/>
          <a:ext cx="685800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13.1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916791" y="5445224"/>
          <a:ext cx="685800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13.5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1086089" y="5445224"/>
          <a:ext cx="685800" cy="23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500" u="none" strike="noStrike" dirty="0">
                          <a:effectLst/>
                        </a:rPr>
                        <a:t>12</a:t>
                      </a:r>
                      <a:endParaRPr lang="en-US" altLang="zh-TW" sz="15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5" name="標題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>
            <a:normAutofit/>
          </a:bodyPr>
          <a:lstStyle/>
          <a:p>
            <a:r>
              <a:rPr lang="zh-CN" altLang="en-US" dirty="0"/>
              <a:t>图像</a:t>
            </a:r>
            <a:r>
              <a:rPr lang="zh-CN" altLang="en-US" dirty="0" smtClean="0"/>
              <a:t>缩小</a:t>
            </a:r>
            <a:r>
              <a:rPr lang="en-US" altLang="zh-CN" dirty="0" smtClean="0"/>
              <a:t>--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选择</a:t>
            </a:r>
            <a:r>
              <a:rPr lang="zh-TW" altLang="en-US" dirty="0">
                <a:solidFill>
                  <a:srgbClr val="FF0000"/>
                </a:solidFill>
                <a:latin typeface="+mj-ea"/>
              </a:rPr>
              <a:t>最高能量的</a:t>
            </a:r>
            <a:r>
              <a:rPr lang="zh-TW" altLang="en-US" dirty="0" smtClean="0">
                <a:solidFill>
                  <a:srgbClr val="FF0000"/>
                </a:solidFill>
                <a:latin typeface="+mj-ea"/>
              </a:rPr>
              <a:t>子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视</a:t>
            </a:r>
            <a:r>
              <a:rPr lang="zh-TW" altLang="en-US" dirty="0" smtClean="0">
                <a:solidFill>
                  <a:srgbClr val="FF0000"/>
                </a:solidFill>
                <a:latin typeface="+mj-ea"/>
              </a:rPr>
              <a:t>窗 </a:t>
            </a:r>
            <a:r>
              <a:rPr lang="en-US" altLang="zh-TW" dirty="0">
                <a:solidFill>
                  <a:srgbClr val="FF0000"/>
                </a:solidFill>
                <a:latin typeface="+mj-ea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裁剪</a:t>
            </a:r>
            <a:r>
              <a:rPr lang="en-US" altLang="zh-TW" dirty="0" smtClean="0">
                <a:solidFill>
                  <a:srgbClr val="FF0000"/>
                </a:solidFill>
                <a:latin typeface="+mj-ea"/>
              </a:rPr>
              <a:t>)</a:t>
            </a:r>
            <a:endParaRPr lang="zh-TW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83" y="1430797"/>
            <a:ext cx="3365915" cy="2520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437" y="4091399"/>
            <a:ext cx="2023449" cy="2520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>
          <a:xfrm>
            <a:off x="608400" y="431211"/>
            <a:ext cx="10969200" cy="705600"/>
          </a:xfrm>
        </p:spPr>
        <p:txBody>
          <a:bodyPr/>
          <a:lstStyle/>
          <a:p>
            <a:r>
              <a:rPr lang="zh-CN" altLang="en-US" dirty="0"/>
              <a:t>图像缩小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229600" cy="493712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zh-CN" altLang="en-US" sz="2400" b="1" dirty="0"/>
              <a:t>四种策略减少图像</a:t>
            </a:r>
            <a:r>
              <a:rPr lang="zh-CN" altLang="en-US" sz="2400" b="1" dirty="0" smtClean="0"/>
              <a:t>宽度</a:t>
            </a:r>
            <a:endParaRPr lang="en-US" altLang="zh-TW" sz="2400" b="1" dirty="0"/>
          </a:p>
          <a:p>
            <a:pPr marL="0" indent="0">
              <a:buNone/>
              <a:defRPr/>
            </a:pPr>
            <a:r>
              <a:rPr lang="en-US" altLang="zh-TW" sz="2400" b="1" dirty="0" smtClean="0"/>
              <a:t>(</a:t>
            </a:r>
            <a:r>
              <a:rPr lang="en-US" altLang="zh-CN" sz="2400" b="1" dirty="0" smtClean="0"/>
              <a:t>b</a:t>
            </a:r>
            <a:r>
              <a:rPr lang="en-US" altLang="zh-TW" sz="2400" b="1" dirty="0" smtClean="0"/>
              <a:t>)</a:t>
            </a:r>
            <a:r>
              <a:rPr lang="zh-TW" altLang="en-US" sz="2400" b="1" dirty="0" smtClean="0">
                <a:solidFill>
                  <a:schemeClr val="tx1"/>
                </a:solidFill>
                <a:latin typeface="+mj-ea"/>
              </a:rPr>
              <a:t>最高能量的子</a:t>
            </a:r>
            <a:r>
              <a:rPr lang="zh-CN" altLang="en-US" sz="2400" b="1" dirty="0" smtClean="0">
                <a:solidFill>
                  <a:schemeClr val="tx1"/>
                </a:solidFill>
                <a:latin typeface="+mj-ea"/>
              </a:rPr>
              <a:t>视</a:t>
            </a:r>
            <a:r>
              <a:rPr lang="zh-TW" altLang="en-US" sz="2400" b="1" dirty="0" smtClean="0">
                <a:solidFill>
                  <a:schemeClr val="tx1"/>
                </a:solidFill>
                <a:latin typeface="+mj-ea"/>
              </a:rPr>
              <a:t>窗 </a:t>
            </a:r>
            <a:r>
              <a:rPr lang="en-US" altLang="zh-TW" sz="2400" b="1" dirty="0" smtClean="0">
                <a:solidFill>
                  <a:schemeClr val="tx1"/>
                </a:solidFill>
                <a:latin typeface="+mj-ea"/>
              </a:rPr>
              <a:t>(</a:t>
            </a:r>
            <a:r>
              <a:rPr lang="zh-CN" altLang="en-US" sz="2400" b="1" dirty="0" smtClean="0">
                <a:solidFill>
                  <a:schemeClr val="tx1"/>
                </a:solidFill>
                <a:latin typeface="+mj-ea"/>
              </a:rPr>
              <a:t>裁剪</a:t>
            </a:r>
            <a:r>
              <a:rPr lang="en-US" altLang="zh-TW" sz="2400" b="1" dirty="0" smtClean="0">
                <a:solidFill>
                  <a:schemeClr val="tx1"/>
                </a:solidFill>
                <a:latin typeface="+mj-ea"/>
              </a:rPr>
              <a:t>)</a:t>
            </a:r>
            <a:endParaRPr lang="en-US" altLang="zh-TW" sz="2400" b="1" dirty="0" smtClean="0">
              <a:solidFill>
                <a:schemeClr val="tx1"/>
              </a:solidFill>
              <a:latin typeface="+mj-ea"/>
            </a:endParaRPr>
          </a:p>
          <a:p>
            <a:pPr marL="0" indent="0">
              <a:buNone/>
              <a:defRPr/>
            </a:pPr>
            <a:r>
              <a:rPr lang="en-US" altLang="zh-TW" sz="2400" b="1" dirty="0" smtClean="0"/>
              <a:t>(c)</a:t>
            </a:r>
            <a:r>
              <a:rPr lang="zh-TW" altLang="en-US" sz="2400" b="1" dirty="0" smtClean="0">
                <a:solidFill>
                  <a:srgbClr val="FF0000"/>
                </a:solidFill>
                <a:latin typeface="+mj-ea"/>
              </a:rPr>
              <a:t>移除最低能量</a:t>
            </a:r>
            <a:r>
              <a:rPr lang="zh-CN" altLang="en-US" sz="2400" b="1" dirty="0" smtClean="0">
                <a:solidFill>
                  <a:srgbClr val="FF0000"/>
                </a:solidFill>
                <a:latin typeface="+mj-ea"/>
              </a:rPr>
              <a:t>列</a:t>
            </a:r>
            <a:endParaRPr lang="en-US" altLang="zh-TW" sz="2400" b="1" dirty="0" smtClean="0">
              <a:solidFill>
                <a:srgbClr val="FF0000"/>
              </a:solidFill>
              <a:latin typeface="+mj-ea"/>
            </a:endParaRPr>
          </a:p>
          <a:p>
            <a:pPr marL="0" indent="0">
              <a:buNone/>
              <a:defRPr/>
            </a:pPr>
            <a:r>
              <a:rPr lang="en-US" altLang="zh-TW" sz="2400" b="1" dirty="0" smtClean="0"/>
              <a:t>(e)</a:t>
            </a:r>
            <a:r>
              <a:rPr lang="zh-TW" altLang="en-US" sz="2400" b="1" dirty="0" smtClean="0">
                <a:latin typeface="+mj-ea"/>
              </a:rPr>
              <a:t>每行移除相同</a:t>
            </a:r>
            <a:r>
              <a:rPr lang="zh-CN" altLang="en-US" sz="2400" b="1" dirty="0" smtClean="0">
                <a:latin typeface="+mj-ea"/>
              </a:rPr>
              <a:t>数</a:t>
            </a:r>
            <a:r>
              <a:rPr lang="zh-TW" altLang="en-US" sz="2400" b="1" dirty="0" smtClean="0">
                <a:latin typeface="+mj-ea"/>
              </a:rPr>
              <a:t>的低能量</a:t>
            </a:r>
            <a:endParaRPr lang="en-US" altLang="zh-TW" sz="2400" b="1" dirty="0" smtClean="0">
              <a:latin typeface="+mj-ea"/>
            </a:endParaRPr>
          </a:p>
          <a:p>
            <a:pPr marL="0" indent="0">
              <a:buNone/>
              <a:defRPr/>
            </a:pPr>
            <a:r>
              <a:rPr lang="en-US" altLang="zh-TW" sz="2400" b="1" dirty="0" smtClean="0"/>
              <a:t>(d)</a:t>
            </a:r>
            <a:r>
              <a:rPr lang="zh-TW" altLang="en-US" sz="2400" b="1" dirty="0" smtClean="0"/>
              <a:t> </a:t>
            </a:r>
            <a:r>
              <a:rPr lang="en-US" altLang="zh-TW" sz="2400" b="1" dirty="0"/>
              <a:t>Seam</a:t>
            </a:r>
            <a:r>
              <a:rPr lang="zh-CN" altLang="en-US" sz="2400" b="1" dirty="0"/>
              <a:t>移除</a:t>
            </a:r>
            <a:endParaRPr lang="en-US" altLang="zh-TW" sz="2400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16DA4-4601-478C-905B-E4BF11B8A0C9}" type="slidenum">
              <a:rPr lang="zh-TW" altLang="en-US" smtClean="0"/>
            </a:fld>
            <a:endParaRPr lang="zh-TW" altLang="en-US"/>
          </a:p>
        </p:txBody>
      </p:sp>
      <p:pic>
        <p:nvPicPr>
          <p:cNvPr id="12293" name="Picture 7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9462" y="2082838"/>
            <a:ext cx="3216275" cy="2160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797" y="4243426"/>
            <a:ext cx="7108802" cy="253218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16DA4-4601-478C-905B-E4BF11B8A0C9}" type="slidenum">
              <a:rPr lang="zh-TW" altLang="en-US" smtClean="0"/>
            </a:fld>
            <a:endParaRPr lang="zh-TW" altLang="en-US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912" y="1484784"/>
            <a:ext cx="7221344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矩形 13"/>
          <p:cNvSpPr/>
          <p:nvPr/>
        </p:nvSpPr>
        <p:spPr>
          <a:xfrm>
            <a:off x="2354580" y="1516380"/>
            <a:ext cx="717084" cy="3543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377440" y="5343525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2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8" name="標題 1"/>
          <p:cNvSpPr txBox="1"/>
          <p:nvPr/>
        </p:nvSpPr>
        <p:spPr>
          <a:xfrm>
            <a:off x="760800" y="7608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dirty="0" smtClean="0"/>
              <a:t>图像缩小</a:t>
            </a:r>
            <a:r>
              <a:rPr lang="en-US" altLang="zh-CN" dirty="0" smtClean="0"/>
              <a:t>--</a:t>
            </a:r>
            <a:r>
              <a:rPr lang="zh-TW" altLang="en-US" dirty="0">
                <a:solidFill>
                  <a:srgbClr val="FF0000"/>
                </a:solidFill>
                <a:latin typeface="+mj-ea"/>
              </a:rPr>
              <a:t>移除最低能量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列</a:t>
            </a:r>
            <a:endParaRPr lang="en-US" altLang="zh-TW" dirty="0">
              <a:solidFill>
                <a:srgbClr val="FF0000"/>
              </a:solidFill>
              <a:latin typeface="+mj-ea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16DA4-4601-478C-905B-E4BF11B8A0C9}" type="slidenum">
              <a:rPr lang="zh-TW" altLang="en-US" smtClean="0"/>
            </a:fld>
            <a:endParaRPr lang="zh-TW" altLang="en-US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912" y="1484784"/>
            <a:ext cx="7221344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矩形 13"/>
          <p:cNvSpPr/>
          <p:nvPr/>
        </p:nvSpPr>
        <p:spPr>
          <a:xfrm>
            <a:off x="3074660" y="1516380"/>
            <a:ext cx="717084" cy="3543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377440" y="5343525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2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093720" y="5351145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2.6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9" name="標題 1"/>
          <p:cNvSpPr txBox="1"/>
          <p:nvPr/>
        </p:nvSpPr>
        <p:spPr>
          <a:xfrm>
            <a:off x="760800" y="7608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dirty="0" smtClean="0"/>
              <a:t>图像缩小</a:t>
            </a:r>
            <a:r>
              <a:rPr lang="en-US" altLang="zh-CN" dirty="0" smtClean="0"/>
              <a:t>--</a:t>
            </a:r>
            <a:r>
              <a:rPr lang="zh-TW" altLang="en-US" dirty="0">
                <a:solidFill>
                  <a:srgbClr val="FF0000"/>
                </a:solidFill>
                <a:latin typeface="+mj-ea"/>
              </a:rPr>
              <a:t>移除最低能量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列</a:t>
            </a:r>
            <a:endParaRPr lang="en-US" altLang="zh-TW" dirty="0">
              <a:solidFill>
                <a:srgbClr val="FF0000"/>
              </a:solidFill>
              <a:latin typeface="+mj-ea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16DA4-4601-478C-905B-E4BF11B8A0C9}" type="slidenum">
              <a:rPr lang="zh-TW" altLang="en-US" smtClean="0"/>
            </a:fld>
            <a:endParaRPr lang="zh-TW" altLang="en-US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912" y="1484784"/>
            <a:ext cx="7221344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矩形 13"/>
          <p:cNvSpPr/>
          <p:nvPr/>
        </p:nvSpPr>
        <p:spPr>
          <a:xfrm>
            <a:off x="3787120" y="1516380"/>
            <a:ext cx="717084" cy="3543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377440" y="5343525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2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093720" y="5351145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2.6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802380" y="5358765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3.2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0" name="標題 1"/>
          <p:cNvSpPr txBox="1"/>
          <p:nvPr/>
        </p:nvSpPr>
        <p:spPr>
          <a:xfrm>
            <a:off x="760800" y="7608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dirty="0" smtClean="0"/>
              <a:t>图像缩小</a:t>
            </a:r>
            <a:r>
              <a:rPr lang="en-US" altLang="zh-CN" dirty="0" smtClean="0"/>
              <a:t>--</a:t>
            </a:r>
            <a:r>
              <a:rPr lang="zh-TW" altLang="en-US" dirty="0">
                <a:solidFill>
                  <a:srgbClr val="FF0000"/>
                </a:solidFill>
                <a:latin typeface="+mj-ea"/>
              </a:rPr>
              <a:t>移除最低能量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列</a:t>
            </a:r>
            <a:endParaRPr lang="en-US" altLang="zh-TW" dirty="0">
              <a:solidFill>
                <a:srgbClr val="FF0000"/>
              </a:solidFill>
              <a:latin typeface="+mj-ea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图像缩小</a:t>
            </a:r>
            <a:r>
              <a:rPr lang="en-US" altLang="zh-CN" dirty="0"/>
              <a:t>--</a:t>
            </a:r>
            <a:r>
              <a:rPr lang="zh-TW" altLang="en-US" dirty="0">
                <a:solidFill>
                  <a:srgbClr val="FF0000"/>
                </a:solidFill>
                <a:latin typeface="+mj-ea"/>
              </a:rPr>
              <a:t>移除最低能量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列</a:t>
            </a:r>
            <a:endParaRPr lang="en-US" altLang="zh-TW" dirty="0">
              <a:solidFill>
                <a:srgbClr val="FF0000"/>
              </a:solidFill>
              <a:latin typeface="+mj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16DA4-4601-478C-905B-E4BF11B8A0C9}" type="slidenum">
              <a:rPr lang="zh-TW" altLang="en-US" smtClean="0"/>
            </a:fld>
            <a:endParaRPr lang="zh-TW" altLang="en-US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912" y="1484784"/>
            <a:ext cx="7221344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矩形 13"/>
          <p:cNvSpPr/>
          <p:nvPr/>
        </p:nvSpPr>
        <p:spPr>
          <a:xfrm>
            <a:off x="3787120" y="1516380"/>
            <a:ext cx="717084" cy="3543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377440" y="5343525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2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093720" y="5351145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2.6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802380" y="5358765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3.2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3" name="橢圓 2"/>
          <p:cNvSpPr/>
          <p:nvPr/>
        </p:nvSpPr>
        <p:spPr>
          <a:xfrm>
            <a:off x="5087888" y="3212976"/>
            <a:ext cx="216024" cy="21602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5906448" y="3214308"/>
            <a:ext cx="216024" cy="21602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6672064" y="3214308"/>
            <a:ext cx="216024" cy="21602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图像缩小</a:t>
            </a:r>
            <a:r>
              <a:rPr lang="en-US" altLang="zh-CN" dirty="0"/>
              <a:t>--</a:t>
            </a:r>
            <a:r>
              <a:rPr lang="zh-TW" altLang="en-US" dirty="0">
                <a:solidFill>
                  <a:srgbClr val="FF0000"/>
                </a:solidFill>
                <a:latin typeface="+mj-ea"/>
              </a:rPr>
              <a:t>移除最低能量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列</a:t>
            </a:r>
            <a:endParaRPr lang="en-US" altLang="zh-TW" dirty="0">
              <a:solidFill>
                <a:srgbClr val="FF0000"/>
              </a:solidFill>
              <a:latin typeface="+mj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16DA4-4601-478C-905B-E4BF11B8A0C9}" type="slidenum">
              <a:rPr lang="zh-TW" altLang="en-US" smtClean="0"/>
            </a:fld>
            <a:endParaRPr lang="zh-TW" altLang="en-US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912" y="1484784"/>
            <a:ext cx="7221344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矩形 13"/>
          <p:cNvSpPr/>
          <p:nvPr/>
        </p:nvSpPr>
        <p:spPr>
          <a:xfrm>
            <a:off x="8797200" y="1516380"/>
            <a:ext cx="717084" cy="3543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351584" y="5301208"/>
          <a:ext cx="716915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6915"/>
                <a:gridCol w="716915"/>
                <a:gridCol w="716915"/>
                <a:gridCol w="716915"/>
                <a:gridCol w="716915"/>
                <a:gridCol w="716915"/>
                <a:gridCol w="716915"/>
                <a:gridCol w="716915"/>
                <a:gridCol w="716915"/>
                <a:gridCol w="716915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2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>
                          <a:effectLst/>
                        </a:rPr>
                        <a:t>2.6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>
                          <a:effectLst/>
                        </a:rPr>
                        <a:t>3.2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>
                          <a:effectLst/>
                        </a:rPr>
                        <a:t>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3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>
                          <a:effectLst/>
                        </a:rPr>
                        <a:t>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>
                          <a:effectLst/>
                        </a:rPr>
                        <a:t>3.2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>
                          <a:effectLst/>
                        </a:rPr>
                        <a:t>2.9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>
                          <a:effectLst/>
                        </a:rPr>
                        <a:t>2.4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1.5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图像缩小</a:t>
            </a:r>
            <a:r>
              <a:rPr lang="en-US" altLang="zh-CN" dirty="0"/>
              <a:t>--</a:t>
            </a:r>
            <a:r>
              <a:rPr lang="zh-TW" altLang="en-US" dirty="0">
                <a:solidFill>
                  <a:srgbClr val="FF0000"/>
                </a:solidFill>
                <a:latin typeface="+mj-ea"/>
              </a:rPr>
              <a:t>移除最低能量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列</a:t>
            </a:r>
            <a:endParaRPr lang="en-US" altLang="zh-TW" dirty="0">
              <a:solidFill>
                <a:srgbClr val="FF0000"/>
              </a:solidFill>
              <a:latin typeface="+mj-ea"/>
            </a:endParaRPr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614" y="1484784"/>
            <a:ext cx="7221344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矩形 13"/>
          <p:cNvSpPr/>
          <p:nvPr/>
        </p:nvSpPr>
        <p:spPr>
          <a:xfrm>
            <a:off x="9005062" y="1516380"/>
            <a:ext cx="717084" cy="3543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708286" y="5301208"/>
          <a:ext cx="7169150" cy="2838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6915"/>
                <a:gridCol w="716915"/>
                <a:gridCol w="716915"/>
                <a:gridCol w="716915"/>
                <a:gridCol w="716915"/>
                <a:gridCol w="716915"/>
                <a:gridCol w="716915"/>
                <a:gridCol w="716915"/>
                <a:gridCol w="716915"/>
                <a:gridCol w="716915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 dirty="0">
                          <a:effectLst/>
                        </a:rPr>
                        <a:t>2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2.6</a:t>
                      </a:r>
                      <a:endParaRPr lang="en-US" altLang="zh-TW" sz="1800" b="0" i="0" u="none" strike="noStrike" dirty="0">
                        <a:solidFill>
                          <a:srgbClr val="FF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3.2</a:t>
                      </a:r>
                      <a:endParaRPr lang="en-US" altLang="zh-TW" sz="1800" b="0" i="0" u="none" strike="noStrike" dirty="0">
                        <a:solidFill>
                          <a:srgbClr val="FF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 dirty="0">
                          <a:effectLst/>
                        </a:rPr>
                        <a:t>2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en-US" altLang="zh-TW" sz="1800" b="0" i="0" u="none" strike="noStrike" dirty="0">
                        <a:solidFill>
                          <a:srgbClr val="FF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 dirty="0">
                          <a:effectLst/>
                        </a:rPr>
                        <a:t>2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3.2</a:t>
                      </a:r>
                      <a:endParaRPr lang="en-US" altLang="zh-TW" sz="1800" b="0" i="0" u="none" strike="noStrike" dirty="0">
                        <a:solidFill>
                          <a:srgbClr val="FF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2.9</a:t>
                      </a:r>
                      <a:endParaRPr lang="en-US" altLang="zh-TW" sz="1800" b="0" i="0" u="none" strike="noStrike" dirty="0">
                        <a:solidFill>
                          <a:srgbClr val="FF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dirty="0">
                          <a:solidFill>
                            <a:srgbClr val="7030A0"/>
                          </a:solidFill>
                          <a:effectLst/>
                        </a:rPr>
                        <a:t>2.4</a:t>
                      </a:r>
                      <a:endParaRPr lang="en-US" altLang="zh-TW" sz="1800" b="1" i="0" u="none" strike="noStrike" dirty="0">
                        <a:solidFill>
                          <a:srgbClr val="7030A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 dirty="0">
                          <a:effectLst/>
                        </a:rPr>
                        <a:t>1.5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PMingLiU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6140826" y="1515264"/>
            <a:ext cx="717084" cy="3543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7576362" y="1519024"/>
            <a:ext cx="717084" cy="3543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9722558" y="1515264"/>
            <a:ext cx="717084" cy="3543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5428366" y="1518692"/>
            <a:ext cx="717084" cy="3543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4716003" y="5908328"/>
            <a:ext cx="73714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缺点</a:t>
            </a:r>
            <a:r>
              <a:rPr lang="zh-CN" altLang="en-US" sz="2400" dirty="0" smtClean="0"/>
              <a:t>是在</a:t>
            </a:r>
            <a:r>
              <a:rPr lang="zh-CN" altLang="en-US" sz="2400" dirty="0"/>
              <a:t>某些删除</a:t>
            </a:r>
            <a:r>
              <a:rPr lang="zh-CN" altLang="en-US" sz="2400" dirty="0" smtClean="0"/>
              <a:t>的列上</a:t>
            </a:r>
            <a:r>
              <a:rPr lang="zh-CN" altLang="en-US" sz="2400" dirty="0"/>
              <a:t>丢失一些重要的像素，例如</a:t>
            </a:r>
            <a:r>
              <a:rPr lang="zh-CN" altLang="en-US" sz="2400" dirty="0" smtClean="0"/>
              <a:t>第二</a:t>
            </a:r>
            <a:r>
              <a:rPr lang="zh-CN" altLang="en-US" sz="2400" dirty="0"/>
              <a:t>列</a:t>
            </a:r>
            <a:r>
              <a:rPr lang="zh-CN" altLang="en-US" sz="2400" dirty="0" smtClean="0"/>
              <a:t>（能量</a:t>
            </a:r>
            <a:r>
              <a:rPr lang="en-US" altLang="zh-CN" sz="2400" dirty="0" smtClean="0"/>
              <a:t>2.4</a:t>
            </a:r>
            <a:r>
              <a:rPr lang="zh-CN" altLang="en-US" sz="2400" dirty="0"/>
              <a:t>）包含重要像素</a:t>
            </a:r>
            <a:r>
              <a:rPr lang="en-US" altLang="zh-CN" sz="2400" dirty="0"/>
              <a:t>0.8</a:t>
            </a:r>
            <a:r>
              <a:rPr lang="zh-CN" altLang="en-US" sz="2400" dirty="0"/>
              <a:t>和</a:t>
            </a:r>
            <a:r>
              <a:rPr lang="en-US" altLang="zh-CN" sz="2400" dirty="0"/>
              <a:t>0.9</a:t>
            </a:r>
            <a:r>
              <a:rPr lang="zh-CN" altLang="en-US" sz="2400" dirty="0"/>
              <a:t>。</a:t>
            </a:r>
            <a:endParaRPr lang="zh-TW" altLang="en-US" sz="2400" b="1" dirty="0">
              <a:solidFill>
                <a:srgbClr val="00B050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83" y="1430797"/>
            <a:ext cx="3365915" cy="2520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791" y="4067594"/>
            <a:ext cx="2018507" cy="2520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图像缩小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229600" cy="493712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zh-CN" altLang="en-US" sz="2400" b="1" dirty="0"/>
              <a:t>四种策略减少图像宽度</a:t>
            </a:r>
            <a:endParaRPr lang="en-US" altLang="zh-TW" sz="2400" b="1" dirty="0"/>
          </a:p>
          <a:p>
            <a:pPr marL="0" indent="0">
              <a:buNone/>
              <a:defRPr/>
            </a:pPr>
            <a:r>
              <a:rPr lang="en-US" altLang="zh-TW" sz="2400" b="1" dirty="0"/>
              <a:t>(</a:t>
            </a:r>
            <a:r>
              <a:rPr lang="en-US" altLang="zh-CN" sz="2400" b="1" dirty="0"/>
              <a:t>b</a:t>
            </a:r>
            <a:r>
              <a:rPr lang="en-US" altLang="zh-TW" sz="2400" b="1" dirty="0"/>
              <a:t>)</a:t>
            </a:r>
            <a:r>
              <a:rPr lang="zh-TW" altLang="en-US" sz="2400" b="1" dirty="0">
                <a:solidFill>
                  <a:schemeClr val="tx1"/>
                </a:solidFill>
                <a:latin typeface="+mj-ea"/>
              </a:rPr>
              <a:t>最高能量的</a:t>
            </a:r>
            <a:r>
              <a:rPr lang="zh-TW" altLang="en-US" sz="2400" b="1" dirty="0" smtClean="0">
                <a:solidFill>
                  <a:schemeClr val="tx1"/>
                </a:solidFill>
                <a:latin typeface="+mj-ea"/>
              </a:rPr>
              <a:t>子</a:t>
            </a:r>
            <a:r>
              <a:rPr lang="zh-CN" altLang="en-US" sz="2400" b="1" dirty="0" smtClean="0">
                <a:solidFill>
                  <a:schemeClr val="tx1"/>
                </a:solidFill>
                <a:latin typeface="+mj-ea"/>
              </a:rPr>
              <a:t>视</a:t>
            </a:r>
            <a:r>
              <a:rPr lang="zh-TW" altLang="en-US" sz="2400" b="1" dirty="0" smtClean="0">
                <a:solidFill>
                  <a:schemeClr val="tx1"/>
                </a:solidFill>
                <a:latin typeface="+mj-ea"/>
              </a:rPr>
              <a:t>窗 </a:t>
            </a:r>
            <a:r>
              <a:rPr lang="en-US" altLang="zh-TW" sz="2400" b="1" dirty="0">
                <a:solidFill>
                  <a:schemeClr val="tx1"/>
                </a:solidFill>
                <a:latin typeface="+mj-ea"/>
              </a:rPr>
              <a:t>(crop)</a:t>
            </a:r>
            <a:endParaRPr lang="en-US" altLang="zh-TW" sz="2400" b="1" dirty="0">
              <a:solidFill>
                <a:schemeClr val="tx1"/>
              </a:solidFill>
              <a:latin typeface="+mj-ea"/>
            </a:endParaRPr>
          </a:p>
          <a:p>
            <a:pPr marL="0" indent="0">
              <a:buNone/>
              <a:defRPr/>
            </a:pPr>
            <a:r>
              <a:rPr lang="en-US" altLang="zh-TW" sz="2400" b="1" dirty="0"/>
              <a:t>(c)</a:t>
            </a:r>
            <a:r>
              <a:rPr lang="zh-TW" altLang="en-US" sz="2400" b="1" dirty="0">
                <a:solidFill>
                  <a:schemeClr val="tx1"/>
                </a:solidFill>
                <a:latin typeface="+mj-ea"/>
              </a:rPr>
              <a:t>移除每</a:t>
            </a:r>
            <a:r>
              <a:rPr lang="zh-CN" altLang="en-US" sz="2400" b="1" dirty="0">
                <a:solidFill>
                  <a:schemeClr val="tx1"/>
                </a:solidFill>
                <a:latin typeface="+mj-ea"/>
              </a:rPr>
              <a:t>列</a:t>
            </a:r>
            <a:r>
              <a:rPr lang="zh-TW" altLang="en-US" sz="2400" b="1" dirty="0">
                <a:solidFill>
                  <a:schemeClr val="tx1"/>
                </a:solidFill>
                <a:latin typeface="+mj-ea"/>
              </a:rPr>
              <a:t>最低能量</a:t>
            </a:r>
            <a:endParaRPr lang="en-US" altLang="zh-TW" sz="2400" b="1" dirty="0">
              <a:solidFill>
                <a:schemeClr val="tx1"/>
              </a:solidFill>
              <a:latin typeface="+mj-ea"/>
            </a:endParaRPr>
          </a:p>
          <a:p>
            <a:pPr marL="0" indent="0">
              <a:buNone/>
              <a:defRPr/>
            </a:pPr>
            <a:r>
              <a:rPr lang="en-US" altLang="zh-TW" sz="2400" b="1" dirty="0" smtClean="0"/>
              <a:t>(e)</a:t>
            </a:r>
            <a:r>
              <a:rPr lang="zh-TW" altLang="en-US" sz="2400" b="1" dirty="0">
                <a:solidFill>
                  <a:srgbClr val="FF0000"/>
                </a:solidFill>
                <a:latin typeface="+mj-ea"/>
              </a:rPr>
              <a:t>每行移除</a:t>
            </a:r>
            <a:r>
              <a:rPr lang="zh-TW" altLang="en-US" sz="2400" b="1" dirty="0" smtClean="0">
                <a:solidFill>
                  <a:srgbClr val="FF0000"/>
                </a:solidFill>
                <a:latin typeface="+mj-ea"/>
              </a:rPr>
              <a:t>相同</a:t>
            </a:r>
            <a:r>
              <a:rPr lang="zh-CN" altLang="en-US" sz="2400" b="1" dirty="0" smtClean="0">
                <a:solidFill>
                  <a:srgbClr val="FF0000"/>
                </a:solidFill>
                <a:latin typeface="+mj-ea"/>
              </a:rPr>
              <a:t>数</a:t>
            </a:r>
            <a:r>
              <a:rPr lang="zh-TW" altLang="en-US" sz="2400" b="1" dirty="0" smtClean="0">
                <a:solidFill>
                  <a:srgbClr val="FF0000"/>
                </a:solidFill>
                <a:latin typeface="+mj-ea"/>
              </a:rPr>
              <a:t>的</a:t>
            </a:r>
            <a:r>
              <a:rPr lang="zh-TW" altLang="en-US" sz="2400" b="1" dirty="0">
                <a:solidFill>
                  <a:srgbClr val="FF0000"/>
                </a:solidFill>
                <a:latin typeface="+mj-ea"/>
              </a:rPr>
              <a:t>低能量</a:t>
            </a:r>
            <a:endParaRPr lang="en-US" altLang="zh-TW" sz="2400" b="1" dirty="0">
              <a:solidFill>
                <a:srgbClr val="FF0000"/>
              </a:solidFill>
              <a:latin typeface="+mj-ea"/>
            </a:endParaRPr>
          </a:p>
          <a:p>
            <a:pPr marL="0" indent="0">
              <a:buNone/>
              <a:defRPr/>
            </a:pPr>
            <a:r>
              <a:rPr lang="en-US" altLang="zh-TW" sz="2400" b="1" dirty="0" smtClean="0"/>
              <a:t>(d)</a:t>
            </a:r>
            <a:r>
              <a:rPr lang="zh-TW" altLang="en-US" sz="2400" b="1" dirty="0" smtClean="0"/>
              <a:t> </a:t>
            </a:r>
            <a:r>
              <a:rPr lang="en-US" altLang="zh-TW" sz="2400" b="1" dirty="0">
                <a:solidFill>
                  <a:schemeClr val="tx1"/>
                </a:solidFill>
              </a:rPr>
              <a:t>Seam</a:t>
            </a:r>
            <a:r>
              <a:rPr lang="zh-CN" altLang="en-US" sz="2400" b="1" dirty="0">
                <a:solidFill>
                  <a:schemeClr val="tx1"/>
                </a:solidFill>
              </a:rPr>
              <a:t>移除</a:t>
            </a:r>
            <a:endParaRPr lang="en-US" altLang="zh-TW" sz="2400" b="1" dirty="0">
              <a:solidFill>
                <a:schemeClr val="tx1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16DA4-4601-478C-905B-E4BF11B8A0C9}" type="slidenum">
              <a:rPr lang="zh-TW" altLang="en-US" smtClean="0"/>
            </a:fld>
            <a:endParaRPr lang="zh-TW" altLang="en-US"/>
          </a:p>
        </p:txBody>
      </p:sp>
      <p:pic>
        <p:nvPicPr>
          <p:cNvPr id="12293" name="Picture 7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1325" y="2261050"/>
            <a:ext cx="3216275" cy="2160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909" y="4421638"/>
            <a:ext cx="6478133" cy="2307538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图像缩小</a:t>
            </a:r>
            <a:r>
              <a:rPr lang="en-US" altLang="zh-CN" dirty="0" smtClean="0"/>
              <a:t>--</a:t>
            </a:r>
            <a:r>
              <a:rPr lang="zh-TW" altLang="en-US" dirty="0">
                <a:solidFill>
                  <a:srgbClr val="FF0000"/>
                </a:solidFill>
                <a:latin typeface="+mj-ea"/>
              </a:rPr>
              <a:t>每行移除相同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数</a:t>
            </a:r>
            <a:r>
              <a:rPr lang="zh-TW" altLang="en-US" dirty="0">
                <a:solidFill>
                  <a:srgbClr val="FF0000"/>
                </a:solidFill>
                <a:latin typeface="+mj-ea"/>
              </a:rPr>
              <a:t>的低能量</a:t>
            </a:r>
            <a:endParaRPr lang="en-US" altLang="zh-TW" dirty="0">
              <a:solidFill>
                <a:srgbClr val="FF0000"/>
              </a:solidFill>
              <a:latin typeface="+mj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16DA4-4601-478C-905B-E4BF11B8A0C9}" type="slidenum">
              <a:rPr lang="zh-TW" altLang="en-US" smtClean="0"/>
            </a:fld>
            <a:endParaRPr lang="zh-TW" altLang="en-US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912" y="1484784"/>
            <a:ext cx="7221344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矩形 13"/>
          <p:cNvSpPr/>
          <p:nvPr/>
        </p:nvSpPr>
        <p:spPr>
          <a:xfrm>
            <a:off x="3787120" y="4343400"/>
            <a:ext cx="717084" cy="716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5219660" y="4346044"/>
            <a:ext cx="717084" cy="716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6645776" y="4346044"/>
            <a:ext cx="717084" cy="716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8077120" y="4346436"/>
            <a:ext cx="717084" cy="716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7358236" y="4342244"/>
            <a:ext cx="717084" cy="716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3787120" y="3652644"/>
            <a:ext cx="717084" cy="6884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3071664" y="3652644"/>
            <a:ext cx="717084" cy="6884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6644580" y="3652644"/>
            <a:ext cx="717084" cy="6884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7358236" y="3652644"/>
            <a:ext cx="717084" cy="6884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8078316" y="3652644"/>
            <a:ext cx="717084" cy="6884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7358236" y="2941320"/>
            <a:ext cx="717084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5216664" y="2940184"/>
            <a:ext cx="717084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2351584" y="2940184"/>
            <a:ext cx="717084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6644580" y="2940184"/>
            <a:ext cx="717084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3787120" y="2942456"/>
            <a:ext cx="717084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3074660" y="223534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6645776" y="223534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/>
          <p:cNvSpPr/>
          <p:nvPr/>
        </p:nvSpPr>
        <p:spPr>
          <a:xfrm>
            <a:off x="7358236" y="223534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/>
          <p:cNvSpPr/>
          <p:nvPr/>
        </p:nvSpPr>
        <p:spPr>
          <a:xfrm>
            <a:off x="2354580" y="2238772"/>
            <a:ext cx="717104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/>
          <p:cNvSpPr/>
          <p:nvPr/>
        </p:nvSpPr>
        <p:spPr>
          <a:xfrm>
            <a:off x="5929104" y="222772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/>
          <p:cNvSpPr/>
          <p:nvPr/>
        </p:nvSpPr>
        <p:spPr>
          <a:xfrm>
            <a:off x="4504184" y="151526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/>
          <p:cNvSpPr/>
          <p:nvPr/>
        </p:nvSpPr>
        <p:spPr>
          <a:xfrm>
            <a:off x="3791744" y="151526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/>
          <p:cNvSpPr/>
          <p:nvPr/>
        </p:nvSpPr>
        <p:spPr>
          <a:xfrm>
            <a:off x="5216664" y="151526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/>
          <p:cNvSpPr/>
          <p:nvPr/>
        </p:nvSpPr>
        <p:spPr>
          <a:xfrm>
            <a:off x="5929104" y="151526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/>
          <p:cNvSpPr/>
          <p:nvPr/>
        </p:nvSpPr>
        <p:spPr>
          <a:xfrm>
            <a:off x="3079264" y="152288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图像缩小</a:t>
            </a:r>
            <a:r>
              <a:rPr lang="en-US" altLang="zh-CN" dirty="0"/>
              <a:t>--</a:t>
            </a:r>
            <a:r>
              <a:rPr lang="zh-TW" altLang="en-US" dirty="0">
                <a:solidFill>
                  <a:srgbClr val="FF0000"/>
                </a:solidFill>
                <a:latin typeface="+mj-ea"/>
              </a:rPr>
              <a:t>每行移除相同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数</a:t>
            </a:r>
            <a:r>
              <a:rPr lang="zh-TW" altLang="en-US" dirty="0">
                <a:solidFill>
                  <a:srgbClr val="FF0000"/>
                </a:solidFill>
                <a:latin typeface="+mj-ea"/>
              </a:rPr>
              <a:t>的低能量</a:t>
            </a:r>
            <a:endParaRPr lang="en-US" altLang="zh-TW" dirty="0">
              <a:solidFill>
                <a:srgbClr val="FF0000"/>
              </a:solidFill>
              <a:latin typeface="+mj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16DA4-4601-478C-905B-E4BF11B8A0C9}" type="slidenum">
              <a:rPr lang="zh-TW" altLang="en-US" smtClean="0"/>
            </a:fld>
            <a:endParaRPr lang="zh-TW" altLang="en-US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912" y="1484784"/>
            <a:ext cx="7221344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矩形 13"/>
          <p:cNvSpPr/>
          <p:nvPr/>
        </p:nvSpPr>
        <p:spPr>
          <a:xfrm>
            <a:off x="3787120" y="4343400"/>
            <a:ext cx="717084" cy="716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5219660" y="4346044"/>
            <a:ext cx="717084" cy="716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6645776" y="4346044"/>
            <a:ext cx="717084" cy="716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8077120" y="4346436"/>
            <a:ext cx="717084" cy="716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7358236" y="4342244"/>
            <a:ext cx="717084" cy="716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3787120" y="3652644"/>
            <a:ext cx="717084" cy="6884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3071664" y="3652644"/>
            <a:ext cx="717084" cy="6884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6644580" y="3652644"/>
            <a:ext cx="717084" cy="6884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7358236" y="3652644"/>
            <a:ext cx="717084" cy="6884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8078316" y="3652644"/>
            <a:ext cx="717084" cy="6884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7358236" y="2941320"/>
            <a:ext cx="717084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5216664" y="2940184"/>
            <a:ext cx="717084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2351584" y="2940184"/>
            <a:ext cx="717084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6644580" y="2940184"/>
            <a:ext cx="717084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3787120" y="2942456"/>
            <a:ext cx="717084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3074660" y="223534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6645776" y="223534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/>
          <p:cNvSpPr/>
          <p:nvPr/>
        </p:nvSpPr>
        <p:spPr>
          <a:xfrm>
            <a:off x="7358236" y="223534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/>
          <p:cNvSpPr/>
          <p:nvPr/>
        </p:nvSpPr>
        <p:spPr>
          <a:xfrm>
            <a:off x="2354580" y="2238772"/>
            <a:ext cx="717104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/>
          <p:cNvSpPr/>
          <p:nvPr/>
        </p:nvSpPr>
        <p:spPr>
          <a:xfrm>
            <a:off x="5929104" y="222772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/>
          <p:cNvSpPr/>
          <p:nvPr/>
        </p:nvSpPr>
        <p:spPr>
          <a:xfrm>
            <a:off x="4504184" y="151526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/>
          <p:cNvSpPr/>
          <p:nvPr/>
        </p:nvSpPr>
        <p:spPr>
          <a:xfrm>
            <a:off x="3791744" y="151526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/>
          <p:cNvSpPr/>
          <p:nvPr/>
        </p:nvSpPr>
        <p:spPr>
          <a:xfrm>
            <a:off x="5216664" y="151526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/>
          <p:cNvSpPr/>
          <p:nvPr/>
        </p:nvSpPr>
        <p:spPr>
          <a:xfrm>
            <a:off x="5929104" y="151526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/>
          <p:cNvSpPr/>
          <p:nvPr/>
        </p:nvSpPr>
        <p:spPr>
          <a:xfrm>
            <a:off x="3079264" y="152288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6141117" y="1882408"/>
            <a:ext cx="335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V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7548118" y="2605059"/>
            <a:ext cx="335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V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557241" y="3311035"/>
            <a:ext cx="335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V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8306032" y="4004652"/>
            <a:ext cx="335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V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8278069" y="4726486"/>
            <a:ext cx="335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V</a:t>
            </a:r>
            <a:endParaRPr lang="zh-TW" alt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图像缩小</a:t>
            </a:r>
            <a:r>
              <a:rPr lang="en-US" altLang="zh-CN" dirty="0"/>
              <a:t>--</a:t>
            </a:r>
            <a:r>
              <a:rPr lang="zh-TW" altLang="en-US" dirty="0">
                <a:solidFill>
                  <a:srgbClr val="FF0000"/>
                </a:solidFill>
                <a:latin typeface="+mj-ea"/>
              </a:rPr>
              <a:t>每行移除相同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数</a:t>
            </a:r>
            <a:r>
              <a:rPr lang="zh-TW" altLang="en-US" dirty="0">
                <a:solidFill>
                  <a:srgbClr val="FF0000"/>
                </a:solidFill>
                <a:latin typeface="+mj-ea"/>
              </a:rPr>
              <a:t>的低能量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16DA4-4601-478C-905B-E4BF11B8A0C9}" type="slidenum">
              <a:rPr lang="zh-TW" altLang="en-US" smtClean="0"/>
            </a:fld>
            <a:endParaRPr lang="zh-TW" altLang="en-US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678" y="2812424"/>
            <a:ext cx="7221344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矩形 13"/>
          <p:cNvSpPr/>
          <p:nvPr/>
        </p:nvSpPr>
        <p:spPr>
          <a:xfrm>
            <a:off x="5813886" y="5671040"/>
            <a:ext cx="717084" cy="716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7246426" y="5673684"/>
            <a:ext cx="717084" cy="716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8672542" y="5673684"/>
            <a:ext cx="717084" cy="716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10103886" y="5674076"/>
            <a:ext cx="717084" cy="716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9385002" y="5669884"/>
            <a:ext cx="717084" cy="716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5813886" y="4980284"/>
            <a:ext cx="717084" cy="6884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5098430" y="4980284"/>
            <a:ext cx="717084" cy="6884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8671346" y="4980284"/>
            <a:ext cx="717084" cy="6884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9385002" y="4980284"/>
            <a:ext cx="717084" cy="6884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10105082" y="4980284"/>
            <a:ext cx="717084" cy="6884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9385002" y="4268960"/>
            <a:ext cx="717084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7243430" y="4267824"/>
            <a:ext cx="717084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4378350" y="4267824"/>
            <a:ext cx="717084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8671346" y="4267824"/>
            <a:ext cx="717084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5813886" y="4270096"/>
            <a:ext cx="717084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5101426" y="356298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8672542" y="356298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/>
          <p:cNvSpPr/>
          <p:nvPr/>
        </p:nvSpPr>
        <p:spPr>
          <a:xfrm>
            <a:off x="9385002" y="356298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/>
          <p:cNvSpPr/>
          <p:nvPr/>
        </p:nvSpPr>
        <p:spPr>
          <a:xfrm>
            <a:off x="4381346" y="3566412"/>
            <a:ext cx="717104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/>
          <p:cNvSpPr/>
          <p:nvPr/>
        </p:nvSpPr>
        <p:spPr>
          <a:xfrm>
            <a:off x="7955870" y="355536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/>
          <p:cNvSpPr/>
          <p:nvPr/>
        </p:nvSpPr>
        <p:spPr>
          <a:xfrm>
            <a:off x="6530950" y="284290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/>
          <p:cNvSpPr/>
          <p:nvPr/>
        </p:nvSpPr>
        <p:spPr>
          <a:xfrm>
            <a:off x="5818510" y="284290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/>
          <p:cNvSpPr/>
          <p:nvPr/>
        </p:nvSpPr>
        <p:spPr>
          <a:xfrm>
            <a:off x="7243430" y="284290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/>
          <p:cNvSpPr/>
          <p:nvPr/>
        </p:nvSpPr>
        <p:spPr>
          <a:xfrm>
            <a:off x="7955870" y="284290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/>
          <p:cNvSpPr/>
          <p:nvPr/>
        </p:nvSpPr>
        <p:spPr>
          <a:xfrm>
            <a:off x="5106030" y="285052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8167883" y="3210048"/>
            <a:ext cx="335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V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9574884" y="3932699"/>
            <a:ext cx="335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V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9584007" y="4638675"/>
            <a:ext cx="335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V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10332798" y="5332292"/>
            <a:ext cx="335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V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10304835" y="6054126"/>
            <a:ext cx="335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V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26" name="橢圓 25"/>
          <p:cNvSpPr/>
          <p:nvPr/>
        </p:nvSpPr>
        <p:spPr>
          <a:xfrm>
            <a:off x="8842846" y="3663706"/>
            <a:ext cx="432048" cy="537985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2" name="直線單箭頭接點 41"/>
          <p:cNvCxnSpPr/>
          <p:nvPr/>
        </p:nvCxnSpPr>
        <p:spPr>
          <a:xfrm flipH="1">
            <a:off x="9122453" y="1973158"/>
            <a:ext cx="525137" cy="19314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/>
          <p:cNvSpPr txBox="1"/>
          <p:nvPr/>
        </p:nvSpPr>
        <p:spPr>
          <a:xfrm>
            <a:off x="9399598" y="1972022"/>
            <a:ext cx="2739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保留的像素不相邻，破坏了连续性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83" y="1430797"/>
            <a:ext cx="3365915" cy="2520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364" y="4064516"/>
            <a:ext cx="2018507" cy="2520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1346180" cy="475932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图像缩放目标是调整尺寸而不损失关键信息。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自适应缩放的核心思路是基于内容重要性进行像素调整：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Font typeface="Wingdings" panose="05000000000000000000" charset="0"/>
              <a:buChar char="Ø"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最高能量子视窗：本质是裁剪，会丢失窗口外内容，大幅缩小时效果差；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Font typeface="Wingdings" panose="05000000000000000000" charset="0"/>
              <a:buChar char="Ø"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移除最低能量列：按列删除，可能误删列内高能量像素；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Font typeface="Wingdings" panose="05000000000000000000" charset="0"/>
              <a:buChar char="Ø"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每行删相同低能量像素：破坏像素连续性，导致纹理断裂。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endParaRPr lang="zh-CN" altLang="en-US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图像缩小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229600" cy="493712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zh-CN" altLang="en-US" sz="2400" b="1" dirty="0"/>
              <a:t>四种策略减少图像宽度</a:t>
            </a:r>
            <a:endParaRPr lang="en-US" altLang="zh-TW" sz="2400" b="1" dirty="0"/>
          </a:p>
          <a:p>
            <a:pPr marL="0" indent="0">
              <a:buNone/>
              <a:defRPr/>
            </a:pPr>
            <a:r>
              <a:rPr lang="en-US" altLang="zh-TW" sz="2400" b="1" dirty="0"/>
              <a:t>(</a:t>
            </a:r>
            <a:r>
              <a:rPr lang="en-US" altLang="zh-CN" sz="2400" b="1" dirty="0"/>
              <a:t>b</a:t>
            </a:r>
            <a:r>
              <a:rPr lang="en-US" altLang="zh-TW" sz="2400" b="1" dirty="0"/>
              <a:t>)</a:t>
            </a:r>
            <a:r>
              <a:rPr lang="zh-TW" altLang="en-US" sz="2400" b="1" dirty="0">
                <a:solidFill>
                  <a:schemeClr val="tx1"/>
                </a:solidFill>
                <a:latin typeface="+mj-ea"/>
              </a:rPr>
              <a:t>最高能量的</a:t>
            </a:r>
            <a:r>
              <a:rPr lang="zh-TW" altLang="en-US" sz="2400" b="1" dirty="0" smtClean="0">
                <a:solidFill>
                  <a:schemeClr val="tx1"/>
                </a:solidFill>
                <a:latin typeface="+mj-ea"/>
              </a:rPr>
              <a:t>子</a:t>
            </a:r>
            <a:r>
              <a:rPr lang="zh-CN" altLang="en-US" sz="2400" b="1" dirty="0" smtClean="0">
                <a:solidFill>
                  <a:schemeClr val="tx1"/>
                </a:solidFill>
                <a:latin typeface="+mj-ea"/>
              </a:rPr>
              <a:t>视</a:t>
            </a:r>
            <a:r>
              <a:rPr lang="zh-TW" altLang="en-US" sz="2400" b="1" dirty="0" smtClean="0">
                <a:solidFill>
                  <a:schemeClr val="tx1"/>
                </a:solidFill>
                <a:latin typeface="+mj-ea"/>
              </a:rPr>
              <a:t>窗 </a:t>
            </a:r>
            <a:r>
              <a:rPr lang="en-US" altLang="zh-TW" sz="2400" b="1" dirty="0">
                <a:solidFill>
                  <a:schemeClr val="tx1"/>
                </a:solidFill>
                <a:latin typeface="+mj-ea"/>
              </a:rPr>
              <a:t>(crop)</a:t>
            </a:r>
            <a:endParaRPr lang="en-US" altLang="zh-TW" sz="2400" b="1" dirty="0">
              <a:solidFill>
                <a:schemeClr val="tx1"/>
              </a:solidFill>
              <a:latin typeface="+mj-ea"/>
            </a:endParaRPr>
          </a:p>
          <a:p>
            <a:pPr marL="0" indent="0">
              <a:buNone/>
              <a:defRPr/>
            </a:pPr>
            <a:r>
              <a:rPr lang="en-US" altLang="zh-TW" sz="2400" b="1" dirty="0"/>
              <a:t>(c)</a:t>
            </a:r>
            <a:r>
              <a:rPr lang="zh-TW" altLang="en-US" sz="2400" b="1" dirty="0">
                <a:solidFill>
                  <a:schemeClr val="tx1"/>
                </a:solidFill>
                <a:latin typeface="+mj-ea"/>
              </a:rPr>
              <a:t>移除每</a:t>
            </a:r>
            <a:r>
              <a:rPr lang="zh-CN" altLang="en-US" sz="2400" b="1" dirty="0">
                <a:solidFill>
                  <a:schemeClr val="tx1"/>
                </a:solidFill>
                <a:latin typeface="+mj-ea"/>
              </a:rPr>
              <a:t>列</a:t>
            </a:r>
            <a:r>
              <a:rPr lang="zh-TW" altLang="en-US" sz="2400" b="1" dirty="0">
                <a:solidFill>
                  <a:schemeClr val="tx1"/>
                </a:solidFill>
                <a:latin typeface="+mj-ea"/>
              </a:rPr>
              <a:t>最低能量</a:t>
            </a:r>
            <a:endParaRPr lang="en-US" altLang="zh-TW" sz="2400" b="1" dirty="0">
              <a:solidFill>
                <a:schemeClr val="tx1"/>
              </a:solidFill>
              <a:latin typeface="+mj-ea"/>
            </a:endParaRPr>
          </a:p>
          <a:p>
            <a:pPr marL="0" indent="0">
              <a:buNone/>
              <a:defRPr/>
            </a:pPr>
            <a:r>
              <a:rPr lang="en-US" altLang="zh-TW" sz="2400" b="1" dirty="0"/>
              <a:t>(e)</a:t>
            </a:r>
            <a:r>
              <a:rPr lang="zh-TW" altLang="en-US" sz="2400" b="1" dirty="0">
                <a:solidFill>
                  <a:schemeClr val="tx1"/>
                </a:solidFill>
                <a:latin typeface="+mj-ea"/>
              </a:rPr>
              <a:t>每行移除</a:t>
            </a:r>
            <a:r>
              <a:rPr lang="zh-TW" altLang="en-US" sz="2400" b="1" dirty="0" smtClean="0">
                <a:solidFill>
                  <a:schemeClr val="tx1"/>
                </a:solidFill>
                <a:latin typeface="+mj-ea"/>
              </a:rPr>
              <a:t>相同</a:t>
            </a:r>
            <a:r>
              <a:rPr lang="zh-CN" altLang="en-US" sz="2400" b="1" dirty="0" smtClean="0">
                <a:solidFill>
                  <a:schemeClr val="tx1"/>
                </a:solidFill>
                <a:latin typeface="+mj-ea"/>
              </a:rPr>
              <a:t>数</a:t>
            </a:r>
            <a:r>
              <a:rPr lang="zh-TW" altLang="en-US" sz="2400" b="1" dirty="0" smtClean="0">
                <a:solidFill>
                  <a:schemeClr val="tx1"/>
                </a:solidFill>
                <a:latin typeface="+mj-ea"/>
              </a:rPr>
              <a:t>的</a:t>
            </a:r>
            <a:r>
              <a:rPr lang="zh-TW" altLang="en-US" sz="2400" b="1" dirty="0">
                <a:solidFill>
                  <a:schemeClr val="tx1"/>
                </a:solidFill>
                <a:latin typeface="+mj-ea"/>
              </a:rPr>
              <a:t>低能量</a:t>
            </a:r>
            <a:endParaRPr lang="en-US" altLang="zh-TW" sz="2400" b="1" dirty="0">
              <a:solidFill>
                <a:schemeClr val="tx1"/>
              </a:solidFill>
              <a:latin typeface="+mj-ea"/>
            </a:endParaRPr>
          </a:p>
          <a:p>
            <a:pPr marL="0" indent="0">
              <a:buNone/>
              <a:defRPr/>
            </a:pPr>
            <a:r>
              <a:rPr lang="en-US" altLang="zh-TW" sz="2400" b="1" dirty="0"/>
              <a:t>(d</a:t>
            </a:r>
            <a:r>
              <a:rPr lang="en-US" altLang="zh-TW" sz="2400" b="1" dirty="0" smtClean="0"/>
              <a:t>)</a:t>
            </a:r>
            <a:r>
              <a:rPr lang="zh-TW" altLang="en-US" sz="2400" b="1" dirty="0" smtClean="0"/>
              <a:t> 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Seam</a:t>
            </a:r>
            <a:r>
              <a:rPr lang="zh-CN" altLang="en-US" sz="2400" b="1" dirty="0">
                <a:solidFill>
                  <a:srgbClr val="FF0000"/>
                </a:solidFill>
              </a:rPr>
              <a:t>移除</a:t>
            </a:r>
            <a:endParaRPr lang="en-US" altLang="zh-TW" sz="2400" b="1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16DA4-4601-478C-905B-E4BF11B8A0C9}" type="slidenum">
              <a:rPr lang="zh-TW" altLang="en-US" smtClean="0"/>
            </a:fld>
            <a:endParaRPr lang="zh-TW" altLang="en-US"/>
          </a:p>
        </p:txBody>
      </p:sp>
      <p:pic>
        <p:nvPicPr>
          <p:cNvPr id="12293" name="Picture 7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895" y="2004674"/>
            <a:ext cx="3216275" cy="2160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165262"/>
            <a:ext cx="7559535" cy="269273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4025" y="152400"/>
            <a:ext cx="9962515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>
                <a:sym typeface="+mn-ea"/>
              </a:rPr>
              <a:t>3 </a:t>
            </a:r>
            <a:r>
              <a:rPr lang="zh-CN" altLang="en-US">
                <a:sym typeface="+mn-ea"/>
              </a:rPr>
              <a:t>自适应图像缩放</a:t>
            </a:r>
            <a:r>
              <a:rPr lang="en-US" altLang="zh-TW" sz="3600" b="1" dirty="0">
                <a:solidFill>
                  <a:srgbClr val="FF0000"/>
                </a:solidFill>
                <a:ea typeface="PMingLiU" pitchFamily="18" charset="-120"/>
              </a:rPr>
              <a:t>Seam carving</a:t>
            </a:r>
            <a:endParaRPr lang="de-DE" altLang="zh-TW" sz="4000" dirty="0">
              <a:ea typeface="PMingLiU" pitchFamily="18" charset="-12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8015" y="1557204"/>
            <a:ext cx="10969200" cy="4759200"/>
          </a:xfrm>
        </p:spPr>
        <p:txBody>
          <a:bodyPr/>
          <a:lstStyle/>
          <a:p>
            <a:pPr eaLnBrk="1" hangingPunct="1"/>
            <a:r>
              <a:rPr lang="zh-CN" altLang="en-US" sz="2400" b="1" dirty="0" smtClean="0">
                <a:solidFill>
                  <a:schemeClr val="tx1"/>
                </a:solidFill>
                <a:ea typeface="PMingLiU" pitchFamily="18" charset="-120"/>
              </a:rPr>
              <a:t>定义一个重要性映射</a:t>
            </a:r>
            <a:r>
              <a:rPr lang="en-US" altLang="zh-TW" sz="2400" b="1" dirty="0" smtClean="0">
                <a:solidFill>
                  <a:schemeClr val="tx1"/>
                </a:solidFill>
                <a:ea typeface="PMingLiU" pitchFamily="18" charset="-120"/>
              </a:rPr>
              <a:t>(</a:t>
            </a:r>
            <a:r>
              <a:rPr lang="zh-CN" altLang="en-US" sz="2400" b="1" dirty="0" smtClean="0">
                <a:solidFill>
                  <a:schemeClr val="tx1"/>
                </a:solidFill>
                <a:ea typeface="PMingLiU" pitchFamily="18" charset="-120"/>
              </a:rPr>
              <a:t>如：梯度或显著度</a:t>
            </a:r>
            <a:r>
              <a:rPr lang="en-US" altLang="zh-TW" sz="2400" b="1" dirty="0" smtClean="0">
                <a:solidFill>
                  <a:schemeClr val="tx1"/>
                </a:solidFill>
                <a:ea typeface="PMingLiU" pitchFamily="18" charset="-120"/>
              </a:rPr>
              <a:t>)</a:t>
            </a:r>
            <a:endParaRPr lang="en-US" altLang="zh-TW" sz="2400" b="1" dirty="0">
              <a:solidFill>
                <a:schemeClr val="tx1"/>
              </a:solidFill>
              <a:ea typeface="PMingLiU" pitchFamily="18" charset="-120"/>
            </a:endParaRPr>
          </a:p>
          <a:p>
            <a:pPr eaLnBrk="1" hangingPunct="1"/>
            <a:endParaRPr lang="en-US" altLang="zh-TW" sz="2400" dirty="0">
              <a:ea typeface="PMingLiU" pitchFamily="18" charset="-120"/>
            </a:endParaRPr>
          </a:p>
          <a:p>
            <a:pPr eaLnBrk="1" hangingPunct="1"/>
            <a:endParaRPr lang="en-US" altLang="zh-TW" sz="2400" dirty="0">
              <a:ea typeface="PMingLiU" pitchFamily="18" charset="-120"/>
            </a:endParaRPr>
          </a:p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 smtClean="0">
                <a:solidFill>
                  <a:schemeClr val="tx1"/>
                </a:solidFill>
                <a:ea typeface="PMingLiU" pitchFamily="18" charset="-120"/>
              </a:rPr>
              <a:t>移走低能量的缝隙（</a:t>
            </a:r>
            <a:r>
              <a:rPr lang="en-US" altLang="zh-CN" sz="2400" b="1" dirty="0" smtClean="0">
                <a:solidFill>
                  <a:schemeClr val="tx1"/>
                </a:solidFill>
                <a:ea typeface="PMingLiU" pitchFamily="18" charset="-120"/>
              </a:rPr>
              <a:t>seam</a:t>
            </a:r>
            <a:r>
              <a:rPr lang="zh-CN" altLang="en-US" sz="2400" b="1" dirty="0" smtClean="0">
                <a:solidFill>
                  <a:schemeClr val="tx1"/>
                </a:solidFill>
                <a:ea typeface="PMingLiU" pitchFamily="18" charset="-120"/>
              </a:rPr>
              <a:t>）</a:t>
            </a:r>
            <a:endParaRPr lang="de-DE" altLang="zh-TW" sz="2400" b="1" dirty="0">
              <a:solidFill>
                <a:schemeClr val="tx1"/>
              </a:solidFill>
              <a:ea typeface="PMingLiU" pitchFamily="18" charset="-120"/>
            </a:endParaRPr>
          </a:p>
        </p:txBody>
      </p:sp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3408363" y="2130820"/>
          <a:ext cx="1944688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704" name="Image" r:id="rId1" imgW="7620000" imgH="5448300" progId="Photoshop.Image.8">
                  <p:embed/>
                </p:oleObj>
              </mc:Choice>
              <mc:Fallback>
                <p:oleObj name="Image" r:id="rId1" imgW="7620000" imgH="5448300" progId="Photoshop.Imag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8363" y="2130820"/>
                        <a:ext cx="1944688" cy="1390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5"/>
          <p:cNvGraphicFramePr>
            <a:graphicFrameLocks noChangeAspect="1"/>
          </p:cNvGraphicFramePr>
          <p:nvPr/>
        </p:nvGraphicFramePr>
        <p:xfrm>
          <a:off x="5448300" y="2130820"/>
          <a:ext cx="1951037" cy="138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705" name="Image" r:id="rId3" imgW="4152900" imgH="2959100" progId="Photoshop.Image.8">
                  <p:embed/>
                </p:oleObj>
              </mc:Choice>
              <mc:Fallback>
                <p:oleObj name="Image" r:id="rId3" imgW="4152900" imgH="2959100" progId="Photoshop.Image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2130820"/>
                        <a:ext cx="1951037" cy="1389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4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147" y="1621420"/>
            <a:ext cx="2839480" cy="468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300" y="4941888"/>
            <a:ext cx="1946275" cy="139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7176" name="Object 9"/>
          <p:cNvGraphicFramePr>
            <a:graphicFrameLocks noChangeAspect="1"/>
          </p:cNvGraphicFramePr>
          <p:nvPr/>
        </p:nvGraphicFramePr>
        <p:xfrm>
          <a:off x="3216275" y="4941888"/>
          <a:ext cx="1944688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706" name="Image" r:id="rId7" imgW="7620000" imgH="5448300" progId="Photoshop.Image.8">
                  <p:embed/>
                </p:oleObj>
              </mc:Choice>
              <mc:Fallback>
                <p:oleObj name="Image" r:id="rId7" imgW="7620000" imgH="5448300" progId="Photoshop.Image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4941888"/>
                        <a:ext cx="1944688" cy="1390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Freeform 11"/>
          <p:cNvSpPr/>
          <p:nvPr/>
        </p:nvSpPr>
        <p:spPr bwMode="auto">
          <a:xfrm>
            <a:off x="3408363" y="4960938"/>
            <a:ext cx="457200" cy="1371600"/>
          </a:xfrm>
          <a:custGeom>
            <a:avLst/>
            <a:gdLst>
              <a:gd name="T0" fmla="*/ 0 w 288"/>
              <a:gd name="T1" fmla="*/ 0 h 864"/>
              <a:gd name="T2" fmla="*/ 26988 w 288"/>
              <a:gd name="T3" fmla="*/ 171450 h 864"/>
              <a:gd name="T4" fmla="*/ 122238 w 288"/>
              <a:gd name="T5" fmla="*/ 352425 h 864"/>
              <a:gd name="T6" fmla="*/ 155575 w 288"/>
              <a:gd name="T7" fmla="*/ 430213 h 864"/>
              <a:gd name="T8" fmla="*/ 190500 w 288"/>
              <a:gd name="T9" fmla="*/ 482600 h 864"/>
              <a:gd name="T10" fmla="*/ 268288 w 288"/>
              <a:gd name="T11" fmla="*/ 611188 h 864"/>
              <a:gd name="T12" fmla="*/ 319088 w 288"/>
              <a:gd name="T13" fmla="*/ 646113 h 864"/>
              <a:gd name="T14" fmla="*/ 363538 w 288"/>
              <a:gd name="T15" fmla="*/ 698500 h 864"/>
              <a:gd name="T16" fmla="*/ 371475 w 288"/>
              <a:gd name="T17" fmla="*/ 723900 h 864"/>
              <a:gd name="T18" fmla="*/ 388938 w 288"/>
              <a:gd name="T19" fmla="*/ 749300 h 864"/>
              <a:gd name="T20" fmla="*/ 423863 w 288"/>
              <a:gd name="T21" fmla="*/ 827088 h 864"/>
              <a:gd name="T22" fmla="*/ 431800 w 288"/>
              <a:gd name="T23" fmla="*/ 852488 h 864"/>
              <a:gd name="T24" fmla="*/ 441325 w 288"/>
              <a:gd name="T25" fmla="*/ 879475 h 864"/>
              <a:gd name="T26" fmla="*/ 457200 w 288"/>
              <a:gd name="T27" fmla="*/ 930275 h 864"/>
              <a:gd name="T28" fmla="*/ 457200 w 288"/>
              <a:gd name="T29" fmla="*/ 1371600 h 86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288" h="864">
                <a:moveTo>
                  <a:pt x="0" y="0"/>
                </a:moveTo>
                <a:cubicBezTo>
                  <a:pt x="12" y="54"/>
                  <a:pt x="5" y="18"/>
                  <a:pt x="17" y="108"/>
                </a:cubicBezTo>
                <a:cubicBezTo>
                  <a:pt x="22" y="146"/>
                  <a:pt x="55" y="190"/>
                  <a:pt x="77" y="222"/>
                </a:cubicBezTo>
                <a:cubicBezTo>
                  <a:pt x="82" y="238"/>
                  <a:pt x="90" y="256"/>
                  <a:pt x="98" y="271"/>
                </a:cubicBezTo>
                <a:cubicBezTo>
                  <a:pt x="104" y="283"/>
                  <a:pt x="120" y="304"/>
                  <a:pt x="120" y="304"/>
                </a:cubicBezTo>
                <a:cubicBezTo>
                  <a:pt x="125" y="321"/>
                  <a:pt x="153" y="374"/>
                  <a:pt x="169" y="385"/>
                </a:cubicBezTo>
                <a:cubicBezTo>
                  <a:pt x="180" y="392"/>
                  <a:pt x="201" y="407"/>
                  <a:pt x="201" y="407"/>
                </a:cubicBezTo>
                <a:cubicBezTo>
                  <a:pt x="209" y="419"/>
                  <a:pt x="221" y="428"/>
                  <a:pt x="229" y="440"/>
                </a:cubicBezTo>
                <a:cubicBezTo>
                  <a:pt x="232" y="445"/>
                  <a:pt x="232" y="451"/>
                  <a:pt x="234" y="456"/>
                </a:cubicBezTo>
                <a:cubicBezTo>
                  <a:pt x="237" y="462"/>
                  <a:pt x="241" y="467"/>
                  <a:pt x="245" y="472"/>
                </a:cubicBezTo>
                <a:cubicBezTo>
                  <a:pt x="251" y="491"/>
                  <a:pt x="256" y="505"/>
                  <a:pt x="267" y="521"/>
                </a:cubicBezTo>
                <a:cubicBezTo>
                  <a:pt x="269" y="526"/>
                  <a:pt x="270" y="532"/>
                  <a:pt x="272" y="537"/>
                </a:cubicBezTo>
                <a:cubicBezTo>
                  <a:pt x="274" y="543"/>
                  <a:pt x="276" y="548"/>
                  <a:pt x="278" y="554"/>
                </a:cubicBezTo>
                <a:cubicBezTo>
                  <a:pt x="281" y="565"/>
                  <a:pt x="288" y="586"/>
                  <a:pt x="288" y="586"/>
                </a:cubicBezTo>
                <a:cubicBezTo>
                  <a:pt x="276" y="678"/>
                  <a:pt x="288" y="771"/>
                  <a:pt x="288" y="864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pic>
        <p:nvPicPr>
          <p:cNvPr id="7178" name="Picture 1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325" y="4941888"/>
            <a:ext cx="1079500" cy="138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592206" y="4128329"/>
            <a:ext cx="81149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A</a:t>
            </a:r>
            <a:r>
              <a:rPr lang="en-US" altLang="zh-TW" sz="2400" dirty="0">
                <a:solidFill>
                  <a:srgbClr val="FF0000"/>
                </a:solidFill>
              </a:rPr>
              <a:t> seam</a:t>
            </a:r>
            <a:r>
              <a:rPr lang="en-US" altLang="zh-TW" sz="2400" dirty="0"/>
              <a:t> </a:t>
            </a:r>
            <a:r>
              <a:rPr lang="zh-CN" altLang="en-US" sz="2400" dirty="0" smtClean="0"/>
              <a:t>是一个低能量像素的连接路径，从上到下或从左到右跨越整幅图像</a:t>
            </a:r>
            <a:endParaRPr lang="zh-TW" altLang="en-US" sz="2400" dirty="0"/>
          </a:p>
        </p:txBody>
      </p:sp>
      <p:grpSp>
        <p:nvGrpSpPr>
          <p:cNvPr id="4" name="组合 3"/>
          <p:cNvGrpSpPr/>
          <p:nvPr/>
        </p:nvGrpSpPr>
        <p:grpSpPr>
          <a:xfrm>
            <a:off x="9624156" y="4128329"/>
            <a:ext cx="1584647" cy="1674989"/>
            <a:chOff x="9680879" y="4128329"/>
            <a:chExt cx="1584647" cy="1674989"/>
          </a:xfrm>
        </p:grpSpPr>
        <p:grpSp>
          <p:nvGrpSpPr>
            <p:cNvPr id="24" name="群組 23"/>
            <p:cNvGrpSpPr/>
            <p:nvPr/>
          </p:nvGrpSpPr>
          <p:grpSpPr>
            <a:xfrm>
              <a:off x="9680879" y="4128329"/>
              <a:ext cx="1584647" cy="1604292"/>
              <a:chOff x="7235825" y="2040732"/>
              <a:chExt cx="1584647" cy="1604292"/>
            </a:xfrm>
          </p:grpSpPr>
          <p:cxnSp>
            <p:nvCxnSpPr>
              <p:cNvPr id="25" name="直線接點 24"/>
              <p:cNvCxnSpPr/>
              <p:nvPr/>
            </p:nvCxnSpPr>
            <p:spPr>
              <a:xfrm>
                <a:off x="8028384" y="2040732"/>
                <a:ext cx="0" cy="1604292"/>
              </a:xfrm>
              <a:prstGeom prst="line">
                <a:avLst/>
              </a:prstGeom>
              <a:ln w="34925"/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26" name="直線接點 25"/>
              <p:cNvCxnSpPr/>
              <p:nvPr/>
            </p:nvCxnSpPr>
            <p:spPr>
              <a:xfrm>
                <a:off x="7235825" y="2852936"/>
                <a:ext cx="1584647" cy="0"/>
              </a:xfrm>
              <a:prstGeom prst="line">
                <a:avLst/>
              </a:prstGeom>
              <a:ln w="349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文字方塊 26"/>
              <p:cNvSpPr txBox="1"/>
              <p:nvPr/>
            </p:nvSpPr>
            <p:spPr>
              <a:xfrm>
                <a:off x="7635978" y="2425131"/>
                <a:ext cx="7825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/>
                  <a:t>(</a:t>
                </a:r>
                <a:r>
                  <a:rPr lang="en-US" altLang="zh-TW" sz="2400" dirty="0" err="1"/>
                  <a:t>x,y</a:t>
                </a:r>
                <a:r>
                  <a:rPr lang="en-US" altLang="zh-TW" sz="2400" dirty="0"/>
                  <a:t>)</a:t>
                </a:r>
                <a:endParaRPr lang="zh-TW" altLang="en-US" sz="2400" dirty="0"/>
              </a:p>
            </p:txBody>
          </p:sp>
          <p:sp>
            <p:nvSpPr>
              <p:cNvPr id="28" name="橢圓 27"/>
              <p:cNvSpPr/>
              <p:nvPr/>
            </p:nvSpPr>
            <p:spPr>
              <a:xfrm>
                <a:off x="7977900" y="2770870"/>
                <a:ext cx="100493" cy="14401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17" name="直線單箭頭接點 16"/>
            <p:cNvCxnSpPr>
              <a:stCxn id="28" idx="6"/>
            </p:cNvCxnSpPr>
            <p:nvPr/>
          </p:nvCxnSpPr>
          <p:spPr>
            <a:xfrm flipH="1">
              <a:off x="9965955" y="4930475"/>
              <a:ext cx="557492" cy="675060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stCxn id="28" idx="2"/>
            </p:cNvCxnSpPr>
            <p:nvPr/>
          </p:nvCxnSpPr>
          <p:spPr>
            <a:xfrm>
              <a:off x="10422954" y="4930475"/>
              <a:ext cx="623121" cy="675060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/>
            <p:cNvCxnSpPr/>
            <p:nvPr/>
          </p:nvCxnSpPr>
          <p:spPr>
            <a:xfrm>
              <a:off x="10463905" y="4981392"/>
              <a:ext cx="14717" cy="821926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33" name="文字方塊 32"/>
          <p:cNvSpPr txBox="1"/>
          <p:nvPr/>
        </p:nvSpPr>
        <p:spPr>
          <a:xfrm>
            <a:off x="8689512" y="5742723"/>
            <a:ext cx="3493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(x-1,y+1)    (x,y+1)     (x+1, y+1)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032F69-4777-472F-91D8-8C09B6C71A75}" type="slidenum">
              <a:rPr lang="zh-TW" altLang="en-US" smtClean="0"/>
            </a:fld>
            <a:endParaRPr lang="zh-TW" altLang="en-US"/>
          </a:p>
        </p:txBody>
      </p:sp>
      <p:pic>
        <p:nvPicPr>
          <p:cNvPr id="15362" name="Picture 2" descr="https://upload.wikimedia.org/wikipedia/commons/thumb/c/cb/Broadway_tower_edit.jpg/274px-Broadway_tower_edit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297" y="260648"/>
            <a:ext cx="2609850" cy="177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3171559" y="2153561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222222"/>
                </a:solidFill>
                <a:latin typeface="Arial" panose="020B0604020202020204" pitchFamily="34" charset="0"/>
              </a:rPr>
              <a:t>待变窄的原始图像</a:t>
            </a:r>
            <a:endParaRPr lang="zh-TW" altLang="en-US" dirty="0"/>
          </a:p>
        </p:txBody>
      </p:sp>
      <p:pic>
        <p:nvPicPr>
          <p:cNvPr id="15364" name="Picture 4" descr="https://upload.wikimedia.org/wikipedia/commons/thumb/a/a3/Broadway_tower_edit_scale.png/186px-Broadway_tower_edit_sca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20" y="225228"/>
            <a:ext cx="1771650" cy="179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7065754" y="2132714"/>
            <a:ext cx="31955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缩放操作不理想因为城堡扭曲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15366" name="Picture 6" descr="https://upload.wikimedia.org/wikipedia/commons/thumb/e/ef/Broadway_tower_edit_cropped.png/186px-Broadway_tower_edit_cropp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297" y="3034792"/>
            <a:ext cx="1771650" cy="179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1898554" y="4936826"/>
            <a:ext cx="409435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裁剪操作</a:t>
            </a:r>
            <a:r>
              <a:rPr lang="zh-CN" altLang="en-US" sz="2000" dirty="0"/>
              <a:t>不理想</a:t>
            </a:r>
            <a:r>
              <a:rPr lang="zh-CN" altLang="en-US" sz="2000" dirty="0" smtClean="0"/>
              <a:t>因为城堡不完整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pic>
        <p:nvPicPr>
          <p:cNvPr id="15368" name="Picture 8" descr="https://upload.wikimedia.org/wikipedia/commons/thumb/e/ed/Broadway_tower_edit_Seam_Carving.png/186px-Broadway_tower_edit_Seam_Carvin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570" y="3034793"/>
            <a:ext cx="1771650" cy="179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/>
        </p:nvSpPr>
        <p:spPr>
          <a:xfrm>
            <a:off x="5992911" y="4936826"/>
            <a:ext cx="15798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222222"/>
                </a:solidFill>
                <a:latin typeface="Arial" panose="020B0604020202020204" pitchFamily="34" charset="0"/>
              </a:rPr>
              <a:t>Seam carving</a:t>
            </a:r>
            <a:endParaRPr lang="zh-TW" altLang="en-US" dirty="0"/>
          </a:p>
        </p:txBody>
      </p:sp>
      <p:pic>
        <p:nvPicPr>
          <p:cNvPr id="15370" name="Picture 10" descr="BroadwayTowerSeamCarving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5875" y="2718212"/>
            <a:ext cx="2609850" cy="177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2" name="Picture 12" descr="BroadwayTowerSeamCarving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7451" y="4767261"/>
            <a:ext cx="2609850" cy="177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標題 1"/>
          <p:cNvSpPr>
            <a:spLocks noGrp="1"/>
          </p:cNvSpPr>
          <p:nvPr>
            <p:ph type="title"/>
          </p:nvPr>
        </p:nvSpPr>
        <p:spPr>
          <a:xfrm>
            <a:off x="608400" y="363304"/>
            <a:ext cx="10969200" cy="705600"/>
          </a:xfrm>
        </p:spPr>
        <p:txBody>
          <a:bodyPr/>
          <a:lstStyle/>
          <a:p>
            <a:r>
              <a:rPr lang="zh-CN" altLang="en-US" dirty="0" smtClean="0"/>
              <a:t>图像减少</a:t>
            </a:r>
            <a:r>
              <a:rPr lang="en-US" altLang="zh-TW" dirty="0" smtClean="0"/>
              <a:t> </a:t>
            </a:r>
            <a:r>
              <a:rPr lang="en-US" altLang="zh-TW" dirty="0"/>
              <a:t>&amp; </a:t>
            </a:r>
            <a:r>
              <a:rPr lang="zh-CN" altLang="en-US" dirty="0" smtClean="0"/>
              <a:t>图像放大</a:t>
            </a:r>
            <a:endParaRPr lang="zh-TW" altLang="en-US" dirty="0"/>
          </a:p>
        </p:txBody>
      </p:sp>
      <p:sp>
        <p:nvSpPr>
          <p:cNvPr id="11267" name="內容版面配置區 2"/>
          <p:cNvSpPr>
            <a:spLocks noGrp="1"/>
          </p:cNvSpPr>
          <p:nvPr>
            <p:ph sz="quarter" idx="1"/>
          </p:nvPr>
        </p:nvSpPr>
        <p:spPr>
          <a:xfrm>
            <a:off x="1775520" y="1143000"/>
            <a:ext cx="8229600" cy="4937125"/>
          </a:xfrm>
        </p:spPr>
        <p:txBody>
          <a:bodyPr/>
          <a:lstStyle/>
          <a:p>
            <a:r>
              <a:rPr lang="zh-CN" altLang="en-US" sz="2400" dirty="0" smtClean="0">
                <a:solidFill>
                  <a:schemeClr val="tx1"/>
                </a:solidFill>
              </a:rPr>
              <a:t>对于图像减少</a:t>
            </a:r>
            <a:r>
              <a:rPr lang="en-US" altLang="zh-TW" sz="2400" dirty="0" smtClean="0">
                <a:solidFill>
                  <a:schemeClr val="tx1"/>
                </a:solidFill>
              </a:rPr>
              <a:t>, </a:t>
            </a:r>
            <a:r>
              <a:rPr lang="zh-CN" altLang="en-US" sz="2400" dirty="0" smtClean="0">
                <a:solidFill>
                  <a:schemeClr val="tx1"/>
                </a:solidFill>
              </a:rPr>
              <a:t>缝的选择确保保持图像结构，移走低能量的像素</a:t>
            </a:r>
            <a:endParaRPr lang="en-US" altLang="zh-TW" sz="2400" dirty="0">
              <a:solidFill>
                <a:schemeClr val="tx1"/>
              </a:solidFill>
            </a:endParaRPr>
          </a:p>
          <a:p>
            <a:r>
              <a:rPr lang="zh-CN" altLang="en-US" sz="2400" dirty="0" smtClean="0">
                <a:solidFill>
                  <a:schemeClr val="tx1"/>
                </a:solidFill>
              </a:rPr>
              <a:t>对于图像放大</a:t>
            </a:r>
            <a:r>
              <a:rPr lang="en-US" altLang="zh-TW" sz="2400" dirty="0" smtClean="0">
                <a:solidFill>
                  <a:schemeClr val="tx1"/>
                </a:solidFill>
              </a:rPr>
              <a:t>, </a:t>
            </a:r>
            <a:r>
              <a:rPr lang="zh-CN" altLang="en-US" sz="2400" dirty="0" smtClean="0">
                <a:solidFill>
                  <a:schemeClr val="tx1"/>
                </a:solidFill>
              </a:rPr>
              <a:t>缝插入的次序保证了原图像内容和插入像素之间的平衡</a:t>
            </a:r>
            <a:endParaRPr lang="en-US" altLang="zh-TW" sz="2400" dirty="0">
              <a:solidFill>
                <a:schemeClr val="tx1"/>
              </a:solidFill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3DB5CA-937E-4542-B423-0283351F9569}" type="slidenum">
              <a:rPr lang="zh-TW" altLang="en-US" smtClean="0"/>
            </a:fld>
            <a:endParaRPr lang="zh-TW" altLang="en-US" dirty="0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4564" y="2854355"/>
            <a:ext cx="3251983" cy="3956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2259623" y="3611562"/>
            <a:ext cx="37549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solidFill>
                  <a:srgbClr val="7030A0"/>
                </a:solidFill>
              </a:rPr>
              <a:t>图像放大</a:t>
            </a:r>
            <a:r>
              <a:rPr lang="en-US" altLang="zh-CN" sz="2200" b="1" dirty="0">
                <a:solidFill>
                  <a:srgbClr val="7030A0"/>
                </a:solidFill>
              </a:rPr>
              <a:t>n</a:t>
            </a:r>
            <a:r>
              <a:rPr lang="zh-CN" altLang="en-US" sz="2200" b="1" dirty="0">
                <a:solidFill>
                  <a:srgbClr val="7030A0"/>
                </a:solidFill>
              </a:rPr>
              <a:t>个缝隙，即选择</a:t>
            </a:r>
            <a:r>
              <a:rPr lang="en-US" altLang="zh-CN" sz="2200" b="1" dirty="0">
                <a:solidFill>
                  <a:srgbClr val="7030A0"/>
                </a:solidFill>
              </a:rPr>
              <a:t>n</a:t>
            </a:r>
            <a:r>
              <a:rPr lang="zh-CN" altLang="en-US" sz="2200" b="1" dirty="0" smtClean="0">
                <a:solidFill>
                  <a:srgbClr val="7030A0"/>
                </a:solidFill>
              </a:rPr>
              <a:t>个能量最高</a:t>
            </a:r>
            <a:r>
              <a:rPr lang="zh-CN" altLang="en-US" sz="2200" b="1" dirty="0">
                <a:solidFill>
                  <a:srgbClr val="7030A0"/>
                </a:solidFill>
              </a:rPr>
              <a:t>的缝隙并</a:t>
            </a:r>
            <a:r>
              <a:rPr lang="zh-CN" altLang="en-US" sz="2200" b="1" dirty="0" smtClean="0">
                <a:solidFill>
                  <a:srgbClr val="7030A0"/>
                </a:solidFill>
              </a:rPr>
              <a:t>复制。</a:t>
            </a:r>
            <a:endParaRPr lang="zh-TW" altLang="en-US" sz="2200" b="1" dirty="0">
              <a:solidFill>
                <a:srgbClr val="7030A0"/>
              </a:solidFill>
            </a:endParaRPr>
          </a:p>
        </p:txBody>
      </p:sp>
      <p:sp>
        <p:nvSpPr>
          <p:cNvPr id="8" name="文字方塊 2"/>
          <p:cNvSpPr txBox="1"/>
          <p:nvPr/>
        </p:nvSpPr>
        <p:spPr>
          <a:xfrm>
            <a:off x="2171699" y="5559943"/>
            <a:ext cx="37898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 smtClean="0">
                <a:solidFill>
                  <a:srgbClr val="7030A0"/>
                </a:solidFill>
              </a:rPr>
              <a:t>图像缩小</a:t>
            </a:r>
            <a:r>
              <a:rPr lang="en-US" altLang="zh-CN" sz="2200" b="1" dirty="0" smtClean="0">
                <a:solidFill>
                  <a:srgbClr val="7030A0"/>
                </a:solidFill>
              </a:rPr>
              <a:t>n</a:t>
            </a:r>
            <a:r>
              <a:rPr lang="zh-CN" altLang="en-US" sz="2200" b="1" dirty="0">
                <a:solidFill>
                  <a:srgbClr val="7030A0"/>
                </a:solidFill>
              </a:rPr>
              <a:t>个缝隙，即选择</a:t>
            </a:r>
            <a:r>
              <a:rPr lang="en-US" altLang="zh-CN" sz="2200" b="1" dirty="0">
                <a:solidFill>
                  <a:srgbClr val="7030A0"/>
                </a:solidFill>
              </a:rPr>
              <a:t>n</a:t>
            </a:r>
            <a:r>
              <a:rPr lang="zh-CN" altLang="en-US" sz="2200" b="1" dirty="0" smtClean="0">
                <a:solidFill>
                  <a:srgbClr val="7030A0"/>
                </a:solidFill>
              </a:rPr>
              <a:t>个能量最低的</a:t>
            </a:r>
            <a:r>
              <a:rPr lang="zh-CN" altLang="en-US" sz="2200" b="1" dirty="0">
                <a:solidFill>
                  <a:srgbClr val="7030A0"/>
                </a:solidFill>
              </a:rPr>
              <a:t>缝隙</a:t>
            </a:r>
            <a:r>
              <a:rPr lang="zh-CN" altLang="en-US" sz="2200" b="1" dirty="0" smtClean="0">
                <a:solidFill>
                  <a:srgbClr val="7030A0"/>
                </a:solidFill>
              </a:rPr>
              <a:t>并删除。</a:t>
            </a:r>
            <a:endParaRPr lang="zh-TW" altLang="en-US" sz="22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39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876678" y="1306922"/>
            <a:ext cx="6029325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2341" name="TextBox 6"/>
          <p:cNvSpPr txBox="1">
            <a:spLocks noChangeArrowheads="1"/>
          </p:cNvSpPr>
          <p:nvPr/>
        </p:nvSpPr>
        <p:spPr bwMode="auto">
          <a:xfrm>
            <a:off x="6592765" y="2949984"/>
            <a:ext cx="43815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 smtClean="0">
                <a:solidFill>
                  <a:srgbClr val="000000"/>
                </a:solidFill>
              </a:rPr>
              <a:t>内容感知的图像分辨率调整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8" name="Title 6"/>
          <p:cNvSpPr>
            <a:spLocks noGrp="1"/>
          </p:cNvSpPr>
          <p:nvPr>
            <p:ph type="title"/>
          </p:nvPr>
        </p:nvSpPr>
        <p:spPr>
          <a:xfrm>
            <a:off x="2135560" y="80628"/>
            <a:ext cx="8098668" cy="1143000"/>
          </a:xfrm>
        </p:spPr>
        <p:txBody>
          <a:bodyPr/>
          <a:lstStyle/>
          <a:p>
            <a:r>
              <a:rPr lang="en-US" sz="3800" dirty="0" smtClean="0"/>
              <a:t>Seam carving: </a:t>
            </a:r>
            <a:r>
              <a:rPr lang="zh-CN" altLang="en-US" sz="3800" dirty="0" smtClean="0"/>
              <a:t>基本思想</a:t>
            </a:r>
            <a:endParaRPr lang="en-US" sz="38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063551" y="3429000"/>
            <a:ext cx="8777273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smtClean="0">
                <a:solidFill>
                  <a:srgbClr val="000000"/>
                </a:solidFill>
              </a:rPr>
              <a:t>  </a:t>
            </a:r>
            <a:endParaRPr lang="en-US" sz="2800" dirty="0" smtClean="0">
              <a:solidFill>
                <a:srgbClr val="000000"/>
              </a:solidFill>
            </a:endParaRPr>
          </a:p>
          <a:p>
            <a:pPr marL="742950" indent="-40005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srgbClr val="000000"/>
                </a:solidFill>
                <a:sym typeface="Wingdings" panose="05000000000000000000" pitchFamily="2" charset="2"/>
              </a:rPr>
              <a:t>保留感兴趣的内容</a:t>
            </a:r>
            <a:endParaRPr lang="en-US" altLang="zh-CN" sz="2800" dirty="0" smtClean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742950" indent="-40005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333399"/>
                </a:solidFill>
                <a:sym typeface="Wingdings" panose="05000000000000000000" pitchFamily="2" charset="2"/>
              </a:rPr>
              <a:t> </a:t>
            </a:r>
            <a:r>
              <a:rPr lang="zh-CN" altLang="en-US" sz="2400" dirty="0" smtClean="0">
                <a:solidFill>
                  <a:srgbClr val="333399"/>
                </a:solidFill>
                <a:sym typeface="Wingdings" panose="05000000000000000000" pitchFamily="2" charset="2"/>
              </a:rPr>
              <a:t>移走低能量的像素</a:t>
            </a:r>
            <a:endParaRPr lang="en-US" sz="2400" dirty="0" smtClean="0">
              <a:solidFill>
                <a:srgbClr val="333399"/>
              </a:solidFill>
            </a:endParaRPr>
          </a:p>
          <a:p>
            <a:pPr marL="742950" indent="-40005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srgbClr val="000000"/>
                </a:solidFill>
              </a:rPr>
              <a:t>以一维不规则形状的</a:t>
            </a:r>
            <a:r>
              <a:rPr lang="en-US" altLang="zh-CN" sz="2800" dirty="0" smtClean="0">
                <a:solidFill>
                  <a:srgbClr val="000000"/>
                </a:solidFill>
              </a:rPr>
              <a:t>seam</a:t>
            </a:r>
            <a:r>
              <a:rPr lang="zh-CN" altLang="en-US" sz="2800" dirty="0" smtClean="0">
                <a:solidFill>
                  <a:srgbClr val="000000"/>
                </a:solidFill>
              </a:rPr>
              <a:t>增加或减少图像的尺寸 </a:t>
            </a:r>
            <a:endParaRPr lang="en-US" altLang="zh-CN" sz="2800" dirty="0" smtClean="0">
              <a:solidFill>
                <a:srgbClr val="000000"/>
              </a:solidFill>
            </a:endParaRPr>
          </a:p>
          <a:p>
            <a:pPr marL="742950" indent="-40005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333399"/>
                </a:solidFill>
                <a:sym typeface="Wingdings" panose="05000000000000000000" pitchFamily="2" charset="2"/>
              </a:rPr>
              <a:t></a:t>
            </a:r>
            <a:r>
              <a:rPr lang="zh-CN" altLang="en-US" sz="2400" dirty="0" smtClean="0">
                <a:solidFill>
                  <a:srgbClr val="333399"/>
                </a:solidFill>
                <a:sym typeface="Wingdings" panose="05000000000000000000" pitchFamily="2" charset="2"/>
              </a:rPr>
              <a:t>采样动态规划（</a:t>
            </a:r>
            <a:r>
              <a:rPr lang="en-US" altLang="zh-CN" sz="2400" dirty="0" smtClean="0">
                <a:solidFill>
                  <a:srgbClr val="333399"/>
                </a:solidFill>
                <a:sym typeface="Wingdings" panose="05000000000000000000" pitchFamily="2" charset="2"/>
              </a:rPr>
              <a:t>DP,</a:t>
            </a:r>
            <a:r>
              <a:rPr lang="en-US" sz="2400" dirty="0" smtClean="0">
                <a:solidFill>
                  <a:srgbClr val="333399"/>
                </a:solidFill>
                <a:sym typeface="Wingdings" panose="05000000000000000000" pitchFamily="2" charset="2"/>
              </a:rPr>
              <a:t> dynamic programming)</a:t>
            </a:r>
            <a:r>
              <a:rPr lang="zh-CN" altLang="en-US" sz="2400" dirty="0" smtClean="0">
                <a:solidFill>
                  <a:srgbClr val="333399"/>
                </a:solidFill>
                <a:sym typeface="Wingdings" panose="05000000000000000000" pitchFamily="2" charset="2"/>
              </a:rPr>
              <a:t>的优化方案</a:t>
            </a:r>
            <a:endParaRPr lang="en-US" sz="2400" dirty="0">
              <a:solidFill>
                <a:srgbClr val="333399"/>
              </a:solidFill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2423592" y="3897052"/>
            <a:ext cx="7812868" cy="104411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b="1" smtClean="0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fld id="{62764DD8-4325-4F79-8E26-DD5D1C3312B3}" type="slidenum">
              <a:rPr lang="en-US" sz="1400" kern="1200" smtClean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rPr>
            </a:fld>
            <a:endParaRPr lang="en-US" sz="1400" kern="1200">
              <a:solidFill>
                <a:srgbClr val="00000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67063" y="1242257"/>
            <a:ext cx="2736303" cy="1826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6" name="Content Placeholder 5"/>
          <p:cNvSpPr>
            <a:spLocks noGrp="1"/>
          </p:cNvSpPr>
          <p:nvPr>
            <p:ph idx="1"/>
          </p:nvPr>
        </p:nvSpPr>
        <p:spPr>
          <a:xfrm>
            <a:off x="1981200" y="851535"/>
            <a:ext cx="9595485" cy="2201545"/>
          </a:xfrm>
        </p:spPr>
        <p:txBody>
          <a:bodyPr>
            <a:normAutofit fontScale="25000" lnSpcReduction="20000"/>
          </a:bodyPr>
          <a:lstStyle/>
          <a:p>
            <a:endParaRPr lang="en-US" sz="2800" dirty="0" smtClean="0"/>
          </a:p>
          <a:p>
            <a:pPr marL="0" indent="0">
              <a:buNone/>
            </a:pPr>
            <a:endParaRPr lang="en-US" sz="2800" dirty="0" smtClean="0"/>
          </a:p>
          <a:p>
            <a:r>
              <a:rPr lang="zh-CN" altLang="en-US" sz="9600" dirty="0" smtClean="0">
                <a:solidFill>
                  <a:schemeClr val="tx1"/>
                </a:solidFill>
              </a:rPr>
              <a:t>移走不太注意的低能量的</a:t>
            </a:r>
            <a:r>
              <a:rPr lang="en-US" altLang="zh-CN" sz="9600" dirty="0" smtClean="0">
                <a:solidFill>
                  <a:schemeClr val="tx1"/>
                </a:solidFill>
              </a:rPr>
              <a:t>seam</a:t>
            </a:r>
            <a:r>
              <a:rPr lang="en-US" sz="9600" dirty="0" smtClean="0">
                <a:solidFill>
                  <a:schemeClr val="tx1"/>
                </a:solidFill>
              </a:rPr>
              <a:t>:</a:t>
            </a:r>
            <a:endParaRPr lang="en-US" sz="9600" dirty="0" smtClean="0">
              <a:solidFill>
                <a:schemeClr val="tx1"/>
              </a:solidFill>
            </a:endParaRPr>
          </a:p>
          <a:p>
            <a:pPr lvl="1"/>
            <a:r>
              <a:rPr lang="zh-CN" altLang="en-US" sz="9600" dirty="0" smtClean="0">
                <a:solidFill>
                  <a:schemeClr val="tx1"/>
                </a:solidFill>
              </a:rPr>
              <a:t>采样梯度幅值或显著度度量能量</a:t>
            </a:r>
            <a:endParaRPr lang="en-US" sz="9600" dirty="0" smtClean="0">
              <a:solidFill>
                <a:schemeClr val="tx1"/>
              </a:solidFill>
            </a:endParaRPr>
          </a:p>
          <a:p>
            <a:r>
              <a:rPr lang="zh-CN" altLang="en-US" sz="9600" dirty="0">
                <a:solidFill>
                  <a:schemeClr val="tx1"/>
                </a:solidFill>
              </a:rPr>
              <a:t>选择</a:t>
            </a:r>
            <a:r>
              <a:rPr lang="zh-CN" altLang="en-US" sz="9600" dirty="0" smtClean="0">
                <a:solidFill>
                  <a:schemeClr val="tx1"/>
                </a:solidFill>
              </a:rPr>
              <a:t>在八连通范围内</a:t>
            </a:r>
            <a:r>
              <a:rPr lang="en-US" altLang="zh-CN" sz="9600" dirty="0" smtClean="0">
                <a:solidFill>
                  <a:schemeClr val="tx1"/>
                </a:solidFill>
              </a:rPr>
              <a:t>, </a:t>
            </a:r>
            <a:r>
              <a:rPr lang="zh-CN" altLang="en-US" sz="9600" dirty="0" smtClean="0">
                <a:solidFill>
                  <a:schemeClr val="tx1"/>
                </a:solidFill>
              </a:rPr>
              <a:t>具有跨图像最小能量路径的</a:t>
            </a:r>
            <a:r>
              <a:rPr lang="en-US" altLang="zh-CN" sz="9600" dirty="0" smtClean="0">
                <a:solidFill>
                  <a:schemeClr val="tx1"/>
                </a:solidFill>
              </a:rPr>
              <a:t>seam</a:t>
            </a:r>
            <a:endParaRPr lang="en-US" sz="2800" dirty="0" smtClean="0">
              <a:solidFill>
                <a:schemeClr val="tx1"/>
              </a:solidFill>
            </a:endParaRPr>
          </a:p>
        </p:txBody>
      </p:sp>
      <p:sp>
        <p:nvSpPr>
          <p:cNvPr id="8" name="Title 6"/>
          <p:cNvSpPr txBox="1"/>
          <p:nvPr/>
        </p:nvSpPr>
        <p:spPr bwMode="auto">
          <a:xfrm>
            <a:off x="2135560" y="80628"/>
            <a:ext cx="8098668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800" kern="0" dirty="0" smtClean="0">
                <a:solidFill>
                  <a:srgbClr val="000000"/>
                </a:solidFill>
              </a:rPr>
              <a:t>Seam carving:</a:t>
            </a:r>
            <a:r>
              <a:rPr lang="zh-CN" altLang="en-US" sz="3800" dirty="0"/>
              <a:t>基本思想</a:t>
            </a:r>
            <a:endParaRPr lang="en-US" sz="3800" kern="0" dirty="0" smtClean="0">
              <a:solidFill>
                <a:srgbClr val="000000"/>
              </a:solidFill>
            </a:endParaRP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224973" y="3283454"/>
            <a:ext cx="2736303" cy="1826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41297" y="3247450"/>
            <a:ext cx="2736303" cy="1826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4512713" y="5222843"/>
          <a:ext cx="17399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689" name="Equation" r:id="rId3" imgW="825500" imgH="203200" progId="Equation.3">
                  <p:embed/>
                </p:oleObj>
              </mc:Choice>
              <mc:Fallback>
                <p:oleObj name="Equation" r:id="rId3" imgW="825500" imgH="203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2713" y="5222843"/>
                        <a:ext cx="1739900" cy="428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0" descr="Edittex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6" cstate="print"/>
          <a:srcRect l="33994" t="-5387"/>
          <a:stretch>
            <a:fillRect/>
          </a:stretch>
        </p:blipFill>
        <p:spPr bwMode="auto">
          <a:xfrm>
            <a:off x="6169405" y="5094565"/>
            <a:ext cx="2447764" cy="704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fld id="{62764DD8-4325-4F79-8E26-DD5D1C3312B3}" type="slidenum">
              <a:rPr lang="en-US" sz="1400" kern="1200" smtClean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rPr>
            </a:fld>
            <a:endParaRPr lang="en-US" sz="1400" kern="1200">
              <a:solidFill>
                <a:srgbClr val="00000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fld id="{62764DD8-4325-4F79-8E26-DD5D1C3312B3}" type="slidenum">
              <a:rPr lang="en-US" sz="1400" kern="1200" smtClean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rPr>
            </a:fld>
            <a:endParaRPr lang="en-US" sz="1400" kern="1200" dirty="0">
              <a:solidFill>
                <a:srgbClr val="00000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2" name="Group 34"/>
          <p:cNvGrpSpPr/>
          <p:nvPr/>
        </p:nvGrpSpPr>
        <p:grpSpPr>
          <a:xfrm>
            <a:off x="1631504" y="2492896"/>
            <a:ext cx="1143000" cy="914400"/>
            <a:chOff x="482588" y="1196752"/>
            <a:chExt cx="1143000" cy="914400"/>
          </a:xfrm>
        </p:grpSpPr>
        <p:sp>
          <p:nvSpPr>
            <p:cNvPr id="36" name="Rectangle 35"/>
            <p:cNvSpPr/>
            <p:nvPr/>
          </p:nvSpPr>
          <p:spPr bwMode="auto">
            <a:xfrm>
              <a:off x="482588" y="1653952"/>
              <a:ext cx="381000" cy="457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 smtClean="0">
                <a:solidFill>
                  <a:srgbClr val="000000"/>
                </a:solidFill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863588" y="1653952"/>
              <a:ext cx="381000" cy="457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 smtClean="0">
                <a:solidFill>
                  <a:srgbClr val="000000"/>
                </a:solidFill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1244588" y="1653952"/>
              <a:ext cx="381000" cy="457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 smtClean="0">
                <a:solidFill>
                  <a:srgbClr val="000000"/>
                </a:solidFill>
              </a:endParaRP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863588" y="1196752"/>
              <a:ext cx="381000" cy="457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 smtClean="0">
                <a:solidFill>
                  <a:srgbClr val="000000"/>
                </a:solidFill>
              </a:endParaRPr>
            </a:p>
          </p:txBody>
        </p:sp>
        <p:cxnSp>
          <p:nvCxnSpPr>
            <p:cNvPr id="40" name="Straight Arrow Connector 39"/>
            <p:cNvCxnSpPr>
              <a:stCxn id="39" idx="2"/>
            </p:cNvCxnSpPr>
            <p:nvPr/>
          </p:nvCxnSpPr>
          <p:spPr bwMode="auto">
            <a:xfrm rot="5400000">
              <a:off x="692138" y="1596802"/>
              <a:ext cx="304800" cy="4191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1" name="Straight Arrow Connector 40"/>
            <p:cNvCxnSpPr>
              <a:stCxn id="39" idx="2"/>
            </p:cNvCxnSpPr>
            <p:nvPr/>
          </p:nvCxnSpPr>
          <p:spPr bwMode="auto">
            <a:xfrm rot="16200000" flipH="1">
              <a:off x="920738" y="1787302"/>
              <a:ext cx="304800" cy="381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2" name="Straight Arrow Connector 41"/>
            <p:cNvCxnSpPr>
              <a:stCxn id="39" idx="2"/>
            </p:cNvCxnSpPr>
            <p:nvPr/>
          </p:nvCxnSpPr>
          <p:spPr bwMode="auto">
            <a:xfrm rot="16200000" flipH="1">
              <a:off x="1111238" y="1596802"/>
              <a:ext cx="304800" cy="4191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3" name="Group 26"/>
          <p:cNvGrpSpPr/>
          <p:nvPr/>
        </p:nvGrpSpPr>
        <p:grpSpPr>
          <a:xfrm>
            <a:off x="2027548" y="2024844"/>
            <a:ext cx="1143000" cy="914400"/>
            <a:chOff x="482588" y="1196752"/>
            <a:chExt cx="1143000" cy="914400"/>
          </a:xfrm>
        </p:grpSpPr>
        <p:sp>
          <p:nvSpPr>
            <p:cNvPr id="28" name="Rectangle 27"/>
            <p:cNvSpPr/>
            <p:nvPr/>
          </p:nvSpPr>
          <p:spPr bwMode="auto">
            <a:xfrm>
              <a:off x="482588" y="1653952"/>
              <a:ext cx="381000" cy="457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 smtClean="0">
                <a:solidFill>
                  <a:srgbClr val="000000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863588" y="1653952"/>
              <a:ext cx="381000" cy="457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 smtClean="0">
                <a:solidFill>
                  <a:srgbClr val="000000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1244588" y="1653952"/>
              <a:ext cx="381000" cy="457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 smtClean="0">
                <a:solidFill>
                  <a:srgbClr val="000000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863588" y="1196752"/>
              <a:ext cx="381000" cy="457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 smtClean="0">
                <a:solidFill>
                  <a:srgbClr val="000000"/>
                </a:solidFill>
              </a:endParaRPr>
            </a:p>
          </p:txBody>
        </p:sp>
        <p:cxnSp>
          <p:nvCxnSpPr>
            <p:cNvPr id="32" name="Straight Arrow Connector 31"/>
            <p:cNvCxnSpPr>
              <a:stCxn id="31" idx="2"/>
            </p:cNvCxnSpPr>
            <p:nvPr/>
          </p:nvCxnSpPr>
          <p:spPr bwMode="auto">
            <a:xfrm rot="5400000">
              <a:off x="692138" y="1596802"/>
              <a:ext cx="304800" cy="4191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3" name="Straight Arrow Connector 32"/>
            <p:cNvCxnSpPr>
              <a:stCxn id="31" idx="2"/>
            </p:cNvCxnSpPr>
            <p:nvPr/>
          </p:nvCxnSpPr>
          <p:spPr bwMode="auto">
            <a:xfrm rot="16200000" flipH="1">
              <a:off x="920738" y="1787302"/>
              <a:ext cx="304800" cy="381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4" name="Straight Arrow Connector 33"/>
            <p:cNvCxnSpPr>
              <a:stCxn id="31" idx="2"/>
            </p:cNvCxnSpPr>
            <p:nvPr/>
          </p:nvCxnSpPr>
          <p:spPr bwMode="auto">
            <a:xfrm rot="16200000" flipH="1">
              <a:off x="1111238" y="1596802"/>
              <a:ext cx="304800" cy="4191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4" name="Group 18"/>
          <p:cNvGrpSpPr/>
          <p:nvPr/>
        </p:nvGrpSpPr>
        <p:grpSpPr>
          <a:xfrm>
            <a:off x="2063552" y="1556792"/>
            <a:ext cx="1143000" cy="914400"/>
            <a:chOff x="482588" y="1196752"/>
            <a:chExt cx="1143000" cy="914400"/>
          </a:xfrm>
        </p:grpSpPr>
        <p:sp>
          <p:nvSpPr>
            <p:cNvPr id="20" name="Rectangle 19"/>
            <p:cNvSpPr/>
            <p:nvPr/>
          </p:nvSpPr>
          <p:spPr bwMode="auto">
            <a:xfrm>
              <a:off x="482588" y="1653952"/>
              <a:ext cx="381000" cy="457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 smtClean="0">
                <a:solidFill>
                  <a:srgbClr val="000000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863588" y="1653952"/>
              <a:ext cx="381000" cy="457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 smtClean="0">
                <a:solidFill>
                  <a:srgbClr val="000000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1244588" y="1653952"/>
              <a:ext cx="381000" cy="457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 smtClean="0">
                <a:solidFill>
                  <a:srgbClr val="000000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863588" y="1196752"/>
              <a:ext cx="381000" cy="457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 smtClean="0">
                <a:solidFill>
                  <a:srgbClr val="000000"/>
                </a:solidFill>
              </a:endParaRPr>
            </a:p>
          </p:txBody>
        </p:sp>
        <p:cxnSp>
          <p:nvCxnSpPr>
            <p:cNvPr id="24" name="Straight Arrow Connector 23"/>
            <p:cNvCxnSpPr>
              <a:stCxn id="23" idx="2"/>
            </p:cNvCxnSpPr>
            <p:nvPr/>
          </p:nvCxnSpPr>
          <p:spPr bwMode="auto">
            <a:xfrm rot="5400000">
              <a:off x="692138" y="1596802"/>
              <a:ext cx="304800" cy="4191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5" name="Straight Arrow Connector 24"/>
            <p:cNvCxnSpPr>
              <a:stCxn id="23" idx="2"/>
            </p:cNvCxnSpPr>
            <p:nvPr/>
          </p:nvCxnSpPr>
          <p:spPr bwMode="auto">
            <a:xfrm rot="16200000" flipH="1">
              <a:off x="920738" y="1787302"/>
              <a:ext cx="304800" cy="381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6" name="Straight Arrow Connector 25"/>
            <p:cNvCxnSpPr>
              <a:stCxn id="23" idx="2"/>
            </p:cNvCxnSpPr>
            <p:nvPr/>
          </p:nvCxnSpPr>
          <p:spPr bwMode="auto">
            <a:xfrm rot="16200000" flipH="1">
              <a:off x="1111238" y="1596802"/>
              <a:ext cx="304800" cy="4191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141316" name="Content Placeholder 5"/>
          <p:cNvSpPr>
            <a:spLocks noGrp="1"/>
          </p:cNvSpPr>
          <p:nvPr>
            <p:ph idx="1"/>
          </p:nvPr>
        </p:nvSpPr>
        <p:spPr>
          <a:xfrm>
            <a:off x="1991544" y="3657600"/>
            <a:ext cx="7956884" cy="3007122"/>
          </a:xfrm>
        </p:spPr>
        <p:txBody>
          <a:bodyPr>
            <a:normAutofit fontScale="90000" lnSpcReduction="10000"/>
          </a:bodyPr>
          <a:lstStyle/>
          <a:p>
            <a:pPr>
              <a:spcAft>
                <a:spcPts val="1200"/>
              </a:spcAft>
              <a:buNone/>
            </a:pPr>
            <a:r>
              <a:rPr lang="zh-CN" altLang="en-US" sz="2700" b="1" dirty="0" smtClean="0"/>
              <a:t>一</a:t>
            </a:r>
            <a:r>
              <a:rPr lang="zh-CN" altLang="en-US" sz="2700" b="1" dirty="0"/>
              <a:t>个垂直缝隙 </a:t>
            </a:r>
            <a:r>
              <a:rPr lang="en-US" altLang="zh-CN" sz="2700" b="1" i="1" dirty="0" smtClean="0"/>
              <a:t>S</a:t>
            </a:r>
            <a:r>
              <a:rPr lang="en-US" altLang="zh-CN" sz="2700" b="1" dirty="0" smtClean="0"/>
              <a:t> </a:t>
            </a:r>
            <a:r>
              <a:rPr lang="zh-CN" altLang="en-US" sz="2700" b="1" dirty="0"/>
              <a:t>由 </a:t>
            </a:r>
            <a:r>
              <a:rPr lang="en-US" altLang="zh-CN" sz="2700" b="1" dirty="0" smtClean="0"/>
              <a:t>h </a:t>
            </a:r>
            <a:r>
              <a:rPr lang="zh-CN" altLang="en-US" sz="2700" b="1" dirty="0"/>
              <a:t>个位置组成，这些位置形成一个</a:t>
            </a:r>
            <a:r>
              <a:rPr lang="en-US" altLang="zh-CN" sz="2700" b="1" dirty="0" smtClean="0"/>
              <a:t>8</a:t>
            </a:r>
            <a:r>
              <a:rPr lang="zh-CN" altLang="en-US" sz="2700" b="1" dirty="0" smtClean="0"/>
              <a:t>联通的</a:t>
            </a:r>
            <a:r>
              <a:rPr lang="zh-CN" altLang="en-US" sz="2700" b="1" dirty="0"/>
              <a:t>路径</a:t>
            </a:r>
            <a:r>
              <a:rPr lang="zh-CN" altLang="en-US" sz="2700" b="1" dirty="0" smtClean="0"/>
              <a:t>。</a:t>
            </a:r>
            <a:endParaRPr lang="en-US" altLang="zh-CN" sz="2700" b="1" dirty="0" smtClean="0"/>
          </a:p>
          <a:p>
            <a:pPr>
              <a:spcAft>
                <a:spcPts val="1200"/>
              </a:spcAft>
              <a:buNone/>
            </a:pPr>
            <a:r>
              <a:rPr lang="zh-CN" altLang="en-US" sz="2700" b="1" dirty="0" smtClean="0"/>
              <a:t>一条缝隙的能量为</a:t>
            </a:r>
            <a:r>
              <a:rPr lang="en-US" sz="2700" b="1" dirty="0" smtClean="0"/>
              <a:t>:</a:t>
            </a:r>
            <a:endParaRPr lang="en-US" sz="2700" b="1" dirty="0" smtClean="0"/>
          </a:p>
          <a:p>
            <a:pPr>
              <a:spcAft>
                <a:spcPts val="1200"/>
              </a:spcAft>
              <a:buNone/>
            </a:pPr>
            <a:r>
              <a:rPr lang="zh-CN" altLang="en-US" sz="2700" b="1" dirty="0" smtClean="0"/>
              <a:t>最小能量</a:t>
            </a:r>
            <a:r>
              <a:rPr lang="zh-CN" altLang="en-US" sz="2700" b="1" dirty="0"/>
              <a:t>作为最优的缝隙</a:t>
            </a:r>
            <a:r>
              <a:rPr lang="en-US" sz="2700" b="1" dirty="0"/>
              <a:t>:</a:t>
            </a:r>
            <a:endParaRPr lang="en-US" sz="2700" b="1" dirty="0"/>
          </a:p>
          <a:p>
            <a:pPr>
              <a:spcAft>
                <a:spcPts val="1200"/>
              </a:spcAft>
              <a:buNone/>
            </a:pPr>
            <a:r>
              <a:rPr lang="zh-CN" altLang="en-US" sz="2700" b="1" dirty="0"/>
              <a:t>使用动态规划高效计算。</a:t>
            </a:r>
            <a:endParaRPr lang="en-US" sz="2700" b="1" dirty="0"/>
          </a:p>
          <a:p>
            <a:pPr>
              <a:spcAft>
                <a:spcPts val="1200"/>
              </a:spcAft>
            </a:pPr>
            <a:endParaRPr lang="en-US" sz="2800" b="1" dirty="0" smtClean="0"/>
          </a:p>
        </p:txBody>
      </p:sp>
      <p:pic>
        <p:nvPicPr>
          <p:cNvPr id="141317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323692" y="1196752"/>
            <a:ext cx="2736303" cy="1826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1318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0016" y="1160748"/>
            <a:ext cx="2736303" cy="1826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6"/>
          <p:cNvSpPr txBox="1"/>
          <p:nvPr/>
        </p:nvSpPr>
        <p:spPr bwMode="auto">
          <a:xfrm>
            <a:off x="2135560" y="80628"/>
            <a:ext cx="8098668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800" kern="0" dirty="0" smtClean="0">
                <a:solidFill>
                  <a:srgbClr val="000000"/>
                </a:solidFill>
              </a:rPr>
              <a:t>Seam carving: </a:t>
            </a:r>
            <a:r>
              <a:rPr lang="zh-CN" altLang="en-US" sz="3800" kern="0" dirty="0" smtClean="0">
                <a:solidFill>
                  <a:srgbClr val="000000"/>
                </a:solidFill>
              </a:rPr>
              <a:t>算法</a:t>
            </a:r>
            <a:endParaRPr lang="en-US" sz="3800" kern="0" dirty="0" smtClean="0">
              <a:solidFill>
                <a:srgbClr val="000000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5007605" y="4413188"/>
          <a:ext cx="3688862" cy="935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746" name="Equation" r:id="rId3" imgW="1701800" imgH="431800" progId="Equation.3">
                  <p:embed/>
                </p:oleObj>
              </mc:Choice>
              <mc:Fallback>
                <p:oleObj name="Equation" r:id="rId3" imgW="17018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7605" y="4413188"/>
                        <a:ext cx="3688862" cy="9359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7"/>
          <p:cNvGrpSpPr/>
          <p:nvPr/>
        </p:nvGrpSpPr>
        <p:grpSpPr>
          <a:xfrm>
            <a:off x="1667508" y="1088740"/>
            <a:ext cx="1143000" cy="914400"/>
            <a:chOff x="482588" y="1196752"/>
            <a:chExt cx="1143000" cy="914400"/>
          </a:xfrm>
        </p:grpSpPr>
        <p:sp>
          <p:nvSpPr>
            <p:cNvPr id="11" name="Rectangle 10"/>
            <p:cNvSpPr/>
            <p:nvPr/>
          </p:nvSpPr>
          <p:spPr bwMode="auto">
            <a:xfrm>
              <a:off x="482588" y="1653952"/>
              <a:ext cx="381000" cy="457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 smtClean="0">
                <a:solidFill>
                  <a:srgbClr val="000000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863588" y="1653952"/>
              <a:ext cx="381000" cy="457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 smtClean="0">
                <a:solidFill>
                  <a:srgbClr val="000000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1244588" y="1653952"/>
              <a:ext cx="381000" cy="457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 smtClean="0">
                <a:solidFill>
                  <a:srgbClr val="000000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863588" y="1196752"/>
              <a:ext cx="381000" cy="457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 smtClean="0">
                <a:solidFill>
                  <a:srgbClr val="000000"/>
                </a:solidFill>
              </a:endParaRPr>
            </a:p>
          </p:txBody>
        </p:sp>
        <p:cxnSp>
          <p:nvCxnSpPr>
            <p:cNvPr id="15" name="Straight Arrow Connector 14"/>
            <p:cNvCxnSpPr>
              <a:stCxn id="14" idx="2"/>
            </p:cNvCxnSpPr>
            <p:nvPr/>
          </p:nvCxnSpPr>
          <p:spPr bwMode="auto">
            <a:xfrm rot="5400000">
              <a:off x="692138" y="1596802"/>
              <a:ext cx="304800" cy="4191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6" name="Straight Arrow Connector 15"/>
            <p:cNvCxnSpPr>
              <a:stCxn id="14" idx="2"/>
            </p:cNvCxnSpPr>
            <p:nvPr/>
          </p:nvCxnSpPr>
          <p:spPr bwMode="auto">
            <a:xfrm rot="16200000" flipH="1">
              <a:off x="920738" y="1787302"/>
              <a:ext cx="304800" cy="381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7" name="Straight Arrow Connector 16"/>
            <p:cNvCxnSpPr>
              <a:stCxn id="14" idx="2"/>
            </p:cNvCxnSpPr>
            <p:nvPr/>
          </p:nvCxnSpPr>
          <p:spPr bwMode="auto">
            <a:xfrm rot="16200000" flipH="1">
              <a:off x="1111238" y="1596802"/>
              <a:ext cx="304800" cy="4191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43" name="Rectangle 42"/>
          <p:cNvSpPr/>
          <p:nvPr/>
        </p:nvSpPr>
        <p:spPr bwMode="auto">
          <a:xfrm>
            <a:off x="2063552" y="1088740"/>
            <a:ext cx="360040" cy="432048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b="1" smtClean="0">
              <a:solidFill>
                <a:srgbClr val="000000"/>
              </a:solidFill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2423592" y="1556792"/>
            <a:ext cx="360040" cy="432048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b="1" smtClean="0">
              <a:solidFill>
                <a:srgbClr val="000000"/>
              </a:solidFill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2459596" y="2024844"/>
            <a:ext cx="360040" cy="432048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b="1" smtClean="0">
              <a:solidFill>
                <a:srgbClr val="000000"/>
              </a:solidFill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2459596" y="2492896"/>
            <a:ext cx="360040" cy="432048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b="1" smtClean="0">
              <a:solidFill>
                <a:srgbClr val="000000"/>
              </a:solidFill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2063552" y="2960948"/>
            <a:ext cx="360040" cy="432048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b="1" smtClean="0">
              <a:solidFill>
                <a:srgbClr val="000000"/>
              </a:solidFill>
            </a:endParaRPr>
          </a:p>
        </p:txBody>
      </p:sp>
      <p:cxnSp>
        <p:nvCxnSpPr>
          <p:cNvPr id="49" name="Shape 48"/>
          <p:cNvCxnSpPr>
            <a:endCxn id="43" idx="0"/>
          </p:cNvCxnSpPr>
          <p:nvPr/>
        </p:nvCxnSpPr>
        <p:spPr bwMode="auto">
          <a:xfrm rot="10800000">
            <a:off x="2243572" y="1088740"/>
            <a:ext cx="1296144" cy="108012"/>
          </a:xfrm>
          <a:prstGeom prst="curvedConnector4">
            <a:avLst>
              <a:gd name="adj1" fmla="val 43056"/>
              <a:gd name="adj2" fmla="val 311643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52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240017" y="1160748"/>
            <a:ext cx="2736303" cy="1826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3" name="Object 52"/>
          <p:cNvGraphicFramePr>
            <a:graphicFrameLocks noChangeAspect="1"/>
          </p:cNvGraphicFramePr>
          <p:nvPr/>
        </p:nvGraphicFramePr>
        <p:xfrm>
          <a:off x="6387910" y="5296482"/>
          <a:ext cx="2160240" cy="586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747" name="Equation" r:id="rId5" imgW="1028700" imgH="279400" progId="Equation.3">
                  <p:embed/>
                </p:oleObj>
              </mc:Choice>
              <mc:Fallback>
                <p:oleObj name="Equation" r:id="rId5" imgW="1028700" imgH="27940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7910" y="5296482"/>
                        <a:ext cx="2160240" cy="5867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8"/>
          <p:cNvGrpSpPr/>
          <p:nvPr/>
        </p:nvGrpSpPr>
        <p:grpSpPr>
          <a:xfrm>
            <a:off x="2063552" y="1115452"/>
            <a:ext cx="828092" cy="2249800"/>
            <a:chOff x="539552" y="1115452"/>
            <a:chExt cx="828092" cy="2249800"/>
          </a:xfrm>
        </p:grpSpPr>
        <p:sp>
          <p:nvSpPr>
            <p:cNvPr id="54" name="TextBox 53"/>
            <p:cNvSpPr txBox="1"/>
            <p:nvPr/>
          </p:nvSpPr>
          <p:spPr>
            <a:xfrm>
              <a:off x="539552" y="1115452"/>
              <a:ext cx="43204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 smtClean="0">
                  <a:solidFill>
                    <a:srgbClr val="000000"/>
                  </a:solidFill>
                </a:rPr>
                <a:t>s</a:t>
              </a:r>
              <a:r>
                <a:rPr lang="en-US" baseline="-25000" dirty="0" smtClean="0">
                  <a:solidFill>
                    <a:srgbClr val="000000"/>
                  </a:solidFill>
                </a:rPr>
                <a:t>1</a:t>
              </a:r>
              <a:endParaRPr lang="en-US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99592" y="1583504"/>
              <a:ext cx="43204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 smtClean="0">
                  <a:solidFill>
                    <a:srgbClr val="000000"/>
                  </a:solidFill>
                </a:rPr>
                <a:t>s</a:t>
              </a:r>
              <a:r>
                <a:rPr lang="en-US" baseline="-25000" dirty="0" smtClean="0">
                  <a:solidFill>
                    <a:srgbClr val="000000"/>
                  </a:solidFill>
                </a:rPr>
                <a:t>2</a:t>
              </a:r>
              <a:endParaRPr lang="en-US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99592" y="2024844"/>
              <a:ext cx="43204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 smtClean="0">
                  <a:solidFill>
                    <a:srgbClr val="000000"/>
                  </a:solidFill>
                </a:rPr>
                <a:t>s</a:t>
              </a:r>
              <a:r>
                <a:rPr lang="en-US" baseline="-25000" dirty="0" smtClean="0">
                  <a:solidFill>
                    <a:srgbClr val="000000"/>
                  </a:solidFill>
                </a:rPr>
                <a:t>3</a:t>
              </a:r>
              <a:endParaRPr lang="en-US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935596" y="2483604"/>
              <a:ext cx="43204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 smtClean="0">
                  <a:solidFill>
                    <a:srgbClr val="000000"/>
                  </a:solidFill>
                </a:rPr>
                <a:t>s</a:t>
              </a:r>
              <a:r>
                <a:rPr lang="en-US" baseline="-25000" dirty="0" smtClean="0">
                  <a:solidFill>
                    <a:srgbClr val="000000"/>
                  </a:solidFill>
                </a:rPr>
                <a:t>4</a:t>
              </a:r>
              <a:endParaRPr lang="en-US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75556" y="2996952"/>
              <a:ext cx="43204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 smtClean="0">
                  <a:solidFill>
                    <a:srgbClr val="000000"/>
                  </a:solidFill>
                </a:rPr>
                <a:t>s</a:t>
              </a:r>
              <a:r>
                <a:rPr lang="en-US" baseline="-25000" dirty="0" smtClean="0">
                  <a:solidFill>
                    <a:srgbClr val="000000"/>
                  </a:solidFill>
                </a:rPr>
                <a:t>5</a:t>
              </a:r>
              <a:endParaRPr lang="en-US" baseline="-25000" dirty="0">
                <a:solidFill>
                  <a:srgbClr val="000000"/>
                </a:solidFill>
              </a:endParaRPr>
            </a:p>
          </p:txBody>
        </p:sp>
      </p:grpSp>
      <p:graphicFrame>
        <p:nvGraphicFramePr>
          <p:cNvPr id="60" name="Object 59"/>
          <p:cNvGraphicFramePr>
            <a:graphicFrameLocks noChangeAspect="1"/>
          </p:cNvGraphicFramePr>
          <p:nvPr/>
        </p:nvGraphicFramePr>
        <p:xfrm>
          <a:off x="6204012" y="3118706"/>
          <a:ext cx="17399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748" name="Equation" r:id="rId7" imgW="825500" imgH="203200" progId="Equation.3">
                  <p:embed/>
                </p:oleObj>
              </mc:Choice>
              <mc:Fallback>
                <p:oleObj name="Equation" r:id="rId7" imgW="825500" imgH="20320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4012" y="3118706"/>
                        <a:ext cx="1739900" cy="428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" name="Picture 30" descr="Edittex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10" cstate="print"/>
          <a:srcRect l="33994" t="-5387"/>
          <a:stretch>
            <a:fillRect/>
          </a:stretch>
        </p:blipFill>
        <p:spPr bwMode="auto">
          <a:xfrm>
            <a:off x="7860704" y="2990428"/>
            <a:ext cx="2447764" cy="704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6" dur="indefinite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67" dur="indefinite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bldLvl="0" animBg="1"/>
      <p:bldP spid="44" grpId="0" bldLvl="0" animBg="1"/>
      <p:bldP spid="45" grpId="0" bldLvl="0" animBg="1"/>
      <p:bldP spid="46" grpId="0" bldLvl="0" animBg="1"/>
      <p:bldP spid="47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8"/>
          <p:cNvGrpSpPr/>
          <p:nvPr/>
        </p:nvGrpSpPr>
        <p:grpSpPr>
          <a:xfrm>
            <a:off x="4799856" y="2492896"/>
            <a:ext cx="2259124" cy="457200"/>
            <a:chOff x="5076056" y="2590056"/>
            <a:chExt cx="2259124" cy="457200"/>
          </a:xfrm>
        </p:grpSpPr>
        <p:sp>
          <p:nvSpPr>
            <p:cNvPr id="8" name="Rectangle 7"/>
            <p:cNvSpPr/>
            <p:nvPr/>
          </p:nvSpPr>
          <p:spPr bwMode="auto">
            <a:xfrm>
              <a:off x="6192180" y="2590056"/>
              <a:ext cx="381000" cy="457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 smtClean="0">
                <a:solidFill>
                  <a:srgbClr val="000000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6573180" y="2590056"/>
              <a:ext cx="381000" cy="457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 smtClean="0">
                <a:solidFill>
                  <a:srgbClr val="000000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6954180" y="2590056"/>
              <a:ext cx="381000" cy="457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 smtClean="0">
                <a:solidFill>
                  <a:srgbClr val="000000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076056" y="2615027"/>
              <a:ext cx="115212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 smtClean="0">
                  <a:solidFill>
                    <a:srgbClr val="000000"/>
                  </a:solidFill>
                </a:rPr>
                <a:t>row </a:t>
              </a:r>
              <a:r>
                <a:rPr lang="en-US" i="1" dirty="0" smtClean="0">
                  <a:solidFill>
                    <a:srgbClr val="000000"/>
                  </a:solidFill>
                </a:rPr>
                <a:t>i-1</a:t>
              </a:r>
              <a:endParaRPr lang="en-US" i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4" name="Title 6"/>
          <p:cNvSpPr txBox="1"/>
          <p:nvPr/>
        </p:nvSpPr>
        <p:spPr bwMode="auto">
          <a:xfrm>
            <a:off x="2135560" y="80628"/>
            <a:ext cx="8098668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800" kern="0" dirty="0" smtClean="0">
                <a:solidFill>
                  <a:srgbClr val="000000"/>
                </a:solidFill>
              </a:rPr>
              <a:t>Seam carving: </a:t>
            </a:r>
            <a:r>
              <a:rPr lang="zh-CN" altLang="en-US" sz="3800" kern="0" dirty="0" smtClean="0">
                <a:solidFill>
                  <a:srgbClr val="000000"/>
                </a:solidFill>
              </a:rPr>
              <a:t>算法</a:t>
            </a:r>
            <a:endParaRPr lang="en-US" sz="3800" kern="0" dirty="0" smtClean="0">
              <a:solidFill>
                <a:srgbClr val="000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1981200" y="1016732"/>
            <a:ext cx="8661662" cy="5402922"/>
          </a:xfrm>
        </p:spPr>
        <p:txBody>
          <a:bodyPr>
            <a:normAutofit fontScale="90000" lnSpcReduction="10000"/>
          </a:bodyPr>
          <a:lstStyle/>
          <a:p>
            <a:r>
              <a:rPr lang="zh-CN" altLang="en-US" sz="2500" b="1" dirty="0" smtClean="0">
                <a:solidFill>
                  <a:schemeClr val="tx1"/>
                </a:solidFill>
              </a:rPr>
              <a:t>针对所有可能连接的</a:t>
            </a:r>
            <a:r>
              <a:rPr lang="en-US" altLang="zh-CN" sz="2500" b="1" dirty="0" smtClean="0">
                <a:solidFill>
                  <a:schemeClr val="tx1"/>
                </a:solidFill>
              </a:rPr>
              <a:t>seams</a:t>
            </a:r>
            <a:r>
              <a:rPr lang="zh-CN" altLang="en-US" sz="2500" b="1" dirty="0" smtClean="0">
                <a:solidFill>
                  <a:schemeClr val="tx1"/>
                </a:solidFill>
              </a:rPr>
              <a:t>，</a:t>
            </a:r>
            <a:r>
              <a:rPr lang="en-US" altLang="zh-CN" sz="2500" b="1" dirty="0" smtClean="0">
                <a:solidFill>
                  <a:schemeClr val="tx1"/>
                </a:solidFill>
              </a:rPr>
              <a:t> </a:t>
            </a:r>
            <a:r>
              <a:rPr lang="zh-CN" altLang="en-US" sz="2500" b="1" dirty="0" smtClean="0">
                <a:solidFill>
                  <a:schemeClr val="tx1"/>
                </a:solidFill>
              </a:rPr>
              <a:t>在每个像素点</a:t>
            </a:r>
            <a:r>
              <a:rPr lang="en-US" sz="2500" b="1" dirty="0" smtClean="0">
                <a:solidFill>
                  <a:schemeClr val="tx1"/>
                </a:solidFill>
              </a:rPr>
              <a:t> </a:t>
            </a:r>
            <a:r>
              <a:rPr lang="en-US" sz="2500" b="1" i="1" dirty="0" smtClean="0">
                <a:solidFill>
                  <a:schemeClr val="tx1"/>
                </a:solidFill>
              </a:rPr>
              <a:t>(</a:t>
            </a:r>
            <a:r>
              <a:rPr lang="en-US" sz="2500" b="1" i="1" dirty="0" err="1" smtClean="0">
                <a:solidFill>
                  <a:schemeClr val="tx1"/>
                </a:solidFill>
              </a:rPr>
              <a:t>i,j</a:t>
            </a:r>
            <a:r>
              <a:rPr lang="en-US" sz="2500" b="1" i="1" dirty="0" smtClean="0">
                <a:solidFill>
                  <a:schemeClr val="tx1"/>
                </a:solidFill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</a:rPr>
              <a:t>计算累计最小</a:t>
            </a:r>
            <a:r>
              <a:rPr lang="zh-CN" altLang="en-US" sz="2500" b="1" dirty="0" smtClean="0">
                <a:solidFill>
                  <a:schemeClr val="tx1"/>
                </a:solidFill>
              </a:rPr>
              <a:t>能量</a:t>
            </a:r>
            <a:r>
              <a:rPr lang="en-US" sz="2500" b="1" dirty="0" smtClean="0">
                <a:solidFill>
                  <a:schemeClr val="tx1"/>
                </a:solidFill>
              </a:rPr>
              <a:t>:</a:t>
            </a:r>
            <a:endParaRPr lang="en-US" sz="2500" b="1" dirty="0" smtClean="0">
              <a:solidFill>
                <a:schemeClr val="tx1"/>
              </a:solidFill>
            </a:endParaRPr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r>
              <a:rPr lang="zh-CN" altLang="en-US" sz="2700" b="1" dirty="0" smtClean="0">
                <a:solidFill>
                  <a:schemeClr val="tx1"/>
                </a:solidFill>
              </a:rPr>
              <a:t>上一行</a:t>
            </a:r>
            <a:r>
              <a:rPr lang="en-US" altLang="zh-CN" sz="2700" b="1" dirty="0" smtClean="0">
                <a:solidFill>
                  <a:schemeClr val="tx1"/>
                </a:solidFill>
              </a:rPr>
              <a:t>M</a:t>
            </a:r>
            <a:r>
              <a:rPr lang="zh-CN" altLang="en-US" sz="2700" b="1" dirty="0" smtClean="0">
                <a:solidFill>
                  <a:schemeClr val="tx1"/>
                </a:solidFill>
              </a:rPr>
              <a:t>的最小值表明最小竖直的</a:t>
            </a:r>
            <a:r>
              <a:rPr lang="en-US" altLang="zh-CN" sz="2700" b="1" dirty="0" smtClean="0">
                <a:solidFill>
                  <a:schemeClr val="tx1"/>
                </a:solidFill>
              </a:rPr>
              <a:t>seam</a:t>
            </a:r>
            <a:r>
              <a:rPr lang="en-US" sz="2700" b="1" dirty="0" smtClean="0">
                <a:solidFill>
                  <a:schemeClr val="tx1"/>
                </a:solidFill>
              </a:rPr>
              <a:t>  </a:t>
            </a:r>
            <a:endParaRPr lang="en-US" sz="2700" b="1" dirty="0" smtClean="0">
              <a:solidFill>
                <a:schemeClr val="tx1"/>
              </a:solidFill>
            </a:endParaRPr>
          </a:p>
          <a:p>
            <a:r>
              <a:rPr lang="zh-CN" altLang="en-US" sz="2700" b="1" dirty="0" smtClean="0">
                <a:solidFill>
                  <a:schemeClr val="tx1"/>
                </a:solidFill>
              </a:rPr>
              <a:t>选择三个</a:t>
            </a:r>
            <a:r>
              <a:rPr lang="zh-CN" altLang="en-US" sz="2700" b="1" dirty="0">
                <a:solidFill>
                  <a:schemeClr val="tx1"/>
                </a:solidFill>
              </a:rPr>
              <a:t>中</a:t>
            </a:r>
            <a:r>
              <a:rPr lang="zh-CN" altLang="en-US" sz="2700" b="1" dirty="0" smtClean="0">
                <a:solidFill>
                  <a:schemeClr val="tx1"/>
                </a:solidFill>
              </a:rPr>
              <a:t>最小的</a:t>
            </a:r>
            <a:endParaRPr lang="en-US" sz="2700" b="1" dirty="0" smtClean="0">
              <a:solidFill>
                <a:schemeClr val="tx1"/>
              </a:solidFill>
            </a:endParaRPr>
          </a:p>
          <a:p>
            <a:endParaRPr lang="en-US" sz="2000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315580" y="1927963"/>
          <a:ext cx="8261570" cy="430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41" name="Equation" r:id="rId1" imgW="4140200" imgH="215900" progId="Equation.3">
                  <p:embed/>
                </p:oleObj>
              </mc:Choice>
              <mc:Fallback>
                <p:oleObj name="Equation" r:id="rId1" imgW="4140200" imgH="215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5580" y="1927963"/>
                        <a:ext cx="8261570" cy="4303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879976" y="2555612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i="1" dirty="0" smtClean="0">
                <a:solidFill>
                  <a:srgbClr val="000000"/>
                </a:solidFill>
              </a:rPr>
              <a:t>j-1</a:t>
            </a:r>
            <a:endParaRPr lang="en-US" sz="2000" i="1" dirty="0">
              <a:solidFill>
                <a:srgbClr val="000000"/>
              </a:solidFill>
            </a:endParaRPr>
          </a:p>
        </p:txBody>
      </p:sp>
      <p:grpSp>
        <p:nvGrpSpPr>
          <p:cNvPr id="3" name="Group 27"/>
          <p:cNvGrpSpPr/>
          <p:nvPr/>
        </p:nvGrpSpPr>
        <p:grpSpPr>
          <a:xfrm>
            <a:off x="4799856" y="2946648"/>
            <a:ext cx="2376264" cy="457200"/>
            <a:chOff x="5076056" y="3043808"/>
            <a:chExt cx="2376264" cy="457200"/>
          </a:xfrm>
        </p:grpSpPr>
        <p:grpSp>
          <p:nvGrpSpPr>
            <p:cNvPr id="6" name="Group 26"/>
            <p:cNvGrpSpPr/>
            <p:nvPr/>
          </p:nvGrpSpPr>
          <p:grpSpPr>
            <a:xfrm>
              <a:off x="6573180" y="3043808"/>
              <a:ext cx="879140" cy="457200"/>
              <a:chOff x="6573180" y="3043808"/>
              <a:chExt cx="879140" cy="457200"/>
            </a:xfrm>
          </p:grpSpPr>
          <p:sp>
            <p:nvSpPr>
              <p:cNvPr id="11" name="Rectangle 10"/>
              <p:cNvSpPr/>
              <p:nvPr/>
            </p:nvSpPr>
            <p:spPr bwMode="auto">
              <a:xfrm>
                <a:off x="6573180" y="3043808"/>
                <a:ext cx="381000" cy="457200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6660232" y="3047075"/>
                <a:ext cx="7920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 smtClean="0">
                    <a:solidFill>
                      <a:srgbClr val="000000"/>
                    </a:solidFill>
                  </a:rPr>
                  <a:t>j</a:t>
                </a:r>
                <a:endParaRPr lang="en-US" sz="200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5076056" y="3058108"/>
              <a:ext cx="7920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 smtClean="0">
                  <a:solidFill>
                    <a:srgbClr val="000000"/>
                  </a:solidFill>
                </a:rPr>
                <a:t>row </a:t>
              </a:r>
              <a:r>
                <a:rPr lang="en-US" sz="2000" i="1" dirty="0" err="1" smtClean="0">
                  <a:solidFill>
                    <a:srgbClr val="000000"/>
                  </a:solidFill>
                </a:rPr>
                <a:t>i</a:t>
              </a:r>
              <a:endParaRPr lang="en-US" sz="2000" i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2" name="Group 29"/>
          <p:cNvGrpSpPr/>
          <p:nvPr/>
        </p:nvGrpSpPr>
        <p:grpSpPr>
          <a:xfrm>
            <a:off x="7162800" y="2492896"/>
            <a:ext cx="2863044" cy="2399925"/>
            <a:chOff x="2830488" y="2816932"/>
            <a:chExt cx="2863044" cy="2399925"/>
          </a:xfrm>
        </p:grpSpPr>
        <p:pic>
          <p:nvPicPr>
            <p:cNvPr id="480259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239852" y="2816932"/>
              <a:ext cx="2268253" cy="1518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" name="TextBox 21"/>
            <p:cNvSpPr txBox="1"/>
            <p:nvPr/>
          </p:nvSpPr>
          <p:spPr>
            <a:xfrm>
              <a:off x="2830488" y="4294837"/>
              <a:ext cx="2863044" cy="92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 smtClean="0">
                  <a:solidFill>
                    <a:srgbClr val="000000"/>
                  </a:solidFill>
                </a:rPr>
                <a:t>M </a:t>
              </a:r>
              <a:r>
                <a:rPr lang="zh-CN" altLang="en-US" b="1" dirty="0" smtClean="0">
                  <a:solidFill>
                    <a:srgbClr val="000000"/>
                  </a:solidFill>
                </a:rPr>
                <a:t>矩阵</a:t>
              </a:r>
              <a:r>
                <a:rPr lang="en-US" b="1" dirty="0" smtClean="0">
                  <a:solidFill>
                    <a:srgbClr val="000000"/>
                  </a:solidFill>
                </a:rPr>
                <a:t>: </a:t>
              </a:r>
              <a:endParaRPr lang="en-US" b="1" dirty="0" smtClean="0">
                <a:solidFill>
                  <a:srgbClr val="000000"/>
                </a:solidFill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/>
                <a:t>累积最小</a:t>
              </a:r>
              <a:r>
                <a:rPr lang="zh-CN" altLang="en-US" b="1" dirty="0" smtClean="0"/>
                <a:t>能量</a:t>
              </a:r>
              <a:endParaRPr lang="en-US" altLang="zh-CN" b="1" dirty="0" smtClean="0"/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 smtClean="0">
                  <a:solidFill>
                    <a:srgbClr val="000000"/>
                  </a:solidFill>
                </a:rPr>
                <a:t>(</a:t>
              </a:r>
              <a:r>
                <a:rPr lang="zh-CN" altLang="en-US" b="1" dirty="0" smtClean="0">
                  <a:solidFill>
                    <a:srgbClr val="000000"/>
                  </a:solidFill>
                </a:rPr>
                <a:t>垂直缝隙</a:t>
              </a:r>
              <a:r>
                <a:rPr lang="en-US" b="1" dirty="0" smtClean="0">
                  <a:solidFill>
                    <a:srgbClr val="000000"/>
                  </a:solidFill>
                </a:rPr>
                <a:t>)</a:t>
              </a:r>
              <a:endParaRPr lang="en-US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3" name="Group 41"/>
          <p:cNvGrpSpPr/>
          <p:nvPr/>
        </p:nvGrpSpPr>
        <p:grpSpPr>
          <a:xfrm>
            <a:off x="2027548" y="2528900"/>
            <a:ext cx="2592288" cy="2170163"/>
            <a:chOff x="431540" y="2528900"/>
            <a:chExt cx="2592288" cy="2170163"/>
          </a:xfrm>
        </p:grpSpPr>
        <p:pic>
          <p:nvPicPr>
            <p:cNvPr id="23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83568" y="2528900"/>
              <a:ext cx="2265928" cy="1512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" name="TextBox 23"/>
            <p:cNvSpPr txBox="1"/>
            <p:nvPr/>
          </p:nvSpPr>
          <p:spPr>
            <a:xfrm>
              <a:off x="431540" y="4053903"/>
              <a:ext cx="2592288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 smtClean="0">
                  <a:solidFill>
                    <a:srgbClr val="000000"/>
                  </a:solidFill>
                </a:rPr>
                <a:t>能量矩阵</a:t>
              </a:r>
              <a:endParaRPr lang="en-US" altLang="zh-CN" b="1" dirty="0" smtClean="0">
                <a:solidFill>
                  <a:srgbClr val="000000"/>
                </a:solidFill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 smtClean="0">
                  <a:solidFill>
                    <a:srgbClr val="000000"/>
                  </a:solidFill>
                </a:rPr>
                <a:t>(</a:t>
              </a:r>
              <a:r>
                <a:rPr lang="zh-CN" altLang="en-US" dirty="0"/>
                <a:t>梯度幅值</a:t>
              </a:r>
              <a:r>
                <a:rPr lang="en-US" b="1" dirty="0" smtClean="0">
                  <a:solidFill>
                    <a:srgbClr val="000000"/>
                  </a:solidFill>
                </a:rPr>
                <a:t>)</a:t>
              </a:r>
              <a:endParaRPr lang="en-US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6384032" y="2555612"/>
            <a:ext cx="79208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 dirty="0" smtClean="0">
                <a:solidFill>
                  <a:srgbClr val="000000"/>
                </a:solidFill>
              </a:rPr>
              <a:t>j</a:t>
            </a:r>
            <a:endParaRPr lang="en-US" i="1" dirty="0">
              <a:solidFill>
                <a:srgbClr val="00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36060" y="2564904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i="1" dirty="0" smtClean="0">
                <a:solidFill>
                  <a:srgbClr val="000000"/>
                </a:solidFill>
              </a:rPr>
              <a:t>j+1</a:t>
            </a:r>
            <a:endParaRPr lang="en-US" sz="2000" i="1" dirty="0">
              <a:solidFill>
                <a:srgbClr val="000000"/>
              </a:solidFill>
            </a:endParaRPr>
          </a:p>
        </p:txBody>
      </p:sp>
      <p:grpSp>
        <p:nvGrpSpPr>
          <p:cNvPr id="14" name="Group 42"/>
          <p:cNvGrpSpPr/>
          <p:nvPr/>
        </p:nvGrpSpPr>
        <p:grpSpPr>
          <a:xfrm>
            <a:off x="2279576" y="2528900"/>
            <a:ext cx="217168" cy="72008"/>
            <a:chOff x="683568" y="2528900"/>
            <a:chExt cx="217168" cy="72008"/>
          </a:xfrm>
        </p:grpSpPr>
        <p:sp>
          <p:nvSpPr>
            <p:cNvPr id="31" name="Rectangle 30"/>
            <p:cNvSpPr/>
            <p:nvPr/>
          </p:nvSpPr>
          <p:spPr bwMode="auto">
            <a:xfrm>
              <a:off x="683568" y="2528900"/>
              <a:ext cx="73152" cy="7200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755576" y="2528900"/>
              <a:ext cx="73152" cy="7200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827584" y="2528900"/>
              <a:ext cx="73152" cy="7200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34" name="Rectangle 33"/>
          <p:cNvSpPr/>
          <p:nvPr/>
        </p:nvSpPr>
        <p:spPr bwMode="auto">
          <a:xfrm>
            <a:off x="2351584" y="2600908"/>
            <a:ext cx="73152" cy="72008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cxnSp>
        <p:nvCxnSpPr>
          <p:cNvPr id="37" name="Shape 36"/>
          <p:cNvCxnSpPr>
            <a:stCxn id="11" idx="2"/>
            <a:endCxn id="34" idx="3"/>
          </p:cNvCxnSpPr>
          <p:nvPr/>
        </p:nvCxnSpPr>
        <p:spPr bwMode="auto">
          <a:xfrm rot="5400000" flipH="1">
            <a:off x="4072640" y="989008"/>
            <a:ext cx="766936" cy="4062744"/>
          </a:xfrm>
          <a:prstGeom prst="curvedConnector4">
            <a:avLst>
              <a:gd name="adj1" fmla="val -29807"/>
              <a:gd name="adj2" fmla="val 52344"/>
            </a:avLst>
          </a:prstGeom>
          <a:solidFill>
            <a:schemeClr val="accent1"/>
          </a:solidFill>
          <a:ln w="9525" cap="flat" cmpd="sng" algn="ctr">
            <a:solidFill>
              <a:schemeClr val="accent1">
                <a:lumMod val="9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4" name="Rectangle 43"/>
          <p:cNvSpPr/>
          <p:nvPr/>
        </p:nvSpPr>
        <p:spPr bwMode="auto">
          <a:xfrm>
            <a:off x="7572164" y="2492896"/>
            <a:ext cx="2268252" cy="151216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7608168" y="2528900"/>
            <a:ext cx="73152" cy="72008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cxnSp>
        <p:nvCxnSpPr>
          <p:cNvPr id="39" name="Shape 38"/>
          <p:cNvCxnSpPr>
            <a:stCxn id="11" idx="2"/>
            <a:endCxn id="40" idx="2"/>
          </p:cNvCxnSpPr>
          <p:nvPr/>
        </p:nvCxnSpPr>
        <p:spPr bwMode="auto">
          <a:xfrm rot="5400000" flipH="1" flipV="1">
            <a:off x="6664642" y="2423746"/>
            <a:ext cx="802940" cy="1157264"/>
          </a:xfrm>
          <a:prstGeom prst="curvedConnector3">
            <a:avLst>
              <a:gd name="adj1" fmla="val -28470"/>
            </a:avLst>
          </a:prstGeom>
          <a:solidFill>
            <a:schemeClr val="accent1"/>
          </a:solidFill>
          <a:ln w="9525" cap="flat" cmpd="sng" algn="ctr">
            <a:solidFill>
              <a:schemeClr val="accent1">
                <a:lumMod val="9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51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72164" y="2492896"/>
            <a:ext cx="2268251" cy="1513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Rectangle 44"/>
          <p:cNvSpPr/>
          <p:nvPr/>
        </p:nvSpPr>
        <p:spPr bwMode="auto">
          <a:xfrm>
            <a:off x="8220236" y="3933056"/>
            <a:ext cx="73152" cy="72008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grpSp>
        <p:nvGrpSpPr>
          <p:cNvPr id="15" name="Group 46"/>
          <p:cNvGrpSpPr/>
          <p:nvPr/>
        </p:nvGrpSpPr>
        <p:grpSpPr>
          <a:xfrm>
            <a:off x="8148228" y="3861048"/>
            <a:ext cx="217168" cy="72008"/>
            <a:chOff x="683568" y="2528900"/>
            <a:chExt cx="217168" cy="72008"/>
          </a:xfrm>
        </p:grpSpPr>
        <p:sp>
          <p:nvSpPr>
            <p:cNvPr id="48" name="Rectangle 47"/>
            <p:cNvSpPr/>
            <p:nvPr/>
          </p:nvSpPr>
          <p:spPr bwMode="auto">
            <a:xfrm>
              <a:off x="683568" y="2528900"/>
              <a:ext cx="73152" cy="7200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 bwMode="auto">
            <a:xfrm>
              <a:off x="755576" y="2528900"/>
              <a:ext cx="73152" cy="7200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 bwMode="auto">
            <a:xfrm>
              <a:off x="827584" y="2528900"/>
              <a:ext cx="73152" cy="7200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</p:grpSp>
      <p:grpSp>
        <p:nvGrpSpPr>
          <p:cNvPr id="20" name="Group 51"/>
          <p:cNvGrpSpPr/>
          <p:nvPr/>
        </p:nvGrpSpPr>
        <p:grpSpPr>
          <a:xfrm>
            <a:off x="8075076" y="3789040"/>
            <a:ext cx="217168" cy="72008"/>
            <a:chOff x="683568" y="2528900"/>
            <a:chExt cx="217168" cy="72008"/>
          </a:xfrm>
        </p:grpSpPr>
        <p:sp>
          <p:nvSpPr>
            <p:cNvPr id="53" name="Rectangle 52"/>
            <p:cNvSpPr/>
            <p:nvPr/>
          </p:nvSpPr>
          <p:spPr bwMode="auto">
            <a:xfrm>
              <a:off x="683568" y="2528900"/>
              <a:ext cx="73152" cy="7200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4" name="Rectangle 53"/>
            <p:cNvSpPr/>
            <p:nvPr/>
          </p:nvSpPr>
          <p:spPr bwMode="auto">
            <a:xfrm>
              <a:off x="755576" y="2528900"/>
              <a:ext cx="73152" cy="7200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5" name="Rectangle 54"/>
            <p:cNvSpPr/>
            <p:nvPr/>
          </p:nvSpPr>
          <p:spPr bwMode="auto">
            <a:xfrm>
              <a:off x="827584" y="2528900"/>
              <a:ext cx="73152" cy="7200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</p:grpSp>
      <p:grpSp>
        <p:nvGrpSpPr>
          <p:cNvPr id="21" name="Group 55"/>
          <p:cNvGrpSpPr/>
          <p:nvPr/>
        </p:nvGrpSpPr>
        <p:grpSpPr>
          <a:xfrm>
            <a:off x="8076220" y="3717032"/>
            <a:ext cx="217168" cy="72008"/>
            <a:chOff x="683568" y="2528900"/>
            <a:chExt cx="217168" cy="72008"/>
          </a:xfrm>
        </p:grpSpPr>
        <p:sp>
          <p:nvSpPr>
            <p:cNvPr id="57" name="Rectangle 56"/>
            <p:cNvSpPr/>
            <p:nvPr/>
          </p:nvSpPr>
          <p:spPr bwMode="auto">
            <a:xfrm>
              <a:off x="683568" y="2528900"/>
              <a:ext cx="73152" cy="7200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8" name="Rectangle 57"/>
            <p:cNvSpPr/>
            <p:nvPr/>
          </p:nvSpPr>
          <p:spPr bwMode="auto">
            <a:xfrm>
              <a:off x="755576" y="2528900"/>
              <a:ext cx="73152" cy="7200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9" name="Rectangle 58"/>
            <p:cNvSpPr/>
            <p:nvPr/>
          </p:nvSpPr>
          <p:spPr bwMode="auto">
            <a:xfrm>
              <a:off x="827584" y="2528900"/>
              <a:ext cx="73152" cy="7200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</p:grpSp>
      <p:grpSp>
        <p:nvGrpSpPr>
          <p:cNvPr id="27" name="Group 59"/>
          <p:cNvGrpSpPr/>
          <p:nvPr/>
        </p:nvGrpSpPr>
        <p:grpSpPr>
          <a:xfrm>
            <a:off x="8003068" y="3645024"/>
            <a:ext cx="217168" cy="72008"/>
            <a:chOff x="683568" y="2528900"/>
            <a:chExt cx="217168" cy="72008"/>
          </a:xfrm>
        </p:grpSpPr>
        <p:sp>
          <p:nvSpPr>
            <p:cNvPr id="61" name="Rectangle 60"/>
            <p:cNvSpPr/>
            <p:nvPr/>
          </p:nvSpPr>
          <p:spPr bwMode="auto">
            <a:xfrm>
              <a:off x="683568" y="2528900"/>
              <a:ext cx="73152" cy="7200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755576" y="2528900"/>
              <a:ext cx="73152" cy="7200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63" name="Rectangle 62"/>
            <p:cNvSpPr/>
            <p:nvPr/>
          </p:nvSpPr>
          <p:spPr bwMode="auto">
            <a:xfrm>
              <a:off x="827584" y="2528900"/>
              <a:ext cx="73152" cy="7200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64" name="Rectangle 63"/>
          <p:cNvSpPr/>
          <p:nvPr/>
        </p:nvSpPr>
        <p:spPr bwMode="auto">
          <a:xfrm>
            <a:off x="8147084" y="3861048"/>
            <a:ext cx="73152" cy="72008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8148228" y="3789040"/>
            <a:ext cx="73152" cy="72008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66" name="Rectangle 65"/>
          <p:cNvSpPr/>
          <p:nvPr/>
        </p:nvSpPr>
        <p:spPr bwMode="auto">
          <a:xfrm>
            <a:off x="8076220" y="3717032"/>
            <a:ext cx="73152" cy="72008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67" name="Rectangle 66"/>
          <p:cNvSpPr/>
          <p:nvPr/>
        </p:nvSpPr>
        <p:spPr bwMode="auto">
          <a:xfrm>
            <a:off x="8004212" y="3645024"/>
            <a:ext cx="73152" cy="72008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56" name="Slide Number Placeholder 5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D26EE-767E-4ECC-B93A-381E986AA468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85" dur="indefinite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86" dur="indefinite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5" grpId="0"/>
      <p:bldP spid="26" grpId="0"/>
      <p:bldP spid="34" grpId="0" bldLvl="0" animBg="1"/>
      <p:bldP spid="44" grpId="0" bldLvl="0" animBg="1"/>
      <p:bldP spid="44" grpId="1" bldLvl="0" animBg="1"/>
      <p:bldP spid="40" grpId="0" bldLvl="0" animBg="1"/>
      <p:bldP spid="45" grpId="0" bldLvl="0" animBg="1"/>
      <p:bldP spid="64" grpId="0" bldLvl="0" animBg="1"/>
      <p:bldP spid="65" grpId="0" bldLvl="0" animBg="1"/>
      <p:bldP spid="66" grpId="0" bldLvl="0" animBg="1"/>
      <p:bldP spid="67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图像缩小</a:t>
            </a:r>
            <a:r>
              <a:rPr lang="en-US" altLang="zh-CN" dirty="0" smtClean="0"/>
              <a:t>--</a:t>
            </a:r>
            <a:r>
              <a:rPr lang="en-US" altLang="zh-TW" dirty="0">
                <a:solidFill>
                  <a:srgbClr val="FF0000"/>
                </a:solidFill>
              </a:rPr>
              <a:t> Seam</a:t>
            </a:r>
            <a:r>
              <a:rPr lang="zh-CN" altLang="en-US" dirty="0">
                <a:solidFill>
                  <a:srgbClr val="FF0000"/>
                </a:solidFill>
              </a:rPr>
              <a:t>移除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16DA4-4601-478C-905B-E4BF11B8A0C9}" type="slidenum">
              <a:rPr lang="zh-TW" altLang="en-US" smtClean="0"/>
            </a:fld>
            <a:endParaRPr lang="zh-TW" altLang="en-US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912" y="1484784"/>
            <a:ext cx="7221344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2359204" y="151526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2361109" y="2232283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3075856" y="2942456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2351584" y="3651488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2351584" y="4348708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2366824" y="5445224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1.6</a:t>
                      </a:r>
                      <a:endParaRPr lang="en-US" altLang="zh-TW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图像缩小</a:t>
            </a:r>
            <a:r>
              <a:rPr lang="en-US" altLang="zh-CN" dirty="0"/>
              <a:t>--</a:t>
            </a:r>
            <a:r>
              <a:rPr lang="en-US" altLang="zh-TW" dirty="0">
                <a:solidFill>
                  <a:srgbClr val="FF0000"/>
                </a:solidFill>
              </a:rPr>
              <a:t> Seam</a:t>
            </a:r>
            <a:r>
              <a:rPr lang="zh-CN" altLang="en-US" dirty="0">
                <a:solidFill>
                  <a:srgbClr val="FF0000"/>
                </a:solidFill>
              </a:rPr>
              <a:t>移除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16DA4-4601-478C-905B-E4BF11B8A0C9}" type="slidenum">
              <a:rPr lang="zh-TW" altLang="en-US" smtClean="0"/>
            </a:fld>
            <a:endParaRPr lang="zh-TW" altLang="en-US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912" y="1484784"/>
            <a:ext cx="7221344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2366824" y="5445224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1.6</a:t>
                      </a:r>
                      <a:endParaRPr lang="en-US" altLang="zh-TW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3083908" y="5445224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1.5</a:t>
                      </a:r>
                      <a:endParaRPr lang="en-US" altLang="zh-TW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3067452" y="4348708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2351584" y="364502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3064024" y="2943612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3784124" y="222772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3071664" y="151526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图像缩小</a:t>
            </a:r>
            <a:r>
              <a:rPr lang="en-US" altLang="zh-CN" dirty="0"/>
              <a:t>--</a:t>
            </a:r>
            <a:r>
              <a:rPr lang="en-US" altLang="zh-TW" dirty="0">
                <a:solidFill>
                  <a:srgbClr val="FF0000"/>
                </a:solidFill>
              </a:rPr>
              <a:t> Seam</a:t>
            </a:r>
            <a:r>
              <a:rPr lang="zh-CN" altLang="en-US" dirty="0">
                <a:solidFill>
                  <a:srgbClr val="FF0000"/>
                </a:solidFill>
              </a:rPr>
              <a:t>移除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16DA4-4601-478C-905B-E4BF11B8A0C9}" type="slidenum">
              <a:rPr lang="zh-TW" altLang="en-US" smtClean="0"/>
            </a:fld>
            <a:endParaRPr lang="zh-TW" altLang="en-US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912" y="1484784"/>
            <a:ext cx="7221344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2366824" y="5445224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1.6</a:t>
                      </a:r>
                      <a:endParaRPr lang="en-US" altLang="zh-TW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3076288" y="5445224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1.5</a:t>
                      </a:r>
                      <a:endParaRPr lang="en-US" altLang="zh-TW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3784104" y="4348708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4504184" y="364502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4511804" y="294018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5216644" y="2226568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5936724" y="151526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3784104" y="5445224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1.9</a:t>
                      </a:r>
                      <a:endParaRPr lang="en-US" altLang="zh-TW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图像缩小</a:t>
            </a:r>
            <a:r>
              <a:rPr lang="en-US" altLang="zh-CN" dirty="0"/>
              <a:t>--</a:t>
            </a:r>
            <a:r>
              <a:rPr lang="en-US" altLang="zh-TW" dirty="0">
                <a:solidFill>
                  <a:srgbClr val="FF0000"/>
                </a:solidFill>
              </a:rPr>
              <a:t> Seam</a:t>
            </a:r>
            <a:r>
              <a:rPr lang="zh-CN" altLang="en-US" dirty="0">
                <a:solidFill>
                  <a:srgbClr val="FF0000"/>
                </a:solidFill>
              </a:rPr>
              <a:t>移除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16DA4-4601-478C-905B-E4BF11B8A0C9}" type="slidenum">
              <a:rPr lang="zh-TW" altLang="en-US" smtClean="0"/>
            </a:fld>
            <a:endParaRPr lang="zh-TW" altLang="en-US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912" y="1484784"/>
            <a:ext cx="7221344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2366824" y="5445224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1.6</a:t>
                      </a:r>
                      <a:endParaRPr lang="en-US" altLang="zh-TW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3076288" y="5445224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1.5</a:t>
                      </a:r>
                      <a:endParaRPr lang="en-US" altLang="zh-TW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3784104" y="4348708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4504184" y="364502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4511804" y="294018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5216644" y="2226568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5936724" y="151526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3784104" y="5445224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1.9</a:t>
                      </a:r>
                      <a:endParaRPr lang="en-US" altLang="zh-TW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7" name="橢圓 16"/>
          <p:cNvSpPr/>
          <p:nvPr/>
        </p:nvSpPr>
        <p:spPr>
          <a:xfrm>
            <a:off x="6528048" y="3212976"/>
            <a:ext cx="216024" cy="21602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7346608" y="3214308"/>
            <a:ext cx="216024" cy="21602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8112224" y="3214308"/>
            <a:ext cx="216024" cy="21602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图像缩小</a:t>
            </a:r>
            <a:r>
              <a:rPr lang="en-US" altLang="zh-CN" dirty="0"/>
              <a:t>--</a:t>
            </a:r>
            <a:r>
              <a:rPr lang="en-US" altLang="zh-TW" dirty="0">
                <a:solidFill>
                  <a:srgbClr val="FF0000"/>
                </a:solidFill>
              </a:rPr>
              <a:t> Seam</a:t>
            </a:r>
            <a:r>
              <a:rPr lang="zh-CN" altLang="en-US" dirty="0">
                <a:solidFill>
                  <a:srgbClr val="FF0000"/>
                </a:solidFill>
              </a:rPr>
              <a:t>移除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16DA4-4601-478C-905B-E4BF11B8A0C9}" type="slidenum">
              <a:rPr lang="zh-TW" altLang="en-US" smtClean="0"/>
            </a:fld>
            <a:endParaRPr lang="zh-TW" altLang="en-US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912" y="1484784"/>
            <a:ext cx="7221344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2351584" y="5445224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1.6</a:t>
                      </a:r>
                      <a:endParaRPr lang="en-US" altLang="zh-TW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3071708" y="5445224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1.5</a:t>
                      </a:r>
                      <a:endParaRPr lang="en-US" altLang="zh-TW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22" name="矩形 21"/>
          <p:cNvSpPr/>
          <p:nvPr/>
        </p:nvSpPr>
        <p:spPr>
          <a:xfrm>
            <a:off x="8790756" y="151526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3791832" y="5445224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1.9</a:t>
                      </a:r>
                      <a:endParaRPr lang="en-US" altLang="zh-TW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4511956" y="5445224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1.3</a:t>
                      </a:r>
                      <a:endParaRPr lang="en-US" altLang="zh-TW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5232080" y="5445224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1.9</a:t>
                      </a:r>
                      <a:endParaRPr lang="en-US" altLang="zh-TW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5952204" y="5445224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1.7</a:t>
                      </a:r>
                      <a:endParaRPr lang="en-US" altLang="zh-TW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6672328" y="5444078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2.2</a:t>
                      </a:r>
                      <a:endParaRPr lang="en-US" altLang="zh-TW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7392452" y="5444078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1.7</a:t>
                      </a:r>
                      <a:endParaRPr lang="en-US" altLang="zh-TW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8112576" y="5444078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1.6</a:t>
                      </a:r>
                      <a:endParaRPr lang="en-US" altLang="zh-TW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8832696" y="5444078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1.0</a:t>
                      </a:r>
                      <a:endParaRPr lang="en-US" altLang="zh-TW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29" name="矩形 28"/>
          <p:cNvSpPr/>
          <p:nvPr/>
        </p:nvSpPr>
        <p:spPr>
          <a:xfrm>
            <a:off x="8795296" y="4346436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/>
          <p:cNvSpPr/>
          <p:nvPr/>
        </p:nvSpPr>
        <p:spPr>
          <a:xfrm>
            <a:off x="8081724" y="2218948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  <p:sp>
        <p:nvSpPr>
          <p:cNvPr id="31" name="矩形 30"/>
          <p:cNvSpPr/>
          <p:nvPr/>
        </p:nvSpPr>
        <p:spPr>
          <a:xfrm>
            <a:off x="8794184" y="2939028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  <p:sp>
        <p:nvSpPr>
          <p:cNvPr id="32" name="矩形 31"/>
          <p:cNvSpPr/>
          <p:nvPr/>
        </p:nvSpPr>
        <p:spPr>
          <a:xfrm>
            <a:off x="8790776" y="3643868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图像缩小</a:t>
            </a:r>
            <a:r>
              <a:rPr lang="en-US" altLang="zh-CN" dirty="0"/>
              <a:t>--</a:t>
            </a:r>
            <a:r>
              <a:rPr lang="en-US" altLang="zh-TW" dirty="0">
                <a:solidFill>
                  <a:srgbClr val="FF0000"/>
                </a:solidFill>
              </a:rPr>
              <a:t> Seam</a:t>
            </a:r>
            <a:r>
              <a:rPr lang="zh-CN" altLang="en-US" dirty="0">
                <a:solidFill>
                  <a:srgbClr val="FF0000"/>
                </a:solidFill>
              </a:rPr>
              <a:t>移除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16DA4-4601-478C-905B-E4BF11B8A0C9}" type="slidenum">
              <a:rPr lang="zh-TW" altLang="en-US" smtClean="0"/>
            </a:fld>
            <a:endParaRPr lang="zh-TW" altLang="en-US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912" y="1484784"/>
            <a:ext cx="7221344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2351584" y="5445224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1.6</a:t>
                      </a:r>
                      <a:endParaRPr lang="en-US" altLang="zh-TW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3071708" y="5445224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1.5</a:t>
                      </a:r>
                      <a:endParaRPr lang="en-US" altLang="zh-TW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22" name="矩形 21"/>
          <p:cNvSpPr/>
          <p:nvPr/>
        </p:nvSpPr>
        <p:spPr>
          <a:xfrm>
            <a:off x="8790756" y="1515264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3791832" y="5445224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1.9</a:t>
                      </a:r>
                      <a:endParaRPr lang="en-US" altLang="zh-TW" sz="1200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4511956" y="5445224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1.3</a:t>
                      </a:r>
                      <a:endParaRPr lang="en-US" altLang="zh-TW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5232080" y="5445224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1.9</a:t>
                      </a:r>
                      <a:endParaRPr lang="en-US" altLang="zh-TW" sz="1200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5952204" y="5445224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1.7</a:t>
                      </a:r>
                      <a:endParaRPr lang="en-US" altLang="zh-TW" sz="1200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6672328" y="5444078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2.2</a:t>
                      </a:r>
                      <a:endParaRPr lang="en-US" altLang="zh-TW" sz="1200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7392452" y="5444078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1.7</a:t>
                      </a:r>
                      <a:endParaRPr lang="en-US" altLang="zh-TW" sz="1200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8112576" y="5444078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1.6</a:t>
                      </a:r>
                      <a:endParaRPr lang="en-US" altLang="zh-TW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8832696" y="5444078"/>
          <a:ext cx="685800" cy="209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1.0</a:t>
                      </a:r>
                      <a:endParaRPr lang="en-US" altLang="zh-TW" sz="1200" b="1" u="none" strike="noStrike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29" name="矩形 28"/>
          <p:cNvSpPr/>
          <p:nvPr/>
        </p:nvSpPr>
        <p:spPr>
          <a:xfrm>
            <a:off x="8795296" y="4346436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/>
          <p:cNvSpPr/>
          <p:nvPr/>
        </p:nvSpPr>
        <p:spPr>
          <a:xfrm>
            <a:off x="8081724" y="2218948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  <p:sp>
        <p:nvSpPr>
          <p:cNvPr id="31" name="矩形 30"/>
          <p:cNvSpPr/>
          <p:nvPr/>
        </p:nvSpPr>
        <p:spPr>
          <a:xfrm>
            <a:off x="8794184" y="2939028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  <p:sp>
        <p:nvSpPr>
          <p:cNvPr id="32" name="矩形 31"/>
          <p:cNvSpPr/>
          <p:nvPr/>
        </p:nvSpPr>
        <p:spPr>
          <a:xfrm>
            <a:off x="8790776" y="3643868"/>
            <a:ext cx="712480" cy="705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/>
          <p:cNvSpPr txBox="1"/>
          <p:nvPr/>
        </p:nvSpPr>
        <p:spPr bwMode="auto">
          <a:xfrm>
            <a:off x="2135560" y="80628"/>
            <a:ext cx="8098668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800" kern="0" dirty="0" smtClean="0">
                <a:solidFill>
                  <a:srgbClr val="000000"/>
                </a:solidFill>
              </a:rPr>
              <a:t>例子</a:t>
            </a:r>
            <a:endParaRPr lang="en-US" sz="3800" kern="0" dirty="0" smtClean="0">
              <a:solidFill>
                <a:srgbClr val="000000"/>
              </a:solidFill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3395700" y="1975284"/>
            <a:ext cx="2052228" cy="2304256"/>
            <a:chOff x="1223628" y="1052736"/>
            <a:chExt cx="2052228" cy="2304256"/>
          </a:xfrm>
        </p:grpSpPr>
        <p:sp>
          <p:nvSpPr>
            <p:cNvPr id="6" name="Rectangle 5"/>
            <p:cNvSpPr/>
            <p:nvPr/>
          </p:nvSpPr>
          <p:spPr bwMode="auto">
            <a:xfrm>
              <a:off x="1223628" y="1052736"/>
              <a:ext cx="2052228" cy="223224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graphicFrame>
          <p:nvGraphicFramePr>
            <p:cNvPr id="4" name="Object 3"/>
            <p:cNvGraphicFramePr>
              <a:graphicFrameLocks noChangeAspect="1"/>
            </p:cNvGraphicFramePr>
            <p:nvPr/>
          </p:nvGraphicFramePr>
          <p:xfrm>
            <a:off x="1367644" y="1196752"/>
            <a:ext cx="1728192" cy="2160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881" name="Equation" r:id="rId1" imgW="406400" imgH="508000" progId="Equation.3">
                    <p:embed/>
                  </p:oleObj>
                </mc:Choice>
                <mc:Fallback>
                  <p:oleObj name="Equation" r:id="rId1" imgW="406400" imgH="50800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7644" y="1196752"/>
                          <a:ext cx="1728192" cy="216024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87688" y="4605317"/>
            <a:ext cx="2265928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3035660" y="6045477"/>
            <a:ext cx="259228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0000"/>
                </a:solidFill>
              </a:rPr>
              <a:t>能量矩阵</a:t>
            </a:r>
            <a:endParaRPr lang="en-US" altLang="zh-CN" b="1" dirty="0">
              <a:solidFill>
                <a:srgbClr val="000000"/>
              </a:solidFill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0000"/>
                </a:solidFill>
              </a:rPr>
              <a:t>(</a:t>
            </a:r>
            <a:r>
              <a:rPr lang="zh-CN" altLang="en-US" dirty="0"/>
              <a:t>梯度幅值</a:t>
            </a:r>
            <a:r>
              <a:rPr lang="en-US" altLang="zh-CN" b="1" dirty="0">
                <a:solidFill>
                  <a:srgbClr val="000000"/>
                </a:solidFill>
              </a:rPr>
              <a:t>)</a:t>
            </a:r>
            <a:endParaRPr lang="en-US" altLang="zh-CN" b="1" dirty="0">
              <a:solidFill>
                <a:srgbClr val="000000"/>
              </a:solidFill>
            </a:endParaRPr>
          </a:p>
        </p:txBody>
      </p:sp>
      <p:pic>
        <p:nvPicPr>
          <p:cNvPr id="48128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00056" y="4605317"/>
            <a:ext cx="2196244" cy="1470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6420036" y="6081481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0000"/>
                </a:solidFill>
              </a:rPr>
              <a:t>M </a:t>
            </a:r>
            <a:r>
              <a:rPr lang="zh-CN" altLang="en-US" b="1" dirty="0" smtClean="0">
                <a:solidFill>
                  <a:srgbClr val="000000"/>
                </a:solidFill>
              </a:rPr>
              <a:t>矩阵</a:t>
            </a:r>
            <a:r>
              <a:rPr lang="en-US" altLang="zh-CN" b="1" dirty="0" smtClean="0">
                <a:solidFill>
                  <a:srgbClr val="000000"/>
                </a:solidFill>
              </a:rPr>
              <a:t> </a:t>
            </a:r>
            <a:endParaRPr lang="en-US" altLang="zh-CN" b="1" dirty="0">
              <a:solidFill>
                <a:srgbClr val="000000"/>
              </a:solidFill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 smtClean="0">
                <a:solidFill>
                  <a:srgbClr val="000000"/>
                </a:solidFill>
              </a:rPr>
              <a:t>(</a:t>
            </a:r>
            <a:r>
              <a:rPr lang="zh-CN" altLang="en-US" b="1" dirty="0">
                <a:solidFill>
                  <a:srgbClr val="000000"/>
                </a:solidFill>
              </a:rPr>
              <a:t>垂直缝隙</a:t>
            </a:r>
            <a:r>
              <a:rPr lang="en-US" altLang="zh-CN" b="1" dirty="0">
                <a:solidFill>
                  <a:srgbClr val="000000"/>
                </a:solidFill>
              </a:rPr>
              <a:t>)</a:t>
            </a:r>
            <a:endParaRPr lang="en-US" altLang="zh-CN" b="1" dirty="0">
              <a:solidFill>
                <a:srgbClr val="000000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6672064" y="1975284"/>
            <a:ext cx="2052228" cy="22322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6816079" y="2047292"/>
          <a:ext cx="1925015" cy="2124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882" name="Equation" r:id="rId5" imgW="609600" imgH="673100" progId="Equation.3">
                  <p:embed/>
                </p:oleObj>
              </mc:Choice>
              <mc:Fallback>
                <p:oleObj name="Equation" r:id="rId5" imgW="609600" imgH="6731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079" y="2047292"/>
                        <a:ext cx="1925015" cy="21242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2"/>
          <p:cNvGrpSpPr/>
          <p:nvPr/>
        </p:nvGrpSpPr>
        <p:grpSpPr>
          <a:xfrm>
            <a:off x="6852084" y="2083296"/>
            <a:ext cx="1728192" cy="612068"/>
            <a:chOff x="5328084" y="2204864"/>
            <a:chExt cx="1728192" cy="612068"/>
          </a:xfrm>
        </p:grpSpPr>
        <p:sp>
          <p:nvSpPr>
            <p:cNvPr id="14" name="Rectangle 13"/>
            <p:cNvSpPr/>
            <p:nvPr/>
          </p:nvSpPr>
          <p:spPr bwMode="auto">
            <a:xfrm>
              <a:off x="5328084" y="2204864"/>
              <a:ext cx="468052" cy="61206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5940152" y="2204864"/>
              <a:ext cx="468052" cy="61206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6588224" y="2204864"/>
              <a:ext cx="468052" cy="61206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17" name="Rectangle 16"/>
          <p:cNvSpPr/>
          <p:nvPr/>
        </p:nvSpPr>
        <p:spPr bwMode="auto">
          <a:xfrm>
            <a:off x="6852084" y="2803376"/>
            <a:ext cx="468052" cy="6120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7464152" y="2803376"/>
            <a:ext cx="468052" cy="6120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8112224" y="2803376"/>
            <a:ext cx="468052" cy="6120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6852084" y="3523456"/>
            <a:ext cx="468052" cy="6120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7500156" y="3523456"/>
            <a:ext cx="468052" cy="6120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8112224" y="3523456"/>
            <a:ext cx="504056" cy="6120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graphicFrame>
        <p:nvGraphicFramePr>
          <p:cNvPr id="481285" name="Object 5"/>
          <p:cNvGraphicFramePr>
            <a:graphicFrameLocks noChangeAspect="1"/>
          </p:cNvGraphicFramePr>
          <p:nvPr/>
        </p:nvGraphicFramePr>
        <p:xfrm>
          <a:off x="2279576" y="1219200"/>
          <a:ext cx="810736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883" name="Equation" r:id="rId7" imgW="4140200" imgH="215900" progId="Equation.3">
                  <p:embed/>
                </p:oleObj>
              </mc:Choice>
              <mc:Fallback>
                <p:oleObj name="Equation" r:id="rId7" imgW="4140200" imgH="2159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1219200"/>
                        <a:ext cx="8107362" cy="4222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D26EE-767E-4ECC-B93A-381E986AA468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18" grpId="0" bldLvl="0" animBg="1"/>
      <p:bldP spid="19" grpId="0" bldLvl="0" animBg="1"/>
      <p:bldP spid="20" grpId="0" bldLvl="0" animBg="1"/>
      <p:bldP spid="21" grpId="0" bldLvl="0" animBg="1"/>
      <p:bldP spid="22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/>
          <p:cNvSpPr txBox="1"/>
          <p:nvPr/>
        </p:nvSpPr>
        <p:spPr bwMode="auto">
          <a:xfrm>
            <a:off x="2135560" y="80628"/>
            <a:ext cx="8098668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800" kern="0" dirty="0" smtClean="0">
                <a:solidFill>
                  <a:srgbClr val="000000"/>
                </a:solidFill>
              </a:rPr>
              <a:t>Example</a:t>
            </a:r>
            <a:endParaRPr lang="en-US" sz="3800" kern="0" dirty="0" smtClean="0">
              <a:solidFill>
                <a:srgbClr val="000000"/>
              </a:solidFill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3395700" y="1975284"/>
            <a:ext cx="2052228" cy="2304256"/>
            <a:chOff x="1223628" y="1052736"/>
            <a:chExt cx="2052228" cy="2304256"/>
          </a:xfrm>
        </p:grpSpPr>
        <p:sp>
          <p:nvSpPr>
            <p:cNvPr id="6" name="Rectangle 5"/>
            <p:cNvSpPr/>
            <p:nvPr/>
          </p:nvSpPr>
          <p:spPr bwMode="auto">
            <a:xfrm>
              <a:off x="1223628" y="1052736"/>
              <a:ext cx="2052228" cy="223224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graphicFrame>
          <p:nvGraphicFramePr>
            <p:cNvPr id="4" name="Object 3"/>
            <p:cNvGraphicFramePr>
              <a:graphicFrameLocks noChangeAspect="1"/>
            </p:cNvGraphicFramePr>
            <p:nvPr/>
          </p:nvGraphicFramePr>
          <p:xfrm>
            <a:off x="1367644" y="1196752"/>
            <a:ext cx="1728192" cy="2160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676" name="Equation" r:id="rId1" imgW="406400" imgH="508000" progId="Equation.3">
                    <p:embed/>
                  </p:oleObj>
                </mc:Choice>
                <mc:Fallback>
                  <p:oleObj name="Equation" r:id="rId1" imgW="406400" imgH="50800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7644" y="1196752"/>
                          <a:ext cx="1728192" cy="216024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87688" y="4605317"/>
            <a:ext cx="2265928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28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00056" y="4605317"/>
            <a:ext cx="2196244" cy="1470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 bwMode="auto">
          <a:xfrm>
            <a:off x="6672064" y="1975284"/>
            <a:ext cx="2052228" cy="22322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6816079" y="2047292"/>
          <a:ext cx="1925015" cy="2124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677" name="Equation" r:id="rId5" imgW="609600" imgH="673100" progId="Equation.3">
                  <p:embed/>
                </p:oleObj>
              </mc:Choice>
              <mc:Fallback>
                <p:oleObj name="Equation" r:id="rId5" imgW="609600" imgH="6731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079" y="2047292"/>
                        <a:ext cx="1925015" cy="21242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285" name="Object 5"/>
          <p:cNvGraphicFramePr>
            <a:graphicFrameLocks noChangeAspect="1"/>
          </p:cNvGraphicFramePr>
          <p:nvPr/>
        </p:nvGraphicFramePr>
        <p:xfrm>
          <a:off x="2279576" y="1219200"/>
          <a:ext cx="810736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678" name="Equation" r:id="rId7" imgW="4140200" imgH="215900" progId="Equation.3">
                  <p:embed/>
                </p:oleObj>
              </mc:Choice>
              <mc:Fallback>
                <p:oleObj name="Equation" r:id="rId7" imgW="4140200" imgH="2159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1219200"/>
                        <a:ext cx="8107362" cy="4222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2"/>
          <p:cNvSpPr/>
          <p:nvPr/>
        </p:nvSpPr>
        <p:spPr bwMode="auto">
          <a:xfrm>
            <a:off x="7392144" y="3523456"/>
            <a:ext cx="540060" cy="540060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6744072" y="2803376"/>
            <a:ext cx="540060" cy="540060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6744072" y="2119300"/>
            <a:ext cx="540060" cy="540060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4115780" y="3523456"/>
            <a:ext cx="540060" cy="540060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3467708" y="2839380"/>
            <a:ext cx="540060" cy="540060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3467708" y="2191308"/>
            <a:ext cx="540060" cy="540060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D26EE-767E-4ECC-B93A-381E986AA468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Box 7"/>
          <p:cNvSpPr txBox="1"/>
          <p:nvPr/>
        </p:nvSpPr>
        <p:spPr>
          <a:xfrm>
            <a:off x="3035660" y="6092612"/>
            <a:ext cx="259228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0000"/>
                </a:solidFill>
              </a:rPr>
              <a:t>能量矩阵</a:t>
            </a:r>
            <a:endParaRPr lang="en-US" altLang="zh-CN" b="1" dirty="0">
              <a:solidFill>
                <a:srgbClr val="000000"/>
              </a:solidFill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0000"/>
                </a:solidFill>
              </a:rPr>
              <a:t>(</a:t>
            </a:r>
            <a:r>
              <a:rPr lang="zh-CN" altLang="en-US" dirty="0"/>
              <a:t>梯度幅值</a:t>
            </a:r>
            <a:r>
              <a:rPr lang="en-US" altLang="zh-CN" b="1" dirty="0">
                <a:solidFill>
                  <a:srgbClr val="000000"/>
                </a:solidFill>
              </a:rPr>
              <a:t>)</a:t>
            </a:r>
            <a:endParaRPr lang="en-US" altLang="zh-CN" b="1" dirty="0">
              <a:solidFill>
                <a:srgbClr val="000000"/>
              </a:solidFill>
            </a:endParaRPr>
          </a:p>
        </p:txBody>
      </p:sp>
      <p:sp>
        <p:nvSpPr>
          <p:cNvPr id="27" name="TextBox 9"/>
          <p:cNvSpPr txBox="1"/>
          <p:nvPr/>
        </p:nvSpPr>
        <p:spPr>
          <a:xfrm>
            <a:off x="6420036" y="6128616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0000"/>
                </a:solidFill>
              </a:rPr>
              <a:t>M </a:t>
            </a:r>
            <a:r>
              <a:rPr lang="zh-CN" altLang="en-US" b="1" dirty="0" smtClean="0">
                <a:solidFill>
                  <a:srgbClr val="000000"/>
                </a:solidFill>
              </a:rPr>
              <a:t>矩阵</a:t>
            </a:r>
            <a:r>
              <a:rPr lang="en-US" altLang="zh-CN" b="1" dirty="0" smtClean="0">
                <a:solidFill>
                  <a:srgbClr val="000000"/>
                </a:solidFill>
              </a:rPr>
              <a:t> </a:t>
            </a:r>
            <a:endParaRPr lang="en-US" altLang="zh-CN" b="1" dirty="0">
              <a:solidFill>
                <a:srgbClr val="000000"/>
              </a:solidFill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 smtClean="0">
                <a:solidFill>
                  <a:srgbClr val="000000"/>
                </a:solidFill>
              </a:rPr>
              <a:t>(</a:t>
            </a:r>
            <a:r>
              <a:rPr lang="zh-CN" altLang="en-US" b="1" dirty="0">
                <a:solidFill>
                  <a:srgbClr val="000000"/>
                </a:solidFill>
              </a:rPr>
              <a:t>垂直缝隙</a:t>
            </a:r>
            <a:r>
              <a:rPr lang="en-US" altLang="zh-CN" b="1" dirty="0">
                <a:solidFill>
                  <a:srgbClr val="000000"/>
                </a:solidFill>
              </a:rPr>
              <a:t>)</a:t>
            </a:r>
            <a:endParaRPr lang="en-US" altLang="zh-CN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  <p:bldP spid="24" grpId="0" bldLvl="0" animBg="1"/>
      <p:bldP spid="25" grpId="0" bldLvl="0" animBg="1"/>
      <p:bldP spid="16" grpId="0" bldLvl="0" animBg="1"/>
      <p:bldP spid="17" grpId="0" bldLvl="0" animBg="1"/>
      <p:bldP spid="18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標題 1"/>
          <p:cNvSpPr>
            <a:spLocks noGrp="1"/>
          </p:cNvSpPr>
          <p:nvPr>
            <p:ph type="title"/>
          </p:nvPr>
        </p:nvSpPr>
        <p:spPr>
          <a:xfrm>
            <a:off x="608400" y="255600"/>
            <a:ext cx="10969200" cy="705600"/>
          </a:xfrm>
        </p:spPr>
        <p:txBody>
          <a:bodyPr/>
          <a:lstStyle/>
          <a:p>
            <a:r>
              <a:rPr lang="zh-CN" altLang="en-US" dirty="0"/>
              <a:t>物体移</a:t>
            </a:r>
            <a:r>
              <a:rPr lang="zh-CN" altLang="en-US" dirty="0" smtClean="0"/>
              <a:t>除或保留</a:t>
            </a:r>
            <a:endParaRPr lang="zh-TW" altLang="en-US" dirty="0"/>
          </a:p>
        </p:txBody>
      </p:sp>
      <p:sp>
        <p:nvSpPr>
          <p:cNvPr id="22531" name="內容版面配置區 2"/>
          <p:cNvSpPr>
            <a:spLocks noGrp="1"/>
          </p:cNvSpPr>
          <p:nvPr>
            <p:ph sz="quarter" idx="1"/>
          </p:nvPr>
        </p:nvSpPr>
        <p:spPr>
          <a:xfrm>
            <a:off x="800100" y="1169237"/>
            <a:ext cx="4188435" cy="493712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j-ea"/>
              </a:rPr>
              <a:t>使用简单的用户</a:t>
            </a:r>
            <a:r>
              <a:rPr lang="zh-CN" altLang="en-US" sz="2400" dirty="0" smtClean="0">
                <a:solidFill>
                  <a:schemeClr val="tx1"/>
                </a:solidFill>
                <a:latin typeface="+mj-ea"/>
              </a:rPr>
              <a:t>界面</a:t>
            </a:r>
            <a:r>
              <a:rPr lang="zh-CN" altLang="en-US" sz="2400" dirty="0" smtClean="0">
                <a:solidFill>
                  <a:schemeClr val="tx1"/>
                </a:solidFill>
                <a:latin typeface="+mj-ea"/>
                <a:ea typeface="+mj-ea"/>
              </a:rPr>
              <a:t>交互更改能量矩阵</a:t>
            </a:r>
            <a:endParaRPr lang="en-US" altLang="zh-CN" sz="24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zh-CN" altLang="en-US" sz="2400" dirty="0" smtClean="0">
                <a:solidFill>
                  <a:schemeClr val="tx1"/>
                </a:solidFill>
                <a:latin typeface="+mj-ea"/>
                <a:ea typeface="+mj-ea"/>
              </a:rPr>
              <a:t>降低需要删除物体区域的能量</a:t>
            </a:r>
            <a:endParaRPr lang="en-US" altLang="zh-CN" sz="24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zh-CN" altLang="en-US" sz="2400" dirty="0" smtClean="0">
                <a:solidFill>
                  <a:schemeClr val="tx1"/>
                </a:solidFill>
                <a:latin typeface="+mj-ea"/>
                <a:ea typeface="+mj-ea"/>
              </a:rPr>
              <a:t>增加</a:t>
            </a:r>
            <a:r>
              <a:rPr lang="zh-CN" altLang="en-US" sz="2400" dirty="0" smtClean="0">
                <a:solidFill>
                  <a:schemeClr val="tx1"/>
                </a:solidFill>
                <a:latin typeface="+mj-ea"/>
              </a:rPr>
              <a:t>需要保留物体</a:t>
            </a:r>
            <a:r>
              <a:rPr lang="zh-CN" altLang="en-US" sz="2400" dirty="0">
                <a:solidFill>
                  <a:schemeClr val="tx1"/>
                </a:solidFill>
                <a:latin typeface="+mj-ea"/>
              </a:rPr>
              <a:t>区域</a:t>
            </a:r>
            <a:r>
              <a:rPr lang="zh-CN" altLang="en-US" sz="2400" dirty="0" smtClean="0">
                <a:solidFill>
                  <a:schemeClr val="tx1"/>
                </a:solidFill>
                <a:latin typeface="+mj-ea"/>
              </a:rPr>
              <a:t>的</a:t>
            </a:r>
            <a:r>
              <a:rPr lang="zh-CN" altLang="en-US" sz="2400" dirty="0">
                <a:solidFill>
                  <a:schemeClr val="tx1"/>
                </a:solidFill>
                <a:latin typeface="+mj-ea"/>
              </a:rPr>
              <a:t>能量</a:t>
            </a:r>
            <a:endParaRPr lang="en-US" altLang="zh-CN" sz="24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0" indent="0">
              <a:buNone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1B3563-160C-4985-8604-A4C7D8E93232}" type="slidenum">
              <a:rPr lang="zh-TW" altLang="en-US" smtClean="0"/>
            </a:fld>
            <a:endParaRPr lang="zh-TW" altLang="en-US"/>
          </a:p>
        </p:txBody>
      </p:sp>
      <p:pic>
        <p:nvPicPr>
          <p:cNvPr id="20485" name="Picture 6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8874" y="1121942"/>
            <a:ext cx="7002358" cy="5350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746" name="Picture 2" descr="https://cs.brown.edu/courses/cs129/results/proj3/taox/images/lotr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05" y="1513132"/>
            <a:ext cx="7620000" cy="264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748" name="Picture 4" descr="https://cs.brown.edu/courses/cs129/results/proj3/taox/images/lotr.jpg_400x27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5560" y="1513132"/>
            <a:ext cx="3810000" cy="264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770" name="Picture 2" descr="https://cs.brown.edu/courses/cs129/results/proj3/taox/images/giraffe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34" y="2441571"/>
            <a:ext cx="2848920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772" name="Picture 4" descr="https://cs.brown.edu/courses/cs129/results/proj3/taox/images/giraffe.jpg_220x35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118" y="1472466"/>
            <a:ext cx="2847600" cy="456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206" y="3428970"/>
            <a:ext cx="4541914" cy="2438611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標題 1"/>
          <p:cNvSpPr>
            <a:spLocks noGrp="1"/>
          </p:cNvSpPr>
          <p:nvPr>
            <p:ph type="title"/>
          </p:nvPr>
        </p:nvSpPr>
        <p:spPr>
          <a:xfrm>
            <a:off x="757869" y="460501"/>
            <a:ext cx="10969200" cy="705600"/>
          </a:xfrm>
        </p:spPr>
        <p:txBody>
          <a:bodyPr/>
          <a:lstStyle/>
          <a:p>
            <a:r>
              <a:rPr lang="zh-CN" altLang="en-US" dirty="0" smtClean="0"/>
              <a:t>局限性</a:t>
            </a:r>
            <a:endParaRPr lang="zh-TW" altLang="en-US" dirty="0"/>
          </a:p>
        </p:txBody>
      </p:sp>
      <p:sp>
        <p:nvSpPr>
          <p:cNvPr id="30723" name="內容版面配置區 2"/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229600" cy="4937125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tx1"/>
                </a:solidFill>
              </a:rPr>
              <a:t>结合人脸</a:t>
            </a:r>
            <a:r>
              <a:rPr lang="zh-CN" altLang="en-US" sz="2400" dirty="0" smtClean="0">
                <a:solidFill>
                  <a:schemeClr val="tx1"/>
                </a:solidFill>
              </a:rPr>
              <a:t>检测可以</a:t>
            </a:r>
            <a:r>
              <a:rPr lang="zh-CN" altLang="en-US" sz="2400" dirty="0">
                <a:solidFill>
                  <a:schemeClr val="tx1"/>
                </a:solidFill>
              </a:rPr>
              <a:t>获得更好的</a:t>
            </a:r>
            <a:r>
              <a:rPr lang="zh-CN" altLang="en-US" sz="2400" dirty="0" smtClean="0">
                <a:solidFill>
                  <a:schemeClr val="tx1"/>
                </a:solidFill>
              </a:rPr>
              <a:t>结果。</a:t>
            </a:r>
            <a:endParaRPr lang="en-US" altLang="zh-TW" sz="2400" dirty="0">
              <a:solidFill>
                <a:schemeClr val="tx1"/>
              </a:solidFill>
            </a:endParaRPr>
          </a:p>
          <a:p>
            <a:r>
              <a:rPr lang="zh-CN" altLang="en-US" sz="2400" dirty="0">
                <a:solidFill>
                  <a:schemeClr val="tx1"/>
                </a:solidFill>
              </a:rPr>
              <a:t>检测到的</a:t>
            </a:r>
            <a:r>
              <a:rPr lang="zh-CN" altLang="en-US" sz="2400" dirty="0" smtClean="0">
                <a:solidFill>
                  <a:schemeClr val="tx1"/>
                </a:solidFill>
              </a:rPr>
              <a:t>像素变得</a:t>
            </a:r>
            <a:r>
              <a:rPr lang="zh-CN" altLang="en-US" sz="2400" dirty="0">
                <a:solidFill>
                  <a:schemeClr val="tx1"/>
                </a:solidFill>
              </a:rPr>
              <a:t>重要</a:t>
            </a:r>
            <a:r>
              <a:rPr lang="zh-CN" altLang="en-US" sz="2400" dirty="0" smtClean="0">
                <a:solidFill>
                  <a:schemeClr val="tx1"/>
                </a:solidFill>
              </a:rPr>
              <a:t>，尽可能</a:t>
            </a:r>
            <a:r>
              <a:rPr lang="zh-CN" altLang="en-US" sz="2400" dirty="0">
                <a:solidFill>
                  <a:schemeClr val="tx1"/>
                </a:solidFill>
              </a:rPr>
              <a:t>避免删除它们的缝隙。</a:t>
            </a:r>
            <a:endParaRPr lang="en-US" altLang="zh-TW" sz="2400" dirty="0">
              <a:solidFill>
                <a:schemeClr val="tx1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703B57-10AD-4A44-90EA-7684BDA62C5F}" type="slidenum">
              <a:rPr lang="zh-TW" altLang="en-US" smtClean="0"/>
            </a:fld>
            <a:endParaRPr lang="zh-TW" altLang="en-US"/>
          </a:p>
        </p:txBody>
      </p:sp>
      <p:pic>
        <p:nvPicPr>
          <p:cNvPr id="3072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106" y="2418329"/>
            <a:ext cx="8425743" cy="4212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5225410" y="368776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没有人脸检测</a:t>
            </a:r>
            <a:endParaRPr lang="zh-TW" altLang="en-US" dirty="0"/>
          </a:p>
        </p:txBody>
      </p:sp>
      <p:sp>
        <p:nvSpPr>
          <p:cNvPr id="8" name="文字方塊 2"/>
          <p:cNvSpPr txBox="1"/>
          <p:nvPr/>
        </p:nvSpPr>
        <p:spPr>
          <a:xfrm>
            <a:off x="8247894" y="368776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人脸检测</a:t>
            </a:r>
            <a:endParaRPr lang="zh-TW" altLang="en-US" dirty="0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458450" cy="4759325"/>
          </a:xfrm>
        </p:spPr>
        <p:txBody>
          <a:bodyPr>
            <a:normAutofit/>
          </a:bodyPr>
          <a:p>
            <a:pPr marL="0" indent="457200" algn="just">
              <a:lnSpc>
                <a:spcPct val="150000"/>
              </a:lnSpc>
              <a:buNone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Seam Carving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是基于内容感知（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Content-Aware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）的智能缩放算法，通过计算像素能量并移除低能量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缝隙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Seam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）实现无变形缩放。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eam Carving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不破坏重要内容和边缘，缩放同时保留主体信息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关键步骤：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建立能量映射（梯度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显著度）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动态规划找到最低能量路径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删除或复制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Seam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，实现缩小或放大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>
              <a:buNone/>
            </a:pP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实验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67410" y="2089785"/>
            <a:ext cx="800989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20090"/>
            <a:r>
              <a:rPr lang="zh-CN" altLang="en-US" sz="2800" b="1" dirty="0" smtClean="0">
                <a:latin typeface="微软雅黑" panose="020B0503020204020204" charset="-122"/>
                <a:ea typeface="微软雅黑" panose="020B0503020204020204" charset="-122"/>
              </a:rPr>
              <a:t>编程实现自适应图像</a:t>
            </a:r>
            <a:r>
              <a:rPr lang="zh-CN" altLang="en-US" sz="2800" b="1" dirty="0" smtClean="0">
                <a:latin typeface="微软雅黑" panose="020B0503020204020204" charset="-122"/>
                <a:ea typeface="微软雅黑" panose="020B0503020204020204" charset="-122"/>
              </a:rPr>
              <a:t>缩放</a:t>
            </a:r>
            <a:endParaRPr lang="zh-CN" altLang="en-US" sz="2800" b="1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17195" y="741045"/>
            <a:ext cx="10575290" cy="456946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zh-CN" altLang="en-US" sz="2800" b="1"/>
              <a:t>一、填空题</a:t>
            </a:r>
            <a:endParaRPr lang="zh-CN" altLang="en-US" sz="2800" b="1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2000"/>
              <a:t> 图像缩放是指在不改变图像内容本质的前提下，调整图像的</a:t>
            </a:r>
            <a:r>
              <a:rPr lang="en-US" altLang="zh-CN" sz="2000"/>
              <a:t>________</a:t>
            </a:r>
            <a:r>
              <a:rPr lang="zh-CN" altLang="en-US" sz="2000"/>
              <a:t>和</a:t>
            </a:r>
            <a:r>
              <a:rPr lang="en-US" altLang="zh-CN" sz="2000"/>
              <a:t>________</a:t>
            </a:r>
            <a:r>
              <a:rPr lang="zh-CN" altLang="en-US" sz="2000"/>
              <a:t>的过程。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2000"/>
              <a:t>答案：宽度；高度</a:t>
            </a:r>
            <a:endParaRPr lang="zh-CN" altLang="en-US" sz="20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2000"/>
              <a:t> 常规图像缩放方案主要包括线性缩放、和。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2000"/>
              <a:t>答案：黑边；裁剪</a:t>
            </a:r>
            <a:endParaRPr lang="zh-CN" altLang="en-US" sz="20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2000"/>
              <a:t> </a:t>
            </a:r>
            <a:r>
              <a:rPr lang="en-US" altLang="zh-CN" sz="2000"/>
              <a:t>Seam Carving </a:t>
            </a:r>
            <a:r>
              <a:rPr lang="zh-CN" altLang="en-US" sz="2000"/>
              <a:t>的核心思想是根据图像内容的重要性，删除或复制</a:t>
            </a:r>
            <a:r>
              <a:rPr lang="en-US" altLang="zh-CN" sz="2000"/>
              <a:t>________</a:t>
            </a:r>
            <a:r>
              <a:rPr lang="zh-CN" altLang="en-US" sz="2000"/>
              <a:t>的像素路径。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2000"/>
              <a:t>答案：低能量</a:t>
            </a:r>
            <a:endParaRPr lang="zh-CN" altLang="en-US" sz="20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2000"/>
              <a:t> 在 </a:t>
            </a:r>
            <a:r>
              <a:rPr lang="en-US" altLang="zh-CN" sz="2000"/>
              <a:t>Seam Carving </a:t>
            </a:r>
            <a:r>
              <a:rPr lang="zh-CN" altLang="en-US" sz="2000"/>
              <a:t>中，像素能量通常可以由</a:t>
            </a:r>
            <a:r>
              <a:rPr lang="en-US" altLang="zh-CN" sz="2000"/>
              <a:t>________</a:t>
            </a:r>
            <a:r>
              <a:rPr lang="zh-CN" altLang="en-US" sz="2000"/>
              <a:t>或显著度来表示。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2000"/>
              <a:t>答案：梯度幅值</a:t>
            </a:r>
            <a:endParaRPr lang="zh-CN" altLang="en-US" sz="20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84810" y="431800"/>
            <a:ext cx="5080000" cy="475424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zh-CN" altLang="en-US" sz="2800" b="1"/>
              <a:t>二、选择题</a:t>
            </a:r>
            <a:endParaRPr lang="zh-CN" altLang="en-US" sz="2800" b="1"/>
          </a:p>
          <a:p>
            <a:pPr>
              <a:buAutoNum type="arabicPeriod"/>
            </a:pPr>
            <a:r>
              <a:rPr lang="zh-CN" altLang="en-US"/>
              <a:t> 下列哪种缩放方法会导致整个图像内容发生形变？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A. </a:t>
            </a:r>
            <a:r>
              <a:rPr lang="zh-CN" altLang="en-US"/>
              <a:t>黑边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B. </a:t>
            </a:r>
            <a:r>
              <a:rPr lang="zh-CN" altLang="en-US"/>
              <a:t>裁剪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C. </a:t>
            </a:r>
            <a:r>
              <a:rPr lang="zh-CN" altLang="en-US"/>
              <a:t>线性缩放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D. Seam Carving</a:t>
            </a:r>
            <a:endParaRPr lang="en-US" altLang="zh-CN"/>
          </a:p>
          <a:p>
            <a:r>
              <a:rPr lang="zh-CN" altLang="en-US"/>
              <a:t>答案：</a:t>
            </a:r>
            <a:r>
              <a:rPr lang="en-US" altLang="zh-CN"/>
              <a:t>C</a:t>
            </a:r>
            <a:endParaRPr lang="en-US" altLang="zh-CN"/>
          </a:p>
          <a:p>
            <a:pPr indent="0">
              <a:buNone/>
            </a:pPr>
            <a:r>
              <a:rPr lang="en-US" altLang="zh-CN"/>
              <a:t>2 </a:t>
            </a:r>
            <a:r>
              <a:rPr lang="zh-CN" altLang="en-US"/>
              <a:t>使用黑边方式适配屏幕时，主要缺点是：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A. </a:t>
            </a:r>
            <a:r>
              <a:rPr lang="zh-CN" altLang="en-US"/>
              <a:t>图像内容变形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B. </a:t>
            </a:r>
            <a:r>
              <a:rPr lang="zh-CN" altLang="en-US"/>
              <a:t>可能删除重要内容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C. </a:t>
            </a:r>
            <a:r>
              <a:rPr lang="zh-CN" altLang="en-US"/>
              <a:t>屏幕不能被充分利用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D. </a:t>
            </a:r>
            <a:r>
              <a:rPr lang="zh-CN" altLang="en-US"/>
              <a:t>像素连续性被破坏</a:t>
            </a:r>
            <a:endParaRPr lang="zh-CN" altLang="en-US"/>
          </a:p>
          <a:p>
            <a:r>
              <a:rPr lang="zh-CN" altLang="en-US"/>
              <a:t>答案：</a:t>
            </a:r>
            <a:r>
              <a:rPr lang="en-US" altLang="zh-CN"/>
              <a:t>C</a:t>
            </a:r>
            <a:endParaRPr lang="en-US" altLang="zh-CN"/>
          </a:p>
          <a:p>
            <a:pPr>
              <a:buAutoNum type="arabicPeriod"/>
            </a:pP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638165" y="1176020"/>
            <a:ext cx="609600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en-US" altLang="zh-CN">
                <a:sym typeface="+mn-ea"/>
              </a:rPr>
              <a:t>3 Seam </a:t>
            </a:r>
            <a:r>
              <a:rPr lang="zh-CN" altLang="en-US">
                <a:sym typeface="+mn-ea"/>
              </a:rPr>
              <a:t>是指图像中一条：</a:t>
            </a:r>
            <a:endParaRPr lang="zh-CN" altLang="en-US"/>
          </a:p>
          <a:p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A. </a:t>
            </a:r>
            <a:r>
              <a:rPr lang="zh-CN" altLang="en-US">
                <a:sym typeface="+mn-ea"/>
              </a:rPr>
              <a:t>任意方向的高能量直线</a:t>
            </a:r>
            <a:endParaRPr lang="zh-CN" altLang="en-US"/>
          </a:p>
          <a:p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B. </a:t>
            </a:r>
            <a:r>
              <a:rPr lang="zh-CN" altLang="en-US">
                <a:sym typeface="+mn-ea"/>
              </a:rPr>
              <a:t>低能量像素组成的连续路径</a:t>
            </a:r>
            <a:endParaRPr lang="zh-CN" altLang="en-US"/>
          </a:p>
          <a:p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C. </a:t>
            </a:r>
            <a:r>
              <a:rPr lang="zh-CN" altLang="en-US">
                <a:sym typeface="+mn-ea"/>
              </a:rPr>
              <a:t>图像边界线</a:t>
            </a:r>
            <a:endParaRPr lang="zh-CN" altLang="en-US"/>
          </a:p>
          <a:p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D. </a:t>
            </a:r>
            <a:r>
              <a:rPr lang="zh-CN" altLang="en-US">
                <a:sym typeface="+mn-ea"/>
              </a:rPr>
              <a:t>固定列像素集合</a:t>
            </a:r>
            <a:endParaRPr lang="zh-CN" altLang="en-US"/>
          </a:p>
          <a:p>
            <a:r>
              <a:rPr lang="zh-CN" altLang="en-US">
                <a:sym typeface="+mn-ea"/>
              </a:rPr>
              <a:t>答案：</a:t>
            </a:r>
            <a:r>
              <a:rPr lang="en-US" altLang="zh-CN">
                <a:sym typeface="+mn-ea"/>
              </a:rPr>
              <a:t>B</a:t>
            </a:r>
            <a:endParaRPr lang="en-US" altLang="zh-CN"/>
          </a:p>
          <a:p>
            <a:pPr indent="0">
              <a:buNone/>
            </a:pPr>
            <a:r>
              <a:rPr lang="en-US" altLang="zh-CN">
                <a:sym typeface="+mn-ea"/>
              </a:rPr>
              <a:t>4 Seam Carving </a:t>
            </a:r>
            <a:r>
              <a:rPr lang="zh-CN" altLang="en-US">
                <a:sym typeface="+mn-ea"/>
              </a:rPr>
              <a:t>中通常采用哪种方法高效寻找最低能量 </a:t>
            </a:r>
            <a:r>
              <a:rPr lang="en-US" altLang="zh-CN">
                <a:sym typeface="+mn-ea"/>
              </a:rPr>
              <a:t>seam</a:t>
            </a:r>
            <a:r>
              <a:rPr lang="zh-CN" altLang="en-US">
                <a:sym typeface="+mn-ea"/>
              </a:rPr>
              <a:t>？</a:t>
            </a:r>
            <a:endParaRPr lang="zh-CN" altLang="en-US"/>
          </a:p>
          <a:p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A. </a:t>
            </a:r>
            <a:r>
              <a:rPr lang="zh-CN" altLang="en-US">
                <a:sym typeface="+mn-ea"/>
              </a:rPr>
              <a:t>卷积滤波</a:t>
            </a:r>
            <a:endParaRPr lang="zh-CN" altLang="en-US"/>
          </a:p>
          <a:p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B. K-means </a:t>
            </a:r>
            <a:r>
              <a:rPr lang="zh-CN" altLang="en-US">
                <a:sym typeface="+mn-ea"/>
              </a:rPr>
              <a:t>聚类</a:t>
            </a:r>
            <a:endParaRPr lang="zh-CN" altLang="en-US"/>
          </a:p>
          <a:p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C. </a:t>
            </a:r>
            <a:r>
              <a:rPr lang="zh-CN" altLang="en-US">
                <a:sym typeface="+mn-ea"/>
              </a:rPr>
              <a:t>动态规划</a:t>
            </a:r>
            <a:endParaRPr lang="zh-CN" altLang="en-US"/>
          </a:p>
          <a:p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D. </a:t>
            </a:r>
            <a:r>
              <a:rPr lang="zh-CN" altLang="en-US">
                <a:sym typeface="+mn-ea"/>
              </a:rPr>
              <a:t>傅里叶变换</a:t>
            </a:r>
            <a:endParaRPr lang="zh-CN" altLang="en-US"/>
          </a:p>
          <a:p>
            <a:r>
              <a:rPr lang="zh-CN" altLang="en-US">
                <a:sym typeface="+mn-ea"/>
              </a:rPr>
              <a:t>答案：</a:t>
            </a:r>
            <a:r>
              <a:rPr lang="en-US" altLang="zh-CN">
                <a:sym typeface="+mn-ea"/>
              </a:rPr>
              <a:t>C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77825" y="746760"/>
            <a:ext cx="10655935" cy="456946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zh-CN" altLang="en-US" sz="2800" b="1"/>
              <a:t>三、判断题</a:t>
            </a:r>
            <a:endParaRPr lang="zh-CN" altLang="en-US" sz="2800" b="1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2000"/>
              <a:t> 图像缩放的目标是在调整尺寸的同时尽可能保持图像清晰度、细节和结构一致性。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2000"/>
              <a:t>答案：正确</a:t>
            </a:r>
            <a:endParaRPr lang="zh-CN" altLang="en-US" sz="2000"/>
          </a:p>
          <a:p>
            <a:pPr indent="0">
              <a:lnSpc>
                <a:spcPct val="150000"/>
              </a:lnSpc>
              <a:buNone/>
            </a:pPr>
            <a:r>
              <a:rPr lang="en-US" altLang="zh-CN" sz="2000"/>
              <a:t>2 </a:t>
            </a:r>
            <a:r>
              <a:rPr lang="zh-CN" altLang="en-US" sz="2000"/>
              <a:t>裁剪方法不会造成图像形变，因此一定不会丢失重要内容。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2000"/>
              <a:t>答案：错误</a:t>
            </a:r>
            <a:endParaRPr lang="zh-CN" altLang="en-US" sz="2000"/>
          </a:p>
          <a:p>
            <a:pPr indent="0">
              <a:lnSpc>
                <a:spcPct val="150000"/>
              </a:lnSpc>
              <a:buNone/>
            </a:pPr>
            <a:r>
              <a:rPr lang="en-US" altLang="zh-CN" sz="2000"/>
              <a:t>3  </a:t>
            </a:r>
            <a:r>
              <a:rPr lang="zh-CN" altLang="en-US" sz="2000"/>
              <a:t>移除最低能量列的方法可能会误删该列中的高能量重要像素。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2000"/>
              <a:t>答案：正确</a:t>
            </a:r>
            <a:endParaRPr lang="zh-CN" altLang="en-US" sz="2000"/>
          </a:p>
          <a:p>
            <a:pPr indent="0">
              <a:lnSpc>
                <a:spcPct val="150000"/>
              </a:lnSpc>
              <a:buNone/>
            </a:pPr>
            <a:r>
              <a:rPr lang="en-US" altLang="zh-CN" sz="2000"/>
              <a:t>4  Seam Carving </a:t>
            </a:r>
            <a:r>
              <a:rPr lang="zh-CN" altLang="en-US" sz="2000"/>
              <a:t>缩小时通常删除最低能量 </a:t>
            </a:r>
            <a:r>
              <a:rPr lang="en-US" altLang="zh-CN" sz="2000"/>
              <a:t>seam</a:t>
            </a:r>
            <a:r>
              <a:rPr lang="zh-CN" altLang="en-US" sz="2000"/>
              <a:t>，放大时可以通过复制 </a:t>
            </a:r>
            <a:r>
              <a:rPr lang="en-US" altLang="zh-CN" sz="2000"/>
              <a:t>seam </a:t>
            </a:r>
            <a:r>
              <a:rPr lang="zh-CN" altLang="en-US" sz="2000"/>
              <a:t>实现。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2000"/>
              <a:t>答案：正确</a:t>
            </a:r>
            <a:endParaRPr lang="zh-CN" altLang="en-US" sz="20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四、计算</a:t>
            </a:r>
            <a:r>
              <a:rPr lang="zh-CN" altLang="en-US">
                <a:sym typeface="+mn-ea"/>
              </a:rPr>
              <a:t>题</a:t>
            </a:r>
            <a:endParaRPr lang="zh-CN" altLang="en-US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15" y="1645920"/>
            <a:ext cx="8958580" cy="284924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85750" y="339725"/>
            <a:ext cx="11298555" cy="589026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zh-CN" altLang="en-US" sz="2800" b="1"/>
              <a:t>五、简答题</a:t>
            </a:r>
            <a:endParaRPr lang="zh-CN" altLang="en-US" sz="2800" b="1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 altLang="en-US" sz="1600"/>
              <a:t> 简述线性缩放、黑边和裁剪三种常规图像缩放方法的缺点。 </a:t>
            </a:r>
            <a:endParaRPr lang="zh-CN" altLang="en-US" sz="160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/>
              <a:t>参考答案：</a:t>
            </a:r>
            <a:endParaRPr lang="zh-CN" altLang="en-US" sz="160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/>
              <a:t> 线性缩放会使整个图像内容发生变形；黑边方法虽然不改变图像内容比例，但会导致屏幕不能被充分利用；裁剪方法可以保持图像比例，但可能删除边缘区域的重要内容。</a:t>
            </a:r>
            <a:endParaRPr lang="zh-CN" altLang="en-US" sz="160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 altLang="en-US" sz="1600"/>
              <a:t> 什么是 </a:t>
            </a:r>
            <a:r>
              <a:rPr lang="en-US" altLang="zh-CN" sz="1600"/>
              <a:t>Seam Carving</a:t>
            </a:r>
            <a:r>
              <a:rPr lang="zh-CN" altLang="en-US" sz="1600"/>
              <a:t>？它为什么属于内容感知图像缩放方法？ </a:t>
            </a:r>
            <a:endParaRPr lang="zh-CN" altLang="en-US" sz="160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/>
              <a:t>参考答案：</a:t>
            </a:r>
            <a:endParaRPr lang="zh-CN" altLang="en-US" sz="160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/>
              <a:t> </a:t>
            </a:r>
            <a:r>
              <a:rPr lang="en-US" altLang="zh-CN" sz="1600"/>
              <a:t>Seam Carving </a:t>
            </a:r>
            <a:r>
              <a:rPr lang="zh-CN" altLang="en-US" sz="1600"/>
              <a:t>是一种基于内容感知的图像缩放方法。它首先计算图像中每个像素的重要性或能量，然后寻找由低能量像素组成的连续路径，即 </a:t>
            </a:r>
            <a:r>
              <a:rPr lang="en-US" altLang="zh-CN" sz="1600"/>
              <a:t>seam</a:t>
            </a:r>
            <a:r>
              <a:rPr lang="zh-CN" altLang="en-US" sz="1600"/>
              <a:t>。缩小时删除低能量 </a:t>
            </a:r>
            <a:r>
              <a:rPr lang="en-US" altLang="zh-CN" sz="1600"/>
              <a:t>seam</a:t>
            </a:r>
            <a:r>
              <a:rPr lang="zh-CN" altLang="en-US" sz="1600"/>
              <a:t>，放大时复制或插入 </a:t>
            </a:r>
            <a:r>
              <a:rPr lang="en-US" altLang="zh-CN" sz="1600"/>
              <a:t>seam</a:t>
            </a:r>
            <a:r>
              <a:rPr lang="zh-CN" altLang="en-US" sz="1600"/>
              <a:t>，从而尽量避免破坏图像中的重要目标和结构。</a:t>
            </a:r>
            <a:endParaRPr lang="zh-CN" altLang="en-US" sz="160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 altLang="en-US" sz="1600"/>
              <a:t> </a:t>
            </a:r>
            <a:r>
              <a:rPr lang="en-US" altLang="zh-CN" sz="1600"/>
              <a:t>Seam Carving </a:t>
            </a:r>
            <a:r>
              <a:rPr lang="zh-CN" altLang="en-US" sz="1600"/>
              <a:t>的基本步骤是什么？ </a:t>
            </a:r>
            <a:endParaRPr lang="zh-CN" altLang="en-US" sz="160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/>
              <a:t>参考答案：</a:t>
            </a:r>
            <a:endParaRPr lang="zh-CN" altLang="en-US" sz="160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/>
              <a:t> </a:t>
            </a:r>
            <a:r>
              <a:rPr lang="en-US" altLang="zh-CN" sz="1600"/>
              <a:t>Seam Carving </a:t>
            </a:r>
            <a:r>
              <a:rPr lang="zh-CN" altLang="en-US" sz="1600"/>
              <a:t>的基本步骤包括：第一，建立图像能量映射，可使用梯度幅值或显著度表示像素重要性；第二，利用动态规划寻找累计能量最低的 </a:t>
            </a:r>
            <a:r>
              <a:rPr lang="en-US" altLang="zh-CN" sz="1600"/>
              <a:t>seam</a:t>
            </a:r>
            <a:r>
              <a:rPr lang="zh-CN" altLang="en-US" sz="1600"/>
              <a:t>；第三，根据缩放目标删除或复制 </a:t>
            </a:r>
            <a:r>
              <a:rPr lang="en-US" altLang="zh-CN" sz="1600"/>
              <a:t>seam</a:t>
            </a:r>
            <a:r>
              <a:rPr lang="zh-CN" altLang="en-US" sz="1600"/>
              <a:t>，实现图像缩小或放大。</a:t>
            </a:r>
            <a:endParaRPr lang="zh-CN" altLang="en-US" sz="160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 altLang="en-US" sz="1600"/>
              <a:t> 为什么“每行移除相同数的低能量像素”可能导致图像质量下降？ </a:t>
            </a:r>
            <a:endParaRPr lang="zh-CN" altLang="en-US" sz="160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/>
              <a:t>参考答案：</a:t>
            </a:r>
            <a:endParaRPr lang="zh-CN" altLang="en-US" sz="160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/>
              <a:t> 因为每一行独立删除低能量像素时，保留下来的像素在空间上可能不连续，容易破坏图像的纹理和结构连续性，导致图像出现断裂、错位或局部失真。</a:t>
            </a:r>
            <a:endParaRPr lang="zh-CN" altLang="en-US" sz="16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SOURCE" val="\documentclass{slides}\pagestyle{empty}&#10;\begin{document}&#10;$\|\nabla f\| = \sqrt{{(\frac{\partial f}{\partial x})}^2 + {(\frac{\partial f}{\partial y})}^2}$&#10;\end{document}&#10;"/>
  <p:tag name="EXTERNALNAME" val="Edittex"/>
  <p:tag name="BLEND" val="False"/>
  <p:tag name="TRANSPARENT" val="False"/>
  <p:tag name="BITMAPFORMAT" val="bmpmono"/>
  <p:tag name="DEBUGINTERACTIVE" val="True"/>
  <p:tag name="ORIGWIDTH" val="873"/>
</p:tagLst>
</file>

<file path=ppt/tags/tag86.xml><?xml version="1.0" encoding="utf-8"?>
<p:tagLst xmlns:p="http://schemas.openxmlformats.org/presentationml/2006/main">
  <p:tag name="SOURCE" val="\documentclass{slides}\pagestyle{empty}&#10;\begin{document}&#10;$\|\nabla f\| = \sqrt{{(\frac{\partial f}{\partial x})}^2 + {(\frac{\partial f}{\partial y})}^2}$&#10;\end{document}&#10;"/>
  <p:tag name="EXTERNALNAME" val="Edittex"/>
  <p:tag name="BLEND" val="False"/>
  <p:tag name="TRANSPARENT" val="False"/>
  <p:tag name="BITMAPFORMAT" val="bmpmono"/>
  <p:tag name="DEBUGINTERACTIVE" val="True"/>
  <p:tag name="ORIGWIDTH" val="873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COMMONDATA" val="eyJoZGlkIjoiYjQ4Y2I1Y2RlNWNmZmJlZjE1MTIzNGJlYTJiNGZhM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3886</Words>
  <Application>WPS 演示</Application>
  <PresentationFormat>宽屏</PresentationFormat>
  <Paragraphs>644</Paragraphs>
  <Slides>57</Slides>
  <Notes>16</Notes>
  <HiddenSlides>0</HiddenSlides>
  <MMClips>1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15</vt:i4>
      </vt:variant>
      <vt:variant>
        <vt:lpstr>幻灯片标题</vt:lpstr>
      </vt:variant>
      <vt:variant>
        <vt:i4>57</vt:i4>
      </vt:variant>
    </vt:vector>
  </HeadingPairs>
  <TitlesOfParts>
    <vt:vector size="91" baseType="lpstr">
      <vt:lpstr>Arial</vt:lpstr>
      <vt:lpstr>宋体</vt:lpstr>
      <vt:lpstr>Wingdings</vt:lpstr>
      <vt:lpstr>Wingdings</vt:lpstr>
      <vt:lpstr>Times New Roman</vt:lpstr>
      <vt:lpstr>MS PGothic</vt:lpstr>
      <vt:lpstr>微软雅黑</vt:lpstr>
      <vt:lpstr>A</vt:lpstr>
      <vt:lpstr>OCR A Extended</vt:lpstr>
      <vt:lpstr>PMingLiU</vt:lpstr>
      <vt:lpstr>Symbol</vt:lpstr>
      <vt:lpstr>Calibri</vt:lpstr>
      <vt:lpstr>Arial Unicode MS</vt:lpstr>
      <vt:lpstr>PMingLiU</vt:lpstr>
      <vt:lpstr>ZWSimpleStroke</vt:lpstr>
      <vt:lpstr>MingLiU-ExtB</vt:lpstr>
      <vt:lpstr>PMingLiU</vt:lpstr>
      <vt:lpstr>Symbol</vt:lpstr>
      <vt:lpstr>WPS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Photoshop.Image.8</vt:lpstr>
      <vt:lpstr>Photoshop.Image.8</vt:lpstr>
      <vt:lpstr>Photoshop.Image.8</vt:lpstr>
      <vt:lpstr>Equation.3</vt:lpstr>
      <vt:lpstr>Equation.3</vt:lpstr>
      <vt:lpstr>Equation.3</vt:lpstr>
      <vt:lpstr>Equation.3</vt:lpstr>
      <vt:lpstr>Equation.3</vt:lpstr>
      <vt:lpstr>图像缩放</vt:lpstr>
      <vt:lpstr>目录</vt:lpstr>
      <vt:lpstr>1背景介绍</vt:lpstr>
      <vt:lpstr>PowerPoint 演示文稿</vt:lpstr>
      <vt:lpstr>2常规图像缩放方案</vt:lpstr>
      <vt:lpstr>图像缩放 – 常规方案</vt:lpstr>
      <vt:lpstr>图像缩放 – 常规方案</vt:lpstr>
      <vt:lpstr>图像缩放 – 常规方案</vt:lpstr>
      <vt:lpstr>PowerPoint 演示文稿</vt:lpstr>
      <vt:lpstr>问题描述</vt:lpstr>
      <vt:lpstr>图像缩小</vt:lpstr>
      <vt:lpstr>图像缩小--选择最高能量的子视窗 (裁剪)</vt:lpstr>
      <vt:lpstr>图像缩小--选择最高能量的子视窗 (裁剪)</vt:lpstr>
      <vt:lpstr>PowerPoint 演示文稿</vt:lpstr>
      <vt:lpstr>图像缩小--选择最高能量的子视窗 (裁剪)</vt:lpstr>
      <vt:lpstr>图像缩小--选择最高能量的子视窗 (裁剪)</vt:lpstr>
      <vt:lpstr>图像缩小--选择最高能量的子视窗 (裁剪)</vt:lpstr>
      <vt:lpstr>图像缩小--选择最高能量的子视窗 (裁剪)</vt:lpstr>
      <vt:lpstr>图像缩小</vt:lpstr>
      <vt:lpstr>PowerPoint 演示文稿</vt:lpstr>
      <vt:lpstr>PowerPoint 演示文稿</vt:lpstr>
      <vt:lpstr>PowerPoint 演示文稿</vt:lpstr>
      <vt:lpstr>图像缩小--移除最低能量列</vt:lpstr>
      <vt:lpstr>图像缩小--移除最低能量列</vt:lpstr>
      <vt:lpstr>图像缩小--移除最低能量列</vt:lpstr>
      <vt:lpstr>图像缩小</vt:lpstr>
      <vt:lpstr>图像缩小--每行移除相同数的低能量</vt:lpstr>
      <vt:lpstr>图像缩小--每行移除相同数的低能量</vt:lpstr>
      <vt:lpstr>图像缩小--每行移除相同数的低能量</vt:lpstr>
      <vt:lpstr>总结</vt:lpstr>
      <vt:lpstr>图像缩小</vt:lpstr>
      <vt:lpstr>3 自适应图像缩放Seam carving</vt:lpstr>
      <vt:lpstr>PowerPoint 演示文稿</vt:lpstr>
      <vt:lpstr>图像减少 &amp; 图像放大</vt:lpstr>
      <vt:lpstr>Seam carving: 基本思想</vt:lpstr>
      <vt:lpstr>PowerPoint 演示文稿</vt:lpstr>
      <vt:lpstr>PowerPoint 演示文稿</vt:lpstr>
      <vt:lpstr>PowerPoint 演示文稿</vt:lpstr>
      <vt:lpstr>图像缩小-- Seam移除</vt:lpstr>
      <vt:lpstr>图像缩小-- Seam移除</vt:lpstr>
      <vt:lpstr>图像缩小-- Seam移除</vt:lpstr>
      <vt:lpstr>图像缩小-- Seam移除</vt:lpstr>
      <vt:lpstr>图像缩小-- Seam移除</vt:lpstr>
      <vt:lpstr>图像缩小-- Seam移除</vt:lpstr>
      <vt:lpstr>PowerPoint 演示文稿</vt:lpstr>
      <vt:lpstr>PowerPoint 演示文稿</vt:lpstr>
      <vt:lpstr>物体移除或保留</vt:lpstr>
      <vt:lpstr>PowerPoint 演示文稿</vt:lpstr>
      <vt:lpstr>PowerPoint 演示文稿</vt:lpstr>
      <vt:lpstr>局限性</vt:lpstr>
      <vt:lpstr>总结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WD</cp:lastModifiedBy>
  <cp:revision>219</cp:revision>
  <dcterms:created xsi:type="dcterms:W3CDTF">2019-06-19T02:08:00Z</dcterms:created>
  <dcterms:modified xsi:type="dcterms:W3CDTF">2026-05-18T14:39:50Z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5D1100002BD84C9889FAD7E0B282C52E_13</vt:lpwstr>
  </property>
</Properties>
</file>