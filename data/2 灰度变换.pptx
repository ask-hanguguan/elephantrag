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31"/>
  </p:handoutMasterIdLst>
  <p:sldIdLst>
    <p:sldId id="323" r:id="rId3"/>
    <p:sldId id="421" r:id="rId4"/>
    <p:sldId id="398" r:id="rId5"/>
    <p:sldId id="327" r:id="rId7"/>
    <p:sldId id="356" r:id="rId8"/>
    <p:sldId id="277" r:id="rId9"/>
    <p:sldId id="283" r:id="rId10"/>
    <p:sldId id="425" r:id="rId11"/>
    <p:sldId id="432" r:id="rId12"/>
    <p:sldId id="330" r:id="rId13"/>
    <p:sldId id="288" r:id="rId14"/>
    <p:sldId id="433" r:id="rId15"/>
    <p:sldId id="401" r:id="rId16"/>
    <p:sldId id="402" r:id="rId17"/>
    <p:sldId id="426" r:id="rId18"/>
    <p:sldId id="429" r:id="rId19"/>
    <p:sldId id="415" r:id="rId20"/>
    <p:sldId id="368" r:id="rId21"/>
    <p:sldId id="427" r:id="rId22"/>
    <p:sldId id="412" r:id="rId23"/>
    <p:sldId id="428" r:id="rId24"/>
    <p:sldId id="341" r:id="rId25"/>
    <p:sldId id="423" r:id="rId26"/>
    <p:sldId id="419" r:id="rId27"/>
    <p:sldId id="420" r:id="rId28"/>
    <p:sldId id="418" r:id="rId29"/>
    <p:sldId id="411" r:id="rId30"/>
  </p:sldIdLst>
  <p:sldSz cx="9144000" cy="6858000" type="screen4x3"/>
  <p:notesSz cx="6858000" cy="9144000"/>
  <p:custDataLst>
    <p:tags r:id="rId35"/>
  </p:custDataLst>
  <p:defaultTextStyle>
    <a:defPPr>
      <a:defRPr lang="en-US"/>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4297" userDrawn="1">
          <p15:clr>
            <a:srgbClr val="A4A3A4"/>
          </p15:clr>
        </p15:guide>
        <p15:guide id="2" pos="28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C2CA"/>
    <a:srgbClr val="660E0E"/>
    <a:srgbClr val="996600"/>
    <a:srgbClr val="FF6600"/>
    <a:srgbClr val="000066"/>
    <a:srgbClr val="0099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65"/>
    <p:restoredTop sz="84483" autoAdjust="0"/>
  </p:normalViewPr>
  <p:slideViewPr>
    <p:cSldViewPr snapToGrid="0" showGuides="1">
      <p:cViewPr varScale="1">
        <p:scale>
          <a:sx n="74" d="100"/>
          <a:sy n="74" d="100"/>
        </p:scale>
        <p:origin x="1531" y="62"/>
      </p:cViewPr>
      <p:guideLst>
        <p:guide orient="horz" pos="4297"/>
        <p:guide pos="289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tags" Target="tags/tag6.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image" Target="../media/image6.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5" Type="http://schemas.openxmlformats.org/officeDocument/2006/relationships/image" Target="../media/image16.wmf"/><Relationship Id="rId4" Type="http://schemas.openxmlformats.org/officeDocument/2006/relationships/image" Target="../media/image15.wmf"/><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1.png"/></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12.vml.rels><?xml version="1.0" encoding="UTF-8" standalone="yes"?>
<Relationships xmlns="http://schemas.openxmlformats.org/package/2006/relationships"><Relationship Id="rId4" Type="http://schemas.openxmlformats.org/officeDocument/2006/relationships/image" Target="../media/image38.wmf"/><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15.vml.rels><?xml version="1.0" encoding="UTF-8" standalone="yes"?>
<Relationships xmlns="http://schemas.openxmlformats.org/package/2006/relationships"><Relationship Id="rId5" Type="http://schemas.openxmlformats.org/officeDocument/2006/relationships/image" Target="../media/image51.wmf"/><Relationship Id="rId4" Type="http://schemas.openxmlformats.org/officeDocument/2006/relationships/image" Target="../media/image50.wmf"/><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b="0">
                <a:ea typeface="+mn-ea"/>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59747"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a:ea typeface="+mn-ea"/>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59748"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b="0">
                <a:ea typeface="+mn-ea"/>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59749"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a:fld id="{9A0DB2DC-4C9A-4742-B13C-FB6460FD3503}" type="slidenum">
              <a:rPr lang="zh-CN" altLang="en-US" sz="1200" b="0" dirty="0"/>
            </a:fld>
            <a:endParaRPr lang="zh-CN" altLang="en-US" sz="1200" b="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b="0">
                <a:ea typeface="+mn-ea"/>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8675"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a:ea typeface="+mn-ea"/>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07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8677"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Click to edit Master text styles</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Second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Third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Fourth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Fifth level</a:t>
            </a: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678"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b="0">
                <a:ea typeface="+mn-ea"/>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867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a:fld id="{9A0DB2DC-4C9A-4742-B13C-FB6460FD3503}" type="slidenum">
              <a:rPr lang="zh-CN" altLang="en-US" sz="1200" b="0" dirty="0"/>
            </a:fld>
            <a:endParaRPr lang="zh-CN" altLang="en-US" sz="1200" b="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a:fld id="{9A0DB2DC-4C9A-4742-B13C-FB6460FD3503}" type="slidenum">
              <a:rPr lang="zh-CN" altLang="en-US" sz="1200" b="0" dirty="0"/>
            </a:fld>
            <a:endParaRPr lang="zh-CN" altLang="en-US" sz="1200" b="0" dirty="0"/>
          </a:p>
        </p:txBody>
      </p:sp>
      <p:sp>
        <p:nvSpPr>
          <p:cNvPr id="7171" name="Rectangle 2"/>
          <p:cNvSpPr>
            <a:spLocks noGrp="1" noRot="1" noChangeAspect="1" noTextEdit="1"/>
          </p:cNvSpPr>
          <p:nvPr>
            <p:ph type="sldImg"/>
          </p:nvPr>
        </p:nvSpPr>
        <p:spPr/>
      </p:sp>
      <p:sp>
        <p:nvSpPr>
          <p:cNvPr id="7172" name="Rectangle 3"/>
          <p:cNvSpPr>
            <a:spLocks noGrp="1"/>
          </p:cNvSpPr>
          <p:nvPr>
            <p:ph type="body" idx="1"/>
          </p:nvPr>
        </p:nvSpPr>
        <p:spPr/>
        <p:txBody>
          <a:bodyPr wrap="square" lIns="91440" tIns="45720" rIns="91440" bIns="45720" anchor="t" anchorCtr="0"/>
          <a:lstStyle/>
          <a:p>
            <a:pPr lvl="0" eaLnBrk="1" hangingPunct="1"/>
            <a:r>
              <a:rPr lang="zh-CN" altLang="en-US" dirty="0"/>
              <a:t>灰度变换：针对单通道图像强度值或灰度值的变换。</a:t>
            </a: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a:fld id="{9A0DB2DC-4C9A-4742-B13C-FB6460FD3503}" type="slidenum">
              <a:rPr lang="zh-CN" altLang="en-US" sz="1200" b="0" dirty="0"/>
            </a:fld>
            <a:endParaRPr lang="zh-CN" altLang="en-US" sz="1200" b="0" dirty="0"/>
          </a:p>
        </p:txBody>
      </p:sp>
      <p:sp>
        <p:nvSpPr>
          <p:cNvPr id="10243" name="Rectangle 2"/>
          <p:cNvSpPr>
            <a:spLocks noGrp="1" noRot="1" noChangeAspect="1" noTextEdit="1"/>
          </p:cNvSpPr>
          <p:nvPr>
            <p:ph type="sldImg"/>
          </p:nvPr>
        </p:nvSpPr>
        <p:spPr/>
      </p:sp>
      <p:sp>
        <p:nvSpPr>
          <p:cNvPr id="10244" name="Rectangle 3"/>
          <p:cNvSpPr>
            <a:spLocks noGrp="1"/>
          </p:cNvSpPr>
          <p:nvPr>
            <p:ph type="body" idx="1"/>
          </p:nvPr>
        </p:nvSpPr>
        <p:spPr/>
        <p:txBody>
          <a:bodyPr wrap="square" lIns="91440" tIns="45720" rIns="91440" bIns="45720" anchor="t" anchorCtr="0"/>
          <a:lstStyle/>
          <a:p>
            <a:pPr lvl="0" eaLnBrk="1" fontAlgn="t" hangingPunct="1"/>
            <a:r>
              <a:rPr lang="zh-CN" altLang="en-US" dirty="0">
                <a:solidFill>
                  <a:srgbClr val="000066"/>
                </a:solidFill>
              </a:rPr>
              <a:t>算子是一个函数空间到函数空间上的映射</a:t>
            </a:r>
            <a:endParaRPr lang="zh-CN" altLang="en-US" dirty="0">
              <a:solidFill>
                <a:srgbClr val="000066"/>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a:fld id="{9A0DB2DC-4C9A-4742-B13C-FB6460FD3503}" type="slidenum">
              <a:rPr lang="zh-CN" altLang="en-US" sz="1200" b="0" dirty="0"/>
            </a:fld>
            <a:endParaRPr lang="zh-CN" altLang="en-US" sz="1200" b="0" dirty="0"/>
          </a:p>
        </p:txBody>
      </p:sp>
      <p:sp>
        <p:nvSpPr>
          <p:cNvPr id="26627" name="Rectangle 2"/>
          <p:cNvSpPr>
            <a:spLocks noGrp="1" noRot="1" noChangeAspect="1" noTextEdit="1"/>
          </p:cNvSpPr>
          <p:nvPr>
            <p:ph type="sldImg"/>
          </p:nvPr>
        </p:nvSpPr>
        <p:spPr/>
      </p:sp>
      <p:sp>
        <p:nvSpPr>
          <p:cNvPr id="26628" name="Rectangle 3"/>
          <p:cNvSpPr>
            <a:spLocks noGrp="1"/>
          </p:cNvSpPr>
          <p:nvPr>
            <p:ph type="body" idx="1"/>
          </p:nvPr>
        </p:nvSpPr>
        <p:spPr/>
        <p:txBody>
          <a:bodyPr wrap="square" lIns="91440" tIns="45720" rIns="91440" bIns="45720" anchor="t" anchorCtr="0"/>
          <a:lstStyle/>
          <a:p>
            <a:pPr lvl="0" eaLnBrk="1" hangingPunct="1"/>
            <a:r>
              <a:rPr lang="zh-CN" altLang="en-US" dirty="0"/>
              <a:t>了解了一些函数变换为什么能在图像增强中起作用的基本原理，我们就可以自己构造更灵活的函数变换，例如分段函数 </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直方图均衡化所采用的灰度变换函数要求是单调递增的，以保证变换后灰度值的顺序关系不被破坏。引入累计分布函数（</a:t>
            </a:r>
            <a:r>
              <a:rPr lang="en-US" altLang="zh-CN" dirty="0" smtClean="0"/>
              <a:t>CDF</a:t>
            </a:r>
            <a:r>
              <a:rPr lang="zh-CN" altLang="en-US" dirty="0" smtClean="0"/>
              <a:t>）的目的是在实现直方图均衡化的同时，保持原始灰度级的相对顺序尽可能不变。</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a:fld id="{9A0DB2DC-4C9A-4742-B13C-FB6460FD3503}" type="slidenum">
              <a:rPr lang="zh-CN" altLang="en-US" sz="1200" b="0" dirty="0"/>
            </a:fld>
            <a:endParaRPr lang="zh-CN" altLang="en-US" sz="1200" b="0" dirty="0"/>
          </a:p>
        </p:txBody>
      </p:sp>
      <p:sp>
        <p:nvSpPr>
          <p:cNvPr id="57347" name="Rectangle 2"/>
          <p:cNvSpPr>
            <a:spLocks noGrp="1" noRot="1" noChangeAspect="1" noTextEdit="1"/>
          </p:cNvSpPr>
          <p:nvPr>
            <p:ph type="sldImg"/>
          </p:nvPr>
        </p:nvSpPr>
        <p:spPr/>
      </p:sp>
      <p:sp>
        <p:nvSpPr>
          <p:cNvPr id="57348" name="Rectangle 3"/>
          <p:cNvSpPr>
            <a:spLocks noGrp="1"/>
          </p:cNvSpPr>
          <p:nvPr>
            <p:ph type="body" idx="1"/>
          </p:nvPr>
        </p:nvSpPr>
        <p:spPr/>
        <p:txBody>
          <a:bodyPr wrap="square" lIns="91440" tIns="45720" rIns="91440" bIns="45720" anchor="t" anchorCtr="0"/>
          <a:lstStyle/>
          <a:p>
            <a:pPr lvl="0" eaLnBrk="1" hangingPunct="1"/>
            <a:r>
              <a:rPr lang="zh-CN" altLang="en-US" dirty="0"/>
              <a:t>对离散情形，问题转化成了求解方程（</a:t>
            </a:r>
            <a:r>
              <a:rPr lang="en-US" altLang="zh-CN" dirty="0"/>
              <a:t>3.3.15</a:t>
            </a:r>
            <a:r>
              <a:rPr lang="zh-CN" altLang="en-US" dirty="0"/>
              <a:t>）或者（</a:t>
            </a:r>
            <a:r>
              <a:rPr lang="en-US" altLang="zh-CN" dirty="0"/>
              <a:t>3.3.16</a:t>
            </a:r>
            <a:r>
              <a:rPr lang="zh-CN" altLang="en-US" dirty="0"/>
              <a:t>）。和连续情形不同的是，这里的每个变量的范围都是</a:t>
            </a:r>
            <a:r>
              <a:rPr lang="en-US" altLang="zh-CN" dirty="0"/>
              <a:t>0</a:t>
            </a:r>
            <a:r>
              <a:rPr lang="zh-CN" altLang="en-US" dirty="0"/>
              <a:t>到</a:t>
            </a:r>
            <a:r>
              <a:rPr lang="en-US" altLang="zh-CN" dirty="0"/>
              <a:t>255</a:t>
            </a:r>
            <a:r>
              <a:rPr lang="zh-CN" altLang="en-US" dirty="0"/>
              <a:t>之间的整数。那么方程的求解就变得简单起来。这时可以利用单调递增查表的方式。</a:t>
            </a:r>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0"/>
            <a:ext cx="9144000" cy="6858000"/>
            <a:chOff x="0" y="0"/>
            <a:chExt cx="5760" cy="4320"/>
          </a:xfrm>
        </p:grpSpPr>
        <p:sp>
          <p:nvSpPr>
            <p:cNvPr id="18"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Rectangle 4"/>
            <p:cNvSpPr>
              <a:spLocks noChangeArrowheads="1"/>
            </p:cNvSpPr>
            <p:nvPr/>
          </p:nvSpPr>
          <p:spPr bwMode="hidden">
            <a:xfrm>
              <a:off x="1081" y="1065"/>
              <a:ext cx="4679" cy="1596"/>
            </a:xfrm>
            <a:prstGeom prst="rect">
              <a:avLst/>
            </a:prstGeom>
            <a:solidFill>
              <a:schemeClr val="bg2"/>
            </a:solidFill>
            <a:ln>
              <a:noFill/>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2058" name="Group 5"/>
            <p:cNvGrpSpPr/>
            <p:nvPr/>
          </p:nvGrpSpPr>
          <p:grpSpPr>
            <a:xfrm>
              <a:off x="0" y="672"/>
              <a:ext cx="1806" cy="1989"/>
              <a:chOff x="0" y="672"/>
              <a:chExt cx="1806" cy="1989"/>
            </a:xfrm>
          </p:grpSpPr>
          <p:sp>
            <p:nvSpPr>
              <p:cNvPr id="21" name="Rectangle 6"/>
              <p:cNvSpPr>
                <a:spLocks noChangeArrowheads="1"/>
              </p:cNvSpPr>
              <p:nvPr/>
            </p:nvSpPr>
            <p:spPr bwMode="auto">
              <a:xfrm>
                <a:off x="361" y="2257"/>
                <a:ext cx="363" cy="404"/>
              </a:xfrm>
              <a:prstGeom prst="rect">
                <a:avLst/>
              </a:prstGeom>
              <a:solidFill>
                <a:schemeClr val="accent2"/>
              </a:solidFill>
              <a:ln>
                <a:noFill/>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Rectangle 7"/>
              <p:cNvSpPr>
                <a:spLocks noChangeArrowheads="1"/>
              </p:cNvSpPr>
              <p:nvPr/>
            </p:nvSpPr>
            <p:spPr bwMode="auto">
              <a:xfrm>
                <a:off x="1081" y="1065"/>
                <a:ext cx="362" cy="405"/>
              </a:xfrm>
              <a:prstGeom prst="rect">
                <a:avLst/>
              </a:prstGeom>
              <a:solidFill>
                <a:schemeClr val="folHlink"/>
              </a:solidFill>
              <a:ln>
                <a:noFill/>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Rectangle 8"/>
              <p:cNvSpPr>
                <a:spLocks noChangeArrowheads="1"/>
              </p:cNvSpPr>
              <p:nvPr/>
            </p:nvSpPr>
            <p:spPr bwMode="auto">
              <a:xfrm>
                <a:off x="1437" y="672"/>
                <a:ext cx="369" cy="400"/>
              </a:xfrm>
              <a:prstGeom prst="rect">
                <a:avLst/>
              </a:prstGeom>
              <a:solidFill>
                <a:schemeClr val="folHlink"/>
              </a:solidFill>
              <a:ln>
                <a:noFill/>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Rectangle 9"/>
              <p:cNvSpPr>
                <a:spLocks noChangeArrowheads="1"/>
              </p:cNvSpPr>
              <p:nvPr/>
            </p:nvSpPr>
            <p:spPr bwMode="auto">
              <a:xfrm>
                <a:off x="719" y="2257"/>
                <a:ext cx="368" cy="404"/>
              </a:xfrm>
              <a:prstGeom prst="rect">
                <a:avLst/>
              </a:prstGeom>
              <a:solidFill>
                <a:schemeClr val="bg2"/>
              </a:solidFill>
              <a:ln>
                <a:noFill/>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10"/>
              <p:cNvSpPr>
                <a:spLocks noChangeArrowheads="1"/>
              </p:cNvSpPr>
              <p:nvPr/>
            </p:nvSpPr>
            <p:spPr bwMode="auto">
              <a:xfrm>
                <a:off x="1437" y="1065"/>
                <a:ext cx="369" cy="405"/>
              </a:xfrm>
              <a:prstGeom prst="rect">
                <a:avLst/>
              </a:prstGeom>
              <a:solidFill>
                <a:schemeClr val="accent2"/>
              </a:solidFill>
              <a:ln>
                <a:noFill/>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Rectangle 11"/>
              <p:cNvSpPr>
                <a:spLocks noChangeArrowheads="1"/>
              </p:cNvSpPr>
              <p:nvPr/>
            </p:nvSpPr>
            <p:spPr bwMode="auto">
              <a:xfrm>
                <a:off x="719" y="1464"/>
                <a:ext cx="368" cy="399"/>
              </a:xfrm>
              <a:prstGeom prst="rect">
                <a:avLst/>
              </a:prstGeom>
              <a:solidFill>
                <a:schemeClr val="folHlink"/>
              </a:solidFill>
              <a:ln>
                <a:noFill/>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Rectangle 12"/>
              <p:cNvSpPr>
                <a:spLocks noChangeArrowheads="1"/>
              </p:cNvSpPr>
              <p:nvPr/>
            </p:nvSpPr>
            <p:spPr bwMode="auto">
              <a:xfrm>
                <a:off x="0" y="1464"/>
                <a:ext cx="367" cy="399"/>
              </a:xfrm>
              <a:prstGeom prst="rect">
                <a:avLst/>
              </a:prstGeom>
              <a:solidFill>
                <a:schemeClr val="bg2"/>
              </a:solidFill>
              <a:ln>
                <a:noFill/>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Rectangle 13"/>
              <p:cNvSpPr>
                <a:spLocks noChangeArrowheads="1"/>
              </p:cNvSpPr>
              <p:nvPr/>
            </p:nvSpPr>
            <p:spPr bwMode="auto">
              <a:xfrm>
                <a:off x="1081" y="1464"/>
                <a:ext cx="362" cy="399"/>
              </a:xfrm>
              <a:prstGeom prst="rect">
                <a:avLst/>
              </a:prstGeom>
              <a:solidFill>
                <a:schemeClr val="accent2"/>
              </a:solidFill>
              <a:ln>
                <a:noFill/>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Rectangle 14"/>
              <p:cNvSpPr>
                <a:spLocks noChangeArrowheads="1"/>
              </p:cNvSpPr>
              <p:nvPr/>
            </p:nvSpPr>
            <p:spPr bwMode="auto">
              <a:xfrm>
                <a:off x="361" y="1857"/>
                <a:ext cx="363" cy="406"/>
              </a:xfrm>
              <a:prstGeom prst="rect">
                <a:avLst/>
              </a:prstGeom>
              <a:solidFill>
                <a:schemeClr val="folHlink"/>
              </a:solidFill>
              <a:ln>
                <a:noFill/>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Rectangle 15"/>
              <p:cNvSpPr>
                <a:spLocks noChangeArrowheads="1"/>
              </p:cNvSpPr>
              <p:nvPr/>
            </p:nvSpPr>
            <p:spPr bwMode="auto">
              <a:xfrm>
                <a:off x="719" y="1857"/>
                <a:ext cx="368" cy="406"/>
              </a:xfrm>
              <a:prstGeom prst="rect">
                <a:avLst/>
              </a:prstGeom>
              <a:solidFill>
                <a:schemeClr val="accent2"/>
              </a:solidFill>
              <a:ln>
                <a:noFill/>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138259"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endParaRPr lang="zh-CN" altLang="en-US"/>
          </a:p>
        </p:txBody>
      </p:sp>
      <p:sp>
        <p:nvSpPr>
          <p:cNvPr id="138260"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r>
              <a:rPr lang="zh-CN" altLang="en-US"/>
              <a:t>单击此处编辑母版副标题样式</a:t>
            </a:r>
            <a:endParaRPr lang="zh-CN" altLang="en-US"/>
          </a:p>
        </p:txBody>
      </p:sp>
      <p:sp>
        <p:nvSpPr>
          <p:cNvPr id="31" name="Rectangle 16"/>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b" anchorCtr="0" compatLnSpc="1"/>
          <a:lstStyle/>
          <a:p>
            <a:pPr algn="r" eaLnBrk="1" hangingPunct="1"/>
            <a:fld id="{9A0DB2DC-4C9A-4742-B13C-FB6460FD3503}" type="slidenum">
              <a:rPr lang="zh-CN" altLang="en-US" dirty="0">
                <a:latin typeface="Arial Black" panose="020B0A04020102020204" pitchFamily="34" charset="0"/>
              </a:rPr>
            </a:fld>
            <a:endParaRPr lang="zh-CN" altLang="en-US" dirty="0">
              <a:latin typeface="Arial Black" panose="020B0A040201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
        <p:nvSpPr>
          <p:cNvPr id="5" name="灯片编号占位符 4"/>
          <p:cNvSpPr>
            <a:spLocks noGrp="1"/>
          </p:cNvSpPr>
          <p:nvPr>
            <p:ph type="sldNum" sz="quarter" idx="11"/>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
        <p:nvSpPr>
          <p:cNvPr id="5" name="灯片编号占位符 4"/>
          <p:cNvSpPr>
            <a:spLocks noGrp="1"/>
          </p:cNvSpPr>
          <p:nvPr>
            <p:ph type="sldNum" sz="quarter" idx="11"/>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1"/>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
        <p:nvSpPr>
          <p:cNvPr id="8" name="灯片编号占位符 7"/>
          <p:cNvSpPr>
            <a:spLocks noGrp="1"/>
          </p:cNvSpPr>
          <p:nvPr>
            <p:ph type="sldNum" sz="quarter" idx="11"/>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
        <p:nvSpPr>
          <p:cNvPr id="9" name="日期占位符 8"/>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
        <p:nvSpPr>
          <p:cNvPr id="4" name="灯片编号占位符 3"/>
          <p:cNvSpPr>
            <a:spLocks noGrp="1"/>
          </p:cNvSpPr>
          <p:nvPr>
            <p:ph type="sldNum" sz="quarter" idx="11"/>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
        <p:nvSpPr>
          <p:cNvPr id="5" name="日期占位符 4"/>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
        <p:nvSpPr>
          <p:cNvPr id="3" name="灯片编号占位符 2"/>
          <p:cNvSpPr>
            <a:spLocks noGrp="1"/>
          </p:cNvSpPr>
          <p:nvPr>
            <p:ph type="sldNum" sz="quarter" idx="11"/>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
        <p:nvSpPr>
          <p:cNvPr id="4" name="日期占位符 3"/>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1"/>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1"/>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
        <p:nvSpPr>
          <p:cNvPr id="5" name="灯片编号占位符 4"/>
          <p:cNvSpPr>
            <a:spLocks noGrp="1"/>
          </p:cNvSpPr>
          <p:nvPr>
            <p:ph type="sldNum" sz="quarter" idx="11"/>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
        <p:nvSpPr>
          <p:cNvPr id="5" name="灯片编号占位符 4"/>
          <p:cNvSpPr>
            <a:spLocks noGrp="1"/>
          </p:cNvSpPr>
          <p:nvPr>
            <p:ph type="sldNum" sz="quarter" idx="11"/>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57200" y="1981200"/>
            <a:ext cx="4038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11"/>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
        <p:nvSpPr>
          <p:cNvPr id="4" name="灯片编号占位符 3"/>
          <p:cNvSpPr>
            <a:spLocks noGrp="1"/>
          </p:cNvSpPr>
          <p:nvPr>
            <p:ph type="sldNum" sz="quarter" idx="11"/>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
        <p:nvSpPr>
          <p:cNvPr id="5" name="日期占位符 4"/>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7218"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200" b="0">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
        <p:nvSpPr>
          <p:cNvPr id="137219"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b="0">
                <a:latin typeface="Arial Black" panose="020B0A04020102020204" pitchFamily="34" charset="0"/>
              </a:defRPr>
            </a:lvl1p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grpSp>
        <p:nvGrpSpPr>
          <p:cNvPr id="1028" name="Group 4"/>
          <p:cNvGrpSpPr/>
          <p:nvPr/>
        </p:nvGrpSpPr>
        <p:grpSpPr>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1029" name="Rectangle 14"/>
          <p:cNvSpPr>
            <a:spLocks noGrp="1"/>
          </p:cNvSpPr>
          <p:nvPr>
            <p:ph type="title"/>
          </p:nvPr>
        </p:nvSpPr>
        <p:spPr>
          <a:xfrm>
            <a:off x="457200" y="457200"/>
            <a:ext cx="8229600" cy="1371600"/>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1030" name="Rectangle 15"/>
          <p:cNvSpPr>
            <a:spLocks noGrp="1"/>
          </p:cNvSpPr>
          <p:nvPr>
            <p:ph type="body" idx="1"/>
          </p:nvPr>
        </p:nvSpPr>
        <p:spPr>
          <a:xfrm>
            <a:off x="457200" y="1981200"/>
            <a:ext cx="8229600" cy="388620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37232"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b="0">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vmlDrawing" Target="../drawings/vmlDrawing2.vml"/><Relationship Id="rId7" Type="http://schemas.openxmlformats.org/officeDocument/2006/relationships/slideLayout" Target="../slideLayouts/slideLayout2.xml"/><Relationship Id="rId6" Type="http://schemas.openxmlformats.org/officeDocument/2006/relationships/image" Target="../media/image4.wmf"/><Relationship Id="rId5" Type="http://schemas.openxmlformats.org/officeDocument/2006/relationships/oleObject" Target="../embeddings/oleObject4.bin"/><Relationship Id="rId4" Type="http://schemas.openxmlformats.org/officeDocument/2006/relationships/image" Target="../media/image3.wmf"/><Relationship Id="rId3" Type="http://schemas.openxmlformats.org/officeDocument/2006/relationships/oleObject" Target="../embeddings/oleObject3.bin"/><Relationship Id="rId2" Type="http://schemas.openxmlformats.org/officeDocument/2006/relationships/image" Target="../media/image2.wmf"/><Relationship Id="rId1"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7" Type="http://schemas.openxmlformats.org/officeDocument/2006/relationships/vmlDrawing" Target="../drawings/vmlDrawing3.vml"/><Relationship Id="rId6"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oleObject" Target="../embeddings/oleObject6.bin"/><Relationship Id="rId3" Type="http://schemas.openxmlformats.org/officeDocument/2006/relationships/image" Target="../media/image6.png"/><Relationship Id="rId2" Type="http://schemas.openxmlformats.org/officeDocument/2006/relationships/oleObject" Target="../embeddings/oleObject5.bin"/><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7.xml"/><Relationship Id="rId3" Type="http://schemas.openxmlformats.org/officeDocument/2006/relationships/image" Target="../media/image9.wmf"/><Relationship Id="rId2" Type="http://schemas.openxmlformats.org/officeDocument/2006/relationships/oleObject" Target="../embeddings/oleObject7.bin"/><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12.bin"/><Relationship Id="rId8" Type="http://schemas.openxmlformats.org/officeDocument/2006/relationships/image" Target="../media/image16.wmf"/><Relationship Id="rId7" Type="http://schemas.openxmlformats.org/officeDocument/2006/relationships/oleObject" Target="../embeddings/oleObject11.bin"/><Relationship Id="rId6" Type="http://schemas.openxmlformats.org/officeDocument/2006/relationships/image" Target="../media/image15.wmf"/><Relationship Id="rId5" Type="http://schemas.openxmlformats.org/officeDocument/2006/relationships/oleObject" Target="../embeddings/oleObject10.bin"/><Relationship Id="rId4" Type="http://schemas.openxmlformats.org/officeDocument/2006/relationships/image" Target="../media/image14.wmf"/><Relationship Id="rId3" Type="http://schemas.openxmlformats.org/officeDocument/2006/relationships/oleObject" Target="../embeddings/oleObject9.bin"/><Relationship Id="rId2" Type="http://schemas.openxmlformats.org/officeDocument/2006/relationships/image" Target="../media/image13.wmf"/><Relationship Id="rId14" Type="http://schemas.openxmlformats.org/officeDocument/2006/relationships/vmlDrawing" Target="../drawings/vmlDrawing5.vml"/><Relationship Id="rId13" Type="http://schemas.openxmlformats.org/officeDocument/2006/relationships/slideLayout" Target="../slideLayouts/slideLayout2.xml"/><Relationship Id="rId12" Type="http://schemas.openxmlformats.org/officeDocument/2006/relationships/image" Target="../media/image18.wmf"/><Relationship Id="rId11" Type="http://schemas.openxmlformats.org/officeDocument/2006/relationships/oleObject" Target="../embeddings/oleObject13.bin"/><Relationship Id="rId10" Type="http://schemas.openxmlformats.org/officeDocument/2006/relationships/image" Target="../media/image17.wmf"/><Relationship Id="rId1" Type="http://schemas.openxmlformats.org/officeDocument/2006/relationships/oleObject" Target="../embeddings/oleObject8.bin"/></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18.bin"/><Relationship Id="rId8" Type="http://schemas.openxmlformats.org/officeDocument/2006/relationships/image" Target="../media/image15.wmf"/><Relationship Id="rId7" Type="http://schemas.openxmlformats.org/officeDocument/2006/relationships/oleObject" Target="../embeddings/oleObject17.bin"/><Relationship Id="rId6" Type="http://schemas.openxmlformats.org/officeDocument/2006/relationships/image" Target="../media/image21.wmf"/><Relationship Id="rId5" Type="http://schemas.openxmlformats.org/officeDocument/2006/relationships/oleObject" Target="../embeddings/oleObject16.bin"/><Relationship Id="rId4" Type="http://schemas.openxmlformats.org/officeDocument/2006/relationships/image" Target="../media/image20.wmf"/><Relationship Id="rId3" Type="http://schemas.openxmlformats.org/officeDocument/2006/relationships/oleObject" Target="../embeddings/oleObject15.bin"/><Relationship Id="rId2" Type="http://schemas.openxmlformats.org/officeDocument/2006/relationships/image" Target="../media/image19.wmf"/><Relationship Id="rId12" Type="http://schemas.openxmlformats.org/officeDocument/2006/relationships/vmlDrawing" Target="../drawings/vmlDrawing6.vml"/><Relationship Id="rId11" Type="http://schemas.openxmlformats.org/officeDocument/2006/relationships/slideLayout" Target="../slideLayouts/slideLayout2.xml"/><Relationship Id="rId10" Type="http://schemas.openxmlformats.org/officeDocument/2006/relationships/image" Target="../media/image16.wmf"/><Relationship Id="rId1" Type="http://schemas.openxmlformats.org/officeDocument/2006/relationships/oleObject" Target="../embeddings/oleObject14.bin"/></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3.png"/><Relationship Id="rId1" Type="http://schemas.openxmlformats.org/officeDocument/2006/relationships/image" Target="../media/image22.wmf"/></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12.png"/><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26.wmf"/><Relationship Id="rId1" Type="http://schemas.openxmlformats.org/officeDocument/2006/relationships/oleObject" Target="../embeddings/oleObject19.bin"/></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vmlDrawing" Target="../drawings/vmlDrawing8.vml"/><Relationship Id="rId5" Type="http://schemas.openxmlformats.org/officeDocument/2006/relationships/slideLayout" Target="../slideLayouts/slideLayout7.xml"/><Relationship Id="rId4" Type="http://schemas.openxmlformats.org/officeDocument/2006/relationships/image" Target="../media/image28.wmf"/><Relationship Id="rId3" Type="http://schemas.openxmlformats.org/officeDocument/2006/relationships/oleObject" Target="../embeddings/oleObject21.bin"/><Relationship Id="rId2" Type="http://schemas.openxmlformats.org/officeDocument/2006/relationships/image" Target="../media/image27.wmf"/><Relationship Id="rId1" Type="http://schemas.openxmlformats.org/officeDocument/2006/relationships/oleObject" Target="../embeddings/oleObject20.bin"/></Relationships>
</file>

<file path=ppt/slides/_rels/slide15.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7.xml"/><Relationship Id="rId4" Type="http://schemas.openxmlformats.org/officeDocument/2006/relationships/image" Target="../media/image30.wmf"/><Relationship Id="rId3" Type="http://schemas.openxmlformats.org/officeDocument/2006/relationships/oleObject" Target="../embeddings/oleObject23.bin"/><Relationship Id="rId2" Type="http://schemas.openxmlformats.org/officeDocument/2006/relationships/image" Target="../media/image29.wmf"/><Relationship Id="rId1" Type="http://schemas.openxmlformats.org/officeDocument/2006/relationships/oleObject" Target="../embeddings/oleObject22.bin"/></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oleObject" Target="../embeddings/oleObject24.bin"/></Relationships>
</file>

<file path=ppt/slides/_rels/slide17.xml.rels><?xml version="1.0" encoding="UTF-8" standalone="yes"?>
<Relationships xmlns="http://schemas.openxmlformats.org/package/2006/relationships"><Relationship Id="rId8" Type="http://schemas.openxmlformats.org/officeDocument/2006/relationships/vmlDrawing" Target="../drawings/vmlDrawing11.vml"/><Relationship Id="rId7" Type="http://schemas.openxmlformats.org/officeDocument/2006/relationships/slideLayout" Target="../slideLayouts/slideLayout7.xml"/><Relationship Id="rId6" Type="http://schemas.openxmlformats.org/officeDocument/2006/relationships/image" Target="../media/image34.wmf"/><Relationship Id="rId5" Type="http://schemas.openxmlformats.org/officeDocument/2006/relationships/oleObject" Target="../embeddings/oleObject27.bin"/><Relationship Id="rId4" Type="http://schemas.openxmlformats.org/officeDocument/2006/relationships/image" Target="../media/image33.wmf"/><Relationship Id="rId3" Type="http://schemas.openxmlformats.org/officeDocument/2006/relationships/oleObject" Target="../embeddings/oleObject26.bin"/><Relationship Id="rId2" Type="http://schemas.openxmlformats.org/officeDocument/2006/relationships/image" Target="../media/image32.wmf"/><Relationship Id="rId1" Type="http://schemas.openxmlformats.org/officeDocument/2006/relationships/oleObject" Target="../embeddings/oleObject25.bin"/></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8.wmf"/><Relationship Id="rId7" Type="http://schemas.openxmlformats.org/officeDocument/2006/relationships/oleObject" Target="../embeddings/oleObject31.bin"/><Relationship Id="rId6" Type="http://schemas.openxmlformats.org/officeDocument/2006/relationships/image" Target="../media/image37.wmf"/><Relationship Id="rId5" Type="http://schemas.openxmlformats.org/officeDocument/2006/relationships/oleObject" Target="../embeddings/oleObject30.bin"/><Relationship Id="rId4" Type="http://schemas.openxmlformats.org/officeDocument/2006/relationships/image" Target="../media/image36.wmf"/><Relationship Id="rId3" Type="http://schemas.openxmlformats.org/officeDocument/2006/relationships/oleObject" Target="../embeddings/oleObject29.bin"/><Relationship Id="rId2" Type="http://schemas.openxmlformats.org/officeDocument/2006/relationships/image" Target="../media/image35.wmf"/><Relationship Id="rId10" Type="http://schemas.openxmlformats.org/officeDocument/2006/relationships/vmlDrawing" Target="../drawings/vmlDrawing12.vml"/><Relationship Id="rId1" Type="http://schemas.openxmlformats.org/officeDocument/2006/relationships/oleObject" Target="../embeddings/oleObject28.bin"/></Relationships>
</file>

<file path=ppt/slides/_rels/slide19.xml.rels><?xml version="1.0" encoding="UTF-8" standalone="yes"?>
<Relationships xmlns="http://schemas.openxmlformats.org/package/2006/relationships"><Relationship Id="rId9" Type="http://schemas.openxmlformats.org/officeDocument/2006/relationships/vmlDrawing" Target="../drawings/vmlDrawing13.vml"/><Relationship Id="rId8" Type="http://schemas.openxmlformats.org/officeDocument/2006/relationships/slideLayout" Target="../slideLayouts/slideLayout7.xml"/><Relationship Id="rId7" Type="http://schemas.openxmlformats.org/officeDocument/2006/relationships/image" Target="../media/image42.png"/><Relationship Id="rId6" Type="http://schemas.openxmlformats.org/officeDocument/2006/relationships/image" Target="../media/image41.wmf"/><Relationship Id="rId5" Type="http://schemas.openxmlformats.org/officeDocument/2006/relationships/oleObject" Target="../embeddings/oleObject34.bin"/><Relationship Id="rId4" Type="http://schemas.openxmlformats.org/officeDocument/2006/relationships/image" Target="../media/image40.wmf"/><Relationship Id="rId3" Type="http://schemas.openxmlformats.org/officeDocument/2006/relationships/oleObject" Target="../embeddings/oleObject33.bin"/><Relationship Id="rId2" Type="http://schemas.openxmlformats.org/officeDocument/2006/relationships/image" Target="../media/image39.wmf"/><Relationship Id="rId1" Type="http://schemas.openxmlformats.org/officeDocument/2006/relationships/oleObject" Target="../embeddings/oleObject32.bin"/></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png"/></Relationships>
</file>

<file path=ppt/slides/_rels/slide21.xml.rels><?xml version="1.0" encoding="UTF-8" standalone="yes"?>
<Relationships xmlns="http://schemas.openxmlformats.org/package/2006/relationships"><Relationship Id="rId8" Type="http://schemas.openxmlformats.org/officeDocument/2006/relationships/vmlDrawing" Target="../drawings/vmlDrawing14.vml"/><Relationship Id="rId7" Type="http://schemas.openxmlformats.org/officeDocument/2006/relationships/slideLayout" Target="../slideLayouts/slideLayout7.xml"/><Relationship Id="rId6" Type="http://schemas.openxmlformats.org/officeDocument/2006/relationships/image" Target="../media/image46.wmf"/><Relationship Id="rId5" Type="http://schemas.openxmlformats.org/officeDocument/2006/relationships/oleObject" Target="../embeddings/oleObject37.bin"/><Relationship Id="rId4" Type="http://schemas.openxmlformats.org/officeDocument/2006/relationships/image" Target="../media/image45.wmf"/><Relationship Id="rId3" Type="http://schemas.openxmlformats.org/officeDocument/2006/relationships/oleObject" Target="../embeddings/oleObject36.bin"/><Relationship Id="rId2" Type="http://schemas.openxmlformats.org/officeDocument/2006/relationships/image" Target="../media/image44.wmf"/><Relationship Id="rId1" Type="http://schemas.openxmlformats.org/officeDocument/2006/relationships/oleObject" Target="../embeddings/oleObject35.bin"/></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42.bin"/><Relationship Id="rId8" Type="http://schemas.openxmlformats.org/officeDocument/2006/relationships/image" Target="../media/image50.wmf"/><Relationship Id="rId7" Type="http://schemas.openxmlformats.org/officeDocument/2006/relationships/oleObject" Target="../embeddings/oleObject41.bin"/><Relationship Id="rId6" Type="http://schemas.openxmlformats.org/officeDocument/2006/relationships/image" Target="../media/image49.wmf"/><Relationship Id="rId5" Type="http://schemas.openxmlformats.org/officeDocument/2006/relationships/oleObject" Target="../embeddings/oleObject40.bin"/><Relationship Id="rId4" Type="http://schemas.openxmlformats.org/officeDocument/2006/relationships/image" Target="../media/image48.wmf"/><Relationship Id="rId3" Type="http://schemas.openxmlformats.org/officeDocument/2006/relationships/oleObject" Target="../embeddings/oleObject39.bin"/><Relationship Id="rId2" Type="http://schemas.openxmlformats.org/officeDocument/2006/relationships/image" Target="../media/image47.wmf"/><Relationship Id="rId13" Type="http://schemas.openxmlformats.org/officeDocument/2006/relationships/notesSlide" Target="../notesSlides/notesSlide5.xml"/><Relationship Id="rId12" Type="http://schemas.openxmlformats.org/officeDocument/2006/relationships/vmlDrawing" Target="../drawings/vmlDrawing15.vml"/><Relationship Id="rId11" Type="http://schemas.openxmlformats.org/officeDocument/2006/relationships/slideLayout" Target="../slideLayouts/slideLayout7.xml"/><Relationship Id="rId10" Type="http://schemas.openxmlformats.org/officeDocument/2006/relationships/image" Target="../media/image51.wmf"/><Relationship Id="rId1" Type="http://schemas.openxmlformats.org/officeDocument/2006/relationships/oleObject" Target="../embeddings/oleObject38.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ctrTitle"/>
          </p:nvPr>
        </p:nvSpPr>
        <p:spPr>
          <a:xfrm>
            <a:off x="3574415" y="1687830"/>
            <a:ext cx="4055110" cy="2209800"/>
          </a:xfrm>
        </p:spPr>
        <p:txBody>
          <a:bodyPr vert="horz" wrap="square" lIns="91440" tIns="45720" rIns="91440" bIns="45720" numCol="1" anchor="ctr" anchorCtr="0" compatLnSpc="1"/>
          <a:lstStyle/>
          <a:p>
            <a:pPr marL="0" marR="0" lvl="0" indent="0" algn="l" defTabSz="914400" rtl="0" eaLnBrk="1" fontAlgn="ctr" latinLnBrk="0" hangingPunct="1">
              <a:lnSpc>
                <a:spcPct val="150000"/>
              </a:lnSpc>
              <a:spcBef>
                <a:spcPct val="0"/>
              </a:spcBef>
              <a:spcAft>
                <a:spcPct val="0"/>
              </a:spcAft>
              <a:buClrTx/>
              <a:buSzTx/>
              <a:buFontTx/>
              <a:buNone/>
              <a:defRPr/>
            </a:pPr>
            <a:r>
              <a:rPr lang="zh-CN" altLang="en-US" sz="3200" b="1" dirty="0" smtClean="0">
                <a:latin typeface="+mn-lt"/>
                <a:ea typeface="+mn-ea"/>
                <a:cs typeface="+mn-cs"/>
                <a:sym typeface="+mn-ea"/>
              </a:rPr>
              <a:t>灰度</a:t>
            </a:r>
            <a:r>
              <a:rPr lang="zh-CN" altLang="en-US" sz="3200" b="1" dirty="0">
                <a:latin typeface="+mn-lt"/>
                <a:ea typeface="+mn-ea"/>
                <a:cs typeface="+mn-cs"/>
                <a:sym typeface="+mn-ea"/>
              </a:rPr>
              <a:t>变换</a:t>
            </a:r>
            <a:endParaRPr kumimoji="0" lang="zh-CN" altLang="en-US" sz="2900" b="0" i="0" u="none" strike="noStrike" kern="0" cap="none" spc="0" normalizeH="0" baseline="0" dirty="0">
              <a:latin typeface="+mn-lt"/>
              <a:ea typeface="+mn-ea"/>
              <a:cs typeface="+mn-cs"/>
            </a:endParaRPr>
          </a:p>
        </p:txBody>
      </p:sp>
      <p:sp>
        <p:nvSpPr>
          <p:cNvPr id="3" name="文本框 2"/>
          <p:cNvSpPr txBox="1"/>
          <p:nvPr/>
        </p:nvSpPr>
        <p:spPr>
          <a:xfrm>
            <a:off x="2431415" y="3429000"/>
            <a:ext cx="4480560" cy="537210"/>
          </a:xfrm>
          <a:prstGeom prst="rect">
            <a:avLst/>
          </a:prstGeom>
          <a:noFill/>
        </p:spPr>
        <p:txBody>
          <a:bodyPr wrap="square" rtlCol="0" anchor="t">
            <a:spAutoFit/>
          </a:bodyPr>
          <a:lstStyle/>
          <a:p>
            <a:r>
              <a:rPr lang="zh-CN" altLang="en-US" sz="2900" b="0" kern="0" dirty="0">
                <a:solidFill>
                  <a:schemeClr val="bg1"/>
                </a:solidFill>
                <a:latin typeface="+mn-lt"/>
                <a:ea typeface="+mn-ea"/>
                <a:sym typeface="+mn-ea"/>
              </a:rPr>
              <a:t>Intensity Transformations </a:t>
            </a:r>
            <a:endParaRPr lang="zh-CN" altLang="en-US" sz="2900" b="0" kern="0" dirty="0">
              <a:solidFill>
                <a:schemeClr val="bg1"/>
              </a:solidFill>
              <a:latin typeface="+mn-lt"/>
              <a:ea typeface="+mn-ea"/>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目录</a:t>
            </a:r>
            <a:endParaRPr lang="zh-CN" altLang="en-US"/>
          </a:p>
        </p:txBody>
      </p:sp>
      <p:sp>
        <p:nvSpPr>
          <p:cNvPr id="3" name="内容占位符 2"/>
          <p:cNvSpPr>
            <a:spLocks noGrp="1"/>
          </p:cNvSpPr>
          <p:nvPr>
            <p:ph idx="1"/>
          </p:nvPr>
        </p:nvSpPr>
        <p:spPr/>
        <p:txBody>
          <a:bodyPr/>
          <a:lstStyle/>
          <a:p>
            <a:r>
              <a:rPr lang="en-US" altLang="zh-CN"/>
              <a:t>2.1 </a:t>
            </a:r>
            <a:r>
              <a:rPr lang="zh-CN" altLang="en-US"/>
              <a:t>灰度变换</a:t>
            </a:r>
            <a:endParaRPr lang="zh-CN" altLang="en-US"/>
          </a:p>
          <a:p>
            <a:r>
              <a:rPr lang="en-US" altLang="zh-CN"/>
              <a:t>2.2 </a:t>
            </a:r>
            <a:r>
              <a:rPr lang="zh-CN" altLang="en-US"/>
              <a:t>直方图均衡化</a:t>
            </a:r>
            <a:endParaRPr lang="zh-CN" altLang="en-US"/>
          </a:p>
          <a:p>
            <a:r>
              <a:rPr lang="en-US" altLang="zh-CN"/>
              <a:t>2.3 </a:t>
            </a:r>
            <a:r>
              <a:rPr lang="zh-CN" altLang="en-US"/>
              <a:t>直方图匹配</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457200" y="196850"/>
            <a:ext cx="8229600" cy="847725"/>
          </a:xfrm>
        </p:spPr>
        <p:txBody>
          <a:bodyPr vert="horz" wrap="square" lIns="91440" tIns="45720" rIns="91440" bIns="45720" anchor="ctr" anchorCtr="0"/>
          <a:lstStyle/>
          <a:p>
            <a:pPr algn="l" eaLnBrk="1" hangingPunct="1"/>
            <a:r>
              <a:rPr lang="en-US" altLang="zh-CN" sz="2800" b="1" dirty="0">
                <a:solidFill>
                  <a:srgbClr val="7030A0"/>
                </a:solidFill>
              </a:rPr>
              <a:t>2.1 </a:t>
            </a:r>
            <a:r>
              <a:rPr lang="zh-CN" altLang="en-US" sz="2800" b="1" dirty="0">
                <a:solidFill>
                  <a:srgbClr val="7030A0"/>
                </a:solidFill>
              </a:rPr>
              <a:t>灰度变换</a:t>
            </a:r>
            <a:endParaRPr lang="zh-CN" altLang="en-US" sz="2800" b="1" dirty="0">
              <a:solidFill>
                <a:srgbClr val="7030A0"/>
              </a:solidFill>
            </a:endParaRPr>
          </a:p>
        </p:txBody>
      </p:sp>
      <p:sp>
        <p:nvSpPr>
          <p:cNvPr id="6147" name="Rectangle 3"/>
          <p:cNvSpPr>
            <a:spLocks noGrp="1"/>
          </p:cNvSpPr>
          <p:nvPr>
            <p:ph idx="1"/>
          </p:nvPr>
        </p:nvSpPr>
        <p:spPr>
          <a:xfrm>
            <a:off x="457200" y="1044576"/>
            <a:ext cx="8274050" cy="5099050"/>
          </a:xfrm>
        </p:spPr>
        <p:txBody>
          <a:bodyPr vert="horz" wrap="square" lIns="91440" tIns="45720" rIns="91440" bIns="45720" anchor="t" anchorCtr="0"/>
          <a:lstStyle/>
          <a:p>
            <a:pPr eaLnBrk="1" hangingPunct="1">
              <a:lnSpc>
                <a:spcPct val="150000"/>
              </a:lnSpc>
            </a:pPr>
            <a:r>
              <a:rPr lang="zh-CN" altLang="en-US" sz="2400" dirty="0">
                <a:sym typeface="+mn-ea"/>
              </a:rPr>
              <a:t>灰度变换在空间域处理</a:t>
            </a:r>
            <a:endParaRPr lang="zh-CN" altLang="en-US" sz="2400" dirty="0">
              <a:solidFill>
                <a:srgbClr val="000066"/>
              </a:solidFill>
            </a:endParaRPr>
          </a:p>
          <a:p>
            <a:pPr eaLnBrk="1" hangingPunct="1">
              <a:lnSpc>
                <a:spcPct val="150000"/>
              </a:lnSpc>
            </a:pPr>
            <a:r>
              <a:rPr lang="zh-CN" altLang="en-US" sz="2400" dirty="0"/>
              <a:t>空间域指图像平面</a:t>
            </a:r>
            <a:r>
              <a:rPr lang="zh-CN" altLang="en-US" sz="2400" dirty="0" smtClean="0"/>
              <a:t>本身</a:t>
            </a:r>
            <a:endParaRPr lang="en-US" altLang="zh-CN" sz="2400" dirty="0" smtClean="0"/>
          </a:p>
          <a:p>
            <a:pPr eaLnBrk="1" hangingPunct="1">
              <a:lnSpc>
                <a:spcPct val="150000"/>
              </a:lnSpc>
            </a:pPr>
            <a:r>
              <a:rPr lang="zh-CN" altLang="en-US" sz="2400" dirty="0" smtClean="0"/>
              <a:t>目的是对图像做增强处理</a:t>
            </a:r>
            <a:endParaRPr lang="zh-CN" altLang="en-US" sz="2400" dirty="0"/>
          </a:p>
        </p:txBody>
      </p:sp>
      <p:grpSp>
        <p:nvGrpSpPr>
          <p:cNvPr id="5" name="组合 4"/>
          <p:cNvGrpSpPr/>
          <p:nvPr/>
        </p:nvGrpSpPr>
        <p:grpSpPr>
          <a:xfrm>
            <a:off x="2542963" y="3204210"/>
            <a:ext cx="3930650" cy="2528570"/>
            <a:chOff x="1532" y="4465"/>
            <a:chExt cx="6190" cy="3982"/>
          </a:xfrm>
        </p:grpSpPr>
        <p:graphicFrame>
          <p:nvGraphicFramePr>
            <p:cNvPr id="2" name="对象 1"/>
            <p:cNvGraphicFramePr>
              <a:graphicFrameLocks noChangeAspect="1"/>
            </p:cNvGraphicFramePr>
            <p:nvPr>
              <p:custDataLst>
                <p:tags r:id="rId1"/>
              </p:custDataLst>
            </p:nvPr>
          </p:nvGraphicFramePr>
          <p:xfrm>
            <a:off x="1532" y="4465"/>
            <a:ext cx="6190" cy="3402"/>
          </p:xfrm>
          <a:graphic>
            <a:graphicData uri="http://schemas.openxmlformats.org/presentationml/2006/ole">
              <mc:AlternateContent xmlns:mc="http://schemas.openxmlformats.org/markup-compatibility/2006">
                <mc:Choice xmlns:v="urn:schemas-microsoft-com:vml" Requires="v">
                  <p:oleObj spid="_x0000_s1061" name="" r:id="rId2" imgW="7210425" imgH="3962400" progId="Paint.Picture">
                    <p:embed/>
                  </p:oleObj>
                </mc:Choice>
                <mc:Fallback>
                  <p:oleObj name="" r:id="rId2" imgW="7210425" imgH="3962400" progId="Paint.Picture">
                    <p:embed/>
                    <p:pic>
                      <p:nvPicPr>
                        <p:cNvPr id="0" name="图片 2"/>
                        <p:cNvPicPr/>
                        <p:nvPr/>
                      </p:nvPicPr>
                      <p:blipFill>
                        <a:blip r:embed="rId3"/>
                        <a:stretch>
                          <a:fillRect/>
                        </a:stretch>
                      </p:blipFill>
                      <p:spPr>
                        <a:xfrm>
                          <a:off x="1532" y="4465"/>
                          <a:ext cx="6190" cy="3402"/>
                        </a:xfrm>
                        <a:prstGeom prst="rect">
                          <a:avLst/>
                        </a:prstGeom>
                      </p:spPr>
                    </p:pic>
                  </p:oleObj>
                </mc:Fallback>
              </mc:AlternateContent>
            </a:graphicData>
          </a:graphic>
        </p:graphicFrame>
        <p:sp>
          <p:nvSpPr>
            <p:cNvPr id="4" name="文本框 3"/>
            <p:cNvSpPr txBox="1"/>
            <p:nvPr/>
          </p:nvSpPr>
          <p:spPr>
            <a:xfrm>
              <a:off x="3677" y="7867"/>
              <a:ext cx="1972" cy="580"/>
            </a:xfrm>
            <a:prstGeom prst="rect">
              <a:avLst/>
            </a:prstGeom>
            <a:noFill/>
          </p:spPr>
          <p:txBody>
            <a:bodyPr wrap="square" rtlCol="0" anchor="t">
              <a:spAutoFit/>
            </a:bodyPr>
            <a:lstStyle/>
            <a:p>
              <a:r>
                <a:rPr lang="zh-CN" altLang="en-US" sz="1800" dirty="0">
                  <a:sym typeface="+mn-ea"/>
                </a:rPr>
                <a:t>灰度变换</a:t>
              </a:r>
              <a:endParaRPr lang="zh-CN" altLang="en-US" sz="1800" dirty="0">
                <a:sym typeface="+mn-ea"/>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1" name="Rectangle 3"/>
          <p:cNvSpPr>
            <a:spLocks noGrp="1" noChangeArrowheads="1"/>
          </p:cNvSpPr>
          <p:nvPr>
            <p:ph idx="1"/>
          </p:nvPr>
        </p:nvSpPr>
        <p:spPr>
          <a:xfrm>
            <a:off x="457200" y="1300162"/>
            <a:ext cx="8229600" cy="5350019"/>
          </a:xfrm>
        </p:spPr>
        <p:txBody>
          <a:bodyPr vert="horz" wrap="square" lIns="91440" tIns="45720" rIns="91440" bIns="45720" numCol="1" anchor="t" anchorCtr="0" compatLnSpc="1"/>
          <a:lstStyle/>
          <a:p>
            <a:pPr marL="342900" marR="0" lvl="0" indent="-342900" algn="l" defTabSz="914400" rtl="0" eaLnBrk="1" fontAlgn="t"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zh-CN" altLang="en-US" sz="2400" b="0" i="0" u="none" strike="noStrike" kern="0" cap="none" spc="0" normalizeH="0" baseline="0" noProof="0" dirty="0">
                <a:ln>
                  <a:noFill/>
                </a:ln>
                <a:solidFill>
                  <a:srgbClr val="000066"/>
                </a:solidFill>
                <a:effectLst/>
                <a:uLnTx/>
                <a:uFillTx/>
                <a:latin typeface="+mn-lt"/>
                <a:ea typeface="+mn-ea"/>
                <a:cs typeface="+mn-cs"/>
              </a:rPr>
              <a:t>空间域图像增强是直接对图像的像素进行操作，基本关系式可</a:t>
            </a:r>
            <a:r>
              <a:rPr kumimoji="0" lang="zh-CN" altLang="en-US" sz="2400" b="0" i="0" u="none" strike="noStrike" kern="0" cap="none" spc="0" normalizeH="0" baseline="0" noProof="0" dirty="0" smtClean="0">
                <a:ln>
                  <a:noFill/>
                </a:ln>
                <a:solidFill>
                  <a:srgbClr val="000066"/>
                </a:solidFill>
                <a:effectLst/>
                <a:uLnTx/>
                <a:uFillTx/>
                <a:latin typeface="+mn-lt"/>
                <a:ea typeface="+mn-ea"/>
                <a:cs typeface="+mn-cs"/>
              </a:rPr>
              <a:t>表示为</a:t>
            </a:r>
            <a:endParaRPr kumimoji="0" lang="zh-CN" altLang="en-US" sz="2400" b="0" i="0" u="none" strike="noStrike" kern="0" cap="none" spc="0" normalizeH="0" baseline="0" noProof="0" dirty="0">
              <a:ln>
                <a:noFill/>
              </a:ln>
              <a:solidFill>
                <a:srgbClr val="000066"/>
              </a:solidFill>
              <a:effectLst/>
              <a:uLnTx/>
              <a:uFillTx/>
              <a:latin typeface="+mn-lt"/>
              <a:ea typeface="+mn-ea"/>
              <a:cs typeface="+mn-cs"/>
            </a:endParaRPr>
          </a:p>
          <a:p>
            <a:pPr marL="342900" marR="0" lvl="0" indent="-342900" algn="l" defTabSz="914400" rtl="0" eaLnBrk="1" fontAlgn="t" latinLnBrk="0" hangingPunct="1">
              <a:lnSpc>
                <a:spcPct val="100000"/>
              </a:lnSpc>
              <a:spcBef>
                <a:spcPct val="20000"/>
              </a:spcBef>
              <a:spcAft>
                <a:spcPct val="0"/>
              </a:spcAft>
              <a:buClr>
                <a:schemeClr val="bg2"/>
              </a:buClr>
              <a:buSzPct val="75000"/>
              <a:buFont typeface="Wingdings" panose="05000000000000000000" pitchFamily="2" charset="2"/>
              <a:buChar char="n"/>
              <a:defRPr/>
            </a:pPr>
            <a:endParaRPr kumimoji="0" lang="zh-CN" altLang="en-US" sz="2400" b="0" i="0" u="none" strike="noStrike" kern="0" cap="none" spc="0" normalizeH="0" baseline="0" noProof="0" dirty="0">
              <a:ln>
                <a:noFill/>
              </a:ln>
              <a:solidFill>
                <a:srgbClr val="000066"/>
              </a:solidFill>
              <a:effectLst/>
              <a:uLnTx/>
              <a:uFillTx/>
              <a:latin typeface="+mn-lt"/>
              <a:ea typeface="+mn-ea"/>
              <a:cs typeface="+mn-cs"/>
            </a:endParaRPr>
          </a:p>
          <a:p>
            <a:pPr marL="342900" marR="0" lvl="0" indent="-342900" algn="l" defTabSz="914400" rtl="0" eaLnBrk="1" fontAlgn="t" latinLnBrk="0" hangingPunct="1">
              <a:lnSpc>
                <a:spcPct val="100000"/>
              </a:lnSpc>
              <a:spcBef>
                <a:spcPct val="20000"/>
              </a:spcBef>
              <a:spcAft>
                <a:spcPct val="0"/>
              </a:spcAft>
              <a:buClr>
                <a:schemeClr val="bg2"/>
              </a:buClr>
              <a:buSzPct val="75000"/>
              <a:buFont typeface="Wingdings" panose="05000000000000000000" pitchFamily="2" charset="2"/>
              <a:buChar char="n"/>
              <a:defRPr/>
            </a:pPr>
            <a:endParaRPr kumimoji="0" lang="zh-CN" altLang="en-US" sz="2400" b="0" i="0" u="none" strike="noStrike" kern="0" cap="none" spc="0" normalizeH="0" baseline="0" noProof="0" dirty="0">
              <a:ln>
                <a:noFill/>
              </a:ln>
              <a:solidFill>
                <a:srgbClr val="000066"/>
              </a:solidFill>
              <a:effectLst/>
              <a:uLnTx/>
              <a:uFillTx/>
              <a:latin typeface="+mn-lt"/>
              <a:ea typeface="+mn-ea"/>
              <a:cs typeface="+mn-cs"/>
            </a:endParaRPr>
          </a:p>
          <a:p>
            <a:pPr marL="342900" marR="0" lvl="0" indent="-342900" algn="l" defTabSz="914400" rtl="0" eaLnBrk="1" fontAlgn="t"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mn-lt"/>
                <a:ea typeface="+mn-ea"/>
                <a:cs typeface="+mn-cs"/>
              </a:rPr>
              <a:t>	</a:t>
            </a:r>
            <a:r>
              <a:rPr kumimoji="0" lang="zh-CN" altLang="en-US" sz="2400" b="0" i="0" u="none" strike="noStrike" kern="0" cap="none" spc="0" normalizeH="0" baseline="0" noProof="0" dirty="0">
                <a:ln>
                  <a:noFill/>
                </a:ln>
                <a:solidFill>
                  <a:srgbClr val="000066"/>
                </a:solidFill>
                <a:effectLst/>
                <a:uLnTx/>
                <a:uFillTx/>
                <a:latin typeface="+mn-lt"/>
                <a:ea typeface="+mn-ea"/>
                <a:cs typeface="+mn-cs"/>
              </a:rPr>
              <a:t>其中             是输入图像（原图像），           是处理后的图像</a:t>
            </a:r>
            <a:r>
              <a:rPr kumimoji="0" lang="zh-CN" altLang="en-US" sz="2400" b="0" i="0" u="none" strike="noStrike" kern="0" cap="none" spc="0" normalizeH="0" baseline="0" noProof="0" dirty="0" smtClean="0">
                <a:ln>
                  <a:noFill/>
                </a:ln>
                <a:solidFill>
                  <a:srgbClr val="000066"/>
                </a:solidFill>
                <a:effectLst/>
                <a:uLnTx/>
                <a:uFillTx/>
                <a:latin typeface="+mn-lt"/>
                <a:ea typeface="+mn-ea"/>
                <a:cs typeface="+mn-cs"/>
              </a:rPr>
              <a:t>。</a:t>
            </a:r>
            <a:endParaRPr kumimoji="0" lang="en-US" altLang="zh-CN" sz="2400" b="0" i="0" u="none" strike="noStrike" kern="0" cap="none" spc="0" normalizeH="0" baseline="0" noProof="0" dirty="0" smtClean="0">
              <a:ln>
                <a:noFill/>
              </a:ln>
              <a:solidFill>
                <a:srgbClr val="000066"/>
              </a:solidFill>
              <a:effectLst/>
              <a:uLnTx/>
              <a:uFillTx/>
              <a:latin typeface="+mn-lt"/>
              <a:ea typeface="+mn-ea"/>
              <a:cs typeface="+mn-cs"/>
            </a:endParaRPr>
          </a:p>
          <a:p>
            <a:pPr eaLnBrk="1" fontAlgn="t" hangingPunct="1">
              <a:lnSpc>
                <a:spcPct val="120000"/>
              </a:lnSpc>
              <a:defRPr/>
            </a:pPr>
            <a:r>
              <a:rPr kumimoji="0" lang="en-US" altLang="zh-CN" sz="2400" b="0" i="0" u="none" strike="noStrike" kern="0" cap="none" spc="0" normalizeH="0" baseline="0" noProof="0" dirty="0" smtClean="0">
                <a:ln>
                  <a:noFill/>
                </a:ln>
                <a:solidFill>
                  <a:srgbClr val="000066"/>
                </a:solidFill>
                <a:effectLst>
                  <a:outerShdw blurRad="38100" dist="38100" dir="2700000" algn="tl">
                    <a:srgbClr val="C0C0C0"/>
                  </a:outerShdw>
                </a:effectLst>
                <a:uLnTx/>
                <a:uFillTx/>
                <a:latin typeface="+mn-lt"/>
                <a:ea typeface="+mn-ea"/>
                <a:cs typeface="+mn-cs"/>
              </a:rPr>
              <a:t>T</a:t>
            </a:r>
            <a:r>
              <a:rPr kumimoji="0" lang="zh-CN" altLang="en-US" sz="2400" b="0" i="0" u="none" strike="noStrike" kern="0" cap="none" spc="0" normalizeH="0" baseline="0" noProof="0" dirty="0">
                <a:ln>
                  <a:noFill/>
                </a:ln>
                <a:solidFill>
                  <a:srgbClr val="000066"/>
                </a:solidFill>
                <a:effectLst/>
                <a:uLnTx/>
                <a:uFillTx/>
                <a:latin typeface="+mn-lt"/>
                <a:ea typeface="+mn-ea"/>
                <a:cs typeface="+mn-cs"/>
              </a:rPr>
              <a:t>是作用在</a:t>
            </a:r>
            <a:r>
              <a:rPr kumimoji="0" lang="en-US" altLang="zh-CN" sz="2400" b="0" i="0" u="none" strike="noStrike" kern="0" cap="none" spc="0" normalizeH="0" baseline="0" noProof="0" dirty="0">
                <a:ln>
                  <a:noFill/>
                </a:ln>
                <a:solidFill>
                  <a:srgbClr val="000066"/>
                </a:solidFill>
                <a:effectLst/>
                <a:uLnTx/>
                <a:uFillTx/>
                <a:latin typeface="宋体" panose="02010600030101010101" pitchFamily="2" charset="-122"/>
                <a:ea typeface="+mn-ea"/>
                <a:cs typeface="+mn-cs"/>
              </a:rPr>
              <a:t>ƒ</a:t>
            </a:r>
            <a:r>
              <a:rPr kumimoji="0" lang="zh-CN" altLang="en-US" sz="2400" b="0" i="0" u="none" strike="noStrike" kern="0" cap="none" spc="0" normalizeH="0" baseline="0" noProof="0" dirty="0">
                <a:ln>
                  <a:noFill/>
                </a:ln>
                <a:solidFill>
                  <a:srgbClr val="000066"/>
                </a:solidFill>
                <a:effectLst/>
                <a:uLnTx/>
                <a:uFillTx/>
                <a:latin typeface="+mn-lt"/>
                <a:ea typeface="+mn-ea"/>
                <a:cs typeface="+mn-cs"/>
              </a:rPr>
              <a:t>上的一个算子，</a:t>
            </a:r>
            <a:r>
              <a:rPr lang="zh-CN" altLang="en-US" sz="2400" dirty="0">
                <a:solidFill>
                  <a:srgbClr val="000066"/>
                </a:solidFill>
                <a:sym typeface="+mn-ea"/>
              </a:rPr>
              <a:t>是一</a:t>
            </a:r>
            <a:r>
              <a:rPr lang="zh-CN" altLang="en-US" sz="2400" dirty="0" smtClean="0">
                <a:solidFill>
                  <a:srgbClr val="000066"/>
                </a:solidFill>
                <a:sym typeface="+mn-ea"/>
              </a:rPr>
              <a:t>个</a:t>
            </a:r>
            <a:r>
              <a:rPr lang="en-US" altLang="zh-CN" sz="2400" dirty="0" smtClean="0">
                <a:solidFill>
                  <a:srgbClr val="000066"/>
                </a:solidFill>
                <a:sym typeface="+mn-ea"/>
              </a:rPr>
              <a:t> </a:t>
            </a:r>
            <a:r>
              <a:rPr lang="zh-CN" altLang="en-US" sz="2400" dirty="0" smtClean="0">
                <a:solidFill>
                  <a:srgbClr val="000066"/>
                </a:solidFill>
                <a:sym typeface="+mn-ea"/>
              </a:rPr>
              <a:t>函数空间</a:t>
            </a:r>
            <a:r>
              <a:rPr lang="zh-CN" altLang="en-US" sz="2400" dirty="0">
                <a:solidFill>
                  <a:srgbClr val="000066"/>
                </a:solidFill>
                <a:sym typeface="+mn-ea"/>
              </a:rPr>
              <a:t>到函数空间上的映射。</a:t>
            </a:r>
            <a:endParaRPr lang="zh-CN" altLang="en-US" sz="2400" dirty="0">
              <a:solidFill>
                <a:srgbClr val="000066"/>
              </a:solidFill>
              <a:sym typeface="+mn-ea"/>
            </a:endParaRPr>
          </a:p>
          <a:p>
            <a:pPr eaLnBrk="1" fontAlgn="t" hangingPunct="1">
              <a:lnSpc>
                <a:spcPct val="120000"/>
              </a:lnSpc>
              <a:defRPr/>
            </a:pPr>
            <a:r>
              <a:rPr kumimoji="0" lang="zh-CN" altLang="en-US" sz="2400" b="0" i="0" u="none" strike="noStrike" kern="0" cap="none" spc="0" normalizeH="0" baseline="0" noProof="0" dirty="0">
                <a:ln>
                  <a:noFill/>
                </a:ln>
                <a:solidFill>
                  <a:srgbClr val="000066"/>
                </a:solidFill>
                <a:effectLst/>
                <a:uLnTx/>
                <a:uFillTx/>
                <a:latin typeface="+mn-lt"/>
                <a:ea typeface="+mn-ea"/>
                <a:cs typeface="+mn-cs"/>
              </a:rPr>
              <a:t>定义域是</a:t>
            </a:r>
            <a:r>
              <a:rPr kumimoji="0" lang="en-US" altLang="zh-CN" sz="2400" b="0" i="0" u="none" strike="noStrike" kern="0" cap="none" spc="0" normalizeH="0" baseline="0" noProof="0" dirty="0">
                <a:ln>
                  <a:noFill/>
                </a:ln>
                <a:solidFill>
                  <a:srgbClr val="000066"/>
                </a:solidFill>
                <a:effectLst/>
                <a:uLnTx/>
                <a:uFillTx/>
                <a:latin typeface="+mn-lt"/>
                <a:ea typeface="+mn-ea"/>
                <a:cs typeface="+mn-cs"/>
              </a:rPr>
              <a:t>(</a:t>
            </a:r>
            <a:r>
              <a:rPr kumimoji="0" lang="en-US" altLang="zh-CN" sz="2400" b="0" i="1" u="none" strike="noStrike" kern="0" cap="none" spc="0" normalizeH="0" baseline="0" noProof="0" dirty="0">
                <a:ln>
                  <a:noFill/>
                </a:ln>
                <a:solidFill>
                  <a:srgbClr val="000066"/>
                </a:solidFill>
                <a:effectLst/>
                <a:uLnTx/>
                <a:uFillTx/>
                <a:latin typeface="+mn-lt"/>
                <a:ea typeface="+mn-ea"/>
                <a:cs typeface="+mn-cs"/>
              </a:rPr>
              <a:t>x, y</a:t>
            </a:r>
            <a:r>
              <a:rPr kumimoji="0" lang="en-US" altLang="zh-CN" sz="2400" b="0" i="0" u="none" strike="noStrike" kern="0" cap="none" spc="0" normalizeH="0" baseline="0" noProof="0" dirty="0">
                <a:ln>
                  <a:noFill/>
                </a:ln>
                <a:solidFill>
                  <a:srgbClr val="000066"/>
                </a:solidFill>
                <a:effectLst/>
                <a:uLnTx/>
                <a:uFillTx/>
                <a:latin typeface="+mn-lt"/>
                <a:ea typeface="+mn-ea"/>
                <a:cs typeface="+mn-cs"/>
              </a:rPr>
              <a:t>)</a:t>
            </a:r>
            <a:r>
              <a:rPr kumimoji="0" lang="zh-CN" altLang="en-US" sz="2400" b="0" i="0" u="none" strike="noStrike" kern="0" cap="none" spc="0" normalizeH="0" baseline="0" noProof="0" dirty="0">
                <a:ln>
                  <a:noFill/>
                </a:ln>
                <a:solidFill>
                  <a:srgbClr val="000066"/>
                </a:solidFill>
                <a:effectLst/>
                <a:uLnTx/>
                <a:uFillTx/>
                <a:latin typeface="+mn-lt"/>
                <a:ea typeface="+mn-ea"/>
                <a:cs typeface="+mn-cs"/>
              </a:rPr>
              <a:t>的某个邻域</a:t>
            </a:r>
            <a:r>
              <a:rPr kumimoji="0" lang="zh-CN" altLang="en-US" sz="2400" b="0" i="0" u="none" strike="noStrike" kern="0" cap="none" spc="0" normalizeH="0" baseline="0" noProof="0" dirty="0" smtClean="0">
                <a:ln>
                  <a:noFill/>
                </a:ln>
                <a:solidFill>
                  <a:srgbClr val="000066"/>
                </a:solidFill>
                <a:effectLst/>
                <a:uLnTx/>
                <a:uFillTx/>
                <a:latin typeface="+mn-lt"/>
                <a:ea typeface="+mn-ea"/>
                <a:cs typeface="+mn-cs"/>
              </a:rPr>
              <a:t>。</a:t>
            </a: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t"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2400" b="0" i="0" u="none" strike="noStrike" kern="0" cap="none" spc="0" normalizeH="0" baseline="0" noProof="0" dirty="0">
              <a:ln>
                <a:noFill/>
              </a:ln>
              <a:solidFill>
                <a:schemeClr val="tx1"/>
              </a:solidFill>
              <a:effectLst/>
              <a:uLnTx/>
              <a:uFillTx/>
              <a:latin typeface="+mn-lt"/>
              <a:ea typeface="+mn-ea"/>
              <a:cs typeface="+mn-cs"/>
            </a:endParaRPr>
          </a:p>
        </p:txBody>
      </p:sp>
      <p:sp>
        <p:nvSpPr>
          <p:cNvPr id="9220"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graphicFrame>
        <p:nvGraphicFramePr>
          <p:cNvPr id="9221" name="Object 4"/>
          <p:cNvGraphicFramePr>
            <a:graphicFrameLocks noChangeAspect="1"/>
          </p:cNvGraphicFramePr>
          <p:nvPr/>
        </p:nvGraphicFramePr>
        <p:xfrm>
          <a:off x="2906713" y="2132013"/>
          <a:ext cx="3760787" cy="585787"/>
        </p:xfrm>
        <a:graphic>
          <a:graphicData uri="http://schemas.openxmlformats.org/presentationml/2006/ole">
            <mc:AlternateContent xmlns:mc="http://schemas.openxmlformats.org/markup-compatibility/2006">
              <mc:Choice xmlns:v="urn:schemas-microsoft-com:vml" Requires="v">
                <p:oleObj spid="_x0000_s3174" name="" r:id="rId1" imgW="1256665" imgH="203200" progId="Equation.3">
                  <p:embed/>
                </p:oleObj>
              </mc:Choice>
              <mc:Fallback>
                <p:oleObj name="" r:id="rId1" imgW="1256665" imgH="203200" progId="Equation.3">
                  <p:embed/>
                  <p:pic>
                    <p:nvPicPr>
                      <p:cNvPr id="0" name="图片 3079"/>
                      <p:cNvPicPr/>
                      <p:nvPr/>
                    </p:nvPicPr>
                    <p:blipFill>
                      <a:blip r:embed="rId2"/>
                      <a:stretch>
                        <a:fillRect/>
                      </a:stretch>
                    </p:blipFill>
                    <p:spPr>
                      <a:xfrm>
                        <a:off x="2906713" y="2132013"/>
                        <a:ext cx="3760787" cy="585787"/>
                      </a:xfrm>
                      <a:prstGeom prst="rect">
                        <a:avLst/>
                      </a:prstGeom>
                      <a:noFill/>
                      <a:ln w="38100">
                        <a:noFill/>
                        <a:miter/>
                      </a:ln>
                    </p:spPr>
                  </p:pic>
                </p:oleObj>
              </mc:Fallback>
            </mc:AlternateContent>
          </a:graphicData>
        </a:graphic>
      </p:graphicFrame>
      <p:sp>
        <p:nvSpPr>
          <p:cNvPr id="9222" name="Rectangle 7"/>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graphicFrame>
        <p:nvGraphicFramePr>
          <p:cNvPr id="9223" name="Object 6"/>
          <p:cNvGraphicFramePr>
            <a:graphicFrameLocks noChangeAspect="1"/>
          </p:cNvGraphicFramePr>
          <p:nvPr/>
        </p:nvGraphicFramePr>
        <p:xfrm>
          <a:off x="1509713" y="2974975"/>
          <a:ext cx="1042987" cy="425450"/>
        </p:xfrm>
        <a:graphic>
          <a:graphicData uri="http://schemas.openxmlformats.org/presentationml/2006/ole">
            <mc:AlternateContent xmlns:mc="http://schemas.openxmlformats.org/markup-compatibility/2006">
              <mc:Choice xmlns:v="urn:schemas-microsoft-com:vml" Requires="v">
                <p:oleObj spid="_x0000_s3175" name="" r:id="rId3" imgW="482600" imgH="203200" progId="Equation.3">
                  <p:embed/>
                </p:oleObj>
              </mc:Choice>
              <mc:Fallback>
                <p:oleObj name="" r:id="rId3" imgW="482600" imgH="203200" progId="Equation.3">
                  <p:embed/>
                  <p:pic>
                    <p:nvPicPr>
                      <p:cNvPr id="0" name="图片 3077"/>
                      <p:cNvPicPr/>
                      <p:nvPr/>
                    </p:nvPicPr>
                    <p:blipFill>
                      <a:blip r:embed="rId4"/>
                      <a:stretch>
                        <a:fillRect/>
                      </a:stretch>
                    </p:blipFill>
                    <p:spPr>
                      <a:xfrm>
                        <a:off x="1509713" y="2974975"/>
                        <a:ext cx="1042987" cy="425450"/>
                      </a:xfrm>
                      <a:prstGeom prst="rect">
                        <a:avLst/>
                      </a:prstGeom>
                      <a:noFill/>
                      <a:ln w="38100">
                        <a:noFill/>
                        <a:miter/>
                      </a:ln>
                    </p:spPr>
                  </p:pic>
                </p:oleObj>
              </mc:Fallback>
            </mc:AlternateContent>
          </a:graphicData>
        </a:graphic>
      </p:graphicFrame>
      <p:sp>
        <p:nvSpPr>
          <p:cNvPr id="9224" name="Rectangle 9"/>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graphicFrame>
        <p:nvGraphicFramePr>
          <p:cNvPr id="9225" name="Object 8"/>
          <p:cNvGraphicFramePr>
            <a:graphicFrameLocks noChangeAspect="1"/>
          </p:cNvGraphicFramePr>
          <p:nvPr/>
        </p:nvGraphicFramePr>
        <p:xfrm>
          <a:off x="5905500" y="2886075"/>
          <a:ext cx="995363" cy="520700"/>
        </p:xfrm>
        <a:graphic>
          <a:graphicData uri="http://schemas.openxmlformats.org/presentationml/2006/ole">
            <mc:AlternateContent xmlns:mc="http://schemas.openxmlformats.org/markup-compatibility/2006">
              <mc:Choice xmlns:v="urn:schemas-microsoft-com:vml" Requires="v">
                <p:oleObj spid="_x0000_s3176" name="" r:id="rId5" imgW="469900" imgH="203200" progId="Equation.3">
                  <p:embed/>
                </p:oleObj>
              </mc:Choice>
              <mc:Fallback>
                <p:oleObj name="" r:id="rId5" imgW="469900" imgH="203200" progId="Equation.3">
                  <p:embed/>
                  <p:pic>
                    <p:nvPicPr>
                      <p:cNvPr id="0" name="图片 3078"/>
                      <p:cNvPicPr/>
                      <p:nvPr/>
                    </p:nvPicPr>
                    <p:blipFill>
                      <a:blip r:embed="rId6"/>
                      <a:stretch>
                        <a:fillRect/>
                      </a:stretch>
                    </p:blipFill>
                    <p:spPr>
                      <a:xfrm>
                        <a:off x="5905500" y="2886075"/>
                        <a:ext cx="995363" cy="520700"/>
                      </a:xfrm>
                      <a:prstGeom prst="rect">
                        <a:avLst/>
                      </a:prstGeom>
                      <a:noFill/>
                      <a:ln w="38100">
                        <a:noFill/>
                        <a:miter/>
                      </a:ln>
                    </p:spPr>
                  </p:pic>
                </p:oleObj>
              </mc:Fallback>
            </mc:AlternateContent>
          </a:graphicData>
        </a:graphic>
      </p:graphicFrame>
      <p:sp>
        <p:nvSpPr>
          <p:cNvPr id="9226" name="Rectangle 12"/>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3"/>
          <p:cNvPicPr>
            <a:picLocks noChangeAspect="1"/>
          </p:cNvPicPr>
          <p:nvPr/>
        </p:nvPicPr>
        <p:blipFill>
          <a:blip r:embed="rId1"/>
          <a:srcRect l="41652"/>
          <a:stretch>
            <a:fillRect/>
          </a:stretch>
        </p:blipFill>
        <p:spPr>
          <a:xfrm>
            <a:off x="5843905" y="260985"/>
            <a:ext cx="3038475" cy="2642235"/>
          </a:xfrm>
          <a:prstGeom prst="rect">
            <a:avLst/>
          </a:prstGeom>
          <a:noFill/>
          <a:ln w="9525">
            <a:noFill/>
          </a:ln>
        </p:spPr>
      </p:pic>
      <p:sp>
        <p:nvSpPr>
          <p:cNvPr id="11268" name="Text Box 4"/>
          <p:cNvSpPr txBox="1"/>
          <p:nvPr/>
        </p:nvSpPr>
        <p:spPr>
          <a:xfrm>
            <a:off x="699135" y="1252855"/>
            <a:ext cx="5273675" cy="82994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l">
              <a:spcBef>
                <a:spcPct val="50000"/>
              </a:spcBef>
              <a:buClrTx/>
              <a:buSzTx/>
              <a:buFontTx/>
              <a:buNone/>
            </a:pPr>
            <a:r>
              <a:rPr lang="zh-CN" altLang="en-US" sz="2400" kern="0" noProof="0" dirty="0">
                <a:ln>
                  <a:noFill/>
                </a:ln>
                <a:solidFill>
                  <a:srgbClr val="000066"/>
                </a:solidFill>
                <a:effectLst/>
                <a:uLnTx/>
                <a:uFillTx/>
              </a:rPr>
              <a:t>(x, y)的3×3邻域，小窗口随(x,y)的位置移动</a:t>
            </a:r>
            <a:endParaRPr lang="en-US" altLang="zh-CN" sz="2400" dirty="0">
              <a:solidFill>
                <a:srgbClr val="009900"/>
              </a:solidFill>
              <a:latin typeface="Times New Roman" panose="02020603050405020304" pitchFamily="18" charset="0"/>
            </a:endParaRPr>
          </a:p>
        </p:txBody>
      </p:sp>
      <p:sp>
        <p:nvSpPr>
          <p:cNvPr id="2" name="文本框 1"/>
          <p:cNvSpPr txBox="1"/>
          <p:nvPr/>
        </p:nvSpPr>
        <p:spPr>
          <a:xfrm>
            <a:off x="631825" y="675005"/>
            <a:ext cx="5356860" cy="460375"/>
          </a:xfrm>
          <a:prstGeom prst="rect">
            <a:avLst/>
          </a:prstGeom>
          <a:noFill/>
        </p:spPr>
        <p:txBody>
          <a:bodyPr wrap="square" rtlCol="0" anchor="t">
            <a:spAutoFit/>
          </a:bodyPr>
          <a:lstStyle/>
          <a:p>
            <a:r>
              <a:rPr lang="zh-CN" altLang="en-US" b="0" kern="0" noProof="0" dirty="0">
                <a:ln>
                  <a:noFill/>
                </a:ln>
                <a:solidFill>
                  <a:srgbClr val="000066"/>
                </a:solidFill>
                <a:effectLst/>
                <a:uLnTx/>
                <a:uFillTx/>
                <a:latin typeface="+mn-lt"/>
                <a:ea typeface="+mn-ea"/>
                <a:sym typeface="+mn-ea"/>
              </a:rPr>
              <a:t>算子</a:t>
            </a:r>
            <a:r>
              <a:rPr lang="en-US" altLang="zh-CN" b="0" kern="0" noProof="0" dirty="0">
                <a:ln>
                  <a:noFill/>
                </a:ln>
                <a:solidFill>
                  <a:srgbClr val="000066"/>
                </a:solidFill>
                <a:effectLst/>
                <a:uLnTx/>
                <a:uFillTx/>
                <a:latin typeface="+mn-lt"/>
                <a:ea typeface="+mn-ea"/>
                <a:sym typeface="+mn-ea"/>
              </a:rPr>
              <a:t>T</a:t>
            </a:r>
            <a:r>
              <a:rPr lang="zh-CN" altLang="en-US" b="0" kern="0" noProof="0" dirty="0">
                <a:ln>
                  <a:noFill/>
                </a:ln>
                <a:solidFill>
                  <a:srgbClr val="000066"/>
                </a:solidFill>
                <a:effectLst/>
                <a:uLnTx/>
                <a:uFillTx/>
                <a:latin typeface="+mn-lt"/>
                <a:ea typeface="+mn-ea"/>
                <a:sym typeface="+mn-ea"/>
              </a:rPr>
              <a:t>的定义域是</a:t>
            </a:r>
            <a:r>
              <a:rPr lang="en-US" altLang="zh-CN" b="0" kern="0" noProof="0" dirty="0">
                <a:ln>
                  <a:noFill/>
                </a:ln>
                <a:solidFill>
                  <a:srgbClr val="000066"/>
                </a:solidFill>
                <a:effectLst/>
                <a:uLnTx/>
                <a:uFillTx/>
                <a:latin typeface="+mn-lt"/>
                <a:ea typeface="+mn-ea"/>
                <a:sym typeface="+mn-ea"/>
              </a:rPr>
              <a:t>(</a:t>
            </a:r>
            <a:r>
              <a:rPr lang="en-US" altLang="zh-CN" b="0" i="1" kern="0" noProof="0" dirty="0">
                <a:ln>
                  <a:noFill/>
                </a:ln>
                <a:solidFill>
                  <a:srgbClr val="000066"/>
                </a:solidFill>
                <a:effectLst/>
                <a:uLnTx/>
                <a:uFillTx/>
                <a:latin typeface="+mn-lt"/>
                <a:ea typeface="+mn-ea"/>
                <a:sym typeface="+mn-ea"/>
              </a:rPr>
              <a:t>x, y</a:t>
            </a:r>
            <a:r>
              <a:rPr lang="en-US" altLang="zh-CN" b="0" kern="0" noProof="0" dirty="0">
                <a:ln>
                  <a:noFill/>
                </a:ln>
                <a:solidFill>
                  <a:srgbClr val="000066"/>
                </a:solidFill>
                <a:effectLst/>
                <a:uLnTx/>
                <a:uFillTx/>
                <a:latin typeface="+mn-lt"/>
                <a:ea typeface="+mn-ea"/>
                <a:sym typeface="+mn-ea"/>
              </a:rPr>
              <a:t>)</a:t>
            </a:r>
            <a:r>
              <a:rPr lang="zh-CN" altLang="en-US" b="0" kern="0" noProof="0" dirty="0">
                <a:ln>
                  <a:noFill/>
                </a:ln>
                <a:solidFill>
                  <a:srgbClr val="000066"/>
                </a:solidFill>
                <a:effectLst/>
                <a:uLnTx/>
                <a:uFillTx/>
                <a:latin typeface="+mn-lt"/>
                <a:ea typeface="+mn-ea"/>
                <a:sym typeface="+mn-ea"/>
              </a:rPr>
              <a:t>的某个邻域</a:t>
            </a:r>
            <a:r>
              <a:rPr lang="zh-CN" altLang="en-US" b="0" kern="0" noProof="0" dirty="0" smtClean="0">
                <a:ln>
                  <a:noFill/>
                </a:ln>
                <a:solidFill>
                  <a:srgbClr val="000066"/>
                </a:solidFill>
                <a:effectLst/>
                <a:uLnTx/>
                <a:uFillTx/>
                <a:latin typeface="+mn-lt"/>
                <a:ea typeface="+mn-ea"/>
                <a:sym typeface="+mn-ea"/>
              </a:rPr>
              <a:t>。</a:t>
            </a:r>
            <a:endParaRPr lang="zh-CN" altLang="en-US" b="0" kern="0" noProof="0" dirty="0" smtClean="0">
              <a:ln>
                <a:noFill/>
              </a:ln>
              <a:solidFill>
                <a:srgbClr val="000066"/>
              </a:solidFill>
              <a:effectLst/>
              <a:uLnTx/>
              <a:uFillTx/>
              <a:latin typeface="+mn-lt"/>
              <a:ea typeface="+mn-ea"/>
              <a:sym typeface="+mn-ea"/>
            </a:endParaRPr>
          </a:p>
        </p:txBody>
      </p:sp>
      <p:grpSp>
        <p:nvGrpSpPr>
          <p:cNvPr id="3" name="组合 2"/>
          <p:cNvGrpSpPr/>
          <p:nvPr/>
        </p:nvGrpSpPr>
        <p:grpSpPr>
          <a:xfrm>
            <a:off x="267970" y="2892425"/>
            <a:ext cx="8743950" cy="3549015"/>
            <a:chOff x="420" y="2281"/>
            <a:chExt cx="13770" cy="5589"/>
          </a:xfrm>
        </p:grpSpPr>
        <p:sp>
          <p:nvSpPr>
            <p:cNvPr id="12291" name="Text Box 12"/>
            <p:cNvSpPr txBox="1"/>
            <p:nvPr/>
          </p:nvSpPr>
          <p:spPr>
            <a:xfrm>
              <a:off x="6740" y="4700"/>
              <a:ext cx="1375" cy="1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50000"/>
                </a:spcBef>
                <a:buClrTx/>
                <a:buSzTx/>
                <a:buFontTx/>
                <a:buNone/>
              </a:pPr>
              <a:r>
                <a:rPr lang="zh-CN" altLang="en-US" sz="4400" b="1" dirty="0">
                  <a:solidFill>
                    <a:srgbClr val="009900"/>
                  </a:solidFill>
                  <a:latin typeface="Times New Roman" panose="02020603050405020304" pitchFamily="18" charset="0"/>
                </a:rPr>
                <a:t>→</a:t>
              </a:r>
              <a:endParaRPr lang="zh-CN" altLang="en-US" sz="4400" b="1" dirty="0">
                <a:solidFill>
                  <a:srgbClr val="009900"/>
                </a:solidFill>
                <a:latin typeface="Times New Roman" panose="02020603050405020304" pitchFamily="18" charset="0"/>
              </a:endParaRPr>
            </a:p>
          </p:txBody>
        </p:sp>
        <p:sp>
          <p:nvSpPr>
            <p:cNvPr id="12292" name="Text Box 13"/>
            <p:cNvSpPr txBox="1"/>
            <p:nvPr/>
          </p:nvSpPr>
          <p:spPr>
            <a:xfrm>
              <a:off x="6583" y="4507"/>
              <a:ext cx="1555" cy="72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50000"/>
                </a:spcBef>
                <a:buClrTx/>
                <a:buSzTx/>
                <a:buFontTx/>
                <a:buNone/>
              </a:pPr>
              <a:r>
                <a:rPr lang="en-US" altLang="zh-CN" sz="2000" b="1" dirty="0">
                  <a:latin typeface="Times New Roman" panose="02020603050405020304" pitchFamily="18" charset="0"/>
                </a:rPr>
                <a:t>    </a:t>
              </a:r>
              <a:r>
                <a:rPr lang="en-US" altLang="zh-CN" sz="2400" b="1" dirty="0">
                  <a:solidFill>
                    <a:srgbClr val="FF6600"/>
                  </a:solidFill>
                  <a:latin typeface="Times New Roman" panose="02020603050405020304" pitchFamily="18" charset="0"/>
                </a:rPr>
                <a:t>T</a:t>
              </a:r>
              <a:endParaRPr lang="en-US" altLang="zh-CN" sz="2400" b="1" dirty="0">
                <a:solidFill>
                  <a:srgbClr val="FF6600"/>
                </a:solidFill>
                <a:latin typeface="Times New Roman" panose="02020603050405020304" pitchFamily="18" charset="0"/>
              </a:endParaRPr>
            </a:p>
          </p:txBody>
        </p:sp>
        <p:sp>
          <p:nvSpPr>
            <p:cNvPr id="12293" name="Text Box 14"/>
            <p:cNvSpPr txBox="1"/>
            <p:nvPr/>
          </p:nvSpPr>
          <p:spPr>
            <a:xfrm>
              <a:off x="1099" y="2376"/>
              <a:ext cx="3958" cy="6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a:spcBef>
                  <a:spcPct val="50000"/>
                </a:spcBef>
                <a:buClrTx/>
                <a:buSzTx/>
                <a:buFontTx/>
                <a:buNone/>
              </a:pPr>
              <a:r>
                <a:rPr lang="en-US" altLang="zh-CN" sz="2000" dirty="0"/>
                <a:t>ƒ</a:t>
              </a:r>
              <a:r>
                <a:rPr lang="en-US" altLang="zh-CN" sz="2000" dirty="0">
                  <a:latin typeface="Times New Roman" panose="02020603050405020304" pitchFamily="18" charset="0"/>
                </a:rPr>
                <a:t>(x,y)</a:t>
              </a:r>
              <a:endParaRPr lang="en-US" altLang="zh-CN" sz="2000" dirty="0">
                <a:latin typeface="Times New Roman" panose="02020603050405020304" pitchFamily="18" charset="0"/>
              </a:endParaRPr>
            </a:p>
          </p:txBody>
        </p:sp>
        <p:sp>
          <p:nvSpPr>
            <p:cNvPr id="12294" name="Text Box 15"/>
            <p:cNvSpPr txBox="1"/>
            <p:nvPr/>
          </p:nvSpPr>
          <p:spPr>
            <a:xfrm>
              <a:off x="8729" y="2281"/>
              <a:ext cx="4343" cy="72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a:spcBef>
                  <a:spcPct val="50000"/>
                </a:spcBef>
                <a:buClrTx/>
                <a:buSzTx/>
                <a:buFontTx/>
                <a:buNone/>
              </a:pPr>
              <a:r>
                <a:rPr lang="en-US" altLang="zh-CN" sz="2000" dirty="0">
                  <a:latin typeface="宋体" panose="02010600030101010101" pitchFamily="2" charset="-122"/>
                </a:rPr>
                <a:t>ɡ</a:t>
              </a:r>
              <a:r>
                <a:rPr lang="en-US" altLang="zh-CN" sz="2000" dirty="0"/>
                <a:t>(x,y)=T (</a:t>
              </a:r>
              <a:r>
                <a:rPr lang="en-US" altLang="zh-CN" sz="2400" dirty="0">
                  <a:latin typeface="Times New Roman" panose="02020603050405020304" pitchFamily="18" charset="0"/>
                </a:rPr>
                <a:t>ƒ(x,y))</a:t>
              </a:r>
              <a:endParaRPr lang="en-US" altLang="zh-CN" sz="2400" dirty="0">
                <a:latin typeface="Times New Roman" panose="02020603050405020304" pitchFamily="18" charset="0"/>
              </a:endParaRPr>
            </a:p>
          </p:txBody>
        </p:sp>
        <p:graphicFrame>
          <p:nvGraphicFramePr>
            <p:cNvPr id="12295" name="Object 16"/>
            <p:cNvGraphicFramePr>
              <a:graphicFrameLocks noChangeAspect="1"/>
            </p:cNvGraphicFramePr>
            <p:nvPr/>
          </p:nvGraphicFramePr>
          <p:xfrm>
            <a:off x="420" y="3045"/>
            <a:ext cx="6375" cy="4770"/>
          </p:xfrm>
          <a:graphic>
            <a:graphicData uri="http://schemas.openxmlformats.org/presentationml/2006/ole">
              <mc:AlternateContent xmlns:mc="http://schemas.openxmlformats.org/markup-compatibility/2006">
                <mc:Choice xmlns:v="urn:schemas-microsoft-com:vml" Requires="v">
                  <p:oleObj spid="_x0000_s4151" name="" r:id="rId2" imgW="4686300" imgH="3505200" progId="Photoshop.Image.8">
                    <p:embed/>
                  </p:oleObj>
                </mc:Choice>
                <mc:Fallback>
                  <p:oleObj name="" r:id="rId2" imgW="4686300" imgH="3505200" progId="Photoshop.Image.8">
                    <p:embed/>
                    <p:pic>
                      <p:nvPicPr>
                        <p:cNvPr id="0" name="图片 3082"/>
                        <p:cNvPicPr/>
                        <p:nvPr/>
                      </p:nvPicPr>
                      <p:blipFill>
                        <a:blip r:embed="rId3"/>
                        <a:stretch>
                          <a:fillRect/>
                        </a:stretch>
                      </p:blipFill>
                      <p:spPr>
                        <a:xfrm>
                          <a:off x="420" y="3045"/>
                          <a:ext cx="6375" cy="4770"/>
                        </a:xfrm>
                        <a:prstGeom prst="rect">
                          <a:avLst/>
                        </a:prstGeom>
                        <a:noFill/>
                        <a:ln w="38100">
                          <a:noFill/>
                          <a:miter/>
                        </a:ln>
                      </p:spPr>
                    </p:pic>
                  </p:oleObj>
                </mc:Fallback>
              </mc:AlternateContent>
            </a:graphicData>
          </a:graphic>
        </p:graphicFrame>
        <p:graphicFrame>
          <p:nvGraphicFramePr>
            <p:cNvPr id="12296" name="Object 17"/>
            <p:cNvGraphicFramePr>
              <a:graphicFrameLocks noChangeAspect="1"/>
            </p:cNvGraphicFramePr>
            <p:nvPr/>
          </p:nvGraphicFramePr>
          <p:xfrm>
            <a:off x="7825" y="3120"/>
            <a:ext cx="6365" cy="4750"/>
          </p:xfrm>
          <a:graphic>
            <a:graphicData uri="http://schemas.openxmlformats.org/presentationml/2006/ole">
              <mc:AlternateContent xmlns:mc="http://schemas.openxmlformats.org/markup-compatibility/2006">
                <mc:Choice xmlns:v="urn:schemas-microsoft-com:vml" Requires="v">
                  <p:oleObj spid="_x0000_s4152" name="" r:id="rId4" imgW="6210300" imgH="4635500" progId="Photoshop.Image.8">
                    <p:embed/>
                  </p:oleObj>
                </mc:Choice>
                <mc:Fallback>
                  <p:oleObj name="" r:id="rId4" imgW="6210300" imgH="4635500" progId="Photoshop.Image.8">
                    <p:embed/>
                    <p:pic>
                      <p:nvPicPr>
                        <p:cNvPr id="0" name="图片 3080"/>
                        <p:cNvPicPr/>
                        <p:nvPr/>
                      </p:nvPicPr>
                      <p:blipFill>
                        <a:blip r:embed="rId5"/>
                        <a:stretch>
                          <a:fillRect/>
                        </a:stretch>
                      </p:blipFill>
                      <p:spPr>
                        <a:xfrm>
                          <a:off x="7825" y="3120"/>
                          <a:ext cx="6365" cy="4750"/>
                        </a:xfrm>
                        <a:prstGeom prst="rect">
                          <a:avLst/>
                        </a:prstGeom>
                        <a:noFill/>
                        <a:ln w="38100">
                          <a:noFill/>
                          <a:miter/>
                        </a:ln>
                      </p:spPr>
                    </p:pic>
                  </p:oleObj>
                </mc:Fallback>
              </mc:AlternateContent>
            </a:graphicData>
          </a:graphic>
        </p:graphicFrame>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3" name="Picture 3"/>
          <p:cNvPicPr>
            <a:picLocks noChangeAspect="1"/>
          </p:cNvPicPr>
          <p:nvPr/>
        </p:nvPicPr>
        <p:blipFill>
          <a:blip r:embed="rId1"/>
          <a:stretch>
            <a:fillRect/>
          </a:stretch>
        </p:blipFill>
        <p:spPr>
          <a:xfrm>
            <a:off x="1530350" y="3429000"/>
            <a:ext cx="6316663" cy="2994025"/>
          </a:xfrm>
          <a:prstGeom prst="rect">
            <a:avLst/>
          </a:prstGeom>
          <a:noFill/>
          <a:ln w="9525">
            <a:noFill/>
          </a:ln>
        </p:spPr>
      </p:pic>
      <p:sp>
        <p:nvSpPr>
          <p:cNvPr id="15364" name="Text Box 4"/>
          <p:cNvSpPr txBox="1"/>
          <p:nvPr/>
        </p:nvSpPr>
        <p:spPr>
          <a:xfrm>
            <a:off x="575945" y="440055"/>
            <a:ext cx="8080375" cy="2365375"/>
          </a:xfrm>
          <a:prstGeom prst="rect">
            <a:avLst/>
          </a:prstGeom>
          <a:noFill/>
          <a:ln w="9525">
            <a:noFill/>
          </a:ln>
        </p:spPr>
        <p:txBody>
          <a:bodyPr>
            <a:no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457200" lvl="0" indent="-457200">
              <a:spcBef>
                <a:spcPct val="50000"/>
              </a:spcBef>
              <a:buClrTx/>
              <a:buSzTx/>
              <a:buFontTx/>
              <a:buChar char="•"/>
            </a:pPr>
            <a:r>
              <a:rPr lang="zh-CN" altLang="en-US" sz="2400" kern="0" noProof="0" dirty="0" smtClean="0">
                <a:ln>
                  <a:noFill/>
                </a:ln>
                <a:solidFill>
                  <a:srgbClr val="000066"/>
                </a:solidFill>
                <a:effectLst/>
                <a:uLnTx/>
                <a:uFillTx/>
                <a:sym typeface="+mn-ea"/>
              </a:rPr>
              <a:t>当</a:t>
            </a:r>
            <a:r>
              <a:rPr lang="en-US" altLang="zh-CN" sz="2400" kern="0" noProof="0" dirty="0" smtClean="0">
                <a:ln>
                  <a:noFill/>
                </a:ln>
                <a:solidFill>
                  <a:srgbClr val="000066"/>
                </a:solidFill>
                <a:effectLst/>
                <a:uLnTx/>
                <a:uFillTx/>
                <a:sym typeface="+mn-ea"/>
              </a:rPr>
              <a:t>(</a:t>
            </a:r>
            <a:r>
              <a:rPr lang="en-US" altLang="zh-CN" sz="2400" i="1" kern="0" noProof="0" dirty="0">
                <a:ln>
                  <a:noFill/>
                </a:ln>
                <a:solidFill>
                  <a:srgbClr val="000066"/>
                </a:solidFill>
                <a:effectLst/>
                <a:uLnTx/>
                <a:uFillTx/>
                <a:sym typeface="+mn-ea"/>
              </a:rPr>
              <a:t>x, y</a:t>
            </a:r>
            <a:r>
              <a:rPr lang="en-US" altLang="zh-CN" sz="2400" kern="0" noProof="0" dirty="0">
                <a:ln>
                  <a:noFill/>
                </a:ln>
                <a:solidFill>
                  <a:srgbClr val="000066"/>
                </a:solidFill>
                <a:effectLst/>
                <a:uLnTx/>
                <a:uFillTx/>
                <a:sym typeface="+mn-ea"/>
              </a:rPr>
              <a:t>)</a:t>
            </a:r>
            <a:r>
              <a:rPr lang="zh-CN" altLang="en-US" sz="2400" kern="0" noProof="0" dirty="0">
                <a:ln>
                  <a:noFill/>
                </a:ln>
                <a:solidFill>
                  <a:srgbClr val="000066"/>
                </a:solidFill>
                <a:effectLst/>
                <a:uLnTx/>
                <a:uFillTx/>
                <a:sym typeface="+mn-ea"/>
              </a:rPr>
              <a:t>的邻域是一个点时，这时的</a:t>
            </a:r>
            <a:r>
              <a:rPr lang="zh-CN" altLang="en-US" sz="2400" kern="0" noProof="0" dirty="0">
                <a:ln>
                  <a:noFill/>
                </a:ln>
                <a:solidFill>
                  <a:srgbClr val="000066"/>
                </a:solidFill>
                <a:effectLst/>
                <a:uLnTx/>
                <a:uFillTx/>
                <a:sym typeface="+mn-ea"/>
              </a:rPr>
              <a:t>运算称为</a:t>
            </a:r>
            <a:r>
              <a:rPr lang="zh-CN" altLang="en-US" sz="2400" kern="0" noProof="0" dirty="0">
                <a:ln>
                  <a:noFill/>
                </a:ln>
                <a:solidFill>
                  <a:srgbClr val="FF0000"/>
                </a:solidFill>
                <a:effectLst/>
                <a:uLnTx/>
                <a:uFillTx/>
                <a:sym typeface="+mn-ea"/>
              </a:rPr>
              <a:t>灰度变换，</a:t>
            </a:r>
            <a:r>
              <a:rPr lang="zh-CN" altLang="en-US" sz="2400" kern="0" noProof="0" dirty="0">
                <a:ln>
                  <a:noFill/>
                </a:ln>
                <a:solidFill>
                  <a:srgbClr val="000066"/>
                </a:solidFill>
                <a:effectLst/>
                <a:uLnTx/>
                <a:uFillTx/>
                <a:sym typeface="+mn-ea"/>
              </a:rPr>
              <a:t>即</a:t>
            </a:r>
            <a:r>
              <a:rPr lang="en-US" altLang="zh-CN" sz="2400" kern="0" noProof="0" dirty="0">
                <a:ln>
                  <a:noFill/>
                </a:ln>
                <a:solidFill>
                  <a:srgbClr val="FF0000"/>
                </a:solidFill>
                <a:effectLst/>
                <a:uLnTx/>
                <a:uFillTx/>
                <a:sym typeface="+mn-ea"/>
              </a:rPr>
              <a:t> </a:t>
            </a:r>
            <a:endParaRPr kumimoji="0" lang="en-US" altLang="zh-CN" sz="2400" b="0" i="0" u="none" strike="noStrike" kern="0" cap="none" spc="0" normalizeH="0" baseline="0" noProof="0" dirty="0">
              <a:ln>
                <a:noFill/>
              </a:ln>
              <a:solidFill>
                <a:srgbClr val="009900"/>
              </a:solidFill>
              <a:effectLst/>
              <a:uLnTx/>
              <a:uFillTx/>
              <a:latin typeface="+mn-lt"/>
              <a:ea typeface="+mn-ea"/>
              <a:cs typeface="+mn-cs"/>
            </a:endParaRPr>
          </a:p>
          <a:p>
            <a:pPr marL="457200" lvl="0" indent="-457200">
              <a:spcBef>
                <a:spcPct val="50000"/>
              </a:spcBef>
              <a:buClrTx/>
              <a:buSzTx/>
              <a:buFontTx/>
              <a:buChar char="•"/>
            </a:pPr>
            <a:endParaRPr lang="zh-CN" altLang="en-US" sz="2400" dirty="0">
              <a:latin typeface="Times New Roman" panose="02020603050405020304" pitchFamily="18" charset="0"/>
            </a:endParaRPr>
          </a:p>
          <a:p>
            <a:pPr marL="457200" lvl="0" indent="-457200">
              <a:spcBef>
                <a:spcPct val="50000"/>
              </a:spcBef>
              <a:buClrTx/>
              <a:buSzTx/>
              <a:buFontTx/>
              <a:buChar char="•"/>
            </a:pPr>
            <a:r>
              <a:rPr lang="zh-CN" altLang="en-US" sz="2400" dirty="0">
                <a:latin typeface="Times New Roman" panose="02020603050405020304" pitchFamily="18" charset="0"/>
              </a:rPr>
              <a:t>人眼的一个特点就是在背景相对光亮时对灰度层次有较好的分辨能力</a:t>
            </a:r>
            <a:endParaRPr lang="zh-CN" altLang="en-US" sz="2400" dirty="0">
              <a:latin typeface="Times New Roman" panose="02020603050405020304" pitchFamily="18" charset="0"/>
            </a:endParaRPr>
          </a:p>
          <a:p>
            <a:pPr marL="457200" lvl="0" indent="-457200">
              <a:spcBef>
                <a:spcPct val="50000"/>
              </a:spcBef>
              <a:buClrTx/>
              <a:buSzTx/>
              <a:buFontTx/>
              <a:buNone/>
            </a:pPr>
            <a:r>
              <a:rPr lang="zh-CN" altLang="en-US" sz="2400" dirty="0">
                <a:latin typeface="Times New Roman" panose="02020603050405020304" pitchFamily="18" charset="0"/>
              </a:rPr>
              <a:t>	</a:t>
            </a:r>
            <a:r>
              <a:rPr lang="zh-CN" altLang="en-US" sz="2400" dirty="0">
                <a:solidFill>
                  <a:srgbClr val="000066"/>
                </a:solidFill>
                <a:latin typeface="Times New Roman" panose="02020603050405020304" pitchFamily="18" charset="0"/>
              </a:rPr>
              <a:t>图像反转变换：</a:t>
            </a:r>
            <a:r>
              <a:rPr lang="en-US" altLang="zh-CN" sz="2400" dirty="0">
                <a:latin typeface="Times New Roman" panose="02020603050405020304" pitchFamily="18" charset="0"/>
              </a:rPr>
              <a:t>s=L-1-r</a:t>
            </a:r>
            <a:endParaRPr lang="en-US" altLang="zh-CN" sz="2400" dirty="0">
              <a:latin typeface="Times New Roman" panose="02020603050405020304" pitchFamily="18" charset="0"/>
            </a:endParaRPr>
          </a:p>
        </p:txBody>
      </p:sp>
      <p:graphicFrame>
        <p:nvGraphicFramePr>
          <p:cNvPr id="9227" name="Object 11"/>
          <p:cNvGraphicFramePr>
            <a:graphicFrameLocks noChangeAspect="1"/>
          </p:cNvGraphicFramePr>
          <p:nvPr/>
        </p:nvGraphicFramePr>
        <p:xfrm>
          <a:off x="3222481" y="1054060"/>
          <a:ext cx="1621155" cy="597535"/>
        </p:xfrm>
        <a:graphic>
          <a:graphicData uri="http://schemas.openxmlformats.org/presentationml/2006/ole">
            <mc:AlternateContent xmlns:mc="http://schemas.openxmlformats.org/markup-compatibility/2006">
              <mc:Choice xmlns:v="urn:schemas-microsoft-com:vml" Requires="v">
                <p:oleObj spid="_x0000_s5132" name="" r:id="rId2" imgW="533400" imgH="203200" progId="Equation.3">
                  <p:embed/>
                </p:oleObj>
              </mc:Choice>
              <mc:Fallback>
                <p:oleObj name="" r:id="rId2" imgW="533400" imgH="203200" progId="Equation.3">
                  <p:embed/>
                  <p:pic>
                    <p:nvPicPr>
                      <p:cNvPr id="0" name="图片 3081"/>
                      <p:cNvPicPr/>
                      <p:nvPr/>
                    </p:nvPicPr>
                    <p:blipFill>
                      <a:blip r:embed="rId3"/>
                      <a:stretch>
                        <a:fillRect/>
                      </a:stretch>
                    </p:blipFill>
                    <p:spPr>
                      <a:xfrm>
                        <a:off x="3222481" y="1054060"/>
                        <a:ext cx="1621155" cy="597535"/>
                      </a:xfrm>
                      <a:prstGeom prst="rect">
                        <a:avLst/>
                      </a:prstGeom>
                      <a:noFill/>
                      <a:ln w="38100">
                        <a:noFill/>
                        <a:miter/>
                      </a:ln>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3" name="Picture 3"/>
          <p:cNvPicPr>
            <a:picLocks noChangeAspect="1"/>
          </p:cNvPicPr>
          <p:nvPr/>
        </p:nvPicPr>
        <p:blipFill>
          <a:blip r:embed="rId1"/>
          <a:stretch>
            <a:fillRect/>
          </a:stretch>
        </p:blipFill>
        <p:spPr>
          <a:xfrm>
            <a:off x="2030413" y="1346200"/>
            <a:ext cx="6302375" cy="5075238"/>
          </a:xfrm>
          <a:prstGeom prst="rect">
            <a:avLst/>
          </a:prstGeom>
          <a:noFill/>
          <a:ln w="9525">
            <a:noFill/>
          </a:ln>
        </p:spPr>
      </p:pic>
      <p:sp>
        <p:nvSpPr>
          <p:cNvPr id="25604" name="Text Box 4"/>
          <p:cNvSpPr txBox="1"/>
          <p:nvPr/>
        </p:nvSpPr>
        <p:spPr>
          <a:xfrm>
            <a:off x="698500" y="696913"/>
            <a:ext cx="764857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50000"/>
              </a:spcBef>
              <a:buClrTx/>
              <a:buSzTx/>
              <a:buFontTx/>
              <a:buNone/>
            </a:pPr>
            <a:r>
              <a:rPr lang="zh-CN" altLang="en-US" sz="2400" dirty="0" smtClean="0">
                <a:latin typeface="Times New Roman" panose="02020603050405020304" pitchFamily="18" charset="0"/>
              </a:rPr>
              <a:t>分段</a:t>
            </a:r>
            <a:r>
              <a:rPr lang="zh-CN" altLang="en-US" sz="2400" dirty="0">
                <a:latin typeface="Times New Roman" panose="02020603050405020304" pitchFamily="18" charset="0"/>
              </a:rPr>
              <a:t>线性变换</a:t>
            </a:r>
            <a:endParaRPr lang="en-US" altLang="zh-CN" sz="2400" dirty="0">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sp>
        <p:nvSpPr>
          <p:cNvPr id="34822" name="Rectangle 7"/>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sp>
        <p:nvSpPr>
          <p:cNvPr id="34825" name="Rectangle 14"/>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sp>
        <p:nvSpPr>
          <p:cNvPr id="34827" name="Rectangle 16"/>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sp>
        <p:nvSpPr>
          <p:cNvPr id="34829" name="Rectangle 18"/>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sp>
        <p:nvSpPr>
          <p:cNvPr id="6146" name="Rectangle 2"/>
          <p:cNvSpPr>
            <a:spLocks noGrp="1"/>
          </p:cNvSpPr>
          <p:nvPr/>
        </p:nvSpPr>
        <p:spPr>
          <a:xfrm>
            <a:off x="387350" y="487045"/>
            <a:ext cx="8229600" cy="847725"/>
          </a:xfrm>
          <a:prstGeom prst="rect">
            <a:avLst/>
          </a:prstGeom>
          <a:noFill/>
          <a:ln w="9525">
            <a:noFill/>
          </a:ln>
        </p:spPr>
        <p:txBody>
          <a:bodyPr vert="horz" wrap="square" lIns="91440" tIns="45720" rIns="91440" bIns="45720" anchor="ctr" anchorCtr="0"/>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a:lstStyle>
          <a:p>
            <a:pPr algn="l" eaLnBrk="1" hangingPunct="1"/>
            <a:r>
              <a:rPr lang="en-US" altLang="zh-CN" sz="2800" b="1" dirty="0">
                <a:solidFill>
                  <a:srgbClr val="7030A0"/>
                </a:solidFill>
              </a:rPr>
              <a:t>2.</a:t>
            </a:r>
            <a:r>
              <a:rPr lang="en-US" sz="2800" b="1" dirty="0">
                <a:solidFill>
                  <a:srgbClr val="7030A0"/>
                </a:solidFill>
              </a:rPr>
              <a:t>2 </a:t>
            </a:r>
            <a:r>
              <a:rPr lang="zh-CN" altLang="en-US" sz="2800" dirty="0" smtClean="0">
                <a:solidFill>
                  <a:srgbClr val="7030A0"/>
                </a:solidFill>
                <a:sym typeface="+mn-ea"/>
              </a:rPr>
              <a:t>直方图均衡</a:t>
            </a:r>
            <a:r>
              <a:rPr lang="zh-CN" altLang="en-US" sz="2800" dirty="0">
                <a:solidFill>
                  <a:srgbClr val="7030A0"/>
                </a:solidFill>
                <a:sym typeface="+mn-ea"/>
              </a:rPr>
              <a:t>化</a:t>
            </a:r>
            <a:endParaRPr lang="zh-CN" altLang="en-US" sz="2800" b="1" dirty="0">
              <a:solidFill>
                <a:srgbClr val="7030A0"/>
              </a:solidFill>
            </a:endParaRPr>
          </a:p>
          <a:p>
            <a:pPr algn="l" eaLnBrk="1" hangingPunct="1"/>
            <a:endParaRPr lang="zh-CN" altLang="en-US" sz="2800" b="1" dirty="0">
              <a:solidFill>
                <a:srgbClr val="7030A0"/>
              </a:solidFill>
            </a:endParaRPr>
          </a:p>
        </p:txBody>
      </p:sp>
      <p:sp>
        <p:nvSpPr>
          <p:cNvPr id="6" name="文本框 5"/>
          <p:cNvSpPr txBox="1"/>
          <p:nvPr/>
        </p:nvSpPr>
        <p:spPr>
          <a:xfrm>
            <a:off x="487680" y="963930"/>
            <a:ext cx="8274685" cy="2861310"/>
          </a:xfrm>
          <a:prstGeom prst="rect">
            <a:avLst/>
          </a:prstGeom>
        </p:spPr>
        <p:txBody>
          <a:bodyPr wrap="square">
            <a:spAutoFit/>
          </a:bodyPr>
          <a:p>
            <a:pPr>
              <a:lnSpc>
                <a:spcPct val="150000"/>
              </a:lnSpc>
            </a:pPr>
            <a:r>
              <a:rPr lang="en-US" altLang="zh-CN"/>
              <a:t>        </a:t>
            </a:r>
            <a:r>
              <a:rPr lang="zh-CN" altLang="en-US"/>
              <a:t>直方图均衡化本质上就是一种利用图像灰度直方图构造灰度变换函数的增强方法。</a:t>
            </a:r>
            <a:endParaRPr lang="zh-CN" altLang="en-US"/>
          </a:p>
          <a:p>
            <a:pPr>
              <a:lnSpc>
                <a:spcPct val="150000"/>
              </a:lnSpc>
            </a:pPr>
            <a:r>
              <a:rPr lang="en-US" altLang="zh-CN"/>
              <a:t>       </a:t>
            </a:r>
            <a:r>
              <a:rPr lang="zh-CN" altLang="en-US"/>
              <a:t>根据原图像灰度值的分布情况，构造一个灰度映射函数 </a:t>
            </a:r>
            <a:r>
              <a:rPr lang="en-US" altLang="zh-CN"/>
              <a:t>s=T(r)，</a:t>
            </a:r>
            <a:r>
              <a:rPr lang="zh-CN" altLang="en-US"/>
              <a:t>将原图像的灰度值重新分布，扩大输出图像的灰度动态范围，并使灰度分布趋于均匀，从而增强图像对比度。</a:t>
            </a:r>
            <a:endParaRPr lang="zh-CN" altLang="en-US"/>
          </a:p>
        </p:txBody>
      </p:sp>
      <p:pic>
        <p:nvPicPr>
          <p:cNvPr id="2" name="图片 1" descr="ChatGPT Image 2026年4月28日 09_32_55"/>
          <p:cNvPicPr>
            <a:picLocks noChangeAspect="1"/>
          </p:cNvPicPr>
          <p:nvPr/>
        </p:nvPicPr>
        <p:blipFill>
          <a:blip r:embed="rId1"/>
          <a:stretch>
            <a:fillRect/>
          </a:stretch>
        </p:blipFill>
        <p:spPr>
          <a:xfrm>
            <a:off x="4650740" y="4083050"/>
            <a:ext cx="2954655" cy="2216150"/>
          </a:xfrm>
          <a:prstGeom prst="rect">
            <a:avLst/>
          </a:prstGeom>
        </p:spPr>
      </p:pic>
      <p:pic>
        <p:nvPicPr>
          <p:cNvPr id="3" name="图片 2" descr="ChatGPT Image 2026年4月28日 09_32_48"/>
          <p:cNvPicPr>
            <a:picLocks noChangeAspect="1"/>
          </p:cNvPicPr>
          <p:nvPr/>
        </p:nvPicPr>
        <p:blipFill>
          <a:blip r:embed="rId2"/>
          <a:stretch>
            <a:fillRect/>
          </a:stretch>
        </p:blipFill>
        <p:spPr>
          <a:xfrm>
            <a:off x="1197610" y="4083050"/>
            <a:ext cx="2895600" cy="21717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p:nvPr>
        </p:nvSpPr>
        <p:spPr>
          <a:xfrm>
            <a:off x="645160" y="1040130"/>
            <a:ext cx="8229600" cy="690563"/>
          </a:xfrm>
        </p:spPr>
        <p:txBody>
          <a:bodyPr vert="horz" wrap="square" lIns="91440" tIns="45720" rIns="91440" bIns="45720" anchor="ctr" anchorCtr="0"/>
          <a:lstStyle/>
          <a:p>
            <a:pPr eaLnBrk="1" hangingPunct="1"/>
            <a:r>
              <a:rPr lang="zh-CN" altLang="en-US" sz="2800" b="1" dirty="0" smtClean="0">
                <a:solidFill>
                  <a:srgbClr val="FF0000"/>
                </a:solidFill>
              </a:rPr>
              <a:t>直方图的概念</a:t>
            </a:r>
            <a:endParaRPr lang="zh-CN" altLang="en-US" sz="2800" b="1" dirty="0" smtClean="0">
              <a:solidFill>
                <a:srgbClr val="FF0000"/>
              </a:solidFill>
            </a:endParaRPr>
          </a:p>
        </p:txBody>
      </p:sp>
      <p:sp>
        <p:nvSpPr>
          <p:cNvPr id="34819" name="Rectangle 3"/>
          <p:cNvSpPr>
            <a:spLocks noGrp="1"/>
          </p:cNvSpPr>
          <p:nvPr>
            <p:ph idx="1"/>
          </p:nvPr>
        </p:nvSpPr>
        <p:spPr>
          <a:xfrm>
            <a:off x="457201" y="1821180"/>
            <a:ext cx="8159750" cy="4424045"/>
          </a:xfrm>
        </p:spPr>
        <p:txBody>
          <a:bodyPr vert="horz" wrap="square" lIns="91440" tIns="45720" rIns="91440" bIns="45720" anchor="t" anchorCtr="0"/>
          <a:lstStyle/>
          <a:p>
            <a:pPr eaLnBrk="1" hangingPunct="1"/>
            <a:r>
              <a:rPr lang="zh-CN" altLang="en-US" sz="2400" dirty="0"/>
              <a:t>灰度级别为 </a:t>
            </a:r>
            <a:r>
              <a:rPr lang="en-US" altLang="zh-CN" sz="2400" dirty="0"/>
              <a:t>[0, L-1]</a:t>
            </a:r>
            <a:endParaRPr lang="en-US" altLang="zh-CN" sz="2400" dirty="0"/>
          </a:p>
          <a:p>
            <a:pPr eaLnBrk="1" hangingPunct="1"/>
            <a:r>
              <a:rPr lang="zh-CN" altLang="en-US" sz="2400" dirty="0" smtClean="0"/>
              <a:t>图像</a:t>
            </a:r>
            <a:r>
              <a:rPr lang="zh-CN" altLang="en-US" sz="2400" dirty="0"/>
              <a:t>直方图是离散函数                    ，其中     </a:t>
            </a:r>
            <a:r>
              <a:rPr lang="zh-CN" altLang="en-US" sz="2400" dirty="0" smtClean="0"/>
              <a:t>表示第</a:t>
            </a:r>
            <a:r>
              <a:rPr lang="en-US" altLang="zh-CN" sz="2400" dirty="0"/>
              <a:t>k</a:t>
            </a:r>
            <a:r>
              <a:rPr lang="zh-CN" altLang="en-US" sz="2400" dirty="0"/>
              <a:t>级灰度， </a:t>
            </a:r>
            <a:r>
              <a:rPr lang="zh-CN" altLang="en-US" sz="2400" dirty="0" smtClean="0"/>
              <a:t>   是</a:t>
            </a:r>
            <a:r>
              <a:rPr lang="zh-CN" altLang="en-US" sz="2400" dirty="0"/>
              <a:t>图像中灰度级为      的像素个数。</a:t>
            </a:r>
            <a:endParaRPr lang="zh-CN" altLang="en-US" sz="2400" dirty="0"/>
          </a:p>
          <a:p>
            <a:pPr eaLnBrk="1" hangingPunct="1"/>
            <a:endParaRPr lang="zh-CN" altLang="en-US" sz="2400" dirty="0"/>
          </a:p>
        </p:txBody>
      </p:sp>
      <p:sp>
        <p:nvSpPr>
          <p:cNvPr id="34820"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graphicFrame>
        <p:nvGraphicFramePr>
          <p:cNvPr id="34821" name="Object 4"/>
          <p:cNvGraphicFramePr>
            <a:graphicFrameLocks noChangeAspect="1"/>
          </p:cNvGraphicFramePr>
          <p:nvPr/>
        </p:nvGraphicFramePr>
        <p:xfrm>
          <a:off x="3892867" y="2221694"/>
          <a:ext cx="1733550" cy="538163"/>
        </p:xfrm>
        <a:graphic>
          <a:graphicData uri="http://schemas.openxmlformats.org/presentationml/2006/ole">
            <mc:AlternateContent xmlns:mc="http://schemas.openxmlformats.org/markup-compatibility/2006">
              <mc:Choice xmlns:v="urn:schemas-microsoft-com:vml" Requires="v">
                <p:oleObj spid="_x0000_s6219" name="" r:id="rId1" imgW="647700" imgH="228600" progId="Equation.3">
                  <p:embed/>
                </p:oleObj>
              </mc:Choice>
              <mc:Fallback>
                <p:oleObj name="" r:id="rId1" imgW="647700" imgH="228600" progId="Equation.3">
                  <p:embed/>
                  <p:pic>
                    <p:nvPicPr>
                      <p:cNvPr id="0" name="图片 3156"/>
                      <p:cNvPicPr/>
                      <p:nvPr/>
                    </p:nvPicPr>
                    <p:blipFill>
                      <a:blip r:embed="rId2"/>
                      <a:stretch>
                        <a:fillRect/>
                      </a:stretch>
                    </p:blipFill>
                    <p:spPr>
                      <a:xfrm>
                        <a:off x="3892867" y="2221694"/>
                        <a:ext cx="1733550" cy="538163"/>
                      </a:xfrm>
                      <a:prstGeom prst="rect">
                        <a:avLst/>
                      </a:prstGeom>
                      <a:noFill/>
                      <a:ln w="38100">
                        <a:noFill/>
                        <a:miter/>
                      </a:ln>
                    </p:spPr>
                  </p:pic>
                </p:oleObj>
              </mc:Fallback>
            </mc:AlternateContent>
          </a:graphicData>
        </a:graphic>
      </p:graphicFrame>
      <p:sp>
        <p:nvSpPr>
          <p:cNvPr id="34822" name="Rectangle 7"/>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graphicFrame>
        <p:nvGraphicFramePr>
          <p:cNvPr id="34823" name="Object 6"/>
          <p:cNvGraphicFramePr>
            <a:graphicFrameLocks noChangeAspect="1"/>
          </p:cNvGraphicFramePr>
          <p:nvPr/>
        </p:nvGraphicFramePr>
        <p:xfrm>
          <a:off x="6542352" y="2200275"/>
          <a:ext cx="373062" cy="549275"/>
        </p:xfrm>
        <a:graphic>
          <a:graphicData uri="http://schemas.openxmlformats.org/presentationml/2006/ole">
            <mc:AlternateContent xmlns:mc="http://schemas.openxmlformats.org/markup-compatibility/2006">
              <mc:Choice xmlns:v="urn:schemas-microsoft-com:vml" Requires="v">
                <p:oleObj spid="_x0000_s6220" name="" r:id="rId3" imgW="139700" imgH="228600" progId="Equation.3">
                  <p:embed/>
                </p:oleObj>
              </mc:Choice>
              <mc:Fallback>
                <p:oleObj name="" r:id="rId3" imgW="139700" imgH="228600" progId="Equation.3">
                  <p:embed/>
                  <p:pic>
                    <p:nvPicPr>
                      <p:cNvPr id="0" name="图片 3157"/>
                      <p:cNvPicPr/>
                      <p:nvPr/>
                    </p:nvPicPr>
                    <p:blipFill>
                      <a:blip r:embed="rId4"/>
                      <a:stretch>
                        <a:fillRect/>
                      </a:stretch>
                    </p:blipFill>
                    <p:spPr>
                      <a:xfrm>
                        <a:off x="6542352" y="2200275"/>
                        <a:ext cx="373062" cy="549275"/>
                      </a:xfrm>
                      <a:prstGeom prst="rect">
                        <a:avLst/>
                      </a:prstGeom>
                      <a:noFill/>
                      <a:ln w="38100">
                        <a:noFill/>
                        <a:miter/>
                      </a:ln>
                    </p:spPr>
                  </p:pic>
                </p:oleObj>
              </mc:Fallback>
            </mc:AlternateContent>
          </a:graphicData>
        </a:graphic>
      </p:graphicFrame>
      <p:graphicFrame>
        <p:nvGraphicFramePr>
          <p:cNvPr id="34824" name="Object 12"/>
          <p:cNvGraphicFramePr>
            <a:graphicFrameLocks noChangeAspect="1"/>
          </p:cNvGraphicFramePr>
          <p:nvPr/>
        </p:nvGraphicFramePr>
        <p:xfrm>
          <a:off x="4654284" y="2575605"/>
          <a:ext cx="373062" cy="549275"/>
        </p:xfrm>
        <a:graphic>
          <a:graphicData uri="http://schemas.openxmlformats.org/presentationml/2006/ole">
            <mc:AlternateContent xmlns:mc="http://schemas.openxmlformats.org/markup-compatibility/2006">
              <mc:Choice xmlns:v="urn:schemas-microsoft-com:vml" Requires="v">
                <p:oleObj spid="_x0000_s6221" name="" r:id="rId5" imgW="139700" imgH="228600" progId="Equation.3">
                  <p:embed/>
                </p:oleObj>
              </mc:Choice>
              <mc:Fallback>
                <p:oleObj name="" r:id="rId5" imgW="139700" imgH="228600" progId="Equation.3">
                  <p:embed/>
                  <p:pic>
                    <p:nvPicPr>
                      <p:cNvPr id="0" name="图片 3158"/>
                      <p:cNvPicPr/>
                      <p:nvPr/>
                    </p:nvPicPr>
                    <p:blipFill>
                      <a:blip r:embed="rId6"/>
                      <a:stretch>
                        <a:fillRect/>
                      </a:stretch>
                    </p:blipFill>
                    <p:spPr>
                      <a:xfrm>
                        <a:off x="4654284" y="2575605"/>
                        <a:ext cx="373062" cy="549275"/>
                      </a:xfrm>
                      <a:prstGeom prst="rect">
                        <a:avLst/>
                      </a:prstGeom>
                      <a:noFill/>
                      <a:ln w="38100">
                        <a:noFill/>
                        <a:miter/>
                      </a:ln>
                    </p:spPr>
                  </p:pic>
                </p:oleObj>
              </mc:Fallback>
            </mc:AlternateContent>
          </a:graphicData>
        </a:graphic>
      </p:graphicFrame>
      <p:sp>
        <p:nvSpPr>
          <p:cNvPr id="34825" name="Rectangle 14"/>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sp>
        <p:nvSpPr>
          <p:cNvPr id="34827" name="Rectangle 16"/>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sp>
        <p:nvSpPr>
          <p:cNvPr id="34829" name="Rectangle 18"/>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graphicFrame>
        <p:nvGraphicFramePr>
          <p:cNvPr id="34831" name="Object 21"/>
          <p:cNvGraphicFramePr>
            <a:graphicFrameLocks noChangeAspect="1"/>
          </p:cNvGraphicFramePr>
          <p:nvPr/>
        </p:nvGraphicFramePr>
        <p:xfrm>
          <a:off x="1716667" y="2551114"/>
          <a:ext cx="474663" cy="549275"/>
        </p:xfrm>
        <a:graphic>
          <a:graphicData uri="http://schemas.openxmlformats.org/presentationml/2006/ole">
            <mc:AlternateContent xmlns:mc="http://schemas.openxmlformats.org/markup-compatibility/2006">
              <mc:Choice xmlns:v="urn:schemas-microsoft-com:vml" Requires="v">
                <p:oleObj spid="_x0000_s6222" name="" r:id="rId7" imgW="177800" imgH="228600" progId="Equation.3">
                  <p:embed/>
                </p:oleObj>
              </mc:Choice>
              <mc:Fallback>
                <p:oleObj name="" r:id="rId7" imgW="177800" imgH="228600" progId="Equation.3">
                  <p:embed/>
                  <p:pic>
                    <p:nvPicPr>
                      <p:cNvPr id="0" name="图片 3160"/>
                      <p:cNvPicPr/>
                      <p:nvPr/>
                    </p:nvPicPr>
                    <p:blipFill>
                      <a:blip r:embed="rId8"/>
                      <a:stretch>
                        <a:fillRect/>
                      </a:stretch>
                    </p:blipFill>
                    <p:spPr>
                      <a:xfrm>
                        <a:off x="1716667" y="2551114"/>
                        <a:ext cx="474663" cy="549275"/>
                      </a:xfrm>
                      <a:prstGeom prst="rect">
                        <a:avLst/>
                      </a:prstGeom>
                      <a:noFill/>
                      <a:ln w="38100">
                        <a:noFill/>
                        <a:miter/>
                      </a:ln>
                    </p:spPr>
                  </p:pic>
                </p:oleObj>
              </mc:Fallback>
            </mc:AlternateContent>
          </a:graphicData>
        </a:graphic>
      </p:graphicFrame>
      <p:sp>
        <p:nvSpPr>
          <p:cNvPr id="6146" name="Rectangle 2"/>
          <p:cNvSpPr>
            <a:spLocks noGrp="1"/>
          </p:cNvSpPr>
          <p:nvPr/>
        </p:nvSpPr>
        <p:spPr>
          <a:xfrm>
            <a:off x="387350" y="487045"/>
            <a:ext cx="8229600" cy="847725"/>
          </a:xfrm>
          <a:prstGeom prst="rect">
            <a:avLst/>
          </a:prstGeom>
          <a:noFill/>
          <a:ln w="9525">
            <a:noFill/>
          </a:ln>
        </p:spPr>
        <p:txBody>
          <a:bodyPr vert="horz" wrap="square" lIns="91440" tIns="45720" rIns="91440" bIns="45720" anchor="ctr" anchorCtr="0"/>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a:lstStyle>
          <a:p>
            <a:pPr algn="l" eaLnBrk="1" hangingPunct="1"/>
            <a:r>
              <a:rPr lang="en-US" altLang="zh-CN" sz="2800" b="1" dirty="0">
                <a:solidFill>
                  <a:srgbClr val="7030A0"/>
                </a:solidFill>
              </a:rPr>
              <a:t>2.</a:t>
            </a:r>
            <a:r>
              <a:rPr lang="en-US" sz="2800" b="1" dirty="0">
                <a:solidFill>
                  <a:srgbClr val="7030A0"/>
                </a:solidFill>
              </a:rPr>
              <a:t>2 </a:t>
            </a:r>
            <a:r>
              <a:rPr lang="zh-CN" altLang="en-US" sz="2800" dirty="0" smtClean="0">
                <a:solidFill>
                  <a:srgbClr val="7030A0"/>
                </a:solidFill>
                <a:sym typeface="+mn-ea"/>
              </a:rPr>
              <a:t>直方图均衡</a:t>
            </a:r>
            <a:r>
              <a:rPr lang="zh-CN" altLang="en-US" sz="2800" dirty="0">
                <a:solidFill>
                  <a:srgbClr val="7030A0"/>
                </a:solidFill>
                <a:sym typeface="+mn-ea"/>
              </a:rPr>
              <a:t>化</a:t>
            </a:r>
            <a:endParaRPr lang="zh-CN" altLang="en-US" sz="2800" b="1" dirty="0">
              <a:solidFill>
                <a:srgbClr val="7030A0"/>
              </a:solidFill>
            </a:endParaRPr>
          </a:p>
          <a:p>
            <a:pPr algn="l" eaLnBrk="1" hangingPunct="1"/>
            <a:endParaRPr lang="zh-CN" altLang="en-US" sz="2800" b="1" dirty="0">
              <a:solidFill>
                <a:srgbClr val="7030A0"/>
              </a:solidFill>
            </a:endParaRPr>
          </a:p>
        </p:txBody>
      </p:sp>
      <p:graphicFrame>
        <p:nvGraphicFramePr>
          <p:cNvPr id="35843" name="Object 3"/>
          <p:cNvGraphicFramePr>
            <a:graphicFrameLocks noGrp="1" noChangeAspect="1"/>
          </p:cNvGraphicFramePr>
          <p:nvPr/>
        </p:nvGraphicFramePr>
        <p:xfrm>
          <a:off x="1562334" y="3506470"/>
          <a:ext cx="3000286" cy="1830707"/>
        </p:xfrm>
        <a:graphic>
          <a:graphicData uri="http://schemas.openxmlformats.org/presentationml/2006/ole">
            <mc:AlternateContent xmlns:mc="http://schemas.openxmlformats.org/markup-compatibility/2006">
              <mc:Choice xmlns:v="urn:schemas-microsoft-com:vml" Requires="v">
                <p:oleObj spid="_x0000_s6223" name="" r:id="rId9" imgW="1498600" imgH="914400" progId="Equation.3">
                  <p:embed/>
                </p:oleObj>
              </mc:Choice>
              <mc:Fallback>
                <p:oleObj name="" r:id="rId9" imgW="1498600" imgH="914400" progId="Equation.3">
                  <p:embed/>
                  <p:pic>
                    <p:nvPicPr>
                      <p:cNvPr id="0" name="图片 3159"/>
                      <p:cNvPicPr/>
                      <p:nvPr/>
                    </p:nvPicPr>
                    <p:blipFill>
                      <a:blip r:embed="rId10"/>
                      <a:srcRect/>
                      <a:stretch>
                        <a:fillRect/>
                      </a:stretch>
                    </p:blipFill>
                    <p:spPr>
                      <a:xfrm>
                        <a:off x="1562334" y="3506470"/>
                        <a:ext cx="3000286" cy="1830707"/>
                      </a:xfrm>
                      <a:prstGeom prst="rect">
                        <a:avLst/>
                      </a:prstGeom>
                      <a:noFill/>
                      <a:ln w="38100">
                        <a:miter/>
                      </a:ln>
                    </p:spPr>
                  </p:pic>
                </p:oleObj>
              </mc:Fallback>
            </mc:AlternateContent>
          </a:graphicData>
        </a:graphic>
      </p:graphicFrame>
      <p:sp>
        <p:nvSpPr>
          <p:cNvPr id="35844" name="Rectangle 4"/>
          <p:cNvSpPr/>
          <p:nvPr/>
        </p:nvSpPr>
        <p:spPr>
          <a:xfrm>
            <a:off x="4946914" y="3100820"/>
            <a:ext cx="3928110" cy="156845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None/>
            </a:pPr>
            <a:r>
              <a:rPr lang="zh-CN" altLang="en-US" sz="1800" dirty="0">
                <a:solidFill>
                  <a:srgbClr val="FF0000"/>
                </a:solidFill>
                <a:latin typeface="Times New Roman" panose="02020603050405020304" pitchFamily="18" charset="0"/>
              </a:rPr>
              <a:t>如果灰度级</a:t>
            </a:r>
            <a:r>
              <a:rPr lang="en-US" altLang="zh-CN" sz="1800" dirty="0">
                <a:solidFill>
                  <a:srgbClr val="FF0000"/>
                </a:solidFill>
                <a:latin typeface="Times New Roman" panose="02020603050405020304" pitchFamily="18" charset="0"/>
              </a:rPr>
              <a:t>L=8, </a:t>
            </a:r>
            <a:r>
              <a:rPr lang="zh-CN" altLang="en-US" sz="1800" dirty="0">
                <a:solidFill>
                  <a:srgbClr val="FF0000"/>
                </a:solidFill>
                <a:latin typeface="Times New Roman" panose="02020603050405020304" pitchFamily="18" charset="0"/>
              </a:rPr>
              <a:t>则直方图为</a:t>
            </a:r>
            <a:r>
              <a:rPr lang="en-US" altLang="zh-CN" sz="2400" dirty="0">
                <a:solidFill>
                  <a:srgbClr val="FF0000"/>
                </a:solidFill>
                <a:latin typeface="Times New Roman" panose="02020603050405020304" pitchFamily="18" charset="0"/>
              </a:rPr>
              <a:t>:</a:t>
            </a:r>
            <a:endParaRPr lang="en-US" altLang="zh-CN" sz="2400" dirty="0">
              <a:solidFill>
                <a:srgbClr val="FF0000"/>
              </a:solidFill>
              <a:latin typeface="Times New Roman" panose="02020603050405020304" pitchFamily="18" charset="0"/>
            </a:endParaRPr>
          </a:p>
          <a:p>
            <a:pPr marL="0" lvl="0" indent="0" eaLnBrk="1" hangingPunct="1">
              <a:spcBef>
                <a:spcPct val="0"/>
              </a:spcBef>
              <a:buClrTx/>
              <a:buSzTx/>
              <a:buNone/>
            </a:pPr>
            <a:r>
              <a:rPr lang="en-US" altLang="zh-CN" sz="2400" dirty="0">
                <a:latin typeface="Times New Roman" panose="02020603050405020304" pitchFamily="18" charset="0"/>
              </a:rPr>
              <a:t>H(0)=7,   H(1)=3,   H(2)=6,  H(3)=0</a:t>
            </a:r>
            <a:r>
              <a:rPr lang="en-US" altLang="zh-CN" sz="2400" dirty="0">
                <a:latin typeface="Times New Roman" panose="02020603050405020304" pitchFamily="18" charset="0"/>
                <a:sym typeface="+mn-ea"/>
              </a:rPr>
              <a:t>,   </a:t>
            </a:r>
            <a:r>
              <a:rPr lang="en-US" altLang="zh-CN" sz="2400" dirty="0">
                <a:latin typeface="Times New Roman" panose="02020603050405020304" pitchFamily="18" charset="0"/>
              </a:rPr>
              <a:t>H(4)=0,   H(5)=0,   H(6)=0,   H(7)=0</a:t>
            </a:r>
            <a:endParaRPr lang="en-US" altLang="zh-CN" sz="2400" dirty="0">
              <a:latin typeface="Times New Roman" panose="02020603050405020304" pitchFamily="18" charset="0"/>
            </a:endParaRPr>
          </a:p>
        </p:txBody>
      </p:sp>
      <p:sp>
        <p:nvSpPr>
          <p:cNvPr id="35845" name="Rectangle 5"/>
          <p:cNvSpPr/>
          <p:nvPr/>
        </p:nvSpPr>
        <p:spPr>
          <a:xfrm>
            <a:off x="644843" y="5613083"/>
            <a:ext cx="8208962" cy="83099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400" dirty="0">
                <a:latin typeface="Tahoma" panose="020B0604030504040204" pitchFamily="34" charset="0"/>
              </a:rPr>
              <a:t>灰度直方图表示数字图像中每一个灰度级与其出现频数的统计关系。</a:t>
            </a:r>
            <a:endParaRPr lang="zh-CN" altLang="en-US" sz="2400" dirty="0">
              <a:latin typeface="Tahoma" panose="020B0604030504040204" pitchFamily="34" charset="0"/>
            </a:endParaRPr>
          </a:p>
        </p:txBody>
      </p:sp>
      <p:sp>
        <p:nvSpPr>
          <p:cNvPr id="17" name="Rectangle 2"/>
          <p:cNvSpPr txBox="1"/>
          <p:nvPr/>
        </p:nvSpPr>
        <p:spPr>
          <a:xfrm>
            <a:off x="644843" y="4102099"/>
            <a:ext cx="996430" cy="690563"/>
          </a:xfrm>
          <a:prstGeom prst="rect">
            <a:avLst/>
          </a:prstGeom>
          <a:noFill/>
          <a:ln w="9525">
            <a:noFill/>
          </a:ln>
        </p:spPr>
        <p:txBody>
          <a:bodyPr vert="horz" wrap="square" lIns="91440" tIns="45720" rIns="91440" bIns="45720" anchor="ctr" anchorCtr="0"/>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a:lstStyle>
          <a:p>
            <a:pPr eaLnBrk="1" hangingPunct="1"/>
            <a:r>
              <a:rPr lang="zh-CN" altLang="en-US" sz="2400" b="0" kern="0" dirty="0" smtClean="0">
                <a:solidFill>
                  <a:srgbClr val="FF0000"/>
                </a:solidFill>
              </a:rPr>
              <a:t>例子</a:t>
            </a:r>
            <a:endParaRPr lang="zh-CN" altLang="en-US" sz="2400" b="0" kern="0" dirty="0" smtClean="0">
              <a:solidFill>
                <a:srgbClr val="FF0000"/>
              </a:solidFill>
            </a:endParaRPr>
          </a:p>
        </p:txBody>
      </p:sp>
      <p:graphicFrame>
        <p:nvGraphicFramePr>
          <p:cNvPr id="3" name="对象 2"/>
          <p:cNvGraphicFramePr/>
          <p:nvPr/>
        </p:nvGraphicFramePr>
        <p:xfrm>
          <a:off x="5027295" y="3506470"/>
          <a:ext cx="3413760" cy="2106930"/>
        </p:xfrm>
        <a:graphic>
          <a:graphicData uri="http://schemas.openxmlformats.org/presentationml/2006/ole">
            <mc:AlternateContent xmlns:mc="http://schemas.openxmlformats.org/markup-compatibility/2006">
              <mc:Choice xmlns:v="urn:schemas-microsoft-com:vml" Requires="v">
                <p:oleObj spid="_x0000_s4" name="" r:id="rId11" imgW="3644900" imgH="2273300" progId="Paint.Picture">
                  <p:embed/>
                </p:oleObj>
              </mc:Choice>
              <mc:Fallback>
                <p:oleObj name="" r:id="rId11" imgW="3644900" imgH="2273300" progId="Paint.Picture">
                  <p:embed/>
                  <p:pic>
                    <p:nvPicPr>
                      <p:cNvPr id="0" name="图片 3"/>
                      <p:cNvPicPr/>
                      <p:nvPr/>
                    </p:nvPicPr>
                    <p:blipFill>
                      <a:blip r:embed="rId12"/>
                      <a:stretch>
                        <a:fillRect/>
                      </a:stretch>
                    </p:blipFill>
                    <p:spPr>
                      <a:xfrm>
                        <a:off x="5027295" y="3506470"/>
                        <a:ext cx="3413760" cy="2106930"/>
                      </a:xfrm>
                      <a:prstGeom prst="rect">
                        <a:avLst/>
                      </a:prstGeom>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p:nvPr>
        </p:nvSpPr>
        <p:spPr>
          <a:xfrm>
            <a:off x="556520" y="936856"/>
            <a:ext cx="8229600" cy="690563"/>
          </a:xfrm>
        </p:spPr>
        <p:txBody>
          <a:bodyPr vert="horz" wrap="square" lIns="91440" tIns="45720" rIns="91440" bIns="45720" anchor="ctr" anchorCtr="0"/>
          <a:lstStyle/>
          <a:p>
            <a:pPr eaLnBrk="1" hangingPunct="1"/>
            <a:r>
              <a:rPr lang="zh-CN" altLang="en-US" sz="2800" b="1" dirty="0" smtClean="0">
                <a:solidFill>
                  <a:srgbClr val="FF0000"/>
                </a:solidFill>
              </a:rPr>
              <a:t>归一化直方图</a:t>
            </a:r>
            <a:r>
              <a:rPr lang="en-US" altLang="zh-CN" sz="2800" b="1" dirty="0">
                <a:solidFill>
                  <a:srgbClr val="FF0000"/>
                </a:solidFill>
              </a:rPr>
              <a:t>(</a:t>
            </a:r>
            <a:r>
              <a:rPr lang="zh-CN" altLang="en-US" sz="2800" b="1" dirty="0">
                <a:solidFill>
                  <a:srgbClr val="FF0000"/>
                </a:solidFill>
              </a:rPr>
              <a:t>概率密度函数</a:t>
            </a:r>
            <a:r>
              <a:rPr lang="en-US" altLang="zh-CN" sz="2800" b="1" dirty="0">
                <a:solidFill>
                  <a:srgbClr val="FF0000"/>
                </a:solidFill>
              </a:rPr>
              <a:t>)</a:t>
            </a:r>
            <a:endParaRPr lang="zh-CN" altLang="en-US" sz="2800" b="1" dirty="0">
              <a:solidFill>
                <a:srgbClr val="FF0000"/>
              </a:solidFill>
            </a:endParaRPr>
          </a:p>
        </p:txBody>
      </p:sp>
      <p:sp>
        <p:nvSpPr>
          <p:cNvPr id="34819" name="Rectangle 3"/>
          <p:cNvSpPr>
            <a:spLocks noGrp="1"/>
          </p:cNvSpPr>
          <p:nvPr>
            <p:ph idx="1"/>
          </p:nvPr>
        </p:nvSpPr>
        <p:spPr>
          <a:xfrm>
            <a:off x="280556" y="1821180"/>
            <a:ext cx="8781530" cy="4424045"/>
          </a:xfrm>
        </p:spPr>
        <p:txBody>
          <a:bodyPr vert="horz" wrap="square" lIns="91440" tIns="45720" rIns="91440" bIns="45720" anchor="t" anchorCtr="0"/>
          <a:lstStyle/>
          <a:p>
            <a:pPr eaLnBrk="1" hangingPunct="1"/>
            <a:r>
              <a:rPr lang="zh-CN" altLang="en-US" sz="2800" dirty="0" smtClean="0"/>
              <a:t>表示为灰度级    的像素个数    除以图像的</a:t>
            </a:r>
            <a:r>
              <a:rPr lang="zh-CN" altLang="en-US" sz="2800" dirty="0"/>
              <a:t>像素</a:t>
            </a:r>
            <a:r>
              <a:rPr lang="zh-CN" altLang="en-US" sz="2800" dirty="0" smtClean="0"/>
              <a:t>总数</a:t>
            </a:r>
            <a:r>
              <a:rPr lang="en-US" altLang="zh-CN" sz="2800" dirty="0" smtClean="0"/>
              <a:t>n</a:t>
            </a:r>
            <a:endParaRPr lang="zh-CN" altLang="en-US" sz="2800" dirty="0"/>
          </a:p>
          <a:p>
            <a:pPr eaLnBrk="1" hangingPunct="1">
              <a:buNone/>
            </a:pPr>
            <a:r>
              <a:rPr lang="zh-CN" altLang="en-US" sz="2800" dirty="0"/>
              <a:t>	</a:t>
            </a:r>
            <a:endParaRPr lang="zh-CN" altLang="en-US" sz="2800" dirty="0"/>
          </a:p>
          <a:p>
            <a:pPr eaLnBrk="1" hangingPunct="1">
              <a:buNone/>
            </a:pPr>
            <a:endParaRPr lang="zh-CN" altLang="en-US" sz="2800" dirty="0"/>
          </a:p>
          <a:p>
            <a:pPr eaLnBrk="1" hangingPunct="1"/>
            <a:r>
              <a:rPr lang="zh-CN" altLang="en-US" sz="2800" dirty="0" smtClean="0"/>
              <a:t>归一化直方图描述每个灰度级在图像中出现的概率。</a:t>
            </a:r>
            <a:endParaRPr lang="en-US" altLang="zh-CN" sz="2800" dirty="0" smtClean="0"/>
          </a:p>
          <a:p>
            <a:pPr eaLnBrk="1" hangingPunct="1"/>
            <a:r>
              <a:rPr lang="zh-CN" altLang="en-US" sz="2800" dirty="0" smtClean="0"/>
              <a:t>归一化</a:t>
            </a:r>
            <a:r>
              <a:rPr lang="zh-CN" altLang="en-US" sz="2800" dirty="0"/>
              <a:t>直方图满足：               （</a:t>
            </a:r>
            <a:r>
              <a:rPr lang="en-US" altLang="zh-CN" sz="2800" dirty="0"/>
              <a:t>k=0, 1,…L-1</a:t>
            </a:r>
            <a:r>
              <a:rPr lang="zh-CN" altLang="en-US" sz="2800" dirty="0"/>
              <a:t>），以及</a:t>
            </a:r>
            <a:endParaRPr lang="zh-CN" altLang="en-US" sz="2800" dirty="0"/>
          </a:p>
        </p:txBody>
      </p:sp>
      <p:sp>
        <p:nvSpPr>
          <p:cNvPr id="34820"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sp>
        <p:nvSpPr>
          <p:cNvPr id="34822" name="Rectangle 7"/>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sp>
        <p:nvSpPr>
          <p:cNvPr id="34825" name="Rectangle 14"/>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graphicFrame>
        <p:nvGraphicFramePr>
          <p:cNvPr id="34826" name="Object 13"/>
          <p:cNvGraphicFramePr>
            <a:graphicFrameLocks noChangeAspect="1"/>
          </p:cNvGraphicFramePr>
          <p:nvPr/>
        </p:nvGraphicFramePr>
        <p:xfrm>
          <a:off x="2786064" y="2399896"/>
          <a:ext cx="2258060" cy="815975"/>
        </p:xfrm>
        <a:graphic>
          <a:graphicData uri="http://schemas.openxmlformats.org/presentationml/2006/ole">
            <mc:AlternateContent xmlns:mc="http://schemas.openxmlformats.org/markup-compatibility/2006">
              <mc:Choice xmlns:v="urn:schemas-microsoft-com:vml" Requires="v">
                <p:oleObj spid="_x0000_s7228" name="" r:id="rId1" imgW="736600" imgH="393700" progId="Equation.3">
                  <p:embed/>
                </p:oleObj>
              </mc:Choice>
              <mc:Fallback>
                <p:oleObj name="" r:id="rId1" imgW="736600" imgH="393700" progId="Equation.3">
                  <p:embed/>
                  <p:pic>
                    <p:nvPicPr>
                      <p:cNvPr id="0" name="图片 3162"/>
                      <p:cNvPicPr/>
                      <p:nvPr/>
                    </p:nvPicPr>
                    <p:blipFill>
                      <a:blip r:embed="rId2"/>
                      <a:stretch>
                        <a:fillRect/>
                      </a:stretch>
                    </p:blipFill>
                    <p:spPr>
                      <a:xfrm>
                        <a:off x="2786064" y="2399896"/>
                        <a:ext cx="2258060" cy="815975"/>
                      </a:xfrm>
                      <a:prstGeom prst="rect">
                        <a:avLst/>
                      </a:prstGeom>
                      <a:noFill/>
                      <a:ln w="38100">
                        <a:noFill/>
                        <a:miter/>
                      </a:ln>
                    </p:spPr>
                  </p:pic>
                </p:oleObj>
              </mc:Fallback>
            </mc:AlternateContent>
          </a:graphicData>
        </a:graphic>
      </p:graphicFrame>
      <p:sp>
        <p:nvSpPr>
          <p:cNvPr id="34827" name="Rectangle 16"/>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graphicFrame>
        <p:nvGraphicFramePr>
          <p:cNvPr id="34828" name="Object 15"/>
          <p:cNvGraphicFramePr>
            <a:graphicFrameLocks noChangeAspect="1"/>
          </p:cNvGraphicFramePr>
          <p:nvPr/>
        </p:nvGraphicFramePr>
        <p:xfrm>
          <a:off x="3689928" y="3895405"/>
          <a:ext cx="1962785" cy="552450"/>
        </p:xfrm>
        <a:graphic>
          <a:graphicData uri="http://schemas.openxmlformats.org/presentationml/2006/ole">
            <mc:AlternateContent xmlns:mc="http://schemas.openxmlformats.org/markup-compatibility/2006">
              <mc:Choice xmlns:v="urn:schemas-microsoft-com:vml" Requires="v">
                <p:oleObj spid="_x0000_s7229" name="" r:id="rId3" imgW="838200" imgH="228600" progId="Equation.3">
                  <p:embed/>
                </p:oleObj>
              </mc:Choice>
              <mc:Fallback>
                <p:oleObj name="" r:id="rId3" imgW="838200" imgH="228600" progId="Equation.3">
                  <p:embed/>
                  <p:pic>
                    <p:nvPicPr>
                      <p:cNvPr id="0" name="图片 3161"/>
                      <p:cNvPicPr/>
                      <p:nvPr/>
                    </p:nvPicPr>
                    <p:blipFill>
                      <a:blip r:embed="rId4"/>
                      <a:stretch>
                        <a:fillRect/>
                      </a:stretch>
                    </p:blipFill>
                    <p:spPr>
                      <a:xfrm>
                        <a:off x="3689928" y="3895405"/>
                        <a:ext cx="1962785" cy="552450"/>
                      </a:xfrm>
                      <a:prstGeom prst="rect">
                        <a:avLst/>
                      </a:prstGeom>
                      <a:noFill/>
                      <a:ln w="38100">
                        <a:noFill/>
                        <a:miter/>
                      </a:ln>
                    </p:spPr>
                  </p:pic>
                </p:oleObj>
              </mc:Fallback>
            </mc:AlternateContent>
          </a:graphicData>
        </a:graphic>
      </p:graphicFrame>
      <p:sp>
        <p:nvSpPr>
          <p:cNvPr id="34829" name="Rectangle 18"/>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graphicFrame>
        <p:nvGraphicFramePr>
          <p:cNvPr id="34830" name="Object 17"/>
          <p:cNvGraphicFramePr>
            <a:graphicFrameLocks noChangeAspect="1"/>
          </p:cNvGraphicFramePr>
          <p:nvPr/>
        </p:nvGraphicFramePr>
        <p:xfrm>
          <a:off x="1110926" y="4344785"/>
          <a:ext cx="1824355" cy="771525"/>
        </p:xfrm>
        <a:graphic>
          <a:graphicData uri="http://schemas.openxmlformats.org/presentationml/2006/ole">
            <mc:AlternateContent xmlns:mc="http://schemas.openxmlformats.org/markup-compatibility/2006">
              <mc:Choice xmlns:v="urn:schemas-microsoft-com:vml" Requires="v">
                <p:oleObj spid="_x0000_s7230" name="" r:id="rId5" imgW="800100" imgH="342900" progId="Equation.3">
                  <p:embed/>
                </p:oleObj>
              </mc:Choice>
              <mc:Fallback>
                <p:oleObj name="" r:id="rId5" imgW="800100" imgH="342900" progId="Equation.3">
                  <p:embed/>
                  <p:pic>
                    <p:nvPicPr>
                      <p:cNvPr id="0" name="图片 3163"/>
                      <p:cNvPicPr/>
                      <p:nvPr/>
                    </p:nvPicPr>
                    <p:blipFill>
                      <a:blip r:embed="rId6"/>
                      <a:stretch>
                        <a:fillRect/>
                      </a:stretch>
                    </p:blipFill>
                    <p:spPr>
                      <a:xfrm>
                        <a:off x="1110926" y="4344785"/>
                        <a:ext cx="1824355" cy="771525"/>
                      </a:xfrm>
                      <a:prstGeom prst="rect">
                        <a:avLst/>
                      </a:prstGeom>
                      <a:noFill/>
                      <a:ln w="38100">
                        <a:noFill/>
                        <a:miter/>
                      </a:ln>
                    </p:spPr>
                  </p:pic>
                </p:oleObj>
              </mc:Fallback>
            </mc:AlternateContent>
          </a:graphicData>
        </a:graphic>
      </p:graphicFrame>
      <p:graphicFrame>
        <p:nvGraphicFramePr>
          <p:cNvPr id="17" name="Object 12"/>
          <p:cNvGraphicFramePr>
            <a:graphicFrameLocks noChangeAspect="1"/>
          </p:cNvGraphicFramePr>
          <p:nvPr/>
        </p:nvGraphicFramePr>
        <p:xfrm>
          <a:off x="2884013" y="1784033"/>
          <a:ext cx="373062" cy="549275"/>
        </p:xfrm>
        <a:graphic>
          <a:graphicData uri="http://schemas.openxmlformats.org/presentationml/2006/ole">
            <mc:AlternateContent xmlns:mc="http://schemas.openxmlformats.org/markup-compatibility/2006">
              <mc:Choice xmlns:v="urn:schemas-microsoft-com:vml" Requires="v">
                <p:oleObj spid="_x0000_s7231" name="" r:id="rId7" imgW="139700" imgH="228600" progId="Equation.3">
                  <p:embed/>
                </p:oleObj>
              </mc:Choice>
              <mc:Fallback>
                <p:oleObj name="" r:id="rId7" imgW="139700" imgH="228600" progId="Equation.3">
                  <p:embed/>
                  <p:pic>
                    <p:nvPicPr>
                      <p:cNvPr id="0" name="Object 12"/>
                      <p:cNvPicPr/>
                      <p:nvPr/>
                    </p:nvPicPr>
                    <p:blipFill>
                      <a:blip r:embed="rId8"/>
                      <a:stretch>
                        <a:fillRect/>
                      </a:stretch>
                    </p:blipFill>
                    <p:spPr>
                      <a:xfrm>
                        <a:off x="2884013" y="1784033"/>
                        <a:ext cx="373062" cy="549275"/>
                      </a:xfrm>
                      <a:prstGeom prst="rect">
                        <a:avLst/>
                      </a:prstGeom>
                      <a:noFill/>
                      <a:ln w="38100">
                        <a:noFill/>
                        <a:miter/>
                      </a:ln>
                    </p:spPr>
                  </p:pic>
                </p:oleObj>
              </mc:Fallback>
            </mc:AlternateContent>
          </a:graphicData>
        </a:graphic>
      </p:graphicFrame>
      <p:graphicFrame>
        <p:nvGraphicFramePr>
          <p:cNvPr id="18" name="Object 21"/>
          <p:cNvGraphicFramePr>
            <a:graphicFrameLocks noChangeAspect="1"/>
          </p:cNvGraphicFramePr>
          <p:nvPr/>
        </p:nvGraphicFramePr>
        <p:xfrm>
          <a:off x="4993784" y="1801176"/>
          <a:ext cx="474663" cy="549275"/>
        </p:xfrm>
        <a:graphic>
          <a:graphicData uri="http://schemas.openxmlformats.org/presentationml/2006/ole">
            <mc:AlternateContent xmlns:mc="http://schemas.openxmlformats.org/markup-compatibility/2006">
              <mc:Choice xmlns:v="urn:schemas-microsoft-com:vml" Requires="v">
                <p:oleObj spid="_x0000_s7232" name="" r:id="rId9" imgW="177800" imgH="228600" progId="Equation.3">
                  <p:embed/>
                </p:oleObj>
              </mc:Choice>
              <mc:Fallback>
                <p:oleObj name="" r:id="rId9" imgW="177800" imgH="228600" progId="Equation.3">
                  <p:embed/>
                  <p:pic>
                    <p:nvPicPr>
                      <p:cNvPr id="0" name="Object 21"/>
                      <p:cNvPicPr/>
                      <p:nvPr/>
                    </p:nvPicPr>
                    <p:blipFill>
                      <a:blip r:embed="rId10"/>
                      <a:stretch>
                        <a:fillRect/>
                      </a:stretch>
                    </p:blipFill>
                    <p:spPr>
                      <a:xfrm>
                        <a:off x="4993784" y="1801176"/>
                        <a:ext cx="474663" cy="549275"/>
                      </a:xfrm>
                      <a:prstGeom prst="rect">
                        <a:avLst/>
                      </a:prstGeom>
                      <a:noFill/>
                      <a:ln w="38100">
                        <a:noFill/>
                        <a:miter/>
                      </a:ln>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ext Box 6"/>
          <p:cNvSpPr txBox="1"/>
          <p:nvPr/>
        </p:nvSpPr>
        <p:spPr>
          <a:xfrm>
            <a:off x="593725" y="579438"/>
            <a:ext cx="7577138" cy="52322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50000"/>
              </a:spcBef>
              <a:buClrTx/>
              <a:buSzTx/>
              <a:buFontTx/>
              <a:buNone/>
            </a:pPr>
            <a:r>
              <a:rPr lang="zh-CN" altLang="en-US" sz="2800" dirty="0">
                <a:solidFill>
                  <a:srgbClr val="FF0000"/>
                </a:solidFill>
                <a:latin typeface="Times New Roman" panose="02020603050405020304" pitchFamily="18" charset="0"/>
              </a:rPr>
              <a:t>图像视觉质量和图像直方图的关系</a:t>
            </a:r>
            <a:endParaRPr lang="zh-CN" altLang="en-US" sz="2800" dirty="0">
              <a:solidFill>
                <a:srgbClr val="FF0000"/>
              </a:solidFill>
              <a:latin typeface="Times New Roman" panose="02020603050405020304" pitchFamily="18" charset="0"/>
            </a:endParaRPr>
          </a:p>
        </p:txBody>
      </p:sp>
      <p:pic>
        <p:nvPicPr>
          <p:cNvPr id="36868" name="Picture 3"/>
          <p:cNvPicPr>
            <a:picLocks noChangeAspect="1"/>
          </p:cNvPicPr>
          <p:nvPr/>
        </p:nvPicPr>
        <p:blipFill rotWithShape="1">
          <a:blip r:embed="rId1"/>
          <a:srcRect b="50393"/>
          <a:stretch>
            <a:fillRect/>
          </a:stretch>
        </p:blipFill>
        <p:spPr>
          <a:xfrm>
            <a:off x="120389" y="1224160"/>
            <a:ext cx="4488931" cy="3787554"/>
          </a:xfrm>
          <a:prstGeom prst="rect">
            <a:avLst/>
          </a:prstGeom>
          <a:noFill/>
          <a:ln w="9525">
            <a:noFill/>
          </a:ln>
        </p:spPr>
      </p:pic>
      <p:pic>
        <p:nvPicPr>
          <p:cNvPr id="36869" name="Picture 5"/>
          <p:cNvPicPr>
            <a:picLocks noChangeAspect="1"/>
          </p:cNvPicPr>
          <p:nvPr/>
        </p:nvPicPr>
        <p:blipFill>
          <a:blip r:embed="rId2"/>
          <a:stretch>
            <a:fillRect/>
          </a:stretch>
        </p:blipFill>
        <p:spPr>
          <a:xfrm>
            <a:off x="2080419" y="5011714"/>
            <a:ext cx="4603750" cy="431800"/>
          </a:xfrm>
          <a:prstGeom prst="rect">
            <a:avLst/>
          </a:prstGeom>
          <a:noFill/>
          <a:ln w="9525">
            <a:noFill/>
          </a:ln>
        </p:spPr>
      </p:pic>
      <p:pic>
        <p:nvPicPr>
          <p:cNvPr id="6" name="Picture 3"/>
          <p:cNvPicPr>
            <a:picLocks noChangeAspect="1"/>
          </p:cNvPicPr>
          <p:nvPr/>
        </p:nvPicPr>
        <p:blipFill rotWithShape="1">
          <a:blip r:embed="rId1"/>
          <a:srcRect t="50177"/>
          <a:stretch>
            <a:fillRect/>
          </a:stretch>
        </p:blipFill>
        <p:spPr>
          <a:xfrm>
            <a:off x="4599989" y="1224159"/>
            <a:ext cx="4497356" cy="3811205"/>
          </a:xfrm>
          <a:prstGeom prst="rect">
            <a:avLst/>
          </a:prstGeom>
          <a:noFill/>
          <a:ln w="9525">
            <a:noFill/>
          </a:ln>
        </p:spPr>
      </p:pic>
      <p:sp>
        <p:nvSpPr>
          <p:cNvPr id="2" name="矩形 1"/>
          <p:cNvSpPr/>
          <p:nvPr/>
        </p:nvSpPr>
        <p:spPr>
          <a:xfrm>
            <a:off x="120388" y="5469406"/>
            <a:ext cx="8902313" cy="830997"/>
          </a:xfrm>
          <a:prstGeom prst="rect">
            <a:avLst/>
          </a:prstGeom>
        </p:spPr>
        <p:txBody>
          <a:bodyPr wrap="square">
            <a:spAutoFit/>
          </a:bodyPr>
          <a:lstStyle/>
          <a:p>
            <a:r>
              <a:rPr lang="zh-CN" altLang="en-US" dirty="0"/>
              <a:t>图像的直方图成均匀分布态势，则图像的对比度较高且有比较丰富的灰度</a:t>
            </a:r>
            <a:r>
              <a:rPr lang="zh-CN" altLang="en-US" dirty="0" smtClean="0"/>
              <a:t>色调。</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sp>
        <p:nvSpPr>
          <p:cNvPr id="34822" name="Rectangle 7"/>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sp>
        <p:nvSpPr>
          <p:cNvPr id="34825" name="Rectangle 14"/>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sp>
        <p:nvSpPr>
          <p:cNvPr id="34827" name="Rectangle 16"/>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sp>
        <p:nvSpPr>
          <p:cNvPr id="34829" name="Rectangle 18"/>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pic>
        <p:nvPicPr>
          <p:cNvPr id="2" name="图片 1" descr="ChatGPT Image 2026年4月28日 09_32_55"/>
          <p:cNvPicPr>
            <a:picLocks noChangeAspect="1"/>
          </p:cNvPicPr>
          <p:nvPr/>
        </p:nvPicPr>
        <p:blipFill>
          <a:blip r:embed="rId1"/>
          <a:stretch>
            <a:fillRect/>
          </a:stretch>
        </p:blipFill>
        <p:spPr>
          <a:xfrm>
            <a:off x="4968875" y="1034415"/>
            <a:ext cx="2954655" cy="2216150"/>
          </a:xfrm>
          <a:prstGeom prst="rect">
            <a:avLst/>
          </a:prstGeom>
        </p:spPr>
      </p:pic>
      <p:pic>
        <p:nvPicPr>
          <p:cNvPr id="3" name="图片 2" descr="ChatGPT Image 2026年4月28日 09_32_48"/>
          <p:cNvPicPr>
            <a:picLocks noChangeAspect="1"/>
          </p:cNvPicPr>
          <p:nvPr/>
        </p:nvPicPr>
        <p:blipFill>
          <a:blip r:embed="rId2"/>
          <a:stretch>
            <a:fillRect/>
          </a:stretch>
        </p:blipFill>
        <p:spPr>
          <a:xfrm>
            <a:off x="961390" y="1034415"/>
            <a:ext cx="2895600" cy="2171700"/>
          </a:xfrm>
          <a:prstGeom prst="rect">
            <a:avLst/>
          </a:prstGeom>
        </p:spPr>
      </p:pic>
      <p:pic>
        <p:nvPicPr>
          <p:cNvPr id="4" name="图片 3" descr="histogram_after_equalization"/>
          <p:cNvPicPr>
            <a:picLocks noChangeAspect="1"/>
          </p:cNvPicPr>
          <p:nvPr/>
        </p:nvPicPr>
        <p:blipFill>
          <a:blip r:embed="rId3"/>
          <a:stretch>
            <a:fillRect/>
          </a:stretch>
        </p:blipFill>
        <p:spPr>
          <a:xfrm>
            <a:off x="4513580" y="3663315"/>
            <a:ext cx="4338320" cy="2419985"/>
          </a:xfrm>
          <a:prstGeom prst="rect">
            <a:avLst/>
          </a:prstGeom>
        </p:spPr>
      </p:pic>
      <p:pic>
        <p:nvPicPr>
          <p:cNvPr id="5" name="图片 4" descr="histogram_before_equalization"/>
          <p:cNvPicPr>
            <a:picLocks noChangeAspect="1"/>
          </p:cNvPicPr>
          <p:nvPr/>
        </p:nvPicPr>
        <p:blipFill>
          <a:blip r:embed="rId4"/>
          <a:stretch>
            <a:fillRect/>
          </a:stretch>
        </p:blipFill>
        <p:spPr>
          <a:xfrm>
            <a:off x="175260" y="3673475"/>
            <a:ext cx="4338320" cy="241998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p:cNvSpPr>
          <p:nvPr>
            <p:ph idx="1"/>
          </p:nvPr>
        </p:nvSpPr>
        <p:spPr>
          <a:xfrm>
            <a:off x="457200" y="1381990"/>
            <a:ext cx="8229600" cy="4658447"/>
          </a:xfrm>
        </p:spPr>
        <p:txBody>
          <a:bodyPr vert="horz" wrap="square" lIns="91440" tIns="45720" rIns="91440" bIns="45720" anchor="t" anchorCtr="0"/>
          <a:lstStyle/>
          <a:p>
            <a:pPr eaLnBrk="1" hangingPunct="1"/>
            <a:r>
              <a:rPr lang="zh-CN" altLang="en-US" sz="2800" b="1" dirty="0" smtClean="0">
                <a:solidFill>
                  <a:srgbClr val="7030A0"/>
                </a:solidFill>
              </a:rPr>
              <a:t>直方图均衡化</a:t>
            </a:r>
            <a:r>
              <a:rPr lang="zh-CN" altLang="en-US" sz="2800" dirty="0" smtClean="0"/>
              <a:t>通过</a:t>
            </a:r>
            <a:r>
              <a:rPr lang="zh-CN" altLang="en-US" sz="2800" dirty="0"/>
              <a:t>重新分配像素灰度值，使图像的灰度直方图接近均匀分布，从而增强图像的对比度</a:t>
            </a:r>
            <a:r>
              <a:rPr lang="zh-CN" altLang="en-US" sz="2800" dirty="0" smtClean="0"/>
              <a:t>。</a:t>
            </a:r>
            <a:endParaRPr lang="en-US" altLang="zh-CN" sz="2800" dirty="0" smtClean="0"/>
          </a:p>
          <a:p>
            <a:pPr eaLnBrk="1" hangingPunct="1"/>
            <a:r>
              <a:rPr lang="zh-CN" altLang="en-US" sz="2800" dirty="0" smtClean="0">
                <a:solidFill>
                  <a:srgbClr val="7030A0"/>
                </a:solidFill>
              </a:rPr>
              <a:t>直方图均衡化</a:t>
            </a:r>
            <a:r>
              <a:rPr lang="zh-CN" altLang="en-US" sz="2800" dirty="0" smtClean="0"/>
              <a:t>以寻求一种变换</a:t>
            </a:r>
            <a:endParaRPr lang="en-US" altLang="zh-CN" sz="2800" dirty="0" smtClean="0"/>
          </a:p>
          <a:p>
            <a:pPr marL="0" indent="0" eaLnBrk="1" hangingPunct="1">
              <a:buNone/>
            </a:pPr>
            <a:r>
              <a:rPr lang="zh-CN" altLang="en-US" sz="2800" dirty="0"/>
              <a:t>	</a:t>
            </a:r>
            <a:endParaRPr lang="zh-CN" altLang="en-US" sz="2800" dirty="0"/>
          </a:p>
          <a:p>
            <a:pPr eaLnBrk="1" hangingPunct="1">
              <a:buNone/>
            </a:pPr>
            <a:r>
              <a:rPr lang="zh-CN" altLang="en-US" sz="2800" dirty="0"/>
              <a:t>	使得变换后的图像</a:t>
            </a:r>
            <a:r>
              <a:rPr lang="zh-CN" altLang="en-US" sz="2800" dirty="0" smtClean="0"/>
              <a:t>具有尽可能均匀分布</a:t>
            </a:r>
            <a:r>
              <a:rPr lang="zh-CN" altLang="en-US" sz="2800" dirty="0"/>
              <a:t>的直方图。</a:t>
            </a:r>
            <a:endParaRPr lang="en-US" altLang="zh-CN" sz="2800" dirty="0"/>
          </a:p>
        </p:txBody>
      </p:sp>
      <p:sp>
        <p:nvSpPr>
          <p:cNvPr id="37892"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graphicFrame>
        <p:nvGraphicFramePr>
          <p:cNvPr id="37893" name="Object 4"/>
          <p:cNvGraphicFramePr>
            <a:graphicFrameLocks noChangeAspect="1"/>
          </p:cNvGraphicFramePr>
          <p:nvPr/>
        </p:nvGraphicFramePr>
        <p:xfrm>
          <a:off x="2043113" y="3246438"/>
          <a:ext cx="5056187" cy="579437"/>
        </p:xfrm>
        <a:graphic>
          <a:graphicData uri="http://schemas.openxmlformats.org/presentationml/2006/ole">
            <mc:AlternateContent xmlns:mc="http://schemas.openxmlformats.org/markup-compatibility/2006">
              <mc:Choice xmlns:v="urn:schemas-microsoft-com:vml" Requires="v">
                <p:oleObj spid="_x0000_s9229" name="公式" r:id="rId1" imgW="43281600" imgH="4876800" progId="Equation.3">
                  <p:embed/>
                </p:oleObj>
              </mc:Choice>
              <mc:Fallback>
                <p:oleObj name="公式" r:id="rId1" imgW="43281600" imgH="4876800" progId="Equation.3">
                  <p:embed/>
                  <p:pic>
                    <p:nvPicPr>
                      <p:cNvPr id="0" name="图片 3164"/>
                      <p:cNvPicPr/>
                      <p:nvPr/>
                    </p:nvPicPr>
                    <p:blipFill>
                      <a:blip r:embed="rId2"/>
                      <a:stretch>
                        <a:fillRect/>
                      </a:stretch>
                    </p:blipFill>
                    <p:spPr>
                      <a:xfrm>
                        <a:off x="2043113" y="3246438"/>
                        <a:ext cx="5056187" cy="579437"/>
                      </a:xfrm>
                      <a:prstGeom prst="rect">
                        <a:avLst/>
                      </a:prstGeom>
                      <a:noFill/>
                      <a:ln w="38100">
                        <a:noFill/>
                        <a:miter/>
                      </a:ln>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Text Box 6"/>
          <p:cNvSpPr txBox="1"/>
          <p:nvPr/>
        </p:nvSpPr>
        <p:spPr>
          <a:xfrm>
            <a:off x="812800" y="1190625"/>
            <a:ext cx="7040563" cy="193899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r>
              <a:rPr lang="zh-CN" altLang="en-US" sz="2400" dirty="0">
                <a:solidFill>
                  <a:srgbClr val="000066"/>
                </a:solidFill>
                <a:latin typeface="Times New Roman" panose="02020603050405020304" pitchFamily="18" charset="0"/>
              </a:rPr>
              <a:t>通常</a:t>
            </a:r>
            <a:r>
              <a:rPr lang="en-US" altLang="zh-CN" sz="2400" dirty="0">
                <a:solidFill>
                  <a:srgbClr val="000066"/>
                </a:solidFill>
                <a:latin typeface="Times New Roman" panose="02020603050405020304" pitchFamily="18" charset="0"/>
              </a:rPr>
              <a:t>, </a:t>
            </a:r>
            <a:r>
              <a:rPr lang="zh-CN" altLang="en-US" sz="2400" dirty="0" smtClean="0">
                <a:solidFill>
                  <a:srgbClr val="000066"/>
                </a:solidFill>
                <a:latin typeface="Times New Roman" panose="02020603050405020304" pitchFamily="18" charset="0"/>
              </a:rPr>
              <a:t>变换</a:t>
            </a:r>
            <a:r>
              <a:rPr lang="en-US" altLang="zh-CN" sz="2400" dirty="0" smtClean="0">
                <a:solidFill>
                  <a:srgbClr val="000066"/>
                </a:solidFill>
                <a:latin typeface="Times New Roman" panose="02020603050405020304" pitchFamily="18" charset="0"/>
              </a:rPr>
              <a:t>T(r) </a:t>
            </a:r>
            <a:r>
              <a:rPr lang="zh-CN" altLang="en-US" sz="2400" dirty="0" smtClean="0">
                <a:solidFill>
                  <a:srgbClr val="000066"/>
                </a:solidFill>
                <a:latin typeface="Times New Roman" panose="02020603050405020304" pitchFamily="18" charset="0"/>
              </a:rPr>
              <a:t>必须</a:t>
            </a:r>
            <a:r>
              <a:rPr lang="zh-CN" altLang="en-US" sz="2400" dirty="0">
                <a:solidFill>
                  <a:srgbClr val="000066"/>
                </a:solidFill>
                <a:latin typeface="Times New Roman" panose="02020603050405020304" pitchFamily="18" charset="0"/>
              </a:rPr>
              <a:t>满足下列条件：</a:t>
            </a:r>
            <a:endParaRPr lang="zh-CN" altLang="en-US" sz="2400" dirty="0">
              <a:solidFill>
                <a:srgbClr val="000066"/>
              </a:solidFill>
              <a:latin typeface="Times New Roman" panose="02020603050405020304" pitchFamily="18" charset="0"/>
            </a:endParaRPr>
          </a:p>
          <a:p>
            <a:pPr marL="0" lvl="0" indent="0">
              <a:spcBef>
                <a:spcPct val="0"/>
              </a:spcBef>
              <a:buClrTx/>
              <a:buSzTx/>
              <a:buFontTx/>
              <a:buNone/>
            </a:pPr>
            <a:endParaRPr lang="zh-CN" altLang="en-US" sz="2400" dirty="0">
              <a:latin typeface="Times New Roman" panose="02020603050405020304" pitchFamily="18" charset="0"/>
            </a:endParaRPr>
          </a:p>
          <a:p>
            <a:pPr marL="0" lvl="0" indent="0">
              <a:spcBef>
                <a:spcPct val="0"/>
              </a:spcBef>
              <a:buClrTx/>
              <a:buSzTx/>
              <a:buFontTx/>
              <a:buNone/>
            </a:pPr>
            <a:endParaRPr lang="zh-CN" altLang="en-US" sz="2400" dirty="0">
              <a:latin typeface="Times New Roman" panose="02020603050405020304" pitchFamily="18" charset="0"/>
            </a:endParaRPr>
          </a:p>
          <a:p>
            <a:pPr marL="0" lvl="0" indent="0">
              <a:spcBef>
                <a:spcPct val="0"/>
              </a:spcBef>
              <a:buClrTx/>
              <a:buSzTx/>
              <a:buFontTx/>
              <a:buNone/>
            </a:pPr>
            <a:endParaRPr lang="zh-CN" altLang="en-US" sz="2400" dirty="0">
              <a:latin typeface="Times New Roman" panose="02020603050405020304" pitchFamily="18" charset="0"/>
            </a:endParaRPr>
          </a:p>
          <a:p>
            <a:pPr marL="0" lvl="0" indent="0">
              <a:spcBef>
                <a:spcPct val="0"/>
              </a:spcBef>
              <a:buClrTx/>
              <a:buSzTx/>
              <a:buFontTx/>
              <a:buNone/>
            </a:pPr>
            <a:endParaRPr lang="zh-CN" altLang="en-US" sz="2400" dirty="0">
              <a:latin typeface="Times New Roman" panose="02020603050405020304" pitchFamily="18" charset="0"/>
            </a:endParaRPr>
          </a:p>
        </p:txBody>
      </p:sp>
      <p:sp>
        <p:nvSpPr>
          <p:cNvPr id="38917" name="Rectangle 8"/>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sp>
        <p:nvSpPr>
          <p:cNvPr id="38918" name="Text Box 10"/>
          <p:cNvSpPr txBox="1"/>
          <p:nvPr/>
        </p:nvSpPr>
        <p:spPr>
          <a:xfrm>
            <a:off x="913130" y="2958465"/>
            <a:ext cx="738663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50000"/>
              </a:spcBef>
              <a:buClrTx/>
              <a:buSzTx/>
              <a:buFontTx/>
              <a:buNone/>
            </a:pPr>
            <a:r>
              <a:rPr lang="zh-CN" altLang="en-US" sz="2400" dirty="0">
                <a:solidFill>
                  <a:srgbClr val="000066"/>
                </a:solidFill>
                <a:latin typeface="Times New Roman" panose="02020603050405020304" pitchFamily="18" charset="0"/>
              </a:rPr>
              <a:t>满足上述要求的函数</a:t>
            </a:r>
            <a:r>
              <a:rPr lang="zh-CN" altLang="en-US" sz="2400" dirty="0" smtClean="0">
                <a:solidFill>
                  <a:srgbClr val="000066"/>
                </a:solidFill>
                <a:latin typeface="Times New Roman" panose="02020603050405020304" pitchFamily="18" charset="0"/>
              </a:rPr>
              <a:t>曲线为：</a:t>
            </a:r>
            <a:endParaRPr lang="en-US" altLang="zh-CN" sz="2400" dirty="0">
              <a:solidFill>
                <a:srgbClr val="000066"/>
              </a:solidFill>
              <a:latin typeface="Times New Roman" panose="02020603050405020304" pitchFamily="18" charset="0"/>
            </a:endParaRPr>
          </a:p>
        </p:txBody>
      </p:sp>
      <p:graphicFrame>
        <p:nvGraphicFramePr>
          <p:cNvPr id="38919" name="对象 1"/>
          <p:cNvGraphicFramePr>
            <a:graphicFrameLocks noChangeAspect="1"/>
          </p:cNvGraphicFramePr>
          <p:nvPr/>
        </p:nvGraphicFramePr>
        <p:xfrm>
          <a:off x="913130" y="1725295"/>
          <a:ext cx="6473825" cy="927100"/>
        </p:xfrm>
        <a:graphic>
          <a:graphicData uri="http://schemas.openxmlformats.org/presentationml/2006/ole">
            <mc:AlternateContent xmlns:mc="http://schemas.openxmlformats.org/markup-compatibility/2006">
              <mc:Choice xmlns:v="urn:schemas-microsoft-com:vml" Requires="v">
                <p:oleObj spid="_x0000_s10253" name="公式" r:id="rId1" imgW="3974465" imgH="584200" progId="Equation.3">
                  <p:embed/>
                </p:oleObj>
              </mc:Choice>
              <mc:Fallback>
                <p:oleObj name="公式" r:id="rId1" imgW="3974465" imgH="584200" progId="Equation.3">
                  <p:embed/>
                  <p:pic>
                    <p:nvPicPr>
                      <p:cNvPr id="0" name="图片 3171"/>
                      <p:cNvPicPr/>
                      <p:nvPr/>
                    </p:nvPicPr>
                    <p:blipFill>
                      <a:blip r:embed="rId2"/>
                      <a:stretch>
                        <a:fillRect/>
                      </a:stretch>
                    </p:blipFill>
                    <p:spPr>
                      <a:xfrm>
                        <a:off x="913130" y="1725295"/>
                        <a:ext cx="6473825" cy="927100"/>
                      </a:xfrm>
                      <a:prstGeom prst="rect">
                        <a:avLst/>
                      </a:prstGeom>
                      <a:noFill/>
                      <a:ln w="38100">
                        <a:noFill/>
                        <a:miter/>
                      </a:ln>
                    </p:spPr>
                  </p:pic>
                </p:oleObj>
              </mc:Fallback>
            </mc:AlternateContent>
          </a:graphicData>
        </a:graphic>
      </p:graphicFrame>
      <p:graphicFrame>
        <p:nvGraphicFramePr>
          <p:cNvPr id="2" name="对象 1"/>
          <p:cNvGraphicFramePr/>
          <p:nvPr/>
        </p:nvGraphicFramePr>
        <p:xfrm>
          <a:off x="2560955" y="3581400"/>
          <a:ext cx="3361055" cy="2732405"/>
        </p:xfrm>
        <a:graphic>
          <a:graphicData uri="http://schemas.openxmlformats.org/presentationml/2006/ole">
            <mc:AlternateContent xmlns:mc="http://schemas.openxmlformats.org/markup-compatibility/2006">
              <mc:Choice xmlns:v="urn:schemas-microsoft-com:vml" Requires="v">
                <p:oleObj spid="_x0000_s3" name="" r:id="rId3" imgW="2095500" imgH="1657350" progId="Paint.Picture">
                  <p:embed/>
                </p:oleObj>
              </mc:Choice>
              <mc:Fallback>
                <p:oleObj name="" r:id="rId3" imgW="2095500" imgH="1657350" progId="Paint.Picture">
                  <p:embed/>
                  <p:pic>
                    <p:nvPicPr>
                      <p:cNvPr id="0" name="图片 2"/>
                      <p:cNvPicPr/>
                      <p:nvPr/>
                    </p:nvPicPr>
                    <p:blipFill>
                      <a:blip r:embed="rId4"/>
                      <a:stretch>
                        <a:fillRect/>
                      </a:stretch>
                    </p:blipFill>
                    <p:spPr>
                      <a:xfrm>
                        <a:off x="2560955" y="3581400"/>
                        <a:ext cx="3361055" cy="2732405"/>
                      </a:xfrm>
                      <a:prstGeom prst="rect">
                        <a:avLst/>
                      </a:prstGeom>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33844" y="1322154"/>
            <a:ext cx="8229601" cy="829945"/>
          </a:xfrm>
          <a:prstGeom prst="rect">
            <a:avLst/>
          </a:prstGeom>
        </p:spPr>
        <p:txBody>
          <a:bodyPr wrap="square">
            <a:spAutoFit/>
          </a:bodyPr>
          <a:lstStyle/>
          <a:p>
            <a:pPr eaLnBrk="1" hangingPunct="1"/>
            <a:r>
              <a:rPr lang="zh-CN" altLang="en-US" dirty="0" smtClean="0"/>
              <a:t>为实现直方图均衡化单调递增，引入</a:t>
            </a:r>
            <a:r>
              <a:rPr lang="zh-CN" altLang="en-US" dirty="0"/>
              <a:t>累计分布函数（</a:t>
            </a:r>
            <a:r>
              <a:rPr lang="en-US" altLang="zh-CN" dirty="0"/>
              <a:t>CDF</a:t>
            </a:r>
            <a:r>
              <a:rPr lang="zh-CN" altLang="en-US" dirty="0" smtClean="0"/>
              <a:t>）。</a:t>
            </a:r>
            <a:r>
              <a:rPr lang="zh-CN" altLang="en-US" dirty="0"/>
              <a:t>其能</a:t>
            </a:r>
            <a:r>
              <a:rPr lang="zh-CN" altLang="en-US" dirty="0"/>
              <a:t>保持原始灰度级的相对顺序尽可能不变。</a:t>
            </a:r>
            <a:endParaRPr lang="en-US" altLang="zh-CN" dirty="0"/>
          </a:p>
        </p:txBody>
      </p:sp>
      <p:sp>
        <p:nvSpPr>
          <p:cNvPr id="5" name="文本占位符 2"/>
          <p:cNvSpPr>
            <a:spLocks noGrp="1"/>
          </p:cNvSpPr>
          <p:nvPr/>
        </p:nvSpPr>
        <p:spPr>
          <a:xfrm>
            <a:off x="826452" y="2688737"/>
            <a:ext cx="8578215" cy="2794371"/>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marL="0" indent="0">
              <a:buNone/>
            </a:pPr>
            <a:r>
              <a:rPr lang="en-US" altLang="zh-CN" sz="2395" dirty="0" smtClean="0">
                <a:cs typeface="+mn-ea"/>
              </a:rPr>
              <a:t>CDF </a:t>
            </a:r>
            <a:r>
              <a:rPr lang="zh-CN" altLang="en-US" sz="2395" dirty="0">
                <a:cs typeface="+mn-ea"/>
              </a:rPr>
              <a:t>表示灰度小于或等于给定灰度级的像素的总概率。</a:t>
            </a:r>
            <a:endParaRPr lang="zh-CN" altLang="en-US" sz="2395" dirty="0">
              <a:cs typeface="+mn-ea"/>
            </a:endParaRPr>
          </a:p>
          <a:p>
            <a:pPr marL="457200" lvl="1" indent="0">
              <a:buNone/>
            </a:pPr>
            <a:endParaRPr lang="zh-CN" altLang="en-US" dirty="0"/>
          </a:p>
        </p:txBody>
      </p:sp>
      <p:graphicFrame>
        <p:nvGraphicFramePr>
          <p:cNvPr id="6" name="对象 5"/>
          <p:cNvGraphicFramePr/>
          <p:nvPr/>
        </p:nvGraphicFramePr>
        <p:xfrm>
          <a:off x="1682000" y="3215525"/>
          <a:ext cx="2668905" cy="943610"/>
        </p:xfrm>
        <a:graphic>
          <a:graphicData uri="http://schemas.openxmlformats.org/presentationml/2006/ole">
            <mc:AlternateContent xmlns:mc="http://schemas.openxmlformats.org/markup-compatibility/2006">
              <mc:Choice xmlns:v="urn:schemas-microsoft-com:vml" Requires="v">
                <p:oleObj spid="_x0000_s20490" name="" r:id="rId1" imgW="2667000" imgH="942975" progId="Paint.Picture">
                  <p:embed/>
                </p:oleObj>
              </mc:Choice>
              <mc:Fallback>
                <p:oleObj name="" r:id="rId1" imgW="2667000" imgH="942975" progId="Paint.Picture">
                  <p:embed/>
                  <p:pic>
                    <p:nvPicPr>
                      <p:cNvPr id="0" name="对象 6"/>
                      <p:cNvPicPr/>
                      <p:nvPr/>
                    </p:nvPicPr>
                    <p:blipFill>
                      <a:blip r:embed="rId2"/>
                      <a:stretch>
                        <a:fillRect/>
                      </a:stretch>
                    </p:blipFill>
                    <p:spPr>
                      <a:xfrm>
                        <a:off x="1682000" y="3215525"/>
                        <a:ext cx="2668905" cy="943610"/>
                      </a:xfrm>
                      <a:prstGeom prst="rect">
                        <a:avLst/>
                      </a:prstGeom>
                    </p:spPr>
                  </p:pic>
                </p:oleObj>
              </mc:Fallback>
            </mc:AlternateContent>
          </a:graphicData>
        </a:graphic>
      </p:graphicFrame>
      <p:graphicFrame>
        <p:nvGraphicFramePr>
          <p:cNvPr id="7" name="对象 6"/>
          <p:cNvGraphicFramePr/>
          <p:nvPr/>
        </p:nvGraphicFramePr>
        <p:xfrm>
          <a:off x="4886960" y="3404249"/>
          <a:ext cx="3402965" cy="1363345"/>
        </p:xfrm>
        <a:graphic>
          <a:graphicData uri="http://schemas.openxmlformats.org/presentationml/2006/ole">
            <mc:AlternateContent xmlns:mc="http://schemas.openxmlformats.org/markup-compatibility/2006">
              <mc:Choice xmlns:v="urn:schemas-microsoft-com:vml" Requires="v">
                <p:oleObj spid="_x0000_s20491" name="" r:id="rId3" imgW="3400425" imgH="1362075" progId="Paint.Picture">
                  <p:embed/>
                </p:oleObj>
              </mc:Choice>
              <mc:Fallback>
                <p:oleObj name="" r:id="rId3" imgW="3400425" imgH="1362075" progId="Paint.Picture">
                  <p:embed/>
                  <p:pic>
                    <p:nvPicPr>
                      <p:cNvPr id="0" name="对象 8"/>
                      <p:cNvPicPr/>
                      <p:nvPr/>
                    </p:nvPicPr>
                    <p:blipFill>
                      <a:blip r:embed="rId4"/>
                      <a:stretch>
                        <a:fillRect/>
                      </a:stretch>
                    </p:blipFill>
                    <p:spPr>
                      <a:xfrm>
                        <a:off x="4886960" y="3404249"/>
                        <a:ext cx="3402965" cy="1363345"/>
                      </a:xfrm>
                      <a:prstGeom prst="rect">
                        <a:avLst/>
                      </a:prstGeom>
                    </p:spPr>
                  </p:pic>
                </p:oleObj>
              </mc:Fallback>
            </mc:AlternateContent>
          </a:graphicData>
        </a:graphic>
      </p:graphicFrame>
      <p:sp>
        <p:nvSpPr>
          <p:cNvPr id="8" name="矩形 7"/>
          <p:cNvSpPr/>
          <p:nvPr/>
        </p:nvSpPr>
        <p:spPr>
          <a:xfrm>
            <a:off x="633844" y="748421"/>
            <a:ext cx="3773170" cy="521970"/>
          </a:xfrm>
          <a:prstGeom prst="rect">
            <a:avLst/>
          </a:prstGeom>
        </p:spPr>
        <p:txBody>
          <a:bodyPr wrap="none">
            <a:spAutoFit/>
          </a:bodyPr>
          <a:lstStyle/>
          <a:p>
            <a:r>
              <a:rPr lang="zh-CN" altLang="en-US" sz="2800" dirty="0">
                <a:solidFill>
                  <a:srgbClr val="C00000"/>
                </a:solidFill>
                <a:cs typeface="+mn-ea"/>
              </a:rPr>
              <a:t>累积分布函数（</a:t>
            </a:r>
            <a:r>
              <a:rPr lang="en-US" altLang="zh-CN" sz="2800" dirty="0">
                <a:solidFill>
                  <a:srgbClr val="C00000"/>
                </a:solidFill>
                <a:cs typeface="+mn-ea"/>
              </a:rPr>
              <a:t>CDF</a:t>
            </a:r>
            <a:r>
              <a:rPr lang="zh-CN" altLang="en-US" sz="2800" dirty="0">
                <a:solidFill>
                  <a:srgbClr val="C00000"/>
                </a:solidFill>
                <a:cs typeface="+mn-ea"/>
              </a:rPr>
              <a:t>）</a:t>
            </a:r>
            <a:endParaRPr lang="en-US" altLang="zh-CN" sz="2800" dirty="0">
              <a:solidFill>
                <a:srgbClr val="C00000"/>
              </a:solidFill>
              <a:cs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p:nvPr/>
        </p:nvSpPr>
        <p:spPr>
          <a:xfrm>
            <a:off x="725805" y="6131560"/>
            <a:ext cx="7128510"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None/>
            </a:pPr>
            <a:r>
              <a:rPr lang="zh-CN" altLang="en-US" sz="2800" dirty="0">
                <a:latin typeface="宋体" panose="02010600030101010101" pitchFamily="2" charset="-122"/>
              </a:rPr>
              <a:t>归－化直方图</a:t>
            </a:r>
            <a:r>
              <a:rPr lang="zh-CN" altLang="en-US" sz="2800" dirty="0">
                <a:latin typeface="宋体" panose="02010600030101010101" pitchFamily="2" charset="-122"/>
              </a:rPr>
              <a:t>和累积分布函数</a:t>
            </a:r>
            <a:r>
              <a:rPr lang="zh-CN" altLang="en-US" sz="1400" dirty="0">
                <a:latin typeface="Tahoma" panose="020B0604030504040204" pitchFamily="34" charset="0"/>
              </a:rPr>
              <a:t> </a:t>
            </a:r>
            <a:endParaRPr lang="zh-CN" altLang="en-US" sz="2400" dirty="0">
              <a:latin typeface="Times New Roman" panose="02020603050405020304" pitchFamily="18" charset="0"/>
            </a:endParaRPr>
          </a:p>
        </p:txBody>
      </p:sp>
      <p:graphicFrame>
        <p:nvGraphicFramePr>
          <p:cNvPr id="54275" name="Object 3"/>
          <p:cNvGraphicFramePr>
            <a:graphicFrameLocks noChangeAspect="1"/>
          </p:cNvGraphicFramePr>
          <p:nvPr/>
        </p:nvGraphicFramePr>
        <p:xfrm>
          <a:off x="725488" y="452755"/>
          <a:ext cx="7127875" cy="5595938"/>
        </p:xfrm>
        <a:graphic>
          <a:graphicData uri="http://schemas.openxmlformats.org/presentationml/2006/ole">
            <mc:AlternateContent xmlns:mc="http://schemas.openxmlformats.org/markup-compatibility/2006">
              <mc:Choice xmlns:v="urn:schemas-microsoft-com:vml" Requires="v">
                <p:oleObj spid="_x0000_s16396" name="" r:id="rId1" imgW="12700000" imgH="9969500" progId="Photoshop.Image.5">
                  <p:embed/>
                </p:oleObj>
              </mc:Choice>
              <mc:Fallback>
                <p:oleObj name="" r:id="rId1" imgW="12700000" imgH="9969500" progId="Photoshop.Image.5">
                  <p:embed/>
                  <p:pic>
                    <p:nvPicPr>
                      <p:cNvPr id="0" name="图片 3136"/>
                      <p:cNvPicPr/>
                      <p:nvPr/>
                    </p:nvPicPr>
                    <p:blipFill>
                      <a:blip r:embed="rId2"/>
                      <a:stretch>
                        <a:fillRect/>
                      </a:stretch>
                    </p:blipFill>
                    <p:spPr>
                      <a:xfrm>
                        <a:off x="725488" y="452755"/>
                        <a:ext cx="7127875" cy="5595938"/>
                      </a:xfrm>
                      <a:prstGeom prst="rect">
                        <a:avLst/>
                      </a:prstGeom>
                      <a:noFill/>
                      <a:ln w="38100">
                        <a:noFill/>
                        <a:miter/>
                      </a:ln>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nvSpPr>
        <p:spPr>
          <a:xfrm>
            <a:off x="576177" y="721333"/>
            <a:ext cx="8183360" cy="3886200"/>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marL="0" indent="0">
              <a:buNone/>
            </a:pPr>
            <a:r>
              <a:rPr lang="zh-CN" altLang="en-US" sz="2800" dirty="0" smtClean="0">
                <a:solidFill>
                  <a:srgbClr val="C00000"/>
                </a:solidFill>
              </a:rPr>
              <a:t>变换函数</a:t>
            </a:r>
            <a:endParaRPr lang="en-US" altLang="zh-CN" sz="2800" dirty="0" smtClean="0">
              <a:solidFill>
                <a:srgbClr val="C00000"/>
              </a:solidFill>
            </a:endParaRPr>
          </a:p>
          <a:p>
            <a:pPr marL="0" indent="0">
              <a:buNone/>
            </a:pPr>
            <a:r>
              <a:rPr lang="en-US" altLang="zh-CN" sz="2400" dirty="0"/>
              <a:t>       </a:t>
            </a:r>
            <a:r>
              <a:rPr lang="zh-CN" altLang="en-US" sz="2400" dirty="0"/>
              <a:t>直方图均衡</a:t>
            </a:r>
            <a:r>
              <a:rPr lang="zh-CN" altLang="en-US" sz="2400" dirty="0" smtClean="0"/>
              <a:t>化利用</a:t>
            </a:r>
            <a:r>
              <a:rPr lang="zh-CN" altLang="en-US" sz="2400" dirty="0">
                <a:sym typeface="+mn-ea"/>
              </a:rPr>
              <a:t>累计分布函数（</a:t>
            </a:r>
            <a:r>
              <a:rPr lang="en-US" altLang="zh-CN" sz="2400" dirty="0">
                <a:sym typeface="+mn-ea"/>
              </a:rPr>
              <a:t>CDF</a:t>
            </a:r>
            <a:r>
              <a:rPr lang="zh-CN" altLang="en-US" sz="2400" dirty="0" smtClean="0">
                <a:sym typeface="+mn-ea"/>
              </a:rPr>
              <a:t>）</a:t>
            </a:r>
            <a:r>
              <a:rPr lang="zh-CN" altLang="en-US" sz="2400" dirty="0" smtClean="0"/>
              <a:t>做函数</a:t>
            </a:r>
            <a:r>
              <a:rPr lang="zh-CN" altLang="en-US" sz="2400" dirty="0"/>
              <a:t>变换，在保持灰度级相对顺序的同时，将灰度值尽可能均匀地映射到整个灰度范围。</a:t>
            </a:r>
            <a:endParaRPr lang="zh-CN" altLang="en-US" sz="2400" dirty="0"/>
          </a:p>
        </p:txBody>
      </p:sp>
      <p:graphicFrame>
        <p:nvGraphicFramePr>
          <p:cNvPr id="5" name="对象 4"/>
          <p:cNvGraphicFramePr/>
          <p:nvPr/>
        </p:nvGraphicFramePr>
        <p:xfrm>
          <a:off x="1122680" y="3538106"/>
          <a:ext cx="5605145" cy="1496695"/>
        </p:xfrm>
        <a:graphic>
          <a:graphicData uri="http://schemas.openxmlformats.org/presentationml/2006/ole">
            <mc:AlternateContent xmlns:mc="http://schemas.openxmlformats.org/markup-compatibility/2006">
              <mc:Choice xmlns:v="urn:schemas-microsoft-com:vml" Requires="v">
                <p:oleObj spid="_x0000_s13353" name="" r:id="rId1" imgW="5600700" imgH="1495425" progId="Paint.Picture">
                  <p:embed/>
                </p:oleObj>
              </mc:Choice>
              <mc:Fallback>
                <p:oleObj name="" r:id="rId1" imgW="5600700" imgH="1495425" progId="Paint.Picture">
                  <p:embed/>
                  <p:pic>
                    <p:nvPicPr>
                      <p:cNvPr id="0" name="图片 5"/>
                      <p:cNvPicPr/>
                      <p:nvPr/>
                    </p:nvPicPr>
                    <p:blipFill>
                      <a:blip r:embed="rId2"/>
                      <a:stretch>
                        <a:fillRect/>
                      </a:stretch>
                    </p:blipFill>
                    <p:spPr>
                      <a:xfrm>
                        <a:off x="1122680" y="3538106"/>
                        <a:ext cx="5605145" cy="1496695"/>
                      </a:xfrm>
                      <a:prstGeom prst="rect">
                        <a:avLst/>
                      </a:prstGeom>
                    </p:spPr>
                  </p:pic>
                </p:oleObj>
              </mc:Fallback>
            </mc:AlternateContent>
          </a:graphicData>
        </a:graphic>
      </p:graphicFrame>
      <p:graphicFrame>
        <p:nvGraphicFramePr>
          <p:cNvPr id="7" name="对象 6"/>
          <p:cNvGraphicFramePr/>
          <p:nvPr/>
        </p:nvGraphicFramePr>
        <p:xfrm>
          <a:off x="1122680" y="5060778"/>
          <a:ext cx="6424930" cy="981710"/>
        </p:xfrm>
        <a:graphic>
          <a:graphicData uri="http://schemas.openxmlformats.org/presentationml/2006/ole">
            <mc:AlternateContent xmlns:mc="http://schemas.openxmlformats.org/markup-compatibility/2006">
              <mc:Choice xmlns:v="urn:schemas-microsoft-com:vml" Requires="v">
                <p:oleObj spid="_x0000_s13354" name="" r:id="rId3" imgW="6419850" imgH="981075" progId="Paint.Picture">
                  <p:embed/>
                </p:oleObj>
              </mc:Choice>
              <mc:Fallback>
                <p:oleObj name="" r:id="rId3" imgW="6419850" imgH="981075" progId="Paint.Picture">
                  <p:embed/>
                  <p:pic>
                    <p:nvPicPr>
                      <p:cNvPr id="0" name="图片 7"/>
                      <p:cNvPicPr/>
                      <p:nvPr/>
                    </p:nvPicPr>
                    <p:blipFill>
                      <a:blip r:embed="rId4"/>
                      <a:stretch>
                        <a:fillRect/>
                      </a:stretch>
                    </p:blipFill>
                    <p:spPr>
                      <a:xfrm>
                        <a:off x="1122680" y="5060778"/>
                        <a:ext cx="6424930" cy="981710"/>
                      </a:xfrm>
                      <a:prstGeom prst="rect">
                        <a:avLst/>
                      </a:prstGeom>
                    </p:spPr>
                  </p:pic>
                </p:oleObj>
              </mc:Fallback>
            </mc:AlternateContent>
          </a:graphicData>
        </a:graphic>
      </p:graphicFrame>
      <p:graphicFrame>
        <p:nvGraphicFramePr>
          <p:cNvPr id="4" name="对象 3"/>
          <p:cNvGraphicFramePr/>
          <p:nvPr/>
        </p:nvGraphicFramePr>
        <p:xfrm>
          <a:off x="1155065" y="2504440"/>
          <a:ext cx="5395595" cy="1074420"/>
        </p:xfrm>
        <a:graphic>
          <a:graphicData uri="http://schemas.openxmlformats.org/presentationml/2006/ole">
            <mc:AlternateContent xmlns:mc="http://schemas.openxmlformats.org/markup-compatibility/2006">
              <mc:Choice xmlns:v="urn:schemas-microsoft-com:vml" Requires="v">
                <p:oleObj spid="_x0000_s6" name="" r:id="rId5" imgW="3854450" imgH="698500" progId="Paint.Picture">
                  <p:embed/>
                </p:oleObj>
              </mc:Choice>
              <mc:Fallback>
                <p:oleObj name="" r:id="rId5" imgW="3854450" imgH="698500" progId="Paint.Picture">
                  <p:embed/>
                  <p:pic>
                    <p:nvPicPr>
                      <p:cNvPr id="0" name="图片 5"/>
                      <p:cNvPicPr/>
                      <p:nvPr/>
                    </p:nvPicPr>
                    <p:blipFill>
                      <a:blip r:embed="rId6"/>
                      <a:stretch>
                        <a:fillRect/>
                      </a:stretch>
                    </p:blipFill>
                    <p:spPr>
                      <a:xfrm>
                        <a:off x="1155065" y="2504440"/>
                        <a:ext cx="5395595" cy="1074420"/>
                      </a:xfrm>
                      <a:prstGeom prst="rect">
                        <a:avLst/>
                      </a:prstGeom>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9" name="Rectangle 9"/>
          <p:cNvSpPr/>
          <p:nvPr/>
        </p:nvSpPr>
        <p:spPr>
          <a:xfrm>
            <a:off x="860425" y="5212080"/>
            <a:ext cx="7918450" cy="4616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dirty="0">
                <a:latin typeface="Tahoma" panose="020B0604030504040204" pitchFamily="34" charset="0"/>
              </a:rPr>
              <a:t>4</a:t>
            </a:r>
            <a:r>
              <a:rPr lang="zh-CN" altLang="en-US" sz="2400" dirty="0">
                <a:latin typeface="Tahoma" panose="020B0604030504040204" pitchFamily="34" charset="0"/>
              </a:rPr>
              <a:t>）将    </a:t>
            </a:r>
            <a:r>
              <a:rPr lang="zh-CN" altLang="en-US" sz="2400" dirty="0" smtClean="0">
                <a:latin typeface="Tahoma" panose="020B0604030504040204" pitchFamily="34" charset="0"/>
              </a:rPr>
              <a:t>四舍五入转换</a:t>
            </a:r>
            <a:r>
              <a:rPr lang="zh-CN" altLang="en-US" sz="2400" dirty="0">
                <a:latin typeface="Tahoma" panose="020B0604030504040204" pitchFamily="34" charset="0"/>
              </a:rPr>
              <a:t>为标准灰度级别。</a:t>
            </a:r>
            <a:endParaRPr lang="zh-CN" altLang="en-US" sz="2400" dirty="0">
              <a:latin typeface="Tahoma" panose="020B0604030504040204" pitchFamily="34" charset="0"/>
            </a:endParaRPr>
          </a:p>
        </p:txBody>
      </p:sp>
      <p:sp>
        <p:nvSpPr>
          <p:cNvPr id="45059" name="Rectangle 2"/>
          <p:cNvSpPr>
            <a:spLocks noGrp="1"/>
          </p:cNvSpPr>
          <p:nvPr>
            <p:ph type="title"/>
          </p:nvPr>
        </p:nvSpPr>
        <p:spPr>
          <a:xfrm>
            <a:off x="685801" y="278130"/>
            <a:ext cx="7923212" cy="1143000"/>
          </a:xfrm>
        </p:spPr>
        <p:txBody>
          <a:bodyPr vert="horz" wrap="square" lIns="91440" tIns="45720" rIns="91440" bIns="45720" anchor="ctr" anchorCtr="0"/>
          <a:lstStyle/>
          <a:p>
            <a:pPr eaLnBrk="1" hangingPunct="1"/>
            <a:r>
              <a:rPr lang="zh-CN" altLang="en-US" sz="2800" dirty="0" smtClean="0">
                <a:solidFill>
                  <a:srgbClr val="C00000"/>
                </a:solidFill>
                <a:latin typeface="宋体" panose="02010600030101010101" pitchFamily="2" charset="-122"/>
              </a:rPr>
              <a:t>直方图均衡</a:t>
            </a:r>
            <a:r>
              <a:rPr lang="zh-CN" altLang="en-US" sz="2800" dirty="0">
                <a:solidFill>
                  <a:srgbClr val="C00000"/>
                </a:solidFill>
                <a:latin typeface="宋体" panose="02010600030101010101" pitchFamily="2" charset="-122"/>
              </a:rPr>
              <a:t>化步骤</a:t>
            </a:r>
            <a:r>
              <a:rPr lang="en-US" altLang="zh-CN" sz="2800" dirty="0">
                <a:solidFill>
                  <a:srgbClr val="C00000"/>
                </a:solidFill>
                <a:latin typeface="宋体" panose="02010600030101010101" pitchFamily="2" charset="-122"/>
              </a:rPr>
              <a:t>:</a:t>
            </a:r>
            <a:endParaRPr lang="en-US" altLang="zh-CN" sz="2800" dirty="0">
              <a:solidFill>
                <a:srgbClr val="C00000"/>
              </a:solidFill>
              <a:latin typeface="宋体" panose="02010600030101010101" pitchFamily="2" charset="-122"/>
            </a:endParaRPr>
          </a:p>
        </p:txBody>
      </p:sp>
      <p:sp>
        <p:nvSpPr>
          <p:cNvPr id="240643" name="Rectangle 3"/>
          <p:cNvSpPr>
            <a:spLocks noGrp="1"/>
          </p:cNvSpPr>
          <p:nvPr>
            <p:ph type="body" sz="half" idx="1"/>
          </p:nvPr>
        </p:nvSpPr>
        <p:spPr>
          <a:xfrm>
            <a:off x="909017" y="1269167"/>
            <a:ext cx="7696200" cy="3611563"/>
          </a:xfrm>
        </p:spPr>
        <p:txBody>
          <a:bodyPr vert="horz" wrap="square" lIns="91440" tIns="45720" rIns="91440" bIns="45720" anchor="t" anchorCtr="0"/>
          <a:lstStyle/>
          <a:p>
            <a:pPr eaLnBrk="1" hangingPunct="1">
              <a:buClr>
                <a:schemeClr val="bg2"/>
              </a:buClr>
              <a:buSzPct val="75000"/>
              <a:buFont typeface="Wingdings" panose="05000000000000000000" pitchFamily="2" charset="2"/>
              <a:buNone/>
            </a:pPr>
            <a:r>
              <a:rPr lang="en-US" altLang="zh-CN" sz="2400" dirty="0"/>
              <a:t>1</a:t>
            </a:r>
            <a:r>
              <a:rPr lang="zh-CN" altLang="en-US" sz="2400" dirty="0"/>
              <a:t>）概率密度函数</a:t>
            </a:r>
            <a:r>
              <a:rPr lang="zh-CN" altLang="en-US" sz="2400" dirty="0" smtClean="0"/>
              <a:t>：</a:t>
            </a:r>
            <a:endParaRPr lang="en-US" altLang="zh-CN" sz="2400" dirty="0" smtClean="0"/>
          </a:p>
          <a:p>
            <a:pPr eaLnBrk="1" hangingPunct="1">
              <a:buClr>
                <a:schemeClr val="bg2"/>
              </a:buClr>
              <a:buSzPct val="75000"/>
              <a:buFont typeface="Wingdings" panose="05000000000000000000" pitchFamily="2" charset="2"/>
              <a:buNone/>
            </a:pPr>
            <a:endParaRPr lang="en-US" altLang="zh-CN" sz="2400" dirty="0" smtClean="0"/>
          </a:p>
          <a:p>
            <a:pPr eaLnBrk="1" hangingPunct="1">
              <a:buClr>
                <a:schemeClr val="bg2"/>
              </a:buClr>
              <a:buSzPct val="75000"/>
              <a:buFont typeface="Wingdings" panose="05000000000000000000" pitchFamily="2" charset="2"/>
              <a:buNone/>
            </a:pPr>
            <a:endParaRPr lang="zh-CN" altLang="en-US" sz="2400" dirty="0"/>
          </a:p>
          <a:p>
            <a:pPr eaLnBrk="1" hangingPunct="1">
              <a:buClr>
                <a:schemeClr val="bg2"/>
              </a:buClr>
              <a:buSzPct val="75000"/>
              <a:buFont typeface="Wingdings" panose="05000000000000000000" pitchFamily="2" charset="2"/>
              <a:buNone/>
            </a:pPr>
            <a:r>
              <a:rPr lang="en-US" altLang="zh-CN" sz="2400" dirty="0"/>
              <a:t>2</a:t>
            </a:r>
            <a:r>
              <a:rPr lang="zh-CN" altLang="en-US" sz="2400" dirty="0"/>
              <a:t>）累积分布函数 ：</a:t>
            </a:r>
            <a:endParaRPr lang="zh-CN" altLang="en-US" sz="2400" dirty="0"/>
          </a:p>
          <a:p>
            <a:pPr eaLnBrk="1" hangingPunct="1">
              <a:buClr>
                <a:schemeClr val="bg2"/>
              </a:buClr>
              <a:buSzPct val="75000"/>
              <a:buFont typeface="Wingdings" panose="05000000000000000000" pitchFamily="2" charset="2"/>
              <a:buNone/>
            </a:pPr>
            <a:endParaRPr lang="zh-CN" altLang="en-US" sz="2400" dirty="0"/>
          </a:p>
          <a:p>
            <a:pPr eaLnBrk="1" hangingPunct="1">
              <a:buClr>
                <a:schemeClr val="bg2"/>
              </a:buClr>
              <a:buSzPct val="75000"/>
              <a:buFont typeface="Wingdings" panose="05000000000000000000" pitchFamily="2" charset="2"/>
              <a:buNone/>
            </a:pPr>
            <a:endParaRPr lang="zh-CN" altLang="en-US" sz="2400" dirty="0"/>
          </a:p>
          <a:p>
            <a:pPr eaLnBrk="1" hangingPunct="1">
              <a:buClr>
                <a:schemeClr val="bg2"/>
              </a:buClr>
              <a:buSzPct val="75000"/>
              <a:buFont typeface="Wingdings" panose="05000000000000000000" pitchFamily="2" charset="2"/>
              <a:buNone/>
            </a:pPr>
            <a:r>
              <a:rPr lang="en-US" altLang="zh-CN" sz="2400" dirty="0"/>
              <a:t>3</a:t>
            </a:r>
            <a:r>
              <a:rPr lang="zh-CN" altLang="en-US" sz="2400" dirty="0"/>
              <a:t>）变换函数：</a:t>
            </a:r>
            <a:endParaRPr lang="zh-CN" altLang="en-US" sz="2400" dirty="0"/>
          </a:p>
          <a:p>
            <a:pPr eaLnBrk="1" hangingPunct="1">
              <a:buClr>
                <a:schemeClr val="bg2"/>
              </a:buClr>
              <a:buSzPct val="75000"/>
              <a:buFont typeface="Wingdings" panose="05000000000000000000" pitchFamily="2" charset="2"/>
              <a:buNone/>
            </a:pPr>
            <a:endParaRPr lang="zh-CN" altLang="en-US" sz="2400" dirty="0"/>
          </a:p>
          <a:p>
            <a:pPr eaLnBrk="1" hangingPunct="1">
              <a:buClr>
                <a:schemeClr val="bg2"/>
              </a:buClr>
              <a:buSzPct val="75000"/>
              <a:buFont typeface="Wingdings" panose="05000000000000000000" pitchFamily="2" charset="2"/>
              <a:buNone/>
            </a:pPr>
            <a:endParaRPr lang="zh-CN" altLang="en-US" sz="2400" dirty="0"/>
          </a:p>
          <a:p>
            <a:pPr eaLnBrk="1" hangingPunct="1">
              <a:buClr>
                <a:schemeClr val="bg2"/>
              </a:buClr>
              <a:buSzPct val="75000"/>
              <a:buFont typeface="Wingdings" panose="05000000000000000000" pitchFamily="2" charset="2"/>
              <a:buNone/>
            </a:pPr>
            <a:endParaRPr lang="zh-CN" altLang="en-US" sz="2400" dirty="0"/>
          </a:p>
        </p:txBody>
      </p:sp>
      <p:graphicFrame>
        <p:nvGraphicFramePr>
          <p:cNvPr id="45061" name="Object 4"/>
          <p:cNvGraphicFramePr>
            <a:graphicFrameLocks noGrp="1" noChangeAspect="1"/>
          </p:cNvGraphicFramePr>
          <p:nvPr>
            <p:ph sz="half" idx="2"/>
          </p:nvPr>
        </p:nvGraphicFramePr>
        <p:xfrm>
          <a:off x="1529426" y="1712580"/>
          <a:ext cx="4627567" cy="930782"/>
        </p:xfrm>
        <a:graphic>
          <a:graphicData uri="http://schemas.openxmlformats.org/presentationml/2006/ole">
            <mc:AlternateContent xmlns:mc="http://schemas.openxmlformats.org/markup-compatibility/2006">
              <mc:Choice xmlns:v="urn:schemas-microsoft-com:vml" Requires="v">
                <p:oleObj spid="_x0000_s14385" name="" r:id="rId1" imgW="1917065" imgH="393700" progId="Equation.3">
                  <p:embed/>
                </p:oleObj>
              </mc:Choice>
              <mc:Fallback>
                <p:oleObj name="" r:id="rId1" imgW="1917065" imgH="393700" progId="Equation.3">
                  <p:embed/>
                  <p:pic>
                    <p:nvPicPr>
                      <p:cNvPr id="0" name="图片 3177"/>
                      <p:cNvPicPr/>
                      <p:nvPr/>
                    </p:nvPicPr>
                    <p:blipFill>
                      <a:blip r:embed="rId2"/>
                      <a:srcRect/>
                      <a:stretch>
                        <a:fillRect/>
                      </a:stretch>
                    </p:blipFill>
                    <p:spPr>
                      <a:xfrm>
                        <a:off x="1529426" y="1712580"/>
                        <a:ext cx="4627567" cy="930782"/>
                      </a:xfrm>
                      <a:prstGeom prst="rect">
                        <a:avLst/>
                      </a:prstGeom>
                      <a:noFill/>
                      <a:ln w="38100">
                        <a:miter/>
                      </a:ln>
                    </p:spPr>
                  </p:pic>
                </p:oleObj>
              </mc:Fallback>
            </mc:AlternateContent>
          </a:graphicData>
        </a:graphic>
      </p:graphicFrame>
      <p:graphicFrame>
        <p:nvGraphicFramePr>
          <p:cNvPr id="240645" name="Object 5"/>
          <p:cNvGraphicFramePr>
            <a:graphicFrameLocks noChangeAspect="1"/>
          </p:cNvGraphicFramePr>
          <p:nvPr/>
        </p:nvGraphicFramePr>
        <p:xfrm>
          <a:off x="1935797" y="3074862"/>
          <a:ext cx="4460240" cy="797560"/>
        </p:xfrm>
        <a:graphic>
          <a:graphicData uri="http://schemas.openxmlformats.org/presentationml/2006/ole">
            <mc:AlternateContent xmlns:mc="http://schemas.openxmlformats.org/markup-compatibility/2006">
              <mc:Choice xmlns:v="urn:schemas-microsoft-com:vml" Requires="v">
                <p:oleObj spid="_x0000_s14386" name="" r:id="rId3" imgW="2438400" imgH="444500" progId="Equation.3">
                  <p:embed/>
                </p:oleObj>
              </mc:Choice>
              <mc:Fallback>
                <p:oleObj name="" r:id="rId3" imgW="2438400" imgH="444500" progId="Equation.3">
                  <p:embed/>
                  <p:pic>
                    <p:nvPicPr>
                      <p:cNvPr id="0" name="图片 3178"/>
                      <p:cNvPicPr/>
                      <p:nvPr/>
                    </p:nvPicPr>
                    <p:blipFill>
                      <a:blip r:embed="rId4"/>
                      <a:stretch>
                        <a:fillRect/>
                      </a:stretch>
                    </p:blipFill>
                    <p:spPr>
                      <a:xfrm>
                        <a:off x="1935797" y="3074862"/>
                        <a:ext cx="4460240" cy="797560"/>
                      </a:xfrm>
                      <a:prstGeom prst="rect">
                        <a:avLst/>
                      </a:prstGeom>
                      <a:noFill/>
                      <a:ln w="38100">
                        <a:noFill/>
                        <a:miter/>
                      </a:ln>
                    </p:spPr>
                  </p:pic>
                </p:oleObj>
              </mc:Fallback>
            </mc:AlternateContent>
          </a:graphicData>
        </a:graphic>
      </p:graphicFrame>
      <p:graphicFrame>
        <p:nvGraphicFramePr>
          <p:cNvPr id="240646" name="Object 6"/>
          <p:cNvGraphicFramePr>
            <a:graphicFrameLocks noChangeAspect="1"/>
          </p:cNvGraphicFramePr>
          <p:nvPr/>
        </p:nvGraphicFramePr>
        <p:xfrm>
          <a:off x="2162334" y="4579269"/>
          <a:ext cx="4970145" cy="431165"/>
        </p:xfrm>
        <a:graphic>
          <a:graphicData uri="http://schemas.openxmlformats.org/presentationml/2006/ole">
            <mc:AlternateContent xmlns:mc="http://schemas.openxmlformats.org/markup-compatibility/2006">
              <mc:Choice xmlns:v="urn:schemas-microsoft-com:vml" Requires="v">
                <p:oleObj spid="_x0000_s14387" name="" r:id="rId5" imgW="2882900" imgH="228600" progId="Equation.3">
                  <p:embed/>
                </p:oleObj>
              </mc:Choice>
              <mc:Fallback>
                <p:oleObj name="" r:id="rId5" imgW="2882900" imgH="228600" progId="Equation.3">
                  <p:embed/>
                  <p:pic>
                    <p:nvPicPr>
                      <p:cNvPr id="0" name="图片 3086"/>
                      <p:cNvPicPr/>
                      <p:nvPr/>
                    </p:nvPicPr>
                    <p:blipFill>
                      <a:blip r:embed="rId6"/>
                      <a:stretch>
                        <a:fillRect/>
                      </a:stretch>
                    </p:blipFill>
                    <p:spPr>
                      <a:xfrm>
                        <a:off x="2162334" y="4579269"/>
                        <a:ext cx="4970145" cy="431165"/>
                      </a:xfrm>
                      <a:prstGeom prst="rect">
                        <a:avLst/>
                      </a:prstGeom>
                      <a:noFill/>
                      <a:ln w="38100">
                        <a:noFill/>
                        <a:miter/>
                      </a:ln>
                    </p:spPr>
                  </p:pic>
                </p:oleObj>
              </mc:Fallback>
            </mc:AlternateContent>
          </a:graphicData>
        </a:graphic>
      </p:graphicFrame>
      <p:graphicFrame>
        <p:nvGraphicFramePr>
          <p:cNvPr id="240647" name="Object 7"/>
          <p:cNvGraphicFramePr>
            <a:graphicFrameLocks noChangeAspect="1"/>
          </p:cNvGraphicFramePr>
          <p:nvPr/>
        </p:nvGraphicFramePr>
        <p:xfrm>
          <a:off x="1705004" y="5128032"/>
          <a:ext cx="427037" cy="571500"/>
        </p:xfrm>
        <a:graphic>
          <a:graphicData uri="http://schemas.openxmlformats.org/presentationml/2006/ole">
            <mc:AlternateContent xmlns:mc="http://schemas.openxmlformats.org/markup-compatibility/2006">
              <mc:Choice xmlns:v="urn:schemas-microsoft-com:vml" Requires="v">
                <p:oleObj spid="_x0000_s14388" name="" r:id="rId7" imgW="165100" imgH="228600" progId="Equation.3">
                  <p:embed/>
                </p:oleObj>
              </mc:Choice>
              <mc:Fallback>
                <p:oleObj name="" r:id="rId7" imgW="165100" imgH="228600" progId="Equation.3">
                  <p:embed/>
                  <p:pic>
                    <p:nvPicPr>
                      <p:cNvPr id="0" name="图片 3085"/>
                      <p:cNvPicPr/>
                      <p:nvPr/>
                    </p:nvPicPr>
                    <p:blipFill>
                      <a:blip r:embed="rId8"/>
                      <a:stretch>
                        <a:fillRect/>
                      </a:stretch>
                    </p:blipFill>
                    <p:spPr>
                      <a:xfrm>
                        <a:off x="1705004" y="5128032"/>
                        <a:ext cx="427037" cy="5715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0643">
                                            <p:txEl>
                                              <p:pRg st="3" end="3"/>
                                            </p:txEl>
                                          </p:spTgt>
                                        </p:tgtEl>
                                        <p:attrNameLst>
                                          <p:attrName>style.visibility</p:attrName>
                                        </p:attrNameLst>
                                      </p:cBhvr>
                                      <p:to>
                                        <p:strVal val="visible"/>
                                      </p:to>
                                    </p:set>
                                    <p:anim calcmode="lin" valueType="num">
                                      <p:cBhvr additive="base">
                                        <p:cTn id="7" dur="500" fill="hold"/>
                                        <p:tgtEl>
                                          <p:spTgt spid="24064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064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0645"/>
                                        </p:tgtEl>
                                        <p:attrNameLst>
                                          <p:attrName>style.visibility</p:attrName>
                                        </p:attrNameLst>
                                      </p:cBhvr>
                                      <p:to>
                                        <p:strVal val="visible"/>
                                      </p:to>
                                    </p:set>
                                    <p:anim calcmode="lin" valueType="num">
                                      <p:cBhvr additive="base">
                                        <p:cTn id="13" dur="500" fill="hold"/>
                                        <p:tgtEl>
                                          <p:spTgt spid="240645"/>
                                        </p:tgtEl>
                                        <p:attrNameLst>
                                          <p:attrName>ppt_x</p:attrName>
                                        </p:attrNameLst>
                                      </p:cBhvr>
                                      <p:tavLst>
                                        <p:tav tm="0">
                                          <p:val>
                                            <p:strVal val="#ppt_x"/>
                                          </p:val>
                                        </p:tav>
                                        <p:tav tm="100000">
                                          <p:val>
                                            <p:strVal val="#ppt_x"/>
                                          </p:val>
                                        </p:tav>
                                      </p:tavLst>
                                    </p:anim>
                                    <p:anim calcmode="lin" valueType="num">
                                      <p:cBhvr additive="base">
                                        <p:cTn id="14" dur="500" fill="hold"/>
                                        <p:tgtEl>
                                          <p:spTgt spid="24064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40643">
                                            <p:txEl>
                                              <p:pRg st="6" end="6"/>
                                            </p:txEl>
                                          </p:spTgt>
                                        </p:tgtEl>
                                        <p:attrNameLst>
                                          <p:attrName>style.visibility</p:attrName>
                                        </p:attrNameLst>
                                      </p:cBhvr>
                                      <p:to>
                                        <p:strVal val="visible"/>
                                      </p:to>
                                    </p:set>
                                    <p:anim calcmode="lin" valueType="num">
                                      <p:cBhvr additive="base">
                                        <p:cTn id="19" dur="500" fill="hold"/>
                                        <p:tgtEl>
                                          <p:spTgt spid="24064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064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40646"/>
                                        </p:tgtEl>
                                        <p:attrNameLst>
                                          <p:attrName>style.visibility</p:attrName>
                                        </p:attrNameLst>
                                      </p:cBhvr>
                                      <p:to>
                                        <p:strVal val="visible"/>
                                      </p:to>
                                    </p:set>
                                    <p:anim calcmode="lin" valueType="num">
                                      <p:cBhvr additive="base">
                                        <p:cTn id="25" dur="500" fill="hold"/>
                                        <p:tgtEl>
                                          <p:spTgt spid="240646"/>
                                        </p:tgtEl>
                                        <p:attrNameLst>
                                          <p:attrName>ppt_x</p:attrName>
                                        </p:attrNameLst>
                                      </p:cBhvr>
                                      <p:tavLst>
                                        <p:tav tm="0">
                                          <p:val>
                                            <p:strVal val="#ppt_x"/>
                                          </p:val>
                                        </p:tav>
                                        <p:tav tm="100000">
                                          <p:val>
                                            <p:strVal val="#ppt_x"/>
                                          </p:val>
                                        </p:tav>
                                      </p:tavLst>
                                    </p:anim>
                                    <p:anim calcmode="lin" valueType="num">
                                      <p:cBhvr additive="base">
                                        <p:cTn id="26" dur="500" fill="hold"/>
                                        <p:tgtEl>
                                          <p:spTgt spid="24064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40647"/>
                                        </p:tgtEl>
                                        <p:attrNameLst>
                                          <p:attrName>style.visibility</p:attrName>
                                        </p:attrNameLst>
                                      </p:cBhvr>
                                      <p:to>
                                        <p:strVal val="visible"/>
                                      </p:to>
                                    </p:set>
                                    <p:anim calcmode="lin" valueType="num">
                                      <p:cBhvr additive="base">
                                        <p:cTn id="31" dur="500" fill="hold"/>
                                        <p:tgtEl>
                                          <p:spTgt spid="240647"/>
                                        </p:tgtEl>
                                        <p:attrNameLst>
                                          <p:attrName>ppt_x</p:attrName>
                                        </p:attrNameLst>
                                      </p:cBhvr>
                                      <p:tavLst>
                                        <p:tav tm="0">
                                          <p:val>
                                            <p:strVal val="#ppt_x"/>
                                          </p:val>
                                        </p:tav>
                                        <p:tav tm="100000">
                                          <p:val>
                                            <p:strVal val="#ppt_x"/>
                                          </p:val>
                                        </p:tav>
                                      </p:tavLst>
                                    </p:anim>
                                    <p:anim calcmode="lin" valueType="num">
                                      <p:cBhvr additive="base">
                                        <p:cTn id="32" dur="500" fill="hold"/>
                                        <p:tgtEl>
                                          <p:spTgt spid="240647"/>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40649"/>
                                        </p:tgtEl>
                                        <p:attrNameLst>
                                          <p:attrName>style.visibility</p:attrName>
                                        </p:attrNameLst>
                                      </p:cBhvr>
                                      <p:to>
                                        <p:strVal val="visible"/>
                                      </p:to>
                                    </p:set>
                                    <p:anim calcmode="lin" valueType="num">
                                      <p:cBhvr additive="base">
                                        <p:cTn id="35" dur="500" fill="hold"/>
                                        <p:tgtEl>
                                          <p:spTgt spid="240649"/>
                                        </p:tgtEl>
                                        <p:attrNameLst>
                                          <p:attrName>ppt_x</p:attrName>
                                        </p:attrNameLst>
                                      </p:cBhvr>
                                      <p:tavLst>
                                        <p:tav tm="0">
                                          <p:val>
                                            <p:strVal val="#ppt_x"/>
                                          </p:val>
                                        </p:tav>
                                        <p:tav tm="100000">
                                          <p:val>
                                            <p:strVal val="#ppt_x"/>
                                          </p:val>
                                        </p:tav>
                                      </p:tavLst>
                                    </p:anim>
                                    <p:anim calcmode="lin" valueType="num">
                                      <p:cBhvr additive="base">
                                        <p:cTn id="36" dur="500" fill="hold"/>
                                        <p:tgtEl>
                                          <p:spTgt spid="2406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p:nvPr/>
        </p:nvSpPr>
        <p:spPr>
          <a:xfrm>
            <a:off x="609600" y="457200"/>
            <a:ext cx="8064500" cy="52322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solidFill>
                  <a:srgbClr val="7030A0"/>
                </a:solidFill>
                <a:latin typeface="Times New Roman" panose="02020603050405020304" pitchFamily="18" charset="0"/>
              </a:rPr>
              <a:t>2.3 </a:t>
            </a:r>
            <a:r>
              <a:rPr lang="zh-CN" altLang="en-US" sz="2800" b="1" dirty="0">
                <a:solidFill>
                  <a:srgbClr val="7030A0"/>
                </a:solidFill>
                <a:latin typeface="Times New Roman" panose="02020603050405020304" pitchFamily="18" charset="0"/>
              </a:rPr>
              <a:t>直方图</a:t>
            </a:r>
            <a:r>
              <a:rPr lang="zh-CN" altLang="en-US" sz="2800" b="1" dirty="0" smtClean="0">
                <a:solidFill>
                  <a:srgbClr val="7030A0"/>
                </a:solidFill>
                <a:latin typeface="Times New Roman" panose="02020603050405020304" pitchFamily="18" charset="0"/>
              </a:rPr>
              <a:t>匹配</a:t>
            </a:r>
            <a:endParaRPr lang="zh-CN" altLang="en-US" sz="2800" dirty="0">
              <a:solidFill>
                <a:srgbClr val="7030A0"/>
              </a:solidFill>
              <a:latin typeface="Times New Roman" panose="02020603050405020304" pitchFamily="18" charset="0"/>
            </a:endParaRPr>
          </a:p>
        </p:txBody>
      </p:sp>
      <p:sp>
        <p:nvSpPr>
          <p:cNvPr id="3" name="矩形 2"/>
          <p:cNvSpPr/>
          <p:nvPr/>
        </p:nvSpPr>
        <p:spPr>
          <a:xfrm>
            <a:off x="747395" y="1174115"/>
            <a:ext cx="7926705" cy="2306955"/>
          </a:xfrm>
          <a:prstGeom prst="rect">
            <a:avLst/>
          </a:prstGeom>
        </p:spPr>
        <p:txBody>
          <a:bodyPr wrap="square">
            <a:spAutoFit/>
          </a:bodyPr>
          <a:lstStyle/>
          <a:p>
            <a:pPr>
              <a:lnSpc>
                <a:spcPct val="150000"/>
              </a:lnSpc>
            </a:pPr>
            <a:r>
              <a:rPr lang="en-US" altLang="zh-CN" b="0" dirty="0">
                <a:solidFill>
                  <a:srgbClr val="FF0000"/>
                </a:solidFill>
                <a:ea typeface="+mn-ea"/>
              </a:rPr>
              <a:t>直方图匹配</a:t>
            </a:r>
            <a:r>
              <a:rPr lang="zh-CN" altLang="en-US" b="0" dirty="0" smtClean="0"/>
              <a:t>的目标是通过灰度变换，把一幅图像的灰度分布</a:t>
            </a:r>
            <a:r>
              <a:rPr lang="en-US" altLang="zh-CN" b="0" dirty="0">
                <a:sym typeface="+mn-ea"/>
              </a:rPr>
              <a:t>(pdf)</a:t>
            </a:r>
            <a:r>
              <a:rPr lang="zh-CN" altLang="en-US" b="0" dirty="0" smtClean="0"/>
              <a:t>调整为与给定目标图像的灰度直方图</a:t>
            </a:r>
            <a:r>
              <a:rPr lang="en-US" altLang="zh-CN" b="0" dirty="0">
                <a:sym typeface="+mn-ea"/>
              </a:rPr>
              <a:t>(pdf)</a:t>
            </a:r>
            <a:r>
              <a:rPr lang="zh-CN" altLang="en-US" b="0" dirty="0" smtClean="0"/>
              <a:t>相匹配。</a:t>
            </a:r>
            <a:endParaRPr lang="zh-CN" altLang="en-US" b="0" dirty="0" smtClean="0"/>
          </a:p>
          <a:p>
            <a:pPr>
              <a:lnSpc>
                <a:spcPct val="150000"/>
              </a:lnSpc>
            </a:pPr>
            <a:r>
              <a:rPr lang="zh-CN" altLang="en-US" b="0" dirty="0"/>
              <a:t>直方图均衡</a:t>
            </a:r>
            <a:r>
              <a:rPr lang="zh-CN" altLang="en-US" b="0" dirty="0" smtClean="0"/>
              <a:t>化可看作直方图</a:t>
            </a:r>
            <a:r>
              <a:rPr lang="zh-CN" altLang="en-US" b="0" dirty="0"/>
              <a:t>匹配的一种特例，即目标</a:t>
            </a:r>
            <a:r>
              <a:rPr lang="zh-CN" altLang="en-US" b="0" dirty="0" smtClean="0"/>
              <a:t>直方图均匀分布</a:t>
            </a:r>
            <a:r>
              <a:rPr lang="zh-CN" altLang="en-US" b="0" dirty="0"/>
              <a:t>时的直方图</a:t>
            </a:r>
            <a:r>
              <a:rPr lang="zh-CN" altLang="en-US" b="0" dirty="0"/>
              <a:t>匹配。</a:t>
            </a:r>
            <a:endParaRPr lang="zh-CN" altLang="en-US" b="0" dirty="0"/>
          </a:p>
        </p:txBody>
      </p:sp>
      <p:sp>
        <p:nvSpPr>
          <p:cNvPr id="53253" name="Rectangle 5"/>
          <p:cNvSpPr/>
          <p:nvPr/>
        </p:nvSpPr>
        <p:spPr>
          <a:xfrm>
            <a:off x="695960" y="5376994"/>
            <a:ext cx="9144000" cy="460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400" dirty="0">
                <a:latin typeface="Tahoma" panose="020B0604030504040204" pitchFamily="34" charset="0"/>
              </a:rPr>
              <a:t> </a:t>
            </a:r>
            <a:endParaRPr lang="zh-CN" altLang="en-US" sz="2400" dirty="0">
              <a:latin typeface="Times New Roman" panose="02020603050405020304" pitchFamily="18" charset="0"/>
            </a:endParaRPr>
          </a:p>
        </p:txBody>
      </p:sp>
      <p:grpSp>
        <p:nvGrpSpPr>
          <p:cNvPr id="2" name="组合 1"/>
          <p:cNvGrpSpPr/>
          <p:nvPr/>
        </p:nvGrpSpPr>
        <p:grpSpPr>
          <a:xfrm>
            <a:off x="1605280" y="4737735"/>
            <a:ext cx="5945505" cy="1196340"/>
            <a:chOff x="609600" y="2740354"/>
            <a:chExt cx="7287514" cy="1196610"/>
          </a:xfrm>
        </p:grpSpPr>
        <p:sp>
          <p:nvSpPr>
            <p:cNvPr id="53254" name="Rectangle 6"/>
            <p:cNvSpPr/>
            <p:nvPr/>
          </p:nvSpPr>
          <p:spPr>
            <a:xfrm>
              <a:off x="2525850" y="2740354"/>
              <a:ext cx="4455945" cy="674522"/>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just" eaLnBrk="1" hangingPunct="1">
                <a:spcBef>
                  <a:spcPct val="0"/>
                </a:spcBef>
                <a:buClrTx/>
                <a:buSzTx/>
                <a:buFontTx/>
                <a:buNone/>
              </a:pPr>
              <a:r>
                <a:rPr lang="zh-CN" altLang="en-US" sz="2800" dirty="0">
                  <a:latin typeface="Times New Roman" panose="02020603050405020304" pitchFamily="18" charset="0"/>
                </a:rPr>
                <a:t>                  ？</a:t>
              </a:r>
              <a:r>
                <a:rPr lang="zh-CN" altLang="en-US" sz="1400" dirty="0">
                  <a:latin typeface="Times New Roman" panose="02020603050405020304" pitchFamily="18" charset="0"/>
                </a:rPr>
                <a:t>          </a:t>
              </a:r>
              <a:endParaRPr lang="zh-CN" altLang="en-US" sz="1000" dirty="0">
                <a:latin typeface="Times New Roman" panose="02020603050405020304" pitchFamily="18" charset="0"/>
              </a:endParaRPr>
            </a:p>
            <a:p>
              <a:pPr marL="0" lvl="0" indent="0">
                <a:spcBef>
                  <a:spcPct val="0"/>
                </a:spcBef>
                <a:buClrTx/>
                <a:buSzTx/>
                <a:buFontTx/>
                <a:buNone/>
              </a:pPr>
              <a:endParaRPr lang="zh-CN" altLang="en-US" sz="2400" dirty="0">
                <a:latin typeface="Times New Roman" panose="02020603050405020304" pitchFamily="18" charset="0"/>
              </a:endParaRPr>
            </a:p>
          </p:txBody>
        </p:sp>
        <p:graphicFrame>
          <p:nvGraphicFramePr>
            <p:cNvPr id="53255" name="Object 7"/>
            <p:cNvGraphicFramePr>
              <a:graphicFrameLocks noChangeAspect="1"/>
            </p:cNvGraphicFramePr>
            <p:nvPr/>
          </p:nvGraphicFramePr>
          <p:xfrm>
            <a:off x="1828800" y="2887944"/>
            <a:ext cx="990600" cy="527050"/>
          </p:xfrm>
          <a:graphic>
            <a:graphicData uri="http://schemas.openxmlformats.org/presentationml/2006/ole">
              <mc:AlternateContent xmlns:mc="http://schemas.openxmlformats.org/markup-compatibility/2006">
                <mc:Choice xmlns:v="urn:schemas-microsoft-com:vml" Requires="v">
                  <p:oleObj spid="_x0000_s15394" name="" r:id="rId1" imgW="381000" imgH="203200" progId="Equation.3">
                    <p:embed/>
                  </p:oleObj>
                </mc:Choice>
                <mc:Fallback>
                  <p:oleObj name="" r:id="rId1" imgW="381000" imgH="203200" progId="Equation.3">
                    <p:embed/>
                    <p:pic>
                      <p:nvPicPr>
                        <p:cNvPr id="0" name="图片 3139"/>
                        <p:cNvPicPr/>
                        <p:nvPr/>
                      </p:nvPicPr>
                      <p:blipFill>
                        <a:blip r:embed="rId2"/>
                        <a:stretch>
                          <a:fillRect/>
                        </a:stretch>
                      </p:blipFill>
                      <p:spPr>
                        <a:xfrm>
                          <a:off x="1828800" y="2887944"/>
                          <a:ext cx="990600" cy="527050"/>
                        </a:xfrm>
                        <a:prstGeom prst="rect">
                          <a:avLst/>
                        </a:prstGeom>
                        <a:noFill/>
                        <a:ln w="38100">
                          <a:noFill/>
                          <a:miter/>
                        </a:ln>
                      </p:spPr>
                    </p:pic>
                  </p:oleObj>
                </mc:Fallback>
              </mc:AlternateContent>
            </a:graphicData>
          </a:graphic>
        </p:graphicFrame>
        <p:graphicFrame>
          <p:nvGraphicFramePr>
            <p:cNvPr id="53256" name="Object 8"/>
            <p:cNvGraphicFramePr>
              <a:graphicFrameLocks noChangeAspect="1"/>
            </p:cNvGraphicFramePr>
            <p:nvPr/>
          </p:nvGraphicFramePr>
          <p:xfrm>
            <a:off x="3657600" y="2854607"/>
            <a:ext cx="609600" cy="560387"/>
          </p:xfrm>
          <a:graphic>
            <a:graphicData uri="http://schemas.openxmlformats.org/presentationml/2006/ole">
              <mc:AlternateContent xmlns:mc="http://schemas.openxmlformats.org/markup-compatibility/2006">
                <mc:Choice xmlns:v="urn:schemas-microsoft-com:vml" Requires="v">
                  <p:oleObj spid="_x0000_s15395" name="" r:id="rId3" imgW="241300" imgH="215900" progId="Equation.3">
                    <p:embed/>
                  </p:oleObj>
                </mc:Choice>
                <mc:Fallback>
                  <p:oleObj name="" r:id="rId3" imgW="241300" imgH="215900" progId="Equation.3">
                    <p:embed/>
                    <p:pic>
                      <p:nvPicPr>
                        <p:cNvPr id="0" name="图片 3137"/>
                        <p:cNvPicPr/>
                        <p:nvPr/>
                      </p:nvPicPr>
                      <p:blipFill>
                        <a:blip r:embed="rId4"/>
                        <a:stretch>
                          <a:fillRect/>
                        </a:stretch>
                      </p:blipFill>
                      <p:spPr>
                        <a:xfrm>
                          <a:off x="3657600" y="2854607"/>
                          <a:ext cx="609600" cy="560387"/>
                        </a:xfrm>
                        <a:prstGeom prst="rect">
                          <a:avLst/>
                        </a:prstGeom>
                        <a:noFill/>
                        <a:ln w="38100">
                          <a:noFill/>
                          <a:miter/>
                        </a:ln>
                      </p:spPr>
                    </p:pic>
                  </p:oleObj>
                </mc:Fallback>
              </mc:AlternateContent>
            </a:graphicData>
          </a:graphic>
        </p:graphicFrame>
        <p:graphicFrame>
          <p:nvGraphicFramePr>
            <p:cNvPr id="53257" name="Object 9"/>
            <p:cNvGraphicFramePr>
              <a:graphicFrameLocks noChangeAspect="1"/>
            </p:cNvGraphicFramePr>
            <p:nvPr/>
          </p:nvGraphicFramePr>
          <p:xfrm>
            <a:off x="5257800" y="2822857"/>
            <a:ext cx="609600" cy="592137"/>
          </p:xfrm>
          <a:graphic>
            <a:graphicData uri="http://schemas.openxmlformats.org/presentationml/2006/ole">
              <mc:AlternateContent xmlns:mc="http://schemas.openxmlformats.org/markup-compatibility/2006">
                <mc:Choice xmlns:v="urn:schemas-microsoft-com:vml" Requires="v">
                  <p:oleObj spid="_x0000_s15396" name="" r:id="rId5" imgW="241300" imgH="228600" progId="Equation.3">
                    <p:embed/>
                  </p:oleObj>
                </mc:Choice>
                <mc:Fallback>
                  <p:oleObj name="" r:id="rId5" imgW="241300" imgH="228600" progId="Equation.3">
                    <p:embed/>
                    <p:pic>
                      <p:nvPicPr>
                        <p:cNvPr id="0" name="图片 3133"/>
                        <p:cNvPicPr/>
                        <p:nvPr/>
                      </p:nvPicPr>
                      <p:blipFill>
                        <a:blip r:embed="rId6"/>
                        <a:stretch>
                          <a:fillRect/>
                        </a:stretch>
                      </p:blipFill>
                      <p:spPr>
                        <a:xfrm>
                          <a:off x="5257800" y="2822857"/>
                          <a:ext cx="609600" cy="592137"/>
                        </a:xfrm>
                        <a:prstGeom prst="rect">
                          <a:avLst/>
                        </a:prstGeom>
                        <a:noFill/>
                        <a:ln w="38100">
                          <a:noFill/>
                          <a:miter/>
                        </a:ln>
                      </p:spPr>
                    </p:pic>
                  </p:oleObj>
                </mc:Fallback>
              </mc:AlternateContent>
            </a:graphicData>
          </a:graphic>
        </p:graphicFrame>
        <p:pic>
          <p:nvPicPr>
            <p:cNvPr id="53258" name="Picture 10" descr="image157"/>
            <p:cNvPicPr>
              <a:picLocks noChangeAspect="1"/>
            </p:cNvPicPr>
            <p:nvPr/>
          </p:nvPicPr>
          <p:blipFill>
            <a:blip r:embed="rId7"/>
            <a:stretch>
              <a:fillRect/>
            </a:stretch>
          </p:blipFill>
          <p:spPr>
            <a:xfrm>
              <a:off x="4343400" y="2957794"/>
              <a:ext cx="901700" cy="247650"/>
            </a:xfrm>
            <a:prstGeom prst="rect">
              <a:avLst/>
            </a:prstGeom>
            <a:noFill/>
            <a:ln w="9525">
              <a:noFill/>
            </a:ln>
          </p:spPr>
        </p:pic>
        <p:sp>
          <p:nvSpPr>
            <p:cNvPr id="53259" name="Rectangle 11"/>
            <p:cNvSpPr/>
            <p:nvPr/>
          </p:nvSpPr>
          <p:spPr>
            <a:xfrm>
              <a:off x="609600" y="3414876"/>
              <a:ext cx="7287514" cy="522088"/>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800" dirty="0">
                  <a:latin typeface="宋体" panose="02010600030101010101" pitchFamily="2" charset="-122"/>
                </a:rPr>
                <a:t>           </a:t>
              </a:r>
              <a:r>
                <a:rPr lang="en-US" altLang="zh-CN" sz="2800" dirty="0">
                  <a:latin typeface="宋体" panose="02010600030101010101" pitchFamily="2" charset="-122"/>
                </a:rPr>
                <a:t>A(x,y)   C(x,y)</a:t>
              </a:r>
              <a:r>
                <a:rPr lang="en-US" altLang="zh-CN" sz="1400" dirty="0">
                  <a:latin typeface="宋体" panose="02010600030101010101" pitchFamily="2" charset="-122"/>
                </a:rPr>
                <a:t>   </a:t>
              </a:r>
              <a:endParaRPr lang="en-US" altLang="zh-CN" sz="2400" dirty="0">
                <a:latin typeface="Times New Roman" panose="02020603050405020304" pitchFamily="18" charset="0"/>
              </a:endParaRPr>
            </a:p>
          </p:txBody>
        </p:sp>
      </p:grpSp>
      <p:sp>
        <p:nvSpPr>
          <p:cNvPr id="53260" name="Rectangle 12"/>
          <p:cNvSpPr/>
          <p:nvPr/>
        </p:nvSpPr>
        <p:spPr>
          <a:xfrm>
            <a:off x="695960" y="3523615"/>
            <a:ext cx="7722235" cy="156845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lgn="just" eaLnBrk="1" hangingPunct="1">
              <a:lnSpc>
                <a:spcPct val="150000"/>
              </a:lnSpc>
              <a:spcBef>
                <a:spcPct val="0"/>
              </a:spcBef>
              <a:buClrTx/>
              <a:buSzTx/>
              <a:buFontTx/>
              <a:buNone/>
            </a:pPr>
            <a:r>
              <a:rPr lang="en-US" altLang="zh-CN" sz="2400" dirty="0">
                <a:solidFill>
                  <a:srgbClr val="FF0000"/>
                </a:solidFill>
                <a:latin typeface="Times New Roman" panose="02020603050405020304" pitchFamily="18" charset="0"/>
              </a:rPr>
              <a:t>问题描述</a:t>
            </a:r>
            <a:r>
              <a:rPr lang="zh-CN" altLang="en-US" sz="2400" dirty="0">
                <a:solidFill>
                  <a:srgbClr val="FF0000"/>
                </a:solidFill>
                <a:latin typeface="Times New Roman" panose="02020603050405020304" pitchFamily="18" charset="0"/>
              </a:rPr>
              <a:t>：</a:t>
            </a:r>
            <a:r>
              <a:rPr lang="zh-CN" altLang="en-US" sz="2400" dirty="0">
                <a:latin typeface="Times New Roman" panose="02020603050405020304" pitchFamily="18" charset="0"/>
              </a:rPr>
              <a:t>已知输入图像</a:t>
            </a:r>
            <a:r>
              <a:rPr lang="en-US" altLang="zh-CN" sz="2400" dirty="0">
                <a:latin typeface="Times New Roman" panose="02020603050405020304" pitchFamily="18" charset="0"/>
              </a:rPr>
              <a:t>A(x,y)</a:t>
            </a:r>
            <a:r>
              <a:rPr lang="zh-CN" altLang="en-US" sz="2400" dirty="0">
                <a:latin typeface="Times New Roman" panose="02020603050405020304" pitchFamily="18" charset="0"/>
              </a:rPr>
              <a:t>的直方图</a:t>
            </a:r>
            <a:r>
              <a:rPr lang="en-US" altLang="zh-CN" sz="2400" dirty="0">
                <a:latin typeface="Times New Roman" panose="02020603050405020304" pitchFamily="18" charset="0"/>
              </a:rPr>
              <a:t>H</a:t>
            </a:r>
            <a:r>
              <a:rPr lang="en-US" altLang="zh-CN" sz="2400" baseline="-25000" dirty="0">
                <a:solidFill>
                  <a:schemeClr val="tx1"/>
                </a:solidFill>
                <a:uFillTx/>
                <a:latin typeface="Times New Roman" panose="02020603050405020304" pitchFamily="18" charset="0"/>
              </a:rPr>
              <a:t>A</a:t>
            </a:r>
            <a:r>
              <a:rPr lang="zh-CN" altLang="en-US" sz="2400" dirty="0">
                <a:latin typeface="Times New Roman" panose="02020603050405020304" pitchFamily="18" charset="0"/>
              </a:rPr>
              <a:t>，将</a:t>
            </a:r>
            <a:r>
              <a:rPr lang="zh-CN" altLang="en-US" sz="2400" dirty="0">
                <a:latin typeface="Times New Roman" panose="02020603050405020304" pitchFamily="18" charset="0"/>
                <a:sym typeface="+mn-ea"/>
              </a:rPr>
              <a:t>其</a:t>
            </a:r>
            <a:r>
              <a:rPr lang="zh-CN" altLang="en-US" sz="2400" dirty="0">
                <a:latin typeface="Times New Roman" panose="02020603050405020304" pitchFamily="18" charset="0"/>
              </a:rPr>
              <a:t>变为目标</a:t>
            </a:r>
            <a:r>
              <a:rPr lang="zh-CN" altLang="en-US" sz="2400" dirty="0">
                <a:latin typeface="Times New Roman" panose="02020603050405020304" pitchFamily="18" charset="0"/>
                <a:sym typeface="+mn-ea"/>
              </a:rPr>
              <a:t>直方图为</a:t>
            </a:r>
            <a:r>
              <a:rPr lang="en-US" altLang="zh-CN" sz="2400" dirty="0">
                <a:latin typeface="Times New Roman" panose="02020603050405020304" pitchFamily="18" charset="0"/>
                <a:sym typeface="+mn-ea"/>
              </a:rPr>
              <a:t>H</a:t>
            </a:r>
            <a:r>
              <a:rPr lang="en-US" altLang="zh-CN" sz="2400" baseline="-25000" dirty="0">
                <a:uFillTx/>
                <a:latin typeface="Times New Roman" panose="02020603050405020304" pitchFamily="18" charset="0"/>
                <a:sym typeface="+mn-ea"/>
              </a:rPr>
              <a:t>C</a:t>
            </a:r>
            <a:r>
              <a:rPr lang="zh-CN" altLang="en-US" sz="2400" dirty="0">
                <a:latin typeface="Times New Roman" panose="02020603050405020304" pitchFamily="18" charset="0"/>
                <a:sym typeface="+mn-ea"/>
              </a:rPr>
              <a:t>的</a:t>
            </a:r>
            <a:r>
              <a:rPr lang="zh-CN" altLang="en-US" sz="2400" dirty="0">
                <a:latin typeface="Times New Roman" panose="02020603050405020304" pitchFamily="18" charset="0"/>
              </a:rPr>
              <a:t>输出图像</a:t>
            </a:r>
            <a:r>
              <a:rPr lang="en-US" altLang="zh-CN" sz="2400" dirty="0">
                <a:latin typeface="Times New Roman" panose="02020603050405020304" pitchFamily="18" charset="0"/>
              </a:rPr>
              <a:t>C(x,y)</a:t>
            </a:r>
            <a:r>
              <a:rPr lang="zh-CN" altLang="en-US" sz="2400" dirty="0">
                <a:latin typeface="Times New Roman" panose="02020603050405020304" pitchFamily="18" charset="0"/>
              </a:rPr>
              <a:t>，求变换</a:t>
            </a:r>
            <a:r>
              <a:rPr lang="en-US" altLang="zh-CN" sz="2400" dirty="0">
                <a:latin typeface="Times New Roman" panose="02020603050405020304" pitchFamily="18" charset="0"/>
              </a:rPr>
              <a:t>f(D)</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marL="0" lvl="0" indent="0">
              <a:spcBef>
                <a:spcPct val="0"/>
              </a:spcBef>
              <a:buClrTx/>
              <a:buSzTx/>
              <a:buFontTx/>
              <a:buNone/>
            </a:pPr>
            <a:endParaRPr lang="zh-CN" altLang="en-US" sz="2400" dirty="0">
              <a:latin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247650" y="1309687"/>
            <a:ext cx="8648700" cy="4238625"/>
          </a:xfrm>
          <a:prstGeom prst="rect">
            <a:avLst/>
          </a:prstGeom>
        </p:spPr>
      </p:pic>
      <p:sp>
        <p:nvSpPr>
          <p:cNvPr id="3" name="矩形 2"/>
          <p:cNvSpPr/>
          <p:nvPr/>
        </p:nvSpPr>
        <p:spPr>
          <a:xfrm>
            <a:off x="996410" y="5465506"/>
            <a:ext cx="1422184" cy="461665"/>
          </a:xfrm>
          <a:prstGeom prst="rect">
            <a:avLst/>
          </a:prstGeom>
        </p:spPr>
        <p:txBody>
          <a:bodyPr wrap="none">
            <a:spAutoFit/>
          </a:bodyPr>
          <a:lstStyle/>
          <a:p>
            <a:r>
              <a:rPr lang="zh-CN" altLang="en-US" dirty="0" smtClean="0"/>
              <a:t>原始图像</a:t>
            </a:r>
            <a:endParaRPr lang="zh-CN" altLang="en-US" dirty="0"/>
          </a:p>
        </p:txBody>
      </p:sp>
      <p:sp>
        <p:nvSpPr>
          <p:cNvPr id="4" name="矩形 3"/>
          <p:cNvSpPr/>
          <p:nvPr/>
        </p:nvSpPr>
        <p:spPr>
          <a:xfrm>
            <a:off x="3658744" y="5488926"/>
            <a:ext cx="1422184" cy="461665"/>
          </a:xfrm>
          <a:prstGeom prst="rect">
            <a:avLst/>
          </a:prstGeom>
        </p:spPr>
        <p:txBody>
          <a:bodyPr wrap="none">
            <a:spAutoFit/>
          </a:bodyPr>
          <a:lstStyle/>
          <a:p>
            <a:r>
              <a:rPr lang="zh-CN" altLang="en-US" dirty="0" smtClean="0"/>
              <a:t>参考图像</a:t>
            </a:r>
            <a:endParaRPr lang="zh-CN" altLang="en-US" dirty="0"/>
          </a:p>
        </p:txBody>
      </p:sp>
      <p:sp>
        <p:nvSpPr>
          <p:cNvPr id="5" name="矩形 4"/>
          <p:cNvSpPr/>
          <p:nvPr/>
        </p:nvSpPr>
        <p:spPr>
          <a:xfrm>
            <a:off x="6321078" y="5500104"/>
            <a:ext cx="2350323" cy="461665"/>
          </a:xfrm>
          <a:prstGeom prst="rect">
            <a:avLst/>
          </a:prstGeom>
        </p:spPr>
        <p:txBody>
          <a:bodyPr wrap="none">
            <a:spAutoFit/>
          </a:bodyPr>
          <a:lstStyle/>
          <a:p>
            <a:r>
              <a:rPr lang="zh-CN" altLang="en-US" dirty="0" smtClean="0"/>
              <a:t>直方图匹配结果</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747395" y="582295"/>
            <a:ext cx="7926705" cy="1753235"/>
          </a:xfrm>
          <a:prstGeom prst="rect">
            <a:avLst/>
          </a:prstGeom>
        </p:spPr>
        <p:txBody>
          <a:bodyPr wrap="square">
            <a:spAutoFit/>
          </a:bodyPr>
          <a:p>
            <a:pPr>
              <a:lnSpc>
                <a:spcPct val="150000"/>
              </a:lnSpc>
            </a:pPr>
            <a:r>
              <a:rPr lang="en-US" altLang="zh-CN" b="0" dirty="0">
                <a:solidFill>
                  <a:srgbClr val="FF0000"/>
                </a:solidFill>
                <a:ea typeface="+mn-ea"/>
              </a:rPr>
              <a:t>直方图匹配</a:t>
            </a:r>
            <a:r>
              <a:rPr lang="zh-CN" altLang="en-US" b="0" dirty="0"/>
              <a:t>的关键是通过累计分布函数的单调性来建立灰度级的对应关系。</a:t>
            </a:r>
            <a:endParaRPr lang="zh-CN" altLang="en-US" b="0" dirty="0"/>
          </a:p>
          <a:p>
            <a:pPr>
              <a:lnSpc>
                <a:spcPct val="150000"/>
              </a:lnSpc>
            </a:pPr>
            <a:r>
              <a:rPr lang="zh-CN" altLang="en-US" b="0" dirty="0"/>
              <a:t>具体计算</a:t>
            </a:r>
            <a:r>
              <a:rPr lang="zh-CN" altLang="en-US" b="0" dirty="0"/>
              <a:t>为</a:t>
            </a:r>
            <a:endParaRPr lang="zh-CN" altLang="en-US" b="0" dirty="0"/>
          </a:p>
        </p:txBody>
      </p:sp>
      <p:sp>
        <p:nvSpPr>
          <p:cNvPr id="55298" name="Text Box 2"/>
          <p:cNvSpPr txBox="1"/>
          <p:nvPr/>
        </p:nvSpPr>
        <p:spPr>
          <a:xfrm>
            <a:off x="747395" y="2232660"/>
            <a:ext cx="7981950" cy="64516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lnSpc>
                <a:spcPct val="150000"/>
              </a:lnSpc>
              <a:spcBef>
                <a:spcPct val="0"/>
              </a:spcBef>
              <a:buClrTx/>
              <a:buSzTx/>
              <a:buFont typeface="Wingdings" panose="05000000000000000000" pitchFamily="2" charset="2"/>
              <a:buNone/>
            </a:pPr>
            <a:r>
              <a:rPr lang="en-US" altLang="zh-CN" sz="2400" dirty="0">
                <a:latin typeface="Tahoma" panose="020B0604030504040204" pitchFamily="34" charset="0"/>
              </a:rPr>
              <a:t>1 </a:t>
            </a:r>
            <a:r>
              <a:rPr lang="zh-CN" altLang="en-US" sz="2400" dirty="0">
                <a:latin typeface="Tahoma" panose="020B0604030504040204" pitchFamily="34" charset="0"/>
              </a:rPr>
              <a:t>原图像</a:t>
            </a:r>
            <a:r>
              <a:rPr lang="en-US" altLang="zh-CN" sz="2400" dirty="0">
                <a:latin typeface="Tahoma" panose="020B0604030504040204" pitchFamily="34" charset="0"/>
              </a:rPr>
              <a:t>A</a:t>
            </a:r>
            <a:r>
              <a:rPr lang="zh-CN" altLang="en-US" sz="2400" dirty="0">
                <a:latin typeface="Tahoma" panose="020B0604030504040204" pitchFamily="34" charset="0"/>
              </a:rPr>
              <a:t>做均衡化变换</a:t>
            </a:r>
            <a:endParaRPr lang="zh-CN" altLang="en-US" sz="2400" dirty="0">
              <a:latin typeface="Times New Roman" panose="02020603050405020304" pitchFamily="18" charset="0"/>
            </a:endParaRPr>
          </a:p>
        </p:txBody>
      </p:sp>
      <p:graphicFrame>
        <p:nvGraphicFramePr>
          <p:cNvPr id="55300" name="Object 4"/>
          <p:cNvGraphicFramePr>
            <a:graphicFrameLocks noChangeAspect="1"/>
          </p:cNvGraphicFramePr>
          <p:nvPr/>
        </p:nvGraphicFramePr>
        <p:xfrm>
          <a:off x="1443990" y="2834640"/>
          <a:ext cx="6269355" cy="564515"/>
        </p:xfrm>
        <a:graphic>
          <a:graphicData uri="http://schemas.openxmlformats.org/presentationml/2006/ole">
            <mc:AlternateContent xmlns:mc="http://schemas.openxmlformats.org/markup-compatibility/2006">
              <mc:Choice xmlns:v="urn:schemas-microsoft-com:vml" Requires="v">
                <p:oleObj spid="_x0000_s17442" name="" r:id="rId1" imgW="2743200" imgH="316865" progId="Equation.3">
                  <p:embed/>
                </p:oleObj>
              </mc:Choice>
              <mc:Fallback>
                <p:oleObj name="" r:id="rId1" imgW="2743200" imgH="316865" progId="Equation.3">
                  <p:embed/>
                  <p:pic>
                    <p:nvPicPr>
                      <p:cNvPr id="0" name="图片 3134"/>
                      <p:cNvPicPr/>
                      <p:nvPr/>
                    </p:nvPicPr>
                    <p:blipFill>
                      <a:blip r:embed="rId2"/>
                      <a:stretch>
                        <a:fillRect/>
                      </a:stretch>
                    </p:blipFill>
                    <p:spPr>
                      <a:xfrm>
                        <a:off x="1443990" y="2834640"/>
                        <a:ext cx="6269355" cy="564515"/>
                      </a:xfrm>
                      <a:prstGeom prst="rect">
                        <a:avLst/>
                      </a:prstGeom>
                      <a:noFill/>
                      <a:ln w="38100">
                        <a:noFill/>
                        <a:miter/>
                      </a:ln>
                    </p:spPr>
                  </p:pic>
                </p:oleObj>
              </mc:Fallback>
            </mc:AlternateContent>
          </a:graphicData>
        </a:graphic>
      </p:graphicFrame>
      <p:sp>
        <p:nvSpPr>
          <p:cNvPr id="55301" name="Text Box 5"/>
          <p:cNvSpPr txBox="1"/>
          <p:nvPr/>
        </p:nvSpPr>
        <p:spPr>
          <a:xfrm>
            <a:off x="839788" y="3563938"/>
            <a:ext cx="7575550" cy="460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 typeface="Wingdings" panose="05000000000000000000" pitchFamily="2" charset="2"/>
              <a:buNone/>
            </a:pPr>
            <a:r>
              <a:rPr lang="en-US" altLang="zh-CN" sz="2400" dirty="0">
                <a:latin typeface="Tahoma" panose="020B0604030504040204" pitchFamily="34" charset="0"/>
              </a:rPr>
              <a:t>2 </a:t>
            </a:r>
            <a:r>
              <a:rPr lang="zh-CN" altLang="en-US" sz="2400" dirty="0">
                <a:latin typeface="Tahoma" panose="020B0604030504040204" pitchFamily="34" charset="0"/>
              </a:rPr>
              <a:t>参考图像</a:t>
            </a:r>
            <a:r>
              <a:rPr lang="en-US" altLang="zh-CN" sz="2400" dirty="0">
                <a:latin typeface="Tahoma" panose="020B0604030504040204" pitchFamily="34" charset="0"/>
              </a:rPr>
              <a:t>C</a:t>
            </a:r>
            <a:r>
              <a:rPr lang="zh-CN" altLang="en-US" sz="2400" dirty="0">
                <a:latin typeface="Tahoma" panose="020B0604030504040204" pitchFamily="34" charset="0"/>
              </a:rPr>
              <a:t>做均衡化</a:t>
            </a:r>
            <a:r>
              <a:rPr lang="zh-CN" altLang="en-US" sz="2400" dirty="0">
                <a:latin typeface="Tahoma" panose="020B0604030504040204" pitchFamily="34" charset="0"/>
                <a:sym typeface="+mn-ea"/>
              </a:rPr>
              <a:t>变换</a:t>
            </a:r>
            <a:endParaRPr lang="zh-CN" altLang="en-US" sz="2400" dirty="0">
              <a:latin typeface="Tahoma" panose="020B0604030504040204" pitchFamily="34" charset="0"/>
            </a:endParaRPr>
          </a:p>
        </p:txBody>
      </p:sp>
      <p:graphicFrame>
        <p:nvGraphicFramePr>
          <p:cNvPr id="55302" name="Object 6"/>
          <p:cNvGraphicFramePr>
            <a:graphicFrameLocks noChangeAspect="1"/>
          </p:cNvGraphicFramePr>
          <p:nvPr/>
        </p:nvGraphicFramePr>
        <p:xfrm>
          <a:off x="1443990" y="4065905"/>
          <a:ext cx="5200015" cy="618490"/>
        </p:xfrm>
        <a:graphic>
          <a:graphicData uri="http://schemas.openxmlformats.org/presentationml/2006/ole">
            <mc:AlternateContent xmlns:mc="http://schemas.openxmlformats.org/markup-compatibility/2006">
              <mc:Choice xmlns:v="urn:schemas-microsoft-com:vml" Requires="v">
                <p:oleObj spid="_x0000_s17443" name="" r:id="rId3" imgW="1955800" imgH="330200" progId="Equation.3">
                  <p:embed/>
                </p:oleObj>
              </mc:Choice>
              <mc:Fallback>
                <p:oleObj name="" r:id="rId3" imgW="1955800" imgH="330200" progId="Equation.3">
                  <p:embed/>
                  <p:pic>
                    <p:nvPicPr>
                      <p:cNvPr id="0" name="图片 3138"/>
                      <p:cNvPicPr/>
                      <p:nvPr/>
                    </p:nvPicPr>
                    <p:blipFill>
                      <a:blip r:embed="rId4"/>
                      <a:stretch>
                        <a:fillRect/>
                      </a:stretch>
                    </p:blipFill>
                    <p:spPr>
                      <a:xfrm>
                        <a:off x="1443990" y="4065905"/>
                        <a:ext cx="5200015" cy="618490"/>
                      </a:xfrm>
                      <a:prstGeom prst="rect">
                        <a:avLst/>
                      </a:prstGeom>
                      <a:noFill/>
                      <a:ln w="38100">
                        <a:noFill/>
                        <a:miter/>
                      </a:ln>
                    </p:spPr>
                  </p:pic>
                </p:oleObj>
              </mc:Fallback>
            </mc:AlternateContent>
          </a:graphicData>
        </a:graphic>
      </p:graphicFrame>
      <p:sp>
        <p:nvSpPr>
          <p:cNvPr id="55303" name="Text Box 7"/>
          <p:cNvSpPr txBox="1"/>
          <p:nvPr/>
        </p:nvSpPr>
        <p:spPr>
          <a:xfrm>
            <a:off x="840105" y="4698683"/>
            <a:ext cx="7735888" cy="460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50000"/>
              </a:spcBef>
              <a:buClrTx/>
              <a:buSzTx/>
              <a:buFont typeface="Wingdings" panose="05000000000000000000" pitchFamily="2" charset="2"/>
              <a:buNone/>
            </a:pPr>
            <a:r>
              <a:rPr lang="en-US" altLang="zh-CN" sz="2400" dirty="0">
                <a:latin typeface="Times New Roman" panose="02020603050405020304" pitchFamily="18" charset="0"/>
              </a:rPr>
              <a:t>3 </a:t>
            </a:r>
            <a:r>
              <a:rPr lang="zh-CN" altLang="en-US" sz="2400" dirty="0">
                <a:latin typeface="Times New Roman" panose="02020603050405020304" pitchFamily="18" charset="0"/>
              </a:rPr>
              <a:t>建立两者之间的</a:t>
            </a:r>
            <a:r>
              <a:rPr lang="zh-CN" altLang="en-US" sz="2400" dirty="0">
                <a:latin typeface="Times New Roman" panose="02020603050405020304" pitchFamily="18" charset="0"/>
              </a:rPr>
              <a:t>对应，得到理论上的变换公式</a:t>
            </a:r>
            <a:endParaRPr lang="zh-CN" altLang="en-US" sz="2400" dirty="0">
              <a:latin typeface="Times New Roman" panose="02020603050405020304" pitchFamily="18" charset="0"/>
            </a:endParaRPr>
          </a:p>
        </p:txBody>
      </p:sp>
      <p:graphicFrame>
        <p:nvGraphicFramePr>
          <p:cNvPr id="55304" name="Object 8"/>
          <p:cNvGraphicFramePr>
            <a:graphicFrameLocks noChangeAspect="1"/>
          </p:cNvGraphicFramePr>
          <p:nvPr/>
        </p:nvGraphicFramePr>
        <p:xfrm>
          <a:off x="1492568" y="5253355"/>
          <a:ext cx="4141470" cy="407670"/>
        </p:xfrm>
        <a:graphic>
          <a:graphicData uri="http://schemas.openxmlformats.org/presentationml/2006/ole">
            <mc:AlternateContent xmlns:mc="http://schemas.openxmlformats.org/markup-compatibility/2006">
              <mc:Choice xmlns:v="urn:schemas-microsoft-com:vml" Requires="v">
                <p:oleObj spid="_x0000_s17444" name="" r:id="rId5" imgW="1638300" imgH="228600" progId="Equation.3">
                  <p:embed/>
                </p:oleObj>
              </mc:Choice>
              <mc:Fallback>
                <p:oleObj name="" r:id="rId5" imgW="1638300" imgH="228600" progId="Equation.3">
                  <p:embed/>
                  <p:pic>
                    <p:nvPicPr>
                      <p:cNvPr id="0" name="图片 3135"/>
                      <p:cNvPicPr/>
                      <p:nvPr/>
                    </p:nvPicPr>
                    <p:blipFill>
                      <a:blip r:embed="rId6"/>
                      <a:stretch>
                        <a:fillRect/>
                      </a:stretch>
                    </p:blipFill>
                    <p:spPr>
                      <a:xfrm>
                        <a:off x="1492568" y="5253355"/>
                        <a:ext cx="4141470" cy="407670"/>
                      </a:xfrm>
                      <a:prstGeom prst="rect">
                        <a:avLst/>
                      </a:prstGeom>
                      <a:noFill/>
                      <a:ln w="38100">
                        <a:noFill/>
                        <a:miter/>
                      </a:ln>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ext Box 3"/>
          <p:cNvSpPr txBox="1"/>
          <p:nvPr/>
        </p:nvSpPr>
        <p:spPr>
          <a:xfrm>
            <a:off x="493713" y="739775"/>
            <a:ext cx="7981950" cy="101473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457200" lvl="0" indent="-457200">
              <a:spcBef>
                <a:spcPct val="50000"/>
              </a:spcBef>
              <a:buClrTx/>
              <a:buSzTx/>
              <a:buFontTx/>
              <a:buNone/>
            </a:pPr>
            <a:r>
              <a:rPr lang="zh-CN" altLang="en-US" sz="2400" dirty="0">
                <a:solidFill>
                  <a:srgbClr val="FF0000"/>
                </a:solidFill>
                <a:latin typeface="Times New Roman" panose="02020603050405020304" pitchFamily="18" charset="0"/>
              </a:rPr>
              <a:t>离散图像数据的近似公式：</a:t>
            </a:r>
            <a:endParaRPr lang="zh-CN" altLang="en-US" sz="2400" dirty="0">
              <a:solidFill>
                <a:srgbClr val="009900"/>
              </a:solidFill>
              <a:latin typeface="Times New Roman" panose="02020603050405020304" pitchFamily="18" charset="0"/>
            </a:endParaRPr>
          </a:p>
          <a:p>
            <a:pPr marL="0" lvl="0" indent="0">
              <a:spcBef>
                <a:spcPct val="50000"/>
              </a:spcBef>
              <a:buClrTx/>
              <a:buSzTx/>
              <a:buFontTx/>
              <a:buNone/>
            </a:pPr>
            <a:r>
              <a:rPr lang="en-US" altLang="zh-CN" sz="2400" dirty="0">
                <a:solidFill>
                  <a:schemeClr val="bg2"/>
                </a:solidFill>
                <a:latin typeface="Times New Roman" panose="02020603050405020304" pitchFamily="18" charset="0"/>
              </a:rPr>
              <a:t>1 </a:t>
            </a:r>
            <a:r>
              <a:rPr lang="zh-CN" altLang="en-US" sz="2400" dirty="0">
                <a:solidFill>
                  <a:schemeClr val="bg2"/>
                </a:solidFill>
                <a:latin typeface="Times New Roman" panose="02020603050405020304" pitchFamily="18" charset="0"/>
              </a:rPr>
              <a:t>计算原图像的</a:t>
            </a:r>
            <a:r>
              <a:rPr lang="zh-CN" altLang="en-US" sz="2400" dirty="0">
                <a:solidFill>
                  <a:schemeClr val="bg2"/>
                </a:solidFill>
                <a:latin typeface="Times New Roman" panose="02020603050405020304" pitchFamily="18" charset="0"/>
                <a:sym typeface="+mn-ea"/>
              </a:rPr>
              <a:t>变换</a:t>
            </a:r>
            <a:r>
              <a:rPr lang="zh-CN" altLang="en-US" sz="2400" dirty="0">
                <a:solidFill>
                  <a:schemeClr val="bg2"/>
                </a:solidFill>
                <a:latin typeface="Times New Roman" panose="02020603050405020304" pitchFamily="18" charset="0"/>
              </a:rPr>
              <a:t>，对</a:t>
            </a:r>
            <a:r>
              <a:rPr lang="en-US" altLang="zh-CN" sz="2400" i="1" dirty="0">
                <a:solidFill>
                  <a:schemeClr val="bg2"/>
                </a:solidFill>
                <a:latin typeface="Times New Roman" panose="02020603050405020304" pitchFamily="18" charset="0"/>
              </a:rPr>
              <a:t>k=0,……,L-1 </a:t>
            </a:r>
            <a:r>
              <a:rPr lang="zh-CN" altLang="en-US" sz="2400" dirty="0">
                <a:solidFill>
                  <a:schemeClr val="bg2"/>
                </a:solidFill>
                <a:latin typeface="Times New Roman" panose="02020603050405020304" pitchFamily="18" charset="0"/>
              </a:rPr>
              <a:t>定义</a:t>
            </a:r>
            <a:endParaRPr lang="zh-CN" altLang="en-US" sz="2400" dirty="0">
              <a:solidFill>
                <a:schemeClr val="bg2"/>
              </a:solidFill>
              <a:latin typeface="Times New Roman" panose="02020603050405020304" pitchFamily="18" charset="0"/>
            </a:endParaRPr>
          </a:p>
        </p:txBody>
      </p:sp>
      <p:sp>
        <p:nvSpPr>
          <p:cNvPr id="56324" name="Rectangle 4"/>
          <p:cNvSpPr/>
          <p:nvPr/>
        </p:nvSpPr>
        <p:spPr>
          <a:xfrm>
            <a:off x="0" y="386715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0"/>
              </a:spcBef>
              <a:buClrTx/>
              <a:buSzTx/>
              <a:buFontTx/>
              <a:buNone/>
            </a:pPr>
            <a:endParaRPr lang="zh-CN" altLang="en-US" sz="2400" b="1" dirty="0">
              <a:latin typeface="Times New Roman" panose="02020603050405020304" pitchFamily="18" charset="0"/>
            </a:endParaRPr>
          </a:p>
        </p:txBody>
      </p:sp>
      <p:graphicFrame>
        <p:nvGraphicFramePr>
          <p:cNvPr id="56325" name="Object 5"/>
          <p:cNvGraphicFramePr>
            <a:graphicFrameLocks noChangeAspect="1"/>
          </p:cNvGraphicFramePr>
          <p:nvPr/>
        </p:nvGraphicFramePr>
        <p:xfrm>
          <a:off x="1369695" y="1772920"/>
          <a:ext cx="4498975" cy="1579880"/>
        </p:xfrm>
        <a:graphic>
          <a:graphicData uri="http://schemas.openxmlformats.org/presentationml/2006/ole">
            <mc:AlternateContent xmlns:mc="http://schemas.openxmlformats.org/markup-compatibility/2006">
              <mc:Choice xmlns:v="urn:schemas-microsoft-com:vml" Requires="v">
                <p:oleObj spid="_x0000_s18488" name="" r:id="rId1" imgW="2654300" imgH="1459865" progId="Equation.3">
                  <p:embed/>
                </p:oleObj>
              </mc:Choice>
              <mc:Fallback>
                <p:oleObj name="" r:id="rId1" imgW="2654300" imgH="1459865" progId="Equation.3">
                  <p:embed/>
                  <p:pic>
                    <p:nvPicPr>
                      <p:cNvPr id="0" name="图片 3143"/>
                      <p:cNvPicPr/>
                      <p:nvPr/>
                    </p:nvPicPr>
                    <p:blipFill>
                      <a:blip r:embed="rId2"/>
                      <a:stretch>
                        <a:fillRect/>
                      </a:stretch>
                    </p:blipFill>
                    <p:spPr>
                      <a:xfrm>
                        <a:off x="1369695" y="1772920"/>
                        <a:ext cx="4498975" cy="1579880"/>
                      </a:xfrm>
                      <a:prstGeom prst="rect">
                        <a:avLst/>
                      </a:prstGeom>
                      <a:noFill/>
                      <a:ln w="38100">
                        <a:noFill/>
                        <a:miter/>
                      </a:ln>
                    </p:spPr>
                  </p:pic>
                </p:oleObj>
              </mc:Fallback>
            </mc:AlternateContent>
          </a:graphicData>
        </a:graphic>
      </p:graphicFrame>
      <p:sp>
        <p:nvSpPr>
          <p:cNvPr id="56326" name="Text Box 6"/>
          <p:cNvSpPr txBox="1"/>
          <p:nvPr/>
        </p:nvSpPr>
        <p:spPr>
          <a:xfrm>
            <a:off x="536575" y="3352800"/>
            <a:ext cx="7575550" cy="460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50000"/>
              </a:spcBef>
              <a:buClrTx/>
              <a:buSzTx/>
              <a:buFontTx/>
              <a:buNone/>
            </a:pPr>
            <a:r>
              <a:rPr lang="en-US" altLang="zh-CN" sz="2400" dirty="0">
                <a:solidFill>
                  <a:schemeClr val="bg2"/>
                </a:solidFill>
                <a:latin typeface="Times New Roman" panose="02020603050405020304" pitchFamily="18" charset="0"/>
              </a:rPr>
              <a:t>2 </a:t>
            </a:r>
            <a:r>
              <a:rPr lang="zh-CN" altLang="en-US" sz="2400" dirty="0">
                <a:solidFill>
                  <a:schemeClr val="bg2"/>
                </a:solidFill>
                <a:latin typeface="Times New Roman" panose="02020603050405020304" pitchFamily="18" charset="0"/>
              </a:rPr>
              <a:t>给出输出图像期望直方图          ，并强令</a:t>
            </a:r>
            <a:endParaRPr lang="en-US" altLang="zh-CN" sz="2400" dirty="0">
              <a:solidFill>
                <a:schemeClr val="bg2"/>
              </a:solidFill>
              <a:latin typeface="Times New Roman" panose="02020603050405020304" pitchFamily="18" charset="0"/>
            </a:endParaRPr>
          </a:p>
        </p:txBody>
      </p:sp>
      <p:graphicFrame>
        <p:nvGraphicFramePr>
          <p:cNvPr id="56327" name="Object 7"/>
          <p:cNvGraphicFramePr>
            <a:graphicFrameLocks noChangeAspect="1"/>
          </p:cNvGraphicFramePr>
          <p:nvPr/>
        </p:nvGraphicFramePr>
        <p:xfrm>
          <a:off x="4235768" y="3370898"/>
          <a:ext cx="671512" cy="407987"/>
        </p:xfrm>
        <a:graphic>
          <a:graphicData uri="http://schemas.openxmlformats.org/presentationml/2006/ole">
            <mc:AlternateContent xmlns:mc="http://schemas.openxmlformats.org/markup-compatibility/2006">
              <mc:Choice xmlns:v="urn:schemas-microsoft-com:vml" Requires="v">
                <p:oleObj spid="_x0000_s18489" name="" r:id="rId3" imgW="381000" imgH="215900" progId="Equation.3">
                  <p:embed/>
                </p:oleObj>
              </mc:Choice>
              <mc:Fallback>
                <p:oleObj name="" r:id="rId3" imgW="381000" imgH="215900" progId="Equation.3">
                  <p:embed/>
                  <p:pic>
                    <p:nvPicPr>
                      <p:cNvPr id="0" name="图片 3142"/>
                      <p:cNvPicPr/>
                      <p:nvPr/>
                    </p:nvPicPr>
                    <p:blipFill>
                      <a:blip r:embed="rId4"/>
                      <a:stretch>
                        <a:fillRect/>
                      </a:stretch>
                    </p:blipFill>
                    <p:spPr>
                      <a:xfrm>
                        <a:off x="4235768" y="3370898"/>
                        <a:ext cx="671512" cy="407987"/>
                      </a:xfrm>
                      <a:prstGeom prst="rect">
                        <a:avLst/>
                      </a:prstGeom>
                      <a:noFill/>
                      <a:ln w="38100">
                        <a:noFill/>
                        <a:miter/>
                      </a:ln>
                    </p:spPr>
                  </p:pic>
                </p:oleObj>
              </mc:Fallback>
            </mc:AlternateContent>
          </a:graphicData>
        </a:graphic>
      </p:graphicFrame>
      <p:graphicFrame>
        <p:nvGraphicFramePr>
          <p:cNvPr id="56328" name="Object 8"/>
          <p:cNvGraphicFramePr>
            <a:graphicFrameLocks noChangeAspect="1"/>
          </p:cNvGraphicFramePr>
          <p:nvPr/>
        </p:nvGraphicFramePr>
        <p:xfrm>
          <a:off x="1140460" y="3870325"/>
          <a:ext cx="4505960" cy="656590"/>
        </p:xfrm>
        <a:graphic>
          <a:graphicData uri="http://schemas.openxmlformats.org/presentationml/2006/ole">
            <mc:AlternateContent xmlns:mc="http://schemas.openxmlformats.org/markup-compatibility/2006">
              <mc:Choice xmlns:v="urn:schemas-microsoft-com:vml" Requires="v">
                <p:oleObj spid="_x0000_s18490" name="" r:id="rId5" imgW="2717800" imgH="431800" progId="Equation.3">
                  <p:embed/>
                </p:oleObj>
              </mc:Choice>
              <mc:Fallback>
                <p:oleObj name="" r:id="rId5" imgW="2717800" imgH="431800" progId="Equation.3">
                  <p:embed/>
                  <p:pic>
                    <p:nvPicPr>
                      <p:cNvPr id="0" name="图片 3140"/>
                      <p:cNvPicPr/>
                      <p:nvPr/>
                    </p:nvPicPr>
                    <p:blipFill>
                      <a:blip r:embed="rId6"/>
                      <a:stretch>
                        <a:fillRect/>
                      </a:stretch>
                    </p:blipFill>
                    <p:spPr>
                      <a:xfrm>
                        <a:off x="1140460" y="3870325"/>
                        <a:ext cx="4505960" cy="656590"/>
                      </a:xfrm>
                      <a:prstGeom prst="rect">
                        <a:avLst/>
                      </a:prstGeom>
                      <a:noFill/>
                      <a:ln w="38100">
                        <a:noFill/>
                        <a:miter/>
                      </a:ln>
                    </p:spPr>
                  </p:pic>
                </p:oleObj>
              </mc:Fallback>
            </mc:AlternateContent>
          </a:graphicData>
        </a:graphic>
      </p:graphicFrame>
      <p:graphicFrame>
        <p:nvGraphicFramePr>
          <p:cNvPr id="58373" name="Object 5"/>
          <p:cNvGraphicFramePr>
            <a:graphicFrameLocks noChangeAspect="1"/>
          </p:cNvGraphicFramePr>
          <p:nvPr/>
        </p:nvGraphicFramePr>
        <p:xfrm>
          <a:off x="2853690" y="5222240"/>
          <a:ext cx="3124200" cy="434975"/>
        </p:xfrm>
        <a:graphic>
          <a:graphicData uri="http://schemas.openxmlformats.org/presentationml/2006/ole">
            <mc:AlternateContent xmlns:mc="http://schemas.openxmlformats.org/markup-compatibility/2006">
              <mc:Choice xmlns:v="urn:schemas-microsoft-com:vml" Requires="v">
                <p:oleObj spid="_x0000_s19479" name="" r:id="rId7" imgW="1346200" imgH="266700" progId="Equation.3">
                  <p:embed/>
                </p:oleObj>
              </mc:Choice>
              <mc:Fallback>
                <p:oleObj name="" r:id="rId7" imgW="1346200" imgH="266700" progId="Equation.3">
                  <p:embed/>
                  <p:pic>
                    <p:nvPicPr>
                      <p:cNvPr id="0" name="图片 3145"/>
                      <p:cNvPicPr/>
                      <p:nvPr/>
                    </p:nvPicPr>
                    <p:blipFill>
                      <a:blip r:embed="rId8"/>
                      <a:stretch>
                        <a:fillRect/>
                      </a:stretch>
                    </p:blipFill>
                    <p:spPr>
                      <a:xfrm>
                        <a:off x="2853690" y="5222240"/>
                        <a:ext cx="3124200" cy="434975"/>
                      </a:xfrm>
                      <a:prstGeom prst="rect">
                        <a:avLst/>
                      </a:prstGeom>
                      <a:noFill/>
                      <a:ln w="38100">
                        <a:noFill/>
                        <a:miter/>
                      </a:ln>
                    </p:spPr>
                  </p:pic>
                </p:oleObj>
              </mc:Fallback>
            </mc:AlternateContent>
          </a:graphicData>
        </a:graphic>
      </p:graphicFrame>
      <p:sp>
        <p:nvSpPr>
          <p:cNvPr id="58374" name="Text Box 6"/>
          <p:cNvSpPr txBox="1"/>
          <p:nvPr/>
        </p:nvSpPr>
        <p:spPr>
          <a:xfrm>
            <a:off x="536575" y="4628198"/>
            <a:ext cx="7416800" cy="460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stStyle>
          <a:p>
            <a:pPr marL="0" lvl="0" indent="0">
              <a:spcBef>
                <a:spcPct val="50000"/>
              </a:spcBef>
              <a:buClrTx/>
              <a:buSzTx/>
              <a:buFont typeface="Arial" panose="020B0604020202020204" pitchFamily="34" charset="0"/>
              <a:buNone/>
            </a:pPr>
            <a:r>
              <a:rPr lang="en-US" altLang="zh-CN" sz="2400" dirty="0">
                <a:solidFill>
                  <a:schemeClr val="bg2"/>
                </a:solidFill>
                <a:latin typeface="Times New Roman" panose="02020603050405020304" pitchFamily="18" charset="0"/>
              </a:rPr>
              <a:t>3 </a:t>
            </a:r>
            <a:r>
              <a:rPr lang="zh-CN" altLang="en-US" sz="2400" dirty="0">
                <a:solidFill>
                  <a:schemeClr val="bg2"/>
                </a:solidFill>
                <a:latin typeface="Times New Roman" panose="02020603050405020304" pitchFamily="18" charset="0"/>
              </a:rPr>
              <a:t>寻找区间[0，</a:t>
            </a:r>
            <a:r>
              <a:rPr lang="en-US" altLang="zh-CN" sz="2400" dirty="0">
                <a:solidFill>
                  <a:schemeClr val="bg2"/>
                </a:solidFill>
                <a:latin typeface="Times New Roman" panose="02020603050405020304" pitchFamily="18" charset="0"/>
              </a:rPr>
              <a:t>L-1]</a:t>
            </a:r>
            <a:r>
              <a:rPr lang="zh-CN" altLang="en-US" sz="2400" dirty="0">
                <a:solidFill>
                  <a:schemeClr val="bg2"/>
                </a:solidFill>
                <a:latin typeface="Times New Roman" panose="02020603050405020304" pitchFamily="18" charset="0"/>
              </a:rPr>
              <a:t>的最小整数     ，使得</a:t>
            </a:r>
            <a:endParaRPr lang="zh-CN" altLang="en-US" sz="2400" dirty="0">
              <a:solidFill>
                <a:schemeClr val="bg2"/>
              </a:solidFill>
              <a:latin typeface="Times New Roman" panose="02020603050405020304" pitchFamily="18" charset="0"/>
            </a:endParaRPr>
          </a:p>
        </p:txBody>
      </p:sp>
      <p:graphicFrame>
        <p:nvGraphicFramePr>
          <p:cNvPr id="58375" name="Object 7"/>
          <p:cNvGraphicFramePr>
            <a:graphicFrameLocks noChangeAspect="1"/>
          </p:cNvGraphicFramePr>
          <p:nvPr/>
        </p:nvGraphicFramePr>
        <p:xfrm>
          <a:off x="4742180" y="4680585"/>
          <a:ext cx="273050" cy="355600"/>
        </p:xfrm>
        <a:graphic>
          <a:graphicData uri="http://schemas.openxmlformats.org/presentationml/2006/ole">
            <mc:AlternateContent xmlns:mc="http://schemas.openxmlformats.org/markup-compatibility/2006">
              <mc:Choice xmlns:v="urn:schemas-microsoft-com:vml" Requires="v">
                <p:oleObj spid="_x0000_s19480" name="" r:id="rId9" imgW="127000" imgH="165100" progId="Equation.3">
                  <p:embed/>
                </p:oleObj>
              </mc:Choice>
              <mc:Fallback>
                <p:oleObj name="" r:id="rId9" imgW="127000" imgH="165100" progId="Equation.3">
                  <p:embed/>
                  <p:pic>
                    <p:nvPicPr>
                      <p:cNvPr id="0" name="图片 3146"/>
                      <p:cNvPicPr/>
                      <p:nvPr/>
                    </p:nvPicPr>
                    <p:blipFill>
                      <a:blip r:embed="rId10"/>
                      <a:stretch>
                        <a:fillRect/>
                      </a:stretch>
                    </p:blipFill>
                    <p:spPr>
                      <a:xfrm>
                        <a:off x="4742180" y="4680585"/>
                        <a:ext cx="273050" cy="355600"/>
                      </a:xfrm>
                      <a:prstGeom prst="rect">
                        <a:avLst/>
                      </a:prstGeom>
                      <a:noFill/>
                      <a:ln w="38100">
                        <a:noFill/>
                        <a:miter/>
                      </a:ln>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总结</a:t>
            </a:r>
            <a:endParaRPr lang="zh-CN" altLang="en-US"/>
          </a:p>
        </p:txBody>
      </p:sp>
      <p:sp>
        <p:nvSpPr>
          <p:cNvPr id="3" name="内容占位符 2"/>
          <p:cNvSpPr>
            <a:spLocks noGrp="1"/>
          </p:cNvSpPr>
          <p:nvPr>
            <p:ph idx="1"/>
          </p:nvPr>
        </p:nvSpPr>
        <p:spPr/>
        <p:txBody>
          <a:bodyPr/>
          <a:lstStyle/>
          <a:p>
            <a:r>
              <a:rPr lang="zh-CN" altLang="en-US"/>
              <a:t>理解直方图均衡化的基本思想</a:t>
            </a:r>
            <a:endParaRPr lang="zh-CN" altLang="en-US"/>
          </a:p>
          <a:p>
            <a:r>
              <a:rPr lang="zh-CN" altLang="en-US"/>
              <a:t>理解直方图匹配的基本思想</a:t>
            </a: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实验</a:t>
            </a:r>
            <a:r>
              <a:rPr lang="en-US" altLang="zh-CN"/>
              <a:t>1 </a:t>
            </a:r>
            <a:r>
              <a:rPr lang="zh-CN" altLang="en-US"/>
              <a:t>直方图均衡化</a:t>
            </a:r>
            <a:endParaRPr lang="zh-CN" altLang="en-US"/>
          </a:p>
        </p:txBody>
      </p:sp>
      <p:sp>
        <p:nvSpPr>
          <p:cNvPr id="3" name="文本占位符 2"/>
          <p:cNvSpPr>
            <a:spLocks noGrp="1"/>
          </p:cNvSpPr>
          <p:nvPr>
            <p:ph type="body" sz="half" idx="1"/>
          </p:nvPr>
        </p:nvSpPr>
        <p:spPr>
          <a:xfrm>
            <a:off x="300355" y="1727835"/>
            <a:ext cx="8578215" cy="3886200"/>
          </a:xfrm>
        </p:spPr>
        <p:txBody>
          <a:bodyPr/>
          <a:lstStyle/>
          <a:p>
            <a:r>
              <a:rPr lang="zh-CN" altLang="en-US"/>
              <a:t>彩色图像</a:t>
            </a:r>
            <a:r>
              <a:rPr lang="en-US" altLang="zh-CN"/>
              <a:t>  </a:t>
            </a:r>
            <a:endParaRPr lang="en-US" altLang="zh-CN"/>
          </a:p>
          <a:p>
            <a:pPr lvl="1"/>
            <a:r>
              <a:rPr lang="zh-CN" altLang="en-US" sz="2395">
                <a:cs typeface="+mn-ea"/>
              </a:rPr>
              <a:t>各通道分别均衡化</a:t>
            </a:r>
            <a:endParaRPr lang="zh-CN" altLang="en-US" sz="2395">
              <a:cs typeface="+mn-ea"/>
            </a:endParaRPr>
          </a:p>
          <a:p>
            <a:r>
              <a:rPr lang="zh-CN" altLang="en-US"/>
              <a:t>问题适用范围</a:t>
            </a:r>
            <a:endParaRPr lang="zh-CN" altLang="en-US"/>
          </a:p>
          <a:p>
            <a:pPr lvl="1"/>
            <a:r>
              <a:rPr lang="zh-CN" altLang="en-US" sz="2395">
                <a:sym typeface="+mn-ea"/>
              </a:rPr>
              <a:t>图像质量差：过亮、过暗、对比度差</a:t>
            </a:r>
            <a:endParaRPr lang="en-US" altLang="zh-CN"/>
          </a:p>
          <a:p>
            <a:r>
              <a:rPr lang="zh-CN" altLang="en-US"/>
              <a:t>多找几幅图像测试</a:t>
            </a:r>
            <a:endParaRPr lang="zh-CN" altLang="en-US"/>
          </a:p>
          <a:p>
            <a:pPr lvl="1"/>
            <a:r>
              <a:rPr lang="zh-CN" altLang="en-US" sz="2395">
                <a:cs typeface="+mn-ea"/>
                <a:sym typeface="+mn-ea"/>
              </a:rPr>
              <a:t>具有代表性</a:t>
            </a:r>
            <a:endParaRPr lang="zh-CN" altLang="en-US" sz="2395">
              <a:cs typeface="+mn-ea"/>
            </a:endParaRPr>
          </a:p>
          <a:p>
            <a:r>
              <a:rPr lang="zh-CN" altLang="en-US"/>
              <a:t>提供原直方图和均衡化后直方图的对比图</a:t>
            </a:r>
            <a:endParaRPr lang="zh-CN" altLang="en-US"/>
          </a:p>
          <a:p>
            <a:r>
              <a:rPr lang="zh-CN" altLang="en-US"/>
              <a:t>交实验报告</a:t>
            </a:r>
            <a:endParaRPr lang="zh-CN" altLang="en-US"/>
          </a:p>
          <a:p>
            <a:pPr lvl="1" algn="l"/>
            <a:r>
              <a:rPr lang="zh-CN" altLang="en-US" sz="2395">
                <a:cs typeface="+mn-ea"/>
              </a:rPr>
              <a:t>包括实验目的、问题概念、原理、实验结果与分析、总结</a:t>
            </a:r>
            <a:endParaRPr lang="zh-CN" altLang="en-US" sz="2395">
              <a:cs typeface="+mn-ea"/>
            </a:endParaRPr>
          </a:p>
          <a:p>
            <a:pPr marL="457200" lvl="1" indent="0">
              <a:buNone/>
            </a:pP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768985"/>
          </a:xfrm>
        </p:spPr>
        <p:txBody>
          <a:bodyPr/>
          <a:lstStyle/>
          <a:p>
            <a:r>
              <a:rPr lang="zh-CN" altLang="en-US"/>
              <a:t>作业</a:t>
            </a:r>
            <a:endParaRPr lang="zh-CN" altLang="en-US"/>
          </a:p>
        </p:txBody>
      </p:sp>
      <p:sp>
        <p:nvSpPr>
          <p:cNvPr id="3" name="文本占位符 2"/>
          <p:cNvSpPr>
            <a:spLocks noGrp="1"/>
          </p:cNvSpPr>
          <p:nvPr>
            <p:ph type="body" sz="half" idx="1"/>
          </p:nvPr>
        </p:nvSpPr>
        <p:spPr>
          <a:xfrm>
            <a:off x="259715" y="1226185"/>
            <a:ext cx="8884285" cy="3100070"/>
          </a:xfrm>
        </p:spPr>
        <p:txBody>
          <a:bodyPr/>
          <a:lstStyle/>
          <a:p>
            <a:pPr marL="457200" lvl="1" indent="0">
              <a:buNone/>
            </a:pPr>
            <a:r>
              <a:rPr lang="zh-CN" altLang="en-US" sz="2400">
                <a:sym typeface="+mn-ea"/>
              </a:rPr>
              <a:t>已知一幅灰度图像共有</a:t>
            </a:r>
            <a:r>
              <a:rPr lang="en-US" altLang="zh-CN" sz="2400">
                <a:sym typeface="+mn-ea"/>
              </a:rPr>
              <a:t>8</a:t>
            </a:r>
            <a:r>
              <a:rPr lang="en-US" altLang="en-US" sz="2400">
                <a:sym typeface="+mn-ea"/>
              </a:rPr>
              <a:t>×</a:t>
            </a:r>
            <a:r>
              <a:rPr lang="en-US" altLang="zh-CN" sz="2400">
                <a:sym typeface="+mn-ea"/>
              </a:rPr>
              <a:t>8 </a:t>
            </a:r>
            <a:r>
              <a:rPr lang="zh-CN" altLang="en-US" sz="2400">
                <a:sym typeface="+mn-ea"/>
              </a:rPr>
              <a:t>个像素，灰度级范围为</a:t>
            </a:r>
            <a:r>
              <a:rPr lang="en-US" altLang="zh-CN" sz="2400">
                <a:sym typeface="+mn-ea"/>
              </a:rPr>
              <a:t> 0</a:t>
            </a:r>
            <a:r>
              <a:rPr lang="zh-CN" altLang="en-US" sz="2400">
                <a:sym typeface="+mn-ea"/>
              </a:rPr>
              <a:t>～</a:t>
            </a:r>
            <a:r>
              <a:rPr lang="en-US" altLang="zh-CN" sz="2400">
                <a:sym typeface="+mn-ea"/>
              </a:rPr>
              <a:t>3</a:t>
            </a:r>
            <a:r>
              <a:rPr lang="zh-CN" altLang="en-US" sz="2400">
                <a:sym typeface="+mn-ea"/>
              </a:rPr>
              <a:t>（即</a:t>
            </a:r>
            <a:r>
              <a:rPr lang="en-US" altLang="zh-CN" sz="2400">
                <a:sym typeface="+mn-ea"/>
              </a:rPr>
              <a:t> 4 </a:t>
            </a:r>
            <a:r>
              <a:rPr lang="zh-CN" altLang="en-US" sz="2400">
                <a:sym typeface="+mn-ea"/>
              </a:rPr>
              <a:t>个灰度级：</a:t>
            </a:r>
            <a:r>
              <a:rPr lang="en-US" altLang="zh-CN" sz="2400">
                <a:sym typeface="+mn-ea"/>
              </a:rPr>
              <a:t>0</a:t>
            </a:r>
            <a:r>
              <a:rPr lang="zh-CN" altLang="en-US" sz="2400">
                <a:sym typeface="+mn-ea"/>
              </a:rPr>
              <a:t>，</a:t>
            </a:r>
            <a:r>
              <a:rPr lang="en-US" altLang="zh-CN" sz="2400">
                <a:sym typeface="+mn-ea"/>
              </a:rPr>
              <a:t>1</a:t>
            </a:r>
            <a:r>
              <a:rPr lang="zh-CN" altLang="en-US" sz="2400">
                <a:sym typeface="+mn-ea"/>
              </a:rPr>
              <a:t>，</a:t>
            </a:r>
            <a:r>
              <a:rPr lang="en-US" altLang="zh-CN" sz="2400">
                <a:sym typeface="+mn-ea"/>
              </a:rPr>
              <a:t>2</a:t>
            </a:r>
            <a:r>
              <a:rPr lang="zh-CN" altLang="en-US" sz="2400">
                <a:sym typeface="+mn-ea"/>
              </a:rPr>
              <a:t>，</a:t>
            </a:r>
            <a:r>
              <a:rPr lang="en-US" altLang="zh-CN" sz="2400">
                <a:sym typeface="+mn-ea"/>
              </a:rPr>
              <a:t>3</a:t>
            </a:r>
            <a:r>
              <a:rPr lang="zh-CN" altLang="en-US" sz="2400">
                <a:sym typeface="+mn-ea"/>
              </a:rPr>
              <a:t>）。该图像的灰度直方图如表所示</a:t>
            </a:r>
            <a:endParaRPr lang="zh-CN" altLang="en-US" sz="2400">
              <a:sym typeface="+mn-ea"/>
            </a:endParaRPr>
          </a:p>
          <a:p>
            <a:pPr marL="457200" lvl="1" indent="0">
              <a:buNone/>
            </a:pPr>
            <a:endParaRPr lang="zh-CN" altLang="en-US" sz="2400"/>
          </a:p>
          <a:p>
            <a:pPr marL="457200" lvl="1" indent="0">
              <a:buNone/>
            </a:pPr>
            <a:endParaRPr lang="zh-CN" altLang="en-US" sz="2400"/>
          </a:p>
          <a:p>
            <a:pPr marL="457200" lvl="1" indent="0">
              <a:buNone/>
            </a:pPr>
            <a:endParaRPr lang="zh-CN" altLang="en-US" sz="2400"/>
          </a:p>
          <a:p>
            <a:pPr marL="457200" lvl="1" indent="0">
              <a:buNone/>
            </a:pPr>
            <a:endParaRPr lang="zh-CN" altLang="en-US" sz="2400"/>
          </a:p>
          <a:p>
            <a:pPr marL="457200" lvl="1" indent="0">
              <a:buNone/>
            </a:pPr>
            <a:r>
              <a:rPr lang="zh-CN" altLang="en-US" sz="2400"/>
              <a:t>要求：</a:t>
            </a:r>
            <a:endParaRPr lang="zh-CN" altLang="en-US" sz="2400"/>
          </a:p>
        </p:txBody>
      </p:sp>
      <p:graphicFrame>
        <p:nvGraphicFramePr>
          <p:cNvPr id="4" name="表格 3"/>
          <p:cNvGraphicFramePr/>
          <p:nvPr>
            <p:custDataLst>
              <p:tags r:id="rId1"/>
            </p:custDataLst>
          </p:nvPr>
        </p:nvGraphicFramePr>
        <p:xfrm>
          <a:off x="1802130" y="2051685"/>
          <a:ext cx="3022600" cy="1717675"/>
        </p:xfrm>
        <a:graphic>
          <a:graphicData uri="http://schemas.openxmlformats.org/drawingml/2006/table">
            <a:tbl>
              <a:tblPr/>
              <a:tblGrid>
                <a:gridCol w="1734820"/>
                <a:gridCol w="1287780"/>
              </a:tblGrid>
              <a:tr h="343535">
                <a:tc>
                  <a:txBody>
                    <a:bodyPr/>
                    <a:lstStyle/>
                    <a:p>
                      <a:pPr algn="ctr" fontAlgn="ctr"/>
                      <a:r>
                        <a:rPr lang="zh-CN" altLang="en-US" sz="2000" b="1" i="0">
                          <a:solidFill>
                            <a:srgbClr val="000000"/>
                          </a:solidFill>
                          <a:latin typeface="宋体" panose="02010600030101010101" pitchFamily="2" charset="-122"/>
                          <a:ea typeface="宋体" panose="02010600030101010101" pitchFamily="2" charset="-122"/>
                        </a:rPr>
                        <a:t>灰度级 </a:t>
                      </a:r>
                      <a:r>
                        <a:rPr lang="en-US" altLang="zh-CN" sz="2000" b="1" i="0">
                          <a:solidFill>
                            <a:srgbClr val="000000"/>
                          </a:solidFill>
                          <a:latin typeface="宋体" panose="02010600030101010101" pitchFamily="2" charset="-122"/>
                          <a:ea typeface="宋体" panose="02010600030101010101" pitchFamily="2" charset="-122"/>
                        </a:rPr>
                        <a:t>(r)</a:t>
                      </a:r>
                      <a:endParaRPr lang="en-US" altLang="zh-CN" sz="2000" b="1"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r>
                        <a:rPr lang="zh-CN" altLang="en-US" sz="2000" b="1" i="0">
                          <a:solidFill>
                            <a:srgbClr val="000000"/>
                          </a:solidFill>
                          <a:latin typeface="宋体" panose="02010600030101010101" pitchFamily="2" charset="-122"/>
                          <a:ea typeface="宋体" panose="02010600030101010101" pitchFamily="2" charset="-122"/>
                        </a:rPr>
                        <a:t>像素数</a:t>
                      </a:r>
                      <a:endParaRPr lang="zh-CN" altLang="en-US" sz="2000" b="1"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r h="343535">
                <a:tc>
                  <a:txBody>
                    <a:bodyPr/>
                    <a:lstStyle/>
                    <a:p>
                      <a:pPr algn="ctr" fontAlgn="ctr"/>
                      <a:r>
                        <a:rPr lang="en-US" altLang="zh-CN" sz="2000" b="0" i="0">
                          <a:solidFill>
                            <a:srgbClr val="000000"/>
                          </a:solidFill>
                          <a:latin typeface="宋体" panose="02010600030101010101" pitchFamily="2" charset="-122"/>
                          <a:ea typeface="宋体" panose="02010600030101010101" pitchFamily="2" charset="-122"/>
                        </a:rPr>
                        <a:t>0</a:t>
                      </a:r>
                      <a:endParaRPr lang="en-US" altLang="zh-CN" sz="20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r>
                        <a:rPr lang="en-US" altLang="zh-CN" sz="2000" b="0" i="0">
                          <a:solidFill>
                            <a:srgbClr val="000000"/>
                          </a:solidFill>
                          <a:latin typeface="宋体" panose="02010600030101010101" pitchFamily="2" charset="-122"/>
                          <a:ea typeface="宋体" panose="02010600030101010101" pitchFamily="2" charset="-122"/>
                        </a:rPr>
                        <a:t>16</a:t>
                      </a:r>
                      <a:endParaRPr lang="en-US" altLang="zh-CN" sz="20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r h="343535">
                <a:tc>
                  <a:txBody>
                    <a:bodyPr/>
                    <a:lstStyle/>
                    <a:p>
                      <a:pPr algn="ctr" fontAlgn="ctr"/>
                      <a:r>
                        <a:rPr lang="en-US" altLang="zh-CN" sz="2000" b="0" i="0">
                          <a:solidFill>
                            <a:srgbClr val="000000"/>
                          </a:solidFill>
                          <a:latin typeface="宋体" panose="02010600030101010101" pitchFamily="2" charset="-122"/>
                          <a:ea typeface="宋体" panose="02010600030101010101" pitchFamily="2" charset="-122"/>
                        </a:rPr>
                        <a:t>1</a:t>
                      </a:r>
                      <a:endParaRPr lang="en-US" altLang="zh-CN" sz="20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r>
                        <a:rPr lang="en-US" altLang="zh-CN" sz="2000" b="0" i="0">
                          <a:solidFill>
                            <a:srgbClr val="000000"/>
                          </a:solidFill>
                          <a:latin typeface="宋体" panose="02010600030101010101" pitchFamily="2" charset="-122"/>
                          <a:ea typeface="宋体" panose="02010600030101010101" pitchFamily="2" charset="-122"/>
                        </a:rPr>
                        <a:t>24</a:t>
                      </a:r>
                      <a:endParaRPr lang="en-US" altLang="zh-CN" sz="20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r h="343535">
                <a:tc>
                  <a:txBody>
                    <a:bodyPr/>
                    <a:lstStyle/>
                    <a:p>
                      <a:pPr algn="ctr" fontAlgn="ctr"/>
                      <a:r>
                        <a:rPr lang="en-US" altLang="zh-CN" sz="2000" b="0" i="0">
                          <a:solidFill>
                            <a:srgbClr val="000000"/>
                          </a:solidFill>
                          <a:latin typeface="宋体" panose="02010600030101010101" pitchFamily="2" charset="-122"/>
                          <a:ea typeface="宋体" panose="02010600030101010101" pitchFamily="2" charset="-122"/>
                        </a:rPr>
                        <a:t>2</a:t>
                      </a:r>
                      <a:endParaRPr lang="en-US" altLang="zh-CN" sz="20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r>
                        <a:rPr lang="en-US" altLang="zh-CN" sz="2000" b="0" i="0">
                          <a:solidFill>
                            <a:srgbClr val="000000"/>
                          </a:solidFill>
                          <a:latin typeface="宋体" panose="02010600030101010101" pitchFamily="2" charset="-122"/>
                          <a:ea typeface="宋体" panose="02010600030101010101" pitchFamily="2" charset="-122"/>
                        </a:rPr>
                        <a:t>16</a:t>
                      </a:r>
                      <a:endParaRPr lang="en-US" altLang="zh-CN" sz="20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r h="343535">
                <a:tc>
                  <a:txBody>
                    <a:bodyPr/>
                    <a:lstStyle/>
                    <a:p>
                      <a:pPr algn="ctr" fontAlgn="ctr"/>
                      <a:r>
                        <a:rPr lang="en-US" altLang="zh-CN" sz="2000" b="0" i="0">
                          <a:solidFill>
                            <a:srgbClr val="000000"/>
                          </a:solidFill>
                          <a:latin typeface="宋体" panose="02010600030101010101" pitchFamily="2" charset="-122"/>
                          <a:ea typeface="宋体" panose="02010600030101010101" pitchFamily="2" charset="-122"/>
                        </a:rPr>
                        <a:t>3</a:t>
                      </a:r>
                      <a:endParaRPr lang="en-US" altLang="zh-CN" sz="20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r>
                        <a:rPr lang="en-US" altLang="zh-CN" sz="2000" b="0" i="0">
                          <a:solidFill>
                            <a:srgbClr val="000000"/>
                          </a:solidFill>
                          <a:latin typeface="宋体" panose="02010600030101010101" pitchFamily="2" charset="-122"/>
                          <a:ea typeface="宋体" panose="02010600030101010101" pitchFamily="2" charset="-122"/>
                        </a:rPr>
                        <a:t>8</a:t>
                      </a:r>
                      <a:endParaRPr lang="en-US" altLang="zh-CN" sz="20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bl>
          </a:graphicData>
        </a:graphic>
      </p:graphicFrame>
      <p:sp>
        <p:nvSpPr>
          <p:cNvPr id="5" name="文本框 4"/>
          <p:cNvSpPr txBox="1"/>
          <p:nvPr/>
        </p:nvSpPr>
        <p:spPr>
          <a:xfrm>
            <a:off x="373380" y="4248150"/>
            <a:ext cx="2896870" cy="706755"/>
          </a:xfrm>
          <a:prstGeom prst="rect">
            <a:avLst/>
          </a:prstGeom>
        </p:spPr>
        <p:txBody>
          <a:bodyPr wrap="square">
            <a:spAutoFit/>
          </a:bodyPr>
          <a:lstStyle/>
          <a:p>
            <a:r>
              <a:rPr lang="en-US" altLang="zh-CN" sz="2000"/>
              <a:t>1 </a:t>
            </a:r>
            <a:r>
              <a:rPr lang="zh-CN" altLang="en-US" sz="2000"/>
              <a:t>计算每个灰度级的概率密度函数（</a:t>
            </a:r>
            <a:r>
              <a:rPr lang="en-US" altLang="zh-CN" sz="2000"/>
              <a:t>PDF</a:t>
            </a:r>
            <a:r>
              <a:rPr lang="zh-CN" altLang="en-US" sz="2000"/>
              <a:t>）</a:t>
            </a:r>
            <a:endParaRPr lang="zh-CN" altLang="en-US" sz="2000"/>
          </a:p>
        </p:txBody>
      </p:sp>
      <p:graphicFrame>
        <p:nvGraphicFramePr>
          <p:cNvPr id="6" name="表格 5"/>
          <p:cNvGraphicFramePr/>
          <p:nvPr>
            <p:custDataLst>
              <p:tags r:id="rId2"/>
            </p:custDataLst>
          </p:nvPr>
        </p:nvGraphicFramePr>
        <p:xfrm>
          <a:off x="575945" y="4954905"/>
          <a:ext cx="1913890" cy="1420810"/>
        </p:xfrm>
        <a:graphic>
          <a:graphicData uri="http://schemas.openxmlformats.org/drawingml/2006/table">
            <a:tbl>
              <a:tblPr/>
              <a:tblGrid>
                <a:gridCol w="956945"/>
                <a:gridCol w="956945"/>
              </a:tblGrid>
              <a:tr h="171450">
                <a:tc>
                  <a:txBody>
                    <a:bodyPr/>
                    <a:lstStyle/>
                    <a:p>
                      <a:pPr algn="ctr" fontAlgn="ctr"/>
                      <a:r>
                        <a:rPr lang="zh-CN" altLang="en-US" sz="1800" b="1" i="0">
                          <a:solidFill>
                            <a:srgbClr val="000000"/>
                          </a:solidFill>
                          <a:latin typeface="宋体" panose="02010600030101010101" pitchFamily="2" charset="-122"/>
                          <a:ea typeface="宋体" panose="02010600030101010101" pitchFamily="2" charset="-122"/>
                        </a:rPr>
                        <a:t>灰度级</a:t>
                      </a:r>
                      <a:endParaRPr lang="zh-CN" altLang="en-US" sz="1800" b="1"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r>
                        <a:rPr lang="en-US" altLang="zh-CN" sz="1800" b="1" i="0">
                          <a:solidFill>
                            <a:srgbClr val="000000"/>
                          </a:solidFill>
                          <a:latin typeface="宋体" panose="02010600030101010101" pitchFamily="2" charset="-122"/>
                          <a:ea typeface="宋体" panose="02010600030101010101" pitchFamily="2" charset="-122"/>
                        </a:rPr>
                        <a:t>PDF </a:t>
                      </a:r>
                      <a:r>
                        <a:rPr lang="zh-CN" altLang="en-US" sz="1800" b="1" i="0">
                          <a:solidFill>
                            <a:srgbClr val="000000"/>
                          </a:solidFill>
                          <a:latin typeface="宋体" panose="02010600030101010101" pitchFamily="2" charset="-122"/>
                          <a:ea typeface="宋体" panose="02010600030101010101" pitchFamily="2" charset="-122"/>
                        </a:rPr>
                        <a:t>值</a:t>
                      </a:r>
                      <a:endParaRPr lang="zh-CN" altLang="en-US" sz="1800" b="1"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r h="171450">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0</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endParaRPr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r h="171450">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1</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endParaRPr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r h="171450">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2</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endParaRPr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r h="171450">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3</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endParaRPr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bl>
          </a:graphicData>
        </a:graphic>
      </p:graphicFrame>
      <p:sp>
        <p:nvSpPr>
          <p:cNvPr id="7" name="文本框 6"/>
          <p:cNvSpPr txBox="1"/>
          <p:nvPr/>
        </p:nvSpPr>
        <p:spPr>
          <a:xfrm>
            <a:off x="3375025" y="4248150"/>
            <a:ext cx="2696210" cy="706755"/>
          </a:xfrm>
          <a:prstGeom prst="rect">
            <a:avLst/>
          </a:prstGeom>
        </p:spPr>
        <p:txBody>
          <a:bodyPr wrap="square">
            <a:spAutoFit/>
          </a:bodyPr>
          <a:lstStyle/>
          <a:p>
            <a:r>
              <a:rPr lang="en-US" altLang="zh-CN" sz="2000"/>
              <a:t>2 </a:t>
            </a:r>
            <a:r>
              <a:rPr lang="zh-CN" altLang="en-US" sz="2000"/>
              <a:t>计算每个灰度级的累积分布函数（</a:t>
            </a:r>
            <a:r>
              <a:rPr lang="en-US" altLang="zh-CN" sz="2000"/>
              <a:t>CDF</a:t>
            </a:r>
            <a:r>
              <a:rPr lang="zh-CN" altLang="en-US" sz="2000"/>
              <a:t>）</a:t>
            </a:r>
            <a:endParaRPr lang="zh-CN" altLang="en-US" sz="2000"/>
          </a:p>
        </p:txBody>
      </p:sp>
      <p:graphicFrame>
        <p:nvGraphicFramePr>
          <p:cNvPr id="8" name="表格 7"/>
          <p:cNvGraphicFramePr/>
          <p:nvPr>
            <p:custDataLst>
              <p:tags r:id="rId3"/>
            </p:custDataLst>
          </p:nvPr>
        </p:nvGraphicFramePr>
        <p:xfrm>
          <a:off x="3577590" y="4954905"/>
          <a:ext cx="1913890" cy="1420810"/>
        </p:xfrm>
        <a:graphic>
          <a:graphicData uri="http://schemas.openxmlformats.org/drawingml/2006/table">
            <a:tbl>
              <a:tblPr/>
              <a:tblGrid>
                <a:gridCol w="956945"/>
                <a:gridCol w="956945"/>
              </a:tblGrid>
              <a:tr h="171450">
                <a:tc>
                  <a:txBody>
                    <a:bodyPr/>
                    <a:lstStyle/>
                    <a:p>
                      <a:pPr algn="ctr" fontAlgn="ctr"/>
                      <a:r>
                        <a:rPr lang="zh-CN" altLang="en-US" sz="1800" b="1" i="0">
                          <a:solidFill>
                            <a:srgbClr val="000000"/>
                          </a:solidFill>
                          <a:latin typeface="宋体" panose="02010600030101010101" pitchFamily="2" charset="-122"/>
                          <a:ea typeface="宋体" panose="02010600030101010101" pitchFamily="2" charset="-122"/>
                        </a:rPr>
                        <a:t>灰度级</a:t>
                      </a:r>
                      <a:endParaRPr lang="zh-CN" altLang="en-US" sz="1800" b="1"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r>
                        <a:rPr lang="en-US" altLang="zh-CN" sz="1800" b="1" i="0">
                          <a:solidFill>
                            <a:srgbClr val="000000"/>
                          </a:solidFill>
                          <a:latin typeface="宋体" panose="02010600030101010101" pitchFamily="2" charset="-122"/>
                          <a:ea typeface="宋体" panose="02010600030101010101" pitchFamily="2" charset="-122"/>
                        </a:rPr>
                        <a:t>CDF </a:t>
                      </a:r>
                      <a:r>
                        <a:rPr lang="zh-CN" altLang="en-US" sz="1800" b="1" i="0">
                          <a:solidFill>
                            <a:srgbClr val="000000"/>
                          </a:solidFill>
                          <a:latin typeface="宋体" panose="02010600030101010101" pitchFamily="2" charset="-122"/>
                          <a:ea typeface="宋体" panose="02010600030101010101" pitchFamily="2" charset="-122"/>
                        </a:rPr>
                        <a:t>值</a:t>
                      </a:r>
                      <a:endParaRPr lang="zh-CN" altLang="en-US" sz="1800" b="1"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r h="171450">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0</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endParaRPr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r h="171450">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1</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endParaRPr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r h="171450">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2</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endParaRPr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r h="171450">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3</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endParaRPr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bl>
          </a:graphicData>
        </a:graphic>
      </p:graphicFrame>
      <p:sp>
        <p:nvSpPr>
          <p:cNvPr id="9" name="文本框 8"/>
          <p:cNvSpPr txBox="1"/>
          <p:nvPr/>
        </p:nvSpPr>
        <p:spPr>
          <a:xfrm>
            <a:off x="6249035" y="4239895"/>
            <a:ext cx="2836545" cy="706755"/>
          </a:xfrm>
          <a:prstGeom prst="rect">
            <a:avLst/>
          </a:prstGeom>
        </p:spPr>
        <p:txBody>
          <a:bodyPr wrap="square">
            <a:spAutoFit/>
          </a:bodyPr>
          <a:lstStyle/>
          <a:p>
            <a:r>
              <a:rPr lang="en-US" altLang="zh-CN" sz="2000"/>
              <a:t>3 </a:t>
            </a:r>
            <a:r>
              <a:rPr lang="zh-CN" altLang="en-US" sz="2000"/>
              <a:t>计算变换后的每个灰度级对应的新灰度值</a:t>
            </a:r>
            <a:endParaRPr lang="zh-CN" altLang="en-US" sz="2000"/>
          </a:p>
        </p:txBody>
      </p:sp>
      <p:graphicFrame>
        <p:nvGraphicFramePr>
          <p:cNvPr id="10" name="表格 9"/>
          <p:cNvGraphicFramePr/>
          <p:nvPr>
            <p:custDataLst>
              <p:tags r:id="rId4"/>
            </p:custDataLst>
          </p:nvPr>
        </p:nvGraphicFramePr>
        <p:xfrm>
          <a:off x="6451600" y="4954905"/>
          <a:ext cx="1913890" cy="1420810"/>
        </p:xfrm>
        <a:graphic>
          <a:graphicData uri="http://schemas.openxmlformats.org/drawingml/2006/table">
            <a:tbl>
              <a:tblPr/>
              <a:tblGrid>
                <a:gridCol w="956945"/>
                <a:gridCol w="956945"/>
              </a:tblGrid>
              <a:tr h="171450">
                <a:tc>
                  <a:txBody>
                    <a:bodyPr/>
                    <a:lstStyle/>
                    <a:p>
                      <a:pPr algn="ctr" fontAlgn="ctr"/>
                      <a:r>
                        <a:rPr lang="zh-CN" altLang="en-US" sz="1800" b="1" i="0">
                          <a:solidFill>
                            <a:srgbClr val="000000"/>
                          </a:solidFill>
                          <a:latin typeface="宋体" panose="02010600030101010101" pitchFamily="2" charset="-122"/>
                          <a:ea typeface="宋体" panose="02010600030101010101" pitchFamily="2" charset="-122"/>
                        </a:rPr>
                        <a:t>原灰度级</a:t>
                      </a:r>
                      <a:endParaRPr lang="zh-CN" altLang="en-US" sz="1800" b="1"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r>
                        <a:rPr lang="zh-CN" altLang="en-US" sz="1800" b="1" i="0">
                          <a:solidFill>
                            <a:srgbClr val="000000"/>
                          </a:solidFill>
                          <a:latin typeface="宋体" panose="02010600030101010101" pitchFamily="2" charset="-122"/>
                          <a:ea typeface="宋体" panose="02010600030101010101" pitchFamily="2" charset="-122"/>
                        </a:rPr>
                        <a:t>新灰度级</a:t>
                      </a:r>
                      <a:endParaRPr lang="zh-CN" altLang="en-US" sz="1800" b="1"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r h="171450">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0</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endParaRPr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r h="171450">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1</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endParaRPr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r h="171450">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2</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endParaRPr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r h="171450">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3</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endParaRPr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实验</a:t>
            </a:r>
            <a:r>
              <a:rPr lang="en-US" altLang="zh-CN"/>
              <a:t>2 </a:t>
            </a:r>
            <a:r>
              <a:rPr lang="zh-CN" altLang="en-US"/>
              <a:t>直方图匹配</a:t>
            </a:r>
            <a:endParaRPr lang="zh-CN" altLang="en-US"/>
          </a:p>
        </p:txBody>
      </p:sp>
      <p:sp>
        <p:nvSpPr>
          <p:cNvPr id="3" name="文本占位符 2"/>
          <p:cNvSpPr>
            <a:spLocks noGrp="1"/>
          </p:cNvSpPr>
          <p:nvPr>
            <p:ph type="body" sz="half" idx="1"/>
          </p:nvPr>
        </p:nvSpPr>
        <p:spPr>
          <a:xfrm>
            <a:off x="300355" y="1727835"/>
            <a:ext cx="8578215" cy="3886200"/>
          </a:xfrm>
        </p:spPr>
        <p:txBody>
          <a:bodyPr/>
          <a:lstStyle/>
          <a:p>
            <a:r>
              <a:rPr lang="zh-CN" altLang="en-US" sz="2800"/>
              <a:t>彩色图像</a:t>
            </a:r>
            <a:r>
              <a:rPr lang="en-US" altLang="zh-CN"/>
              <a:t>  </a:t>
            </a:r>
            <a:endParaRPr lang="en-US" altLang="zh-CN"/>
          </a:p>
          <a:p>
            <a:pPr lvl="1"/>
            <a:r>
              <a:rPr lang="zh-CN" altLang="en-US" sz="2395">
                <a:cs typeface="+mn-ea"/>
              </a:rPr>
              <a:t>各通道分别进行直方图匹配</a:t>
            </a:r>
            <a:endParaRPr lang="zh-CN" altLang="en-US" sz="2395">
              <a:cs typeface="+mn-ea"/>
            </a:endParaRPr>
          </a:p>
          <a:p>
            <a:r>
              <a:rPr lang="zh-CN" altLang="en-US" sz="2800"/>
              <a:t>多找几幅图像测试</a:t>
            </a:r>
            <a:endParaRPr lang="zh-CN" altLang="en-US" sz="2800"/>
          </a:p>
          <a:p>
            <a:pPr lvl="1"/>
            <a:r>
              <a:rPr lang="zh-CN" altLang="en-US" sz="2395">
                <a:cs typeface="+mn-ea"/>
                <a:sym typeface="+mn-ea"/>
              </a:rPr>
              <a:t>具有代表性：原图和参考图颜色差异比较大，直方图比较接近或差别比较大</a:t>
            </a:r>
            <a:endParaRPr lang="zh-CN" altLang="en-US" sz="2395">
              <a:cs typeface="+mn-ea"/>
            </a:endParaRPr>
          </a:p>
          <a:p>
            <a:pPr algn="l"/>
            <a:r>
              <a:rPr lang="zh-CN" altLang="en-US" sz="2800"/>
              <a:t>提供原直方图、参考直方图和匹配直方图的对比图</a:t>
            </a:r>
            <a:endParaRPr lang="zh-CN" altLang="en-US" sz="2800"/>
          </a:p>
          <a:p>
            <a:pPr algn="l"/>
            <a:r>
              <a:rPr lang="zh-CN" altLang="en-US" sz="2800"/>
              <a:t>交实验报告</a:t>
            </a:r>
            <a:endParaRPr lang="zh-CN" altLang="en-US" sz="2800"/>
          </a:p>
          <a:p>
            <a:pPr lvl="1" algn="l"/>
            <a:r>
              <a:rPr lang="zh-CN" altLang="en-US" sz="2395">
                <a:cs typeface="+mn-ea"/>
              </a:rPr>
              <a:t>包括实验目的、问题概念、原理、实验结果与分析、总结</a:t>
            </a:r>
            <a:endParaRPr lang="zh-CN" altLang="en-US" sz="2395">
              <a:cs typeface="+mn-ea"/>
            </a:endParaRPr>
          </a:p>
          <a:p>
            <a:pPr lvl="1" algn="l"/>
            <a:r>
              <a:rPr lang="zh-CN" altLang="en-US" sz="2395">
                <a:cs typeface="+mn-ea"/>
              </a:rPr>
              <a:t>分析问题的使用范围，什么情况下比较理解，什么情况下效果差</a:t>
            </a:r>
            <a:endParaRPr lang="zh-CN" altLang="en-US" sz="2395">
              <a:cs typeface="+mn-ea"/>
            </a:endParaRPr>
          </a:p>
          <a:p>
            <a:pPr marL="457200" lvl="1" indent="0">
              <a:buNone/>
            </a:pP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p:nvPr/>
        </p:nvSpPr>
        <p:spPr>
          <a:xfrm>
            <a:off x="326390" y="457200"/>
            <a:ext cx="8229600" cy="690563"/>
          </a:xfrm>
          <a:prstGeom prst="rect">
            <a:avLst/>
          </a:prstGeom>
        </p:spPr>
        <p:txBody>
          <a:bodyPr vert="horz" wrap="square" lIns="91440" tIns="45720" rIns="91440" bIns="45720" anchor="ctr" anchorCtr="0"/>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a:lstStyle>
          <a:p>
            <a:pPr eaLnBrk="1" hangingPunct="1"/>
            <a:r>
              <a:rPr lang="zh-CN" altLang="en-US" sz="3200" b="0" kern="0" dirty="0" smtClean="0">
                <a:solidFill>
                  <a:srgbClr val="FF0000"/>
                </a:solidFill>
              </a:rPr>
              <a:t>作业</a:t>
            </a:r>
            <a:r>
              <a:rPr lang="en-US" altLang="zh-CN" sz="3200" b="0" kern="0" dirty="0" smtClean="0">
                <a:solidFill>
                  <a:srgbClr val="FF0000"/>
                </a:solidFill>
              </a:rPr>
              <a:t>2</a:t>
            </a:r>
            <a:endParaRPr lang="zh-CN" altLang="en-US" sz="3200" b="0" kern="0" dirty="0">
              <a:solidFill>
                <a:srgbClr val="FF0000"/>
              </a:solidFill>
            </a:endParaRPr>
          </a:p>
        </p:txBody>
      </p:sp>
      <p:sp>
        <p:nvSpPr>
          <p:cNvPr id="5" name="文本框 4"/>
          <p:cNvSpPr txBox="1"/>
          <p:nvPr/>
        </p:nvSpPr>
        <p:spPr>
          <a:xfrm>
            <a:off x="396240" y="1217930"/>
            <a:ext cx="3411855" cy="706755"/>
          </a:xfrm>
          <a:prstGeom prst="rect">
            <a:avLst/>
          </a:prstGeom>
        </p:spPr>
        <p:txBody>
          <a:bodyPr wrap="square">
            <a:spAutoFit/>
          </a:bodyPr>
          <a:lstStyle/>
          <a:p>
            <a:r>
              <a:rPr lang="zh-CN" altLang="en-US" sz="2000"/>
              <a:t>已知图像 </a:t>
            </a:r>
            <a:r>
              <a:rPr lang="en-US" altLang="zh-CN" sz="2000"/>
              <a:t>A </a:t>
            </a:r>
            <a:r>
              <a:rPr lang="zh-CN" altLang="en-US" sz="2000"/>
              <a:t>的灰度直方图如下（灰度值范围为 </a:t>
            </a:r>
            <a:r>
              <a:rPr lang="en-US" altLang="zh-CN" sz="2000"/>
              <a:t>0~3</a:t>
            </a:r>
            <a:r>
              <a:rPr lang="zh-CN" altLang="en-US" sz="2000"/>
              <a:t>）：</a:t>
            </a:r>
            <a:endParaRPr lang="zh-CN" altLang="en-US" sz="2000"/>
          </a:p>
        </p:txBody>
      </p:sp>
      <p:graphicFrame>
        <p:nvGraphicFramePr>
          <p:cNvPr id="6" name="表格 5"/>
          <p:cNvGraphicFramePr/>
          <p:nvPr/>
        </p:nvGraphicFramePr>
        <p:xfrm>
          <a:off x="496570" y="2055495"/>
          <a:ext cx="2795905" cy="1479548"/>
        </p:xfrm>
        <a:graphic>
          <a:graphicData uri="http://schemas.openxmlformats.org/drawingml/2006/table">
            <a:tbl>
              <a:tblPr/>
              <a:tblGrid>
                <a:gridCol w="1148715"/>
                <a:gridCol w="1647190"/>
              </a:tblGrid>
              <a:tr h="342900">
                <a:tc>
                  <a:txBody>
                    <a:bodyPr/>
                    <a:lstStyle/>
                    <a:p>
                      <a:pPr algn="ctr" fontAlgn="ctr"/>
                      <a:r>
                        <a:rPr lang="zh-CN" altLang="en-US" sz="1800" b="1" i="0">
                          <a:solidFill>
                            <a:srgbClr val="000000"/>
                          </a:solidFill>
                          <a:latin typeface="宋体" panose="02010600030101010101" pitchFamily="2" charset="-122"/>
                          <a:ea typeface="宋体" panose="02010600030101010101" pitchFamily="2" charset="-122"/>
                        </a:rPr>
                        <a:t>灰度值 </a:t>
                      </a:r>
                      <a:r>
                        <a:rPr lang="en-US" altLang="zh-CN" sz="1800" b="1" i="0">
                          <a:solidFill>
                            <a:srgbClr val="000000"/>
                          </a:solidFill>
                          <a:latin typeface="宋体" panose="02010600030101010101" pitchFamily="2" charset="-122"/>
                          <a:ea typeface="宋体" panose="02010600030101010101" pitchFamily="2" charset="-122"/>
                        </a:rPr>
                        <a:t>r</a:t>
                      </a:r>
                      <a:endParaRPr lang="en-US" altLang="zh-CN" sz="1800" b="1"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r>
                        <a:rPr lang="zh-CN" altLang="en-US" sz="1800" b="1" i="0">
                          <a:solidFill>
                            <a:srgbClr val="000000"/>
                          </a:solidFill>
                          <a:latin typeface="宋体" panose="02010600030101010101" pitchFamily="2" charset="-122"/>
                          <a:ea typeface="宋体" panose="02010600030101010101" pitchFamily="2" charset="-122"/>
                        </a:rPr>
                        <a:t>像素个数</a:t>
                      </a:r>
                      <a:endParaRPr lang="zh-CN" altLang="en-US" sz="1800" b="1"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r h="171450">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0</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2</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r h="171450">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1</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3</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r h="171450">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2</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3</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r h="171450">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3</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2</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bl>
          </a:graphicData>
        </a:graphic>
      </p:graphicFrame>
      <p:sp>
        <p:nvSpPr>
          <p:cNvPr id="7" name="文本框 6"/>
          <p:cNvSpPr txBox="1"/>
          <p:nvPr/>
        </p:nvSpPr>
        <p:spPr>
          <a:xfrm>
            <a:off x="4347210" y="1217930"/>
            <a:ext cx="3811270" cy="706755"/>
          </a:xfrm>
          <a:prstGeom prst="rect">
            <a:avLst/>
          </a:prstGeom>
        </p:spPr>
        <p:txBody>
          <a:bodyPr wrap="square">
            <a:spAutoFit/>
          </a:bodyPr>
          <a:lstStyle/>
          <a:p>
            <a:r>
              <a:rPr lang="zh-CN" altLang="en-US" sz="2000"/>
              <a:t>图像 </a:t>
            </a:r>
            <a:r>
              <a:rPr lang="en-US" altLang="zh-CN" sz="2000"/>
              <a:t>B </a:t>
            </a:r>
            <a:r>
              <a:rPr lang="zh-CN" altLang="en-US" sz="2000"/>
              <a:t>的目标直方图如下（希望图像 </a:t>
            </a:r>
            <a:r>
              <a:rPr lang="en-US" altLang="zh-CN" sz="2000"/>
              <a:t>A </a:t>
            </a:r>
            <a:r>
              <a:rPr lang="zh-CN" altLang="en-US" sz="2000"/>
              <a:t>匹配成 </a:t>
            </a:r>
            <a:r>
              <a:rPr lang="en-US" altLang="zh-CN" sz="2000"/>
              <a:t>B </a:t>
            </a:r>
            <a:r>
              <a:rPr lang="zh-CN" altLang="en-US" sz="2000"/>
              <a:t>的分布）：</a:t>
            </a:r>
            <a:endParaRPr lang="zh-CN" altLang="en-US" sz="2000"/>
          </a:p>
        </p:txBody>
      </p:sp>
      <p:graphicFrame>
        <p:nvGraphicFramePr>
          <p:cNvPr id="8" name="表格 7"/>
          <p:cNvGraphicFramePr/>
          <p:nvPr/>
        </p:nvGraphicFramePr>
        <p:xfrm>
          <a:off x="5283835" y="2055178"/>
          <a:ext cx="2096770" cy="1420810"/>
        </p:xfrm>
        <a:graphic>
          <a:graphicData uri="http://schemas.openxmlformats.org/drawingml/2006/table">
            <a:tbl>
              <a:tblPr/>
              <a:tblGrid>
                <a:gridCol w="1087755"/>
                <a:gridCol w="1009015"/>
              </a:tblGrid>
              <a:tr h="171450">
                <a:tc>
                  <a:txBody>
                    <a:bodyPr/>
                    <a:lstStyle/>
                    <a:p>
                      <a:pPr algn="ctr" fontAlgn="ctr"/>
                      <a:r>
                        <a:rPr lang="zh-CN" altLang="en-US" sz="1800" b="1" i="0">
                          <a:solidFill>
                            <a:srgbClr val="000000"/>
                          </a:solidFill>
                          <a:latin typeface="宋体" panose="02010600030101010101" pitchFamily="2" charset="-122"/>
                          <a:ea typeface="宋体" panose="02010600030101010101" pitchFamily="2" charset="-122"/>
                        </a:rPr>
                        <a:t>灰度值 </a:t>
                      </a:r>
                      <a:r>
                        <a:rPr lang="en-US" altLang="zh-CN" sz="1800" b="1" i="0">
                          <a:solidFill>
                            <a:srgbClr val="000000"/>
                          </a:solidFill>
                          <a:latin typeface="宋体" panose="02010600030101010101" pitchFamily="2" charset="-122"/>
                          <a:ea typeface="宋体" panose="02010600030101010101" pitchFamily="2" charset="-122"/>
                        </a:rPr>
                        <a:t>z</a:t>
                      </a:r>
                      <a:endParaRPr lang="en-US" altLang="zh-CN" sz="1800" b="1"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r>
                        <a:rPr lang="zh-CN" altLang="en-US" sz="1800" b="1" i="0">
                          <a:solidFill>
                            <a:srgbClr val="000000"/>
                          </a:solidFill>
                          <a:latin typeface="宋体" panose="02010600030101010101" pitchFamily="2" charset="-122"/>
                          <a:ea typeface="宋体" panose="02010600030101010101" pitchFamily="2" charset="-122"/>
                        </a:rPr>
                        <a:t>像素个数</a:t>
                      </a:r>
                      <a:endParaRPr lang="zh-CN" altLang="en-US" sz="1800" b="1"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r h="171450">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0</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1</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r h="171450">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1</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1</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r h="171450">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2</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3</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r h="171450">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3</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c>
                  <a:txBody>
                    <a:bodyPr/>
                    <a:lstStyle/>
                    <a:p>
                      <a:pPr algn="ctr" fontAlgn="ctr"/>
                      <a:r>
                        <a:rPr lang="en-US" altLang="zh-CN" sz="1800" b="0" i="0">
                          <a:solidFill>
                            <a:srgbClr val="000000"/>
                          </a:solidFill>
                          <a:latin typeface="宋体" panose="02010600030101010101" pitchFamily="2" charset="-122"/>
                          <a:ea typeface="宋体" panose="02010600030101010101" pitchFamily="2" charset="-122"/>
                        </a:rPr>
                        <a:t>5</a:t>
                      </a:r>
                      <a:endParaRPr lang="en-US" altLang="zh-CN" sz="1800" b="0" i="0">
                        <a:solidFill>
                          <a:srgbClr val="000000"/>
                        </a:solidFill>
                        <a:latin typeface="宋体" panose="02010600030101010101" pitchFamily="2" charset="-122"/>
                        <a:ea typeface="宋体" panose="02010600030101010101" pitchFamily="2" charset="-122"/>
                      </a:endParaRPr>
                    </a:p>
                  </a:txBody>
                  <a:tcPr marL="9842" marR="9842" marT="9842" marB="0" anchor="ctr">
                    <a:lnL>
                      <a:noFill/>
                    </a:lnL>
                    <a:lnR>
                      <a:noFill/>
                    </a:lnR>
                    <a:lnT>
                      <a:noFill/>
                    </a:lnT>
                    <a:lnB>
                      <a:noFill/>
                    </a:lnB>
                    <a:noFill/>
                  </a:tcPr>
                </a:tc>
              </a:tr>
            </a:tbl>
          </a:graphicData>
        </a:graphic>
      </p:graphicFrame>
      <p:sp>
        <p:nvSpPr>
          <p:cNvPr id="9" name="文本框 8"/>
          <p:cNvSpPr txBox="1"/>
          <p:nvPr/>
        </p:nvSpPr>
        <p:spPr>
          <a:xfrm>
            <a:off x="396240" y="3605530"/>
            <a:ext cx="7936865" cy="706755"/>
          </a:xfrm>
          <a:prstGeom prst="rect">
            <a:avLst/>
          </a:prstGeom>
        </p:spPr>
        <p:txBody>
          <a:bodyPr wrap="square">
            <a:spAutoFit/>
          </a:bodyPr>
          <a:lstStyle/>
          <a:p>
            <a:r>
              <a:rPr lang="zh-CN" altLang="en-US" sz="2000"/>
              <a:t>试求图像 </a:t>
            </a:r>
            <a:r>
              <a:rPr lang="en-US" altLang="zh-CN" sz="2000"/>
              <a:t>A </a:t>
            </a:r>
            <a:r>
              <a:rPr lang="zh-CN" altLang="en-US" sz="2000"/>
              <a:t>中每个灰度值 </a:t>
            </a:r>
            <a:r>
              <a:rPr lang="en-US" altLang="zh-CN" sz="2000"/>
              <a:t>r</a:t>
            </a:r>
            <a:r>
              <a:rPr lang="zh-CN" altLang="en-US" sz="2000"/>
              <a:t>应该被映射为目标图像中哪个灰度值 </a:t>
            </a:r>
            <a:r>
              <a:rPr lang="en-US" altLang="zh-CN" sz="2000"/>
              <a:t>z</a:t>
            </a:r>
            <a:r>
              <a:rPr lang="zh-CN" altLang="en-US" sz="2000"/>
              <a:t>（即求出匹配映射关系）。</a:t>
            </a:r>
            <a:endParaRPr lang="zh-CN" altLang="en-US" sz="2000"/>
          </a:p>
        </p:txBody>
      </p:sp>
      <p:sp>
        <p:nvSpPr>
          <p:cNvPr id="10" name="文本框 9"/>
          <p:cNvSpPr txBox="1"/>
          <p:nvPr/>
        </p:nvSpPr>
        <p:spPr>
          <a:xfrm>
            <a:off x="590550" y="4442778"/>
            <a:ext cx="5080000" cy="1624965"/>
          </a:xfrm>
          <a:prstGeom prst="rect">
            <a:avLst/>
          </a:prstGeom>
        </p:spPr>
        <p:txBody>
          <a:bodyPr>
            <a:spAutoFit/>
          </a:bodyPr>
          <a:lstStyle/>
          <a:p>
            <a:pPr>
              <a:spcAft>
                <a:spcPct val="60000"/>
              </a:spcAft>
            </a:pPr>
            <a:r>
              <a:rPr lang="zh-CN" altLang="en-US" sz="2200" b="1">
                <a:solidFill>
                  <a:srgbClr val="7030A0"/>
                </a:solidFill>
              </a:rPr>
              <a:t>解题提示：</a:t>
            </a:r>
            <a:endParaRPr lang="zh-CN" altLang="en-US" sz="2200" b="1">
              <a:solidFill>
                <a:srgbClr val="7030A0"/>
              </a:solidFill>
            </a:endParaRPr>
          </a:p>
          <a:p>
            <a:pPr marL="342900" indent="-342900">
              <a:buFont typeface="+mj-lt"/>
              <a:buAutoNum type="arabicPeriod"/>
            </a:pPr>
            <a:r>
              <a:rPr lang="zh-CN" altLang="en-US" sz="1600">
                <a:solidFill>
                  <a:srgbClr val="7030A0"/>
                </a:solidFill>
              </a:rPr>
              <a:t>计算图像 </a:t>
            </a:r>
            <a:r>
              <a:rPr lang="en-US" altLang="zh-CN" sz="1600">
                <a:solidFill>
                  <a:srgbClr val="7030A0"/>
                </a:solidFill>
              </a:rPr>
              <a:t>A </a:t>
            </a:r>
            <a:r>
              <a:rPr lang="zh-CN" altLang="en-US" sz="1600">
                <a:solidFill>
                  <a:srgbClr val="7030A0"/>
                </a:solidFill>
              </a:rPr>
              <a:t>和 </a:t>
            </a:r>
            <a:r>
              <a:rPr lang="en-US" altLang="zh-CN" sz="1600">
                <a:solidFill>
                  <a:srgbClr val="7030A0"/>
                </a:solidFill>
              </a:rPr>
              <a:t>B </a:t>
            </a:r>
            <a:r>
              <a:rPr lang="zh-CN" altLang="en-US" sz="1600">
                <a:solidFill>
                  <a:srgbClr val="7030A0"/>
                </a:solidFill>
              </a:rPr>
              <a:t>的累积分布函数（</a:t>
            </a:r>
            <a:r>
              <a:rPr lang="en-US" altLang="zh-CN" sz="1600">
                <a:solidFill>
                  <a:srgbClr val="7030A0"/>
                </a:solidFill>
              </a:rPr>
              <a:t>CDF</a:t>
            </a:r>
            <a:r>
              <a:rPr lang="zh-CN" altLang="en-US" sz="1600">
                <a:solidFill>
                  <a:srgbClr val="7030A0"/>
                </a:solidFill>
              </a:rPr>
              <a:t>）</a:t>
            </a:r>
            <a:endParaRPr lang="zh-CN" altLang="en-US" sz="1600">
              <a:solidFill>
                <a:srgbClr val="7030A0"/>
              </a:solidFill>
            </a:endParaRPr>
          </a:p>
          <a:p>
            <a:pPr marL="342900" indent="-342900">
              <a:buFont typeface="+mj-lt"/>
              <a:buAutoNum type="arabicPeriod"/>
            </a:pPr>
            <a:r>
              <a:rPr lang="zh-CN" altLang="en-US" sz="1600">
                <a:solidFill>
                  <a:srgbClr val="7030A0"/>
                </a:solidFill>
              </a:rPr>
              <a:t>对于图像 </a:t>
            </a:r>
            <a:r>
              <a:rPr lang="en-US" altLang="zh-CN" sz="1600">
                <a:solidFill>
                  <a:srgbClr val="7030A0"/>
                </a:solidFill>
              </a:rPr>
              <a:t>A </a:t>
            </a:r>
            <a:r>
              <a:rPr lang="zh-CN" altLang="en-US" sz="1600">
                <a:solidFill>
                  <a:srgbClr val="7030A0"/>
                </a:solidFill>
              </a:rPr>
              <a:t>中每个灰度值 </a:t>
            </a:r>
            <a:r>
              <a:rPr lang="en-US" altLang="zh-CN" sz="1600">
                <a:solidFill>
                  <a:srgbClr val="7030A0"/>
                </a:solidFill>
              </a:rPr>
              <a:t>r</a:t>
            </a:r>
            <a:r>
              <a:rPr lang="zh-CN" altLang="en-US" sz="1600">
                <a:solidFill>
                  <a:srgbClr val="7030A0"/>
                </a:solidFill>
              </a:rPr>
              <a:t>，找出其 </a:t>
            </a:r>
            <a:r>
              <a:rPr lang="en-US" altLang="zh-CN" sz="1600">
                <a:solidFill>
                  <a:srgbClr val="7030A0"/>
                </a:solidFill>
              </a:rPr>
              <a:t>CDF </a:t>
            </a:r>
            <a:r>
              <a:rPr lang="zh-CN" altLang="en-US" sz="1600">
                <a:solidFill>
                  <a:srgbClr val="7030A0"/>
                </a:solidFill>
              </a:rPr>
              <a:t>在 </a:t>
            </a:r>
            <a:r>
              <a:rPr lang="en-US" altLang="zh-CN" sz="1600">
                <a:solidFill>
                  <a:srgbClr val="7030A0"/>
                </a:solidFill>
              </a:rPr>
              <a:t>B </a:t>
            </a:r>
            <a:r>
              <a:rPr lang="zh-CN" altLang="en-US" sz="1600">
                <a:solidFill>
                  <a:srgbClr val="7030A0"/>
                </a:solidFill>
              </a:rPr>
              <a:t>的 </a:t>
            </a:r>
            <a:r>
              <a:rPr lang="en-US" altLang="zh-CN" sz="1600">
                <a:solidFill>
                  <a:srgbClr val="7030A0"/>
                </a:solidFill>
              </a:rPr>
              <a:t>CDF </a:t>
            </a:r>
            <a:r>
              <a:rPr lang="zh-CN" altLang="en-US" sz="1600">
                <a:solidFill>
                  <a:srgbClr val="7030A0"/>
                </a:solidFill>
              </a:rPr>
              <a:t>中最接近的位置，作为映射的 </a:t>
            </a:r>
            <a:r>
              <a:rPr lang="en-US" altLang="zh-CN" sz="1600">
                <a:solidFill>
                  <a:srgbClr val="7030A0"/>
                </a:solidFill>
              </a:rPr>
              <a:t>z</a:t>
            </a:r>
            <a:endParaRPr lang="en-US" altLang="zh-CN" sz="1600">
              <a:solidFill>
                <a:srgbClr val="7030A0"/>
              </a:solidFill>
            </a:endParaRPr>
          </a:p>
          <a:p>
            <a:pPr marL="342900" indent="-342900">
              <a:buFont typeface="+mj-lt"/>
              <a:buAutoNum type="arabicPeriod"/>
            </a:pPr>
            <a:r>
              <a:rPr lang="zh-CN" altLang="en-US" sz="1600">
                <a:solidFill>
                  <a:srgbClr val="7030A0"/>
                </a:solidFill>
              </a:rPr>
              <a:t>列出最终映射关系 </a:t>
            </a:r>
            <a:r>
              <a:rPr lang="en-US" altLang="zh-CN" sz="1600">
                <a:solidFill>
                  <a:srgbClr val="7030A0"/>
                </a:solidFill>
              </a:rPr>
              <a:t>r→z</a:t>
            </a:r>
            <a:endParaRPr lang="en-US" altLang="zh-CN" sz="1600">
              <a:solidFill>
                <a:srgbClr val="7030A0"/>
              </a:solidFill>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TABLE_ENDDRAG_ORIGIN_RECT" val="262*149"/>
  <p:tag name="TABLE_ENDDRAG_RECT" val="97*205*262*149"/>
</p:tagLst>
</file>

<file path=ppt/tags/tag3.xml><?xml version="1.0" encoding="utf-8"?>
<p:tagLst xmlns:p="http://schemas.openxmlformats.org/presentationml/2006/main">
  <p:tag name="TABLE_ENDDRAG_ORIGIN_RECT" val="150*133"/>
  <p:tag name="TABLE_ENDDRAG_RECT" val="59*417*150*133"/>
</p:tagLst>
</file>

<file path=ppt/tags/tag4.xml><?xml version="1.0" encoding="utf-8"?>
<p:tagLst xmlns:p="http://schemas.openxmlformats.org/presentationml/2006/main">
  <p:tag name="TABLE_ENDDRAG_ORIGIN_RECT" val="150*133"/>
  <p:tag name="TABLE_ENDDRAG_RECT" val="59*417*150*133"/>
</p:tagLst>
</file>

<file path=ppt/tags/tag5.xml><?xml version="1.0" encoding="utf-8"?>
<p:tagLst xmlns:p="http://schemas.openxmlformats.org/presentationml/2006/main">
  <p:tag name="TABLE_ENDDRAG_ORIGIN_RECT" val="150*133"/>
  <p:tag name="TABLE_ENDDRAG_RECT" val="59*417*150*133"/>
</p:tagLst>
</file>

<file path=ppt/tags/tag6.xml><?xml version="1.0" encoding="utf-8"?>
<p:tagLst xmlns:p="http://schemas.openxmlformats.org/presentationml/2006/main">
  <p:tag name="COMMONDATA" val="eyJoZGlkIjoiYjQ4Y2I1Y2RlNWNmZmJlZjE1MTIzNGJlYTJiNGZhMTcifQ=="/>
</p:tagLst>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2348</Words>
  <Application>WPS 演示</Application>
  <PresentationFormat>全屏显示(4:3)</PresentationFormat>
  <Paragraphs>310</Paragraphs>
  <Slides>27</Slides>
  <Notes>6</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42</vt:i4>
      </vt:variant>
      <vt:variant>
        <vt:lpstr>幻灯片标题</vt:lpstr>
      </vt:variant>
      <vt:variant>
        <vt:i4>27</vt:i4>
      </vt:variant>
    </vt:vector>
  </HeadingPairs>
  <TitlesOfParts>
    <vt:vector size="78" baseType="lpstr">
      <vt:lpstr>Arial</vt:lpstr>
      <vt:lpstr>宋体</vt:lpstr>
      <vt:lpstr>Wingdings</vt:lpstr>
      <vt:lpstr>Times New Roman</vt:lpstr>
      <vt:lpstr>Arial Black</vt:lpstr>
      <vt:lpstr>Tahoma</vt:lpstr>
      <vt:lpstr>微软雅黑</vt:lpstr>
      <vt:lpstr>Arial Unicode MS</vt:lpstr>
      <vt:lpstr>Pixel</vt:lpstr>
      <vt:lpstr>Paint.Picture</vt:lpstr>
      <vt:lpstr>Equation.3</vt:lpstr>
      <vt:lpstr>Equation.3</vt:lpstr>
      <vt:lpstr>Equation.3</vt:lpstr>
      <vt:lpstr>Paint.Picture</vt:lpstr>
      <vt:lpstr>Equation.3</vt:lpstr>
      <vt:lpstr>Equation.3</vt:lpstr>
      <vt:lpstr>Equation.3</vt:lpstr>
      <vt:lpstr>Equation.3</vt:lpstr>
      <vt:lpstr>Equation.3</vt:lpstr>
      <vt:lpstr>Equation.3</vt:lpstr>
      <vt:lpstr>Equation.3</vt:lpstr>
      <vt:lpstr>Equation.3</vt:lpstr>
      <vt:lpstr>Paint.Picture</vt:lpstr>
      <vt:lpstr>Paint.Picture</vt:lpstr>
      <vt:lpstr>Paint.Picture</vt:lpstr>
      <vt:lpstr>Photoshop.Image.5</vt:lpstr>
      <vt:lpstr>Paint.Picture</vt:lpstr>
      <vt:lpstr>Paint.Picture</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Photoshop.Image.8</vt:lpstr>
      <vt:lpstr>Photoshop.Image.8</vt:lpstr>
      <vt:lpstr>Equation.3</vt:lpstr>
      <vt:lpstr>Equation.3</vt:lpstr>
      <vt:lpstr>Equation.3</vt:lpstr>
      <vt:lpstr>灰度变换</vt:lpstr>
      <vt:lpstr>目录</vt:lpstr>
      <vt:lpstr>2.1 灰度变换</vt:lpstr>
      <vt:lpstr>PowerPoint 演示文稿</vt:lpstr>
      <vt:lpstr>PowerPoint 演示文稿</vt:lpstr>
      <vt:lpstr>PowerPoint 演示文稿</vt:lpstr>
      <vt:lpstr>PowerPoint 演示文稿</vt:lpstr>
      <vt:lpstr>PowerPoint 演示文稿</vt:lpstr>
      <vt:lpstr>直方图的概念</vt:lpstr>
      <vt:lpstr>归一化直方图(概率密度函数)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直方图均衡化步骤:</vt:lpstr>
      <vt:lpstr>PowerPoint 演示文稿</vt:lpstr>
      <vt:lpstr>PowerPoint 演示文稿</vt:lpstr>
      <vt:lpstr>PowerPoint 演示文稿</vt:lpstr>
      <vt:lpstr>PowerPoint 演示文稿</vt:lpstr>
      <vt:lpstr>总结</vt:lpstr>
      <vt:lpstr>实验1 直方图均衡化</vt:lpstr>
      <vt:lpstr>作业</vt:lpstr>
      <vt:lpstr>实验2 直方图匹配</vt:lpstr>
      <vt:lpstr>PowerPoint 演示文稿</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Gonzalez</dc:creator>
  <cp:lastModifiedBy>WD</cp:lastModifiedBy>
  <cp:revision>437</cp:revision>
  <dcterms:created xsi:type="dcterms:W3CDTF">2001-12-06T17:51:00Z</dcterms:created>
  <dcterms:modified xsi:type="dcterms:W3CDTF">2026-04-28T02:35:38Z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BE870743874649378D18CD33CD023FB4_13</vt:lpwstr>
  </property>
  <property fmtid="{D5CDD505-2E9C-101B-9397-08002B2CF9AE}" pid="3" name="KSOProductBuildVer">
    <vt:lpwstr>2052-12.1.0.25865</vt:lpwstr>
  </property>
</Properties>
</file>