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7" r:id="rId5"/>
    <p:sldId id="266" r:id="rId6"/>
    <p:sldId id="268" r:id="rId7"/>
    <p:sldId id="258" r:id="rId8"/>
    <p:sldId id="270" r:id="rId9"/>
    <p:sldId id="271" r:id="rId10"/>
    <p:sldId id="272" r:id="rId11"/>
    <p:sldId id="273" r:id="rId12"/>
    <p:sldId id="274" r:id="rId13"/>
    <p:sldId id="276" r:id="rId14"/>
    <p:sldId id="259" r:id="rId15"/>
    <p:sldId id="269" r:id="rId16"/>
    <p:sldId id="275" r:id="rId17"/>
    <p:sldId id="260" r:id="rId18"/>
    <p:sldId id="277" r:id="rId19"/>
    <p:sldId id="261" r:id="rId20"/>
    <p:sldId id="262" r:id="rId21"/>
    <p:sldId id="263" r:id="rId22"/>
    <p:sldId id="278" r:id="rId23"/>
    <p:sldId id="264" r:id="rId24"/>
    <p:sldId id="279" r:id="rId25"/>
    <p:sldId id="290" r:id="rId26"/>
    <p:sldId id="289" r:id="rId27"/>
    <p:sldId id="280" r:id="rId28"/>
    <p:sldId id="288" r:id="rId29"/>
    <p:sldId id="281" r:id="rId30"/>
    <p:sldId id="282" r:id="rId31"/>
    <p:sldId id="284" r:id="rId32"/>
    <p:sldId id="285" r:id="rId33"/>
    <p:sldId id="291" r:id="rId34"/>
    <p:sldId id="286" r:id="rId35"/>
    <p:sldId id="292" r:id="rId36"/>
    <p:sldId id="287"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4.wmf"/><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7" Type="http://schemas.openxmlformats.org/officeDocument/2006/relationships/image" Target="../media/image20.wmf"/><Relationship Id="rId6" Type="http://schemas.openxmlformats.org/officeDocument/2006/relationships/image" Target="../media/image19.wmf"/><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7" Type="http://schemas.openxmlformats.org/officeDocument/2006/relationships/image" Target="../media/image45.e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8.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smtClean="0"/>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9F5CEFE-F680-4E1A-8F9A-C73F24F18C7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wmf"/><Relationship Id="rId7" Type="http://schemas.openxmlformats.org/officeDocument/2006/relationships/oleObject" Target="../embeddings/oleObject4.bin"/><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12.emf"/><Relationship Id="rId4" Type="http://schemas.openxmlformats.org/officeDocument/2006/relationships/image" Target="../media/image11.wmf"/><Relationship Id="rId3" Type="http://schemas.openxmlformats.org/officeDocument/2006/relationships/oleObject" Target="../embeddings/oleObject6.bin"/><Relationship Id="rId2" Type="http://schemas.openxmlformats.org/officeDocument/2006/relationships/image" Target="../media/image10.wmf"/><Relationship Id="rId1"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16.wmf"/><Relationship Id="rId7" Type="http://schemas.openxmlformats.org/officeDocument/2006/relationships/oleObject" Target="../embeddings/oleObject10.bin"/><Relationship Id="rId6" Type="http://schemas.openxmlformats.org/officeDocument/2006/relationships/image" Target="../media/image15.wmf"/><Relationship Id="rId5" Type="http://schemas.openxmlformats.org/officeDocument/2006/relationships/oleObject" Target="../embeddings/oleObject9.bin"/><Relationship Id="rId4" Type="http://schemas.openxmlformats.org/officeDocument/2006/relationships/image" Target="../media/image14.wmf"/><Relationship Id="rId3" Type="http://schemas.openxmlformats.org/officeDocument/2006/relationships/oleObject" Target="../embeddings/oleObject8.bin"/><Relationship Id="rId2" Type="http://schemas.openxmlformats.org/officeDocument/2006/relationships/image" Target="../media/image13.wmf"/><Relationship Id="rId19" Type="http://schemas.openxmlformats.org/officeDocument/2006/relationships/vmlDrawing" Target="../drawings/vmlDrawing3.vml"/><Relationship Id="rId18" Type="http://schemas.openxmlformats.org/officeDocument/2006/relationships/slideLayout" Target="../slideLayouts/slideLayout2.xml"/><Relationship Id="rId17" Type="http://schemas.openxmlformats.org/officeDocument/2006/relationships/image" Target="../media/image20.wmf"/><Relationship Id="rId16" Type="http://schemas.openxmlformats.org/officeDocument/2006/relationships/oleObject" Target="../embeddings/oleObject15.bin"/><Relationship Id="rId15" Type="http://schemas.openxmlformats.org/officeDocument/2006/relationships/image" Target="../media/image19.wmf"/><Relationship Id="rId14" Type="http://schemas.openxmlformats.org/officeDocument/2006/relationships/oleObject" Target="../embeddings/oleObject14.bin"/><Relationship Id="rId13" Type="http://schemas.openxmlformats.org/officeDocument/2006/relationships/oleObject" Target="../embeddings/oleObject13.bin"/><Relationship Id="rId12" Type="http://schemas.openxmlformats.org/officeDocument/2006/relationships/oleObject" Target="../embeddings/oleObject12.bin"/><Relationship Id="rId11" Type="http://schemas.openxmlformats.org/officeDocument/2006/relationships/image" Target="../media/image18.png"/><Relationship Id="rId10" Type="http://schemas.openxmlformats.org/officeDocument/2006/relationships/image" Target="../media/image17.wmf"/><Relationship Id="rId1" Type="http://schemas.openxmlformats.org/officeDocument/2006/relationships/oleObject" Target="../embeddings/oleObject7.bin"/></Relationships>
</file>

<file path=ppt/slides/_rels/slide18.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24.wmf"/><Relationship Id="rId7" Type="http://schemas.openxmlformats.org/officeDocument/2006/relationships/oleObject" Target="../embeddings/oleObject19.bin"/><Relationship Id="rId6" Type="http://schemas.openxmlformats.org/officeDocument/2006/relationships/image" Target="../media/image23.wmf"/><Relationship Id="rId5" Type="http://schemas.openxmlformats.org/officeDocument/2006/relationships/oleObject" Target="../embeddings/oleObject18.bin"/><Relationship Id="rId4" Type="http://schemas.openxmlformats.org/officeDocument/2006/relationships/image" Target="../media/image22.wmf"/><Relationship Id="rId3" Type="http://schemas.openxmlformats.org/officeDocument/2006/relationships/oleObject" Target="../embeddings/oleObject17.bin"/><Relationship Id="rId2" Type="http://schemas.openxmlformats.org/officeDocument/2006/relationships/image" Target="../media/image21.wmf"/><Relationship Id="rId17" Type="http://schemas.openxmlformats.org/officeDocument/2006/relationships/vmlDrawing" Target="../drawings/vmlDrawing4.vml"/><Relationship Id="rId16" Type="http://schemas.openxmlformats.org/officeDocument/2006/relationships/slideLayout" Target="../slideLayouts/slideLayout2.xml"/><Relationship Id="rId15" Type="http://schemas.openxmlformats.org/officeDocument/2006/relationships/oleObject" Target="../embeddings/oleObject23.bin"/><Relationship Id="rId14" Type="http://schemas.openxmlformats.org/officeDocument/2006/relationships/oleObject" Target="../embeddings/oleObject22.bin"/><Relationship Id="rId13" Type="http://schemas.openxmlformats.org/officeDocument/2006/relationships/image" Target="../media/image27.wmf"/><Relationship Id="rId12" Type="http://schemas.openxmlformats.org/officeDocument/2006/relationships/oleObject" Target="../embeddings/oleObject21.bin"/><Relationship Id="rId11" Type="http://schemas.openxmlformats.org/officeDocument/2006/relationships/image" Target="../media/image26.wmf"/><Relationship Id="rId10" Type="http://schemas.openxmlformats.org/officeDocument/2006/relationships/oleObject" Target="../embeddings/oleObject20.bin"/><Relationship Id="rId1" Type="http://schemas.openxmlformats.org/officeDocument/2006/relationships/oleObject" Target="../embeddings/oleObject16.bin"/></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8.png"/><Relationship Id="rId3" Type="http://schemas.openxmlformats.org/officeDocument/2006/relationships/image" Target="../media/image29.png"/><Relationship Id="rId2" Type="http://schemas.openxmlformats.org/officeDocument/2006/relationships/image" Target="../media/image37.png"/><Relationship Id="rId1"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28.bin"/><Relationship Id="rId8" Type="http://schemas.openxmlformats.org/officeDocument/2006/relationships/image" Target="../media/image42.wmf"/><Relationship Id="rId7" Type="http://schemas.openxmlformats.org/officeDocument/2006/relationships/oleObject" Target="../embeddings/oleObject27.bin"/><Relationship Id="rId6" Type="http://schemas.openxmlformats.org/officeDocument/2006/relationships/image" Target="../media/image41.wmf"/><Relationship Id="rId5" Type="http://schemas.openxmlformats.org/officeDocument/2006/relationships/oleObject" Target="../embeddings/oleObject26.bin"/><Relationship Id="rId4" Type="http://schemas.openxmlformats.org/officeDocument/2006/relationships/image" Target="../media/image40.wmf"/><Relationship Id="rId3" Type="http://schemas.openxmlformats.org/officeDocument/2006/relationships/oleObject" Target="../embeddings/oleObject25.bin"/><Relationship Id="rId2" Type="http://schemas.openxmlformats.org/officeDocument/2006/relationships/image" Target="../media/image39.wmf"/><Relationship Id="rId16" Type="http://schemas.openxmlformats.org/officeDocument/2006/relationships/vmlDrawing" Target="../drawings/vmlDrawing5.vml"/><Relationship Id="rId15" Type="http://schemas.openxmlformats.org/officeDocument/2006/relationships/slideLayout" Target="../slideLayouts/slideLayout2.xml"/><Relationship Id="rId14" Type="http://schemas.openxmlformats.org/officeDocument/2006/relationships/image" Target="../media/image45.emf"/><Relationship Id="rId13" Type="http://schemas.openxmlformats.org/officeDocument/2006/relationships/oleObject" Target="../embeddings/oleObject30.bin"/><Relationship Id="rId12" Type="http://schemas.openxmlformats.org/officeDocument/2006/relationships/image" Target="../media/image44.wmf"/><Relationship Id="rId11" Type="http://schemas.openxmlformats.org/officeDocument/2006/relationships/oleObject" Target="../embeddings/oleObject29.bin"/><Relationship Id="rId10" Type="http://schemas.openxmlformats.org/officeDocument/2006/relationships/image" Target="../media/image43.wmf"/><Relationship Id="rId1" Type="http://schemas.openxmlformats.org/officeDocument/2006/relationships/oleObject" Target="../embeddings/oleObject24.bin"/></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48.emf"/><Relationship Id="rId3" Type="http://schemas.openxmlformats.org/officeDocument/2006/relationships/oleObject" Target="../embeddings/oleObject31.bin"/><Relationship Id="rId2" Type="http://schemas.openxmlformats.org/officeDocument/2006/relationships/image" Target="../media/image47.png"/><Relationship Id="rId1" Type="http://schemas.openxmlformats.org/officeDocument/2006/relationships/image" Target="../media/image46.png"/></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48.emf"/><Relationship Id="rId1" Type="http://schemas.openxmlformats.org/officeDocument/2006/relationships/oleObject" Target="../embeddings/oleObject32.bin"/></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1.png"/><Relationship Id="rId2" Type="http://schemas.openxmlformats.org/officeDocument/2006/relationships/image" Target="../media/image50.jpeg"/><Relationship Id="rId1"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589213" y="1186815"/>
            <a:ext cx="8915399" cy="2262781"/>
          </a:xfrm>
        </p:spPr>
        <p:txBody>
          <a:bodyPr/>
          <a:lstStyle/>
          <a:p>
            <a:r>
              <a:rPr lang="zh-CN" altLang="en-US"/>
              <a:t>第9章  K-中心点聚类算法</a:t>
            </a:r>
            <a:endParaRPr lang="zh-CN" altLang="en-US"/>
          </a:p>
        </p:txBody>
      </p:sp>
      <p:sp>
        <p:nvSpPr>
          <p:cNvPr id="3" name="副标题 2"/>
          <p:cNvSpPr>
            <a:spLocks noGrp="1"/>
          </p:cNvSpPr>
          <p:nvPr>
            <p:ph type="subTitle"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charset="-122"/>
                <a:ea typeface="楷体" panose="02010609060101010101" charset="-122"/>
                <a:cs typeface="楷体" panose="02010609060101010101" charset="-122"/>
              </a:rPr>
              <a:t>9.1简介</a:t>
            </a:r>
            <a:endParaRPr lang="zh-CN" altLang="en-US" dirty="0">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2588895" y="1169035"/>
            <a:ext cx="9380220" cy="5379085"/>
          </a:xfrm>
        </p:spPr>
        <p:txBody>
          <a:bodyPr>
            <a:normAutofit lnSpcReduction="20000"/>
          </a:bodyPr>
          <a:lstStyle/>
          <a:p>
            <a:pPr marL="0" indent="0">
              <a:buNone/>
            </a:pPr>
            <a:r>
              <a:rPr lang="en-US" altLang="zh-CN" sz="3200" dirty="0">
                <a:latin typeface="楷体" panose="02010609060101010101" charset="-122"/>
                <a:ea typeface="楷体" panose="02010609060101010101" charset="-122"/>
              </a:rPr>
              <a:t>  </a:t>
            </a:r>
            <a:r>
              <a:rPr lang="zh-CN" altLang="en-US" sz="3200" dirty="0">
                <a:latin typeface="楷体" panose="02010609060101010101" charset="-122"/>
                <a:ea typeface="楷体" panose="02010609060101010101" charset="-122"/>
              </a:rPr>
              <a:t>上一章提到的K-means算法对于离群点是敏感的，因为一个具有很大的极端值的对象可能显著地扭曲数据的分布，平方误差函数的使用更是严重恶化了这一影响。</a:t>
            </a:r>
            <a:endParaRPr lang="zh-CN" altLang="en-US" sz="3200" dirty="0">
              <a:latin typeface="楷体" panose="02010609060101010101" charset="-122"/>
              <a:ea typeface="楷体" panose="02010609060101010101" charset="-122"/>
            </a:endParaRPr>
          </a:p>
          <a:p>
            <a:pPr marL="0" indent="0">
              <a:buNone/>
            </a:pPr>
            <a:endParaRPr lang="zh-CN" altLang="en-US" dirty="0">
              <a:latin typeface="楷体" panose="02010609060101010101" charset="-122"/>
              <a:ea typeface="楷体" panose="02010609060101010101" charset="-122"/>
            </a:endParaRPr>
          </a:p>
        </p:txBody>
      </p:sp>
      <p:sp>
        <p:nvSpPr>
          <p:cNvPr id="7" name="椭圆 6"/>
          <p:cNvSpPr/>
          <p:nvPr/>
        </p:nvSpPr>
        <p:spPr>
          <a:xfrm>
            <a:off x="2020570" y="4954905"/>
            <a:ext cx="280035" cy="2616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nvSpPr>
        <p:spPr>
          <a:xfrm>
            <a:off x="5046980" y="372745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9" name="椭圆 8"/>
          <p:cNvSpPr/>
          <p:nvPr/>
        </p:nvSpPr>
        <p:spPr>
          <a:xfrm>
            <a:off x="5327015" y="428879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0" name="椭圆 9"/>
          <p:cNvSpPr/>
          <p:nvPr/>
        </p:nvSpPr>
        <p:spPr>
          <a:xfrm>
            <a:off x="5607050" y="385445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1" name="椭圆 10"/>
          <p:cNvSpPr/>
          <p:nvPr/>
        </p:nvSpPr>
        <p:spPr>
          <a:xfrm>
            <a:off x="5046980" y="428879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2" name="椭圆 11"/>
          <p:cNvSpPr/>
          <p:nvPr/>
        </p:nvSpPr>
        <p:spPr>
          <a:xfrm>
            <a:off x="6222365" y="443103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3" name="椭圆 12"/>
          <p:cNvSpPr/>
          <p:nvPr/>
        </p:nvSpPr>
        <p:spPr>
          <a:xfrm>
            <a:off x="5607050" y="4954905"/>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4" name="文本框 13"/>
          <p:cNvSpPr txBox="1"/>
          <p:nvPr/>
        </p:nvSpPr>
        <p:spPr>
          <a:xfrm>
            <a:off x="2300605" y="5336540"/>
            <a:ext cx="2131060" cy="398780"/>
          </a:xfrm>
          <a:prstGeom prst="rect">
            <a:avLst/>
          </a:prstGeom>
          <a:noFill/>
        </p:spPr>
        <p:txBody>
          <a:bodyPr wrap="square" rtlCol="0">
            <a:spAutoFit/>
          </a:bodyPr>
          <a:p>
            <a:r>
              <a:rPr lang="zh-CN" altLang="en-US" sz="2000" b="1"/>
              <a:t>离群点</a:t>
            </a:r>
            <a:endParaRPr lang="zh-CN" altLang="en-US" sz="2000" b="1"/>
          </a:p>
        </p:txBody>
      </p:sp>
      <p:sp>
        <p:nvSpPr>
          <p:cNvPr id="15" name="椭圆 14"/>
          <p:cNvSpPr/>
          <p:nvPr/>
        </p:nvSpPr>
        <p:spPr>
          <a:xfrm>
            <a:off x="3929380" y="4340860"/>
            <a:ext cx="331470" cy="314325"/>
          </a:xfrm>
          <a:prstGeom prst="ellipse">
            <a:avLst/>
          </a:prstGeom>
          <a:ln w="57150">
            <a:solidFill>
              <a:schemeClr val="accent1"/>
            </a:solidFill>
            <a:prstDash val="sysDot"/>
          </a:ln>
        </p:spPr>
        <p:style>
          <a:lnRef idx="2">
            <a:schemeClr val="accent1"/>
          </a:lnRef>
          <a:fillRef idx="1">
            <a:schemeClr val="lt1"/>
          </a:fillRef>
          <a:effectRef idx="0">
            <a:schemeClr val="accent1"/>
          </a:effectRef>
          <a:fontRef idx="minor">
            <a:schemeClr val="dk1"/>
          </a:fontRef>
        </p:style>
        <p:txBody>
          <a:bodyPr rtlCol="0" anchor="ctr"/>
          <a:p>
            <a:pPr algn="ctr"/>
            <a:endParaRPr lang="zh-CN" altLang="en-US"/>
          </a:p>
        </p:txBody>
      </p:sp>
      <p:sp>
        <p:nvSpPr>
          <p:cNvPr id="16" name="文本框 15"/>
          <p:cNvSpPr txBox="1"/>
          <p:nvPr/>
        </p:nvSpPr>
        <p:spPr>
          <a:xfrm>
            <a:off x="4330700" y="5441315"/>
            <a:ext cx="2934970" cy="1383665"/>
          </a:xfrm>
          <a:prstGeom prst="rect">
            <a:avLst/>
          </a:prstGeom>
          <a:noFill/>
          <a:ln>
            <a:solidFill>
              <a:srgbClr val="C00000"/>
            </a:solidFill>
          </a:ln>
        </p:spPr>
        <p:txBody>
          <a:bodyPr wrap="square" rtlCol="0">
            <a:spAutoFit/>
          </a:bodyPr>
          <a:p>
            <a:r>
              <a:rPr lang="zh-CN" altLang="en-US" sz="2800"/>
              <a:t>离群点导致算出的均值远离真正的点群</a:t>
            </a:r>
            <a:endParaRPr lang="zh-CN" altLang="en-US" sz="2800"/>
          </a:p>
        </p:txBody>
      </p:sp>
      <p:cxnSp>
        <p:nvCxnSpPr>
          <p:cNvPr id="17" name="直接箭头连接符 16"/>
          <p:cNvCxnSpPr/>
          <p:nvPr/>
        </p:nvCxnSpPr>
        <p:spPr>
          <a:xfrm flipH="1" flipV="1">
            <a:off x="4243705" y="4742180"/>
            <a:ext cx="454025" cy="6635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960880" y="666115"/>
            <a:ext cx="9578340" cy="4878070"/>
          </a:xfrm>
        </p:spPr>
        <p:txBody>
          <a:bodyPr>
            <a:normAutofit/>
          </a:bodyPr>
          <a:p>
            <a:pPr marL="0" indent="0">
              <a:buNone/>
            </a:pPr>
            <a:r>
              <a:rPr lang="zh-CN" altLang="en-US" sz="3200" dirty="0">
                <a:latin typeface="楷体" panose="02010609060101010101" charset="-122"/>
                <a:ea typeface="楷体" panose="02010609060101010101" charset="-122"/>
                <a:sym typeface="+mn-ea"/>
              </a:rPr>
              <a:t>为了降低这种敏感性，可以</a:t>
            </a:r>
            <a:r>
              <a:rPr lang="zh-CN" altLang="en-US" sz="3200" b="1" dirty="0">
                <a:solidFill>
                  <a:srgbClr val="C00000"/>
                </a:solidFill>
                <a:latin typeface="楷体" panose="02010609060101010101" charset="-122"/>
                <a:ea typeface="楷体" panose="02010609060101010101" charset="-122"/>
                <a:sym typeface="+mn-ea"/>
              </a:rPr>
              <a:t>不采用簇中对象的均值作为参照点，而是在每个簇中选出一个实际的对象来代表该簇</a:t>
            </a:r>
            <a:r>
              <a:rPr lang="zh-CN" altLang="en-US" sz="3200" dirty="0">
                <a:latin typeface="楷体" panose="02010609060101010101" charset="-122"/>
                <a:ea typeface="楷体" panose="02010609060101010101" charset="-122"/>
                <a:sym typeface="+mn-ea"/>
              </a:rPr>
              <a:t>。其余的每个对象聚类到与其最相似的代表性对象所在的簇中。这样，划分方法仍然基于最小化所有对象与其对应的参照点之间的相异度之和的原则来执行。</a:t>
            </a:r>
            <a:endParaRPr lang="zh-CN" altLang="en-US" sz="3200" dirty="0">
              <a:latin typeface="楷体" panose="02010609060101010101" charset="-122"/>
              <a:ea typeface="楷体" panose="02010609060101010101" charset="-122"/>
            </a:endParaRPr>
          </a:p>
          <a:p>
            <a:pPr marL="0" indent="0">
              <a:buNone/>
            </a:pPr>
            <a:r>
              <a:rPr lang="zh-CN" altLang="en-US" sz="3200" dirty="0">
                <a:latin typeface="楷体" panose="02010609060101010101" charset="-122"/>
                <a:ea typeface="楷体" panose="02010609060101010101" charset="-122"/>
                <a:sym typeface="+mn-ea"/>
              </a:rPr>
              <a:t>这种算法称为</a:t>
            </a:r>
            <a:r>
              <a:rPr lang="zh-CN" altLang="en-US" sz="3200" b="1" dirty="0">
                <a:solidFill>
                  <a:srgbClr val="C00000"/>
                </a:solidFill>
                <a:latin typeface="楷体" panose="02010609060101010101" charset="-122"/>
                <a:ea typeface="楷体" panose="02010609060101010101" charset="-122"/>
                <a:sym typeface="+mn-ea"/>
              </a:rPr>
              <a:t>K中心点聚类算法</a:t>
            </a:r>
            <a:r>
              <a:rPr lang="zh-CN" altLang="en-US" sz="3200" dirty="0">
                <a:latin typeface="楷体" panose="02010609060101010101" charset="-122"/>
                <a:ea typeface="楷体" panose="02010609060101010101" charset="-122"/>
                <a:sym typeface="+mn-ea"/>
              </a:rPr>
              <a:t>。</a:t>
            </a:r>
            <a:endParaRPr lang="zh-CN" altLang="en-US" sz="3200" dirty="0">
              <a:latin typeface="楷体" panose="02010609060101010101" charset="-122"/>
              <a:ea typeface="楷体" panose="02010609060101010101" charset="-122"/>
            </a:endParaRPr>
          </a:p>
          <a:p>
            <a:pPr marL="0" indent="0">
              <a:buNone/>
            </a:pPr>
            <a:r>
              <a:rPr lang="zh-CN" altLang="en-US" sz="3200" dirty="0">
                <a:latin typeface="楷体" panose="02010609060101010101" charset="-122"/>
                <a:ea typeface="楷体" panose="02010609060101010101" charset="-122"/>
                <a:sym typeface="+mn-ea"/>
              </a:rPr>
              <a:t> </a:t>
            </a:r>
            <a:endParaRPr lang="zh-CN" altLang="en-US" sz="3200" dirty="0">
              <a:latin typeface="楷体" panose="02010609060101010101" charset="-122"/>
              <a:ea typeface="楷体" panose="02010609060101010101" charset="-122"/>
            </a:endParaRPr>
          </a:p>
          <a:p>
            <a:endParaRPr lang="zh-CN" altLang="en-US" sz="3200" dirty="0">
              <a:latin typeface="楷体" panose="02010609060101010101" charset="-122"/>
              <a:ea typeface="楷体" panose="02010609060101010101" charset="-122"/>
            </a:endParaRPr>
          </a:p>
        </p:txBody>
      </p:sp>
      <p:sp>
        <p:nvSpPr>
          <p:cNvPr id="7" name="椭圆 6"/>
          <p:cNvSpPr/>
          <p:nvPr/>
        </p:nvSpPr>
        <p:spPr>
          <a:xfrm>
            <a:off x="4815205" y="560070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8" name="椭圆 7"/>
          <p:cNvSpPr/>
          <p:nvPr/>
        </p:nvSpPr>
        <p:spPr>
          <a:xfrm>
            <a:off x="7841615" y="4373245"/>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9" name="椭圆 8"/>
          <p:cNvSpPr/>
          <p:nvPr/>
        </p:nvSpPr>
        <p:spPr>
          <a:xfrm>
            <a:off x="8121650" y="4934585"/>
            <a:ext cx="280035" cy="2616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椭圆 9"/>
          <p:cNvSpPr/>
          <p:nvPr/>
        </p:nvSpPr>
        <p:spPr>
          <a:xfrm>
            <a:off x="8401685" y="4500245"/>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1" name="椭圆 10"/>
          <p:cNvSpPr/>
          <p:nvPr/>
        </p:nvSpPr>
        <p:spPr>
          <a:xfrm>
            <a:off x="7841615" y="4934585"/>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2" name="椭圆 11"/>
          <p:cNvSpPr/>
          <p:nvPr/>
        </p:nvSpPr>
        <p:spPr>
          <a:xfrm>
            <a:off x="9017000" y="5076825"/>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3" name="椭圆 12"/>
          <p:cNvSpPr/>
          <p:nvPr/>
        </p:nvSpPr>
        <p:spPr>
          <a:xfrm>
            <a:off x="8401685" y="560070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4" name="文本框 13"/>
          <p:cNvSpPr txBox="1"/>
          <p:nvPr/>
        </p:nvSpPr>
        <p:spPr>
          <a:xfrm>
            <a:off x="5095240" y="5982335"/>
            <a:ext cx="2131060" cy="398780"/>
          </a:xfrm>
          <a:prstGeom prst="rect">
            <a:avLst/>
          </a:prstGeom>
          <a:noFill/>
        </p:spPr>
        <p:txBody>
          <a:bodyPr wrap="square" rtlCol="0">
            <a:spAutoFit/>
          </a:bodyPr>
          <a:p>
            <a:r>
              <a:rPr lang="zh-CN" altLang="en-US" sz="2000" b="1"/>
              <a:t>离群点</a:t>
            </a:r>
            <a:endParaRPr lang="zh-CN" altLang="en-US" sz="2000" b="1"/>
          </a:p>
        </p:txBody>
      </p:sp>
      <p:sp>
        <p:nvSpPr>
          <p:cNvPr id="4" name="文本框 3"/>
          <p:cNvSpPr txBox="1"/>
          <p:nvPr/>
        </p:nvSpPr>
        <p:spPr>
          <a:xfrm>
            <a:off x="9798050" y="3834130"/>
            <a:ext cx="1921510" cy="1198880"/>
          </a:xfrm>
          <a:prstGeom prst="rect">
            <a:avLst/>
          </a:prstGeom>
          <a:noFill/>
        </p:spPr>
        <p:txBody>
          <a:bodyPr wrap="square" rtlCol="0">
            <a:spAutoFit/>
          </a:bodyPr>
          <a:p>
            <a:r>
              <a:rPr lang="zh-CN" altLang="en-US" b="1"/>
              <a:t>不计算均值，而是选择一个样本做这个类的代表对象</a:t>
            </a:r>
            <a:endParaRPr lang="zh-CN" altLang="en-US" b="1"/>
          </a:p>
        </p:txBody>
      </p:sp>
      <p:cxnSp>
        <p:nvCxnSpPr>
          <p:cNvPr id="5" name="直接箭头连接符 4"/>
          <p:cNvCxnSpPr/>
          <p:nvPr/>
        </p:nvCxnSpPr>
        <p:spPr>
          <a:xfrm flipH="1">
            <a:off x="8592820" y="4323080"/>
            <a:ext cx="1170305" cy="6286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925320" y="421640"/>
            <a:ext cx="9648825" cy="5384165"/>
          </a:xfrm>
        </p:spPr>
        <p:txBody>
          <a:bodyPr/>
          <a:p>
            <a:pPr marL="0" indent="0">
              <a:buNone/>
            </a:pPr>
            <a:r>
              <a:rPr lang="zh-CN" altLang="en-US" sz="3200" b="1" dirty="0">
                <a:latin typeface="楷体" panose="02010609060101010101" charset="-122"/>
                <a:ea typeface="楷体" panose="02010609060101010101" charset="-122"/>
                <a:sym typeface="+mn-ea"/>
              </a:rPr>
              <a:t>9.2 K-中心点聚类算法原理</a:t>
            </a:r>
            <a:endParaRPr lang="zh-CN" altLang="en-US" sz="3200" b="1" dirty="0">
              <a:latin typeface="楷体" panose="02010609060101010101" charset="-122"/>
              <a:ea typeface="楷体" panose="02010609060101010101" charset="-122"/>
            </a:endParaRPr>
          </a:p>
          <a:p>
            <a:pPr marL="0" indent="0">
              <a:buNone/>
            </a:pPr>
            <a:r>
              <a:rPr lang="zh-CN" altLang="en-US" sz="3200" dirty="0">
                <a:latin typeface="楷体" panose="02010609060101010101" charset="-122"/>
                <a:ea typeface="楷体" panose="02010609060101010101" charset="-122"/>
                <a:sym typeface="+mn-ea"/>
              </a:rPr>
              <a:t>  K-中心点聚类算法的基本思想为：对于K中心点聚类算法，首先随意选择初始代表对象(或种子)。</a:t>
            </a:r>
            <a:r>
              <a:rPr lang="zh-CN" altLang="en-US" sz="3200" b="1" dirty="0">
                <a:solidFill>
                  <a:srgbClr val="C00000"/>
                </a:solidFill>
                <a:latin typeface="楷体" panose="02010609060101010101" charset="-122"/>
                <a:ea typeface="楷体" panose="02010609060101010101" charset="-122"/>
                <a:sym typeface="+mn-ea"/>
              </a:rPr>
              <a:t>代表对象</a:t>
            </a:r>
            <a:r>
              <a:rPr lang="zh-CN" altLang="en-US" sz="3200" dirty="0">
                <a:latin typeface="楷体" panose="02010609060101010101" charset="-122"/>
                <a:ea typeface="楷体" panose="02010609060101010101" charset="-122"/>
                <a:sym typeface="+mn-ea"/>
              </a:rPr>
              <a:t>也被称为是</a:t>
            </a:r>
            <a:r>
              <a:rPr lang="zh-CN" altLang="en-US" sz="3200" b="1" dirty="0">
                <a:solidFill>
                  <a:srgbClr val="C00000"/>
                </a:solidFill>
                <a:latin typeface="楷体" panose="02010609060101010101" charset="-122"/>
                <a:ea typeface="楷体" panose="02010609060101010101" charset="-122"/>
                <a:sym typeface="+mn-ea"/>
              </a:rPr>
              <a:t>中心点</a:t>
            </a:r>
            <a:r>
              <a:rPr lang="zh-CN" altLang="en-US" sz="3200" dirty="0">
                <a:latin typeface="楷体" panose="02010609060101010101" charset="-122"/>
                <a:ea typeface="楷体" panose="02010609060101010101" charset="-122"/>
                <a:sym typeface="+mn-ea"/>
              </a:rPr>
              <a:t>，其他对象则被称为</a:t>
            </a:r>
            <a:r>
              <a:rPr lang="zh-CN" altLang="en-US" sz="3200" b="1" dirty="0">
                <a:solidFill>
                  <a:srgbClr val="C00000"/>
                </a:solidFill>
                <a:latin typeface="楷体" panose="02010609060101010101" charset="-122"/>
                <a:ea typeface="楷体" panose="02010609060101010101" charset="-122"/>
                <a:sym typeface="+mn-ea"/>
              </a:rPr>
              <a:t>非代表对象</a:t>
            </a:r>
            <a:r>
              <a:rPr lang="zh-CN" altLang="en-US" sz="3200" dirty="0">
                <a:latin typeface="楷体" panose="02010609060101010101" charset="-122"/>
                <a:ea typeface="楷体" panose="02010609060101010101" charset="-122"/>
                <a:sym typeface="+mn-ea"/>
              </a:rPr>
              <a:t>。</a:t>
            </a:r>
            <a:endParaRPr lang="zh-CN" altLang="en-US" sz="3200" dirty="0">
              <a:latin typeface="楷体" panose="02010609060101010101" charset="-122"/>
              <a:ea typeface="楷体" panose="02010609060101010101" charset="-122"/>
              <a:sym typeface="+mn-ea"/>
            </a:endParaRPr>
          </a:p>
          <a:p>
            <a:pPr marL="0" indent="0">
              <a:buNone/>
            </a:pPr>
            <a:r>
              <a:rPr lang="zh-CN" altLang="en-US" sz="3200" dirty="0">
                <a:latin typeface="楷体" panose="02010609060101010101" charset="-122"/>
                <a:ea typeface="楷体" panose="02010609060101010101" charset="-122"/>
                <a:sym typeface="+mn-ea"/>
              </a:rPr>
              <a:t>最初随机选择k个对象作为中心点，该算法</a:t>
            </a:r>
            <a:r>
              <a:rPr lang="zh-CN" altLang="en-US" sz="3200" b="1" dirty="0">
                <a:solidFill>
                  <a:srgbClr val="C00000"/>
                </a:solidFill>
                <a:latin typeface="楷体" panose="02010609060101010101" charset="-122"/>
                <a:ea typeface="楷体" panose="02010609060101010101" charset="-122"/>
                <a:sym typeface="+mn-ea"/>
              </a:rPr>
              <a:t>反复地用非代表对象来代替代表对象，试图找出更好的中心点</a:t>
            </a:r>
            <a:r>
              <a:rPr lang="zh-CN" altLang="en-US" sz="3200" dirty="0">
                <a:latin typeface="楷体" panose="02010609060101010101" charset="-122"/>
                <a:ea typeface="楷体" panose="02010609060101010101" charset="-122"/>
                <a:sym typeface="+mn-ea"/>
              </a:rPr>
              <a:t>，以改进聚类的质量</a:t>
            </a:r>
            <a:r>
              <a:rPr lang="zh-CN" altLang="en-US" sz="2800" dirty="0">
                <a:latin typeface="楷体" panose="02010609060101010101" charset="-122"/>
                <a:ea typeface="楷体" panose="02010609060101010101" charset="-122"/>
                <a:sym typeface="+mn-ea"/>
              </a:rPr>
              <a:t>；</a:t>
            </a:r>
            <a:endParaRPr lang="zh-CN" altLang="en-US" sz="2800" dirty="0">
              <a:latin typeface="楷体" panose="02010609060101010101" charset="-122"/>
              <a:ea typeface="楷体" panose="02010609060101010101" charset="-122"/>
              <a:sym typeface="+mn-ea"/>
            </a:endParaRPr>
          </a:p>
        </p:txBody>
      </p:sp>
      <p:sp>
        <p:nvSpPr>
          <p:cNvPr id="7" name="椭圆 6"/>
          <p:cNvSpPr/>
          <p:nvPr/>
        </p:nvSpPr>
        <p:spPr>
          <a:xfrm>
            <a:off x="8331835" y="5005070"/>
            <a:ext cx="280035" cy="2616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nvSpPr>
        <p:spPr>
          <a:xfrm>
            <a:off x="7771765" y="444373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9" name="椭圆 8"/>
          <p:cNvSpPr/>
          <p:nvPr/>
        </p:nvSpPr>
        <p:spPr>
          <a:xfrm>
            <a:off x="8051800" y="500507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0" name="椭圆 9"/>
          <p:cNvSpPr/>
          <p:nvPr/>
        </p:nvSpPr>
        <p:spPr>
          <a:xfrm>
            <a:off x="8331835" y="457073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1" name="椭圆 10"/>
          <p:cNvSpPr/>
          <p:nvPr/>
        </p:nvSpPr>
        <p:spPr>
          <a:xfrm>
            <a:off x="7771765" y="500507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2" name="椭圆 11"/>
          <p:cNvSpPr/>
          <p:nvPr/>
        </p:nvSpPr>
        <p:spPr>
          <a:xfrm>
            <a:off x="8947150" y="514731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3" name="椭圆 12"/>
          <p:cNvSpPr/>
          <p:nvPr/>
        </p:nvSpPr>
        <p:spPr>
          <a:xfrm>
            <a:off x="8331835" y="5671185"/>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4" name="文本框 13"/>
          <p:cNvSpPr txBox="1"/>
          <p:nvPr/>
        </p:nvSpPr>
        <p:spPr>
          <a:xfrm>
            <a:off x="9227185" y="4298315"/>
            <a:ext cx="2131060" cy="706755"/>
          </a:xfrm>
          <a:prstGeom prst="rect">
            <a:avLst/>
          </a:prstGeom>
          <a:noFill/>
        </p:spPr>
        <p:txBody>
          <a:bodyPr wrap="square" rtlCol="0">
            <a:spAutoFit/>
          </a:bodyPr>
          <a:p>
            <a:r>
              <a:rPr lang="zh-CN" altLang="en-US" sz="2000" b="1"/>
              <a:t>代表对象（中心点）</a:t>
            </a:r>
            <a:endParaRPr lang="zh-CN" altLang="en-US" sz="2000" b="1"/>
          </a:p>
        </p:txBody>
      </p:sp>
      <p:cxnSp>
        <p:nvCxnSpPr>
          <p:cNvPr id="15" name="直接箭头连接符 14"/>
          <p:cNvCxnSpPr>
            <a:stCxn id="14" idx="1"/>
            <a:endCxn id="7" idx="6"/>
          </p:cNvCxnSpPr>
          <p:nvPr/>
        </p:nvCxnSpPr>
        <p:spPr>
          <a:xfrm flipH="1">
            <a:off x="8611870" y="4652010"/>
            <a:ext cx="615315" cy="4838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5698490" y="5408930"/>
            <a:ext cx="280035" cy="2616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p>
        </p:txBody>
      </p:sp>
      <p:sp>
        <p:nvSpPr>
          <p:cNvPr id="17" name="椭圆 16"/>
          <p:cNvSpPr/>
          <p:nvPr/>
        </p:nvSpPr>
        <p:spPr>
          <a:xfrm>
            <a:off x="5261610" y="5805805"/>
            <a:ext cx="280035" cy="2616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p>
        </p:txBody>
      </p:sp>
      <p:sp>
        <p:nvSpPr>
          <p:cNvPr id="18" name="椭圆 17"/>
          <p:cNvSpPr/>
          <p:nvPr/>
        </p:nvSpPr>
        <p:spPr>
          <a:xfrm>
            <a:off x="6134735" y="5932805"/>
            <a:ext cx="280035" cy="2616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p>
        </p:txBody>
      </p:sp>
      <p:sp>
        <p:nvSpPr>
          <p:cNvPr id="19" name="椭圆 18"/>
          <p:cNvSpPr/>
          <p:nvPr/>
        </p:nvSpPr>
        <p:spPr>
          <a:xfrm>
            <a:off x="5698490" y="6067425"/>
            <a:ext cx="280035" cy="2616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p>
        </p:txBody>
      </p:sp>
      <p:sp>
        <p:nvSpPr>
          <p:cNvPr id="20" name="椭圆 19"/>
          <p:cNvSpPr/>
          <p:nvPr/>
        </p:nvSpPr>
        <p:spPr>
          <a:xfrm>
            <a:off x="5978525" y="6329045"/>
            <a:ext cx="280035" cy="2616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p>
        </p:txBody>
      </p:sp>
      <p:sp>
        <p:nvSpPr>
          <p:cNvPr id="21" name="椭圆 20"/>
          <p:cNvSpPr/>
          <p:nvPr/>
        </p:nvSpPr>
        <p:spPr>
          <a:xfrm>
            <a:off x="5418455" y="6194425"/>
            <a:ext cx="280035" cy="2616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p>
        </p:txBody>
      </p:sp>
      <p:sp>
        <p:nvSpPr>
          <p:cNvPr id="22" name="椭圆 21"/>
          <p:cNvSpPr/>
          <p:nvPr/>
        </p:nvSpPr>
        <p:spPr>
          <a:xfrm>
            <a:off x="5698490" y="5805805"/>
            <a:ext cx="280035" cy="2616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nvSpPr>
        <p:spPr>
          <a:xfrm>
            <a:off x="2804160" y="5135880"/>
            <a:ext cx="2131060" cy="706755"/>
          </a:xfrm>
          <a:prstGeom prst="rect">
            <a:avLst/>
          </a:prstGeom>
          <a:noFill/>
        </p:spPr>
        <p:txBody>
          <a:bodyPr wrap="square" rtlCol="0">
            <a:spAutoFit/>
          </a:bodyPr>
          <a:p>
            <a:r>
              <a:rPr lang="zh-CN" altLang="en-US" sz="2000" b="1"/>
              <a:t>代表对象（中心点）</a:t>
            </a:r>
            <a:endParaRPr lang="zh-CN" altLang="en-US" sz="2000" b="1"/>
          </a:p>
        </p:txBody>
      </p:sp>
      <p:cxnSp>
        <p:nvCxnSpPr>
          <p:cNvPr id="24" name="直接箭头连接符 23"/>
          <p:cNvCxnSpPr>
            <a:stCxn id="23" idx="3"/>
            <a:endCxn id="22" idx="1"/>
          </p:cNvCxnSpPr>
          <p:nvPr/>
        </p:nvCxnSpPr>
        <p:spPr>
          <a:xfrm>
            <a:off x="4935220" y="5489575"/>
            <a:ext cx="804545" cy="3543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sz="3600" dirty="0">
                <a:latin typeface="楷体" panose="02010609060101010101" charset="-122"/>
                <a:ea typeface="楷体" panose="02010609060101010101" charset="-122"/>
                <a:sym typeface="+mn-ea"/>
              </a:rPr>
              <a:t>如何知道是否提高了聚类质量？聚类结果的质量用</a:t>
            </a:r>
            <a:r>
              <a:rPr lang="zh-CN" altLang="en-US" sz="3600" b="1" dirty="0">
                <a:solidFill>
                  <a:srgbClr val="C00000"/>
                </a:solidFill>
                <a:latin typeface="楷体" panose="02010609060101010101" charset="-122"/>
                <a:ea typeface="楷体" panose="02010609060101010101" charset="-122"/>
                <a:sym typeface="+mn-ea"/>
              </a:rPr>
              <a:t>代价函数</a:t>
            </a:r>
            <a:r>
              <a:rPr lang="zh-CN" altLang="en-US" sz="3600" dirty="0">
                <a:latin typeface="楷体" panose="02010609060101010101" charset="-122"/>
                <a:ea typeface="楷体" panose="02010609060101010101" charset="-122"/>
                <a:sym typeface="+mn-ea"/>
              </a:rPr>
              <a:t>来评估，该函数用来度量对象与其簇的代表对象之间的平均相异度。</a:t>
            </a:r>
            <a:endParaRPr lang="zh-CN" altLang="en-US" sz="3600" dirty="0">
              <a:latin typeface="楷体" panose="02010609060101010101" charset="-122"/>
              <a:ea typeface="楷体" panose="02010609060101010101" charset="-122"/>
            </a:endParaRPr>
          </a:p>
          <a:p>
            <a:endParaRPr lang="zh-CN" altLang="en-US" sz="3600" dirty="0">
              <a:latin typeface="楷体" panose="02010609060101010101" charset="-122"/>
              <a:ea typeface="楷体" panose="0201060906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814830" y="285115"/>
            <a:ext cx="10099040" cy="6327140"/>
          </a:xfrm>
        </p:spPr>
        <p:txBody>
          <a:bodyPr/>
          <a:p>
            <a:pPr marL="0" indent="0">
              <a:buNone/>
            </a:pPr>
            <a:r>
              <a:rPr lang="zh-CN" altLang="en-US">
                <a:latin typeface="楷体" panose="02010609060101010101" charset="-122"/>
                <a:ea typeface="楷体" panose="02010609060101010101" charset="-122"/>
              </a:rPr>
              <a:t>。</a:t>
            </a:r>
            <a:endParaRPr lang="zh-CN" altLang="en-US">
              <a:latin typeface="楷体" panose="02010609060101010101" charset="-122"/>
              <a:ea typeface="楷体" panose="02010609060101010101" charset="-122"/>
            </a:endParaRPr>
          </a:p>
          <a:p>
            <a:pPr marL="0" indent="0">
              <a:buNone/>
            </a:pPr>
            <a:r>
              <a:rPr lang="zh-CN" altLang="en-US" sz="2000">
                <a:latin typeface="楷体" panose="02010609060101010101" charset="-122"/>
                <a:ea typeface="楷体" panose="02010609060101010101" charset="-122"/>
              </a:rPr>
              <a:t>  </a:t>
            </a:r>
            <a:r>
              <a:rPr lang="zh-CN" altLang="en-US" sz="2800">
                <a:latin typeface="楷体" panose="02010609060101010101" charset="-122"/>
                <a:ea typeface="楷体" panose="02010609060101010101" charset="-122"/>
              </a:rPr>
              <a:t>在K-中心点聚类算法中需要计算所有</a:t>
            </a:r>
            <a:r>
              <a:rPr lang="zh-CN" altLang="en-US" sz="2800" b="1">
                <a:latin typeface="楷体" panose="02010609060101010101" charset="-122"/>
                <a:ea typeface="楷体" panose="02010609060101010101" charset="-122"/>
              </a:rPr>
              <a:t>非代表对象</a:t>
            </a:r>
            <a:r>
              <a:rPr lang="zh-CN" altLang="en-US" sz="2800">
                <a:latin typeface="楷体" panose="02010609060101010101" charset="-122"/>
                <a:ea typeface="楷体" panose="02010609060101010101" charset="-122"/>
              </a:rPr>
              <a:t>与</a:t>
            </a:r>
            <a:r>
              <a:rPr lang="zh-CN" altLang="en-US" sz="2800" b="1">
                <a:latin typeface="楷体" panose="02010609060101010101" charset="-122"/>
                <a:ea typeface="楷体" panose="02010609060101010101" charset="-122"/>
              </a:rPr>
              <a:t>代表对象</a:t>
            </a:r>
            <a:r>
              <a:rPr lang="zh-CN" altLang="en-US" sz="2800">
                <a:latin typeface="楷体" panose="02010609060101010101" charset="-122"/>
                <a:ea typeface="楷体" panose="02010609060101010101" charset="-122"/>
              </a:rPr>
              <a:t>之间的</a:t>
            </a:r>
            <a:r>
              <a:rPr lang="zh-CN" altLang="en-US" sz="2800" b="1">
                <a:solidFill>
                  <a:srgbClr val="C00000"/>
                </a:solidFill>
                <a:latin typeface="楷体" panose="02010609060101010101" charset="-122"/>
                <a:ea typeface="楷体" panose="02010609060101010101" charset="-122"/>
              </a:rPr>
              <a:t>相异度</a:t>
            </a:r>
            <a:r>
              <a:rPr lang="zh-CN" altLang="en-US" sz="2800">
                <a:latin typeface="楷体" panose="02010609060101010101" charset="-122"/>
                <a:ea typeface="楷体" panose="02010609060101010101" charset="-122"/>
              </a:rPr>
              <a:t>作为分组的依据．针对不同的数据类型有不同的相异度或距离函数．因此相异度或距离函数的选择依据数据对象的数据类型。一般情况下，数据对象为数值型，选用</a:t>
            </a:r>
            <a:r>
              <a:rPr lang="zh-CN" altLang="en-US" sz="2800" b="1">
                <a:solidFill>
                  <a:srgbClr val="C00000"/>
                </a:solidFill>
                <a:latin typeface="楷体" panose="02010609060101010101" charset="-122"/>
                <a:ea typeface="楷体" panose="02010609060101010101" charset="-122"/>
              </a:rPr>
              <a:t>曼哈顿距离</a:t>
            </a:r>
            <a:r>
              <a:rPr lang="zh-CN" altLang="en-US" sz="2800">
                <a:latin typeface="楷体" panose="02010609060101010101" charset="-122"/>
                <a:ea typeface="楷体" panose="02010609060101010101" charset="-122"/>
              </a:rPr>
              <a:t>：</a:t>
            </a:r>
            <a:endParaRPr lang="zh-CN" altLang="en-US" sz="2800">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a:t>
            </a:r>
            <a:endParaRPr lang="zh-CN" altLang="en-US">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  此处：           和             是两个n维的数据对象。具体应用中应根据不同的数据类型选用不同的距离函数。</a:t>
            </a: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p:txBody>
      </p:sp>
      <p:graphicFrame>
        <p:nvGraphicFramePr>
          <p:cNvPr id="4" name="Picture 77"/>
          <p:cNvGraphicFramePr>
            <a:graphicFrameLocks noChangeAspect="1"/>
          </p:cNvGraphicFramePr>
          <p:nvPr/>
        </p:nvGraphicFramePr>
        <p:xfrm>
          <a:off x="2633980" y="2799715"/>
          <a:ext cx="6923405" cy="685800"/>
        </p:xfrm>
        <a:graphic>
          <a:graphicData uri="http://schemas.openxmlformats.org/presentationml/2006/ole">
            <mc:AlternateContent xmlns:mc="http://schemas.openxmlformats.org/markup-compatibility/2006">
              <mc:Choice xmlns:v="urn:schemas-microsoft-com:vml" Requires="v">
                <p:oleObj spid="_x0000_s5" name="" r:id="rId1" imgW="2832100" imgH="279400" progId="Equation.DSMT4">
                  <p:embed/>
                </p:oleObj>
              </mc:Choice>
              <mc:Fallback>
                <p:oleObj name="" r:id="rId1" imgW="2832100" imgH="279400" progId="Equation.DSMT4">
                  <p:embed/>
                  <p:pic>
                    <p:nvPicPr>
                      <p:cNvPr id="0" name="图片 3"/>
                      <p:cNvPicPr/>
                      <p:nvPr/>
                    </p:nvPicPr>
                    <p:blipFill>
                      <a:blip r:embed="rId2"/>
                      <a:stretch>
                        <a:fillRect/>
                      </a:stretch>
                    </p:blipFill>
                    <p:spPr>
                      <a:xfrm>
                        <a:off x="2633980" y="2799715"/>
                        <a:ext cx="6923405" cy="685800"/>
                      </a:xfrm>
                      <a:prstGeom prst="rect">
                        <a:avLst/>
                      </a:prstGeom>
                      <a:noFill/>
                      <a:ln w="38100">
                        <a:noFill/>
                        <a:miter/>
                      </a:ln>
                    </p:spPr>
                  </p:pic>
                </p:oleObj>
              </mc:Fallback>
            </mc:AlternateContent>
          </a:graphicData>
        </a:graphic>
      </p:graphicFrame>
      <p:graphicFrame>
        <p:nvGraphicFramePr>
          <p:cNvPr id="6" name="对象 -2147482620"/>
          <p:cNvGraphicFramePr>
            <a:graphicFrameLocks noChangeAspect="1"/>
          </p:cNvGraphicFramePr>
          <p:nvPr/>
        </p:nvGraphicFramePr>
        <p:xfrm>
          <a:off x="10564495" y="2799715"/>
          <a:ext cx="631190" cy="482600"/>
        </p:xfrm>
        <a:graphic>
          <a:graphicData uri="http://schemas.openxmlformats.org/presentationml/2006/ole">
            <mc:AlternateContent xmlns:mc="http://schemas.openxmlformats.org/markup-compatibility/2006">
              <mc:Choice xmlns:v="urn:schemas-microsoft-com:vml" Requires="v">
                <p:oleObj spid="_x0000_s7" name="" r:id="rId3" imgW="330200" imgH="254000" progId="Equation.DSMT4">
                  <p:embed/>
                </p:oleObj>
              </mc:Choice>
              <mc:Fallback>
                <p:oleObj name="" r:id="rId3" imgW="330200" imgH="254000" progId="Equation.DSMT4">
                  <p:embed/>
                  <p:pic>
                    <p:nvPicPr>
                      <p:cNvPr id="0" name="图片 4"/>
                      <p:cNvPicPr/>
                      <p:nvPr/>
                    </p:nvPicPr>
                    <p:blipFill>
                      <a:blip r:embed="rId4"/>
                      <a:stretch>
                        <a:fillRect/>
                      </a:stretch>
                    </p:blipFill>
                    <p:spPr>
                      <a:xfrm>
                        <a:off x="10564495" y="2799715"/>
                        <a:ext cx="631190" cy="482600"/>
                      </a:xfrm>
                      <a:prstGeom prst="rect">
                        <a:avLst/>
                      </a:prstGeom>
                      <a:noFill/>
                      <a:ln w="38100">
                        <a:noFill/>
                        <a:miter/>
                      </a:ln>
                    </p:spPr>
                  </p:pic>
                </p:oleObj>
              </mc:Fallback>
            </mc:AlternateContent>
          </a:graphicData>
        </a:graphic>
      </p:graphicFrame>
      <p:graphicFrame>
        <p:nvGraphicFramePr>
          <p:cNvPr id="8" name="Picture 78"/>
          <p:cNvGraphicFramePr>
            <a:graphicFrameLocks noChangeAspect="1"/>
          </p:cNvGraphicFramePr>
          <p:nvPr/>
        </p:nvGraphicFramePr>
        <p:xfrm>
          <a:off x="3253740" y="3765550"/>
          <a:ext cx="1448435" cy="294005"/>
        </p:xfrm>
        <a:graphic>
          <a:graphicData uri="http://schemas.openxmlformats.org/presentationml/2006/ole">
            <mc:AlternateContent xmlns:mc="http://schemas.openxmlformats.org/markup-compatibility/2006">
              <mc:Choice xmlns:v="urn:schemas-microsoft-com:vml" Requires="v">
                <p:oleObj spid="_x0000_s9" name="" r:id="rId5" imgW="1258570" imgH="254000" progId="Equation.DSMT4">
                  <p:embed/>
                </p:oleObj>
              </mc:Choice>
              <mc:Fallback>
                <p:oleObj name="" r:id="rId5" imgW="1258570" imgH="254000" progId="Equation.DSMT4">
                  <p:embed/>
                  <p:pic>
                    <p:nvPicPr>
                      <p:cNvPr id="0" name="图片 5"/>
                      <p:cNvPicPr/>
                      <p:nvPr/>
                    </p:nvPicPr>
                    <p:blipFill>
                      <a:blip r:embed="rId6"/>
                      <a:stretch>
                        <a:fillRect/>
                      </a:stretch>
                    </p:blipFill>
                    <p:spPr>
                      <a:xfrm>
                        <a:off x="3253740" y="3765550"/>
                        <a:ext cx="1448435" cy="294005"/>
                      </a:xfrm>
                      <a:prstGeom prst="rect">
                        <a:avLst/>
                      </a:prstGeom>
                      <a:noFill/>
                      <a:ln w="38100">
                        <a:noFill/>
                        <a:miter/>
                      </a:ln>
                    </p:spPr>
                  </p:pic>
                </p:oleObj>
              </mc:Fallback>
            </mc:AlternateContent>
          </a:graphicData>
        </a:graphic>
      </p:graphicFrame>
      <p:graphicFrame>
        <p:nvGraphicFramePr>
          <p:cNvPr id="10" name="Picture 79"/>
          <p:cNvGraphicFramePr>
            <a:graphicFrameLocks noChangeAspect="1"/>
          </p:cNvGraphicFramePr>
          <p:nvPr/>
        </p:nvGraphicFramePr>
        <p:xfrm>
          <a:off x="5285105" y="3765550"/>
          <a:ext cx="1621790" cy="334645"/>
        </p:xfrm>
        <a:graphic>
          <a:graphicData uri="http://schemas.openxmlformats.org/presentationml/2006/ole">
            <mc:AlternateContent xmlns:mc="http://schemas.openxmlformats.org/markup-compatibility/2006">
              <mc:Choice xmlns:v="urn:schemas-microsoft-com:vml" Requires="v">
                <p:oleObj spid="_x0000_s11" name="" r:id="rId7" imgW="1360805" imgH="280035" progId="Equation.DSMT4">
                  <p:embed/>
                </p:oleObj>
              </mc:Choice>
              <mc:Fallback>
                <p:oleObj name="" r:id="rId7" imgW="1360805" imgH="280035" progId="Equation.DSMT4">
                  <p:embed/>
                  <p:pic>
                    <p:nvPicPr>
                      <p:cNvPr id="0" name="图片 6"/>
                      <p:cNvPicPr/>
                      <p:nvPr/>
                    </p:nvPicPr>
                    <p:blipFill>
                      <a:blip r:embed="rId8"/>
                      <a:stretch>
                        <a:fillRect/>
                      </a:stretch>
                    </p:blipFill>
                    <p:spPr>
                      <a:xfrm>
                        <a:off x="5285105" y="3765550"/>
                        <a:ext cx="1621790" cy="334645"/>
                      </a:xfrm>
                      <a:prstGeom prst="rect">
                        <a:avLst/>
                      </a:prstGeom>
                      <a:noFill/>
                      <a:ln w="38100">
                        <a:noFill/>
                        <a:miter/>
                      </a:ln>
                    </p:spPr>
                  </p:pic>
                </p:oleObj>
              </mc:Fallback>
            </mc:AlternateContent>
          </a:graphicData>
        </a:graphic>
      </p:graphicFrame>
      <p:sp>
        <p:nvSpPr>
          <p:cNvPr id="19" name="椭圆 18"/>
          <p:cNvSpPr/>
          <p:nvPr/>
        </p:nvSpPr>
        <p:spPr>
          <a:xfrm>
            <a:off x="8261985" y="5302250"/>
            <a:ext cx="280035" cy="2616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椭圆 19"/>
          <p:cNvSpPr/>
          <p:nvPr/>
        </p:nvSpPr>
        <p:spPr>
          <a:xfrm>
            <a:off x="7701915" y="474091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21" name="椭圆 20"/>
          <p:cNvSpPr/>
          <p:nvPr/>
        </p:nvSpPr>
        <p:spPr>
          <a:xfrm>
            <a:off x="7981950" y="530225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22" name="椭圆 21"/>
          <p:cNvSpPr/>
          <p:nvPr/>
        </p:nvSpPr>
        <p:spPr>
          <a:xfrm>
            <a:off x="8261985" y="486791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23" name="椭圆 22"/>
          <p:cNvSpPr/>
          <p:nvPr/>
        </p:nvSpPr>
        <p:spPr>
          <a:xfrm>
            <a:off x="7701915" y="530225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24" name="椭圆 23"/>
          <p:cNvSpPr/>
          <p:nvPr/>
        </p:nvSpPr>
        <p:spPr>
          <a:xfrm>
            <a:off x="8877300" y="5444490"/>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25" name="椭圆 24"/>
          <p:cNvSpPr/>
          <p:nvPr/>
        </p:nvSpPr>
        <p:spPr>
          <a:xfrm>
            <a:off x="8261985" y="5968365"/>
            <a:ext cx="280035" cy="26162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26" name="文本框 25"/>
          <p:cNvSpPr txBox="1"/>
          <p:nvPr/>
        </p:nvSpPr>
        <p:spPr>
          <a:xfrm>
            <a:off x="9401810" y="4830445"/>
            <a:ext cx="2131060" cy="706755"/>
          </a:xfrm>
          <a:prstGeom prst="rect">
            <a:avLst/>
          </a:prstGeom>
          <a:noFill/>
        </p:spPr>
        <p:txBody>
          <a:bodyPr wrap="square" rtlCol="0">
            <a:spAutoFit/>
          </a:bodyPr>
          <a:p>
            <a:r>
              <a:rPr lang="zh-CN" altLang="en-US" sz="2000" b="1"/>
              <a:t>代表对象（中心点）</a:t>
            </a:r>
            <a:endParaRPr lang="zh-CN" altLang="en-US" sz="2000" b="1"/>
          </a:p>
        </p:txBody>
      </p:sp>
      <p:cxnSp>
        <p:nvCxnSpPr>
          <p:cNvPr id="27" name="直接箭头连接符 26"/>
          <p:cNvCxnSpPr>
            <a:stCxn id="26" idx="1"/>
            <a:endCxn id="19" idx="6"/>
          </p:cNvCxnSpPr>
          <p:nvPr/>
        </p:nvCxnSpPr>
        <p:spPr>
          <a:xfrm flipH="1">
            <a:off x="8542020" y="5184140"/>
            <a:ext cx="859790" cy="2489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5697220" y="5140325"/>
            <a:ext cx="280035" cy="2616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p>
        </p:txBody>
      </p:sp>
      <p:sp>
        <p:nvSpPr>
          <p:cNvPr id="29" name="椭圆 28"/>
          <p:cNvSpPr/>
          <p:nvPr/>
        </p:nvSpPr>
        <p:spPr>
          <a:xfrm>
            <a:off x="5260340" y="5537200"/>
            <a:ext cx="280035" cy="2616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p>
        </p:txBody>
      </p:sp>
      <p:sp>
        <p:nvSpPr>
          <p:cNvPr id="30" name="椭圆 29"/>
          <p:cNvSpPr/>
          <p:nvPr/>
        </p:nvSpPr>
        <p:spPr>
          <a:xfrm>
            <a:off x="6133465" y="5664200"/>
            <a:ext cx="280035" cy="2616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p>
        </p:txBody>
      </p:sp>
      <p:sp>
        <p:nvSpPr>
          <p:cNvPr id="31" name="椭圆 30"/>
          <p:cNvSpPr/>
          <p:nvPr/>
        </p:nvSpPr>
        <p:spPr>
          <a:xfrm>
            <a:off x="5697220" y="5798820"/>
            <a:ext cx="280035" cy="2616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p>
        </p:txBody>
      </p:sp>
      <p:sp>
        <p:nvSpPr>
          <p:cNvPr id="32" name="椭圆 31"/>
          <p:cNvSpPr/>
          <p:nvPr/>
        </p:nvSpPr>
        <p:spPr>
          <a:xfrm>
            <a:off x="5977255" y="6060440"/>
            <a:ext cx="280035" cy="2616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p>
        </p:txBody>
      </p:sp>
      <p:sp>
        <p:nvSpPr>
          <p:cNvPr id="33" name="椭圆 32"/>
          <p:cNvSpPr/>
          <p:nvPr/>
        </p:nvSpPr>
        <p:spPr>
          <a:xfrm>
            <a:off x="5417185" y="5925820"/>
            <a:ext cx="280035" cy="2616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p>
        </p:txBody>
      </p:sp>
      <p:sp>
        <p:nvSpPr>
          <p:cNvPr id="34" name="椭圆 33"/>
          <p:cNvSpPr/>
          <p:nvPr/>
        </p:nvSpPr>
        <p:spPr>
          <a:xfrm>
            <a:off x="5697220" y="5537200"/>
            <a:ext cx="280035" cy="2616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文本框 34"/>
          <p:cNvSpPr txBox="1"/>
          <p:nvPr/>
        </p:nvSpPr>
        <p:spPr>
          <a:xfrm>
            <a:off x="2734310" y="5433060"/>
            <a:ext cx="2131060" cy="706755"/>
          </a:xfrm>
          <a:prstGeom prst="rect">
            <a:avLst/>
          </a:prstGeom>
          <a:noFill/>
        </p:spPr>
        <p:txBody>
          <a:bodyPr wrap="square" rtlCol="0">
            <a:spAutoFit/>
          </a:bodyPr>
          <a:p>
            <a:r>
              <a:rPr lang="zh-CN" altLang="en-US" sz="2000" b="1"/>
              <a:t>代表对象（中心点）</a:t>
            </a:r>
            <a:endParaRPr lang="zh-CN" altLang="en-US" sz="2000" b="1"/>
          </a:p>
        </p:txBody>
      </p:sp>
      <p:cxnSp>
        <p:nvCxnSpPr>
          <p:cNvPr id="36" name="直接箭头连接符 35"/>
          <p:cNvCxnSpPr>
            <a:stCxn id="35" idx="3"/>
            <a:endCxn id="34" idx="1"/>
          </p:cNvCxnSpPr>
          <p:nvPr/>
        </p:nvCxnSpPr>
        <p:spPr>
          <a:xfrm flipV="1">
            <a:off x="4882515" y="5575300"/>
            <a:ext cx="873125" cy="2114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1948180" y="165735"/>
            <a:ext cx="5135245" cy="460375"/>
          </a:xfrm>
          <a:prstGeom prst="rect">
            <a:avLst/>
          </a:prstGeom>
          <a:noFill/>
        </p:spPr>
        <p:txBody>
          <a:bodyPr wrap="square" rtlCol="0">
            <a:spAutoFit/>
          </a:bodyPr>
          <a:p>
            <a:r>
              <a:rPr lang="en-US" altLang="zh-CN" sz="2400" b="1">
                <a:solidFill>
                  <a:srgbClr val="C00000"/>
                </a:solidFill>
              </a:rPr>
              <a:t>K-</a:t>
            </a:r>
            <a:r>
              <a:rPr lang="zh-CN" altLang="en-US" sz="2400" b="1">
                <a:solidFill>
                  <a:srgbClr val="C00000"/>
                </a:solidFill>
              </a:rPr>
              <a:t>中心点算法的分组依据</a:t>
            </a:r>
            <a:endParaRPr lang="zh-CN" altLang="en-US" sz="2400" b="1">
              <a:solidFill>
                <a:srgbClr val="C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75205" y="1224915"/>
            <a:ext cx="9054465" cy="4912995"/>
          </a:xfrm>
        </p:spPr>
        <p:txBody>
          <a:bodyPr>
            <a:normAutofit lnSpcReduction="10000"/>
          </a:bodyPr>
          <a:p>
            <a:r>
              <a:rPr lang="zh-CN" altLang="en-US" sz="3200"/>
              <a:t>当然，代表对象不是不变的，在算法过程中，需要不断试图更新代表对象。</a:t>
            </a:r>
            <a:endParaRPr lang="zh-CN" altLang="en-US" sz="3200"/>
          </a:p>
          <a:p>
            <a:r>
              <a:rPr lang="zh-CN" altLang="en-US" sz="3200"/>
              <a:t>具体方式就是不断</a:t>
            </a:r>
            <a:r>
              <a:rPr lang="zh-CN" altLang="en-US" sz="3200" b="1">
                <a:solidFill>
                  <a:srgbClr val="C00000"/>
                </a:solidFill>
              </a:rPr>
              <a:t>用随机的非代表对象尝试去代替当前的代表对象</a:t>
            </a:r>
            <a:r>
              <a:rPr lang="zh-CN" altLang="en-US" sz="3200"/>
              <a:t>。</a:t>
            </a:r>
            <a:endParaRPr lang="zh-CN" altLang="en-US" sz="3200"/>
          </a:p>
          <a:p>
            <a:pPr marL="0" indent="0">
              <a:buNone/>
            </a:pPr>
            <a:r>
              <a:rPr lang="zh-CN" altLang="en-US" sz="3200" b="1"/>
              <a:t>   假如非代表对象Orandom代替了前代表对象Oj，如何评价这个代替好还是不好？ 我们使用 </a:t>
            </a:r>
            <a:r>
              <a:rPr lang="zh-CN" altLang="en-US" sz="3200" b="1">
                <a:solidFill>
                  <a:srgbClr val="C00000"/>
                </a:solidFill>
              </a:rPr>
              <a:t>代价</a:t>
            </a:r>
            <a:r>
              <a:rPr lang="zh-CN" altLang="en-US" sz="3200" b="1"/>
              <a:t>  进行评价。</a:t>
            </a:r>
            <a:endParaRPr lang="zh-CN" altLang="en-US" sz="3200" b="1"/>
          </a:p>
          <a:p>
            <a:pPr marL="0" indent="0">
              <a:buNone/>
            </a:pPr>
            <a:r>
              <a:rPr lang="zh-CN" altLang="en-US" sz="3200" b="1"/>
              <a:t>如何计算</a:t>
            </a:r>
            <a:r>
              <a:rPr lang="zh-CN" altLang="en-US" sz="3200" b="1">
                <a:solidFill>
                  <a:srgbClr val="C00000"/>
                </a:solidFill>
              </a:rPr>
              <a:t>代价</a:t>
            </a:r>
            <a:r>
              <a:rPr lang="zh-CN" altLang="en-US" sz="3200" b="1"/>
              <a:t>？考虑每一个非代表对象p，会存在如下4种情况。</a:t>
            </a:r>
            <a:endParaRPr lang="zh-CN" altLang="en-US" sz="32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03375" y="1312545"/>
            <a:ext cx="10102850" cy="4738370"/>
          </a:xfrm>
        </p:spPr>
        <p:txBody>
          <a:bodyPr>
            <a:noAutofit/>
          </a:bodyPr>
          <a:p>
            <a:r>
              <a:rPr lang="zh-CN" altLang="en-US" sz="2800" b="1"/>
              <a:t>第一种情况：p当前隶属于代表对象Oj。如果Oj被 </a:t>
            </a:r>
            <a:r>
              <a:rPr lang="en-US" altLang="zh-CN" sz="2800" b="1"/>
              <a:t>O</a:t>
            </a:r>
            <a:r>
              <a:rPr lang="zh-CN" altLang="en-US" sz="2800" b="1"/>
              <a:t>random所代替作为代表对象，且p离其他代表对象Oi(i≠j)最近，则p重新分配给Oi。</a:t>
            </a:r>
            <a:endParaRPr lang="zh-CN" altLang="en-US" sz="2800" b="1"/>
          </a:p>
          <a:p>
            <a:pPr marL="0" indent="0">
              <a:buNone/>
            </a:pPr>
            <a:endParaRPr lang="zh-CN" altLang="en-US" sz="2400" b="1"/>
          </a:p>
          <a:p>
            <a:pPr marL="0" indent="0">
              <a:buNone/>
            </a:pPr>
            <a:endParaRPr lang="zh-CN" altLang="en-US" sz="2400" b="1"/>
          </a:p>
          <a:p>
            <a:pPr marL="0" indent="0">
              <a:buNone/>
            </a:pPr>
            <a:endParaRPr lang="zh-CN" altLang="en-US" sz="2400" b="1"/>
          </a:p>
          <a:p>
            <a:endParaRPr lang="zh-CN" altLang="en-US" sz="2400" b="1"/>
          </a:p>
        </p:txBody>
      </p:sp>
      <p:pic>
        <p:nvPicPr>
          <p:cNvPr id="4" name="图片 3" descr="07CDAV71HVHY}COPVX{[2M7"/>
          <p:cNvPicPr>
            <a:picLocks noChangeAspect="1"/>
          </p:cNvPicPr>
          <p:nvPr>
            <p:custDataLst>
              <p:tags r:id="rId1"/>
            </p:custDataLst>
          </p:nvPr>
        </p:nvPicPr>
        <p:blipFill>
          <a:blip r:embed="rId2"/>
          <a:stretch>
            <a:fillRect/>
          </a:stretch>
        </p:blipFill>
        <p:spPr>
          <a:xfrm>
            <a:off x="3857625" y="2827020"/>
            <a:ext cx="4304030" cy="3647440"/>
          </a:xfrm>
          <a:prstGeom prst="rect">
            <a:avLst/>
          </a:prstGeom>
        </p:spPr>
      </p:pic>
      <p:sp>
        <p:nvSpPr>
          <p:cNvPr id="5" name="文本框 4"/>
          <p:cNvSpPr txBox="1"/>
          <p:nvPr/>
        </p:nvSpPr>
        <p:spPr>
          <a:xfrm>
            <a:off x="8923655" y="2768600"/>
            <a:ext cx="2741930" cy="1383665"/>
          </a:xfrm>
          <a:prstGeom prst="rect">
            <a:avLst/>
          </a:prstGeom>
          <a:noFill/>
        </p:spPr>
        <p:txBody>
          <a:bodyPr wrap="square" rtlCol="0">
            <a:spAutoFit/>
          </a:bodyPr>
          <a:p>
            <a:r>
              <a:rPr lang="zh-CN" altLang="en-US" sz="2800" b="1"/>
              <a:t>代价：</a:t>
            </a:r>
            <a:r>
              <a:rPr lang="en-US" altLang="zh-CN" sz="2800" b="1"/>
              <a:t>p</a:t>
            </a:r>
            <a:r>
              <a:rPr lang="zh-CN" altLang="en-US" sz="2800" b="1"/>
              <a:t>重新分配之后带来的距离差</a:t>
            </a:r>
            <a:endParaRPr lang="zh-CN" altLang="en-US" sz="2800"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414587" y="1435100"/>
            <a:ext cx="8915400" cy="3777622"/>
          </a:xfrm>
        </p:spPr>
        <p:txBody>
          <a:bodyPr/>
          <a:p>
            <a:r>
              <a:rPr lang="zh-CN" altLang="en-US" sz="2800" b="1">
                <a:sym typeface="+mn-ea"/>
              </a:rPr>
              <a:t>第二种情况：p当前隶属于代表对象Oj。如果Oj被Orandom代替作为代表对象，且p离Orandom最近，则p被重新分配给Orandom。</a:t>
            </a:r>
            <a:endParaRPr lang="zh-CN" altLang="en-US" sz="2800" b="1"/>
          </a:p>
          <a:p>
            <a:endParaRPr lang="zh-CN" altLang="en-US" sz="2400" b="1"/>
          </a:p>
          <a:p>
            <a:endParaRPr lang="zh-CN" altLang="en-US" sz="2400" b="1"/>
          </a:p>
        </p:txBody>
      </p:sp>
      <p:pic>
        <p:nvPicPr>
          <p:cNvPr id="4" name="图片 3"/>
          <p:cNvPicPr>
            <a:picLocks noChangeAspect="1"/>
          </p:cNvPicPr>
          <p:nvPr/>
        </p:nvPicPr>
        <p:blipFill>
          <a:blip r:embed="rId1"/>
          <a:stretch>
            <a:fillRect/>
          </a:stretch>
        </p:blipFill>
        <p:spPr>
          <a:xfrm>
            <a:off x="4516120" y="2871470"/>
            <a:ext cx="4380865" cy="35909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326957" y="1364615"/>
            <a:ext cx="8915400" cy="3777622"/>
          </a:xfrm>
        </p:spPr>
        <p:txBody>
          <a:bodyPr/>
          <a:p>
            <a:r>
              <a:rPr lang="zh-CN" altLang="en-US" sz="2800" b="1">
                <a:sym typeface="+mn-ea"/>
              </a:rPr>
              <a:t>第三种情况：p当前隶属于中心点Oi，i≠j。如果Oj被Orandom代替作为代表对象，而p依然离Oi最近，则对象的隶属不发生变化。</a:t>
            </a:r>
            <a:endParaRPr lang="zh-CN" altLang="en-US" sz="2800" b="1"/>
          </a:p>
          <a:p>
            <a:endParaRPr lang="zh-CN" altLang="en-US" sz="2800" b="1"/>
          </a:p>
          <a:p>
            <a:endParaRPr lang="zh-CN" altLang="en-US" sz="2800" b="1"/>
          </a:p>
        </p:txBody>
      </p:sp>
      <p:pic>
        <p:nvPicPr>
          <p:cNvPr id="4" name="图片 3" descr="CQ4)`Q~9Q7A}]}6D(KXQK10"/>
          <p:cNvPicPr>
            <a:picLocks noChangeAspect="1"/>
          </p:cNvPicPr>
          <p:nvPr/>
        </p:nvPicPr>
        <p:blipFill>
          <a:blip r:embed="rId1"/>
          <a:stretch>
            <a:fillRect/>
          </a:stretch>
        </p:blipFill>
        <p:spPr>
          <a:xfrm>
            <a:off x="4740910" y="2910205"/>
            <a:ext cx="4382770" cy="36982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484437" y="1539875"/>
            <a:ext cx="8915400" cy="3777622"/>
          </a:xfrm>
        </p:spPr>
        <p:txBody>
          <a:bodyPr/>
          <a:p>
            <a:r>
              <a:rPr lang="zh-CN" altLang="en-US" sz="2800" b="1">
                <a:sym typeface="+mn-ea"/>
              </a:rPr>
              <a:t>第四种情况：p当前隶属于中心点Oi，i≠j。如果Oj被Orandom代替作为代表对象，且p离Orandom最近，那么p被重新分配给Orandom。</a:t>
            </a:r>
            <a:endParaRPr lang="zh-CN" altLang="en-US" sz="2800" b="1"/>
          </a:p>
          <a:p>
            <a:endParaRPr lang="zh-CN" altLang="en-US" sz="2800"/>
          </a:p>
          <a:p>
            <a:endParaRPr lang="zh-CN" altLang="en-US" sz="2800"/>
          </a:p>
          <a:p>
            <a:endParaRPr lang="zh-CN" altLang="en-US" sz="2800"/>
          </a:p>
        </p:txBody>
      </p:sp>
      <p:pic>
        <p:nvPicPr>
          <p:cNvPr id="4" name="图片 3" descr="XN0IKJ855M9AF`KB051%CC6"/>
          <p:cNvPicPr>
            <a:picLocks noChangeAspect="1"/>
          </p:cNvPicPr>
          <p:nvPr/>
        </p:nvPicPr>
        <p:blipFill>
          <a:blip r:embed="rId1"/>
          <a:stretch>
            <a:fillRect/>
          </a:stretch>
        </p:blipFill>
        <p:spPr>
          <a:xfrm>
            <a:off x="4443095" y="3120390"/>
            <a:ext cx="4143375" cy="34480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553970" y="989965"/>
            <a:ext cx="8915400" cy="4878070"/>
          </a:xfrm>
        </p:spPr>
        <p:txBody>
          <a:bodyPr/>
          <a:p>
            <a:r>
              <a:rPr lang="zh-CN" altLang="en-US" sz="3600"/>
              <a:t>若对每个</a:t>
            </a:r>
            <a:r>
              <a:rPr lang="en-US" altLang="zh-CN" sz="3600"/>
              <a:t>p</a:t>
            </a:r>
            <a:r>
              <a:rPr lang="zh-CN" altLang="en-US" sz="3600"/>
              <a:t>都算出代价，则可以求出</a:t>
            </a:r>
            <a:r>
              <a:rPr lang="zh-CN" altLang="en-US" sz="3600" b="1">
                <a:sym typeface="+mn-ea"/>
              </a:rPr>
              <a:t>非代表对象Orandom代替了前代表对象Oj 的</a:t>
            </a:r>
            <a:r>
              <a:rPr lang="zh-CN" altLang="en-US" sz="3600" b="1">
                <a:solidFill>
                  <a:srgbClr val="C00000"/>
                </a:solidFill>
                <a:sym typeface="+mn-ea"/>
              </a:rPr>
              <a:t>代价总和</a:t>
            </a:r>
            <a:r>
              <a:rPr lang="zh-CN" altLang="en-US" sz="3600" b="1">
                <a:sym typeface="+mn-ea"/>
              </a:rPr>
              <a:t>。</a:t>
            </a:r>
            <a:endParaRPr lang="zh-CN" altLang="en-US" sz="3600" b="1">
              <a:sym typeface="+mn-ea"/>
            </a:endParaRPr>
          </a:p>
          <a:p>
            <a:r>
              <a:rPr lang="zh-CN" altLang="en-US" sz="3600" b="1">
                <a:sym typeface="+mn-ea"/>
              </a:rPr>
              <a:t>若这个总和是</a:t>
            </a:r>
            <a:r>
              <a:rPr lang="zh-CN" altLang="en-US" sz="3600" b="1">
                <a:solidFill>
                  <a:srgbClr val="C00000"/>
                </a:solidFill>
                <a:sym typeface="+mn-ea"/>
              </a:rPr>
              <a:t>负数</a:t>
            </a:r>
            <a:r>
              <a:rPr lang="zh-CN" altLang="en-US" sz="3600" b="1">
                <a:sym typeface="+mn-ea"/>
              </a:rPr>
              <a:t>，则可以认为这一代替是好的。而且，代价总合</a:t>
            </a:r>
            <a:r>
              <a:rPr lang="zh-CN" altLang="en-US" sz="3600" b="1">
                <a:solidFill>
                  <a:srgbClr val="C00000"/>
                </a:solidFill>
                <a:sym typeface="+mn-ea"/>
              </a:rPr>
              <a:t>越小越好</a:t>
            </a:r>
            <a:r>
              <a:rPr lang="zh-CN" altLang="en-US" sz="3600" b="1">
                <a:sym typeface="+mn-ea"/>
              </a:rPr>
              <a:t>。</a:t>
            </a:r>
            <a:endParaRPr lang="zh-CN" altLang="en-US" sz="3600" b="1">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32585" y="194310"/>
            <a:ext cx="10354945" cy="6591300"/>
          </a:xfrm>
        </p:spPr>
        <p:txBody>
          <a:bodyPr/>
          <a:p>
            <a:pPr marL="0" indent="0">
              <a:buNone/>
            </a:pPr>
            <a:r>
              <a:rPr lang="zh-CN" altLang="en-US" sz="3200">
                <a:latin typeface="楷体" panose="02010609060101010101" charset="-122"/>
                <a:ea typeface="楷体" panose="02010609060101010101" charset="-122"/>
              </a:rPr>
              <a:t>K-中心点聚类算法描述。</a:t>
            </a: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rPr>
              <a:t>输入：簇的数目k和包含n个对象的数据库</a:t>
            </a: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rPr>
              <a:t>输出：k个簇，使得所有对象与其最近中心点的相异度总和最小</a:t>
            </a: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rPr>
              <a:t>（1）任意选择k个对象作为初始的簇中心点</a:t>
            </a: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rPr>
              <a:t>（2）Repeat</a:t>
            </a: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rPr>
              <a:t>（3）指派每个剩余对象给离他最近的中心点所表示的簇</a:t>
            </a: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rPr>
              <a:t>（4）Repeat</a:t>
            </a: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rPr>
              <a:t>（5）选择一个未被选择的中心点</a:t>
            </a: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rPr>
              <a:t>（6）Repeat</a:t>
            </a:r>
            <a:endParaRPr lang="zh-CN" altLang="en-US" sz="3200">
              <a:latin typeface="楷体" panose="02010609060101010101" charset="-122"/>
              <a:ea typeface="楷体" panose="02010609060101010101" charset="-122"/>
            </a:endParaRPr>
          </a:p>
          <a:p>
            <a:pPr marL="0" indent="0">
              <a:buNone/>
            </a:pPr>
            <a:endParaRPr lang="zh-CN" altLang="en-US" sz="3200">
              <a:latin typeface="楷体" panose="02010609060101010101" charset="-122"/>
              <a:ea typeface="楷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28825" y="1016000"/>
            <a:ext cx="9475470" cy="4895215"/>
          </a:xfrm>
        </p:spPr>
        <p:txBody>
          <a:bodyPr/>
          <a:p>
            <a:pPr marL="0" indent="0">
              <a:buNone/>
            </a:pPr>
            <a:r>
              <a:rPr lang="zh-CN" altLang="en-US" sz="2800">
                <a:latin typeface="楷体" panose="02010609060101010101" charset="-122"/>
                <a:ea typeface="楷体" panose="02010609060101010101" charset="-122"/>
                <a:sym typeface="+mn-ea"/>
              </a:rPr>
              <a:t>（7）选择一个未被选择过的非中心点对象</a:t>
            </a:r>
            <a:r>
              <a:rPr lang="en-US" altLang="zh-CN" sz="2800">
                <a:latin typeface="楷体" panose="02010609060101010101" charset="-122"/>
                <a:ea typeface="楷体" panose="02010609060101010101" charset="-122"/>
                <a:sym typeface="+mn-ea"/>
              </a:rPr>
              <a:t>Orandom</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sym typeface="+mn-ea"/>
              </a:rPr>
              <a:t>（8）计算用</a:t>
            </a:r>
            <a:r>
              <a:rPr lang="en-US" altLang="zh-CN" sz="2800">
                <a:latin typeface="楷体" panose="02010609060101010101" charset="-122"/>
                <a:ea typeface="楷体" panose="02010609060101010101" charset="-122"/>
                <a:sym typeface="+mn-ea"/>
              </a:rPr>
              <a:t>Orandom</a:t>
            </a:r>
            <a:r>
              <a:rPr lang="zh-CN" altLang="en-US" sz="2800">
                <a:latin typeface="楷体" panose="02010609060101010101" charset="-122"/>
                <a:ea typeface="楷体" panose="02010609060101010101" charset="-122"/>
                <a:sym typeface="+mn-ea"/>
              </a:rPr>
              <a:t>代替</a:t>
            </a:r>
            <a:r>
              <a:rPr lang="en-US" altLang="zh-CN" sz="2800">
                <a:latin typeface="楷体" panose="02010609060101010101" charset="-122"/>
                <a:ea typeface="楷体" panose="02010609060101010101" charset="-122"/>
                <a:sym typeface="+mn-ea"/>
              </a:rPr>
              <a:t>Oi</a:t>
            </a:r>
            <a:r>
              <a:rPr lang="zh-CN" altLang="en-US" sz="2800">
                <a:latin typeface="楷体" panose="02010609060101010101" charset="-122"/>
                <a:ea typeface="楷体" panose="02010609060101010101" charset="-122"/>
                <a:sym typeface="+mn-ea"/>
              </a:rPr>
              <a:t>的总代价并记录在S中</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sym typeface="+mn-ea"/>
              </a:rPr>
              <a:t>（9）Until 所有非中心点都被选择过</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sym typeface="+mn-ea"/>
              </a:rPr>
              <a:t>（10）Until 所有的中心点都被选择过</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sym typeface="+mn-ea"/>
              </a:rPr>
              <a:t>（11）If 在S中的所有非中心点代替所有中心点后的计算出总代价有小于0的存在，then找出S中的用非中心点替代中心点后代价最小的一个，并用该非中心点替代对应的中心点，形成一个新的k个中心点的集合；</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sym typeface="+mn-ea"/>
              </a:rPr>
              <a:t>（12）Until 没有再发生簇的重新分配，即所有的S都大于0.</a:t>
            </a:r>
            <a:endParaRPr lang="zh-CN" altLang="en-US" sz="2800">
              <a:latin typeface="楷体" panose="02010609060101010101" charset="-122"/>
              <a:ea typeface="楷体" panose="02010609060101010101" charset="-122"/>
            </a:endParaRPr>
          </a:p>
          <a:p>
            <a:endParaRPr lang="zh-CN" altLang="en-US" sz="2800">
              <a:latin typeface="楷体" panose="02010609060101010101" charset="-122"/>
              <a:ea typeface="楷体"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图片 3" descr="A]O4`Q[E`H2O(RJJO3L]BI0"/>
          <p:cNvPicPr>
            <a:picLocks noChangeAspect="1"/>
          </p:cNvPicPr>
          <p:nvPr/>
        </p:nvPicPr>
        <p:blipFill>
          <a:blip r:embed="rId1"/>
          <a:srcRect b="50881"/>
          <a:stretch>
            <a:fillRect/>
          </a:stretch>
        </p:blipFill>
        <p:spPr>
          <a:xfrm>
            <a:off x="1188720" y="292100"/>
            <a:ext cx="10315575" cy="2867025"/>
          </a:xfrm>
          <a:prstGeom prst="rect">
            <a:avLst/>
          </a:prstGeom>
        </p:spPr>
      </p:pic>
      <p:sp>
        <p:nvSpPr>
          <p:cNvPr id="5" name="文本框 4"/>
          <p:cNvSpPr txBox="1"/>
          <p:nvPr/>
        </p:nvSpPr>
        <p:spPr>
          <a:xfrm>
            <a:off x="8692515" y="3869055"/>
            <a:ext cx="2811780" cy="1938020"/>
          </a:xfrm>
          <a:prstGeom prst="rect">
            <a:avLst/>
          </a:prstGeom>
          <a:solidFill>
            <a:schemeClr val="accent2">
              <a:lumMod val="20000"/>
              <a:lumOff val="80000"/>
            </a:schemeClr>
          </a:solidFill>
          <a:ln>
            <a:solidFill>
              <a:srgbClr val="C00000"/>
            </a:solidFill>
          </a:ln>
        </p:spPr>
        <p:txBody>
          <a:bodyPr wrap="square" rtlCol="0">
            <a:spAutoFit/>
          </a:bodyPr>
          <a:p>
            <a:r>
              <a:rPr lang="zh-CN" altLang="en-US" sz="2400" b="1"/>
              <a:t>对每个现有中心点，都尝试用现有的各个非中心点代替它，并计算代替的代价总合，记录在</a:t>
            </a:r>
            <a:r>
              <a:rPr lang="en-US" altLang="zh-CN" sz="2400" b="1"/>
              <a:t>S</a:t>
            </a:r>
            <a:r>
              <a:rPr lang="zh-CN" altLang="en-US" sz="2400" b="1"/>
              <a:t>中</a:t>
            </a:r>
            <a:endParaRPr lang="zh-CN" altLang="en-US" sz="2400" b="1"/>
          </a:p>
        </p:txBody>
      </p:sp>
      <p:sp>
        <p:nvSpPr>
          <p:cNvPr id="6" name="下箭头 5"/>
          <p:cNvSpPr/>
          <p:nvPr/>
        </p:nvSpPr>
        <p:spPr>
          <a:xfrm>
            <a:off x="9616440" y="3240405"/>
            <a:ext cx="820420" cy="5238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5238750" y="4238625"/>
            <a:ext cx="2811780" cy="1568450"/>
          </a:xfrm>
          <a:prstGeom prst="rect">
            <a:avLst/>
          </a:prstGeom>
          <a:solidFill>
            <a:schemeClr val="accent2">
              <a:lumMod val="20000"/>
              <a:lumOff val="80000"/>
            </a:schemeClr>
          </a:solidFill>
          <a:ln>
            <a:solidFill>
              <a:srgbClr val="C00000"/>
            </a:solidFill>
          </a:ln>
        </p:spPr>
        <p:txBody>
          <a:bodyPr wrap="square" rtlCol="0">
            <a:spAutoFit/>
          </a:bodyPr>
          <a:p>
            <a:r>
              <a:rPr lang="zh-CN" sz="2400" b="1"/>
              <a:t>从</a:t>
            </a:r>
            <a:r>
              <a:rPr lang="en-US" altLang="zh-CN" sz="2400" b="1"/>
              <a:t>S</a:t>
            </a:r>
            <a:r>
              <a:rPr lang="zh-CN" altLang="en-US" sz="2400" b="1"/>
              <a:t>中找到代价总和最小的一个代替，并执行这一个代替，更新中心点</a:t>
            </a:r>
            <a:endParaRPr lang="zh-CN" altLang="en-US" sz="2400" b="1"/>
          </a:p>
        </p:txBody>
      </p:sp>
      <p:sp>
        <p:nvSpPr>
          <p:cNvPr id="8" name="上箭头 7"/>
          <p:cNvSpPr/>
          <p:nvPr/>
        </p:nvSpPr>
        <p:spPr>
          <a:xfrm rot="2880000">
            <a:off x="7209155" y="2952750"/>
            <a:ext cx="401320" cy="136207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左箭头 8"/>
          <p:cNvSpPr/>
          <p:nvPr/>
        </p:nvSpPr>
        <p:spPr>
          <a:xfrm>
            <a:off x="7974330" y="4707255"/>
            <a:ext cx="663575" cy="33210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nvSpPr>
        <p:spPr>
          <a:xfrm>
            <a:off x="5743575" y="3311525"/>
            <a:ext cx="1205230" cy="645160"/>
          </a:xfrm>
          <a:prstGeom prst="rect">
            <a:avLst/>
          </a:prstGeom>
          <a:noFill/>
        </p:spPr>
        <p:txBody>
          <a:bodyPr wrap="square" rtlCol="0">
            <a:spAutoFit/>
          </a:bodyPr>
          <a:p>
            <a:r>
              <a:rPr lang="zh-CN" altLang="en-US"/>
              <a:t>簇有发生重新分配</a:t>
            </a:r>
            <a:endParaRPr lang="zh-CN" altLang="en-US"/>
          </a:p>
        </p:txBody>
      </p:sp>
      <p:sp>
        <p:nvSpPr>
          <p:cNvPr id="11" name="文本框 10"/>
          <p:cNvSpPr txBox="1"/>
          <p:nvPr/>
        </p:nvSpPr>
        <p:spPr>
          <a:xfrm>
            <a:off x="3232785" y="3956685"/>
            <a:ext cx="1537335" cy="922020"/>
          </a:xfrm>
          <a:prstGeom prst="rect">
            <a:avLst/>
          </a:prstGeom>
          <a:noFill/>
        </p:spPr>
        <p:txBody>
          <a:bodyPr wrap="square" rtlCol="0">
            <a:spAutoFit/>
          </a:bodyPr>
          <a:p>
            <a:r>
              <a:rPr lang="zh-CN" altLang="en-US"/>
              <a:t>簇没有发生重新分配，算法收敛</a:t>
            </a:r>
            <a:endParaRPr lang="zh-CN" altLang="en-US"/>
          </a:p>
        </p:txBody>
      </p:sp>
      <p:sp>
        <p:nvSpPr>
          <p:cNvPr id="12" name="左箭头 11"/>
          <p:cNvSpPr/>
          <p:nvPr/>
        </p:nvSpPr>
        <p:spPr>
          <a:xfrm>
            <a:off x="2227580" y="4969510"/>
            <a:ext cx="2987040" cy="38417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圆角矩形 12"/>
          <p:cNvSpPr/>
          <p:nvPr/>
        </p:nvSpPr>
        <p:spPr>
          <a:xfrm>
            <a:off x="638175" y="4532630"/>
            <a:ext cx="1554480" cy="1118235"/>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p>
            <a:pPr algn="ctr"/>
            <a:r>
              <a:rPr lang="zh-CN" altLang="en-US" sz="2800" b="1"/>
              <a:t>结束</a:t>
            </a:r>
            <a:endParaRPr lang="zh-CN" altLang="en-US" sz="28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87195" y="149225"/>
            <a:ext cx="10236200" cy="6645275"/>
          </a:xfrm>
        </p:spPr>
        <p:txBody>
          <a:bodyPr/>
          <a:p>
            <a:pPr marL="0" indent="0">
              <a:buNone/>
            </a:pPr>
            <a:r>
              <a:rPr lang="zh-CN" altLang="en-US" sz="2400">
                <a:latin typeface="楷体" panose="02010609060101010101" charset="-122"/>
                <a:ea typeface="楷体" panose="02010609060101010101" charset="-122"/>
                <a:cs typeface="楷体" panose="02010609060101010101" charset="-122"/>
              </a:rPr>
              <a:t>9.3 K-中心点聚类算法实例分析</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实例1</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假如空间中的五个点         ，各点之间的距离关系如表9-1所示，根据所给的数据对其运行K-中心点算法实现聚类划分（设    ）。</a:t>
            </a: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                                    表9-1样本点间距离</a:t>
            </a: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  </a:t>
            </a:r>
            <a:endParaRPr lang="zh-CN" altLang="en-US">
              <a:latin typeface="楷体" panose="02010609060101010101" charset="-122"/>
              <a:ea typeface="楷体" panose="02010609060101010101" charset="-122"/>
              <a:cs typeface="楷体" panose="02010609060101010101" charset="-122"/>
            </a:endParaRPr>
          </a:p>
        </p:txBody>
      </p:sp>
      <p:graphicFrame>
        <p:nvGraphicFramePr>
          <p:cNvPr id="2" name="Picture 80"/>
          <p:cNvGraphicFramePr>
            <a:graphicFrameLocks noChangeAspect="1"/>
          </p:cNvGraphicFramePr>
          <p:nvPr/>
        </p:nvGraphicFramePr>
        <p:xfrm>
          <a:off x="4933950" y="1195705"/>
          <a:ext cx="1132205" cy="313055"/>
        </p:xfrm>
        <a:graphic>
          <a:graphicData uri="http://schemas.openxmlformats.org/presentationml/2006/ole">
            <mc:AlternateContent xmlns:mc="http://schemas.openxmlformats.org/markup-compatibility/2006">
              <mc:Choice xmlns:v="urn:schemas-microsoft-com:vml" Requires="v">
                <p:oleObj spid="_x0000_s3076" name="" r:id="rId1" imgW="927735" imgH="254000" progId="Equation.DSMT4">
                  <p:embed/>
                </p:oleObj>
              </mc:Choice>
              <mc:Fallback>
                <p:oleObj name="" r:id="rId1" imgW="927735" imgH="254000" progId="Equation.DSMT4">
                  <p:embed/>
                  <p:pic>
                    <p:nvPicPr>
                      <p:cNvPr id="0" name="图片 3075"/>
                      <p:cNvPicPr/>
                      <p:nvPr/>
                    </p:nvPicPr>
                    <p:blipFill>
                      <a:blip r:embed="rId2"/>
                      <a:stretch>
                        <a:fillRect/>
                      </a:stretch>
                    </p:blipFill>
                    <p:spPr>
                      <a:xfrm>
                        <a:off x="4933950" y="1195705"/>
                        <a:ext cx="1132205" cy="313055"/>
                      </a:xfrm>
                      <a:prstGeom prst="rect">
                        <a:avLst/>
                      </a:prstGeom>
                      <a:noFill/>
                      <a:ln w="38100">
                        <a:noFill/>
                        <a:miter/>
                      </a:ln>
                    </p:spPr>
                  </p:pic>
                </p:oleObj>
              </mc:Fallback>
            </mc:AlternateContent>
          </a:graphicData>
        </a:graphic>
      </p:graphicFrame>
      <p:graphicFrame>
        <p:nvGraphicFramePr>
          <p:cNvPr id="4" name="Picture 81"/>
          <p:cNvGraphicFramePr>
            <a:graphicFrameLocks noChangeAspect="1"/>
          </p:cNvGraphicFramePr>
          <p:nvPr/>
        </p:nvGraphicFramePr>
        <p:xfrm>
          <a:off x="9142730" y="1508760"/>
          <a:ext cx="547370" cy="289560"/>
        </p:xfrm>
        <a:graphic>
          <a:graphicData uri="http://schemas.openxmlformats.org/presentationml/2006/ole">
            <mc:AlternateContent xmlns:mc="http://schemas.openxmlformats.org/markup-compatibility/2006">
              <mc:Choice xmlns:v="urn:schemas-microsoft-com:vml" Requires="v">
                <p:oleObj spid="_x0000_s5" name="" r:id="rId3" imgW="356235" imgH="177800" progId="Equation.DSMT4">
                  <p:embed/>
                </p:oleObj>
              </mc:Choice>
              <mc:Fallback>
                <p:oleObj name="" r:id="rId3" imgW="356235" imgH="177800" progId="Equation.DSMT4">
                  <p:embed/>
                  <p:pic>
                    <p:nvPicPr>
                      <p:cNvPr id="0" name="图片 3"/>
                      <p:cNvPicPr/>
                      <p:nvPr/>
                    </p:nvPicPr>
                    <p:blipFill>
                      <a:blip r:embed="rId4"/>
                      <a:stretch>
                        <a:fillRect/>
                      </a:stretch>
                    </p:blipFill>
                    <p:spPr>
                      <a:xfrm>
                        <a:off x="9142730" y="1508760"/>
                        <a:ext cx="547370" cy="289560"/>
                      </a:xfrm>
                      <a:prstGeom prst="rect">
                        <a:avLst/>
                      </a:prstGeom>
                      <a:noFill/>
                      <a:ln w="38100">
                        <a:noFill/>
                        <a:miter/>
                      </a:ln>
                    </p:spPr>
                  </p:pic>
                </p:oleObj>
              </mc:Fallback>
            </mc:AlternateContent>
          </a:graphicData>
        </a:graphic>
      </p:graphicFrame>
      <p:pic>
        <p:nvPicPr>
          <p:cNvPr id="6" name="Picture 82"/>
          <p:cNvPicPr>
            <a:picLocks noChangeAspect="1"/>
          </p:cNvPicPr>
          <p:nvPr/>
        </p:nvPicPr>
        <p:blipFill>
          <a:blip r:embed="rId5"/>
          <a:stretch>
            <a:fillRect/>
          </a:stretch>
        </p:blipFill>
        <p:spPr>
          <a:xfrm>
            <a:off x="3990975" y="2882265"/>
            <a:ext cx="6280785" cy="2453005"/>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87195" y="149225"/>
            <a:ext cx="10236200" cy="6645275"/>
          </a:xfrm>
        </p:spPr>
        <p:txBody>
          <a:bodyPr/>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  算法执行步骤如下：</a:t>
            </a: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  第一步建立阶段：设从5个对象中随机抽取的2个中心点为    ，点C到点A与点B的距离相同，均为2，故随机将其划入A中，同理，将点E划入B中，则样本被划分为       和    。</a:t>
            </a: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  第二步交换阶段：假定中心点   分别被非中心点替换，根据K-中心点      算法需要计算下列代价    ，                      其中    表示中心点A被非中心点C代替后的总代价。下面以   为例说明计算过程。</a:t>
            </a: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  当A被C替换以后，看各对象的变化情况。</a:t>
            </a: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  （1）A：A不再是一个中心点，C称为新的中心点，因为A离B比A离C近，A被分配到B中心点代表的簇，属于上述第一种情况。</a:t>
            </a: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  （2）B：B不受影响，属于上面的第三种情况。    。</a:t>
            </a: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  （3）C：C原先属于A中心点所在的簇，当A被C替换以后，C是新中心点，属于上面的第二种情况。</a:t>
            </a:r>
            <a:endParaRPr lang="zh-CN" altLang="en-US">
              <a:latin typeface="楷体" panose="02010609060101010101" charset="-122"/>
              <a:ea typeface="楷体" panose="02010609060101010101" charset="-122"/>
              <a:cs typeface="楷体" panose="02010609060101010101" charset="-122"/>
            </a:endParaRPr>
          </a:p>
        </p:txBody>
      </p:sp>
      <p:graphicFrame>
        <p:nvGraphicFramePr>
          <p:cNvPr id="7" name="Picture 83"/>
          <p:cNvGraphicFramePr>
            <a:graphicFrameLocks noChangeAspect="1"/>
          </p:cNvGraphicFramePr>
          <p:nvPr/>
        </p:nvGraphicFramePr>
        <p:xfrm>
          <a:off x="7696835" y="1449705"/>
          <a:ext cx="429260" cy="255270"/>
        </p:xfrm>
        <a:graphic>
          <a:graphicData uri="http://schemas.openxmlformats.org/presentationml/2006/ole">
            <mc:AlternateContent xmlns:mc="http://schemas.openxmlformats.org/markup-compatibility/2006">
              <mc:Choice xmlns:v="urn:schemas-microsoft-com:vml" Requires="v">
                <p:oleObj spid="_x0000_s8" name="" r:id="rId1" imgW="432435" imgH="254635" progId="Equation.DSMT4">
                  <p:embed/>
                </p:oleObj>
              </mc:Choice>
              <mc:Fallback>
                <p:oleObj name="" r:id="rId1" imgW="432435" imgH="254635" progId="Equation.DSMT4">
                  <p:embed/>
                  <p:pic>
                    <p:nvPicPr>
                      <p:cNvPr id="0" name="图片 4"/>
                      <p:cNvPicPr/>
                      <p:nvPr/>
                    </p:nvPicPr>
                    <p:blipFill>
                      <a:blip r:embed="rId2"/>
                      <a:stretch>
                        <a:fillRect/>
                      </a:stretch>
                    </p:blipFill>
                    <p:spPr>
                      <a:xfrm>
                        <a:off x="7696835" y="1449705"/>
                        <a:ext cx="429260" cy="255270"/>
                      </a:xfrm>
                      <a:prstGeom prst="rect">
                        <a:avLst/>
                      </a:prstGeom>
                      <a:noFill/>
                      <a:ln w="38100">
                        <a:noFill/>
                        <a:miter/>
                      </a:ln>
                    </p:spPr>
                  </p:pic>
                </p:oleObj>
              </mc:Fallback>
            </mc:AlternateContent>
          </a:graphicData>
        </a:graphic>
      </p:graphicFrame>
      <p:graphicFrame>
        <p:nvGraphicFramePr>
          <p:cNvPr id="9" name="Picture 84"/>
          <p:cNvGraphicFramePr>
            <a:graphicFrameLocks noChangeAspect="1"/>
          </p:cNvGraphicFramePr>
          <p:nvPr/>
        </p:nvGraphicFramePr>
        <p:xfrm>
          <a:off x="8125778" y="1704975"/>
          <a:ext cx="611505" cy="255270"/>
        </p:xfrm>
        <a:graphic>
          <a:graphicData uri="http://schemas.openxmlformats.org/presentationml/2006/ole">
            <mc:AlternateContent xmlns:mc="http://schemas.openxmlformats.org/markup-compatibility/2006">
              <mc:Choice xmlns:v="urn:schemas-microsoft-com:vml" Requires="v">
                <p:oleObj spid="_x0000_s10" name="" r:id="rId3" imgW="610235" imgH="254000" progId="Equation.DSMT4">
                  <p:embed/>
                </p:oleObj>
              </mc:Choice>
              <mc:Fallback>
                <p:oleObj name="" r:id="rId3" imgW="610235" imgH="254000" progId="Equation.DSMT4">
                  <p:embed/>
                  <p:pic>
                    <p:nvPicPr>
                      <p:cNvPr id="0" name="图片 5"/>
                      <p:cNvPicPr/>
                      <p:nvPr/>
                    </p:nvPicPr>
                    <p:blipFill>
                      <a:blip r:embed="rId4"/>
                      <a:stretch>
                        <a:fillRect/>
                      </a:stretch>
                    </p:blipFill>
                    <p:spPr>
                      <a:xfrm>
                        <a:off x="8125778" y="1704975"/>
                        <a:ext cx="611505" cy="255270"/>
                      </a:xfrm>
                      <a:prstGeom prst="rect">
                        <a:avLst/>
                      </a:prstGeom>
                      <a:noFill/>
                      <a:ln w="38100">
                        <a:noFill/>
                        <a:miter/>
                      </a:ln>
                    </p:spPr>
                  </p:pic>
                </p:oleObj>
              </mc:Fallback>
            </mc:AlternateContent>
          </a:graphicData>
        </a:graphic>
      </p:graphicFrame>
      <p:graphicFrame>
        <p:nvGraphicFramePr>
          <p:cNvPr id="11" name="Picture 85"/>
          <p:cNvGraphicFramePr>
            <a:graphicFrameLocks noChangeAspect="1"/>
          </p:cNvGraphicFramePr>
          <p:nvPr/>
        </p:nvGraphicFramePr>
        <p:xfrm>
          <a:off x="9168765" y="2089150"/>
          <a:ext cx="429260" cy="255270"/>
        </p:xfrm>
        <a:graphic>
          <a:graphicData uri="http://schemas.openxmlformats.org/presentationml/2006/ole">
            <mc:AlternateContent xmlns:mc="http://schemas.openxmlformats.org/markup-compatibility/2006">
              <mc:Choice xmlns:v="urn:schemas-microsoft-com:vml" Requires="v">
                <p:oleObj spid="_x0000_s12" name="" r:id="rId5" imgW="432435" imgH="254635" progId="Equation.DSMT4">
                  <p:embed/>
                </p:oleObj>
              </mc:Choice>
              <mc:Fallback>
                <p:oleObj name="" r:id="rId5" imgW="432435" imgH="254635" progId="Equation.DSMT4">
                  <p:embed/>
                  <p:pic>
                    <p:nvPicPr>
                      <p:cNvPr id="0" name="图片 6"/>
                      <p:cNvPicPr/>
                      <p:nvPr/>
                    </p:nvPicPr>
                    <p:blipFill>
                      <a:blip r:embed="rId6"/>
                      <a:stretch>
                        <a:fillRect/>
                      </a:stretch>
                    </p:blipFill>
                    <p:spPr>
                      <a:xfrm>
                        <a:off x="9168765" y="2089150"/>
                        <a:ext cx="429260" cy="255270"/>
                      </a:xfrm>
                      <a:prstGeom prst="rect">
                        <a:avLst/>
                      </a:prstGeom>
                      <a:noFill/>
                      <a:ln w="38100">
                        <a:noFill/>
                        <a:miter/>
                      </a:ln>
                    </p:spPr>
                  </p:pic>
                </p:oleObj>
              </mc:Fallback>
            </mc:AlternateContent>
          </a:graphicData>
        </a:graphic>
      </p:graphicFrame>
      <p:pic>
        <p:nvPicPr>
          <p:cNvPr id="54" name="Picture 8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4878070" y="2088833"/>
            <a:ext cx="429260" cy="254635"/>
          </a:xfrm>
          <a:prstGeom prst="rect">
            <a:avLst/>
          </a:prstGeom>
          <a:noFill/>
          <a:ln>
            <a:noFill/>
          </a:ln>
        </p:spPr>
      </p:pic>
      <p:graphicFrame>
        <p:nvGraphicFramePr>
          <p:cNvPr id="13" name="Picture 86"/>
          <p:cNvGraphicFramePr>
            <a:graphicFrameLocks noChangeAspect="1"/>
          </p:cNvGraphicFramePr>
          <p:nvPr/>
        </p:nvGraphicFramePr>
        <p:xfrm>
          <a:off x="9168448" y="1704975"/>
          <a:ext cx="611505" cy="255270"/>
        </p:xfrm>
        <a:graphic>
          <a:graphicData uri="http://schemas.openxmlformats.org/presentationml/2006/ole">
            <mc:AlternateContent xmlns:mc="http://schemas.openxmlformats.org/markup-compatibility/2006">
              <mc:Choice xmlns:v="urn:schemas-microsoft-com:vml" Requires="v">
                <p:oleObj spid="_x0000_s14" name="" r:id="rId7" imgW="610235" imgH="254000" progId="Equation.DSMT4">
                  <p:embed/>
                </p:oleObj>
              </mc:Choice>
              <mc:Fallback>
                <p:oleObj name="" r:id="rId7" imgW="610235" imgH="254000" progId="Equation.DSMT4">
                  <p:embed/>
                  <p:pic>
                    <p:nvPicPr>
                      <p:cNvPr id="0" name="图片 7"/>
                      <p:cNvPicPr/>
                      <p:nvPr/>
                    </p:nvPicPr>
                    <p:blipFill>
                      <a:blip r:embed="rId8"/>
                      <a:stretch>
                        <a:fillRect/>
                      </a:stretch>
                    </p:blipFill>
                    <p:spPr>
                      <a:xfrm>
                        <a:off x="9168448" y="1704975"/>
                        <a:ext cx="611505" cy="255270"/>
                      </a:xfrm>
                      <a:prstGeom prst="rect">
                        <a:avLst/>
                      </a:prstGeom>
                      <a:noFill/>
                      <a:ln w="38100">
                        <a:noFill/>
                        <a:miter/>
                      </a:ln>
                    </p:spPr>
                  </p:pic>
                </p:oleObj>
              </mc:Fallback>
            </mc:AlternateContent>
          </a:graphicData>
        </a:graphic>
      </p:graphicFrame>
      <p:graphicFrame>
        <p:nvGraphicFramePr>
          <p:cNvPr id="15" name="Picture 87"/>
          <p:cNvGraphicFramePr>
            <a:graphicFrameLocks noChangeAspect="1"/>
          </p:cNvGraphicFramePr>
          <p:nvPr/>
        </p:nvGraphicFramePr>
        <p:xfrm>
          <a:off x="2014855" y="2344103"/>
          <a:ext cx="350520" cy="233045"/>
        </p:xfrm>
        <a:graphic>
          <a:graphicData uri="http://schemas.openxmlformats.org/presentationml/2006/ole">
            <mc:AlternateContent xmlns:mc="http://schemas.openxmlformats.org/markup-compatibility/2006">
              <mc:Choice xmlns:v="urn:schemas-microsoft-com:vml" Requires="v">
                <p:oleObj spid="_x0000_s16" name="" r:id="rId9" imgW="356235" imgH="229235" progId="Equation.DSMT4">
                  <p:embed/>
                </p:oleObj>
              </mc:Choice>
              <mc:Fallback>
                <p:oleObj name="" r:id="rId9" imgW="356235" imgH="229235" progId="Equation.DSMT4">
                  <p:embed/>
                  <p:pic>
                    <p:nvPicPr>
                      <p:cNvPr id="0" name="图片 8"/>
                      <p:cNvPicPr/>
                      <p:nvPr/>
                    </p:nvPicPr>
                    <p:blipFill>
                      <a:blip r:embed="rId10"/>
                      <a:stretch>
                        <a:fillRect/>
                      </a:stretch>
                    </p:blipFill>
                    <p:spPr>
                      <a:xfrm>
                        <a:off x="2014855" y="2344103"/>
                        <a:ext cx="350520" cy="233045"/>
                      </a:xfrm>
                      <a:prstGeom prst="rect">
                        <a:avLst/>
                      </a:prstGeom>
                      <a:noFill/>
                      <a:ln w="38100">
                        <a:noFill/>
                        <a:miter/>
                      </a:ln>
                    </p:spPr>
                  </p:pic>
                </p:oleObj>
              </mc:Fallback>
            </mc:AlternateContent>
          </a:graphicData>
        </a:graphic>
      </p:graphicFrame>
      <p:pic>
        <p:nvPicPr>
          <p:cNvPr id="17" name="图片 16"/>
          <p:cNvPicPr>
            <a:picLocks noChangeAspect="1"/>
          </p:cNvPicPr>
          <p:nvPr/>
        </p:nvPicPr>
        <p:blipFill>
          <a:blip r:embed="rId11"/>
          <a:stretch>
            <a:fillRect/>
          </a:stretch>
        </p:blipFill>
        <p:spPr>
          <a:xfrm>
            <a:off x="2553970" y="2344420"/>
            <a:ext cx="2613660" cy="304800"/>
          </a:xfrm>
          <a:prstGeom prst="rect">
            <a:avLst/>
          </a:prstGeom>
        </p:spPr>
      </p:pic>
      <p:graphicFrame>
        <p:nvGraphicFramePr>
          <p:cNvPr id="18" name="Picture 93"/>
          <p:cNvGraphicFramePr>
            <a:graphicFrameLocks noChangeAspect="1"/>
          </p:cNvGraphicFramePr>
          <p:nvPr/>
        </p:nvGraphicFramePr>
        <p:xfrm>
          <a:off x="5764530" y="2380298"/>
          <a:ext cx="350520" cy="233045"/>
        </p:xfrm>
        <a:graphic>
          <a:graphicData uri="http://schemas.openxmlformats.org/presentationml/2006/ole">
            <mc:AlternateContent xmlns:mc="http://schemas.openxmlformats.org/markup-compatibility/2006">
              <mc:Choice xmlns:v="urn:schemas-microsoft-com:vml" Requires="v">
                <p:oleObj spid="_x0000_s19" name="" r:id="rId12" imgW="356235" imgH="229235" progId="Equation.DSMT4">
                  <p:embed/>
                </p:oleObj>
              </mc:Choice>
              <mc:Fallback>
                <p:oleObj name="" r:id="rId12" imgW="356235" imgH="229235" progId="Equation.DSMT4">
                  <p:embed/>
                  <p:pic>
                    <p:nvPicPr>
                      <p:cNvPr id="0" name="图片 10"/>
                      <p:cNvPicPr/>
                      <p:nvPr/>
                    </p:nvPicPr>
                    <p:blipFill>
                      <a:blip r:embed="rId10"/>
                      <a:stretch>
                        <a:fillRect/>
                      </a:stretch>
                    </p:blipFill>
                    <p:spPr>
                      <a:xfrm>
                        <a:off x="5764530" y="2380298"/>
                        <a:ext cx="350520" cy="233045"/>
                      </a:xfrm>
                      <a:prstGeom prst="rect">
                        <a:avLst/>
                      </a:prstGeom>
                      <a:noFill/>
                      <a:ln w="38100">
                        <a:noFill/>
                        <a:miter/>
                      </a:ln>
                    </p:spPr>
                  </p:pic>
                </p:oleObj>
              </mc:Fallback>
            </mc:AlternateContent>
          </a:graphicData>
        </a:graphic>
      </p:graphicFrame>
      <p:graphicFrame>
        <p:nvGraphicFramePr>
          <p:cNvPr id="20" name="Picture 94"/>
          <p:cNvGraphicFramePr>
            <a:graphicFrameLocks noChangeAspect="1"/>
          </p:cNvGraphicFramePr>
          <p:nvPr/>
        </p:nvGraphicFramePr>
        <p:xfrm>
          <a:off x="11174730" y="2380298"/>
          <a:ext cx="350520" cy="233045"/>
        </p:xfrm>
        <a:graphic>
          <a:graphicData uri="http://schemas.openxmlformats.org/presentationml/2006/ole">
            <mc:AlternateContent xmlns:mc="http://schemas.openxmlformats.org/markup-compatibility/2006">
              <mc:Choice xmlns:v="urn:schemas-microsoft-com:vml" Requires="v">
                <p:oleObj spid="_x0000_s21" name="" r:id="rId13" imgW="356235" imgH="229235" progId="Equation.DSMT4">
                  <p:embed/>
                </p:oleObj>
              </mc:Choice>
              <mc:Fallback>
                <p:oleObj name="" r:id="rId13" imgW="356235" imgH="229235" progId="Equation.DSMT4">
                  <p:embed/>
                  <p:pic>
                    <p:nvPicPr>
                      <p:cNvPr id="0" name="图片 11"/>
                      <p:cNvPicPr/>
                      <p:nvPr/>
                    </p:nvPicPr>
                    <p:blipFill>
                      <a:blip r:embed="rId10"/>
                      <a:stretch>
                        <a:fillRect/>
                      </a:stretch>
                    </p:blipFill>
                    <p:spPr>
                      <a:xfrm>
                        <a:off x="11174730" y="2380298"/>
                        <a:ext cx="350520" cy="233045"/>
                      </a:xfrm>
                      <a:prstGeom prst="rect">
                        <a:avLst/>
                      </a:prstGeom>
                      <a:noFill/>
                      <a:ln w="38100">
                        <a:noFill/>
                        <a:miter/>
                      </a:ln>
                    </p:spPr>
                  </p:pic>
                </p:oleObj>
              </mc:Fallback>
            </mc:AlternateContent>
          </a:graphicData>
        </a:graphic>
      </p:graphicFrame>
      <p:graphicFrame>
        <p:nvGraphicFramePr>
          <p:cNvPr id="22" name="Picture 95"/>
          <p:cNvGraphicFramePr>
            <a:graphicFrameLocks noChangeAspect="1"/>
          </p:cNvGraphicFramePr>
          <p:nvPr/>
        </p:nvGraphicFramePr>
        <p:xfrm>
          <a:off x="4613593" y="3727450"/>
          <a:ext cx="2210435" cy="255270"/>
        </p:xfrm>
        <a:graphic>
          <a:graphicData uri="http://schemas.openxmlformats.org/presentationml/2006/ole">
            <mc:AlternateContent xmlns:mc="http://schemas.openxmlformats.org/markup-compatibility/2006">
              <mc:Choice xmlns:v="urn:schemas-microsoft-com:vml" Requires="v">
                <p:oleObj spid="_x0000_s23" name="" r:id="rId14" imgW="2209800" imgH="254000" progId="Equation.DSMT4">
                  <p:embed/>
                </p:oleObj>
              </mc:Choice>
              <mc:Fallback>
                <p:oleObj name="" r:id="rId14" imgW="2209800" imgH="254000" progId="Equation.DSMT4">
                  <p:embed/>
                  <p:pic>
                    <p:nvPicPr>
                      <p:cNvPr id="0" name="图片 12"/>
                      <p:cNvPicPr/>
                      <p:nvPr/>
                    </p:nvPicPr>
                    <p:blipFill>
                      <a:blip r:embed="rId15"/>
                      <a:stretch>
                        <a:fillRect/>
                      </a:stretch>
                    </p:blipFill>
                    <p:spPr>
                      <a:xfrm>
                        <a:off x="4613593" y="3727450"/>
                        <a:ext cx="2210435" cy="255270"/>
                      </a:xfrm>
                      <a:prstGeom prst="rect">
                        <a:avLst/>
                      </a:prstGeom>
                      <a:noFill/>
                      <a:ln w="38100">
                        <a:noFill/>
                        <a:miter/>
                      </a:ln>
                    </p:spPr>
                  </p:pic>
                </p:oleObj>
              </mc:Fallback>
            </mc:AlternateContent>
          </a:graphicData>
        </a:graphic>
      </p:graphicFrame>
      <p:graphicFrame>
        <p:nvGraphicFramePr>
          <p:cNvPr id="24" name="Picture 96"/>
          <p:cNvGraphicFramePr>
            <a:graphicFrameLocks noChangeAspect="1"/>
          </p:cNvGraphicFramePr>
          <p:nvPr/>
        </p:nvGraphicFramePr>
        <p:xfrm>
          <a:off x="6522085" y="4131628"/>
          <a:ext cx="566420" cy="233045"/>
        </p:xfrm>
        <a:graphic>
          <a:graphicData uri="http://schemas.openxmlformats.org/presentationml/2006/ole">
            <mc:AlternateContent xmlns:mc="http://schemas.openxmlformats.org/markup-compatibility/2006">
              <mc:Choice xmlns:v="urn:schemas-microsoft-com:vml" Requires="v">
                <p:oleObj spid="_x0000_s25" name="" r:id="rId16" imgW="559435" imgH="228600" progId="Equation.DSMT4">
                  <p:embed/>
                </p:oleObj>
              </mc:Choice>
              <mc:Fallback>
                <p:oleObj name="" r:id="rId16" imgW="559435" imgH="228600" progId="Equation.DSMT4">
                  <p:embed/>
                  <p:pic>
                    <p:nvPicPr>
                      <p:cNvPr id="0" name="图片 13"/>
                      <p:cNvPicPr/>
                      <p:nvPr/>
                    </p:nvPicPr>
                    <p:blipFill>
                      <a:blip r:embed="rId17"/>
                      <a:stretch>
                        <a:fillRect/>
                      </a:stretch>
                    </p:blipFill>
                    <p:spPr>
                      <a:xfrm>
                        <a:off x="6522085" y="4131628"/>
                        <a:ext cx="566420" cy="233045"/>
                      </a:xfrm>
                      <a:prstGeom prst="rect">
                        <a:avLst/>
                      </a:prstGeom>
                      <a:noFill/>
                      <a:ln w="38100">
                        <a:noFill/>
                        <a:miter/>
                      </a:ln>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41475" y="139065"/>
            <a:ext cx="10327640" cy="6327140"/>
          </a:xfrm>
        </p:spPr>
        <p:txBody>
          <a:bodyPr/>
          <a:p>
            <a:pPr marL="0" indent="0">
              <a:buNone/>
            </a:pPr>
            <a:r>
              <a:rPr lang="en-US" altLang="zh-CN">
                <a:latin typeface="楷体" panose="02010609060101010101" charset="-122"/>
                <a:ea typeface="楷体" panose="02010609060101010101" charset="-122"/>
              </a:rPr>
              <a:t>                     </a:t>
            </a:r>
            <a:endParaRPr lang="en-US" altLang="zh-CN">
              <a:latin typeface="楷体" panose="02010609060101010101" charset="-122"/>
              <a:ea typeface="楷体" panose="02010609060101010101" charset="-122"/>
            </a:endParaRPr>
          </a:p>
          <a:p>
            <a:pPr marL="0" indent="0">
              <a:buNone/>
            </a:pPr>
            <a:r>
              <a:rPr lang="en-US" altLang="zh-CN">
                <a:latin typeface="楷体" panose="02010609060101010101" charset="-122"/>
                <a:ea typeface="楷体" panose="02010609060101010101" charset="-122"/>
              </a:rPr>
              <a:t>  （4）D：D原先属于A中心点所在的簇，当A被C替换以后，离D最近的中心点是C，属于上面的第二种情况。                     </a:t>
            </a:r>
            <a:endParaRPr lang="en-US" altLang="zh-CN">
              <a:latin typeface="楷体" panose="02010609060101010101" charset="-122"/>
              <a:ea typeface="楷体" panose="02010609060101010101" charset="-122"/>
            </a:endParaRPr>
          </a:p>
          <a:p>
            <a:pPr marL="0" indent="0">
              <a:buNone/>
            </a:pPr>
            <a:r>
              <a:rPr lang="en-US" altLang="zh-CN">
                <a:latin typeface="楷体" panose="02010609060101010101" charset="-122"/>
                <a:ea typeface="楷体" panose="02010609060101010101" charset="-122"/>
              </a:rPr>
              <a:t>  （5）E：E原先属于B中心点所在的簇，当A被C替换以后，离D最近的中心点仍然是B，属于上面的第三种情况。     </a:t>
            </a:r>
            <a:r>
              <a:rPr lang="zh-CN" altLang="en-US">
                <a:latin typeface="楷体" panose="02010609060101010101" charset="-122"/>
                <a:ea typeface="楷体" panose="02010609060101010101" charset="-122"/>
              </a:rPr>
              <a:t>。</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因此，                                 。同理，可以计算出</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。在上述代价计算完毕后，我们要选取一个最小代价，显然有多种替换可以选择，选择第一个最小代价的替换（也就是A替换C），这样，样本被重新划分为      和     两个簇。通过上述计算，已经完成了K-中心点算法的第一次迭代。在下一次迭代中，将用非中心点      替换中心点     ，找出具有最小代价的替换。一直重复上述过程，直到代价不再减少为止。</a:t>
            </a: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p:txBody>
      </p:sp>
      <p:graphicFrame>
        <p:nvGraphicFramePr>
          <p:cNvPr id="2" name="Picture 97"/>
          <p:cNvGraphicFramePr>
            <a:graphicFrameLocks noChangeAspect="1"/>
          </p:cNvGraphicFramePr>
          <p:nvPr/>
        </p:nvGraphicFramePr>
        <p:xfrm>
          <a:off x="1727518" y="202565"/>
          <a:ext cx="2361565" cy="255270"/>
        </p:xfrm>
        <a:graphic>
          <a:graphicData uri="http://schemas.openxmlformats.org/presentationml/2006/ole">
            <mc:AlternateContent xmlns:mc="http://schemas.openxmlformats.org/markup-compatibility/2006">
              <mc:Choice xmlns:v="urn:schemas-microsoft-com:vml" Requires="v">
                <p:oleObj spid="_x0000_s3076" name="" r:id="rId1" imgW="2362200" imgH="254000" progId="Equation.DSMT4">
                  <p:embed/>
                </p:oleObj>
              </mc:Choice>
              <mc:Fallback>
                <p:oleObj name="" r:id="rId1" imgW="2362200" imgH="254000" progId="Equation.DSMT4">
                  <p:embed/>
                  <p:pic>
                    <p:nvPicPr>
                      <p:cNvPr id="0" name="图片 3075"/>
                      <p:cNvPicPr/>
                      <p:nvPr/>
                    </p:nvPicPr>
                    <p:blipFill>
                      <a:blip r:embed="rId2"/>
                      <a:stretch>
                        <a:fillRect/>
                      </a:stretch>
                    </p:blipFill>
                    <p:spPr>
                      <a:xfrm>
                        <a:off x="1727518" y="202565"/>
                        <a:ext cx="2361565" cy="255270"/>
                      </a:xfrm>
                      <a:prstGeom prst="rect">
                        <a:avLst/>
                      </a:prstGeom>
                      <a:noFill/>
                      <a:ln w="38100">
                        <a:noFill/>
                        <a:miter/>
                      </a:ln>
                    </p:spPr>
                  </p:pic>
                </p:oleObj>
              </mc:Fallback>
            </mc:AlternateContent>
          </a:graphicData>
        </a:graphic>
      </p:graphicFrame>
      <p:graphicFrame>
        <p:nvGraphicFramePr>
          <p:cNvPr id="4" name="Picture 98"/>
          <p:cNvGraphicFramePr>
            <a:graphicFrameLocks noChangeAspect="1"/>
          </p:cNvGraphicFramePr>
          <p:nvPr/>
        </p:nvGraphicFramePr>
        <p:xfrm>
          <a:off x="2205355" y="887730"/>
          <a:ext cx="2353310" cy="255270"/>
        </p:xfrm>
        <a:graphic>
          <a:graphicData uri="http://schemas.openxmlformats.org/presentationml/2006/ole">
            <mc:AlternateContent xmlns:mc="http://schemas.openxmlformats.org/markup-compatibility/2006">
              <mc:Choice xmlns:v="urn:schemas-microsoft-com:vml" Requires="v">
                <p:oleObj spid="_x0000_s5" name="" r:id="rId3" imgW="2349500" imgH="254000" progId="Equation.DSMT4">
                  <p:embed/>
                </p:oleObj>
              </mc:Choice>
              <mc:Fallback>
                <p:oleObj name="" r:id="rId3" imgW="2349500" imgH="254000" progId="Equation.DSMT4">
                  <p:embed/>
                  <p:pic>
                    <p:nvPicPr>
                      <p:cNvPr id="0" name="图片 3"/>
                      <p:cNvPicPr/>
                      <p:nvPr/>
                    </p:nvPicPr>
                    <p:blipFill>
                      <a:blip r:embed="rId4"/>
                      <a:stretch>
                        <a:fillRect/>
                      </a:stretch>
                    </p:blipFill>
                    <p:spPr>
                      <a:xfrm>
                        <a:off x="2205355" y="887730"/>
                        <a:ext cx="2353310" cy="255270"/>
                      </a:xfrm>
                      <a:prstGeom prst="rect">
                        <a:avLst/>
                      </a:prstGeom>
                      <a:noFill/>
                      <a:ln w="38100">
                        <a:noFill/>
                        <a:miter/>
                      </a:ln>
                    </p:spPr>
                  </p:pic>
                </p:oleObj>
              </mc:Fallback>
            </mc:AlternateContent>
          </a:graphicData>
        </a:graphic>
      </p:graphicFrame>
      <p:graphicFrame>
        <p:nvGraphicFramePr>
          <p:cNvPr id="6" name="Picture 99"/>
          <p:cNvGraphicFramePr>
            <a:graphicFrameLocks noChangeAspect="1"/>
          </p:cNvGraphicFramePr>
          <p:nvPr/>
        </p:nvGraphicFramePr>
        <p:xfrm>
          <a:off x="2807335" y="1554798"/>
          <a:ext cx="566420" cy="233045"/>
        </p:xfrm>
        <a:graphic>
          <a:graphicData uri="http://schemas.openxmlformats.org/presentationml/2006/ole">
            <mc:AlternateContent xmlns:mc="http://schemas.openxmlformats.org/markup-compatibility/2006">
              <mc:Choice xmlns:v="urn:schemas-microsoft-com:vml" Requires="v">
                <p:oleObj spid="_x0000_s7" name="" r:id="rId5" imgW="559435" imgH="228600" progId="Equation.DSMT4">
                  <p:embed/>
                </p:oleObj>
              </mc:Choice>
              <mc:Fallback>
                <p:oleObj name="" r:id="rId5" imgW="559435" imgH="228600" progId="Equation.DSMT4">
                  <p:embed/>
                  <p:pic>
                    <p:nvPicPr>
                      <p:cNvPr id="0" name="图片 4"/>
                      <p:cNvPicPr/>
                      <p:nvPr/>
                    </p:nvPicPr>
                    <p:blipFill>
                      <a:blip r:embed="rId6"/>
                      <a:stretch>
                        <a:fillRect/>
                      </a:stretch>
                    </p:blipFill>
                    <p:spPr>
                      <a:xfrm>
                        <a:off x="2807335" y="1554798"/>
                        <a:ext cx="566420" cy="233045"/>
                      </a:xfrm>
                      <a:prstGeom prst="rect">
                        <a:avLst/>
                      </a:prstGeom>
                      <a:noFill/>
                      <a:ln w="38100">
                        <a:noFill/>
                        <a:miter/>
                      </a:ln>
                    </p:spPr>
                  </p:pic>
                </p:oleObj>
              </mc:Fallback>
            </mc:AlternateContent>
          </a:graphicData>
        </a:graphic>
      </p:graphicFrame>
      <p:graphicFrame>
        <p:nvGraphicFramePr>
          <p:cNvPr id="8" name="Picture 100"/>
          <p:cNvGraphicFramePr>
            <a:graphicFrameLocks noChangeAspect="1"/>
          </p:cNvGraphicFramePr>
          <p:nvPr/>
        </p:nvGraphicFramePr>
        <p:xfrm>
          <a:off x="2587625" y="1973263"/>
          <a:ext cx="3848100" cy="233045"/>
        </p:xfrm>
        <a:graphic>
          <a:graphicData uri="http://schemas.openxmlformats.org/presentationml/2006/ole">
            <mc:AlternateContent xmlns:mc="http://schemas.openxmlformats.org/markup-compatibility/2006">
              <mc:Choice xmlns:v="urn:schemas-microsoft-com:vml" Requires="v">
                <p:oleObj spid="_x0000_s9" name="" r:id="rId7" imgW="3848100" imgH="228600" progId="Equation.DSMT4">
                  <p:embed/>
                </p:oleObj>
              </mc:Choice>
              <mc:Fallback>
                <p:oleObj name="" r:id="rId7" imgW="3848100" imgH="228600" progId="Equation.DSMT4">
                  <p:embed/>
                  <p:pic>
                    <p:nvPicPr>
                      <p:cNvPr id="0" name="图片 5"/>
                      <p:cNvPicPr/>
                      <p:nvPr/>
                    </p:nvPicPr>
                    <p:blipFill>
                      <a:blip r:embed="rId8"/>
                      <a:stretch>
                        <a:fillRect/>
                      </a:stretch>
                    </p:blipFill>
                    <p:spPr>
                      <a:xfrm>
                        <a:off x="2587625" y="1973263"/>
                        <a:ext cx="3848100" cy="233045"/>
                      </a:xfrm>
                      <a:prstGeom prst="rect">
                        <a:avLst/>
                      </a:prstGeom>
                      <a:noFill/>
                      <a:ln w="38100">
                        <a:noFill/>
                        <a:miter/>
                      </a:ln>
                    </p:spPr>
                  </p:pic>
                </p:oleObj>
              </mc:Fallback>
            </mc:AlternateContent>
          </a:graphicData>
        </a:graphic>
      </p:graphicFrame>
      <p:pic>
        <p:nvPicPr>
          <p:cNvPr id="10" name="图片 9"/>
          <p:cNvPicPr>
            <a:picLocks noChangeAspect="1"/>
          </p:cNvPicPr>
          <p:nvPr/>
        </p:nvPicPr>
        <p:blipFill>
          <a:blip r:embed="rId9"/>
          <a:stretch>
            <a:fillRect/>
          </a:stretch>
        </p:blipFill>
        <p:spPr>
          <a:xfrm>
            <a:off x="7541895" y="1555115"/>
            <a:ext cx="4427220" cy="274320"/>
          </a:xfrm>
          <a:prstGeom prst="rect">
            <a:avLst/>
          </a:prstGeom>
        </p:spPr>
      </p:pic>
      <p:graphicFrame>
        <p:nvGraphicFramePr>
          <p:cNvPr id="11" name="Picture 106"/>
          <p:cNvGraphicFramePr>
            <a:graphicFrameLocks noChangeAspect="1"/>
          </p:cNvGraphicFramePr>
          <p:nvPr/>
        </p:nvGraphicFramePr>
        <p:xfrm>
          <a:off x="7263130" y="2654300"/>
          <a:ext cx="580390" cy="255270"/>
        </p:xfrm>
        <a:graphic>
          <a:graphicData uri="http://schemas.openxmlformats.org/presentationml/2006/ole">
            <mc:AlternateContent xmlns:mc="http://schemas.openxmlformats.org/markup-compatibility/2006">
              <mc:Choice xmlns:v="urn:schemas-microsoft-com:vml" Requires="v">
                <p:oleObj spid="_x0000_s12" name="" r:id="rId10" imgW="584835" imgH="254000" progId="Equation.DSMT4">
                  <p:embed/>
                </p:oleObj>
              </mc:Choice>
              <mc:Fallback>
                <p:oleObj name="" r:id="rId10" imgW="584835" imgH="254000" progId="Equation.DSMT4">
                  <p:embed/>
                  <p:pic>
                    <p:nvPicPr>
                      <p:cNvPr id="0" name="图片 7"/>
                      <p:cNvPicPr/>
                      <p:nvPr/>
                    </p:nvPicPr>
                    <p:blipFill>
                      <a:blip r:embed="rId11"/>
                      <a:stretch>
                        <a:fillRect/>
                      </a:stretch>
                    </p:blipFill>
                    <p:spPr>
                      <a:xfrm>
                        <a:off x="7263130" y="2654300"/>
                        <a:ext cx="580390" cy="255270"/>
                      </a:xfrm>
                      <a:prstGeom prst="rect">
                        <a:avLst/>
                      </a:prstGeom>
                      <a:noFill/>
                      <a:ln w="38100">
                        <a:noFill/>
                        <a:miter/>
                      </a:ln>
                    </p:spPr>
                  </p:pic>
                </p:oleObj>
              </mc:Fallback>
            </mc:AlternateContent>
          </a:graphicData>
        </a:graphic>
      </p:graphicFrame>
      <p:graphicFrame>
        <p:nvGraphicFramePr>
          <p:cNvPr id="13" name="Picture 107"/>
          <p:cNvGraphicFramePr>
            <a:graphicFrameLocks noChangeAspect="1"/>
          </p:cNvGraphicFramePr>
          <p:nvPr/>
        </p:nvGraphicFramePr>
        <p:xfrm>
          <a:off x="8223885" y="2654300"/>
          <a:ext cx="443230" cy="255270"/>
        </p:xfrm>
        <a:graphic>
          <a:graphicData uri="http://schemas.openxmlformats.org/presentationml/2006/ole">
            <mc:AlternateContent xmlns:mc="http://schemas.openxmlformats.org/markup-compatibility/2006">
              <mc:Choice xmlns:v="urn:schemas-microsoft-com:vml" Requires="v">
                <p:oleObj spid="_x0000_s14" name="" r:id="rId12" imgW="445135" imgH="254635" progId="Equation.DSMT4">
                  <p:embed/>
                </p:oleObj>
              </mc:Choice>
              <mc:Fallback>
                <p:oleObj name="" r:id="rId12" imgW="445135" imgH="254635" progId="Equation.DSMT4">
                  <p:embed/>
                  <p:pic>
                    <p:nvPicPr>
                      <p:cNvPr id="0" name="图片 8"/>
                      <p:cNvPicPr/>
                      <p:nvPr/>
                    </p:nvPicPr>
                    <p:blipFill>
                      <a:blip r:embed="rId13"/>
                      <a:stretch>
                        <a:fillRect/>
                      </a:stretch>
                    </p:blipFill>
                    <p:spPr>
                      <a:xfrm>
                        <a:off x="8223885" y="2654300"/>
                        <a:ext cx="443230" cy="255270"/>
                      </a:xfrm>
                      <a:prstGeom prst="rect">
                        <a:avLst/>
                      </a:prstGeom>
                      <a:noFill/>
                      <a:ln w="38100">
                        <a:noFill/>
                        <a:miter/>
                      </a:ln>
                    </p:spPr>
                  </p:pic>
                </p:oleObj>
              </mc:Fallback>
            </mc:AlternateContent>
          </a:graphicData>
        </a:graphic>
      </p:graphicFrame>
      <p:graphicFrame>
        <p:nvGraphicFramePr>
          <p:cNvPr id="15" name="Picture 108"/>
          <p:cNvGraphicFramePr>
            <a:graphicFrameLocks noChangeAspect="1"/>
          </p:cNvGraphicFramePr>
          <p:nvPr/>
        </p:nvGraphicFramePr>
        <p:xfrm>
          <a:off x="8667115" y="2909570"/>
          <a:ext cx="580390" cy="255270"/>
        </p:xfrm>
        <a:graphic>
          <a:graphicData uri="http://schemas.openxmlformats.org/presentationml/2006/ole">
            <mc:AlternateContent xmlns:mc="http://schemas.openxmlformats.org/markup-compatibility/2006">
              <mc:Choice xmlns:v="urn:schemas-microsoft-com:vml" Requires="v">
                <p:oleObj spid="_x0000_s16" name="" r:id="rId14" imgW="584835" imgH="254000" progId="Equation.DSMT4">
                  <p:embed/>
                </p:oleObj>
              </mc:Choice>
              <mc:Fallback>
                <p:oleObj name="" r:id="rId14" imgW="584835" imgH="254000" progId="Equation.DSMT4">
                  <p:embed/>
                  <p:pic>
                    <p:nvPicPr>
                      <p:cNvPr id="0" name="图片 9"/>
                      <p:cNvPicPr/>
                      <p:nvPr/>
                    </p:nvPicPr>
                    <p:blipFill>
                      <a:blip r:embed="rId11"/>
                      <a:stretch>
                        <a:fillRect/>
                      </a:stretch>
                    </p:blipFill>
                    <p:spPr>
                      <a:xfrm>
                        <a:off x="8667115" y="2909570"/>
                        <a:ext cx="580390" cy="255270"/>
                      </a:xfrm>
                      <a:prstGeom prst="rect">
                        <a:avLst/>
                      </a:prstGeom>
                      <a:noFill/>
                      <a:ln w="38100">
                        <a:noFill/>
                        <a:miter/>
                      </a:ln>
                    </p:spPr>
                  </p:pic>
                </p:oleObj>
              </mc:Fallback>
            </mc:AlternateContent>
          </a:graphicData>
        </a:graphic>
      </p:graphicFrame>
      <p:graphicFrame>
        <p:nvGraphicFramePr>
          <p:cNvPr id="17" name="Picture 109"/>
          <p:cNvGraphicFramePr>
            <a:graphicFrameLocks noChangeAspect="1"/>
          </p:cNvGraphicFramePr>
          <p:nvPr/>
        </p:nvGraphicFramePr>
        <p:xfrm>
          <a:off x="10509885" y="2909570"/>
          <a:ext cx="443230" cy="255270"/>
        </p:xfrm>
        <a:graphic>
          <a:graphicData uri="http://schemas.openxmlformats.org/presentationml/2006/ole">
            <mc:AlternateContent xmlns:mc="http://schemas.openxmlformats.org/markup-compatibility/2006">
              <mc:Choice xmlns:v="urn:schemas-microsoft-com:vml" Requires="v">
                <p:oleObj spid="_x0000_s18" name="" r:id="rId15" imgW="445135" imgH="254635" progId="Equation.DSMT4">
                  <p:embed/>
                </p:oleObj>
              </mc:Choice>
              <mc:Fallback>
                <p:oleObj name="" r:id="rId15" imgW="445135" imgH="254635" progId="Equation.DSMT4">
                  <p:embed/>
                  <p:pic>
                    <p:nvPicPr>
                      <p:cNvPr id="0" name="图片 10"/>
                      <p:cNvPicPr/>
                      <p:nvPr/>
                    </p:nvPicPr>
                    <p:blipFill>
                      <a:blip r:embed="rId13"/>
                      <a:stretch>
                        <a:fillRect/>
                      </a:stretch>
                    </p:blipFill>
                    <p:spPr>
                      <a:xfrm>
                        <a:off x="10509885" y="2909570"/>
                        <a:ext cx="443230" cy="255270"/>
                      </a:xfrm>
                      <a:prstGeom prst="rect">
                        <a:avLst/>
                      </a:prstGeom>
                      <a:noFill/>
                      <a:ln w="38100">
                        <a:noFill/>
                        <a:miter/>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568450" y="220980"/>
            <a:ext cx="10399395" cy="6254750"/>
          </a:xfrm>
        </p:spPr>
        <p:txBody>
          <a:bodyPr/>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图9-1程序运行结果</a:t>
            </a:r>
            <a:endParaRPr lang="zh-CN" altLang="en-US">
              <a:latin typeface="楷体" panose="02010609060101010101" charset="-122"/>
              <a:ea typeface="楷体" panose="02010609060101010101" charset="-122"/>
            </a:endParaRPr>
          </a:p>
        </p:txBody>
      </p:sp>
      <p:pic>
        <p:nvPicPr>
          <p:cNvPr id="5"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3894138" y="138748"/>
            <a:ext cx="5255895" cy="504126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878965" y="201930"/>
            <a:ext cx="9880600" cy="6454775"/>
          </a:xfrm>
        </p:spPr>
        <p:txBody>
          <a:bodyPr>
            <a:normAutofit/>
          </a:bodyPr>
          <a:p>
            <a:pPr marL="0" indent="0">
              <a:buNone/>
            </a:pPr>
            <a:r>
              <a:rPr lang="zh-CN" altLang="en-US" sz="3200">
                <a:latin typeface="楷体" panose="02010609060101010101" charset="-122"/>
                <a:ea typeface="楷体" panose="02010609060101010101" charset="-122"/>
              </a:rPr>
              <a:t>9.5 K-中心点聚类算法特点及应用</a:t>
            </a: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rPr>
              <a:t>9.5.1K-中心点聚类算法特点</a:t>
            </a: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rPr>
              <a:t>  K-中心点的优势为：</a:t>
            </a:r>
            <a:endParaRPr lang="zh-CN" altLang="en-US" sz="3200">
              <a:latin typeface="楷体" panose="02010609060101010101" charset="-122"/>
              <a:ea typeface="楷体" panose="02010609060101010101" charset="-122"/>
            </a:endParaRPr>
          </a:p>
          <a:p>
            <a:pPr marL="0" indent="0">
              <a:buNone/>
            </a:pPr>
            <a:r>
              <a:rPr lang="zh-CN" altLang="en-US" sz="3200" b="1">
                <a:solidFill>
                  <a:srgbClr val="C00000"/>
                </a:solidFill>
                <a:latin typeface="楷体" panose="02010609060101010101" charset="-122"/>
                <a:ea typeface="楷体" panose="02010609060101010101" charset="-122"/>
              </a:rPr>
              <a:t>对噪声点/孤立点不敏感</a:t>
            </a:r>
            <a:r>
              <a:rPr lang="zh-CN" altLang="en-US" sz="3200">
                <a:latin typeface="楷体" panose="02010609060101010101" charset="-122"/>
                <a:ea typeface="楷体" panose="02010609060101010101" charset="-122"/>
              </a:rPr>
              <a:t>，具有较强的数据鲁棒性；</a:t>
            </a: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rPr>
              <a:t>聚类结果与数据对象点</a:t>
            </a:r>
            <a:r>
              <a:rPr lang="zh-CN" altLang="en-US" sz="3200" b="1">
                <a:solidFill>
                  <a:srgbClr val="C00000"/>
                </a:solidFill>
                <a:latin typeface="楷体" panose="02010609060101010101" charset="-122"/>
                <a:ea typeface="楷体" panose="02010609060101010101" charset="-122"/>
              </a:rPr>
              <a:t>输入顺序无关</a:t>
            </a:r>
            <a:r>
              <a:rPr lang="zh-CN" altLang="en-US" sz="3200">
                <a:latin typeface="楷体" panose="02010609060101010101" charset="-122"/>
                <a:ea typeface="楷体" panose="02010609060101010101" charset="-122"/>
              </a:rPr>
              <a:t>；</a:t>
            </a: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rPr>
              <a:t>聚类结果具有数据对象</a:t>
            </a:r>
            <a:r>
              <a:rPr lang="zh-CN" altLang="en-US" sz="3200" b="1">
                <a:solidFill>
                  <a:srgbClr val="C00000"/>
                </a:solidFill>
                <a:latin typeface="楷体" panose="02010609060101010101" charset="-122"/>
                <a:ea typeface="楷体" panose="02010609060101010101" charset="-122"/>
              </a:rPr>
              <a:t>平移和正交变换的不变性</a:t>
            </a:r>
            <a:r>
              <a:rPr lang="zh-CN" altLang="en-US" sz="3200">
                <a:latin typeface="楷体" panose="02010609060101010101" charset="-122"/>
                <a:ea typeface="楷体" panose="02010609060101010101" charset="-122"/>
              </a:rPr>
              <a:t>等。</a:t>
            </a: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rPr>
              <a:t>  </a:t>
            </a:r>
            <a:endParaRPr lang="zh-CN" altLang="en-US" sz="3200">
              <a:latin typeface="楷体" panose="02010609060101010101" charset="-122"/>
              <a:ea typeface="楷体" panose="0201060906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sz="3200">
                <a:latin typeface="楷体" panose="02010609060101010101" charset="-122"/>
                <a:ea typeface="楷体" panose="02010609060101010101" charset="-122"/>
                <a:sym typeface="+mn-ea"/>
              </a:rPr>
              <a:t>该算法缺陷在于聚类过程的高耗时性。对于大数据集，K-中心点聚类过程缓慢的主要原因在于：通过迭代来寻找最佳的聚类中心点集时，需要反复地在非中心点对象与中心点对象之间进行最近邻搜索，从而产生大量非必需的重复计算。</a:t>
            </a:r>
            <a:endParaRPr lang="zh-CN" altLang="en-US" sz="3200">
              <a:latin typeface="楷体" panose="02010609060101010101" charset="-122"/>
              <a:ea typeface="楷体" panose="02010609060101010101" charset="-122"/>
            </a:endParaRPr>
          </a:p>
          <a:p>
            <a:endParaRPr lang="zh-CN" altLang="en-US" sz="3200">
              <a:latin typeface="楷体" panose="02010609060101010101" charset="-122"/>
              <a:ea typeface="楷体" panose="0201060906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32915" y="175895"/>
            <a:ext cx="10144760" cy="6308725"/>
          </a:xfrm>
        </p:spPr>
        <p:txBody>
          <a:bodyPr/>
          <a:p>
            <a:pPr marL="0" indent="0">
              <a:buNone/>
            </a:pPr>
            <a:r>
              <a:rPr lang="en-US" altLang="zh-CN" sz="2800">
                <a:latin typeface="楷体" panose="02010609060101010101" charset="-122"/>
                <a:ea typeface="楷体" panose="02010609060101010101" charset="-122"/>
              </a:rPr>
              <a:t>  </a:t>
            </a:r>
            <a:r>
              <a:rPr lang="zh-CN" altLang="en-US" sz="2800">
                <a:latin typeface="楷体" panose="02010609060101010101" charset="-122"/>
                <a:ea typeface="楷体" panose="02010609060101010101" charset="-122"/>
              </a:rPr>
              <a:t>在软件测试过程中，测试用例集的好坏直接决定了软件测试的效率高低。如何在约减率和错误检测率中寻找到平衡点依然是一个有待解决的难题。采用聚类分析中的划分方法K-中心点方法对原始测试用例集进行聚类，根据聚类产生的结果和测试需求集从各簇中选择测试用例，以此构成约简后测试用例集，能大幅度地降低测试运行代价。</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9.6小结</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  本章详细地介绍了K-中心点算法的基本概念、基本原理,并用实例来进行了说明,同时还分析了K-中心点算法的一个具体的源程序，并介绍了该算法的特点和存在的缺陷,最后介绍了K-中心点算法的应用,从中可以看出K-中心点算法的应用非常广泛。</a:t>
            </a:r>
            <a:endParaRPr lang="zh-CN" altLang="en-US" sz="2800">
              <a:latin typeface="楷体" panose="02010609060101010101" charset="-122"/>
              <a:ea typeface="楷体" panose="0201060906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51625" y="276130"/>
            <a:ext cx="8911687" cy="1280890"/>
          </a:xfrm>
        </p:spPr>
        <p:txBody>
          <a:bodyPr>
            <a:normAutofit/>
          </a:bodyPr>
          <a:lstStyle/>
          <a:p>
            <a:r>
              <a:rPr lang="zh-CN" altLang="en-US" dirty="0" smtClean="0">
                <a:latin typeface="Cambria" panose="02040503050406030204" pitchFamily="18" charset="0"/>
                <a:ea typeface="宋体" panose="02010600030101010101" pitchFamily="2" charset="-122"/>
              </a:rPr>
              <a:t>补充：</a:t>
            </a:r>
            <a:r>
              <a:rPr lang="en-US" altLang="zh-CN" dirty="0" smtClean="0">
                <a:latin typeface="Cambria" panose="02040503050406030204" pitchFamily="18" charset="0"/>
                <a:ea typeface="Cambria" panose="02040503050406030204" pitchFamily="18" charset="0"/>
              </a:rPr>
              <a:t> </a:t>
            </a:r>
            <a:r>
              <a:rPr lang="zh-CN" altLang="zh-CN" dirty="0" smtClean="0">
                <a:latin typeface="Cambria" panose="02040503050406030204" pitchFamily="18" charset="0"/>
              </a:rPr>
              <a:t>密度</a:t>
            </a:r>
            <a:r>
              <a:rPr lang="zh-CN" altLang="zh-CN" dirty="0">
                <a:latin typeface="Cambria" panose="02040503050406030204" pitchFamily="18" charset="0"/>
              </a:rPr>
              <a:t>聚类</a:t>
            </a:r>
            <a:endParaRPr lang="zh-CN" altLang="en-US" dirty="0">
              <a:latin typeface="Cambria" panose="02040503050406030204" pitchFamily="18" charset="0"/>
            </a:endParaRPr>
          </a:p>
        </p:txBody>
      </p:sp>
      <p:sp>
        <p:nvSpPr>
          <p:cNvPr id="14" name="内容占位符 3"/>
          <p:cNvSpPr txBox="1"/>
          <p:nvPr/>
        </p:nvSpPr>
        <p:spPr>
          <a:xfrm>
            <a:off x="2355087" y="908720"/>
            <a:ext cx="5541113"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zh-CN" altLang="en-US" dirty="0" smtClean="0">
                <a:latin typeface="Cambria" panose="02040503050406030204" pitchFamily="18" charset="0"/>
              </a:rPr>
              <a:t>算法思想</a:t>
            </a:r>
            <a:endParaRPr lang="zh-CN" altLang="en-US" dirty="0">
              <a:latin typeface="Cambria" panose="02040503050406030204" pitchFamily="18" charset="0"/>
            </a:endParaRPr>
          </a:p>
        </p:txBody>
      </p:sp>
      <p:sp>
        <p:nvSpPr>
          <p:cNvPr id="7" name="文本框 6"/>
          <p:cNvSpPr txBox="1"/>
          <p:nvPr/>
        </p:nvSpPr>
        <p:spPr>
          <a:xfrm>
            <a:off x="2171380" y="1439081"/>
            <a:ext cx="7849624" cy="3192780"/>
          </a:xfrm>
          <a:prstGeom prst="rect">
            <a:avLst/>
          </a:prstGeom>
          <a:noFill/>
        </p:spPr>
        <p:txBody>
          <a:bodyPr wrap="square" rtlCol="0">
            <a:spAutoFit/>
          </a:bodyPr>
          <a:lstStyle/>
          <a:p>
            <a:pPr marL="342900" indent="-342900">
              <a:lnSpc>
                <a:spcPct val="120000"/>
              </a:lnSpc>
              <a:buClr>
                <a:schemeClr val="accent4"/>
              </a:buClr>
              <a:buSzPct val="100000"/>
              <a:buFont typeface="Wingdings" panose="05000000000000000000" pitchFamily="2" charset="2"/>
              <a:buChar char="n"/>
            </a:pPr>
            <a:r>
              <a:rPr lang="zh-CN" altLang="zh-CN" sz="2400" dirty="0" smtClean="0">
                <a:latin typeface="Cambria" panose="02040503050406030204" pitchFamily="18" charset="0"/>
              </a:rPr>
              <a:t>基于</a:t>
            </a:r>
            <a:r>
              <a:rPr lang="zh-CN" altLang="zh-CN" sz="2400" dirty="0">
                <a:latin typeface="Cambria" panose="02040503050406030204" pitchFamily="18" charset="0"/>
              </a:rPr>
              <a:t>密度的聚类算法，此类算法能够发现任意形状的聚类，也可以用于寻找数据中的</a:t>
            </a:r>
            <a:r>
              <a:rPr lang="zh-CN" altLang="zh-CN" sz="2400" dirty="0" smtClean="0">
                <a:latin typeface="Cambria" panose="02040503050406030204" pitchFamily="18" charset="0"/>
              </a:rPr>
              <a:t>噪声</a:t>
            </a:r>
            <a:r>
              <a:rPr lang="zh-CN" altLang="en-US" sz="2400" dirty="0" smtClean="0">
                <a:latin typeface="Cambria" panose="02040503050406030204" pitchFamily="18" charset="0"/>
              </a:rPr>
              <a:t>；</a:t>
            </a:r>
            <a:endParaRPr lang="en-US" altLang="zh-CN" sz="2400" dirty="0" smtClean="0">
              <a:latin typeface="Cambria" panose="02040503050406030204" pitchFamily="18" charset="0"/>
              <a:ea typeface="Cambria" panose="02040503050406030204" pitchFamily="18" charset="0"/>
            </a:endParaRPr>
          </a:p>
          <a:p>
            <a:pPr marL="342900" indent="-342900">
              <a:lnSpc>
                <a:spcPct val="120000"/>
              </a:lnSpc>
              <a:buClr>
                <a:schemeClr val="accent4"/>
              </a:buClr>
              <a:buSzPct val="100000"/>
              <a:buFont typeface="Wingdings" panose="05000000000000000000" pitchFamily="2" charset="2"/>
              <a:buChar char="n"/>
            </a:pPr>
            <a:r>
              <a:rPr lang="zh-CN" altLang="zh-CN" sz="2400" dirty="0" smtClean="0">
                <a:latin typeface="Cambria" panose="02040503050406030204" pitchFamily="18" charset="0"/>
              </a:rPr>
              <a:t>密度</a:t>
            </a:r>
            <a:r>
              <a:rPr lang="zh-CN" altLang="zh-CN" sz="2400" dirty="0">
                <a:latin typeface="Cambria" panose="02040503050406030204" pitchFamily="18" charset="0"/>
              </a:rPr>
              <a:t>聚类可以通过样本分布的紧密程度</a:t>
            </a:r>
            <a:r>
              <a:rPr lang="zh-CN" altLang="zh-CN" sz="2400" dirty="0" smtClean="0">
                <a:latin typeface="Cambria" panose="02040503050406030204" pitchFamily="18" charset="0"/>
              </a:rPr>
              <a:t>决定</a:t>
            </a:r>
            <a:r>
              <a:rPr lang="zh-CN" altLang="en-US" sz="2400" dirty="0" smtClean="0">
                <a:latin typeface="Cambria" panose="02040503050406030204" pitchFamily="18" charset="0"/>
              </a:rPr>
              <a:t>；</a:t>
            </a:r>
            <a:endParaRPr lang="en-US" altLang="zh-CN" sz="2400" dirty="0" smtClean="0">
              <a:latin typeface="Cambria" panose="02040503050406030204" pitchFamily="18" charset="0"/>
              <a:ea typeface="Cambria" panose="02040503050406030204" pitchFamily="18" charset="0"/>
            </a:endParaRPr>
          </a:p>
          <a:p>
            <a:pPr marL="342900" indent="-342900">
              <a:lnSpc>
                <a:spcPct val="120000"/>
              </a:lnSpc>
              <a:buClr>
                <a:schemeClr val="accent4"/>
              </a:buClr>
              <a:buSzPct val="100000"/>
              <a:buFont typeface="Wingdings" panose="05000000000000000000" pitchFamily="2" charset="2"/>
              <a:buChar char="n"/>
            </a:pPr>
            <a:r>
              <a:rPr lang="zh-CN" altLang="zh-CN" sz="2400" dirty="0">
                <a:latin typeface="Cambria" panose="02040503050406030204" pitchFamily="18" charset="0"/>
              </a:rPr>
              <a:t>算法的目的就是</a:t>
            </a:r>
            <a:r>
              <a:rPr lang="zh-CN" altLang="zh-CN" sz="2400" b="1" dirty="0" smtClean="0">
                <a:latin typeface="Cambria" panose="02040503050406030204" pitchFamily="18" charset="0"/>
              </a:rPr>
              <a:t>过滤</a:t>
            </a:r>
            <a:r>
              <a:rPr lang="zh-CN" altLang="zh-CN" sz="2400" b="1" dirty="0">
                <a:latin typeface="Cambria" panose="02040503050406030204" pitchFamily="18" charset="0"/>
              </a:rPr>
              <a:t>低密度区域的样本点即噪声数据</a:t>
            </a:r>
            <a:r>
              <a:rPr lang="zh-CN" altLang="zh-CN" sz="2400" dirty="0">
                <a:latin typeface="Cambria" panose="02040503050406030204" pitchFamily="18" charset="0"/>
              </a:rPr>
              <a:t>，</a:t>
            </a:r>
            <a:r>
              <a:rPr lang="zh-CN" altLang="zh-CN" sz="2400" b="1" dirty="0">
                <a:latin typeface="Cambria" panose="02040503050406030204" pitchFamily="18" charset="0"/>
              </a:rPr>
              <a:t>发现高密度区域的</a:t>
            </a:r>
            <a:r>
              <a:rPr lang="zh-CN" altLang="zh-CN" sz="2400" b="1" dirty="0" smtClean="0">
                <a:latin typeface="Cambria" panose="02040503050406030204" pitchFamily="18" charset="0"/>
              </a:rPr>
              <a:t>样本点</a:t>
            </a:r>
            <a:r>
              <a:rPr lang="zh-CN" altLang="en-US" sz="2400" dirty="0" smtClean="0">
                <a:latin typeface="Cambria" panose="02040503050406030204" pitchFamily="18" charset="0"/>
              </a:rPr>
              <a:t>；</a:t>
            </a:r>
            <a:endParaRPr lang="en-US" altLang="zh-CN" sz="2400" dirty="0" smtClean="0">
              <a:latin typeface="Cambria" panose="02040503050406030204" pitchFamily="18" charset="0"/>
              <a:ea typeface="Cambria" panose="02040503050406030204" pitchFamily="18" charset="0"/>
            </a:endParaRPr>
          </a:p>
          <a:p>
            <a:pPr marL="342900" indent="-342900">
              <a:lnSpc>
                <a:spcPct val="120000"/>
              </a:lnSpc>
              <a:buClr>
                <a:schemeClr val="accent4"/>
              </a:buClr>
              <a:buSzPct val="100000"/>
              <a:buFont typeface="Wingdings" panose="05000000000000000000" pitchFamily="2" charset="2"/>
              <a:buChar char="n"/>
            </a:pPr>
            <a:r>
              <a:rPr lang="zh-CN" altLang="zh-CN" sz="2400" dirty="0">
                <a:latin typeface="Cambria" panose="02040503050406030204" pitchFamily="18" charset="0"/>
              </a:rPr>
              <a:t>根据密度的不同定义</a:t>
            </a:r>
            <a:r>
              <a:rPr lang="zh-CN" altLang="zh-CN" sz="2400" dirty="0" smtClean="0">
                <a:latin typeface="Cambria" panose="02040503050406030204" pitchFamily="18" charset="0"/>
              </a:rPr>
              <a:t>，有</a:t>
            </a:r>
            <a:r>
              <a:rPr lang="en-US" altLang="zh-CN" sz="2400" dirty="0">
                <a:latin typeface="Cambria" panose="02040503050406030204" pitchFamily="18" charset="0"/>
                <a:ea typeface="Cambria" panose="02040503050406030204" pitchFamily="18" charset="0"/>
              </a:rPr>
              <a:t>DBSCAN</a:t>
            </a:r>
            <a:r>
              <a:rPr lang="zh-CN" altLang="zh-CN" sz="2400" dirty="0">
                <a:latin typeface="Cambria" panose="02040503050406030204" pitchFamily="18" charset="0"/>
              </a:rPr>
              <a:t>、密度峰值聚类、</a:t>
            </a:r>
            <a:r>
              <a:rPr lang="en-US" altLang="zh-CN" sz="2400" dirty="0">
                <a:latin typeface="Cambria" panose="02040503050406030204" pitchFamily="18" charset="0"/>
                <a:ea typeface="Cambria" panose="02040503050406030204" pitchFamily="18" charset="0"/>
              </a:rPr>
              <a:t>OPTICS</a:t>
            </a:r>
            <a:r>
              <a:rPr lang="zh-CN" altLang="zh-CN" sz="2400" dirty="0" smtClean="0">
                <a:latin typeface="Cambria" panose="02040503050406030204" pitchFamily="18" charset="0"/>
              </a:rPr>
              <a:t>等</a:t>
            </a:r>
            <a:r>
              <a:rPr lang="zh-CN" altLang="en-US" sz="2400" dirty="0" smtClean="0">
                <a:latin typeface="Cambria" panose="02040503050406030204" pitchFamily="18" charset="0"/>
              </a:rPr>
              <a:t>。</a:t>
            </a:r>
            <a:endParaRPr lang="zh-CN" altLang="en-US" sz="2400" dirty="0" smtClean="0">
              <a:latin typeface="Cambria" panose="02040503050406030204" pitchFamily="18" charset="0"/>
            </a:endParaRPr>
          </a:p>
        </p:txBody>
      </p:sp>
      <p:pic>
        <p:nvPicPr>
          <p:cNvPr id="29699"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05575" y="4264660"/>
            <a:ext cx="3218815" cy="2414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图片 3" descr="N22HSO[V}XOV6Y$7BKX1FSB"/>
          <p:cNvPicPr>
            <a:picLocks noChangeAspect="1"/>
          </p:cNvPicPr>
          <p:nvPr/>
        </p:nvPicPr>
        <p:blipFill>
          <a:blip r:embed="rId1"/>
          <a:stretch>
            <a:fillRect/>
          </a:stretch>
        </p:blipFill>
        <p:spPr>
          <a:xfrm>
            <a:off x="1844040" y="1905000"/>
            <a:ext cx="4633595" cy="2621280"/>
          </a:xfrm>
          <a:prstGeom prst="rect">
            <a:avLst/>
          </a:prstGeom>
        </p:spPr>
      </p:pic>
      <p:pic>
        <p:nvPicPr>
          <p:cNvPr id="5" name="图片 4" descr="XW4L1X{VH{E8{(GIG%LV@LW"/>
          <p:cNvPicPr>
            <a:picLocks noChangeAspect="1"/>
          </p:cNvPicPr>
          <p:nvPr/>
        </p:nvPicPr>
        <p:blipFill>
          <a:blip r:embed="rId2"/>
          <a:stretch>
            <a:fillRect/>
          </a:stretch>
        </p:blipFill>
        <p:spPr>
          <a:xfrm>
            <a:off x="6651625" y="1905000"/>
            <a:ext cx="4813300" cy="26212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文本框 18"/>
          <p:cNvSpPr txBox="1"/>
          <p:nvPr/>
        </p:nvSpPr>
        <p:spPr>
          <a:xfrm>
            <a:off x="2697795" y="2141889"/>
            <a:ext cx="7849624" cy="3192145"/>
          </a:xfrm>
          <a:prstGeom prst="rect">
            <a:avLst/>
          </a:prstGeom>
          <a:noFill/>
        </p:spPr>
        <p:txBody>
          <a:bodyPr wrap="square" rtlCol="0">
            <a:spAutoFit/>
          </a:bodyPr>
          <a:p>
            <a:pPr marL="342900" indent="-342900">
              <a:lnSpc>
                <a:spcPct val="120000"/>
              </a:lnSpc>
              <a:buClr>
                <a:schemeClr val="accent4"/>
              </a:buClr>
              <a:buSzPct val="100000"/>
              <a:buFont typeface="Wingdings" panose="05000000000000000000" pitchFamily="2" charset="2"/>
              <a:buChar char="n"/>
            </a:pPr>
            <a:r>
              <a:rPr lang="en-US" altLang="zh-CN" sz="2800" dirty="0">
                <a:latin typeface="Cambria" panose="02040503050406030204" pitchFamily="18" charset="0"/>
                <a:ea typeface="Cambria" panose="02040503050406030204" pitchFamily="18" charset="0"/>
              </a:rPr>
              <a:t>DBSCAN</a:t>
            </a:r>
            <a:r>
              <a:rPr lang="zh-CN" altLang="en-US" sz="2800" dirty="0">
                <a:latin typeface="Cambria" panose="02040503050406030204" pitchFamily="18" charset="0"/>
                <a:ea typeface="宋体" panose="02010600030101010101" pitchFamily="2" charset="-122"/>
              </a:rPr>
              <a:t>（Density-Based Spatial Clustering of Applications with Noise）</a:t>
            </a:r>
            <a:r>
              <a:rPr lang="zh-CN" altLang="zh-CN" sz="2800" dirty="0">
                <a:latin typeface="Cambria" panose="02040503050406030204" pitchFamily="18" charset="0"/>
              </a:rPr>
              <a:t>是典型的密度聚类算法，它利用两个参数</a:t>
            </a:r>
            <a:r>
              <a:rPr lang="en-US" altLang="zh-CN" sz="2800" dirty="0">
                <a:latin typeface="Cambria" panose="02040503050406030204" pitchFamily="18" charset="0"/>
                <a:ea typeface="Cambria" panose="02040503050406030204" pitchFamily="18" charset="0"/>
              </a:rPr>
              <a:t>ε</a:t>
            </a:r>
            <a:r>
              <a:rPr lang="zh-CN" altLang="zh-CN" sz="2800" dirty="0">
                <a:latin typeface="Cambria" panose="02040503050406030204" pitchFamily="18" charset="0"/>
              </a:rPr>
              <a:t>和</a:t>
            </a:r>
            <a:r>
              <a:rPr lang="en-US" altLang="zh-CN" sz="2800" dirty="0">
                <a:latin typeface="Cambria" panose="02040503050406030204" pitchFamily="18" charset="0"/>
                <a:ea typeface="Cambria" panose="02040503050406030204" pitchFamily="18" charset="0"/>
              </a:rPr>
              <a:t>m</a:t>
            </a:r>
            <a:r>
              <a:rPr lang="zh-CN" altLang="zh-CN" sz="2800" dirty="0">
                <a:latin typeface="Cambria" panose="02040503050406030204" pitchFamily="18" charset="0"/>
              </a:rPr>
              <a:t>描述样本点的紧密程度。</a:t>
            </a:r>
            <a:r>
              <a:rPr lang="zh-CN" altLang="zh-CN" sz="2800" dirty="0" smtClean="0">
                <a:latin typeface="Cambria" panose="02040503050406030204" pitchFamily="18" charset="0"/>
              </a:rPr>
              <a:t>对于</a:t>
            </a:r>
            <a:r>
              <a:rPr lang="zh-CN" altLang="zh-CN" sz="2800" dirty="0">
                <a:latin typeface="Cambria" panose="02040503050406030204" pitchFamily="18" charset="0"/>
              </a:rPr>
              <a:t>任一样本点，在其半径</a:t>
            </a:r>
            <a:r>
              <a:rPr lang="en-US" altLang="zh-CN" sz="2800" dirty="0">
                <a:latin typeface="Cambria" panose="02040503050406030204" pitchFamily="18" charset="0"/>
                <a:ea typeface="Cambria" panose="02040503050406030204" pitchFamily="18" charset="0"/>
              </a:rPr>
              <a:t>ε</a:t>
            </a:r>
            <a:r>
              <a:rPr lang="zh-CN" altLang="zh-CN" sz="2800" dirty="0">
                <a:latin typeface="Cambria" panose="02040503050406030204" pitchFamily="18" charset="0"/>
              </a:rPr>
              <a:t>的区域范围内所包含的样本点数量（包括其自身）就是该点的密度</a:t>
            </a:r>
            <a:r>
              <a:rPr lang="zh-CN" altLang="zh-CN" sz="2800" dirty="0" smtClean="0">
                <a:latin typeface="Cambria" panose="02040503050406030204" pitchFamily="18" charset="0"/>
              </a:rPr>
              <a:t>。</a:t>
            </a:r>
            <a:endParaRPr lang="zh-CN" altLang="zh-CN" sz="2800" dirty="0" smtClean="0">
              <a:latin typeface="Cambria" panose="02040503050406030204" pitchFamily="18" charset="0"/>
            </a:endParaRPr>
          </a:p>
        </p:txBody>
      </p:sp>
      <p:sp>
        <p:nvSpPr>
          <p:cNvPr id="16" name="内容占位符 3"/>
          <p:cNvSpPr txBox="1"/>
          <p:nvPr/>
        </p:nvSpPr>
        <p:spPr>
          <a:xfrm>
            <a:off x="2697659" y="1223883"/>
            <a:ext cx="5541113"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altLang="zh-CN" sz="3200" b="1" dirty="0" smtClean="0">
                <a:latin typeface="Cambria" panose="02040503050406030204" pitchFamily="18" charset="0"/>
                <a:ea typeface="Cambria" panose="02040503050406030204" pitchFamily="18" charset="0"/>
              </a:rPr>
              <a:t> </a:t>
            </a:r>
            <a:r>
              <a:rPr lang="en-US" altLang="zh-CN" sz="3200" b="1" dirty="0">
                <a:latin typeface="Cambria" panose="02040503050406030204" pitchFamily="18" charset="0"/>
                <a:ea typeface="Cambria" panose="02040503050406030204" pitchFamily="18" charset="0"/>
              </a:rPr>
              <a:t>DBSCAN</a:t>
            </a:r>
            <a:r>
              <a:rPr lang="zh-CN" altLang="zh-CN" sz="3200" b="1" dirty="0">
                <a:latin typeface="Cambria" panose="02040503050406030204" pitchFamily="18" charset="0"/>
              </a:rPr>
              <a:t>算法</a:t>
            </a:r>
            <a:endParaRPr lang="zh-CN" altLang="zh-CN" sz="3200" b="1" dirty="0">
              <a:latin typeface="Cambria" panose="020405030504060302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42405" y="704120"/>
            <a:ext cx="8911687" cy="1280890"/>
          </a:xfrm>
        </p:spPr>
        <p:txBody>
          <a:bodyPr>
            <a:normAutofit/>
          </a:bodyPr>
          <a:lstStyle/>
          <a:p>
            <a:r>
              <a:rPr lang="en-US" altLang="zh-CN" dirty="0" smtClean="0">
                <a:latin typeface="Cambria" panose="02040503050406030204" pitchFamily="18" charset="0"/>
                <a:ea typeface="Cambria" panose="02040503050406030204" pitchFamily="18" charset="0"/>
              </a:rPr>
              <a:t> </a:t>
            </a:r>
            <a:r>
              <a:rPr lang="zh-CN" altLang="zh-CN" dirty="0" smtClean="0">
                <a:latin typeface="Cambria" panose="02040503050406030204" pitchFamily="18" charset="0"/>
              </a:rPr>
              <a:t>密度</a:t>
            </a:r>
            <a:r>
              <a:rPr lang="zh-CN" altLang="zh-CN" dirty="0">
                <a:latin typeface="Cambria" panose="02040503050406030204" pitchFamily="18" charset="0"/>
              </a:rPr>
              <a:t>聚类</a:t>
            </a:r>
            <a:endParaRPr lang="zh-CN" altLang="en-US" dirty="0">
              <a:latin typeface="Cambria" panose="02040503050406030204" pitchFamily="18" charset="0"/>
            </a:endParaRPr>
          </a:p>
        </p:txBody>
      </p:sp>
      <p:sp>
        <p:nvSpPr>
          <p:cNvPr id="7" name="文本框 6"/>
          <p:cNvSpPr txBox="1"/>
          <p:nvPr/>
        </p:nvSpPr>
        <p:spPr>
          <a:xfrm>
            <a:off x="1594485" y="1750695"/>
            <a:ext cx="6196330" cy="4523105"/>
          </a:xfrm>
          <a:prstGeom prst="rect">
            <a:avLst/>
          </a:prstGeom>
          <a:noFill/>
        </p:spPr>
        <p:txBody>
          <a:bodyPr wrap="square" rtlCol="0">
            <a:spAutoFit/>
          </a:bodyPr>
          <a:lstStyle/>
          <a:p>
            <a:pPr marL="800100" lvl="1" indent="-342900">
              <a:lnSpc>
                <a:spcPct val="150000"/>
              </a:lnSpc>
              <a:buClr>
                <a:schemeClr val="accent2"/>
              </a:buClr>
              <a:buFont typeface="Arial" panose="020B0604020202020204" pitchFamily="34" charset="0"/>
              <a:buChar char="•"/>
            </a:pPr>
            <a:r>
              <a:rPr lang="zh-CN" altLang="zh-CN" sz="2400" b="1" dirty="0">
                <a:solidFill>
                  <a:srgbClr val="FF0000"/>
                </a:solidFill>
                <a:latin typeface="Cambria" panose="02040503050406030204" pitchFamily="18" charset="0"/>
              </a:rPr>
              <a:t>核心点</a:t>
            </a:r>
            <a:r>
              <a:rPr lang="zh-CN" altLang="zh-CN" sz="2400" dirty="0">
                <a:latin typeface="Cambria" panose="02040503050406030204" pitchFamily="18" charset="0"/>
              </a:rPr>
              <a:t>：以该点为圆心，半径为</a:t>
            </a:r>
            <a:r>
              <a:rPr lang="en-US" altLang="zh-CN" sz="2400" i="1" dirty="0">
                <a:latin typeface="Cambria" panose="02040503050406030204" pitchFamily="18" charset="0"/>
                <a:ea typeface="Cambria" panose="02040503050406030204" pitchFamily="18" charset="0"/>
              </a:rPr>
              <a:t>ε</a:t>
            </a:r>
            <a:r>
              <a:rPr lang="zh-CN" altLang="zh-CN" sz="2400" dirty="0">
                <a:latin typeface="Cambria" panose="02040503050406030204" pitchFamily="18" charset="0"/>
              </a:rPr>
              <a:t>区域内（即该点的</a:t>
            </a:r>
            <a:r>
              <a:rPr lang="en-US" altLang="zh-CN" sz="2400" dirty="0">
                <a:latin typeface="Cambria" panose="02040503050406030204" pitchFamily="18" charset="0"/>
                <a:ea typeface="Cambria" panose="02040503050406030204" pitchFamily="18" charset="0"/>
              </a:rPr>
              <a:t>ε</a:t>
            </a:r>
            <a:r>
              <a:rPr lang="zh-CN" altLang="zh-CN" sz="2400" dirty="0">
                <a:latin typeface="Cambria" panose="02040503050406030204" pitchFamily="18" charset="0"/>
              </a:rPr>
              <a:t>邻域）至少包括</a:t>
            </a:r>
            <a:r>
              <a:rPr lang="en-US" altLang="zh-CN" sz="2400" i="1" dirty="0">
                <a:latin typeface="Cambria" panose="02040503050406030204" pitchFamily="18" charset="0"/>
                <a:ea typeface="Cambria" panose="02040503050406030204" pitchFamily="18" charset="0"/>
              </a:rPr>
              <a:t>m</a:t>
            </a:r>
            <a:r>
              <a:rPr lang="zh-CN" altLang="zh-CN" sz="2400" dirty="0">
                <a:latin typeface="Cambria" panose="02040503050406030204" pitchFamily="18" charset="0"/>
              </a:rPr>
              <a:t>个样本点</a:t>
            </a:r>
            <a:r>
              <a:rPr lang="zh-CN" altLang="zh-CN" sz="2400" dirty="0" smtClean="0">
                <a:latin typeface="Cambria" panose="02040503050406030204" pitchFamily="18" charset="0"/>
              </a:rPr>
              <a:t>。</a:t>
            </a:r>
            <a:endParaRPr lang="en-US" altLang="zh-CN" sz="2400" dirty="0" smtClean="0">
              <a:latin typeface="Cambria" panose="02040503050406030204" pitchFamily="18" charset="0"/>
              <a:ea typeface="Cambria" panose="02040503050406030204" pitchFamily="18" charset="0"/>
            </a:endParaRPr>
          </a:p>
          <a:p>
            <a:pPr marL="800100" lvl="1" indent="-342900">
              <a:lnSpc>
                <a:spcPct val="150000"/>
              </a:lnSpc>
              <a:buClr>
                <a:schemeClr val="accent2"/>
              </a:buClr>
              <a:buFont typeface="Arial" panose="020B0604020202020204" pitchFamily="34" charset="0"/>
              <a:buChar char="•"/>
            </a:pPr>
            <a:r>
              <a:rPr lang="zh-CN" altLang="zh-CN" sz="2400" b="1" dirty="0" smtClean="0">
                <a:solidFill>
                  <a:srgbClr val="FF0000"/>
                </a:solidFill>
                <a:latin typeface="Cambria" panose="02040503050406030204" pitchFamily="18" charset="0"/>
              </a:rPr>
              <a:t>边界点</a:t>
            </a:r>
            <a:r>
              <a:rPr lang="zh-CN" altLang="zh-CN" sz="2400" dirty="0">
                <a:latin typeface="Cambria" panose="02040503050406030204" pitchFamily="18" charset="0"/>
              </a:rPr>
              <a:t>：该点的</a:t>
            </a:r>
            <a:r>
              <a:rPr lang="en-US" altLang="zh-CN" sz="2400" i="1" dirty="0">
                <a:latin typeface="Cambria" panose="02040503050406030204" pitchFamily="18" charset="0"/>
                <a:ea typeface="Cambria" panose="02040503050406030204" pitchFamily="18" charset="0"/>
              </a:rPr>
              <a:t>ε</a:t>
            </a:r>
            <a:r>
              <a:rPr lang="zh-CN" altLang="zh-CN" sz="2400" dirty="0">
                <a:latin typeface="Cambria" panose="02040503050406030204" pitchFamily="18" charset="0"/>
              </a:rPr>
              <a:t>邻域内包括的样本点个数少于</a:t>
            </a:r>
            <a:r>
              <a:rPr lang="en-US" altLang="zh-CN" sz="2400" i="1" dirty="0">
                <a:latin typeface="Cambria" panose="02040503050406030204" pitchFamily="18" charset="0"/>
                <a:ea typeface="Cambria" panose="02040503050406030204" pitchFamily="18" charset="0"/>
              </a:rPr>
              <a:t>m</a:t>
            </a:r>
            <a:r>
              <a:rPr lang="zh-CN" altLang="zh-CN" sz="2400" dirty="0">
                <a:latin typeface="Cambria" panose="02040503050406030204" pitchFamily="18" charset="0"/>
              </a:rPr>
              <a:t>，但是在某核心点的</a:t>
            </a:r>
            <a:r>
              <a:rPr lang="en-US" altLang="zh-CN" sz="2400" dirty="0">
                <a:latin typeface="Cambria" panose="02040503050406030204" pitchFamily="18" charset="0"/>
                <a:ea typeface="Cambria" panose="02040503050406030204" pitchFamily="18" charset="0"/>
              </a:rPr>
              <a:t>ε</a:t>
            </a:r>
            <a:r>
              <a:rPr lang="zh-CN" altLang="zh-CN" sz="2400" dirty="0">
                <a:latin typeface="Cambria" panose="02040503050406030204" pitchFamily="18" charset="0"/>
              </a:rPr>
              <a:t>邻域内。</a:t>
            </a:r>
            <a:endParaRPr lang="zh-CN" altLang="zh-CN" sz="2400" dirty="0">
              <a:latin typeface="Cambria" panose="02040503050406030204" pitchFamily="18" charset="0"/>
            </a:endParaRPr>
          </a:p>
          <a:p>
            <a:pPr marL="800100" lvl="1" indent="-342900">
              <a:lnSpc>
                <a:spcPct val="150000"/>
              </a:lnSpc>
              <a:buClr>
                <a:schemeClr val="accent2"/>
              </a:buClr>
              <a:buFont typeface="Arial" panose="020B0604020202020204" pitchFamily="34" charset="0"/>
              <a:buChar char="•"/>
            </a:pPr>
            <a:r>
              <a:rPr lang="zh-CN" altLang="zh-CN" sz="2400" b="1" dirty="0" smtClean="0">
                <a:solidFill>
                  <a:srgbClr val="FF0000"/>
                </a:solidFill>
                <a:latin typeface="Cambria" panose="02040503050406030204" pitchFamily="18" charset="0"/>
              </a:rPr>
              <a:t>噪音</a:t>
            </a:r>
            <a:r>
              <a:rPr lang="zh-CN" altLang="zh-CN" sz="2400" b="1" dirty="0">
                <a:solidFill>
                  <a:srgbClr val="FF0000"/>
                </a:solidFill>
                <a:latin typeface="Cambria" panose="02040503050406030204" pitchFamily="18" charset="0"/>
              </a:rPr>
              <a:t>点</a:t>
            </a:r>
            <a:r>
              <a:rPr lang="zh-CN" altLang="zh-CN" sz="2400" dirty="0">
                <a:latin typeface="Cambria" panose="02040503050406030204" pitchFamily="18" charset="0"/>
              </a:rPr>
              <a:t>：既不是核心点，也不是边界点的点</a:t>
            </a:r>
            <a:endParaRPr lang="zh-CN" altLang="zh-CN" sz="2400" dirty="0">
              <a:latin typeface="Cambria" panose="02040503050406030204" pitchFamily="18" charset="0"/>
            </a:endParaRPr>
          </a:p>
        </p:txBody>
      </p:sp>
      <p:pic>
        <p:nvPicPr>
          <p:cNvPr id="18" name="图片 17"/>
          <p:cNvPicPr/>
          <p:nvPr/>
        </p:nvPicPr>
        <p:blipFill>
          <a:blip r:embed="rId1">
            <a:extLst>
              <a:ext uri="{28A0092B-C50C-407E-A947-70E740481C1C}">
                <a14:useLocalDpi xmlns:a14="http://schemas.microsoft.com/office/drawing/2010/main" val="0"/>
              </a:ext>
            </a:extLst>
          </a:blip>
          <a:stretch>
            <a:fillRect/>
          </a:stretch>
        </p:blipFill>
        <p:spPr>
          <a:xfrm>
            <a:off x="7990840" y="2193925"/>
            <a:ext cx="3615690" cy="316484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 name="图片 19"/>
          <p:cNvPicPr/>
          <p:nvPr/>
        </p:nvPicPr>
        <p:blipFill>
          <a:blip r:embed="rId1">
            <a:extLst>
              <a:ext uri="{28A0092B-C50C-407E-A947-70E740481C1C}">
                <a14:useLocalDpi xmlns:a14="http://schemas.microsoft.com/office/drawing/2010/main" val="0"/>
              </a:ext>
            </a:extLst>
          </a:blip>
          <a:stretch>
            <a:fillRect/>
          </a:stretch>
        </p:blipFill>
        <p:spPr>
          <a:xfrm>
            <a:off x="1684581" y="2422014"/>
            <a:ext cx="3805555" cy="2447925"/>
          </a:xfrm>
          <a:prstGeom prst="rect">
            <a:avLst/>
          </a:prstGeom>
        </p:spPr>
      </p:pic>
      <p:sp>
        <p:nvSpPr>
          <p:cNvPr id="21" name="文本框 20"/>
          <p:cNvSpPr txBox="1"/>
          <p:nvPr/>
        </p:nvSpPr>
        <p:spPr>
          <a:xfrm>
            <a:off x="5701030" y="1817370"/>
            <a:ext cx="5766435" cy="4521835"/>
          </a:xfrm>
          <a:prstGeom prst="rect">
            <a:avLst/>
          </a:prstGeom>
          <a:noFill/>
        </p:spPr>
        <p:txBody>
          <a:bodyPr wrap="square" rtlCol="0">
            <a:spAutoFit/>
          </a:bodyPr>
          <a:p>
            <a:pPr marL="742950" lvl="1" indent="-285750">
              <a:lnSpc>
                <a:spcPct val="120000"/>
              </a:lnSpc>
              <a:buClr>
                <a:schemeClr val="accent2"/>
              </a:buClr>
              <a:buFont typeface="Arial" panose="020B0604020202020204" pitchFamily="34" charset="0"/>
              <a:buChar char="•"/>
            </a:pPr>
            <a:r>
              <a:rPr lang="zh-CN" altLang="zh-CN" sz="2400" dirty="0" smtClean="0">
                <a:latin typeface="Cambria" panose="02040503050406030204" pitchFamily="18" charset="0"/>
              </a:rPr>
              <a:t>将</a:t>
            </a:r>
            <a:r>
              <a:rPr lang="zh-CN" altLang="zh-CN" sz="2400" dirty="0">
                <a:latin typeface="Cambria" panose="02040503050406030204" pitchFamily="18" charset="0"/>
              </a:rPr>
              <a:t>所有点</a:t>
            </a:r>
            <a:r>
              <a:rPr lang="zh-CN" altLang="zh-CN" sz="2400" b="1" dirty="0">
                <a:solidFill>
                  <a:srgbClr val="FF0000"/>
                </a:solidFill>
                <a:latin typeface="Cambria" panose="02040503050406030204" pitchFamily="18" charset="0"/>
              </a:rPr>
              <a:t>标记</a:t>
            </a:r>
            <a:r>
              <a:rPr lang="zh-CN" altLang="zh-CN" sz="2400" dirty="0">
                <a:latin typeface="Cambria" panose="02040503050406030204" pitchFamily="18" charset="0"/>
              </a:rPr>
              <a:t>为核心点、边界点以及噪音点，比如</a:t>
            </a:r>
            <a:r>
              <a:rPr lang="zh-CN" altLang="zh-CN" sz="2400" dirty="0" smtClean="0">
                <a:latin typeface="Cambria" panose="02040503050406030204" pitchFamily="18" charset="0"/>
              </a:rPr>
              <a:t>：红色为</a:t>
            </a:r>
            <a:r>
              <a:rPr lang="zh-CN" altLang="zh-CN" sz="2400" dirty="0">
                <a:latin typeface="Cambria" panose="02040503050406030204" pitchFamily="18" charset="0"/>
              </a:rPr>
              <a:t>核心点，</a:t>
            </a:r>
            <a:r>
              <a:rPr lang="zh-CN" altLang="zh-CN" sz="2400" dirty="0" smtClean="0">
                <a:latin typeface="Cambria" panose="02040503050406030204" pitchFamily="18" charset="0"/>
              </a:rPr>
              <a:t>黄色为</a:t>
            </a:r>
            <a:r>
              <a:rPr lang="zh-CN" altLang="zh-CN" sz="2400" dirty="0">
                <a:latin typeface="Cambria" panose="02040503050406030204" pitchFamily="18" charset="0"/>
              </a:rPr>
              <a:t>边界点</a:t>
            </a:r>
            <a:r>
              <a:rPr lang="zh-CN" altLang="zh-CN" sz="2400" dirty="0" smtClean="0">
                <a:latin typeface="Cambria" panose="02040503050406030204" pitchFamily="18" charset="0"/>
              </a:rPr>
              <a:t>，蓝色为</a:t>
            </a:r>
            <a:r>
              <a:rPr lang="zh-CN" altLang="zh-CN" sz="2400" dirty="0">
                <a:latin typeface="Cambria" panose="02040503050406030204" pitchFamily="18" charset="0"/>
              </a:rPr>
              <a:t>噪声点</a:t>
            </a:r>
            <a:r>
              <a:rPr lang="zh-CN" altLang="zh-CN" sz="2400" dirty="0" smtClean="0">
                <a:latin typeface="Cambria" panose="02040503050406030204" pitchFamily="18" charset="0"/>
              </a:rPr>
              <a:t>；</a:t>
            </a:r>
            <a:endParaRPr lang="en-US" altLang="zh-CN" sz="2400" dirty="0" smtClean="0">
              <a:latin typeface="Cambria" panose="02040503050406030204" pitchFamily="18" charset="0"/>
              <a:ea typeface="Cambria" panose="02040503050406030204" pitchFamily="18" charset="0"/>
            </a:endParaRPr>
          </a:p>
          <a:p>
            <a:pPr marL="742950" lvl="1" indent="-285750">
              <a:lnSpc>
                <a:spcPct val="120000"/>
              </a:lnSpc>
              <a:buClr>
                <a:schemeClr val="accent2"/>
              </a:buClr>
              <a:buFont typeface="Arial" panose="020B0604020202020204" pitchFamily="34" charset="0"/>
              <a:buChar char="•"/>
            </a:pPr>
            <a:r>
              <a:rPr lang="zh-CN" altLang="zh-CN" sz="2400" dirty="0" smtClean="0">
                <a:latin typeface="Cambria" panose="02040503050406030204" pitchFamily="18" charset="0"/>
              </a:rPr>
              <a:t>将</a:t>
            </a:r>
            <a:r>
              <a:rPr lang="zh-CN" altLang="zh-CN" sz="2400" dirty="0">
                <a:latin typeface="Cambria" panose="02040503050406030204" pitchFamily="18" charset="0"/>
              </a:rPr>
              <a:t>任意两个距离小于</a:t>
            </a:r>
            <a:r>
              <a:rPr lang="en-US" altLang="zh-CN" sz="2400" i="1" dirty="0">
                <a:latin typeface="Cambria" panose="02040503050406030204" pitchFamily="18" charset="0"/>
                <a:ea typeface="Cambria" panose="02040503050406030204" pitchFamily="18" charset="0"/>
              </a:rPr>
              <a:t>ε</a:t>
            </a:r>
            <a:r>
              <a:rPr lang="zh-CN" altLang="zh-CN" sz="2400" dirty="0">
                <a:latin typeface="Cambria" panose="02040503050406030204" pitchFamily="18" charset="0"/>
              </a:rPr>
              <a:t>的核心</a:t>
            </a:r>
            <a:r>
              <a:rPr lang="zh-CN" altLang="zh-CN" sz="2400" dirty="0" smtClean="0">
                <a:latin typeface="Cambria" panose="02040503050406030204" pitchFamily="18" charset="0"/>
              </a:rPr>
              <a:t>点</a:t>
            </a:r>
            <a:r>
              <a:rPr lang="zh-CN" altLang="en-US" sz="2400" b="1" dirty="0" smtClean="0">
                <a:solidFill>
                  <a:srgbClr val="FF0000"/>
                </a:solidFill>
                <a:latin typeface="Cambria" panose="02040503050406030204" pitchFamily="18" charset="0"/>
              </a:rPr>
              <a:t>融合</a:t>
            </a:r>
            <a:r>
              <a:rPr lang="zh-CN" altLang="zh-CN" sz="2400" dirty="0" smtClean="0">
                <a:latin typeface="Cambria" panose="02040503050406030204" pitchFamily="18" charset="0"/>
              </a:rPr>
              <a:t>为</a:t>
            </a:r>
            <a:r>
              <a:rPr lang="zh-CN" altLang="zh-CN" sz="2400" dirty="0">
                <a:latin typeface="Cambria" panose="02040503050406030204" pitchFamily="18" charset="0"/>
              </a:rPr>
              <a:t>同一个聚类</a:t>
            </a:r>
            <a:r>
              <a:rPr lang="zh-CN" altLang="zh-CN" sz="2400" dirty="0" smtClean="0">
                <a:latin typeface="Cambria" panose="02040503050406030204" pitchFamily="18" charset="0"/>
              </a:rPr>
              <a:t>；将</a:t>
            </a:r>
            <a:r>
              <a:rPr lang="zh-CN" altLang="zh-CN" sz="2400" dirty="0">
                <a:latin typeface="Cambria" panose="02040503050406030204" pitchFamily="18" charset="0"/>
              </a:rPr>
              <a:t>任意核心点的</a:t>
            </a:r>
            <a:r>
              <a:rPr lang="en-US" altLang="zh-CN" sz="2400" i="1" dirty="0">
                <a:latin typeface="Cambria" panose="02040503050406030204" pitchFamily="18" charset="0"/>
                <a:ea typeface="Cambria" panose="02040503050406030204" pitchFamily="18" charset="0"/>
              </a:rPr>
              <a:t>ε</a:t>
            </a:r>
            <a:r>
              <a:rPr lang="zh-CN" altLang="zh-CN" sz="2400" dirty="0">
                <a:latin typeface="Cambria" panose="02040503050406030204" pitchFamily="18" charset="0"/>
              </a:rPr>
              <a:t>邻域内的边界点也放到与之相同的聚类</a:t>
            </a:r>
            <a:r>
              <a:rPr lang="zh-CN" altLang="zh-CN" sz="2400" dirty="0" smtClean="0">
                <a:latin typeface="Cambria" panose="02040503050406030204" pitchFamily="18" charset="0"/>
              </a:rPr>
              <a:t>中</a:t>
            </a:r>
            <a:r>
              <a:rPr lang="zh-CN" altLang="en-US" sz="2400" dirty="0" smtClean="0">
                <a:latin typeface="Cambria" panose="02040503050406030204" pitchFamily="18" charset="0"/>
              </a:rPr>
              <a:t>；</a:t>
            </a:r>
            <a:endParaRPr lang="en-US" altLang="zh-CN" sz="2400" dirty="0" smtClean="0">
              <a:latin typeface="Cambria" panose="02040503050406030204" pitchFamily="18" charset="0"/>
              <a:ea typeface="Cambria" panose="02040503050406030204" pitchFamily="18" charset="0"/>
            </a:endParaRPr>
          </a:p>
          <a:p>
            <a:pPr marL="742950" lvl="1" indent="-285750">
              <a:lnSpc>
                <a:spcPct val="120000"/>
              </a:lnSpc>
              <a:buClr>
                <a:schemeClr val="accent2"/>
              </a:buClr>
              <a:buFont typeface="Arial" panose="020B0604020202020204" pitchFamily="34" charset="0"/>
              <a:buChar char="•"/>
            </a:pPr>
            <a:r>
              <a:rPr lang="zh-CN" altLang="zh-CN" sz="2400" dirty="0">
                <a:latin typeface="Cambria" panose="02040503050406030204" pitchFamily="18" charset="0"/>
              </a:rPr>
              <a:t>从这个过程来看，</a:t>
            </a:r>
            <a:r>
              <a:rPr lang="en-US" altLang="zh-CN" sz="2400" dirty="0">
                <a:latin typeface="Cambria" panose="02040503050406030204" pitchFamily="18" charset="0"/>
                <a:ea typeface="Cambria" panose="02040503050406030204" pitchFamily="18" charset="0"/>
              </a:rPr>
              <a:t>DBSCAN</a:t>
            </a:r>
            <a:r>
              <a:rPr lang="zh-CN" altLang="zh-CN" sz="2400" dirty="0">
                <a:latin typeface="Cambria" panose="02040503050406030204" pitchFamily="18" charset="0"/>
              </a:rPr>
              <a:t>算法的本质是</a:t>
            </a:r>
            <a:r>
              <a:rPr lang="zh-CN" altLang="zh-CN" sz="2400" b="1" dirty="0">
                <a:solidFill>
                  <a:srgbClr val="C00000"/>
                </a:solidFill>
                <a:latin typeface="Cambria" panose="02040503050406030204" pitchFamily="18" charset="0"/>
              </a:rPr>
              <a:t>寻找聚类并不断扩展聚类的过程</a:t>
            </a:r>
            <a:r>
              <a:rPr lang="zh-CN" altLang="zh-CN" sz="2400" dirty="0">
                <a:latin typeface="Cambria" panose="02040503050406030204" pitchFamily="18" charset="0"/>
              </a:rPr>
              <a:t>。</a:t>
            </a:r>
            <a:endParaRPr lang="zh-CN" altLang="zh-CN" sz="2400" dirty="0" smtClean="0">
              <a:latin typeface="Cambria" panose="02040503050406030204" pitchFamily="18" charset="0"/>
              <a:ea typeface="Cambria" panose="02040503050406030204" pitchFamily="18" charset="0"/>
            </a:endParaRPr>
          </a:p>
        </p:txBody>
      </p:sp>
      <p:sp>
        <p:nvSpPr>
          <p:cNvPr id="19" name="文本框 18"/>
          <p:cNvSpPr txBox="1"/>
          <p:nvPr/>
        </p:nvSpPr>
        <p:spPr>
          <a:xfrm>
            <a:off x="2104316" y="933549"/>
            <a:ext cx="4896544" cy="534035"/>
          </a:xfrm>
          <a:prstGeom prst="rect">
            <a:avLst/>
          </a:prstGeom>
          <a:noFill/>
        </p:spPr>
        <p:txBody>
          <a:bodyPr wrap="square" rtlCol="0">
            <a:spAutoFit/>
          </a:bodyPr>
          <a:p>
            <a:pPr marL="342900" indent="-342900">
              <a:lnSpc>
                <a:spcPct val="120000"/>
              </a:lnSpc>
              <a:buClr>
                <a:schemeClr val="accent4"/>
              </a:buClr>
              <a:buSzPct val="100000"/>
              <a:buFont typeface="Wingdings" panose="05000000000000000000" pitchFamily="2" charset="2"/>
              <a:buChar char="n"/>
            </a:pPr>
            <a:r>
              <a:rPr lang="en-US" altLang="zh-CN" sz="2400" dirty="0">
                <a:latin typeface="Cambria" panose="02040503050406030204" pitchFamily="18" charset="0"/>
                <a:ea typeface="Cambria" panose="02040503050406030204" pitchFamily="18" charset="0"/>
              </a:rPr>
              <a:t>DBSCAN</a:t>
            </a:r>
            <a:r>
              <a:rPr lang="zh-CN" altLang="zh-CN" sz="2400" dirty="0">
                <a:latin typeface="Cambria" panose="02040503050406030204" pitchFamily="18" charset="0"/>
              </a:rPr>
              <a:t>算法发现聚类的过程</a:t>
            </a:r>
            <a:endParaRPr lang="zh-CN" altLang="zh-CN" sz="2400" dirty="0">
              <a:latin typeface="Cambria" panose="020405030504060302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280592" y="1556792"/>
                <a:ext cx="8346723" cy="4503285"/>
              </a:xfrm>
            </p:spPr>
            <p:txBody>
              <a:bodyPr>
                <a:normAutofit fontScale="77500" lnSpcReduction="20000"/>
              </a:bodyPr>
              <a:lstStyle/>
              <a:p>
                <a:pPr>
                  <a:lnSpc>
                    <a:spcPct val="170000"/>
                  </a:lnSpc>
                </a:pPr>
                <a:r>
                  <a:rPr lang="zh-CN" altLang="en-US" dirty="0" smtClean="0">
                    <a:latin typeface="Cambria" panose="02040503050406030204" pitchFamily="18" charset="0"/>
                    <a:ea typeface="+mn-ea"/>
                  </a:rPr>
                  <a:t>对于样本集</a:t>
                </a:r>
                <a14:m>
                  <m:oMath xmlns:m="http://schemas.openxmlformats.org/officeDocument/2006/math">
                    <m:r>
                      <a:rPr lang="en-US" altLang="zh-CN" b="0" i="1" smtClean="0">
                        <a:latin typeface="Cambria Math"/>
                        <a:ea typeface="+mn-ea"/>
                      </a:rPr>
                      <m:t>𝐷</m:t>
                    </m:r>
                    <m:r>
                      <a:rPr lang="en-US" altLang="zh-CN" b="0" i="1" smtClean="0">
                        <a:latin typeface="Cambria Math"/>
                        <a:ea typeface="+mn-ea"/>
                      </a:rPr>
                      <m:t>=</m:t>
                    </m:r>
                    <m:d>
                      <m:dPr>
                        <m:begChr m:val="{"/>
                        <m:endChr m:val="}"/>
                        <m:ctrlPr>
                          <a:rPr lang="en-US" altLang="zh-CN" b="0" i="1" smtClean="0">
                            <a:latin typeface="Cambria Math"/>
                            <a:ea typeface="+mn-ea"/>
                          </a:rPr>
                        </m:ctrlPr>
                      </m:dPr>
                      <m:e>
                        <m:sSub>
                          <m:sSubPr>
                            <m:ctrlPr>
                              <a:rPr lang="en-US" altLang="zh-CN" b="0" i="1" smtClean="0">
                                <a:latin typeface="Cambria Math"/>
                                <a:ea typeface="+mn-ea"/>
                              </a:rPr>
                            </m:ctrlPr>
                          </m:sSubPr>
                          <m:e>
                            <m:r>
                              <a:rPr lang="en-US" altLang="zh-CN" b="1" i="1" smtClean="0">
                                <a:latin typeface="Cambria Math"/>
                                <a:ea typeface="+mn-ea"/>
                              </a:rPr>
                              <m:t>𝒙</m:t>
                            </m:r>
                          </m:e>
                          <m:sub>
                            <m:r>
                              <a:rPr lang="en-US" altLang="zh-CN" b="0" i="1" smtClean="0">
                                <a:latin typeface="Cambria Math"/>
                                <a:ea typeface="+mn-ea"/>
                              </a:rPr>
                              <m:t>1</m:t>
                            </m:r>
                          </m:sub>
                        </m:sSub>
                        <m:r>
                          <a:rPr lang="en-US" altLang="zh-CN" b="0" i="1" smtClean="0">
                            <a:latin typeface="Cambria Math"/>
                            <a:ea typeface="+mn-ea"/>
                          </a:rPr>
                          <m:t>,</m:t>
                        </m:r>
                        <m:sSub>
                          <m:sSubPr>
                            <m:ctrlPr>
                              <a:rPr lang="en-US" altLang="zh-CN" b="0" i="1" smtClean="0">
                                <a:latin typeface="Cambria Math"/>
                                <a:ea typeface="+mn-ea"/>
                              </a:rPr>
                            </m:ctrlPr>
                          </m:sSubPr>
                          <m:e>
                            <m:r>
                              <a:rPr lang="en-US" altLang="zh-CN" b="1" i="1" smtClean="0">
                                <a:latin typeface="Cambria Math"/>
                                <a:ea typeface="+mn-ea"/>
                              </a:rPr>
                              <m:t>𝒙</m:t>
                            </m:r>
                          </m:e>
                          <m:sub>
                            <m:r>
                              <a:rPr lang="en-US" altLang="zh-CN" b="0" i="1" smtClean="0">
                                <a:latin typeface="Cambria Math"/>
                                <a:ea typeface="+mn-ea"/>
                              </a:rPr>
                              <m:t>2</m:t>
                            </m:r>
                          </m:sub>
                        </m:sSub>
                        <m:r>
                          <a:rPr lang="en-US" altLang="zh-CN" b="0" i="1" smtClean="0">
                            <a:latin typeface="Cambria Math"/>
                            <a:ea typeface="+mn-ea"/>
                          </a:rPr>
                          <m:t>,⋯,</m:t>
                        </m:r>
                        <m:sSub>
                          <m:sSubPr>
                            <m:ctrlPr>
                              <a:rPr lang="en-US" altLang="zh-CN" b="0" i="1" smtClean="0">
                                <a:latin typeface="Cambria Math"/>
                                <a:ea typeface="+mn-ea"/>
                              </a:rPr>
                            </m:ctrlPr>
                          </m:sSubPr>
                          <m:e>
                            <m:r>
                              <a:rPr lang="en-US" altLang="zh-CN" b="1" i="1" smtClean="0">
                                <a:latin typeface="Cambria Math"/>
                                <a:ea typeface="+mn-ea"/>
                              </a:rPr>
                              <m:t>𝒙</m:t>
                            </m:r>
                          </m:e>
                          <m:sub>
                            <m:r>
                              <a:rPr lang="en-US" altLang="zh-CN" b="0" i="1" smtClean="0">
                                <a:latin typeface="Cambria Math"/>
                                <a:ea typeface="+mn-ea"/>
                              </a:rPr>
                              <m:t>𝑚</m:t>
                            </m:r>
                          </m:sub>
                        </m:sSub>
                      </m:e>
                    </m:d>
                  </m:oMath>
                </a14:m>
                <a:r>
                  <a:rPr lang="zh-CN" altLang="en-US" dirty="0" smtClean="0">
                    <a:latin typeface="Cambria" panose="02040503050406030204" pitchFamily="18" charset="0"/>
                    <a:ea typeface="+mn-ea"/>
                  </a:rPr>
                  <a:t>，邻域参数</a:t>
                </a:r>
                <a14:m>
                  <m:oMath xmlns:m="http://schemas.openxmlformats.org/officeDocument/2006/math">
                    <m:d>
                      <m:dPr>
                        <m:ctrlPr>
                          <a:rPr lang="en-US" altLang="zh-CN" i="1" smtClean="0">
                            <a:latin typeface="Cambria Math"/>
                            <a:ea typeface="+mn-ea"/>
                          </a:rPr>
                        </m:ctrlPr>
                      </m:dPr>
                      <m:e>
                        <m:r>
                          <a:rPr lang="zh-CN" altLang="en-US" i="1" smtClean="0">
                            <a:latin typeface="Cambria Math"/>
                            <a:ea typeface="+mn-ea"/>
                          </a:rPr>
                          <m:t>𝜀</m:t>
                        </m:r>
                        <m:r>
                          <a:rPr lang="en-US" altLang="zh-CN" b="0" i="1" smtClean="0">
                            <a:latin typeface="Cambria Math"/>
                            <a:ea typeface="+mn-ea"/>
                          </a:rPr>
                          <m:t>,</m:t>
                        </m:r>
                        <m:r>
                          <a:rPr lang="en-US" altLang="zh-CN" b="0" i="1" smtClean="0">
                            <a:latin typeface="Cambria Math"/>
                            <a:ea typeface="+mn-ea"/>
                          </a:rPr>
                          <m:t>𝑀𝑖𝑛𝑃𝑡𝑠</m:t>
                        </m:r>
                      </m:e>
                    </m:d>
                    <m:r>
                      <a:rPr lang="zh-CN" altLang="en-US" i="1">
                        <a:latin typeface="Cambria Math"/>
                        <a:ea typeface="+mn-ea"/>
                      </a:rPr>
                      <m:t>。</m:t>
                    </m:r>
                  </m:oMath>
                </a14:m>
                <a:endParaRPr lang="en-US" altLang="zh-CN" dirty="0" smtClean="0">
                  <a:latin typeface="Cambria" panose="02040503050406030204" pitchFamily="18" charset="0"/>
                  <a:ea typeface="Cambria" panose="02040503050406030204" pitchFamily="18" charset="0"/>
                </a:endParaRPr>
              </a:p>
              <a:p>
                <a:pPr>
                  <a:lnSpc>
                    <a:spcPct val="170000"/>
                  </a:lnSpc>
                </a:pPr>
                <a:r>
                  <a:rPr lang="zh-CN" altLang="en-US" dirty="0" smtClean="0">
                    <a:latin typeface="Cambria" panose="02040503050406030204" pitchFamily="18" charset="0"/>
                    <a:ea typeface="+mn-ea"/>
                  </a:rPr>
                  <a:t>（</a:t>
                </a:r>
                <a:r>
                  <a:rPr lang="en-US" altLang="zh-CN" dirty="0" smtClean="0">
                    <a:latin typeface="Cambria" panose="02040503050406030204" pitchFamily="18" charset="0"/>
                    <a:ea typeface="+mn-ea"/>
                  </a:rPr>
                  <a:t>1</a:t>
                </a:r>
                <a:r>
                  <a:rPr lang="zh-CN" altLang="en-US" dirty="0" smtClean="0">
                    <a:latin typeface="Cambria" panose="02040503050406030204" pitchFamily="18" charset="0"/>
                    <a:ea typeface="+mn-ea"/>
                  </a:rPr>
                  <a:t>）初始化核心对象</a:t>
                </a:r>
                <a14:m>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Ω</m:t>
                    </m:r>
                    <m:r>
                      <a:rPr lang="en-US" altLang="zh-CN" i="1">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m:t>
                    </m:r>
                  </m:oMath>
                </a14:m>
                <a:r>
                  <a:rPr lang="zh-CN" altLang="en-US" dirty="0" smtClean="0">
                    <a:latin typeface="Cambria" panose="02040503050406030204" pitchFamily="18" charset="0"/>
                    <a:ea typeface="+mn-ea"/>
                  </a:rPr>
                  <a:t>，聚类簇数</a:t>
                </a:r>
                <a14:m>
                  <m:oMath xmlns:m="http://schemas.openxmlformats.org/officeDocument/2006/math">
                    <m:r>
                      <a:rPr lang="en-US" altLang="zh-CN" b="0" i="1" smtClean="0">
                        <a:latin typeface="Cambria Math" panose="02040503050406030204" pitchFamily="18" charset="0"/>
                        <a:ea typeface="+mn-ea"/>
                      </a:rPr>
                      <m:t>𝑘</m:t>
                    </m:r>
                    <m:r>
                      <a:rPr lang="en-US" altLang="zh-CN" b="0" i="1" smtClean="0">
                        <a:latin typeface="Cambria Math" panose="02040503050406030204" pitchFamily="18" charset="0"/>
                        <a:ea typeface="+mn-ea"/>
                      </a:rPr>
                      <m:t>=0</m:t>
                    </m:r>
                  </m:oMath>
                </a14:m>
                <a:r>
                  <a:rPr lang="zh-CN" altLang="en-US" dirty="0" smtClean="0">
                    <a:latin typeface="Cambria" panose="02040503050406030204" pitchFamily="18" charset="0"/>
                    <a:ea typeface="+mn-ea"/>
                  </a:rPr>
                  <a:t>，未访问样本集合</a:t>
                </a:r>
                <a14:m>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Γ</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𝐷</m:t>
                    </m:r>
                  </m:oMath>
                </a14:m>
                <a:r>
                  <a:rPr lang="zh-CN" altLang="en-US" dirty="0" smtClean="0">
                    <a:latin typeface="Cambria" panose="02040503050406030204" pitchFamily="18" charset="0"/>
                    <a:ea typeface="+mn-ea"/>
                  </a:rPr>
                  <a:t>，簇划分</a:t>
                </a:r>
                <a14:m>
                  <m:oMath xmlns:m="http://schemas.openxmlformats.org/officeDocument/2006/math">
                    <m:r>
                      <a:rPr lang="en-US" altLang="zh-CN" b="0" i="1" smtClean="0">
                        <a:latin typeface="Cambria Math" panose="02040503050406030204" pitchFamily="18" charset="0"/>
                        <a:ea typeface="+mn-ea"/>
                      </a:rPr>
                      <m:t>𝐶</m:t>
                    </m:r>
                    <m:r>
                      <a:rPr lang="en-US" altLang="zh-CN" b="0" i="1" smtClean="0">
                        <a:latin typeface="Cambria Math" panose="02040503050406030204" pitchFamily="18" charset="0"/>
                        <a:ea typeface="+mn-ea"/>
                      </a:rPr>
                      <m:t>=</m:t>
                    </m:r>
                    <m:r>
                      <a:rPr lang="zh-CN" altLang="en-US" b="0" i="1" smtClean="0">
                        <a:latin typeface="Cambria Math" panose="02040503050406030204" pitchFamily="18" charset="0"/>
                        <a:ea typeface="+mn-ea"/>
                      </a:rPr>
                      <m:t>𝜙</m:t>
                    </m:r>
                  </m:oMath>
                </a14:m>
                <a:endParaRPr lang="en-US" altLang="zh-CN" b="0" dirty="0" smtClean="0">
                  <a:latin typeface="Cambria" panose="02040503050406030204" pitchFamily="18" charset="0"/>
                  <a:ea typeface="+mn-ea"/>
                </a:endParaRPr>
              </a:p>
              <a:p>
                <a:pPr>
                  <a:lnSpc>
                    <a:spcPct val="170000"/>
                  </a:lnSpc>
                </a:pPr>
                <a:r>
                  <a:rPr lang="zh-CN" altLang="en-US" dirty="0" smtClean="0">
                    <a:latin typeface="Cambria" panose="02040503050406030204" pitchFamily="18" charset="0"/>
                    <a:ea typeface="+mn-ea"/>
                  </a:rPr>
                  <a:t>（</a:t>
                </a:r>
                <a:r>
                  <a:rPr lang="en-US" altLang="zh-CN" dirty="0" smtClean="0">
                    <a:latin typeface="Cambria" panose="02040503050406030204" pitchFamily="18" charset="0"/>
                    <a:ea typeface="+mn-ea"/>
                  </a:rPr>
                  <a:t>2</a:t>
                </a:r>
                <a:r>
                  <a:rPr lang="zh-CN" altLang="en-US" dirty="0" smtClean="0">
                    <a:latin typeface="Cambria" panose="02040503050406030204" pitchFamily="18" charset="0"/>
                    <a:ea typeface="+mn-ea"/>
                  </a:rPr>
                  <a:t>）对于</a:t>
                </a:r>
                <a14:m>
                  <m:oMath xmlns:m="http://schemas.openxmlformats.org/officeDocument/2006/math">
                    <m:r>
                      <a:rPr lang="en-US" altLang="zh-CN" b="0" i="1" smtClean="0">
                        <a:latin typeface="Cambria Math" panose="02040503050406030204" pitchFamily="18" charset="0"/>
                        <a:ea typeface="+mn-ea"/>
                      </a:rPr>
                      <m:t>𝑗</m:t>
                    </m:r>
                    <m:r>
                      <a:rPr lang="en-US" altLang="zh-CN" b="0" i="1" smtClean="0">
                        <a:latin typeface="Cambria Math" panose="02040503050406030204" pitchFamily="18" charset="0"/>
                        <a:ea typeface="+mn-ea"/>
                      </a:rPr>
                      <m:t>=1,2,⋯,</m:t>
                    </m:r>
                    <m:r>
                      <a:rPr lang="en-US" altLang="zh-CN" b="0" i="1" smtClean="0">
                        <a:latin typeface="Cambria Math" panose="02040503050406030204" pitchFamily="18" charset="0"/>
                        <a:ea typeface="Cambria Math" panose="02040503050406030204" pitchFamily="18" charset="0"/>
                      </a:rPr>
                      <m:t>𝑚</m:t>
                    </m:r>
                  </m:oMath>
                </a14:m>
                <a:r>
                  <a:rPr lang="zh-CN" altLang="en-US" dirty="0" smtClean="0">
                    <a:latin typeface="Cambria" panose="02040503050406030204" pitchFamily="18" charset="0"/>
                    <a:ea typeface="+mn-ea"/>
                  </a:rPr>
                  <a:t>，按下面的步骤找出所有的核心对象：</a:t>
                </a:r>
                <a:endParaRPr lang="en-US" altLang="zh-CN" dirty="0" smtClean="0">
                  <a:latin typeface="Cambria" panose="02040503050406030204" pitchFamily="18" charset="0"/>
                  <a:ea typeface="+mn-ea"/>
                </a:endParaRPr>
              </a:p>
              <a:p>
                <a:pPr lvl="1">
                  <a:lnSpc>
                    <a:spcPct val="170000"/>
                  </a:lnSpc>
                </a:pPr>
                <a:r>
                  <a:rPr lang="zh-CN" altLang="en-US" dirty="0" smtClean="0">
                    <a:latin typeface="Cambria" panose="02040503050406030204" pitchFamily="18" charset="0"/>
                    <a:ea typeface="+mn-ea"/>
                  </a:rPr>
                  <a:t>通过某种距离度量</a:t>
                </a:r>
                <a:r>
                  <a:rPr lang="zh-CN" altLang="en-US" dirty="0" smtClean="0">
                    <a:latin typeface="Cambria" panose="02040503050406030204" pitchFamily="18" charset="0"/>
                    <a:ea typeface="+mn-ea"/>
                  </a:rPr>
                  <a:t>方式，找到样本</a:t>
                </a:r>
                <a14:m>
                  <m:oMath xmlns:m="http://schemas.openxmlformats.org/officeDocument/2006/math">
                    <m:sSub>
                      <m:sSubPr>
                        <m:ctrlPr>
                          <a:rPr lang="en-US" altLang="zh-CN" i="1" smtClean="0">
                            <a:latin typeface="Cambria Math"/>
                            <a:ea typeface="+mn-ea"/>
                          </a:rPr>
                        </m:ctrlPr>
                      </m:sSubPr>
                      <m:e>
                        <m:r>
                          <a:rPr lang="en-US" altLang="zh-CN" b="1" i="1" smtClean="0">
                            <a:latin typeface="Cambria Math" panose="02040503050406030204" pitchFamily="18" charset="0"/>
                            <a:ea typeface="+mn-ea"/>
                          </a:rPr>
                          <m:t>𝒙</m:t>
                        </m:r>
                      </m:e>
                      <m:sub>
                        <m:r>
                          <a:rPr lang="en-US" altLang="zh-CN" b="0" i="1" smtClean="0">
                            <a:latin typeface="Cambria Math" panose="02040503050406030204" pitchFamily="18" charset="0"/>
                            <a:ea typeface="+mn-ea"/>
                          </a:rPr>
                          <m:t>𝑗</m:t>
                        </m:r>
                      </m:sub>
                    </m:sSub>
                  </m:oMath>
                </a14:m>
                <a:r>
                  <a:rPr lang="zh-CN" altLang="en-US" dirty="0" smtClean="0">
                    <a:latin typeface="Cambria" panose="02040503050406030204" pitchFamily="18" charset="0"/>
                    <a:ea typeface="+mn-ea"/>
                  </a:rPr>
                  <a:t>的</a:t>
                </a:r>
                <a14:m>
                  <m:oMath xmlns:m="http://schemas.openxmlformats.org/officeDocument/2006/math">
                    <m:r>
                      <a:rPr lang="zh-CN" altLang="en-US" i="1" dirty="0" smtClean="0">
                        <a:latin typeface="Cambria Math" panose="02040503050406030204" pitchFamily="18" charset="0"/>
                        <a:ea typeface="+mn-ea"/>
                      </a:rPr>
                      <m:t>𝜀</m:t>
                    </m:r>
                    <m:r>
                      <a:rPr lang="zh-CN" altLang="en-US" i="1" dirty="0" smtClean="0">
                        <a:latin typeface="Cambria Math" panose="02040503050406030204" pitchFamily="18" charset="0"/>
                        <a:ea typeface="+mn-ea"/>
                      </a:rPr>
                      <m:t>−</m:t>
                    </m:r>
                  </m:oMath>
                </a14:m>
                <a:r>
                  <a:rPr lang="zh-CN" altLang="en-US" dirty="0" smtClean="0">
                    <a:latin typeface="Cambria" panose="02040503050406030204" pitchFamily="18" charset="0"/>
                    <a:ea typeface="+mn-ea"/>
                  </a:rPr>
                  <a:t>邻域样本集</a:t>
                </a:r>
                <a14:m>
                  <m:oMath xmlns:m="http://schemas.openxmlformats.org/officeDocument/2006/math">
                    <m:sSub>
                      <m:sSubPr>
                        <m:ctrlPr>
                          <a:rPr lang="en-US" altLang="zh-CN" i="1" smtClean="0">
                            <a:latin typeface="Cambria Math"/>
                            <a:ea typeface="+mn-ea"/>
                          </a:rPr>
                        </m:ctrlPr>
                      </m:sSubPr>
                      <m:e>
                        <m:r>
                          <a:rPr lang="en-US" altLang="zh-CN" b="0" i="1" smtClean="0">
                            <a:latin typeface="Cambria Math" panose="02040503050406030204" pitchFamily="18" charset="0"/>
                            <a:ea typeface="+mn-ea"/>
                          </a:rPr>
                          <m:t>𝑁</m:t>
                        </m:r>
                      </m:e>
                      <m:sub>
                        <m:r>
                          <a:rPr lang="zh-CN" altLang="en-US" i="1" smtClean="0">
                            <a:latin typeface="Cambria Math" panose="02040503050406030204" pitchFamily="18" charset="0"/>
                            <a:ea typeface="+mn-ea"/>
                          </a:rPr>
                          <m:t>𝜀</m:t>
                        </m:r>
                      </m:sub>
                    </m:sSub>
                    <m:d>
                      <m:dPr>
                        <m:ctrlPr>
                          <a:rPr lang="en-US" altLang="zh-CN" i="1" smtClean="0">
                            <a:latin typeface="Cambria Math"/>
                            <a:ea typeface="+mn-ea"/>
                          </a:rPr>
                        </m:ctrlPr>
                      </m:dPr>
                      <m:e>
                        <m:sSub>
                          <m:sSubPr>
                            <m:ctrlPr>
                              <a:rPr lang="en-US" altLang="zh-CN" b="1" i="1" smtClean="0">
                                <a:latin typeface="Cambria Math"/>
                                <a:ea typeface="+mn-ea"/>
                              </a:rPr>
                            </m:ctrlPr>
                          </m:sSubPr>
                          <m:e>
                            <m:r>
                              <a:rPr lang="en-US" altLang="zh-CN" b="1" i="1" smtClean="0">
                                <a:latin typeface="Cambria Math" panose="02040503050406030204" pitchFamily="18" charset="0"/>
                                <a:ea typeface="+mn-ea"/>
                              </a:rPr>
                              <m:t>𝒙</m:t>
                            </m:r>
                          </m:e>
                          <m:sub>
                            <m:r>
                              <a:rPr lang="en-US" altLang="zh-CN" b="1" i="1" smtClean="0">
                                <a:latin typeface="Cambria Math" panose="02040503050406030204" pitchFamily="18" charset="0"/>
                                <a:ea typeface="+mn-ea"/>
                              </a:rPr>
                              <m:t>𝒋</m:t>
                            </m:r>
                          </m:sub>
                        </m:sSub>
                      </m:e>
                    </m:d>
                  </m:oMath>
                </a14:m>
                <a:endParaRPr lang="en-US" altLang="zh-CN" dirty="0" smtClean="0">
                  <a:latin typeface="Cambria" panose="02040503050406030204" pitchFamily="18" charset="0"/>
                  <a:ea typeface="+mn-ea"/>
                </a:endParaRPr>
              </a:p>
              <a:p>
                <a:pPr lvl="1">
                  <a:lnSpc>
                    <a:spcPct val="170000"/>
                  </a:lnSpc>
                </a:pPr>
                <a:r>
                  <a:rPr lang="zh-CN" altLang="en-US" dirty="0" smtClean="0">
                    <a:latin typeface="Cambria" panose="02040503050406030204" pitchFamily="18" charset="0"/>
                    <a:ea typeface="+mn-ea"/>
                  </a:rPr>
                  <a:t>如果样本集样本个数满足</a:t>
                </a:r>
                <a14:m>
                  <m:oMath xmlns:m="http://schemas.openxmlformats.org/officeDocument/2006/math">
                    <m:d>
                      <m:dPr>
                        <m:begChr m:val="|"/>
                        <m:endChr m:val="|"/>
                        <m:ctrlPr>
                          <a:rPr lang="en-US" altLang="zh-CN" i="1" smtClean="0">
                            <a:latin typeface="Cambria Math"/>
                            <a:ea typeface="+mn-ea"/>
                          </a:rPr>
                        </m:ctrlPr>
                      </m:dPr>
                      <m:e>
                        <m:sSub>
                          <m:sSubPr>
                            <m:ctrlPr>
                              <a:rPr lang="en-US" altLang="zh-CN" sz="1600" i="1">
                                <a:latin typeface="Cambria Math"/>
                              </a:rPr>
                            </m:ctrlPr>
                          </m:sSubPr>
                          <m:e>
                            <m:r>
                              <a:rPr lang="en-US" altLang="zh-CN" sz="1600" i="1">
                                <a:latin typeface="Cambria Math" panose="02040503050406030204" pitchFamily="18" charset="0"/>
                              </a:rPr>
                              <m:t>𝑁</m:t>
                            </m:r>
                          </m:e>
                          <m:sub>
                            <m:r>
                              <a:rPr lang="zh-CN" altLang="en-US" sz="1600" i="1">
                                <a:latin typeface="Cambria Math" panose="02040503050406030204" pitchFamily="18" charset="0"/>
                              </a:rPr>
                              <m:t>𝜀</m:t>
                            </m:r>
                          </m:sub>
                        </m:sSub>
                        <m:d>
                          <m:dPr>
                            <m:ctrlPr>
                              <a:rPr lang="en-US" altLang="zh-CN" sz="1600" i="1">
                                <a:latin typeface="Cambria Math"/>
                              </a:rPr>
                            </m:ctrlPr>
                          </m:dPr>
                          <m:e>
                            <m:sSub>
                              <m:sSubPr>
                                <m:ctrlPr>
                                  <a:rPr lang="en-US" altLang="zh-CN" sz="1600" b="1" i="1">
                                    <a:latin typeface="Cambria Math"/>
                                  </a:rPr>
                                </m:ctrlPr>
                              </m:sSubPr>
                              <m:e>
                                <m:r>
                                  <a:rPr lang="en-US" altLang="zh-CN" sz="1600" b="1" i="1">
                                    <a:latin typeface="Cambria Math" panose="02040503050406030204" pitchFamily="18" charset="0"/>
                                  </a:rPr>
                                  <m:t>𝒙</m:t>
                                </m:r>
                              </m:e>
                              <m:sub>
                                <m:r>
                                  <a:rPr lang="en-US" altLang="zh-CN" sz="1600" b="1" i="1">
                                    <a:latin typeface="Cambria Math" panose="02040503050406030204" pitchFamily="18" charset="0"/>
                                  </a:rPr>
                                  <m:t>𝒋</m:t>
                                </m:r>
                              </m:sub>
                            </m:sSub>
                          </m:e>
                        </m:d>
                      </m:e>
                    </m:d>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𝑀𝑖𝑛𝑃𝑡𝑠</m:t>
                    </m:r>
                  </m:oMath>
                </a14:m>
                <a:r>
                  <a:rPr lang="zh-CN" altLang="en-US" dirty="0" smtClean="0">
                    <a:latin typeface="Cambria" panose="02040503050406030204" pitchFamily="18" charset="0"/>
                    <a:ea typeface="+mn-ea"/>
                  </a:rPr>
                  <a:t>，则样本</a:t>
                </a:r>
                <a14:m>
                  <m:oMath xmlns:m="http://schemas.openxmlformats.org/officeDocument/2006/math">
                    <m:sSub>
                      <m:sSubPr>
                        <m:ctrlPr>
                          <a:rPr lang="en-US" altLang="zh-CN" sz="1600" i="1">
                            <a:latin typeface="Cambria Math"/>
                          </a:rPr>
                        </m:ctrlPr>
                      </m:sSubPr>
                      <m:e>
                        <m:r>
                          <a:rPr lang="en-US" altLang="zh-CN" sz="1600" b="1" i="1">
                            <a:latin typeface="Cambria Math" panose="02040503050406030204" pitchFamily="18" charset="0"/>
                          </a:rPr>
                          <m:t>𝒙</m:t>
                        </m:r>
                      </m:e>
                      <m:sub>
                        <m:r>
                          <a:rPr lang="en-US" altLang="zh-CN" sz="1600" i="1">
                            <a:latin typeface="Cambria Math" panose="02040503050406030204" pitchFamily="18" charset="0"/>
                          </a:rPr>
                          <m:t>𝑗</m:t>
                        </m:r>
                      </m:sub>
                    </m:sSub>
                  </m:oMath>
                </a14:m>
                <a:r>
                  <a:rPr lang="zh-CN" altLang="en-US" dirty="0" smtClean="0">
                    <a:latin typeface="Cambria" panose="02040503050406030204" pitchFamily="18" charset="0"/>
                    <a:ea typeface="+mn-ea"/>
                  </a:rPr>
                  <a:t>加入核心对象样本集合</a:t>
                </a:r>
                <a14:m>
                  <m:oMath xmlns:m="http://schemas.openxmlformats.org/officeDocument/2006/math">
                    <m:r>
                      <m:rPr>
                        <m:sty m:val="p"/>
                      </m:rPr>
                      <a:rPr lang="el-GR" altLang="zh-CN" i="1">
                        <a:latin typeface="Cambria Math" panose="02040503050406030204" pitchFamily="18" charset="0"/>
                        <a:ea typeface="Cambria Math" panose="02040503050406030204" pitchFamily="18" charset="0"/>
                      </a:rPr>
                      <m:t>Ω</m:t>
                    </m:r>
                    <m:r>
                      <a:rPr lang="en-US" altLang="zh-CN" b="0" i="1" smtClean="0">
                        <a:latin typeface="Cambria Math" panose="02040503050406030204" pitchFamily="18" charset="0"/>
                        <a:ea typeface="Cambria Math" panose="02040503050406030204" pitchFamily="18" charset="0"/>
                      </a:rPr>
                      <m:t>=</m:t>
                    </m:r>
                    <m:r>
                      <m:rPr>
                        <m:sty m:val="p"/>
                      </m:rPr>
                      <a:rPr lang="el-GR" altLang="zh-CN" b="0" i="1" smtClean="0">
                        <a:latin typeface="Cambria Math" panose="02040503050406030204" pitchFamily="18" charset="0"/>
                        <a:ea typeface="Cambria Math" panose="02040503050406030204" pitchFamily="18" charset="0"/>
                      </a:rPr>
                      <m:t>Ω</m:t>
                    </m:r>
                    <m:r>
                      <a:rPr lang="el-GR" altLang="zh-CN" b="0" i="1" smtClean="0">
                        <a:latin typeface="Cambria Math" panose="02040503050406030204" pitchFamily="18" charset="0"/>
                        <a:ea typeface="Cambria Math" panose="02040503050406030204" pitchFamily="18" charset="0"/>
                      </a:rPr>
                      <m:t>∪</m:t>
                    </m:r>
                    <m:d>
                      <m:dPr>
                        <m:begChr m:val="{"/>
                        <m:endChr m:val="}"/>
                        <m:ctrlPr>
                          <a:rPr lang="el-GR" altLang="zh-CN" b="0" i="1" smtClean="0">
                            <a:latin typeface="Cambria Math"/>
                            <a:ea typeface="Cambria Math" panose="02040503050406030204" pitchFamily="18" charset="0"/>
                          </a:rPr>
                        </m:ctrlPr>
                      </m:dPr>
                      <m:e>
                        <m:sSub>
                          <m:sSubPr>
                            <m:ctrlPr>
                              <a:rPr lang="el-GR" altLang="zh-CN" b="0" i="1" smtClean="0">
                                <a:latin typeface="Cambria Math"/>
                                <a:ea typeface="Cambria Math" panose="02040503050406030204" pitchFamily="18" charset="0"/>
                              </a:rPr>
                            </m:ctrlPr>
                          </m:sSubPr>
                          <m:e>
                            <m:r>
                              <a:rPr lang="en-US" altLang="zh-CN" b="1" i="1" smtClean="0">
                                <a:latin typeface="Cambria Math" panose="02040503050406030204" pitchFamily="18" charset="0"/>
                                <a:ea typeface="Cambria Math" panose="02040503050406030204" pitchFamily="18" charset="0"/>
                              </a:rPr>
                              <m:t>𝒙</m:t>
                            </m:r>
                          </m:e>
                          <m:sub>
                            <m:r>
                              <a:rPr lang="en-US" altLang="zh-CN" b="0" i="1" smtClean="0">
                                <a:latin typeface="Cambria Math" panose="02040503050406030204" pitchFamily="18" charset="0"/>
                                <a:ea typeface="Cambria Math" panose="02040503050406030204" pitchFamily="18" charset="0"/>
                              </a:rPr>
                              <m:t>𝑗</m:t>
                            </m:r>
                          </m:sub>
                        </m:sSub>
                      </m:e>
                    </m:d>
                  </m:oMath>
                </a14:m>
                <a:endParaRPr lang="en-US" altLang="zh-CN" dirty="0" smtClean="0">
                  <a:latin typeface="Cambria" panose="02040503050406030204" pitchFamily="18" charset="0"/>
                  <a:ea typeface="+mn-ea"/>
                </a:endParaRPr>
              </a:p>
              <a:p>
                <a:pPr>
                  <a:lnSpc>
                    <a:spcPct val="170000"/>
                  </a:lnSpc>
                </a:pPr>
                <a:r>
                  <a:rPr lang="zh-CN" altLang="en-US" dirty="0" smtClean="0">
                    <a:latin typeface="Cambria" panose="02040503050406030204" pitchFamily="18" charset="0"/>
                    <a:ea typeface="+mn-ea"/>
                  </a:rPr>
                  <a:t>（</a:t>
                </a:r>
                <a:r>
                  <a:rPr lang="en-US" altLang="zh-CN" dirty="0" smtClean="0">
                    <a:latin typeface="Cambria" panose="02040503050406030204" pitchFamily="18" charset="0"/>
                    <a:ea typeface="+mn-ea"/>
                  </a:rPr>
                  <a:t>3</a:t>
                </a:r>
                <a:r>
                  <a:rPr lang="zh-CN" altLang="en-US" dirty="0" smtClean="0">
                    <a:latin typeface="Cambria" panose="02040503050406030204" pitchFamily="18" charset="0"/>
                    <a:ea typeface="+mn-ea"/>
                  </a:rPr>
                  <a:t>）</a:t>
                </a:r>
                <a:r>
                  <a:rPr lang="zh-CN" altLang="en-US" dirty="0" smtClean="0">
                    <a:latin typeface="Cambria" panose="02040503050406030204" pitchFamily="18" charset="0"/>
                    <a:ea typeface="+mn-ea"/>
                  </a:rPr>
                  <a:t>如果核心</a:t>
                </a:r>
                <a:r>
                  <a:rPr lang="zh-CN" altLang="en-US" dirty="0" smtClean="0">
                    <a:latin typeface="Cambria" panose="02040503050406030204" pitchFamily="18" charset="0"/>
                    <a:ea typeface="+mn-ea"/>
                  </a:rPr>
                  <a:t>对象</a:t>
                </a:r>
                <a14:m>
                  <m:oMath xmlns:m="http://schemas.openxmlformats.org/officeDocument/2006/math">
                    <m:r>
                      <m:rPr>
                        <m:sty m:val="p"/>
                      </m:rPr>
                      <a:rPr lang="el-GR" altLang="zh-CN" i="1">
                        <a:latin typeface="Cambria Math" panose="02040503050406030204" pitchFamily="18" charset="0"/>
                        <a:ea typeface="Cambria Math" panose="02040503050406030204" pitchFamily="18" charset="0"/>
                      </a:rPr>
                      <m:t>Ω</m:t>
                    </m:r>
                    <m:r>
                      <a:rPr lang="en-US" altLang="zh-CN" i="1">
                        <a:latin typeface="Cambria Math" panose="02040503050406030204" pitchFamily="18" charset="0"/>
                        <a:ea typeface="Cambria Math" panose="02040503050406030204" pitchFamily="18" charset="0"/>
                      </a:rPr>
                      <m:t>=∅</m:t>
                    </m:r>
                  </m:oMath>
                </a14:m>
                <a:r>
                  <a:rPr lang="zh-CN" altLang="en-US" dirty="0" smtClean="0">
                    <a:latin typeface="Cambria" panose="02040503050406030204" pitchFamily="18" charset="0"/>
                    <a:ea typeface="+mn-ea"/>
                  </a:rPr>
                  <a:t>，则算法结束，否则转步骤（</a:t>
                </a:r>
                <a:r>
                  <a:rPr lang="en-US" altLang="zh-CN" dirty="0" smtClean="0">
                    <a:latin typeface="Cambria" panose="02040503050406030204" pitchFamily="18" charset="0"/>
                    <a:ea typeface="+mn-ea"/>
                  </a:rPr>
                  <a:t>4</a:t>
                </a:r>
                <a:r>
                  <a:rPr lang="zh-CN" altLang="en-US" dirty="0" smtClean="0">
                    <a:latin typeface="Cambria" panose="02040503050406030204" pitchFamily="18" charset="0"/>
                    <a:ea typeface="+mn-ea"/>
                  </a:rPr>
                  <a:t>）</a:t>
                </a:r>
                <a:endParaRPr lang="en-US" altLang="zh-CN" dirty="0" smtClean="0">
                  <a:latin typeface="Cambria" panose="02040503050406030204" pitchFamily="18" charset="0"/>
                  <a:ea typeface="+mn-ea"/>
                </a:endParaRPr>
              </a:p>
              <a:p>
                <a:pPr>
                  <a:lnSpc>
                    <a:spcPct val="170000"/>
                  </a:lnSpc>
                </a:pPr>
                <a:r>
                  <a:rPr lang="zh-CN" altLang="en-US" dirty="0" smtClean="0">
                    <a:latin typeface="Cambria" panose="02040503050406030204" pitchFamily="18" charset="0"/>
                    <a:ea typeface="+mn-ea"/>
                  </a:rPr>
                  <a:t>（</a:t>
                </a:r>
                <a:r>
                  <a:rPr lang="en-US" altLang="zh-CN" dirty="0" smtClean="0">
                    <a:latin typeface="Cambria" panose="02040503050406030204" pitchFamily="18" charset="0"/>
                    <a:ea typeface="+mn-ea"/>
                  </a:rPr>
                  <a:t>4</a:t>
                </a:r>
                <a:r>
                  <a:rPr lang="zh-CN" altLang="en-US" dirty="0" smtClean="0">
                    <a:latin typeface="Cambria" panose="02040503050406030204" pitchFamily="18" charset="0"/>
                    <a:ea typeface="+mn-ea"/>
                  </a:rPr>
                  <a:t>）在核心对象集合</a:t>
                </a:r>
                <a14:m>
                  <m:oMath xmlns:m="http://schemas.openxmlformats.org/officeDocument/2006/math">
                    <m:r>
                      <m:rPr>
                        <m:sty m:val="p"/>
                      </m:rPr>
                      <a:rPr lang="el-GR" altLang="zh-CN" i="1">
                        <a:latin typeface="Cambria Math" panose="02040503050406030204" pitchFamily="18" charset="0"/>
                        <a:ea typeface="Cambria Math" panose="02040503050406030204" pitchFamily="18" charset="0"/>
                      </a:rPr>
                      <m:t>Ω</m:t>
                    </m:r>
                  </m:oMath>
                </a14:m>
                <a:r>
                  <a:rPr lang="zh-CN" altLang="en-US" dirty="0" smtClean="0">
                    <a:latin typeface="Cambria" panose="02040503050406030204" pitchFamily="18" charset="0"/>
                    <a:ea typeface="+mn-ea"/>
                  </a:rPr>
                  <a:t>中，随机选择一个核心对象</a:t>
                </a:r>
                <a14:m>
                  <m:oMath xmlns:m="http://schemas.openxmlformats.org/officeDocument/2006/math">
                    <m:r>
                      <a:rPr lang="en-US" altLang="zh-CN" b="0" i="1" smtClean="0">
                        <a:latin typeface="Cambria Math" panose="02040503050406030204" pitchFamily="18" charset="0"/>
                        <a:ea typeface="+mn-ea"/>
                      </a:rPr>
                      <m:t>𝑜</m:t>
                    </m:r>
                  </m:oMath>
                </a14:m>
                <a:r>
                  <a:rPr lang="zh-CN" altLang="en-US" dirty="0" smtClean="0">
                    <a:latin typeface="Cambria" panose="02040503050406030204" pitchFamily="18" charset="0"/>
                    <a:ea typeface="+mn-ea"/>
                  </a:rPr>
                  <a:t>，初始化当前簇核心对象队列</a:t>
                </a:r>
                <a14:m>
                  <m:oMath xmlns:m="http://schemas.openxmlformats.org/officeDocument/2006/math">
                    <m:sSub>
                      <m:sSubPr>
                        <m:ctrlPr>
                          <a:rPr lang="en-US" altLang="zh-CN" i="1" smtClean="0">
                            <a:latin typeface="Cambria Math"/>
                            <a:ea typeface="+mn-ea"/>
                          </a:rPr>
                        </m:ctrlPr>
                      </m:sSubPr>
                      <m:e>
                        <m:r>
                          <m:rPr>
                            <m:sty m:val="p"/>
                          </m:rPr>
                          <a:rPr lang="el-GR" altLang="zh-CN" i="1" smtClean="0">
                            <a:latin typeface="Cambria Math" panose="02040503050406030204" pitchFamily="18" charset="0"/>
                            <a:ea typeface="Cambria Math" panose="02040503050406030204" pitchFamily="18" charset="0"/>
                          </a:rPr>
                          <m:t>Ω</m:t>
                        </m:r>
                      </m:e>
                      <m:sub>
                        <m:r>
                          <a:rPr lang="en-US" altLang="zh-CN" b="0" i="1" smtClean="0">
                            <a:latin typeface="Cambria Math" panose="02040503050406030204" pitchFamily="18" charset="0"/>
                            <a:ea typeface="+mn-ea"/>
                          </a:rPr>
                          <m:t>𝑐𝑢𝑟</m:t>
                        </m:r>
                      </m:sub>
                    </m:sSub>
                    <m:r>
                      <a:rPr lang="en-US" altLang="zh-CN" b="0" i="1" smtClean="0">
                        <a:latin typeface="Cambria Math" panose="02040503050406030204" pitchFamily="18" charset="0"/>
                        <a:ea typeface="+mn-ea"/>
                      </a:rPr>
                      <m:t>=</m:t>
                    </m:r>
                    <m:d>
                      <m:dPr>
                        <m:begChr m:val="{"/>
                        <m:endChr m:val="}"/>
                        <m:ctrlPr>
                          <a:rPr lang="en-US" altLang="zh-CN" b="0" i="1" smtClean="0">
                            <a:latin typeface="Cambria Math"/>
                            <a:ea typeface="+mn-ea"/>
                          </a:rPr>
                        </m:ctrlPr>
                      </m:dPr>
                      <m:e>
                        <m:r>
                          <a:rPr lang="en-US" altLang="zh-CN" b="0" i="1" smtClean="0">
                            <a:latin typeface="Cambria Math" panose="02040503050406030204" pitchFamily="18" charset="0"/>
                            <a:ea typeface="+mn-ea"/>
                          </a:rPr>
                          <m:t>𝑜</m:t>
                        </m:r>
                      </m:e>
                    </m:d>
                  </m:oMath>
                </a14:m>
                <a:r>
                  <a:rPr lang="zh-CN" altLang="en-US" dirty="0" smtClean="0">
                    <a:latin typeface="Cambria" panose="02040503050406030204" pitchFamily="18" charset="0"/>
                    <a:ea typeface="+mn-ea"/>
                  </a:rPr>
                  <a:t>，类别</a:t>
                </a:r>
                <a:r>
                  <a:rPr lang="zh-CN" altLang="en-US" dirty="0" smtClean="0">
                    <a:latin typeface="Cambria" panose="02040503050406030204" pitchFamily="18" charset="0"/>
                    <a:ea typeface="+mn-ea"/>
                  </a:rPr>
                  <a:t>序号</a:t>
                </a:r>
                <a14:m>
                  <m:oMath xmlns:m="http://schemas.openxmlformats.org/officeDocument/2006/math">
                    <m:r>
                      <a:rPr lang="en-US" altLang="zh-CN" i="1">
                        <a:latin typeface="Cambria Math" panose="02040503050406030204" pitchFamily="18" charset="0"/>
                      </a:rPr>
                      <m:t>𝑘</m:t>
                    </m:r>
                    <m:r>
                      <a:rPr lang="en-US" altLang="zh-CN" i="1">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+1</m:t>
                    </m:r>
                  </m:oMath>
                </a14:m>
                <a:r>
                  <a:rPr lang="zh-CN" altLang="en-US" dirty="0" smtClean="0">
                    <a:latin typeface="Cambria" panose="02040503050406030204" pitchFamily="18" charset="0"/>
                    <a:ea typeface="+mn-ea"/>
                  </a:rPr>
                  <a:t>，当前簇样本集合</a:t>
                </a:r>
                <a14:m>
                  <m:oMath xmlns:m="http://schemas.openxmlformats.org/officeDocument/2006/math">
                    <m:sSub>
                      <m:sSubPr>
                        <m:ctrlPr>
                          <a:rPr lang="en-US" altLang="zh-CN" i="1" smtClean="0">
                            <a:latin typeface="Cambria Math"/>
                            <a:ea typeface="+mn-ea"/>
                          </a:rPr>
                        </m:ctrlPr>
                      </m:sSubPr>
                      <m:e>
                        <m:r>
                          <a:rPr lang="en-US" altLang="zh-CN" b="0" i="1" smtClean="0">
                            <a:latin typeface="Cambria Math" panose="02040503050406030204" pitchFamily="18" charset="0"/>
                            <a:ea typeface="+mn-ea"/>
                          </a:rPr>
                          <m:t>𝐶</m:t>
                        </m:r>
                      </m:e>
                      <m:sub>
                        <m:r>
                          <a:rPr lang="en-US" altLang="zh-CN" b="0" i="1" smtClean="0">
                            <a:latin typeface="Cambria Math" panose="02040503050406030204" pitchFamily="18" charset="0"/>
                            <a:ea typeface="+mn-ea"/>
                          </a:rPr>
                          <m:t>𝑘</m:t>
                        </m:r>
                      </m:sub>
                    </m:sSub>
                    <m:r>
                      <a:rPr lang="en-US" altLang="zh-CN" b="0" i="1" smtClean="0">
                        <a:latin typeface="Cambria Math" panose="02040503050406030204" pitchFamily="18" charset="0"/>
                        <a:ea typeface="+mn-ea"/>
                      </a:rPr>
                      <m:t>=</m:t>
                    </m:r>
                    <m:d>
                      <m:dPr>
                        <m:begChr m:val="{"/>
                        <m:endChr m:val="}"/>
                        <m:ctrlPr>
                          <a:rPr lang="en-US" altLang="zh-CN" b="0" i="1" smtClean="0">
                            <a:latin typeface="Cambria Math"/>
                            <a:ea typeface="+mn-ea"/>
                          </a:rPr>
                        </m:ctrlPr>
                      </m:dPr>
                      <m:e>
                        <m:r>
                          <a:rPr lang="en-US" altLang="zh-CN" b="0" i="1" smtClean="0">
                            <a:latin typeface="Cambria Math" panose="02040503050406030204" pitchFamily="18" charset="0"/>
                            <a:ea typeface="+mn-ea"/>
                          </a:rPr>
                          <m:t>𝑜</m:t>
                        </m:r>
                      </m:e>
                    </m:d>
                  </m:oMath>
                </a14:m>
                <a:r>
                  <a:rPr lang="zh-CN" altLang="en-US" dirty="0" smtClean="0">
                    <a:latin typeface="Cambria" panose="02040503050406030204" pitchFamily="18" charset="0"/>
                    <a:ea typeface="+mn-ea"/>
                  </a:rPr>
                  <a:t>，更新未访问样本集合</a:t>
                </a:r>
                <a14:m>
                  <m:oMath xmlns:m="http://schemas.openxmlformats.org/officeDocument/2006/math">
                    <m:r>
                      <m:rPr>
                        <m:sty m:val="p"/>
                      </m:rPr>
                      <a:rPr lang="el-GR" altLang="zh-CN" i="1">
                        <a:latin typeface="Cambria Math" panose="02040503050406030204" pitchFamily="18" charset="0"/>
                        <a:ea typeface="Cambria Math" panose="02040503050406030204" pitchFamily="18" charset="0"/>
                      </a:rPr>
                      <m:t>Γ</m:t>
                    </m:r>
                    <m:r>
                      <a:rPr lang="en-US" altLang="zh-CN" b="0" i="1" smtClean="0">
                        <a:latin typeface="Cambria Math" panose="02040503050406030204" pitchFamily="18" charset="0"/>
                        <a:ea typeface="Cambria Math" panose="02040503050406030204" pitchFamily="18" charset="0"/>
                      </a:rPr>
                      <m:t>=</m:t>
                    </m:r>
                    <m:r>
                      <m:rPr>
                        <m:sty m:val="p"/>
                      </m:rPr>
                      <a:rPr lang="el-GR" altLang="zh-CN" b="0" i="1" smtClean="0">
                        <a:latin typeface="Cambria Math" panose="02040503050406030204" pitchFamily="18" charset="0"/>
                        <a:ea typeface="Cambria Math" panose="02040503050406030204" pitchFamily="18" charset="0"/>
                      </a:rPr>
                      <m:t>Γ</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𝑜</m:t>
                        </m:r>
                      </m:e>
                    </m:d>
                  </m:oMath>
                </a14:m>
                <a:endParaRPr lang="zh-CN" altLang="en-US" dirty="0">
                  <a:latin typeface="Cambria" panose="02040503050406030204" pitchFamily="18" charset="0"/>
                  <a:ea typeface="+mn-ea"/>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492885" y="681355"/>
                <a:ext cx="10959465" cy="5914390"/>
              </a:xfrm>
              <a:blipFill rotWithShape="1">
                <a:blip r:embed="rId1"/>
                <a:stretch>
                  <a:fillRect l="-219"/>
                </a:stretch>
              </a:blipFill>
            </p:spPr>
            <p:txBody>
              <a:bodyPr/>
              <a:lstStyle/>
              <a:p>
                <a:r>
                  <a:rPr lang="zh-CN" altLang="en-US">
                    <a:noFill/>
                  </a:rPr>
                  <a:t> </a:t>
                </a:r>
                <a:endParaRPr lang="zh-CN" altLang="en-US">
                  <a:noFill/>
                </a:endParaRPr>
              </a:p>
            </p:txBody>
          </p:sp>
        </mc:Fallback>
      </mc:AlternateContent>
      <p:sp>
        <p:nvSpPr>
          <p:cNvPr id="4" name="内容占位符 3"/>
          <p:cNvSpPr>
            <a:spLocks noGrp="1"/>
          </p:cNvSpPr>
          <p:nvPr>
            <p:ph idx="13"/>
          </p:nvPr>
        </p:nvSpPr>
        <p:spPr>
          <a:xfrm>
            <a:off x="2244651" y="310297"/>
            <a:ext cx="8346723" cy="897315"/>
          </a:xfrm>
        </p:spPr>
        <p:txBody>
          <a:bodyPr/>
          <a:lstStyle/>
          <a:p>
            <a:r>
              <a:rPr lang="en-US" altLang="zh-CN" sz="2800" dirty="0" smtClean="0">
                <a:latin typeface="Cambria" panose="02040503050406030204" pitchFamily="18" charset="0"/>
                <a:ea typeface="Cambria" panose="02040503050406030204" pitchFamily="18" charset="0"/>
              </a:rPr>
              <a:t>DBSCAN</a:t>
            </a:r>
            <a:r>
              <a:rPr lang="zh-CN" altLang="en-US" sz="2800" dirty="0" smtClean="0">
                <a:latin typeface="Cambria" panose="02040503050406030204" pitchFamily="18" charset="0"/>
                <a:ea typeface="+mn-ea"/>
              </a:rPr>
              <a:t>算法流程</a:t>
            </a:r>
            <a:endParaRPr lang="zh-CN" altLang="en-US" sz="2800" dirty="0" smtClean="0">
              <a:latin typeface="Cambria" panose="02040503050406030204" pitchFamily="18" charset="0"/>
              <a:ea typeface="+mn-ea"/>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208584" y="1628800"/>
                <a:ext cx="8346723" cy="2736304"/>
              </a:xfrm>
            </p:spPr>
            <p:txBody>
              <a:bodyPr>
                <a:normAutofit fontScale="92500" lnSpcReduction="20000"/>
              </a:bodyPr>
              <a:lstStyle/>
              <a:p>
                <a:pPr>
                  <a:lnSpc>
                    <a:spcPct val="160000"/>
                  </a:lnSpc>
                </a:pPr>
                <a:r>
                  <a:rPr lang="zh-CN" altLang="en-US" dirty="0" smtClean="0">
                    <a:latin typeface="Cambria" panose="02040503050406030204" pitchFamily="18" charset="0"/>
                    <a:ea typeface="+mn-ea"/>
                  </a:rPr>
                  <a:t>（</a:t>
                </a:r>
                <a:r>
                  <a:rPr lang="en-US" altLang="zh-CN" dirty="0" smtClean="0">
                    <a:latin typeface="Cambria" panose="02040503050406030204" pitchFamily="18" charset="0"/>
                    <a:ea typeface="+mn-ea"/>
                  </a:rPr>
                  <a:t>5</a:t>
                </a:r>
                <a:r>
                  <a:rPr lang="zh-CN" altLang="en-US" dirty="0" smtClean="0">
                    <a:latin typeface="Cambria" panose="02040503050406030204" pitchFamily="18" charset="0"/>
                    <a:ea typeface="+mn-ea"/>
                  </a:rPr>
                  <a:t>）如果当前簇核心对象队列</a:t>
                </a:r>
                <a14:m>
                  <m:oMath xmlns:m="http://schemas.openxmlformats.org/officeDocument/2006/math">
                    <m:sSub>
                      <m:sSubPr>
                        <m:ctrlPr>
                          <a:rPr lang="en-US" altLang="zh-CN" i="1">
                            <a:latin typeface="Cambria Math"/>
                          </a:rPr>
                        </m:ctrlPr>
                      </m:sSubPr>
                      <m:e>
                        <m:r>
                          <m:rPr>
                            <m:sty m:val="p"/>
                          </m:rPr>
                          <a:rPr lang="el-GR" altLang="zh-CN" i="1">
                            <a:latin typeface="Cambria Math" panose="02040503050406030204" pitchFamily="18" charset="0"/>
                            <a:ea typeface="Cambria Math" panose="02040503050406030204" pitchFamily="18" charset="0"/>
                          </a:rPr>
                          <m:t>Ω</m:t>
                        </m:r>
                      </m:e>
                      <m:sub>
                        <m:r>
                          <a:rPr lang="en-US" altLang="zh-CN" i="1">
                            <a:latin typeface="Cambria Math" panose="02040503050406030204" pitchFamily="18" charset="0"/>
                          </a:rPr>
                          <m:t>𝑐𝑢𝑟</m:t>
                        </m:r>
                      </m:sub>
                    </m:sSub>
                    <m:r>
                      <a:rPr lang="en-US" altLang="zh-CN" i="1">
                        <a:latin typeface="Cambria Math" panose="02040503050406030204" pitchFamily="18" charset="0"/>
                      </a:rPr>
                      <m:t>=</m:t>
                    </m:r>
                    <m:r>
                      <a:rPr lang="en-US" altLang="zh-CN" i="1" smtClean="0">
                        <a:latin typeface="Cambria Math"/>
                        <a:ea typeface="Cambria Math"/>
                      </a:rPr>
                      <m:t>∅</m:t>
                    </m:r>
                  </m:oMath>
                </a14:m>
                <a:r>
                  <a:rPr lang="zh-CN" altLang="en-US" dirty="0" smtClean="0">
                    <a:latin typeface="Cambria" panose="02040503050406030204" pitchFamily="18" charset="0"/>
                    <a:ea typeface="+mn-ea"/>
                  </a:rPr>
                  <a:t>，则当前聚类簇</a:t>
                </a:r>
                <a14:m>
                  <m:oMath xmlns:m="http://schemas.openxmlformats.org/officeDocument/2006/math">
                    <m:sSub>
                      <m:sSubPr>
                        <m:ctrlPr>
                          <a:rPr lang="en-US" altLang="zh-CN" i="1" smtClean="0">
                            <a:latin typeface="Cambria Math"/>
                            <a:ea typeface="+mn-ea"/>
                          </a:rPr>
                        </m:ctrlPr>
                      </m:sSubPr>
                      <m:e>
                        <m:r>
                          <a:rPr lang="en-US" altLang="zh-CN" b="0" i="1" smtClean="0">
                            <a:latin typeface="Cambria Math"/>
                            <a:ea typeface="+mn-ea"/>
                          </a:rPr>
                          <m:t>𝐶</m:t>
                        </m:r>
                      </m:e>
                      <m:sub>
                        <m:r>
                          <a:rPr lang="en-US" altLang="zh-CN" b="0" i="1" smtClean="0">
                            <a:latin typeface="Cambria Math"/>
                            <a:ea typeface="+mn-ea"/>
                          </a:rPr>
                          <m:t>𝑘</m:t>
                        </m:r>
                      </m:sub>
                    </m:sSub>
                  </m:oMath>
                </a14:m>
                <a:r>
                  <a:rPr lang="zh-CN" altLang="en-US" dirty="0" smtClean="0">
                    <a:latin typeface="Cambria" panose="02040503050406030204" pitchFamily="18" charset="0"/>
                    <a:ea typeface="+mn-ea"/>
                  </a:rPr>
                  <a:t>生产完毕，更新簇划分</a:t>
                </a:r>
                <a14:m>
                  <m:oMath xmlns:m="http://schemas.openxmlformats.org/officeDocument/2006/math">
                    <m:r>
                      <a:rPr lang="en-US" altLang="zh-CN" b="0" i="1" smtClean="0">
                        <a:latin typeface="Cambria Math"/>
                        <a:ea typeface="+mn-ea"/>
                      </a:rPr>
                      <m:t>𝐶</m:t>
                    </m:r>
                    <m:r>
                      <a:rPr lang="en-US" altLang="zh-CN" b="0" i="1" smtClean="0">
                        <a:latin typeface="Cambria Math"/>
                        <a:ea typeface="+mn-ea"/>
                      </a:rPr>
                      <m:t>=</m:t>
                    </m:r>
                    <m:d>
                      <m:dPr>
                        <m:begChr m:val="{"/>
                        <m:endChr m:val="}"/>
                        <m:ctrlPr>
                          <a:rPr lang="en-US" altLang="zh-CN" b="0" i="1" smtClean="0">
                            <a:latin typeface="Cambria Math"/>
                            <a:ea typeface="+mn-ea"/>
                          </a:rPr>
                        </m:ctrlPr>
                      </m:dPr>
                      <m:e>
                        <m:sSub>
                          <m:sSubPr>
                            <m:ctrlPr>
                              <a:rPr lang="en-US" altLang="zh-CN" b="0" i="1" smtClean="0">
                                <a:latin typeface="Cambria Math"/>
                                <a:ea typeface="+mn-ea"/>
                              </a:rPr>
                            </m:ctrlPr>
                          </m:sSubPr>
                          <m:e>
                            <m:r>
                              <a:rPr lang="en-US" altLang="zh-CN" b="0" i="1" smtClean="0">
                                <a:latin typeface="Cambria Math"/>
                                <a:ea typeface="+mn-ea"/>
                              </a:rPr>
                              <m:t>𝐶</m:t>
                            </m:r>
                          </m:e>
                          <m:sub>
                            <m:r>
                              <a:rPr lang="en-US" altLang="zh-CN" b="0" i="1" smtClean="0">
                                <a:latin typeface="Cambria Math"/>
                                <a:ea typeface="+mn-ea"/>
                              </a:rPr>
                              <m:t>1</m:t>
                            </m:r>
                          </m:sub>
                        </m:sSub>
                        <m:r>
                          <a:rPr lang="en-US" altLang="zh-CN" b="0" i="1" smtClean="0">
                            <a:latin typeface="Cambria Math"/>
                            <a:ea typeface="+mn-ea"/>
                          </a:rPr>
                          <m:t>,</m:t>
                        </m:r>
                        <m:sSub>
                          <m:sSubPr>
                            <m:ctrlPr>
                              <a:rPr lang="en-US" altLang="zh-CN" b="0" i="1" smtClean="0">
                                <a:latin typeface="Cambria Math"/>
                                <a:ea typeface="+mn-ea"/>
                              </a:rPr>
                            </m:ctrlPr>
                          </m:sSubPr>
                          <m:e>
                            <m:r>
                              <a:rPr lang="en-US" altLang="zh-CN" b="0" i="1" smtClean="0">
                                <a:latin typeface="Cambria Math"/>
                                <a:ea typeface="+mn-ea"/>
                              </a:rPr>
                              <m:t>𝐶</m:t>
                            </m:r>
                          </m:e>
                          <m:sub>
                            <m:r>
                              <a:rPr lang="en-US" altLang="zh-CN" b="0" i="1" smtClean="0">
                                <a:latin typeface="Cambria Math"/>
                                <a:ea typeface="+mn-ea"/>
                              </a:rPr>
                              <m:t>2</m:t>
                            </m:r>
                          </m:sub>
                        </m:sSub>
                        <m:r>
                          <a:rPr lang="en-US" altLang="zh-CN" b="0" i="1" smtClean="0">
                            <a:latin typeface="Cambria Math"/>
                            <a:ea typeface="+mn-ea"/>
                          </a:rPr>
                          <m:t>,</m:t>
                        </m:r>
                        <m:r>
                          <a:rPr lang="en-US" altLang="zh-CN" b="0" i="1" smtClean="0">
                            <a:latin typeface="Cambria Math"/>
                            <a:ea typeface="Cambria Math"/>
                          </a:rPr>
                          <m:t>⋯</m:t>
                        </m:r>
                        <m:r>
                          <a:rPr lang="en-US" altLang="zh-CN" b="0" i="1" smtClean="0">
                            <a:latin typeface="Cambria Math"/>
                            <a:ea typeface="+mn-ea"/>
                          </a:rPr>
                          <m:t>,</m:t>
                        </m:r>
                        <m:sSub>
                          <m:sSubPr>
                            <m:ctrlPr>
                              <a:rPr lang="en-US" altLang="zh-CN" b="0" i="1" smtClean="0">
                                <a:latin typeface="Cambria Math"/>
                                <a:ea typeface="+mn-ea"/>
                              </a:rPr>
                            </m:ctrlPr>
                          </m:sSubPr>
                          <m:e>
                            <m:r>
                              <a:rPr lang="en-US" altLang="zh-CN" b="0" i="1" smtClean="0">
                                <a:latin typeface="Cambria Math"/>
                                <a:ea typeface="+mn-ea"/>
                              </a:rPr>
                              <m:t>𝐶</m:t>
                            </m:r>
                          </m:e>
                          <m:sub>
                            <m:r>
                              <a:rPr lang="en-US" altLang="zh-CN" b="0" i="1" smtClean="0">
                                <a:latin typeface="Cambria Math"/>
                                <a:ea typeface="+mn-ea"/>
                              </a:rPr>
                              <m:t>𝑘</m:t>
                            </m:r>
                          </m:sub>
                        </m:sSub>
                      </m:e>
                    </m:d>
                  </m:oMath>
                </a14:m>
                <a:r>
                  <a:rPr lang="zh-CN" altLang="en-US" dirty="0" smtClean="0">
                    <a:latin typeface="Cambria" panose="02040503050406030204" pitchFamily="18" charset="0"/>
                    <a:ea typeface="+mn-ea"/>
                  </a:rPr>
                  <a:t>，更新核心对象集合</a:t>
                </a:r>
                <a14:m>
                  <m:oMath xmlns:m="http://schemas.openxmlformats.org/officeDocument/2006/math">
                    <m:r>
                      <m:rPr>
                        <m:sty m:val="p"/>
                      </m:rPr>
                      <a:rPr lang="el-GR" altLang="zh-CN" i="1" smtClean="0">
                        <a:latin typeface="Cambria Math"/>
                        <a:ea typeface="Cambria Math"/>
                      </a:rPr>
                      <m:t>Ω</m:t>
                    </m:r>
                    <m:r>
                      <a:rPr lang="en-US" altLang="zh-CN" b="0" i="1" smtClean="0">
                        <a:latin typeface="Cambria Math"/>
                        <a:ea typeface="Cambria Math"/>
                      </a:rPr>
                      <m:t>=</m:t>
                    </m:r>
                    <m:r>
                      <m:rPr>
                        <m:sty m:val="p"/>
                      </m:rPr>
                      <a:rPr lang="el-GR" altLang="zh-CN" b="0" i="1" smtClean="0">
                        <a:latin typeface="Cambria Math"/>
                        <a:ea typeface="Cambria Math"/>
                      </a:rPr>
                      <m:t>Ω</m:t>
                    </m:r>
                    <m:r>
                      <a:rPr lang="en-US" altLang="zh-CN" b="0" i="1" smtClean="0">
                        <a:latin typeface="Cambria Math"/>
                        <a:ea typeface="Cambria Math"/>
                      </a:rPr>
                      <m:t>−</m:t>
                    </m:r>
                    <m:sSub>
                      <m:sSubPr>
                        <m:ctrlPr>
                          <a:rPr lang="en-US" altLang="zh-CN" i="1">
                            <a:latin typeface="Cambria Math"/>
                            <a:ea typeface="Cambria Math"/>
                          </a:rPr>
                        </m:ctrlPr>
                      </m:sSubPr>
                      <m:e>
                        <m:r>
                          <a:rPr lang="en-US" altLang="zh-CN" i="1">
                            <a:latin typeface="Cambria Math"/>
                            <a:ea typeface="Cambria Math"/>
                          </a:rPr>
                          <m:t>𝐶</m:t>
                        </m:r>
                      </m:e>
                      <m:sub>
                        <m:r>
                          <a:rPr lang="en-US" altLang="zh-CN" i="1">
                            <a:latin typeface="Cambria Math"/>
                            <a:ea typeface="Cambria Math"/>
                          </a:rPr>
                          <m:t>𝑘</m:t>
                        </m:r>
                      </m:sub>
                    </m:sSub>
                  </m:oMath>
                </a14:m>
                <a:r>
                  <a:rPr lang="zh-CN" altLang="en-US" dirty="0" smtClean="0">
                    <a:latin typeface="Cambria" panose="02040503050406030204" pitchFamily="18" charset="0"/>
                    <a:ea typeface="+mn-ea"/>
                  </a:rPr>
                  <a:t>，转入步骤（</a:t>
                </a:r>
                <a:r>
                  <a:rPr lang="en-US" altLang="zh-CN" dirty="0" smtClean="0">
                    <a:latin typeface="Cambria" panose="02040503050406030204" pitchFamily="18" charset="0"/>
                    <a:ea typeface="+mn-ea"/>
                  </a:rPr>
                  <a:t>3</a:t>
                </a:r>
                <a:r>
                  <a:rPr lang="zh-CN" altLang="en-US" dirty="0" smtClean="0">
                    <a:latin typeface="Cambria" panose="02040503050406030204" pitchFamily="18" charset="0"/>
                    <a:ea typeface="+mn-ea"/>
                  </a:rPr>
                  <a:t>）</a:t>
                </a:r>
                <a:endParaRPr lang="en-US" altLang="zh-CN" dirty="0" smtClean="0">
                  <a:latin typeface="Cambria" panose="02040503050406030204" pitchFamily="18" charset="0"/>
                  <a:ea typeface="+mn-ea"/>
                </a:endParaRPr>
              </a:p>
              <a:p>
                <a:pPr>
                  <a:lnSpc>
                    <a:spcPct val="160000"/>
                  </a:lnSpc>
                </a:pPr>
                <a:r>
                  <a:rPr lang="zh-CN" altLang="en-US" dirty="0" smtClean="0">
                    <a:latin typeface="Cambria" panose="02040503050406030204" pitchFamily="18" charset="0"/>
                    <a:ea typeface="+mn-ea"/>
                  </a:rPr>
                  <a:t>（</a:t>
                </a:r>
                <a:r>
                  <a:rPr lang="en-US" altLang="zh-CN" dirty="0" smtClean="0">
                    <a:latin typeface="Cambria" panose="02040503050406030204" pitchFamily="18" charset="0"/>
                    <a:ea typeface="+mn-ea"/>
                  </a:rPr>
                  <a:t>6</a:t>
                </a:r>
                <a:r>
                  <a:rPr lang="zh-CN" altLang="en-US" dirty="0" smtClean="0">
                    <a:latin typeface="Cambria" panose="02040503050406030204" pitchFamily="18" charset="0"/>
                    <a:ea typeface="+mn-ea"/>
                  </a:rPr>
                  <a:t>）在当前簇核心对象队列</a:t>
                </a:r>
                <a14:m>
                  <m:oMath xmlns:m="http://schemas.openxmlformats.org/officeDocument/2006/math">
                    <m:sSub>
                      <m:sSubPr>
                        <m:ctrlPr>
                          <a:rPr lang="en-US" altLang="zh-CN" i="1">
                            <a:latin typeface="Cambria Math"/>
                          </a:rPr>
                        </m:ctrlPr>
                      </m:sSubPr>
                      <m:e>
                        <m:r>
                          <m:rPr>
                            <m:sty m:val="p"/>
                          </m:rPr>
                          <a:rPr lang="el-GR" altLang="zh-CN" i="1">
                            <a:latin typeface="Cambria Math" panose="02040503050406030204" pitchFamily="18" charset="0"/>
                            <a:ea typeface="Cambria Math" panose="02040503050406030204" pitchFamily="18" charset="0"/>
                          </a:rPr>
                          <m:t>Ω</m:t>
                        </m:r>
                      </m:e>
                      <m:sub>
                        <m:r>
                          <a:rPr lang="en-US" altLang="zh-CN" i="1">
                            <a:latin typeface="Cambria Math" panose="02040503050406030204" pitchFamily="18" charset="0"/>
                          </a:rPr>
                          <m:t>𝑐𝑢𝑟</m:t>
                        </m:r>
                      </m:sub>
                    </m:sSub>
                  </m:oMath>
                </a14:m>
                <a:r>
                  <a:rPr lang="zh-CN" altLang="en-US" dirty="0" smtClean="0">
                    <a:latin typeface="Cambria" panose="02040503050406030204" pitchFamily="18" charset="0"/>
                    <a:ea typeface="+mn-ea"/>
                  </a:rPr>
                  <a:t>中取出一个核心对象</a:t>
                </a:r>
                <a14:m>
                  <m:oMath xmlns:m="http://schemas.openxmlformats.org/officeDocument/2006/math">
                    <m:sSup>
                      <m:sSupPr>
                        <m:ctrlPr>
                          <a:rPr lang="en-US" altLang="zh-CN" i="1" smtClean="0">
                            <a:latin typeface="Cambria Math"/>
                            <a:ea typeface="+mn-ea"/>
                          </a:rPr>
                        </m:ctrlPr>
                      </m:sSupPr>
                      <m:e>
                        <m:r>
                          <a:rPr lang="en-US" altLang="zh-CN" b="0" i="1" smtClean="0">
                            <a:latin typeface="Cambria Math"/>
                            <a:ea typeface="+mn-ea"/>
                          </a:rPr>
                          <m:t>𝑜</m:t>
                        </m:r>
                      </m:e>
                      <m:sup>
                        <m:r>
                          <a:rPr lang="en-US" altLang="zh-CN" b="0" i="1" smtClean="0">
                            <a:latin typeface="Cambria Math"/>
                            <a:ea typeface="+mn-ea"/>
                          </a:rPr>
                          <m:t>′</m:t>
                        </m:r>
                      </m:sup>
                    </m:sSup>
                  </m:oMath>
                </a14:m>
                <a:r>
                  <a:rPr lang="zh-CN" altLang="en-US" dirty="0" smtClean="0">
                    <a:latin typeface="Cambria" panose="02040503050406030204" pitchFamily="18" charset="0"/>
                    <a:ea typeface="+mn-ea"/>
                  </a:rPr>
                  <a:t>，通过邻域距离阈值找出所有的</a:t>
                </a:r>
                <a14:m>
                  <m:oMath xmlns:m="http://schemas.openxmlformats.org/officeDocument/2006/math">
                    <m:r>
                      <a:rPr lang="zh-CN" altLang="en-US" i="1" smtClean="0">
                        <a:latin typeface="Cambria Math"/>
                        <a:ea typeface="+mn-ea"/>
                      </a:rPr>
                      <m:t>𝜀</m:t>
                    </m:r>
                    <m:r>
                      <a:rPr lang="zh-CN" altLang="en-US" i="1" smtClean="0">
                        <a:latin typeface="Cambria Math"/>
                        <a:ea typeface="+mn-ea"/>
                      </a:rPr>
                      <m:t>−</m:t>
                    </m:r>
                  </m:oMath>
                </a14:m>
                <a:r>
                  <a:rPr lang="zh-CN" altLang="en-US" dirty="0" smtClean="0">
                    <a:latin typeface="Cambria" panose="02040503050406030204" pitchFamily="18" charset="0"/>
                    <a:ea typeface="+mn-ea"/>
                  </a:rPr>
                  <a:t>邻域样本集</a:t>
                </a:r>
                <a14:m>
                  <m:oMath xmlns:m="http://schemas.openxmlformats.org/officeDocument/2006/math">
                    <m:sSub>
                      <m:sSubPr>
                        <m:ctrlPr>
                          <a:rPr lang="en-US" altLang="zh-CN" i="1" smtClean="0">
                            <a:latin typeface="Cambria Math"/>
                            <a:ea typeface="+mn-ea"/>
                          </a:rPr>
                        </m:ctrlPr>
                      </m:sSubPr>
                      <m:e>
                        <m:r>
                          <a:rPr lang="en-US" altLang="zh-CN" b="0" i="1" smtClean="0">
                            <a:latin typeface="Cambria Math"/>
                            <a:ea typeface="+mn-ea"/>
                          </a:rPr>
                          <m:t>𝑁</m:t>
                        </m:r>
                      </m:e>
                      <m:sub>
                        <m:r>
                          <a:rPr lang="zh-CN" altLang="en-US" i="1" smtClean="0">
                            <a:latin typeface="Cambria Math"/>
                            <a:ea typeface="+mn-ea"/>
                          </a:rPr>
                          <m:t>𝜀</m:t>
                        </m:r>
                      </m:sub>
                    </m:sSub>
                    <m:d>
                      <m:dPr>
                        <m:ctrlPr>
                          <a:rPr lang="en-US" altLang="zh-CN" i="1" smtClean="0">
                            <a:latin typeface="Cambria Math"/>
                            <a:ea typeface="+mn-ea"/>
                          </a:rPr>
                        </m:ctrlPr>
                      </m:dPr>
                      <m:e>
                        <m:sSup>
                          <m:sSupPr>
                            <m:ctrlPr>
                              <a:rPr lang="en-US" altLang="zh-CN" i="1" smtClean="0">
                                <a:latin typeface="Cambria Math"/>
                                <a:ea typeface="+mn-ea"/>
                              </a:rPr>
                            </m:ctrlPr>
                          </m:sSupPr>
                          <m:e>
                            <m:r>
                              <a:rPr lang="en-US" altLang="zh-CN" b="0" i="1" smtClean="0">
                                <a:latin typeface="Cambria Math"/>
                                <a:ea typeface="+mn-ea"/>
                              </a:rPr>
                              <m:t>𝑜</m:t>
                            </m:r>
                          </m:e>
                          <m:sup>
                            <m:r>
                              <a:rPr lang="en-US" altLang="zh-CN" b="0" i="1" smtClean="0">
                                <a:latin typeface="Cambria Math"/>
                                <a:ea typeface="+mn-ea"/>
                              </a:rPr>
                              <m:t>′</m:t>
                            </m:r>
                          </m:sup>
                        </m:sSup>
                      </m:e>
                    </m:d>
                  </m:oMath>
                </a14:m>
                <a:r>
                  <a:rPr lang="zh-CN" altLang="en-US" dirty="0" smtClean="0">
                    <a:latin typeface="Cambria" panose="02040503050406030204" pitchFamily="18" charset="0"/>
                    <a:ea typeface="+mn-ea"/>
                  </a:rPr>
                  <a:t>，令</a:t>
                </a:r>
                <a14:m>
                  <m:oMath xmlns:m="http://schemas.openxmlformats.org/officeDocument/2006/math">
                    <m:r>
                      <a:rPr lang="zh-CN" altLang="en-US" i="1" smtClean="0">
                        <a:latin typeface="Cambria Math"/>
                        <a:ea typeface="+mn-ea"/>
                      </a:rPr>
                      <m:t>∆</m:t>
                    </m:r>
                    <m:r>
                      <a:rPr lang="en-US" altLang="zh-CN" b="0" i="1" smtClean="0">
                        <a:latin typeface="Cambria Math"/>
                        <a:ea typeface="+mn-ea"/>
                      </a:rPr>
                      <m:t>=</m:t>
                    </m:r>
                    <m:sSub>
                      <m:sSubPr>
                        <m:ctrlPr>
                          <a:rPr lang="en-US" altLang="zh-CN" i="1">
                            <a:latin typeface="Cambria Math"/>
                          </a:rPr>
                        </m:ctrlPr>
                      </m:sSubPr>
                      <m:e>
                        <m:r>
                          <a:rPr lang="en-US" altLang="zh-CN" i="1">
                            <a:latin typeface="Cambria Math"/>
                          </a:rPr>
                          <m:t>𝑁</m:t>
                        </m:r>
                      </m:e>
                      <m:sub>
                        <m:r>
                          <a:rPr lang="zh-CN" altLang="en-US" i="1">
                            <a:latin typeface="Cambria Math"/>
                          </a:rPr>
                          <m:t>𝜀</m:t>
                        </m:r>
                      </m:sub>
                    </m:sSub>
                    <m:d>
                      <m:dPr>
                        <m:ctrlPr>
                          <a:rPr lang="en-US" altLang="zh-CN" i="1">
                            <a:latin typeface="Cambria Math"/>
                          </a:rPr>
                        </m:ctrlPr>
                      </m:dPr>
                      <m:e>
                        <m:sSup>
                          <m:sSupPr>
                            <m:ctrlPr>
                              <a:rPr lang="en-US" altLang="zh-CN" i="1">
                                <a:latin typeface="Cambria Math"/>
                              </a:rPr>
                            </m:ctrlPr>
                          </m:sSupPr>
                          <m:e>
                            <m:r>
                              <a:rPr lang="en-US" altLang="zh-CN" i="1">
                                <a:latin typeface="Cambria Math"/>
                              </a:rPr>
                              <m:t>𝑜</m:t>
                            </m:r>
                          </m:e>
                          <m:sup>
                            <m:r>
                              <a:rPr lang="en-US" altLang="zh-CN" i="1">
                                <a:latin typeface="Cambria Math"/>
                              </a:rPr>
                              <m:t>′</m:t>
                            </m:r>
                          </m:sup>
                        </m:sSup>
                      </m:e>
                    </m:d>
                    <m:r>
                      <a:rPr lang="en-US" altLang="zh-CN" i="1" smtClean="0">
                        <a:latin typeface="Cambria Math"/>
                        <a:ea typeface="Cambria Math"/>
                      </a:rPr>
                      <m:t>∩</m:t>
                    </m:r>
                    <m:r>
                      <m:rPr>
                        <m:sty m:val="p"/>
                      </m:rPr>
                      <a:rPr lang="el-GR" altLang="zh-CN" i="1" smtClean="0">
                        <a:latin typeface="Cambria Math"/>
                        <a:ea typeface="Cambria Math"/>
                      </a:rPr>
                      <m:t>Γ</m:t>
                    </m:r>
                  </m:oMath>
                </a14:m>
                <a:r>
                  <a:rPr lang="zh-CN" altLang="en-US" dirty="0" smtClean="0">
                    <a:latin typeface="Cambria" panose="02040503050406030204" pitchFamily="18" charset="0"/>
                    <a:ea typeface="+mn-ea"/>
                  </a:rPr>
                  <a:t>，更新当前簇样本集合</a:t>
                </a:r>
                <a14:m>
                  <m:oMath xmlns:m="http://schemas.openxmlformats.org/officeDocument/2006/math">
                    <m:sSub>
                      <m:sSubPr>
                        <m:ctrlPr>
                          <a:rPr lang="en-US" altLang="zh-CN" i="1" smtClean="0">
                            <a:latin typeface="Cambria Math"/>
                            <a:ea typeface="+mn-ea"/>
                          </a:rPr>
                        </m:ctrlPr>
                      </m:sSubPr>
                      <m:e>
                        <m:r>
                          <a:rPr lang="en-US" altLang="zh-CN" b="0" i="1" smtClean="0">
                            <a:latin typeface="Cambria Math"/>
                            <a:ea typeface="+mn-ea"/>
                          </a:rPr>
                          <m:t>𝐶</m:t>
                        </m:r>
                      </m:e>
                      <m:sub>
                        <m:r>
                          <a:rPr lang="en-US" altLang="zh-CN" b="0" i="1" smtClean="0">
                            <a:latin typeface="Cambria Math"/>
                            <a:ea typeface="+mn-ea"/>
                          </a:rPr>
                          <m:t>𝑘</m:t>
                        </m:r>
                      </m:sub>
                    </m:sSub>
                    <m:r>
                      <a:rPr lang="en-US" altLang="zh-CN" b="0" i="1" smtClean="0">
                        <a:latin typeface="Cambria Math"/>
                        <a:ea typeface="+mn-ea"/>
                      </a:rPr>
                      <m:t>=</m:t>
                    </m:r>
                    <m:sSub>
                      <m:sSubPr>
                        <m:ctrlPr>
                          <a:rPr lang="en-US" altLang="zh-CN" b="0" i="1" smtClean="0">
                            <a:latin typeface="Cambria Math"/>
                            <a:ea typeface="+mn-ea"/>
                          </a:rPr>
                        </m:ctrlPr>
                      </m:sSubPr>
                      <m:e>
                        <m:r>
                          <a:rPr lang="en-US" altLang="zh-CN" b="0" i="1" smtClean="0">
                            <a:latin typeface="Cambria Math"/>
                            <a:ea typeface="+mn-ea"/>
                          </a:rPr>
                          <m:t>𝐶</m:t>
                        </m:r>
                      </m:e>
                      <m:sub>
                        <m:r>
                          <a:rPr lang="en-US" altLang="zh-CN" b="0" i="1" smtClean="0">
                            <a:latin typeface="Cambria Math"/>
                            <a:ea typeface="+mn-ea"/>
                          </a:rPr>
                          <m:t>𝑘</m:t>
                        </m:r>
                      </m:sub>
                    </m:sSub>
                    <m:r>
                      <a:rPr lang="en-US" altLang="zh-CN" b="0" i="1" smtClean="0">
                        <a:latin typeface="Cambria Math"/>
                        <a:ea typeface="Cambria Math"/>
                      </a:rPr>
                      <m:t>∪∆</m:t>
                    </m:r>
                  </m:oMath>
                </a14:m>
                <a:r>
                  <a:rPr lang="zh-CN" altLang="en-US" dirty="0" smtClean="0">
                    <a:latin typeface="Cambria" panose="02040503050406030204" pitchFamily="18" charset="0"/>
                    <a:ea typeface="+mn-ea"/>
                  </a:rPr>
                  <a:t>，更新未访问样本集合</a:t>
                </a:r>
                <a14:m>
                  <m:oMath xmlns:m="http://schemas.openxmlformats.org/officeDocument/2006/math">
                    <m:r>
                      <m:rPr>
                        <m:sty m:val="p"/>
                      </m:rPr>
                      <a:rPr lang="el-GR" altLang="zh-CN" i="1" smtClean="0">
                        <a:latin typeface="Cambria Math"/>
                        <a:ea typeface="Cambria Math"/>
                      </a:rPr>
                      <m:t>Γ</m:t>
                    </m:r>
                    <m:r>
                      <a:rPr lang="en-US" altLang="zh-CN" b="0" i="1" smtClean="0">
                        <a:latin typeface="Cambria Math"/>
                        <a:ea typeface="Cambria Math"/>
                      </a:rPr>
                      <m:t>=</m:t>
                    </m:r>
                    <m:r>
                      <m:rPr>
                        <m:sty m:val="p"/>
                      </m:rPr>
                      <a:rPr lang="el-GR" altLang="zh-CN" b="0" i="1" smtClean="0">
                        <a:latin typeface="Cambria Math"/>
                        <a:ea typeface="Cambria Math"/>
                      </a:rPr>
                      <m:t>Γ</m:t>
                    </m:r>
                    <m:r>
                      <a:rPr lang="en-US" altLang="zh-CN" b="0" i="1" smtClean="0">
                        <a:latin typeface="Cambria Math"/>
                        <a:ea typeface="Cambria Math"/>
                      </a:rPr>
                      <m:t>−∆</m:t>
                    </m:r>
                  </m:oMath>
                </a14:m>
                <a:r>
                  <a:rPr lang="zh-CN" altLang="en-US" dirty="0" smtClean="0">
                    <a:latin typeface="Cambria" panose="02040503050406030204" pitchFamily="18" charset="0"/>
                    <a:ea typeface="+mn-ea"/>
                  </a:rPr>
                  <a:t>，更新</a:t>
                </a:r>
                <a14:m>
                  <m:oMath xmlns:m="http://schemas.openxmlformats.org/officeDocument/2006/math">
                    <m:sSub>
                      <m:sSubPr>
                        <m:ctrlPr>
                          <a:rPr lang="en-US" altLang="zh-CN" i="1">
                            <a:latin typeface="Cambria Math"/>
                          </a:rPr>
                        </m:ctrlPr>
                      </m:sSubPr>
                      <m:e>
                        <m:r>
                          <m:rPr>
                            <m:sty m:val="p"/>
                          </m:rPr>
                          <a:rPr lang="el-GR" altLang="zh-CN" i="1">
                            <a:latin typeface="Cambria Math" panose="02040503050406030204" pitchFamily="18" charset="0"/>
                            <a:ea typeface="Cambria Math" panose="02040503050406030204" pitchFamily="18" charset="0"/>
                          </a:rPr>
                          <m:t>Ω</m:t>
                        </m:r>
                      </m:e>
                      <m:sub>
                        <m:r>
                          <a:rPr lang="en-US" altLang="zh-CN" i="1">
                            <a:latin typeface="Cambria Math" panose="02040503050406030204" pitchFamily="18" charset="0"/>
                          </a:rPr>
                          <m:t>𝑐𝑢𝑟</m:t>
                        </m:r>
                      </m:sub>
                    </m:sSub>
                    <m:r>
                      <a:rPr lang="en-US" altLang="zh-CN" b="0" i="1" smtClean="0">
                        <a:latin typeface="Cambria Math"/>
                      </a:rPr>
                      <m:t>=</m:t>
                    </m:r>
                    <m:sSub>
                      <m:sSubPr>
                        <m:ctrlPr>
                          <a:rPr lang="en-US" altLang="zh-CN" i="1">
                            <a:latin typeface="Cambria Math"/>
                          </a:rPr>
                        </m:ctrlPr>
                      </m:sSubPr>
                      <m:e>
                        <m:r>
                          <m:rPr>
                            <m:sty m:val="p"/>
                          </m:rPr>
                          <a:rPr lang="el-GR" altLang="zh-CN" i="1">
                            <a:latin typeface="Cambria Math" panose="02040503050406030204" pitchFamily="18" charset="0"/>
                            <a:ea typeface="Cambria Math" panose="02040503050406030204" pitchFamily="18" charset="0"/>
                          </a:rPr>
                          <m:t>Ω</m:t>
                        </m:r>
                      </m:e>
                      <m:sub>
                        <m:r>
                          <a:rPr lang="en-US" altLang="zh-CN" i="1">
                            <a:latin typeface="Cambria Math" panose="02040503050406030204" pitchFamily="18" charset="0"/>
                          </a:rPr>
                          <m:t>𝑐𝑢𝑟</m:t>
                        </m:r>
                      </m:sub>
                    </m:sSub>
                    <m:r>
                      <a:rPr lang="en-US" altLang="zh-CN" i="1" smtClean="0">
                        <a:latin typeface="Cambria Math"/>
                        <a:ea typeface="Cambria Math"/>
                      </a:rPr>
                      <m:t>∪</m:t>
                    </m:r>
                    <m:d>
                      <m:dPr>
                        <m:ctrlPr>
                          <a:rPr lang="en-US" altLang="zh-CN" i="1" smtClean="0">
                            <a:latin typeface="Cambria Math"/>
                            <a:ea typeface="Cambria Math"/>
                          </a:rPr>
                        </m:ctrlPr>
                      </m:dPr>
                      <m:e>
                        <m:sSub>
                          <m:sSubPr>
                            <m:ctrlPr>
                              <a:rPr lang="en-US" altLang="zh-CN" i="1" smtClean="0">
                                <a:latin typeface="Cambria Math"/>
                                <a:ea typeface="Cambria Math"/>
                              </a:rPr>
                            </m:ctrlPr>
                          </m:sSubPr>
                          <m:e>
                            <m:r>
                              <a:rPr lang="en-US" altLang="zh-CN" b="0" i="1" smtClean="0">
                                <a:latin typeface="Cambria Math"/>
                                <a:ea typeface="Cambria Math"/>
                              </a:rPr>
                              <m:t>𝑁</m:t>
                            </m:r>
                          </m:e>
                          <m:sub>
                            <m:r>
                              <a:rPr lang="zh-CN" altLang="en-US" i="1" smtClean="0">
                                <a:latin typeface="Cambria Math"/>
                                <a:ea typeface="Cambria Math"/>
                              </a:rPr>
                              <m:t>𝜀</m:t>
                            </m:r>
                          </m:sub>
                        </m:sSub>
                        <m:d>
                          <m:dPr>
                            <m:ctrlPr>
                              <a:rPr lang="en-US" altLang="zh-CN" i="1" smtClean="0">
                                <a:latin typeface="Cambria Math"/>
                                <a:ea typeface="Cambria Math"/>
                              </a:rPr>
                            </m:ctrlPr>
                          </m:dPr>
                          <m:e>
                            <m:sSup>
                              <m:sSupPr>
                                <m:ctrlPr>
                                  <a:rPr lang="en-US" altLang="zh-CN" i="1" smtClean="0">
                                    <a:latin typeface="Cambria Math"/>
                                    <a:ea typeface="Cambria Math"/>
                                  </a:rPr>
                                </m:ctrlPr>
                              </m:sSupPr>
                              <m:e>
                                <m:r>
                                  <a:rPr lang="en-US" altLang="zh-CN" b="0" i="1" smtClean="0">
                                    <a:latin typeface="Cambria Math"/>
                                    <a:ea typeface="Cambria Math"/>
                                  </a:rPr>
                                  <m:t>𝑜</m:t>
                                </m:r>
                              </m:e>
                              <m:sup>
                                <m:r>
                                  <a:rPr lang="en-US" altLang="zh-CN" b="0" i="1" smtClean="0">
                                    <a:latin typeface="Cambria Math"/>
                                    <a:ea typeface="Cambria Math"/>
                                  </a:rPr>
                                  <m:t>′</m:t>
                                </m:r>
                              </m:sup>
                            </m:sSup>
                          </m:e>
                        </m:d>
                        <m:r>
                          <a:rPr lang="en-US" altLang="zh-CN" i="1" smtClean="0">
                            <a:latin typeface="Cambria Math"/>
                            <a:ea typeface="Cambria Math"/>
                          </a:rPr>
                          <m:t>∩</m:t>
                        </m:r>
                        <m:r>
                          <m:rPr>
                            <m:sty m:val="p"/>
                          </m:rPr>
                          <a:rPr lang="el-GR" altLang="zh-CN" i="1" smtClean="0">
                            <a:latin typeface="Cambria Math"/>
                            <a:ea typeface="Cambria Math"/>
                          </a:rPr>
                          <m:t>Ω</m:t>
                        </m:r>
                      </m:e>
                    </m:d>
                  </m:oMath>
                </a14:m>
                <a:r>
                  <a:rPr lang="zh-CN" altLang="en-US" dirty="0" smtClean="0">
                    <a:latin typeface="Cambria" panose="02040503050406030204" pitchFamily="18" charset="0"/>
                    <a:ea typeface="+mn-ea"/>
                  </a:rPr>
                  <a:t>，转步骤（</a:t>
                </a:r>
                <a:r>
                  <a:rPr lang="en-US" altLang="zh-CN" dirty="0" smtClean="0">
                    <a:latin typeface="Cambria" panose="02040503050406030204" pitchFamily="18" charset="0"/>
                    <a:ea typeface="+mn-ea"/>
                  </a:rPr>
                  <a:t>5</a:t>
                </a:r>
                <a:r>
                  <a:rPr lang="zh-CN" altLang="en-US" dirty="0" smtClean="0">
                    <a:latin typeface="Cambria" panose="02040503050406030204" pitchFamily="18" charset="0"/>
                    <a:ea typeface="+mn-ea"/>
                  </a:rPr>
                  <a:t>）。</a:t>
                </a:r>
                <a:endParaRPr lang="zh-CN" altLang="en-US" dirty="0">
                  <a:latin typeface="Cambria" panose="02040503050406030204" pitchFamily="18" charset="0"/>
                  <a:ea typeface="+mn-ea"/>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922780" y="615950"/>
                <a:ext cx="9890125" cy="3242310"/>
              </a:xfrm>
              <a:blipFill rotWithShape="1">
                <a:blip r:embed="rId1"/>
                <a:stretch>
                  <a:fillRect l="-511" r="-584" b="-1114"/>
                </a:stretch>
              </a:blipFill>
            </p:spPr>
            <p:txBody>
              <a:bodyPr/>
              <a:lstStyle/>
              <a:p>
                <a:r>
                  <a:rPr lang="zh-CN" altLang="en-US">
                    <a:noFill/>
                  </a:rPr>
                  <a:t> </a:t>
                </a:r>
                <a:endParaRPr lang="zh-CN" altLang="en-US">
                  <a:noFill/>
                </a:endParaRPr>
              </a:p>
            </p:txBody>
          </p:sp>
        </mc:Fallback>
      </mc:AlternateContent>
      <p:sp>
        <p:nvSpPr>
          <p:cNvPr id="6" name="矩形 5"/>
          <p:cNvSpPr/>
          <p:nvPr/>
        </p:nvSpPr>
        <p:spPr>
          <a:xfrm>
            <a:off x="4906645" y="5104130"/>
            <a:ext cx="3493135" cy="576580"/>
          </a:xfrm>
          <a:prstGeom prst="rect">
            <a:avLst/>
          </a:prstGeom>
        </p:spPr>
        <p:style>
          <a:lnRef idx="2">
            <a:schemeClr val="accent1"/>
          </a:lnRef>
          <a:fillRef idx="1">
            <a:schemeClr val="lt1"/>
          </a:fillRef>
          <a:effectRef idx="0">
            <a:schemeClr val="accent1"/>
          </a:effectRef>
          <a:fontRef idx="minor">
            <a:schemeClr val="dk1"/>
          </a:fontRef>
        </p:style>
        <p:txBody>
          <a:bodyPr rtlCol="0" anchor="ctr"/>
          <a:p>
            <a:pPr algn="ctr"/>
            <a:endParaRPr lang="zh-CN" altLang="en-US"/>
          </a:p>
        </p:txBody>
      </p:sp>
      <p:sp>
        <p:nvSpPr>
          <p:cNvPr id="7" name="文本框 6"/>
          <p:cNvSpPr txBox="1"/>
          <p:nvPr/>
        </p:nvSpPr>
        <p:spPr>
          <a:xfrm>
            <a:off x="5535295" y="5842635"/>
            <a:ext cx="3249295" cy="829945"/>
          </a:xfrm>
          <a:prstGeom prst="rect">
            <a:avLst/>
          </a:prstGeom>
          <a:noFill/>
        </p:spPr>
        <p:txBody>
          <a:bodyPr wrap="square" rtlCol="0">
            <a:spAutoFit/>
          </a:bodyPr>
          <a:p>
            <a:r>
              <a:rPr lang="zh-CN" altLang="en-US" sz="2400" b="1"/>
              <a:t>当前簇核心对象队列（先进先出）</a:t>
            </a:r>
            <a:endParaRPr lang="zh-CN" altLang="en-US" sz="2400" b="1"/>
          </a:p>
        </p:txBody>
      </p:sp>
      <p:sp>
        <p:nvSpPr>
          <p:cNvPr id="8" name="文本框 7"/>
          <p:cNvSpPr txBox="1"/>
          <p:nvPr/>
        </p:nvSpPr>
        <p:spPr>
          <a:xfrm>
            <a:off x="4906645" y="5161915"/>
            <a:ext cx="419735" cy="460375"/>
          </a:xfrm>
          <a:prstGeom prst="rect">
            <a:avLst/>
          </a:prstGeom>
          <a:noFill/>
          <a:ln>
            <a:solidFill>
              <a:schemeClr val="tx1"/>
            </a:solidFill>
          </a:ln>
        </p:spPr>
        <p:txBody>
          <a:bodyPr wrap="square" rtlCol="0">
            <a:spAutoFit/>
          </a:bodyPr>
          <a:p>
            <a:r>
              <a:rPr lang="en-US" altLang="zh-CN" sz="2400"/>
              <a:t>o</a:t>
            </a:r>
            <a:endParaRPr lang="en-US" altLang="zh-CN" sz="2400"/>
          </a:p>
        </p:txBody>
      </p:sp>
      <p:cxnSp>
        <p:nvCxnSpPr>
          <p:cNvPr id="9" name="直接箭头连接符 8"/>
          <p:cNvCxnSpPr>
            <a:endCxn id="10" idx="1"/>
          </p:cNvCxnSpPr>
          <p:nvPr/>
        </p:nvCxnSpPr>
        <p:spPr>
          <a:xfrm flipV="1">
            <a:off x="5168265" y="4180840"/>
            <a:ext cx="1205865" cy="2133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6374130" y="3858260"/>
            <a:ext cx="1851660" cy="645160"/>
          </a:xfrm>
          <a:prstGeom prst="rect">
            <a:avLst/>
          </a:prstGeom>
          <a:solidFill>
            <a:schemeClr val="accent6">
              <a:lumMod val="20000"/>
              <a:lumOff val="80000"/>
            </a:schemeClr>
          </a:solidFill>
          <a:ln>
            <a:solidFill>
              <a:srgbClr val="C00000"/>
            </a:solidFill>
          </a:ln>
        </p:spPr>
        <p:txBody>
          <a:bodyPr wrap="square" rtlCol="0">
            <a:spAutoFit/>
          </a:bodyPr>
          <a:p>
            <a:r>
              <a:rPr lang="zh-CN" altLang="en-US" b="1"/>
              <a:t>取出其邻域中的其它核心点</a:t>
            </a:r>
            <a:endParaRPr lang="zh-CN" altLang="en-US" b="1"/>
          </a:p>
        </p:txBody>
      </p:sp>
      <p:sp>
        <p:nvSpPr>
          <p:cNvPr id="11" name="右弧形箭头 10"/>
          <p:cNvSpPr/>
          <p:nvPr/>
        </p:nvSpPr>
        <p:spPr>
          <a:xfrm>
            <a:off x="8277225" y="4218305"/>
            <a:ext cx="593725" cy="127508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2" name="文本框 11"/>
          <p:cNvSpPr txBox="1"/>
          <p:nvPr/>
        </p:nvSpPr>
        <p:spPr>
          <a:xfrm>
            <a:off x="4748530" y="4319905"/>
            <a:ext cx="419735" cy="460375"/>
          </a:xfrm>
          <a:prstGeom prst="rect">
            <a:avLst/>
          </a:prstGeom>
          <a:noFill/>
          <a:ln>
            <a:solidFill>
              <a:schemeClr val="tx1"/>
            </a:solidFill>
          </a:ln>
        </p:spPr>
        <p:txBody>
          <a:bodyPr wrap="square" rtlCol="0">
            <a:spAutoFit/>
          </a:bodyPr>
          <a:p>
            <a:r>
              <a:rPr lang="en-US" altLang="zh-CN" sz="2400"/>
              <a:t>o</a:t>
            </a:r>
            <a:endParaRPr lang="en-US" altLang="zh-CN" sz="2400"/>
          </a:p>
        </p:txBody>
      </p:sp>
      <p:cxnSp>
        <p:nvCxnSpPr>
          <p:cNvPr id="13" name="直接箭头连接符 12"/>
          <p:cNvCxnSpPr>
            <a:stCxn id="8" idx="0"/>
            <a:endCxn id="12" idx="2"/>
          </p:cNvCxnSpPr>
          <p:nvPr/>
        </p:nvCxnSpPr>
        <p:spPr>
          <a:xfrm flipH="1" flipV="1">
            <a:off x="4958715" y="4780280"/>
            <a:ext cx="158115" cy="381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p:nvPr/>
        </p:nvPicPr>
        <p:blipFill>
          <a:blip r:embed="rId1">
            <a:extLst>
              <a:ext uri="{28A0092B-C50C-407E-A947-70E740481C1C}">
                <a14:useLocalDpi xmlns:a14="http://schemas.microsoft.com/office/drawing/2010/main" val="0"/>
              </a:ext>
            </a:extLst>
          </a:blip>
          <a:stretch>
            <a:fillRect/>
          </a:stretch>
        </p:blipFill>
        <p:spPr>
          <a:xfrm>
            <a:off x="4537075" y="193675"/>
            <a:ext cx="6570345" cy="4194810"/>
          </a:xfrm>
          <a:prstGeom prst="rect">
            <a:avLst/>
          </a:prstGeom>
        </p:spPr>
      </p:pic>
      <p:sp>
        <p:nvSpPr>
          <p:cNvPr id="16" name="文本框 15"/>
          <p:cNvSpPr txBox="1"/>
          <p:nvPr/>
        </p:nvSpPr>
        <p:spPr>
          <a:xfrm>
            <a:off x="2592566" y="1101611"/>
            <a:ext cx="1944216" cy="460375"/>
          </a:xfrm>
          <a:prstGeom prst="rect">
            <a:avLst/>
          </a:prstGeom>
          <a:noFill/>
        </p:spPr>
        <p:txBody>
          <a:bodyPr wrap="square" rtlCol="0">
            <a:spAutoFit/>
          </a:bodyPr>
          <a:lstStyle/>
          <a:p>
            <a:pPr marL="342900" indent="-342900">
              <a:lnSpc>
                <a:spcPct val="120000"/>
              </a:lnSpc>
              <a:buClr>
                <a:schemeClr val="accent4"/>
              </a:buClr>
              <a:buFont typeface="Wingdings" panose="05000000000000000000" pitchFamily="2" charset="2"/>
              <a:buChar char="n"/>
            </a:pPr>
            <a:r>
              <a:rPr lang="zh-CN" altLang="en-US" sz="2000" dirty="0" smtClean="0">
                <a:latin typeface="Cambria" panose="02040503050406030204" pitchFamily="18" charset="0"/>
              </a:rPr>
              <a:t>聚类效果</a:t>
            </a:r>
            <a:endParaRPr lang="zh-CN" altLang="zh-CN" sz="2000" dirty="0">
              <a:latin typeface="Cambria" panose="02040503050406030204" pitchFamily="18" charset="0"/>
            </a:endParaRPr>
          </a:p>
        </p:txBody>
      </p:sp>
      <p:pic>
        <p:nvPicPr>
          <p:cNvPr id="296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8503" y="4674363"/>
            <a:ext cx="2088232" cy="1935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69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69752" y="4534906"/>
            <a:ext cx="2484905" cy="1863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6906" y="4499346"/>
            <a:ext cx="2492972" cy="1863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内容占位符 3"/>
          <p:cNvSpPr txBox="1"/>
          <p:nvPr/>
        </p:nvSpPr>
        <p:spPr>
          <a:xfrm>
            <a:off x="2400172" y="449615"/>
            <a:ext cx="5541113"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zh-CN" altLang="zh-CN" sz="3200" b="1" dirty="0" smtClean="0">
                <a:latin typeface="Cambria" panose="02040503050406030204" pitchFamily="18" charset="0"/>
              </a:rPr>
              <a:t>密度</a:t>
            </a:r>
            <a:r>
              <a:rPr lang="zh-CN" altLang="zh-CN" sz="3200" b="1" dirty="0">
                <a:latin typeface="Cambria" panose="02040503050406030204" pitchFamily="18" charset="0"/>
              </a:rPr>
              <a:t>峰值聚类</a:t>
            </a:r>
            <a:endParaRPr lang="zh-CN" altLang="zh-CN" sz="3200" b="1" dirty="0">
              <a:latin typeface="Cambria" panose="02040503050406030204" pitchFamily="18" charset="0"/>
            </a:endParaRPr>
          </a:p>
        </p:txBody>
      </p:sp>
      <p:sp>
        <p:nvSpPr>
          <p:cNvPr id="7" name="文本框 6"/>
          <p:cNvSpPr txBox="1"/>
          <p:nvPr/>
        </p:nvSpPr>
        <p:spPr>
          <a:xfrm>
            <a:off x="2422840" y="1474460"/>
            <a:ext cx="7849624" cy="3322955"/>
          </a:xfrm>
          <a:prstGeom prst="rect">
            <a:avLst/>
          </a:prstGeom>
          <a:noFill/>
        </p:spPr>
        <p:txBody>
          <a:bodyPr wrap="square" rtlCol="0">
            <a:spAutoFit/>
          </a:bodyPr>
          <a:lstStyle/>
          <a:p>
            <a:pPr marL="342900" indent="-342900">
              <a:lnSpc>
                <a:spcPct val="150000"/>
              </a:lnSpc>
              <a:buClr>
                <a:schemeClr val="accent4"/>
              </a:buClr>
              <a:buSzPct val="100000"/>
              <a:buFont typeface="Wingdings" panose="05000000000000000000" pitchFamily="2" charset="2"/>
              <a:buChar char="n"/>
            </a:pPr>
            <a:r>
              <a:rPr lang="zh-CN" altLang="zh-CN" sz="2800" b="1" dirty="0">
                <a:latin typeface="Cambria" panose="02040503050406030204" pitchFamily="18" charset="0"/>
              </a:rPr>
              <a:t>思想：所有紧密相连的样本点被低密度区域分割，而且这些低密度区域的点距离其它高密度区域都比较远，算法的目的就是过滤低密度区域的样本点（即噪声数据），发现高密度区域的样本点</a:t>
            </a:r>
            <a:r>
              <a:rPr lang="zh-CN" altLang="zh-CN" sz="2800" b="1" dirty="0" smtClean="0">
                <a:latin typeface="Cambria" panose="02040503050406030204" pitchFamily="18" charset="0"/>
              </a:rPr>
              <a:t>。</a:t>
            </a:r>
            <a:endParaRPr lang="zh-CN" altLang="zh-CN" sz="2800" b="1" dirty="0" smtClean="0">
              <a:latin typeface="Cambria" panose="02040503050406030204" pitchFamily="18" charset="0"/>
            </a:endParaRPr>
          </a:p>
        </p:txBody>
      </p:sp>
      <p:sp>
        <p:nvSpPr>
          <p:cNvPr id="4" name="Rectangle 2"/>
          <p:cNvSpPr>
            <a:spLocks noChangeArrowheads="1"/>
          </p:cNvSpPr>
          <p:nvPr/>
        </p:nvSpPr>
        <p:spPr bwMode="auto">
          <a:xfrm>
            <a:off x="1487488" y="1097953"/>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Cambria" panose="02040503050406030204"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内容占位符 3"/>
          <p:cNvSpPr txBox="1"/>
          <p:nvPr/>
        </p:nvSpPr>
        <p:spPr>
          <a:xfrm>
            <a:off x="2400172" y="449615"/>
            <a:ext cx="5541113"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zh-CN" altLang="zh-CN" sz="3200" b="1" dirty="0" smtClean="0">
                <a:latin typeface="Cambria" panose="02040503050406030204" pitchFamily="18" charset="0"/>
              </a:rPr>
              <a:t>密度</a:t>
            </a:r>
            <a:r>
              <a:rPr lang="zh-CN" altLang="zh-CN" sz="3200" b="1" dirty="0">
                <a:latin typeface="Cambria" panose="02040503050406030204" pitchFamily="18" charset="0"/>
              </a:rPr>
              <a:t>峰值聚类</a:t>
            </a:r>
            <a:endParaRPr lang="zh-CN" altLang="zh-CN" sz="3200" b="1" dirty="0">
              <a:latin typeface="Cambria" panose="02040503050406030204" pitchFamily="18" charset="0"/>
            </a:endParaRPr>
          </a:p>
        </p:txBody>
      </p:sp>
      <p:sp>
        <p:nvSpPr>
          <p:cNvPr id="4" name="Rectangle 2"/>
          <p:cNvSpPr>
            <a:spLocks noChangeArrowheads="1"/>
          </p:cNvSpPr>
          <p:nvPr/>
        </p:nvSpPr>
        <p:spPr bwMode="auto">
          <a:xfrm>
            <a:off x="1487488" y="1097953"/>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Cambria" panose="02040503050406030204" pitchFamily="18" charset="0"/>
            </a:endParaRPr>
          </a:p>
        </p:txBody>
      </p:sp>
      <p:graphicFrame>
        <p:nvGraphicFramePr>
          <p:cNvPr id="6" name="对象 5"/>
          <p:cNvGraphicFramePr>
            <a:graphicFrameLocks noChangeAspect="1"/>
          </p:cNvGraphicFramePr>
          <p:nvPr/>
        </p:nvGraphicFramePr>
        <p:xfrm>
          <a:off x="4028470" y="1609978"/>
          <a:ext cx="2044700" cy="511175"/>
        </p:xfrm>
        <a:graphic>
          <a:graphicData uri="http://schemas.openxmlformats.org/presentationml/2006/ole">
            <mc:AlternateContent xmlns:mc="http://schemas.openxmlformats.org/markup-compatibility/2006">
              <mc:Choice xmlns:v="urn:schemas-microsoft-com:vml" Requires="v">
                <p:oleObj spid="_x0000_s27146" name="Equation" r:id="rId1" imgW="49072800" imgH="12496800" progId="Equation.DSMT4">
                  <p:embed/>
                </p:oleObj>
              </mc:Choice>
              <mc:Fallback>
                <p:oleObj name="Equation" r:id="rId1" imgW="49072800" imgH="12496800" progId="Equation.DSMT4">
                  <p:embed/>
                  <p:pic>
                    <p:nvPicPr>
                      <p:cNvPr id="0" name="Object 1"/>
                      <p:cNvPicPr>
                        <a:picLocks noChangeAspect="1" noChangeArrowheads="1"/>
                      </p:cNvPicPr>
                      <p:nvPr/>
                    </p:nvPicPr>
                    <p:blipFill>
                      <a:blip r:embed="rId2"/>
                      <a:srcRect/>
                      <a:stretch>
                        <a:fillRect/>
                      </a:stretch>
                    </p:blipFill>
                    <p:spPr bwMode="auto">
                      <a:xfrm>
                        <a:off x="4028470" y="1609978"/>
                        <a:ext cx="2044700"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文本框 15"/>
          <p:cNvSpPr txBox="1"/>
          <p:nvPr/>
        </p:nvSpPr>
        <p:spPr>
          <a:xfrm>
            <a:off x="2516302" y="1616625"/>
            <a:ext cx="1728192" cy="460375"/>
          </a:xfrm>
          <a:prstGeom prst="rect">
            <a:avLst/>
          </a:prstGeom>
          <a:noFill/>
        </p:spPr>
        <p:txBody>
          <a:bodyPr wrap="square" rtlCol="0">
            <a:spAutoFit/>
          </a:bodyPr>
          <a:lstStyle/>
          <a:p>
            <a:pPr marL="342900" indent="-342900">
              <a:lnSpc>
                <a:spcPct val="120000"/>
              </a:lnSpc>
              <a:buClr>
                <a:schemeClr val="accent4"/>
              </a:buClr>
              <a:buSzPct val="100000"/>
              <a:buFont typeface="Wingdings" panose="05000000000000000000" pitchFamily="2" charset="2"/>
              <a:buChar char="n"/>
            </a:pPr>
            <a:r>
              <a:rPr lang="zh-CN" altLang="zh-CN" sz="2000" dirty="0" smtClean="0">
                <a:latin typeface="Cambria" panose="02040503050406030204" pitchFamily="18" charset="0"/>
              </a:rPr>
              <a:t>局部</a:t>
            </a:r>
            <a:r>
              <a:rPr lang="zh-CN" altLang="zh-CN" sz="2000" dirty="0">
                <a:latin typeface="Cambria" panose="02040503050406030204" pitchFamily="18" charset="0"/>
              </a:rPr>
              <a:t>密度</a:t>
            </a:r>
            <a:endParaRPr lang="zh-CN" altLang="en-US" sz="2000" dirty="0">
              <a:latin typeface="Cambria" panose="02040503050406030204" pitchFamily="18" charset="0"/>
            </a:endParaRPr>
          </a:p>
        </p:txBody>
      </p:sp>
      <p:sp>
        <p:nvSpPr>
          <p:cNvPr id="18" name="文本框 17"/>
          <p:cNvSpPr txBox="1"/>
          <p:nvPr/>
        </p:nvSpPr>
        <p:spPr>
          <a:xfrm>
            <a:off x="5949584" y="1579482"/>
            <a:ext cx="981556" cy="460375"/>
          </a:xfrm>
          <a:prstGeom prst="rect">
            <a:avLst/>
          </a:prstGeom>
          <a:noFill/>
        </p:spPr>
        <p:txBody>
          <a:bodyPr wrap="square" rtlCol="0">
            <a:spAutoFit/>
          </a:bodyPr>
          <a:lstStyle/>
          <a:p>
            <a:pPr>
              <a:lnSpc>
                <a:spcPct val="120000"/>
              </a:lnSpc>
              <a:buClr>
                <a:schemeClr val="accent4"/>
              </a:buClr>
              <a:buSzPct val="100000"/>
            </a:pPr>
            <a:r>
              <a:rPr lang="zh-CN" altLang="zh-CN" sz="2000" dirty="0">
                <a:latin typeface="Cambria" panose="02040503050406030204" pitchFamily="18" charset="0"/>
              </a:rPr>
              <a:t>，其中， </a:t>
            </a:r>
            <a:endParaRPr lang="zh-CN" altLang="en-US" sz="2000" dirty="0">
              <a:latin typeface="Cambria" panose="02040503050406030204" pitchFamily="18" charset="0"/>
            </a:endParaRPr>
          </a:p>
        </p:txBody>
      </p:sp>
      <p:graphicFrame>
        <p:nvGraphicFramePr>
          <p:cNvPr id="9" name="对象 8"/>
          <p:cNvGraphicFramePr>
            <a:graphicFrameLocks noChangeAspect="1"/>
          </p:cNvGraphicFramePr>
          <p:nvPr/>
        </p:nvGraphicFramePr>
        <p:xfrm>
          <a:off x="3275965" y="2571750"/>
          <a:ext cx="3549650" cy="1258570"/>
        </p:xfrm>
        <a:graphic>
          <a:graphicData uri="http://schemas.openxmlformats.org/presentationml/2006/ole">
            <mc:AlternateContent xmlns:mc="http://schemas.openxmlformats.org/markup-compatibility/2006">
              <mc:Choice xmlns:v="urn:schemas-microsoft-com:vml" Requires="v">
                <p:oleObj spid="_x0000_s27147" name="Equation" r:id="rId3" imgW="63398400" imgH="22555200" progId="Equation.DSMT4">
                  <p:embed/>
                </p:oleObj>
              </mc:Choice>
              <mc:Fallback>
                <p:oleObj name="Equation" r:id="rId3" imgW="63398400" imgH="22555200" progId="Equation.DSMT4">
                  <p:embed/>
                  <p:pic>
                    <p:nvPicPr>
                      <p:cNvPr id="0" name="Object 4"/>
                      <p:cNvPicPr>
                        <a:picLocks noChangeAspect="1" noChangeArrowheads="1"/>
                      </p:cNvPicPr>
                      <p:nvPr/>
                    </p:nvPicPr>
                    <p:blipFill>
                      <a:blip r:embed="rId4"/>
                      <a:srcRect/>
                      <a:stretch>
                        <a:fillRect/>
                      </a:stretch>
                    </p:blipFill>
                    <p:spPr bwMode="auto">
                      <a:xfrm>
                        <a:off x="3275965" y="2571750"/>
                        <a:ext cx="3549650" cy="12585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文本框 19"/>
          <p:cNvSpPr txBox="1"/>
          <p:nvPr/>
        </p:nvSpPr>
        <p:spPr>
          <a:xfrm>
            <a:off x="2423592" y="4667652"/>
            <a:ext cx="4536504" cy="1568450"/>
          </a:xfrm>
          <a:prstGeom prst="rect">
            <a:avLst/>
          </a:prstGeom>
          <a:noFill/>
        </p:spPr>
        <p:txBody>
          <a:bodyPr wrap="square" rtlCol="0">
            <a:spAutoFit/>
          </a:bodyPr>
          <a:lstStyle/>
          <a:p>
            <a:pPr>
              <a:lnSpc>
                <a:spcPct val="120000"/>
              </a:lnSpc>
              <a:buClr>
                <a:schemeClr val="accent4"/>
              </a:buClr>
              <a:buSzPct val="100000"/>
            </a:pPr>
            <a:r>
              <a:rPr lang="zh-CN" altLang="en-US" sz="2000" dirty="0" smtClean="0">
                <a:latin typeface="Cambria" panose="02040503050406030204" pitchFamily="18" charset="0"/>
              </a:rPr>
              <a:t>这里     </a:t>
            </a:r>
            <a:r>
              <a:rPr lang="zh-CN" altLang="en-US" sz="2000" dirty="0" smtClean="0">
                <a:latin typeface="Cambria" panose="02040503050406030204" pitchFamily="18" charset="0"/>
              </a:rPr>
              <a:t> 是</a:t>
            </a:r>
            <a:r>
              <a:rPr lang="zh-CN" altLang="en-US" sz="2000" dirty="0">
                <a:latin typeface="Cambria" panose="02040503050406030204" pitchFamily="18" charset="0"/>
              </a:rPr>
              <a:t>指样本点</a:t>
            </a:r>
            <a:r>
              <a:rPr lang="en-US" altLang="zh-CN" sz="2000" i="1" dirty="0" err="1">
                <a:latin typeface="Cambria" panose="02040503050406030204" pitchFamily="18" charset="0"/>
                <a:ea typeface="Cambria" panose="02040503050406030204" pitchFamily="18" charset="0"/>
              </a:rPr>
              <a:t>i</a:t>
            </a:r>
            <a:r>
              <a:rPr lang="zh-CN" altLang="en-US" sz="2000" dirty="0">
                <a:latin typeface="Cambria" panose="02040503050406030204" pitchFamily="18" charset="0"/>
              </a:rPr>
              <a:t>和样本点</a:t>
            </a:r>
            <a:r>
              <a:rPr lang="en-US" altLang="zh-CN" sz="2000" i="1" dirty="0">
                <a:latin typeface="Cambria" panose="02040503050406030204" pitchFamily="18" charset="0"/>
                <a:ea typeface="Cambria" panose="02040503050406030204" pitchFamily="18" charset="0"/>
              </a:rPr>
              <a:t>j</a:t>
            </a:r>
            <a:r>
              <a:rPr lang="zh-CN" altLang="en-US" sz="2000" dirty="0">
                <a:latin typeface="Cambria" panose="02040503050406030204" pitchFamily="18" charset="0"/>
              </a:rPr>
              <a:t>之间的距离， </a:t>
            </a:r>
            <a:r>
              <a:rPr lang="zh-CN" altLang="en-US" sz="2000" dirty="0" smtClean="0">
                <a:latin typeface="Cambria" panose="02040503050406030204" pitchFamily="18" charset="0"/>
              </a:rPr>
              <a:t> </a:t>
            </a:r>
            <a:r>
              <a:rPr lang="zh-CN" altLang="en-US" sz="2000" dirty="0" smtClean="0">
                <a:latin typeface="Cambria" panose="02040503050406030204" pitchFamily="18" charset="0"/>
              </a:rPr>
              <a:t> 叫做</a:t>
            </a:r>
            <a:r>
              <a:rPr lang="zh-CN" altLang="en-US" sz="2000" dirty="0">
                <a:latin typeface="Cambria" panose="02040503050406030204" pitchFamily="18" charset="0"/>
              </a:rPr>
              <a:t>截断距离</a:t>
            </a:r>
            <a:r>
              <a:rPr lang="en-US" altLang="zh-CN" sz="2000" dirty="0">
                <a:latin typeface="Cambria" panose="02040503050406030204" pitchFamily="18" charset="0"/>
                <a:ea typeface="Cambria" panose="02040503050406030204" pitchFamily="18" charset="0"/>
              </a:rPr>
              <a:t>(</a:t>
            </a:r>
            <a:r>
              <a:rPr lang="zh-CN" altLang="en-US" sz="2000" dirty="0">
                <a:latin typeface="Cambria" panose="02040503050406030204" pitchFamily="18" charset="0"/>
              </a:rPr>
              <a:t>由用户事先指定</a:t>
            </a:r>
            <a:r>
              <a:rPr lang="en-US" altLang="zh-CN" sz="2000" dirty="0">
                <a:latin typeface="Cambria" panose="02040503050406030204" pitchFamily="18" charset="0"/>
                <a:ea typeface="Cambria" panose="02040503050406030204" pitchFamily="18" charset="0"/>
              </a:rPr>
              <a:t>)</a:t>
            </a:r>
            <a:r>
              <a:rPr lang="zh-CN" altLang="en-US" sz="2000" dirty="0">
                <a:latin typeface="Cambria" panose="02040503050406030204" pitchFamily="18" charset="0"/>
              </a:rPr>
              <a:t>。 </a:t>
            </a:r>
            <a:r>
              <a:rPr lang="zh-CN" altLang="en-US" sz="2000" dirty="0" smtClean="0">
                <a:latin typeface="Cambria" panose="02040503050406030204" pitchFamily="18" charset="0"/>
              </a:rPr>
              <a:t>  用于</a:t>
            </a:r>
            <a:r>
              <a:rPr lang="zh-CN" altLang="en-US" sz="2000" dirty="0">
                <a:latin typeface="Cambria" panose="02040503050406030204" pitchFamily="18" charset="0"/>
              </a:rPr>
              <a:t>统计</a:t>
            </a:r>
            <a:r>
              <a:rPr lang="zh-CN" altLang="en-US" sz="2000" dirty="0" smtClean="0">
                <a:latin typeface="Cambria" panose="02040503050406030204" pitchFamily="18" charset="0"/>
              </a:rPr>
              <a:t>以    样本点</a:t>
            </a:r>
            <a:r>
              <a:rPr lang="en-US" altLang="zh-CN" sz="2000" i="1" dirty="0" err="1">
                <a:latin typeface="Cambria" panose="02040503050406030204" pitchFamily="18" charset="0"/>
                <a:ea typeface="Cambria" panose="02040503050406030204" pitchFamily="18" charset="0"/>
              </a:rPr>
              <a:t>i</a:t>
            </a:r>
            <a:r>
              <a:rPr lang="zh-CN" altLang="en-US" sz="2000" dirty="0">
                <a:latin typeface="Cambria" panose="02040503050406030204" pitchFamily="18" charset="0"/>
              </a:rPr>
              <a:t>为中心， </a:t>
            </a:r>
            <a:r>
              <a:rPr lang="zh-CN" altLang="en-US" sz="2000" dirty="0" smtClean="0">
                <a:latin typeface="Cambria" panose="02040503050406030204" pitchFamily="18" charset="0"/>
              </a:rPr>
              <a:t>   </a:t>
            </a:r>
            <a:r>
              <a:rPr lang="zh-CN" altLang="en-US" sz="2000" dirty="0" smtClean="0">
                <a:latin typeface="Cambria" panose="02040503050406030204" pitchFamily="18" charset="0"/>
              </a:rPr>
              <a:t>为</a:t>
            </a:r>
            <a:r>
              <a:rPr lang="zh-CN" altLang="en-US" sz="2000" dirty="0">
                <a:latin typeface="Cambria" panose="02040503050406030204" pitchFamily="18" charset="0"/>
              </a:rPr>
              <a:t>半径的样本点</a:t>
            </a:r>
            <a:r>
              <a:rPr lang="zh-CN" altLang="en-US" sz="2000" dirty="0" smtClean="0">
                <a:latin typeface="Cambria" panose="02040503050406030204" pitchFamily="18" charset="0"/>
              </a:rPr>
              <a:t>个数。</a:t>
            </a:r>
            <a:endParaRPr lang="zh-CN" altLang="en-US" sz="2000" dirty="0">
              <a:latin typeface="Cambria" panose="02040503050406030204" pitchFamily="18" charset="0"/>
            </a:endParaRPr>
          </a:p>
        </p:txBody>
      </p:sp>
      <p:graphicFrame>
        <p:nvGraphicFramePr>
          <p:cNvPr id="32" name="对象 31"/>
          <p:cNvGraphicFramePr>
            <a:graphicFrameLocks noChangeAspect="1"/>
          </p:cNvGraphicFramePr>
          <p:nvPr/>
        </p:nvGraphicFramePr>
        <p:xfrm>
          <a:off x="3037116" y="4667994"/>
          <a:ext cx="342900" cy="292100"/>
        </p:xfrm>
        <a:graphic>
          <a:graphicData uri="http://schemas.openxmlformats.org/presentationml/2006/ole">
            <mc:AlternateContent xmlns:mc="http://schemas.openxmlformats.org/markup-compatibility/2006">
              <mc:Choice xmlns:v="urn:schemas-microsoft-com:vml" Requires="v">
                <p:oleObj spid="_x0000_s27148" name="Equation" r:id="rId5" imgW="8229600" imgH="7010400" progId="Equation.DSMT4">
                  <p:embed/>
                </p:oleObj>
              </mc:Choice>
              <mc:Fallback>
                <p:oleObj name="Equation" r:id="rId5" imgW="8229600" imgH="7010400" progId="Equation.DSMT4">
                  <p:embed/>
                  <p:pic>
                    <p:nvPicPr>
                      <p:cNvPr id="0" name="Object 15"/>
                      <p:cNvPicPr>
                        <a:picLocks noChangeAspect="1" noChangeArrowheads="1"/>
                      </p:cNvPicPr>
                      <p:nvPr/>
                    </p:nvPicPr>
                    <p:blipFill>
                      <a:blip r:embed="rId6"/>
                      <a:srcRect/>
                      <a:stretch>
                        <a:fillRect/>
                      </a:stretch>
                    </p:blipFill>
                    <p:spPr bwMode="auto">
                      <a:xfrm>
                        <a:off x="3037116" y="4667994"/>
                        <a:ext cx="3429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对象 33"/>
          <p:cNvGraphicFramePr>
            <a:graphicFrameLocks noChangeAspect="1"/>
          </p:cNvGraphicFramePr>
          <p:nvPr/>
        </p:nvGraphicFramePr>
        <p:xfrm>
          <a:off x="5856319" y="5517232"/>
          <a:ext cx="266700" cy="271463"/>
        </p:xfrm>
        <a:graphic>
          <a:graphicData uri="http://schemas.openxmlformats.org/presentationml/2006/ole">
            <mc:AlternateContent xmlns:mc="http://schemas.openxmlformats.org/markup-compatibility/2006">
              <mc:Choice xmlns:v="urn:schemas-microsoft-com:vml" Requires="v">
                <p:oleObj spid="_x0000_s27149" name="Equation" r:id="rId7" imgW="6400800" imgH="6705600" progId="Equation.DSMT4">
                  <p:embed/>
                </p:oleObj>
              </mc:Choice>
              <mc:Fallback>
                <p:oleObj name="Equation" r:id="rId7" imgW="6400800" imgH="6705600" progId="Equation.DSMT4">
                  <p:embed/>
                  <p:pic>
                    <p:nvPicPr>
                      <p:cNvPr id="0" name="Object 20"/>
                      <p:cNvPicPr>
                        <a:picLocks noChangeAspect="1" noChangeArrowheads="1"/>
                      </p:cNvPicPr>
                      <p:nvPr/>
                    </p:nvPicPr>
                    <p:blipFill>
                      <a:blip r:embed="rId8"/>
                      <a:srcRect/>
                      <a:stretch>
                        <a:fillRect/>
                      </a:stretch>
                    </p:blipFill>
                    <p:spPr bwMode="auto">
                      <a:xfrm>
                        <a:off x="5856319" y="5517232"/>
                        <a:ext cx="266700" cy="271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nvGraphicFramePr>
        <p:xfrm>
          <a:off x="3791744" y="5451912"/>
          <a:ext cx="266700" cy="342900"/>
        </p:xfrm>
        <a:graphic>
          <a:graphicData uri="http://schemas.openxmlformats.org/presentationml/2006/ole">
            <mc:AlternateContent xmlns:mc="http://schemas.openxmlformats.org/markup-compatibility/2006">
              <mc:Choice xmlns:v="urn:schemas-microsoft-com:vml" Requires="v">
                <p:oleObj spid="_x0000_s27150" name="Equation" r:id="rId9" imgW="6400800" imgH="8229600" progId="Equation.DSMT4">
                  <p:embed/>
                </p:oleObj>
              </mc:Choice>
              <mc:Fallback>
                <p:oleObj name="Equation" r:id="rId9" imgW="6400800" imgH="8229600" progId="Equation.DSMT4">
                  <p:embed/>
                  <p:pic>
                    <p:nvPicPr>
                      <p:cNvPr id="0" name="Object 22"/>
                      <p:cNvPicPr>
                        <a:picLocks noChangeAspect="1" noChangeArrowheads="1"/>
                      </p:cNvPicPr>
                      <p:nvPr/>
                    </p:nvPicPr>
                    <p:blipFill>
                      <a:blip r:embed="rId10"/>
                      <a:srcRect/>
                      <a:stretch>
                        <a:fillRect/>
                      </a:stretch>
                    </p:blipFill>
                    <p:spPr bwMode="auto">
                      <a:xfrm>
                        <a:off x="3791744" y="5451912"/>
                        <a:ext cx="2667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对象 36"/>
          <p:cNvGraphicFramePr>
            <a:graphicFrameLocks noChangeAspect="1"/>
          </p:cNvGraphicFramePr>
          <p:nvPr/>
        </p:nvGraphicFramePr>
        <p:xfrm>
          <a:off x="2927648" y="5178707"/>
          <a:ext cx="266700" cy="271463"/>
        </p:xfrm>
        <a:graphic>
          <a:graphicData uri="http://schemas.openxmlformats.org/presentationml/2006/ole">
            <mc:AlternateContent xmlns:mc="http://schemas.openxmlformats.org/markup-compatibility/2006">
              <mc:Choice xmlns:v="urn:schemas-microsoft-com:vml" Requires="v">
                <p:oleObj spid="_x0000_s27151" name="Equation" r:id="rId11" imgW="6400800" imgH="6705600" progId="Equation.DSMT4">
                  <p:embed/>
                </p:oleObj>
              </mc:Choice>
              <mc:Fallback>
                <p:oleObj name="Equation" r:id="rId11" imgW="6400800" imgH="6705600" progId="Equation.DSMT4">
                  <p:embed/>
                  <p:pic>
                    <p:nvPicPr>
                      <p:cNvPr id="0" name="图片 27150"/>
                      <p:cNvPicPr>
                        <a:picLocks noChangeAspect="1" noChangeArrowheads="1"/>
                      </p:cNvPicPr>
                      <p:nvPr/>
                    </p:nvPicPr>
                    <p:blipFill>
                      <a:blip r:embed="rId12"/>
                      <a:srcRect/>
                      <a:stretch>
                        <a:fillRect/>
                      </a:stretch>
                    </p:blipFill>
                    <p:spPr bwMode="auto">
                      <a:xfrm>
                        <a:off x="2927648" y="5178707"/>
                        <a:ext cx="266700" cy="271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Rectangle 31"/>
          <p:cNvSpPr>
            <a:spLocks noChangeArrowheads="1"/>
          </p:cNvSpPr>
          <p:nvPr/>
        </p:nvSpPr>
        <p:spPr bwMode="auto">
          <a:xfrm>
            <a:off x="5108590" y="2729091"/>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Cambria" panose="02040503050406030204" pitchFamily="18" charset="0"/>
            </a:endParaRPr>
          </a:p>
        </p:txBody>
      </p:sp>
      <p:sp>
        <p:nvSpPr>
          <p:cNvPr id="40" name="矩形 39"/>
          <p:cNvSpPr/>
          <p:nvPr/>
        </p:nvSpPr>
        <p:spPr>
          <a:xfrm>
            <a:off x="7031990" y="3464560"/>
            <a:ext cx="4406900" cy="311785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graphicFrame>
        <p:nvGraphicFramePr>
          <p:cNvPr id="39" name="对象 38"/>
          <p:cNvGraphicFramePr>
            <a:graphicFrameLocks noChangeAspect="1"/>
          </p:cNvGraphicFramePr>
          <p:nvPr/>
        </p:nvGraphicFramePr>
        <p:xfrm>
          <a:off x="7392035" y="3713480"/>
          <a:ext cx="3658235" cy="2594610"/>
        </p:xfrm>
        <a:graphic>
          <a:graphicData uri="http://schemas.openxmlformats.org/presentationml/2006/ole">
            <mc:AlternateContent xmlns:mc="http://schemas.openxmlformats.org/markup-compatibility/2006">
              <mc:Choice xmlns:v="urn:schemas-microsoft-com:vml" Requires="v">
                <p:oleObj spid="_x0000_s27152" name="Visio" r:id="rId13" imgW="2993390" imgH="2133600" progId="Visio.Drawing.15">
                  <p:embed/>
                </p:oleObj>
              </mc:Choice>
              <mc:Fallback>
                <p:oleObj name="Visio" r:id="rId13" imgW="2993390" imgH="2133600" progId="Visio.Drawing.15">
                  <p:embed/>
                  <p:pic>
                    <p:nvPicPr>
                      <p:cNvPr id="0" name="Object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92035" y="3713480"/>
                        <a:ext cx="3658235" cy="25946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文本框 6"/>
              <p:cNvSpPr txBox="1"/>
              <p:nvPr/>
            </p:nvSpPr>
            <p:spPr>
              <a:xfrm>
                <a:off x="1247840" y="1007670"/>
                <a:ext cx="7849624" cy="2033698"/>
              </a:xfrm>
              <a:prstGeom prst="rect">
                <a:avLst/>
              </a:prstGeom>
              <a:noFill/>
            </p:spPr>
            <p:txBody>
              <a:bodyPr wrap="square" rtlCol="0">
                <a:spAutoFit/>
              </a:bodyPr>
              <a:lstStyle/>
              <a:p>
                <a:pPr marL="342900" indent="-342900">
                  <a:lnSpc>
                    <a:spcPct val="150000"/>
                  </a:lnSpc>
                  <a:buClr>
                    <a:schemeClr val="accent4"/>
                  </a:buClr>
                  <a:buSzPct val="100000"/>
                  <a:buFont typeface="Wingdings" panose="05000000000000000000" pitchFamily="2" charset="2"/>
                  <a:buChar char="n"/>
                </a:pPr>
                <a:r>
                  <a:rPr lang="zh-CN" altLang="en-US" sz="2000" dirty="0" smtClean="0">
                    <a:latin typeface="Cambria" panose="02040503050406030204" pitchFamily="18" charset="0"/>
                  </a:rPr>
                  <a:t>距离</a:t>
                </a:r>
                <a14:m>
                  <m:oMath xmlns:m="http://schemas.openxmlformats.org/officeDocument/2006/math">
                    <m:sSub>
                      <m:sSubPr>
                        <m:ctrlPr>
                          <a:rPr lang="en-US" altLang="zh-CN" sz="2000" i="1" smtClean="0">
                            <a:latin typeface="Cambria Math"/>
                          </a:rPr>
                        </m:ctrlPr>
                      </m:sSubPr>
                      <m:e>
                        <m:r>
                          <a:rPr lang="zh-CN" altLang="en-US" sz="2000" i="1" smtClean="0">
                            <a:latin typeface="Cambria Math"/>
                          </a:rPr>
                          <m:t>𝛿</m:t>
                        </m:r>
                      </m:e>
                      <m:sub>
                        <m:r>
                          <a:rPr lang="en-US" altLang="zh-CN" sz="2000" b="0" i="1" smtClean="0">
                            <a:latin typeface="Cambria Math"/>
                          </a:rPr>
                          <m:t>𝑖</m:t>
                        </m:r>
                      </m:sub>
                    </m:sSub>
                    <m:r>
                      <a:rPr lang="en-US" altLang="zh-CN" sz="2000" b="0" i="1" smtClean="0">
                        <a:latin typeface="Cambria Math"/>
                      </a:rPr>
                      <m:t>=</m:t>
                    </m:r>
                    <m:func>
                      <m:funcPr>
                        <m:ctrlPr>
                          <a:rPr lang="en-US" altLang="zh-CN" sz="2000" b="0" i="1" smtClean="0">
                            <a:latin typeface="Cambria Math"/>
                          </a:rPr>
                        </m:ctrlPr>
                      </m:funcPr>
                      <m:fName>
                        <m:limLow>
                          <m:limLowPr>
                            <m:ctrlPr>
                              <a:rPr lang="en-US" altLang="zh-CN" sz="2000" b="0" i="1" smtClean="0">
                                <a:latin typeface="Cambria Math"/>
                              </a:rPr>
                            </m:ctrlPr>
                          </m:limLowPr>
                          <m:e>
                            <m:r>
                              <m:rPr>
                                <m:sty m:val="p"/>
                              </m:rPr>
                              <a:rPr lang="en-US" altLang="zh-CN" sz="2000" b="0" i="0" smtClean="0">
                                <a:latin typeface="Cambria Math"/>
                              </a:rPr>
                              <m:t>min</m:t>
                            </m:r>
                          </m:e>
                          <m:lim>
                            <m:r>
                              <a:rPr lang="en-US" altLang="zh-CN" sz="2000" b="0" i="1" smtClean="0">
                                <a:latin typeface="Cambria Math"/>
                              </a:rPr>
                              <m:t>𝑗</m:t>
                            </m:r>
                            <m:r>
                              <a:rPr lang="en-US" altLang="zh-CN" sz="2000" b="0" i="1" smtClean="0">
                                <a:latin typeface="Cambria Math"/>
                              </a:rPr>
                              <m:t>:</m:t>
                            </m:r>
                            <m:sSub>
                              <m:sSubPr>
                                <m:ctrlPr>
                                  <a:rPr lang="en-US" altLang="zh-CN" sz="2000" b="0" i="1" smtClean="0">
                                    <a:latin typeface="Cambria Math"/>
                                  </a:rPr>
                                </m:ctrlPr>
                              </m:sSubPr>
                              <m:e>
                                <m:r>
                                  <a:rPr lang="zh-CN" altLang="en-US" sz="2000" b="0" i="1" smtClean="0">
                                    <a:latin typeface="Cambria Math"/>
                                  </a:rPr>
                                  <m:t>𝜌</m:t>
                                </m:r>
                              </m:e>
                              <m:sub>
                                <m:r>
                                  <a:rPr lang="en-US" altLang="zh-CN" sz="2000" b="0" i="1" smtClean="0">
                                    <a:latin typeface="Cambria Math"/>
                                  </a:rPr>
                                  <m:t>𝑗</m:t>
                                </m:r>
                              </m:sub>
                            </m:sSub>
                            <m:r>
                              <a:rPr lang="en-US" altLang="zh-CN" sz="2000" b="0" i="1" smtClean="0">
                                <a:latin typeface="Cambria Math"/>
                                <a:ea typeface="Cambria Math"/>
                              </a:rPr>
                              <m:t>&gt;</m:t>
                            </m:r>
                            <m:sSub>
                              <m:sSubPr>
                                <m:ctrlPr>
                                  <a:rPr lang="en-US" altLang="zh-CN" sz="2000" b="0" i="1" smtClean="0">
                                    <a:latin typeface="Cambria Math"/>
                                    <a:ea typeface="Cambria Math"/>
                                  </a:rPr>
                                </m:ctrlPr>
                              </m:sSubPr>
                              <m:e>
                                <m:r>
                                  <a:rPr lang="zh-CN" altLang="en-US" sz="2000" b="0" i="1" smtClean="0">
                                    <a:latin typeface="Cambria Math"/>
                                    <a:ea typeface="Cambria Math"/>
                                  </a:rPr>
                                  <m:t>𝜌</m:t>
                                </m:r>
                              </m:e>
                              <m:sub>
                                <m:r>
                                  <a:rPr lang="en-US" altLang="zh-CN" sz="2000" b="0" i="1" smtClean="0">
                                    <a:latin typeface="Cambria Math"/>
                                    <a:ea typeface="Cambria Math"/>
                                  </a:rPr>
                                  <m:t>𝑖</m:t>
                                </m:r>
                              </m:sub>
                            </m:sSub>
                          </m:lim>
                        </m:limLow>
                      </m:fName>
                      <m:e>
                        <m:sSub>
                          <m:sSubPr>
                            <m:ctrlPr>
                              <a:rPr lang="en-US" altLang="zh-CN" sz="2000" b="0" i="1" smtClean="0">
                                <a:latin typeface="Cambria Math"/>
                              </a:rPr>
                            </m:ctrlPr>
                          </m:sSubPr>
                          <m:e>
                            <m:r>
                              <a:rPr lang="en-US" altLang="zh-CN" sz="2000" b="0" i="1" smtClean="0">
                                <a:latin typeface="Cambria Math"/>
                              </a:rPr>
                              <m:t>𝑑</m:t>
                            </m:r>
                          </m:e>
                          <m:sub>
                            <m:r>
                              <a:rPr lang="en-US" altLang="zh-CN" sz="2000" b="0" i="1" smtClean="0">
                                <a:latin typeface="Cambria Math"/>
                              </a:rPr>
                              <m:t>𝑖𝑗</m:t>
                            </m:r>
                          </m:sub>
                        </m:sSub>
                      </m:e>
                    </m:func>
                  </m:oMath>
                </a14:m>
                <a:r>
                  <a:rPr lang="zh-CN" altLang="en-US" sz="2000" dirty="0" smtClean="0">
                    <a:latin typeface="Cambria" panose="02040503050406030204" pitchFamily="18" charset="0"/>
                  </a:rPr>
                  <a:t>，用于</a:t>
                </a:r>
                <a:r>
                  <a:rPr lang="zh-CN" altLang="en-US" sz="2000" dirty="0">
                    <a:latin typeface="Cambria" panose="02040503050406030204" pitchFamily="18" charset="0"/>
                  </a:rPr>
                  <a:t>寻找距离样本点</a:t>
                </a:r>
                <a:r>
                  <a:rPr lang="en-US" altLang="zh-CN" sz="2000" i="1" dirty="0" err="1">
                    <a:latin typeface="Cambria" panose="02040503050406030204" pitchFamily="18" charset="0"/>
                    <a:ea typeface="Cambria" panose="02040503050406030204" pitchFamily="18" charset="0"/>
                  </a:rPr>
                  <a:t>i</a:t>
                </a:r>
                <a:r>
                  <a:rPr lang="zh-CN" altLang="en-US" sz="2000" dirty="0">
                    <a:latin typeface="Cambria" panose="02040503050406030204" pitchFamily="18" charset="0"/>
                  </a:rPr>
                  <a:t>最近的高密度点</a:t>
                </a:r>
                <a:r>
                  <a:rPr lang="en-US" altLang="zh-CN" sz="2000" i="1" dirty="0">
                    <a:latin typeface="Cambria" panose="02040503050406030204" pitchFamily="18" charset="0"/>
                    <a:ea typeface="Cambria" panose="02040503050406030204" pitchFamily="18" charset="0"/>
                  </a:rPr>
                  <a:t>j</a:t>
                </a:r>
                <a:r>
                  <a:rPr lang="zh-CN" altLang="en-US" sz="2000" dirty="0">
                    <a:latin typeface="Cambria" panose="02040503050406030204" pitchFamily="18" charset="0"/>
                  </a:rPr>
                  <a:t>，并计算两者之间的距离</a:t>
                </a:r>
                <a:r>
                  <a:rPr lang="zh-CN" altLang="en-US" sz="2000" dirty="0" smtClean="0">
                    <a:latin typeface="Cambria" panose="02040503050406030204" pitchFamily="18" charset="0"/>
                  </a:rPr>
                  <a:t>。</a:t>
                </a:r>
                <a:endParaRPr lang="en-US" altLang="zh-CN" sz="2000" dirty="0" smtClean="0">
                  <a:latin typeface="Cambria" panose="02040503050406030204" pitchFamily="18" charset="0"/>
                </a:endParaRPr>
              </a:p>
              <a:p>
                <a:pPr>
                  <a:lnSpc>
                    <a:spcPct val="150000"/>
                  </a:lnSpc>
                  <a:buClr>
                    <a:schemeClr val="accent4"/>
                  </a:buClr>
                  <a:buSzPct val="100000"/>
                </a:pPr>
                <a:r>
                  <a:rPr lang="zh-CN" altLang="en-US" sz="2000" dirty="0" smtClean="0">
                    <a:latin typeface="Cambria" panose="02040503050406030204" pitchFamily="18" charset="0"/>
                  </a:rPr>
                  <a:t>      如果</a:t>
                </a:r>
                <a:r>
                  <a:rPr lang="en-US" altLang="zh-CN" sz="2000" i="1" dirty="0" err="1">
                    <a:latin typeface="Cambria" panose="02040503050406030204" pitchFamily="18" charset="0"/>
                    <a:ea typeface="Cambria" panose="02040503050406030204" pitchFamily="18" charset="0"/>
                  </a:rPr>
                  <a:t>i</a:t>
                </a:r>
                <a:r>
                  <a:rPr lang="zh-CN" altLang="en-US" sz="2000" dirty="0">
                    <a:latin typeface="Cambria" panose="02040503050406030204" pitchFamily="18" charset="0"/>
                  </a:rPr>
                  <a:t>点本身就是局部密度最大的点，</a:t>
                </a:r>
                <a:r>
                  <a:rPr lang="zh-CN" altLang="en-US" sz="2000" dirty="0" smtClean="0">
                    <a:latin typeface="Cambria" panose="02040503050406030204" pitchFamily="18" charset="0"/>
                  </a:rPr>
                  <a:t>即</a:t>
                </a:r>
                <a14:m>
                  <m:oMath xmlns:m="http://schemas.openxmlformats.org/officeDocument/2006/math">
                    <m:sSub>
                      <m:sSubPr>
                        <m:ctrlPr>
                          <a:rPr lang="en-US" altLang="zh-CN" sz="2000" i="1" smtClean="0">
                            <a:latin typeface="Cambria Math"/>
                          </a:rPr>
                        </m:ctrlPr>
                      </m:sSubPr>
                      <m:e>
                        <m:r>
                          <a:rPr lang="zh-CN" altLang="en-US" sz="2000" i="1" smtClean="0">
                            <a:latin typeface="Cambria Math"/>
                          </a:rPr>
                          <m:t>𝜌</m:t>
                        </m:r>
                      </m:e>
                      <m:sub>
                        <m:r>
                          <a:rPr lang="en-US" altLang="zh-CN" sz="2000" b="0" i="1" smtClean="0">
                            <a:latin typeface="Cambria Math"/>
                          </a:rPr>
                          <m:t>𝑖</m:t>
                        </m:r>
                      </m:sub>
                    </m:sSub>
                  </m:oMath>
                </a14:m>
                <a:r>
                  <a:rPr lang="zh-CN" altLang="en-US" sz="2000" dirty="0" smtClean="0">
                    <a:latin typeface="Cambria" panose="02040503050406030204" pitchFamily="18" charset="0"/>
                  </a:rPr>
                  <a:t>是</a:t>
                </a:r>
                <a:r>
                  <a:rPr lang="zh-CN" altLang="en-US" sz="2000" dirty="0">
                    <a:latin typeface="Cambria" panose="02040503050406030204" pitchFamily="18" charset="0"/>
                  </a:rPr>
                  <a:t>最大值的情况下，该点的 </a:t>
                </a:r>
                <a14:m>
                  <m:oMath xmlns:m="http://schemas.openxmlformats.org/officeDocument/2006/math">
                    <m:sSub>
                      <m:sSubPr>
                        <m:ctrlPr>
                          <a:rPr lang="en-US" altLang="zh-CN" sz="2000" i="1" smtClean="0">
                            <a:latin typeface="Cambria Math"/>
                          </a:rPr>
                        </m:ctrlPr>
                      </m:sSubPr>
                      <m:e>
                        <m:r>
                          <a:rPr lang="zh-CN" altLang="en-US" sz="2000" i="1" smtClean="0">
                            <a:latin typeface="Cambria Math"/>
                          </a:rPr>
                          <m:t>𝛿</m:t>
                        </m:r>
                      </m:e>
                      <m:sub>
                        <m:r>
                          <a:rPr lang="en-US" altLang="zh-CN" sz="2000" b="0" i="1" smtClean="0">
                            <a:latin typeface="Cambria Math"/>
                          </a:rPr>
                          <m:t>𝑖</m:t>
                        </m:r>
                      </m:sub>
                    </m:sSub>
                    <m:r>
                      <a:rPr lang="en-US" altLang="zh-CN" sz="2000" b="0" i="1" smtClean="0">
                        <a:latin typeface="Cambria Math"/>
                      </a:rPr>
                      <m:t>=</m:t>
                    </m:r>
                    <m:func>
                      <m:funcPr>
                        <m:ctrlPr>
                          <a:rPr lang="en-US" altLang="zh-CN" sz="2000" b="0" i="1" smtClean="0">
                            <a:latin typeface="Cambria Math"/>
                          </a:rPr>
                        </m:ctrlPr>
                      </m:funcPr>
                      <m:fName>
                        <m:limLow>
                          <m:limLowPr>
                            <m:ctrlPr>
                              <a:rPr lang="en-US" altLang="zh-CN" sz="2000" b="0" i="1" smtClean="0">
                                <a:latin typeface="Cambria Math"/>
                              </a:rPr>
                            </m:ctrlPr>
                          </m:limLowPr>
                          <m:e>
                            <m:r>
                              <m:rPr>
                                <m:sty m:val="p"/>
                              </m:rPr>
                              <a:rPr lang="en-US" altLang="zh-CN" sz="2000" b="0" i="0" smtClean="0">
                                <a:latin typeface="Cambria Math"/>
                              </a:rPr>
                              <m:t>max</m:t>
                            </m:r>
                          </m:e>
                          <m:lim>
                            <m:r>
                              <a:rPr lang="en-US" altLang="zh-CN" sz="2000" b="0" i="1" smtClean="0">
                                <a:latin typeface="Cambria Math"/>
                              </a:rPr>
                              <m:t>𝑗</m:t>
                            </m:r>
                          </m:lim>
                        </m:limLow>
                      </m:fName>
                      <m:e>
                        <m:sSub>
                          <m:sSubPr>
                            <m:ctrlPr>
                              <a:rPr lang="en-US" altLang="zh-CN" sz="2000" b="0" i="1" smtClean="0">
                                <a:latin typeface="Cambria Math"/>
                              </a:rPr>
                            </m:ctrlPr>
                          </m:sSubPr>
                          <m:e>
                            <m:r>
                              <a:rPr lang="en-US" altLang="zh-CN" sz="2000" b="0" i="1" smtClean="0">
                                <a:latin typeface="Cambria Math"/>
                              </a:rPr>
                              <m:t>𝑑</m:t>
                            </m:r>
                          </m:e>
                          <m:sub>
                            <m:r>
                              <a:rPr lang="en-US" altLang="zh-CN" sz="2000" b="0" i="1" smtClean="0">
                                <a:latin typeface="Cambria Math"/>
                              </a:rPr>
                              <m:t>𝑖𝑗</m:t>
                            </m:r>
                          </m:sub>
                        </m:sSub>
                      </m:e>
                    </m:func>
                  </m:oMath>
                </a14:m>
                <a:r>
                  <a:rPr lang="zh-CN" altLang="en-US" sz="2000" dirty="0" smtClean="0">
                    <a:latin typeface="Cambria" panose="02040503050406030204" pitchFamily="18" charset="0"/>
                  </a:rPr>
                  <a:t> ，此处</a:t>
                </a:r>
                <a14:m>
                  <m:oMath xmlns:m="http://schemas.openxmlformats.org/officeDocument/2006/math">
                    <m:r>
                      <a:rPr lang="en-US" altLang="zh-CN" sz="2000" i="1" dirty="0">
                        <a:latin typeface="Cambria Math"/>
                      </a:rPr>
                      <m:t>𝑗</m:t>
                    </m:r>
                  </m:oMath>
                </a14:m>
                <a:r>
                  <a:rPr lang="zh-CN" altLang="en-US" sz="2000" smtClean="0">
                    <a:latin typeface="Cambria" panose="02040503050406030204" pitchFamily="18" charset="0"/>
                  </a:rPr>
                  <a:t>是所有样本点。</a:t>
                </a:r>
                <a:endParaRPr lang="zh-CN" altLang="en-US" sz="2000" dirty="0">
                  <a:latin typeface="Cambria"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2390840" y="1007670"/>
                <a:ext cx="7849624" cy="2033698"/>
              </a:xfrm>
              <a:prstGeom prst="rect">
                <a:avLst/>
              </a:prstGeom>
              <a:blipFill rotWithShape="1">
                <a:blip r:embed="rId1"/>
                <a:stretch>
                  <a:fillRect l="-855" b="-3293"/>
                </a:stretch>
              </a:blipFill>
            </p:spPr>
            <p:txBody>
              <a:bodyPr/>
              <a:lstStyle/>
              <a:p>
                <a:r>
                  <a:rPr lang="zh-CN" altLang="en-US">
                    <a:noFill/>
                  </a:rPr>
                  <a:t> </a:t>
                </a:r>
                <a:endParaRPr lang="zh-CN" altLang="en-US">
                  <a:noFill/>
                </a:endParaRPr>
              </a:p>
            </p:txBody>
          </p:sp>
        </mc:Fallback>
      </mc:AlternateContent>
      <p:sp>
        <p:nvSpPr>
          <p:cNvPr id="4" name="Rectangle 2"/>
          <p:cNvSpPr>
            <a:spLocks noChangeArrowheads="1"/>
          </p:cNvSpPr>
          <p:nvPr/>
        </p:nvSpPr>
        <p:spPr bwMode="auto">
          <a:xfrm>
            <a:off x="1487488" y="1097953"/>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Cambria" panose="02040503050406030204" pitchFamily="18" charset="0"/>
            </a:endParaRPr>
          </a:p>
        </p:txBody>
      </p:sp>
      <mc:AlternateContent xmlns:mc="http://schemas.openxmlformats.org/markup-compatibility/2006">
        <mc:Choice xmlns:a14="http://schemas.microsoft.com/office/drawing/2010/main" Requires="a14">
          <p:sp>
            <p:nvSpPr>
              <p:cNvPr id="20" name="文本框 19"/>
              <p:cNvSpPr txBox="1"/>
              <p:nvPr/>
            </p:nvSpPr>
            <p:spPr>
              <a:xfrm>
                <a:off x="1247840" y="3046601"/>
                <a:ext cx="3924812" cy="2862322"/>
              </a:xfrm>
              <a:prstGeom prst="rect">
                <a:avLst/>
              </a:prstGeom>
              <a:noFill/>
            </p:spPr>
            <p:txBody>
              <a:bodyPr wrap="square" rtlCol="0">
                <a:spAutoFit/>
              </a:bodyPr>
              <a:lstStyle/>
              <a:p>
                <a:pPr marL="342900" indent="-342900">
                  <a:lnSpc>
                    <a:spcPct val="150000"/>
                  </a:lnSpc>
                  <a:buClr>
                    <a:schemeClr val="accent4"/>
                  </a:buClr>
                  <a:buFont typeface="Wingdings" panose="05000000000000000000" pitchFamily="2" charset="2"/>
                  <a:buChar char="n"/>
                </a:pPr>
                <a:r>
                  <a:rPr lang="zh-CN" altLang="zh-CN" sz="2000" dirty="0">
                    <a:latin typeface="Cambria" panose="02040503050406030204" pitchFamily="18" charset="0"/>
                  </a:rPr>
                  <a:t>密度峰值聚类算法是这样定义聚类中心的，它是具有较大局部密度</a:t>
                </a:r>
                <a14:m>
                  <m:oMath xmlns:m="http://schemas.openxmlformats.org/officeDocument/2006/math">
                    <m:sSub>
                      <m:sSubPr>
                        <m:ctrlPr>
                          <a:rPr lang="zh-CN" altLang="zh-CN" sz="2000" i="1">
                            <a:latin typeface="Cambria Math"/>
                          </a:rPr>
                        </m:ctrlPr>
                      </m:sSubPr>
                      <m:e>
                        <m:r>
                          <a:rPr lang="en-US" altLang="zh-CN" sz="2000" i="1">
                            <a:latin typeface="Cambria Math" panose="02040503050406030204" pitchFamily="18" charset="0"/>
                          </a:rPr>
                          <m:t>𝜌</m:t>
                        </m:r>
                      </m:e>
                      <m:sub>
                        <m:r>
                          <a:rPr lang="en-US" altLang="zh-CN" sz="2000" i="1">
                            <a:latin typeface="Cambria Math" panose="02040503050406030204" pitchFamily="18" charset="0"/>
                          </a:rPr>
                          <m:t>𝑖</m:t>
                        </m:r>
                      </m:sub>
                    </m:sSub>
                  </m:oMath>
                </a14:m>
                <a:r>
                  <a:rPr lang="zh-CN" altLang="zh-CN" sz="2000" dirty="0">
                    <a:latin typeface="Cambria" panose="02040503050406030204" pitchFamily="18" charset="0"/>
                  </a:rPr>
                  <a:t>且同时具有较大</a:t>
                </a:r>
                <a14:m>
                  <m:oMath xmlns:m="http://schemas.openxmlformats.org/officeDocument/2006/math">
                    <m:sSub>
                      <m:sSubPr>
                        <m:ctrlPr>
                          <a:rPr lang="zh-CN" altLang="zh-CN" sz="2000" i="1">
                            <a:latin typeface="Cambria Math"/>
                          </a:rPr>
                        </m:ctrlPr>
                      </m:sSubPr>
                      <m:e>
                        <m:r>
                          <a:rPr lang="en-US" altLang="zh-CN" sz="2000" i="1">
                            <a:latin typeface="Cambria Math" panose="02040503050406030204" pitchFamily="18" charset="0"/>
                          </a:rPr>
                          <m:t>𝛿</m:t>
                        </m:r>
                      </m:e>
                      <m:sub>
                        <m:r>
                          <a:rPr lang="en-US" altLang="zh-CN" sz="2000" i="1">
                            <a:latin typeface="Cambria Math" panose="02040503050406030204" pitchFamily="18" charset="0"/>
                          </a:rPr>
                          <m:t>𝑖</m:t>
                        </m:r>
                      </m:sub>
                    </m:sSub>
                  </m:oMath>
                </a14:m>
                <a:r>
                  <a:rPr lang="zh-CN" altLang="zh-CN" sz="2000" dirty="0">
                    <a:latin typeface="Cambria" panose="02040503050406030204" pitchFamily="18" charset="0"/>
                  </a:rPr>
                  <a:t>距离的点。而将那些局部密度较小但与高密度点之间距离却又很大的数据点识别为异常点。</a:t>
                </a:r>
              </a:p>
            </p:txBody>
          </p:sp>
        </mc:Choice>
        <mc:Fallback>
          <p:sp>
            <p:nvSpPr>
              <p:cNvPr id="20" name="文本框 19"/>
              <p:cNvSpPr txBox="1">
                <a:spLocks noRot="1" noChangeAspect="1" noMove="1" noResize="1" noEditPoints="1" noAdjustHandles="1" noChangeArrowheads="1" noChangeShapeType="1" noTextEdit="1"/>
              </p:cNvSpPr>
              <p:nvPr/>
            </p:nvSpPr>
            <p:spPr>
              <a:xfrm>
                <a:off x="2390840" y="3046601"/>
                <a:ext cx="3924812" cy="2862322"/>
              </a:xfrm>
              <a:prstGeom prst="rect">
                <a:avLst/>
              </a:prstGeom>
              <a:blipFill rotWithShape="1">
                <a:blip r:embed="rId2"/>
                <a:stretch>
                  <a:fillRect l="-1398" b="-1493"/>
                </a:stretch>
              </a:blipFill>
            </p:spPr>
            <p:txBody>
              <a:bodyPr/>
              <a:lstStyle/>
              <a:p>
                <a:r>
                  <a:rPr lang="zh-CN" altLang="en-US">
                    <a:noFill/>
                  </a:rPr>
                  <a:t> </a:t>
                </a:r>
                <a:endParaRPr lang="zh-CN" altLang="en-US">
                  <a:noFill/>
                </a:endParaRPr>
              </a:p>
            </p:txBody>
          </p:sp>
        </mc:Fallback>
      </mc:AlternateContent>
      <p:sp>
        <p:nvSpPr>
          <p:cNvPr id="38" name="Rectangle 31"/>
          <p:cNvSpPr>
            <a:spLocks noChangeArrowheads="1"/>
          </p:cNvSpPr>
          <p:nvPr/>
        </p:nvSpPr>
        <p:spPr bwMode="auto">
          <a:xfrm>
            <a:off x="5015880" y="4108946"/>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Cambria" panose="02040503050406030204" pitchFamily="18" charset="0"/>
            </a:endParaRPr>
          </a:p>
        </p:txBody>
      </p:sp>
      <p:sp>
        <p:nvSpPr>
          <p:cNvPr id="40" name="矩形 39"/>
          <p:cNvSpPr/>
          <p:nvPr/>
        </p:nvSpPr>
        <p:spPr>
          <a:xfrm>
            <a:off x="6816090" y="3284855"/>
            <a:ext cx="3954145" cy="2961640"/>
          </a:xfrm>
          <a:prstGeom prst="rect">
            <a:avLst/>
          </a:prstGeom>
          <a:solidFill>
            <a:schemeClr val="tx1">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28" name="Rectangle 8"/>
          <p:cNvSpPr>
            <a:spLocks noChangeArrowheads="1"/>
          </p:cNvSpPr>
          <p:nvPr/>
        </p:nvSpPr>
        <p:spPr bwMode="auto">
          <a:xfrm>
            <a:off x="1599084" y="449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Cambria" panose="02040503050406030204" pitchFamily="18" charset="0"/>
            </a:endParaRPr>
          </a:p>
        </p:txBody>
      </p:sp>
      <p:graphicFrame>
        <p:nvGraphicFramePr>
          <p:cNvPr id="29" name="对象 28"/>
          <p:cNvGraphicFramePr>
            <a:graphicFrameLocks noChangeAspect="1"/>
          </p:cNvGraphicFramePr>
          <p:nvPr/>
        </p:nvGraphicFramePr>
        <p:xfrm>
          <a:off x="7161530" y="3630295"/>
          <a:ext cx="3311525" cy="2115820"/>
        </p:xfrm>
        <a:graphic>
          <a:graphicData uri="http://schemas.openxmlformats.org/presentationml/2006/ole">
            <mc:AlternateContent xmlns:mc="http://schemas.openxmlformats.org/markup-compatibility/2006">
              <mc:Choice xmlns:v="urn:schemas-microsoft-com:vml" Requires="v">
                <p:oleObj spid="_x0000_s27922" name="Visio" r:id="rId3" imgW="1964690" imgH="1257300" progId="Visio.Drawing.15">
                  <p:embed/>
                </p:oleObj>
              </mc:Choice>
              <mc:Fallback>
                <p:oleObj name="Visio" r:id="rId3" imgW="1964690" imgH="1257300" progId="Visio.Drawing.15">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1530" y="3630295"/>
                        <a:ext cx="3311525" cy="2115820"/>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 name="矩形 39"/>
          <p:cNvSpPr/>
          <p:nvPr/>
        </p:nvSpPr>
        <p:spPr>
          <a:xfrm>
            <a:off x="1907540" y="786765"/>
            <a:ext cx="5229225" cy="3851910"/>
          </a:xfrm>
          <a:prstGeom prst="rect">
            <a:avLst/>
          </a:prstGeom>
          <a:solidFill>
            <a:schemeClr val="tx1">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a:latin typeface="Cambria" panose="02040503050406030204" pitchFamily="18" charset="0"/>
            </a:endParaRPr>
          </a:p>
        </p:txBody>
      </p:sp>
      <p:graphicFrame>
        <p:nvGraphicFramePr>
          <p:cNvPr id="29" name="对象 28"/>
          <p:cNvGraphicFramePr>
            <a:graphicFrameLocks noChangeAspect="1"/>
          </p:cNvGraphicFramePr>
          <p:nvPr/>
        </p:nvGraphicFramePr>
        <p:xfrm>
          <a:off x="2061210" y="1323975"/>
          <a:ext cx="4921885" cy="3145155"/>
        </p:xfrm>
        <a:graphic>
          <a:graphicData uri="http://schemas.openxmlformats.org/presentationml/2006/ole">
            <mc:AlternateContent xmlns:mc="http://schemas.openxmlformats.org/markup-compatibility/2006">
              <mc:Choice xmlns:v="urn:schemas-microsoft-com:vml" Requires="v">
                <p:oleObj spid="_x0000_s27922" name="Visio" r:id="rId1" imgW="1964690" imgH="1257300" progId="Visio.Drawing.15">
                  <p:embed/>
                </p:oleObj>
              </mc:Choice>
              <mc:Fallback>
                <p:oleObj name="Visio" r:id="rId1" imgW="1964690" imgH="1257300" progId="Visio.Drawing.15">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1210" y="1323975"/>
                        <a:ext cx="4921885" cy="3145155"/>
                      </a:xfrm>
                      <a:prstGeom prst="rect">
                        <a:avLst/>
                      </a:prstGeom>
                      <a:noFill/>
                    </p:spPr>
                  </p:pic>
                </p:oleObj>
              </mc:Fallback>
            </mc:AlternateContent>
          </a:graphicData>
        </a:graphic>
      </p:graphicFrame>
      <p:sp>
        <p:nvSpPr>
          <p:cNvPr id="4" name="文本框 3"/>
          <p:cNvSpPr txBox="1"/>
          <p:nvPr/>
        </p:nvSpPr>
        <p:spPr>
          <a:xfrm>
            <a:off x="7665720" y="303530"/>
            <a:ext cx="3790315" cy="6554470"/>
          </a:xfrm>
          <a:prstGeom prst="rect">
            <a:avLst/>
          </a:prstGeom>
          <a:noFill/>
        </p:spPr>
        <p:txBody>
          <a:bodyPr wrap="square" rtlCol="0">
            <a:spAutoFit/>
          </a:bodyPr>
          <a:p>
            <a:r>
              <a:rPr lang="zh-CN" altLang="en-US" sz="2800"/>
              <a:t>点 </a:t>
            </a:r>
            <a:r>
              <a:rPr lang="en-US" altLang="zh-CN" sz="2800"/>
              <a:t>1</a:t>
            </a:r>
            <a:r>
              <a:rPr lang="zh-CN" altLang="en-US" sz="2800"/>
              <a:t>：局部密度最大的点，根据定义，</a:t>
            </a:r>
            <a:r>
              <a:rPr lang="en-US" altLang="zh-CN" sz="2800"/>
              <a:t>delta</a:t>
            </a:r>
            <a:r>
              <a:rPr lang="zh-CN" altLang="en-US" sz="2800"/>
              <a:t>距离也很大。这是一个聚类中心</a:t>
            </a:r>
            <a:endParaRPr lang="zh-CN" altLang="en-US" sz="2800"/>
          </a:p>
          <a:p>
            <a:endParaRPr lang="zh-CN" altLang="en-US" sz="2800"/>
          </a:p>
          <a:p>
            <a:r>
              <a:rPr lang="zh-CN" altLang="en-US" sz="2800"/>
              <a:t>点</a:t>
            </a:r>
            <a:r>
              <a:rPr lang="en-US" altLang="zh-CN" sz="2800"/>
              <a:t>2</a:t>
            </a:r>
            <a:r>
              <a:rPr lang="zh-CN" altLang="en-US" sz="2800"/>
              <a:t>：局部密度不如点</a:t>
            </a:r>
            <a:r>
              <a:rPr lang="en-US" altLang="zh-CN" sz="2800"/>
              <a:t>1</a:t>
            </a:r>
            <a:r>
              <a:rPr lang="zh-CN" altLang="en-US" sz="2800"/>
              <a:t>，但也较大，并且较为远离点</a:t>
            </a:r>
            <a:r>
              <a:rPr lang="en-US" altLang="zh-CN" sz="2800"/>
              <a:t>1</a:t>
            </a:r>
            <a:r>
              <a:rPr lang="zh-CN" altLang="en-US" sz="2800"/>
              <a:t>。</a:t>
            </a:r>
            <a:r>
              <a:rPr lang="en-US" altLang="zh-CN" sz="2800"/>
              <a:t>delta</a:t>
            </a:r>
            <a:r>
              <a:rPr lang="zh-CN" altLang="en-US" sz="2800"/>
              <a:t>距离也较大。</a:t>
            </a:r>
            <a:r>
              <a:rPr lang="zh-CN" altLang="en-US" sz="2800"/>
              <a:t>这是另外一个聚类中心</a:t>
            </a:r>
            <a:endParaRPr lang="zh-CN" altLang="en-US" sz="2800"/>
          </a:p>
          <a:p>
            <a:endParaRPr lang="zh-CN" altLang="en-US" sz="2800"/>
          </a:p>
          <a:p>
            <a:r>
              <a:rPr lang="zh-CN" altLang="en-US" sz="2800"/>
              <a:t>点</a:t>
            </a:r>
            <a:r>
              <a:rPr lang="en-US" altLang="zh-CN" sz="2800"/>
              <a:t>3</a:t>
            </a:r>
            <a:r>
              <a:rPr lang="zh-CN" altLang="en-US" sz="2800"/>
              <a:t>：局部密度较小，</a:t>
            </a:r>
            <a:r>
              <a:rPr lang="en-US" altLang="zh-CN" sz="2800"/>
              <a:t>delta</a:t>
            </a:r>
            <a:r>
              <a:rPr lang="zh-CN" altLang="en-US" sz="2800"/>
              <a:t>距离也较小，是一个普通点，可以认为属于点</a:t>
            </a:r>
            <a:r>
              <a:rPr lang="en-US" altLang="zh-CN" sz="2800"/>
              <a:t>2</a:t>
            </a:r>
            <a:r>
              <a:rPr lang="zh-CN" altLang="en-US" sz="2800"/>
              <a:t>的簇</a:t>
            </a:r>
            <a:endParaRPr lang="zh-CN" altLang="en-US" sz="2800"/>
          </a:p>
        </p:txBody>
      </p:sp>
      <p:sp>
        <p:nvSpPr>
          <p:cNvPr id="5" name="文本框 4"/>
          <p:cNvSpPr txBox="1"/>
          <p:nvPr/>
        </p:nvSpPr>
        <p:spPr>
          <a:xfrm>
            <a:off x="1901825" y="5126355"/>
            <a:ext cx="4523740" cy="1383665"/>
          </a:xfrm>
          <a:prstGeom prst="rect">
            <a:avLst/>
          </a:prstGeom>
          <a:noFill/>
        </p:spPr>
        <p:txBody>
          <a:bodyPr wrap="square" rtlCol="0">
            <a:spAutoFit/>
          </a:bodyPr>
          <a:p>
            <a:r>
              <a:rPr lang="zh-CN" altLang="en-US" sz="2800"/>
              <a:t>点</a:t>
            </a:r>
            <a:r>
              <a:rPr lang="en-US" altLang="zh-CN" sz="2800"/>
              <a:t>4</a:t>
            </a:r>
            <a:r>
              <a:rPr lang="zh-CN" altLang="en-US" sz="2800"/>
              <a:t>：局部密度小，但</a:t>
            </a:r>
            <a:r>
              <a:rPr lang="en-US" altLang="zh-CN" sz="2800"/>
              <a:t>delta</a:t>
            </a:r>
            <a:r>
              <a:rPr lang="zh-CN" altLang="en-US" sz="2800"/>
              <a:t>距离很大。</a:t>
            </a:r>
            <a:endParaRPr lang="zh-CN" altLang="en-US" sz="2800"/>
          </a:p>
          <a:p>
            <a:r>
              <a:rPr lang="zh-CN" altLang="en-US" sz="2800"/>
              <a:t>是一个异常点</a:t>
            </a:r>
            <a:endParaRPr lang="zh-CN" altLang="en-US" sz="2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latin typeface="Cambria" panose="02040503050406030204" pitchFamily="18" charset="0"/>
                <a:ea typeface="Cambria" panose="02040503050406030204" pitchFamily="18" charset="0"/>
              </a:rPr>
              <a:t>8.4 </a:t>
            </a:r>
            <a:r>
              <a:rPr lang="zh-CN" altLang="zh-CN" dirty="0" smtClean="0">
                <a:latin typeface="Cambria" panose="02040503050406030204" pitchFamily="18" charset="0"/>
              </a:rPr>
              <a:t>密度</a:t>
            </a:r>
            <a:r>
              <a:rPr lang="zh-CN" altLang="zh-CN" dirty="0">
                <a:latin typeface="Cambria" panose="02040503050406030204" pitchFamily="18" charset="0"/>
              </a:rPr>
              <a:t>聚类</a:t>
            </a:r>
            <a:endParaRPr lang="zh-CN" altLang="en-US" dirty="0">
              <a:latin typeface="Cambria" panose="02040503050406030204" pitchFamily="18" charset="0"/>
            </a:endParaRPr>
          </a:p>
        </p:txBody>
      </p:sp>
      <p:sp>
        <p:nvSpPr>
          <p:cNvPr id="4" name="Rectangle 2"/>
          <p:cNvSpPr>
            <a:spLocks noChangeArrowheads="1"/>
          </p:cNvSpPr>
          <p:nvPr/>
        </p:nvSpPr>
        <p:spPr bwMode="auto">
          <a:xfrm>
            <a:off x="1487488" y="1097953"/>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Cambria" panose="02040503050406030204" pitchFamily="18" charset="0"/>
            </a:endParaRPr>
          </a:p>
        </p:txBody>
      </p:sp>
      <mc:AlternateContent xmlns:mc="http://schemas.openxmlformats.org/markup-compatibility/2006">
        <mc:Choice xmlns:a14="http://schemas.microsoft.com/office/drawing/2010/main" Requires="a14">
          <p:sp>
            <p:nvSpPr>
              <p:cNvPr id="20" name="文本框 19"/>
              <p:cNvSpPr txBox="1"/>
              <p:nvPr/>
            </p:nvSpPr>
            <p:spPr>
              <a:xfrm>
                <a:off x="1172580" y="3533158"/>
                <a:ext cx="8100900" cy="2862322"/>
              </a:xfrm>
              <a:prstGeom prst="rect">
                <a:avLst/>
              </a:prstGeom>
              <a:noFill/>
            </p:spPr>
            <p:txBody>
              <a:bodyPr wrap="square" rtlCol="0">
                <a:spAutoFit/>
              </a:bodyPr>
              <a:lstStyle/>
              <a:p>
                <a:pPr marL="342900" indent="-342900">
                  <a:lnSpc>
                    <a:spcPct val="150000"/>
                  </a:lnSpc>
                  <a:buClr>
                    <a:schemeClr val="accent4"/>
                  </a:buClr>
                  <a:buFont typeface="Wingdings" panose="05000000000000000000" pitchFamily="2" charset="2"/>
                  <a:buChar char="n"/>
                </a:pPr>
                <a:r>
                  <a:rPr lang="zh-CN" altLang="zh-CN" sz="2000" dirty="0">
                    <a:latin typeface="Cambria" panose="02040503050406030204" pitchFamily="18" charset="0"/>
                  </a:rPr>
                  <a:t>首先计算空间中每个点的局部密度</a:t>
                </a:r>
                <a14:m>
                  <m:oMath xmlns:m="http://schemas.openxmlformats.org/officeDocument/2006/math">
                    <m:sSub>
                      <m:sSubPr>
                        <m:ctrlPr>
                          <a:rPr lang="zh-CN" altLang="zh-CN" sz="2000" i="1">
                            <a:latin typeface="Cambria Math"/>
                          </a:rPr>
                        </m:ctrlPr>
                      </m:sSubPr>
                      <m:e>
                        <m:r>
                          <a:rPr lang="en-US" altLang="zh-CN" sz="2000" i="1">
                            <a:latin typeface="Cambria Math" panose="02040503050406030204" pitchFamily="18" charset="0"/>
                          </a:rPr>
                          <m:t>𝜌</m:t>
                        </m:r>
                      </m:e>
                      <m:sub>
                        <m:r>
                          <a:rPr lang="en-US" altLang="zh-CN" sz="2000" i="1">
                            <a:latin typeface="Cambria Math" panose="02040503050406030204" pitchFamily="18" charset="0"/>
                          </a:rPr>
                          <m:t>𝑖</m:t>
                        </m:r>
                      </m:sub>
                    </m:sSub>
                  </m:oMath>
                </a14:m>
                <a:r>
                  <a:rPr lang="zh-CN" altLang="zh-CN" sz="2000" dirty="0">
                    <a:latin typeface="Cambria" panose="02040503050406030204" pitchFamily="18" charset="0"/>
                  </a:rPr>
                  <a:t>和高密度点距离</a:t>
                </a:r>
                <a14:m>
                  <m:oMath xmlns:m="http://schemas.openxmlformats.org/officeDocument/2006/math">
                    <m:sSub>
                      <m:sSubPr>
                        <m:ctrlPr>
                          <a:rPr lang="zh-CN" altLang="zh-CN" sz="2000" i="1">
                            <a:latin typeface="Cambria Math"/>
                          </a:rPr>
                        </m:ctrlPr>
                      </m:sSubPr>
                      <m:e>
                        <m:r>
                          <a:rPr lang="en-US" altLang="zh-CN" sz="2000" i="1">
                            <a:latin typeface="Cambria Math" panose="02040503050406030204" pitchFamily="18" charset="0"/>
                          </a:rPr>
                          <m:t>𝛿</m:t>
                        </m:r>
                      </m:e>
                      <m:sub>
                        <m:r>
                          <a:rPr lang="en-US" altLang="zh-CN" sz="2000" i="1">
                            <a:latin typeface="Cambria Math" panose="02040503050406030204" pitchFamily="18" charset="0"/>
                          </a:rPr>
                          <m:t>𝑖</m:t>
                        </m:r>
                      </m:sub>
                    </m:sSub>
                  </m:oMath>
                </a14:m>
                <a:r>
                  <a:rPr lang="zh-CN" altLang="zh-CN" sz="2000" dirty="0">
                    <a:latin typeface="Cambria" panose="02040503050406030204" pitchFamily="18" charset="0"/>
                  </a:rPr>
                  <a:t>，接下来将各点的</a:t>
                </a:r>
                <a14:m>
                  <m:oMath xmlns:m="http://schemas.openxmlformats.org/officeDocument/2006/math">
                    <m:d>
                      <m:dPr>
                        <m:ctrlPr>
                          <a:rPr lang="zh-CN" altLang="zh-CN" sz="2000" i="1">
                            <a:latin typeface="Cambria Math"/>
                          </a:rPr>
                        </m:ctrlPr>
                      </m:dPr>
                      <m:e>
                        <m:sSub>
                          <m:sSubPr>
                            <m:ctrlPr>
                              <a:rPr lang="zh-CN" altLang="zh-CN" sz="2000" i="1">
                                <a:latin typeface="Cambria Math"/>
                              </a:rPr>
                            </m:ctrlPr>
                          </m:sSubPr>
                          <m:e>
                            <m:r>
                              <a:rPr lang="en-US" altLang="zh-CN" sz="2000" i="1">
                                <a:latin typeface="Cambria Math" panose="02040503050406030204" pitchFamily="18" charset="0"/>
                              </a:rPr>
                              <m:t>𝜌</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sSub>
                          <m:sSubPr>
                            <m:ctrlPr>
                              <a:rPr lang="zh-CN" altLang="zh-CN" sz="2000" i="1">
                                <a:latin typeface="Cambria Math"/>
                              </a:rPr>
                            </m:ctrlPr>
                          </m:sSubPr>
                          <m:e>
                            <m:r>
                              <a:rPr lang="en-US" altLang="zh-CN" sz="2000" i="1">
                                <a:latin typeface="Cambria Math" panose="02040503050406030204" pitchFamily="18" charset="0"/>
                              </a:rPr>
                              <m:t>𝛿</m:t>
                            </m:r>
                          </m:e>
                          <m:sub>
                            <m:r>
                              <a:rPr lang="en-US" altLang="zh-CN" sz="2000" i="1">
                                <a:latin typeface="Cambria Math" panose="02040503050406030204" pitchFamily="18" charset="0"/>
                              </a:rPr>
                              <m:t>𝑖</m:t>
                            </m:r>
                          </m:sub>
                        </m:sSub>
                      </m:e>
                    </m:d>
                  </m:oMath>
                </a14:m>
                <a:r>
                  <a:rPr lang="zh-CN" altLang="zh-CN" sz="2000" dirty="0">
                    <a:latin typeface="Cambria" panose="02040503050406030204" pitchFamily="18" charset="0"/>
                  </a:rPr>
                  <a:t>取值在平面坐标中标识</a:t>
                </a:r>
                <a:r>
                  <a:rPr lang="zh-CN" altLang="zh-CN" sz="2000" dirty="0" smtClean="0">
                    <a:latin typeface="Cambria" panose="02040503050406030204" pitchFamily="18" charset="0"/>
                  </a:rPr>
                  <a:t>出来。</a:t>
                </a:r>
                <a:r>
                  <a:rPr lang="zh-CN" altLang="zh-CN" sz="2000" dirty="0">
                    <a:latin typeface="Cambria" panose="02040503050406030204" pitchFamily="18" charset="0"/>
                  </a:rPr>
                  <a:t>横坐标表示局部密度，纵坐标表示高密度点距离</a:t>
                </a:r>
                <a:r>
                  <a:rPr lang="zh-CN" altLang="zh-CN" sz="2000" dirty="0" smtClean="0">
                    <a:latin typeface="Cambria" panose="02040503050406030204" pitchFamily="18" charset="0"/>
                  </a:rPr>
                  <a:t>。</a:t>
                </a:r>
                <a:endParaRPr lang="en-US" altLang="zh-CN" sz="2000" dirty="0" smtClean="0">
                  <a:latin typeface="Cambria" panose="02040503050406030204" pitchFamily="18" charset="0"/>
                  <a:ea typeface="Cambria" panose="02040503050406030204" pitchFamily="18" charset="0"/>
                </a:endParaRPr>
              </a:p>
              <a:p>
                <a:pPr marL="342900" indent="-342900">
                  <a:lnSpc>
                    <a:spcPct val="150000"/>
                  </a:lnSpc>
                  <a:buClr>
                    <a:schemeClr val="accent4"/>
                  </a:buClr>
                  <a:buFont typeface="Wingdings" panose="05000000000000000000" pitchFamily="2" charset="2"/>
                  <a:buChar char="n"/>
                </a:pPr>
                <a:r>
                  <a:rPr lang="zh-CN" altLang="zh-CN" sz="2000" dirty="0">
                    <a:latin typeface="Cambria" panose="02040503050406030204" pitchFamily="18" charset="0"/>
                  </a:rPr>
                  <a:t>点</a:t>
                </a:r>
                <a:r>
                  <a:rPr lang="en-US" altLang="zh-CN" sz="2000" dirty="0">
                    <a:latin typeface="Cambria" panose="02040503050406030204" pitchFamily="18" charset="0"/>
                    <a:ea typeface="Cambria" panose="02040503050406030204" pitchFamily="18" charset="0"/>
                  </a:rPr>
                  <a:t>1</a:t>
                </a:r>
                <a:r>
                  <a:rPr lang="zh-CN" altLang="zh-CN" sz="2000" dirty="0">
                    <a:latin typeface="Cambria" panose="02040503050406030204" pitchFamily="18" charset="0"/>
                  </a:rPr>
                  <a:t>和点</a:t>
                </a:r>
                <a:r>
                  <a:rPr lang="en-US" altLang="zh-CN" sz="2000" dirty="0" smtClean="0">
                    <a:latin typeface="Cambria" panose="02040503050406030204" pitchFamily="18" charset="0"/>
                    <a:ea typeface="Cambria" panose="02040503050406030204" pitchFamily="18" charset="0"/>
                  </a:rPr>
                  <a:t>10</a:t>
                </a:r>
                <a:r>
                  <a:rPr lang="zh-CN" altLang="zh-CN" sz="2000" dirty="0" smtClean="0">
                    <a:latin typeface="Cambria" panose="02040503050406030204" pitchFamily="18" charset="0"/>
                  </a:rPr>
                  <a:t>是</a:t>
                </a:r>
                <a:r>
                  <a:rPr lang="zh-CN" altLang="zh-CN" sz="2000" dirty="0">
                    <a:latin typeface="Cambria" panose="02040503050406030204" pitchFamily="18" charset="0"/>
                  </a:rPr>
                  <a:t>聚类</a:t>
                </a:r>
                <a:r>
                  <a:rPr lang="zh-CN" altLang="zh-CN" sz="2000" dirty="0" smtClean="0">
                    <a:latin typeface="Cambria" panose="02040503050406030204" pitchFamily="18" charset="0"/>
                  </a:rPr>
                  <a:t>中心</a:t>
                </a:r>
                <a:r>
                  <a:rPr lang="zh-CN" altLang="en-US" sz="2000" dirty="0" smtClean="0">
                    <a:latin typeface="Cambria" panose="02040503050406030204" pitchFamily="18" charset="0"/>
                  </a:rPr>
                  <a:t>，点</a:t>
                </a:r>
                <a:r>
                  <a:rPr lang="en-US" altLang="zh-CN" sz="2000" dirty="0" smtClean="0">
                    <a:latin typeface="Cambria" panose="02040503050406030204" pitchFamily="18" charset="0"/>
                    <a:ea typeface="Cambria" panose="02040503050406030204" pitchFamily="18" charset="0"/>
                  </a:rPr>
                  <a:t>27</a:t>
                </a:r>
                <a:r>
                  <a:rPr lang="zh-CN" altLang="en-US" sz="2000" dirty="0" smtClean="0">
                    <a:latin typeface="Cambria" panose="02040503050406030204" pitchFamily="18" charset="0"/>
                  </a:rPr>
                  <a:t>和点</a:t>
                </a:r>
                <a:r>
                  <a:rPr lang="en-US" altLang="zh-CN" sz="2000" dirty="0" smtClean="0">
                    <a:latin typeface="Cambria" panose="02040503050406030204" pitchFamily="18" charset="0"/>
                    <a:ea typeface="Cambria" panose="02040503050406030204" pitchFamily="18" charset="0"/>
                  </a:rPr>
                  <a:t>28</a:t>
                </a:r>
                <a:r>
                  <a:rPr lang="zh-CN" altLang="zh-CN" sz="2000" dirty="0" smtClean="0">
                    <a:latin typeface="Cambria" panose="02040503050406030204" pitchFamily="18" charset="0"/>
                  </a:rPr>
                  <a:t>划分</a:t>
                </a:r>
                <a:r>
                  <a:rPr lang="zh-CN" altLang="zh-CN" sz="2000" dirty="0">
                    <a:latin typeface="Cambria" panose="02040503050406030204" pitchFamily="18" charset="0"/>
                  </a:rPr>
                  <a:t>为异常</a:t>
                </a:r>
                <a:r>
                  <a:rPr lang="zh-CN" altLang="zh-CN" sz="2000" dirty="0" smtClean="0">
                    <a:latin typeface="Cambria" panose="02040503050406030204" pitchFamily="18" charset="0"/>
                  </a:rPr>
                  <a:t>点</a:t>
                </a:r>
                <a:r>
                  <a:rPr lang="zh-CN" altLang="en-US" sz="2000" dirty="0" smtClean="0">
                    <a:latin typeface="Cambria" panose="02040503050406030204" pitchFamily="18" charset="0"/>
                  </a:rPr>
                  <a:t>。</a:t>
                </a:r>
                <a:endParaRPr lang="en-US" altLang="zh-CN" sz="2000" dirty="0" smtClean="0">
                  <a:latin typeface="Cambria" panose="02040503050406030204" pitchFamily="18" charset="0"/>
                  <a:ea typeface="Cambria" panose="02040503050406030204" pitchFamily="18" charset="0"/>
                </a:endParaRPr>
              </a:p>
              <a:p>
                <a:pPr marL="342900" indent="-342900">
                  <a:lnSpc>
                    <a:spcPct val="150000"/>
                  </a:lnSpc>
                  <a:buClr>
                    <a:schemeClr val="accent4"/>
                  </a:buClr>
                  <a:buFont typeface="Wingdings" panose="05000000000000000000" pitchFamily="2" charset="2"/>
                  <a:buChar char="n"/>
                </a:pPr>
                <a:r>
                  <a:rPr lang="zh-CN" altLang="zh-CN" sz="2000" dirty="0">
                    <a:latin typeface="Cambria" panose="02040503050406030204" pitchFamily="18" charset="0"/>
                  </a:rPr>
                  <a:t>对于聚类中心和异常点以外的非异常点</a:t>
                </a:r>
                <a:r>
                  <a:rPr lang="zh-CN" altLang="zh-CN" sz="2000" dirty="0" smtClean="0">
                    <a:latin typeface="Cambria" panose="02040503050406030204" pitchFamily="18" charset="0"/>
                  </a:rPr>
                  <a:t>，归到</a:t>
                </a:r>
                <a:r>
                  <a:rPr lang="zh-CN" altLang="zh-CN" sz="2000" dirty="0">
                    <a:latin typeface="Cambria" panose="02040503050406030204" pitchFamily="18" charset="0"/>
                  </a:rPr>
                  <a:t>比它们的密度更大的最相近的聚类中心所属的聚类中</a:t>
                </a:r>
                <a:r>
                  <a:rPr lang="zh-CN" altLang="zh-CN" sz="2000" dirty="0" smtClean="0">
                    <a:latin typeface="Cambria" panose="02040503050406030204" pitchFamily="18" charset="0"/>
                  </a:rPr>
                  <a:t>。不</a:t>
                </a:r>
                <a:r>
                  <a:rPr lang="zh-CN" altLang="zh-CN" sz="2000" dirty="0">
                    <a:latin typeface="Cambria" panose="02040503050406030204" pitchFamily="18" charset="0"/>
                  </a:rPr>
                  <a:t>需要进行目标的迭代优化。</a:t>
                </a:r>
              </a:p>
            </p:txBody>
          </p:sp>
        </mc:Choice>
        <mc:Fallback>
          <p:sp>
            <p:nvSpPr>
              <p:cNvPr id="20" name="文本框 19"/>
              <p:cNvSpPr txBox="1">
                <a:spLocks noRot="1" noChangeAspect="1" noMove="1" noResize="1" noEditPoints="1" noAdjustHandles="1" noChangeArrowheads="1" noChangeShapeType="1" noTextEdit="1"/>
              </p:cNvSpPr>
              <p:nvPr/>
            </p:nvSpPr>
            <p:spPr>
              <a:xfrm>
                <a:off x="2315845" y="3533140"/>
                <a:ext cx="8691880" cy="3071495"/>
              </a:xfrm>
              <a:prstGeom prst="rect">
                <a:avLst/>
              </a:prstGeom>
              <a:blipFill rotWithShape="1">
                <a:blip r:embed="rId1"/>
                <a:stretch>
                  <a:fillRect l="-602" r="-677" b="-1493"/>
                </a:stretch>
              </a:blipFill>
            </p:spPr>
            <p:txBody>
              <a:bodyPr/>
              <a:lstStyle/>
              <a:p>
                <a:r>
                  <a:rPr lang="zh-CN" altLang="en-US">
                    <a:noFill/>
                  </a:rPr>
                  <a:t> </a:t>
                </a:r>
                <a:endParaRPr lang="zh-CN" altLang="en-US">
                  <a:noFill/>
                </a:endParaRPr>
              </a:p>
            </p:txBody>
          </p:sp>
        </mc:Fallback>
      </mc:AlternateContent>
      <p:sp>
        <p:nvSpPr>
          <p:cNvPr id="38" name="Rectangle 31"/>
          <p:cNvSpPr>
            <a:spLocks noChangeArrowheads="1"/>
          </p:cNvSpPr>
          <p:nvPr/>
        </p:nvSpPr>
        <p:spPr bwMode="auto">
          <a:xfrm>
            <a:off x="5015880" y="4108946"/>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Cambria" panose="02040503050406030204" pitchFamily="18" charset="0"/>
            </a:endParaRPr>
          </a:p>
        </p:txBody>
      </p:sp>
      <p:sp>
        <p:nvSpPr>
          <p:cNvPr id="40" name="矩形 39"/>
          <p:cNvSpPr/>
          <p:nvPr/>
        </p:nvSpPr>
        <p:spPr>
          <a:xfrm>
            <a:off x="2409776" y="784211"/>
            <a:ext cx="3758232" cy="2664296"/>
          </a:xfrm>
          <a:prstGeom prst="rect">
            <a:avLst/>
          </a:prstGeom>
          <a:solidFill>
            <a:schemeClr val="tx1">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28" name="Rectangle 8"/>
          <p:cNvSpPr>
            <a:spLocks noChangeArrowheads="1"/>
          </p:cNvSpPr>
          <p:nvPr/>
        </p:nvSpPr>
        <p:spPr bwMode="auto">
          <a:xfrm>
            <a:off x="1599084" y="449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Cambria" panose="02040503050406030204" pitchFamily="18" charset="0"/>
            </a:endParaRPr>
          </a:p>
        </p:txBody>
      </p:sp>
      <p:pic>
        <p:nvPicPr>
          <p:cNvPr id="30" name="图片 29"/>
          <p:cNvPicPr/>
          <p:nvPr/>
        </p:nvPicPr>
        <p:blipFill>
          <a:blip r:embed="rId2">
            <a:extLst>
              <a:ext uri="{28A0092B-C50C-407E-A947-70E740481C1C}">
                <a14:useLocalDpi xmlns:a14="http://schemas.microsoft.com/office/drawing/2010/main" val="0"/>
              </a:ext>
            </a:extLst>
          </a:blip>
          <a:stretch>
            <a:fillRect/>
          </a:stretch>
        </p:blipFill>
        <p:spPr>
          <a:xfrm>
            <a:off x="2521052" y="882872"/>
            <a:ext cx="3535680" cy="2466975"/>
          </a:xfrm>
          <a:prstGeom prst="rect">
            <a:avLst/>
          </a:prstGeom>
        </p:spPr>
      </p:pic>
      <p:sp>
        <p:nvSpPr>
          <p:cNvPr id="32" name="矩形 31"/>
          <p:cNvSpPr/>
          <p:nvPr/>
        </p:nvSpPr>
        <p:spPr>
          <a:xfrm>
            <a:off x="6383749" y="784226"/>
            <a:ext cx="3457302" cy="2616721"/>
          </a:xfrm>
          <a:prstGeom prst="rect">
            <a:avLst/>
          </a:prstGeom>
          <a:solidFill>
            <a:schemeClr val="tx1">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pic>
        <p:nvPicPr>
          <p:cNvPr id="34" name="图片 33"/>
          <p:cNvPicPr/>
          <p:nvPr/>
        </p:nvPicPr>
        <p:blipFill>
          <a:blip r:embed="rId3">
            <a:extLst>
              <a:ext uri="{28A0092B-C50C-407E-A947-70E740481C1C}">
                <a14:useLocalDpi xmlns:a14="http://schemas.microsoft.com/office/drawing/2010/main" val="0"/>
              </a:ext>
            </a:extLst>
          </a:blip>
          <a:srcRect/>
          <a:stretch>
            <a:fillRect/>
          </a:stretch>
        </p:blipFill>
        <p:spPr bwMode="auto">
          <a:xfrm>
            <a:off x="6564258" y="882938"/>
            <a:ext cx="3096344" cy="2405206"/>
          </a:xfrm>
          <a:prstGeom prst="rect">
            <a:avLst/>
          </a:prstGeom>
          <a:noFill/>
          <a:ln>
            <a:noFill/>
          </a:ln>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5415,&quot;width&quot;:6390}"/>
</p:tagLst>
</file>

<file path=ppt/theme/theme1.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4090</Words>
  <Application>WPS 演示</Application>
  <PresentationFormat>宽屏</PresentationFormat>
  <Paragraphs>227</Paragraphs>
  <Slides>35</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32</vt:i4>
      </vt:variant>
      <vt:variant>
        <vt:lpstr>幻灯片标题</vt:lpstr>
      </vt:variant>
      <vt:variant>
        <vt:i4>35</vt:i4>
      </vt:variant>
    </vt:vector>
  </HeadingPairs>
  <TitlesOfParts>
    <vt:vector size="82" baseType="lpstr">
      <vt:lpstr>Arial</vt:lpstr>
      <vt:lpstr>宋体</vt:lpstr>
      <vt:lpstr>Wingdings</vt:lpstr>
      <vt:lpstr>Wingdings 3</vt:lpstr>
      <vt:lpstr>Arial</vt:lpstr>
      <vt:lpstr>楷体</vt:lpstr>
      <vt:lpstr>幼圆</vt:lpstr>
      <vt:lpstr>Century Gothic</vt:lpstr>
      <vt:lpstr>微软雅黑</vt:lpstr>
      <vt:lpstr>Arial Unicode MS</vt:lpstr>
      <vt:lpstr>Calibri</vt:lpstr>
      <vt:lpstr>Cambria</vt:lpstr>
      <vt:lpstr>Microsoft Sans Serif</vt:lpstr>
      <vt:lpstr>华文楷体</vt:lpstr>
      <vt:lpstr>丝状</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Visio.Drawing.15</vt:lpstr>
      <vt:lpstr>Visio.Drawing.15</vt:lpstr>
      <vt:lpstr>Visio.Drawing.15</vt:lpstr>
      <vt:lpstr>Equation.DSMT4</vt:lpstr>
      <vt:lpstr>Equation.DSMT4</vt:lpstr>
      <vt:lpstr>Equation.DSMT4</vt:lpstr>
      <vt:lpstr>Equation.DSMT4</vt:lpstr>
      <vt:lpstr>Equation.DSMT4</vt:lpstr>
      <vt:lpstr>Equation.DSMT4</vt:lpstr>
      <vt:lpstr>第9章  K-中心点聚类算法</vt:lpstr>
      <vt:lpstr>9.1简介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8.4 密度聚类</vt:lpstr>
      <vt:lpstr>PowerPoint 演示文稿</vt:lpstr>
      <vt:lpstr>PowerPoint 演示文稿</vt:lpstr>
      <vt:lpstr>8.4 密度聚类</vt:lpstr>
      <vt:lpstr>PowerPoint 演示文稿</vt:lpstr>
      <vt:lpstr>8.4 密度聚类</vt:lpstr>
      <vt:lpstr>8.4 密度聚类</vt:lpstr>
      <vt:lpstr>8.4 密度聚类</vt:lpstr>
      <vt:lpstr>8.4 密度聚类</vt:lpstr>
      <vt:lpstr>PowerPoint 演示文稿</vt:lpstr>
      <vt:lpstr>8.4 密度聚类</vt:lpstr>
      <vt:lpstr>PowerPoint 演示文稿</vt:lpstr>
      <vt:lpstr>8.4 密度聚类</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Administrator</cp:lastModifiedBy>
  <cp:revision>60</cp:revision>
  <dcterms:created xsi:type="dcterms:W3CDTF">2019-12-16T01:20:00Z</dcterms:created>
  <dcterms:modified xsi:type="dcterms:W3CDTF">2020-12-16T09:53:49Z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