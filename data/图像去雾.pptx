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8" r:id="rId3"/>
    <p:sldId id="336" r:id="rId4"/>
    <p:sldId id="259" r:id="rId5"/>
    <p:sldId id="342" r:id="rId6"/>
    <p:sldId id="260" r:id="rId7"/>
    <p:sldId id="261" r:id="rId8"/>
    <p:sldId id="262" r:id="rId9"/>
    <p:sldId id="263" r:id="rId10"/>
    <p:sldId id="268" r:id="rId11"/>
    <p:sldId id="270" r:id="rId12"/>
    <p:sldId id="271" r:id="rId13"/>
    <p:sldId id="272" r:id="rId14"/>
    <p:sldId id="274" r:id="rId15"/>
    <p:sldId id="276" r:id="rId16"/>
    <p:sldId id="278" r:id="rId17"/>
    <p:sldId id="280" r:id="rId18"/>
    <p:sldId id="281" r:id="rId20"/>
    <p:sldId id="282" r:id="rId21"/>
    <p:sldId id="283" r:id="rId22"/>
    <p:sldId id="340" r:id="rId23"/>
    <p:sldId id="339" r:id="rId24"/>
    <p:sldId id="284" r:id="rId25"/>
    <p:sldId id="285" r:id="rId26"/>
    <p:sldId id="286" r:id="rId27"/>
    <p:sldId id="343" r:id="rId28"/>
    <p:sldId id="344" r:id="rId29"/>
    <p:sldId id="287" r:id="rId30"/>
    <p:sldId id="322" r:id="rId31"/>
    <p:sldId id="324" r:id="rId32"/>
    <p:sldId id="326" r:id="rId33"/>
    <p:sldId id="288" r:id="rId34"/>
    <p:sldId id="289" r:id="rId35"/>
    <p:sldId id="290" r:id="rId36"/>
    <p:sldId id="295" r:id="rId37"/>
    <p:sldId id="315" r:id="rId38"/>
    <p:sldId id="318" r:id="rId39"/>
    <p:sldId id="313" r:id="rId40"/>
    <p:sldId id="345" r:id="rId41"/>
    <p:sldId id="314" r:id="rId42"/>
    <p:sldId id="346" r:id="rId43"/>
    <p:sldId id="347" r:id="rId44"/>
    <p:sldId id="348" r:id="rId45"/>
    <p:sldId id="349" r:id="rId46"/>
    <p:sldId id="350" r:id="rId47"/>
    <p:sldId id="351" r:id="rId48"/>
    <p:sldId id="352" r:id="rId49"/>
    <p:sldId id="353" r:id="rId50"/>
  </p:sldIdLst>
  <p:sldSz cx="9169400" cy="6858000"/>
  <p:notesSz cx="6858000" cy="9144000"/>
  <p:custDataLst>
    <p:tags r:id="rId5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4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gs" Target="tags/tag1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65885" y="1143000"/>
            <a:ext cx="412623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65250" y="1143000"/>
            <a:ext cx="41275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认为在一个小窗口 </a:t>
            </a:r>
            <a:r>
              <a:rPr lang="en-US" altLang="zh-CN"/>
              <a:t>Ω(x) </a:t>
            </a:r>
            <a:r>
              <a:rPr lang="zh-CN" altLang="en-US"/>
              <a:t>内，透射率变化很小，可以看成常数。</a:t>
            </a:r>
            <a:r>
              <a:rPr lang="en-US" altLang="zh-CN"/>
              <a:t> </a:t>
            </a:r>
            <a:r>
              <a:rPr lang="zh-CN" altLang="en-US"/>
              <a:t>这时 </a:t>
            </a:r>
            <a:r>
              <a:rPr lang="en-US" altLang="zh-CN"/>
              <a:t>t(x) </a:t>
            </a:r>
            <a:r>
              <a:rPr lang="zh-CN" altLang="en-US"/>
              <a:t>对窗口内所有 </a:t>
            </a:r>
            <a:r>
              <a:rPr lang="en-US" altLang="zh-CN"/>
              <a:t>y </a:t>
            </a:r>
            <a:r>
              <a:rPr lang="zh-CN" altLang="en-US"/>
              <a:t>和所有颜色通道 </a:t>
            </a:r>
            <a:r>
              <a:rPr lang="en-US" altLang="zh-CN"/>
              <a:t>c </a:t>
            </a:r>
            <a:r>
              <a:rPr lang="zh-CN" altLang="en-US"/>
              <a:t>都是常数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7705" y="1122363"/>
            <a:ext cx="779399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176" y="3602038"/>
            <a:ext cx="687705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621" y="1709741"/>
            <a:ext cx="790860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621" y="4589466"/>
            <a:ext cx="7908608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0397" y="1825625"/>
            <a:ext cx="3896995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10" y="1825625"/>
            <a:ext cx="3896995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591" y="365128"/>
            <a:ext cx="7908608" cy="13255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1593" y="1681164"/>
            <a:ext cx="387908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593" y="2505075"/>
            <a:ext cx="3879084" cy="36845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010" y="1681164"/>
            <a:ext cx="3898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10" y="2505075"/>
            <a:ext cx="3898188" cy="36845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591" y="457200"/>
            <a:ext cx="29573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8190" y="987427"/>
            <a:ext cx="46420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91" y="2057400"/>
            <a:ext cx="29573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591" y="457200"/>
            <a:ext cx="29573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98190" y="987427"/>
            <a:ext cx="46420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91" y="2057400"/>
            <a:ext cx="29573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1851" y="365124"/>
            <a:ext cx="1977152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0397" y="365124"/>
            <a:ext cx="5816838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607" y="689305"/>
            <a:ext cx="8400188" cy="6093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5411" y="3840480"/>
            <a:ext cx="641858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397" y="365128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397" y="1825625"/>
            <a:ext cx="79086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397" y="6356352"/>
            <a:ext cx="2063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7365" y="6356352"/>
            <a:ext cx="309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75889" y="6356352"/>
            <a:ext cx="2063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.jpeg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image" Target="../media/image28.jpeg"/><Relationship Id="rId2" Type="http://schemas.openxmlformats.org/officeDocument/2006/relationships/image" Target="../media/image26.png"/><Relationship Id="rId1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jpeg"/><Relationship Id="rId8" Type="http://schemas.openxmlformats.org/officeDocument/2006/relationships/image" Target="../media/image49.jpeg"/><Relationship Id="rId7" Type="http://schemas.openxmlformats.org/officeDocument/2006/relationships/image" Target="../media/image48.jpeg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54.jpeg"/><Relationship Id="rId14" Type="http://schemas.openxmlformats.org/officeDocument/2006/relationships/image" Target="../media/image53.jpeg"/><Relationship Id="rId13" Type="http://schemas.openxmlformats.org/officeDocument/2006/relationships/image" Target="../media/image52.jpeg"/><Relationship Id="rId12" Type="http://schemas.openxmlformats.org/officeDocument/2006/relationships/image" Target="../media/image51.jpeg"/><Relationship Id="rId11" Type="http://schemas.openxmlformats.org/officeDocument/2006/relationships/image" Target="../media/image39.jpeg"/><Relationship Id="rId10" Type="http://schemas.openxmlformats.org/officeDocument/2006/relationships/image" Target="../media/image50.jpeg"/><Relationship Id="rId1" Type="http://schemas.openxmlformats.org/officeDocument/2006/relationships/image" Target="../media/image4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jpeg"/><Relationship Id="rId8" Type="http://schemas.openxmlformats.org/officeDocument/2006/relationships/image" Target="../media/image63.jpeg"/><Relationship Id="rId7" Type="http://schemas.openxmlformats.org/officeDocument/2006/relationships/image" Target="../media/image62.jpeg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59.jpeg"/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jpeg"/><Relationship Id="rId1" Type="http://schemas.openxmlformats.org/officeDocument/2006/relationships/image" Target="../media/image65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0.jpeg"/><Relationship Id="rId2" Type="http://schemas.openxmlformats.org/officeDocument/2006/relationships/image" Target="../media/image69.png"/><Relationship Id="rId1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image" Target="../media/image7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0.jpeg"/><Relationship Id="rId4" Type="http://schemas.openxmlformats.org/officeDocument/2006/relationships/image" Target="../media/image79.jpeg"/><Relationship Id="rId3" Type="http://schemas.openxmlformats.org/officeDocument/2006/relationships/image" Target="../media/image78.jpeg"/><Relationship Id="rId2" Type="http://schemas.openxmlformats.org/officeDocument/2006/relationships/image" Target="../media/image72.jpeg"/><Relationship Id="rId1" Type="http://schemas.openxmlformats.org/officeDocument/2006/relationships/image" Target="../media/image7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1" Type="http://schemas.openxmlformats.org/officeDocument/2006/relationships/image" Target="../media/image71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6.png"/><Relationship Id="rId2" Type="http://schemas.openxmlformats.org/officeDocument/2006/relationships/image" Target="../media/image85.jpeg"/><Relationship Id="rId1" Type="http://schemas.openxmlformats.org/officeDocument/2006/relationships/image" Target="../media/image84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tags" Target="../tags/tag6.xml"/><Relationship Id="rId7" Type="http://schemas.openxmlformats.org/officeDocument/2006/relationships/image" Target="../media/image88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87.jpeg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tags" Target="../tags/tag8.xml"/><Relationship Id="rId1" Type="http://schemas.openxmlformats.org/officeDocument/2006/relationships/image" Target="../media/image90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.xml"/><Relationship Id="rId2" Type="http://schemas.openxmlformats.org/officeDocument/2006/relationships/image" Target="../media/image94.jpeg"/><Relationship Id="rId1" Type="http://schemas.openxmlformats.org/officeDocument/2006/relationships/image" Target="../media/image93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1165" y="2608580"/>
            <a:ext cx="5612130" cy="686435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205740" marR="3810" indent="-196850">
              <a:lnSpc>
                <a:spcPct val="100000"/>
              </a:lnSpc>
              <a:spcBef>
                <a:spcPts val="75"/>
              </a:spcBef>
            </a:pPr>
            <a:r>
              <a:rPr lang="zh-CN" altLang="en-US" b="1" dirty="0">
                <a:latin typeface="+mj-ea"/>
              </a:rPr>
              <a:t>图像增强</a:t>
            </a:r>
            <a:r>
              <a:rPr lang="en-US" altLang="zh-CN" b="1" dirty="0">
                <a:latin typeface="+mj-ea"/>
              </a:rPr>
              <a:t>—</a:t>
            </a:r>
            <a:r>
              <a:rPr lang="zh-CN" altLang="en-US" b="1" dirty="0">
                <a:latin typeface="+mj-ea"/>
              </a:rPr>
              <a:t>图像去雾</a:t>
            </a:r>
            <a:endParaRPr b="1" dirty="0"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1 </a:t>
            </a:r>
            <a:r>
              <a:rPr lang="zh-CN" altLang="en-US"/>
              <a:t>引言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基于暗通道先验的图像去雾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8073" y="1578682"/>
            <a:ext cx="2161495" cy="502087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/>
              <a:t>有雾图像</a:t>
            </a:r>
            <a:endParaRPr sz="32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803168" y="2223157"/>
            <a:ext cx="1709233" cy="1465580"/>
          </a:xfrm>
          <a:prstGeom prst="rect">
            <a:avLst/>
          </a:prstGeom>
        </p:spPr>
        <p:txBody>
          <a:bodyPr vert="horz" wrap="square" lIns="0" tIns="118438" rIns="0" bIns="0" rtlCol="0">
            <a:spAutoFit/>
          </a:bodyPr>
          <a:lstStyle/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低可见度</a:t>
            </a:r>
            <a:endParaRPr lang="en-US" altLang="zh-CN" sz="2400" spc="-4" dirty="0">
              <a:latin typeface="Arial MT"/>
              <a:cs typeface="Arial MT"/>
            </a:endParaRPr>
          </a:p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dirty="0">
                <a:latin typeface="Arial MT"/>
                <a:cs typeface="Arial MT"/>
              </a:rPr>
              <a:t>颜色暗淡</a:t>
            </a:r>
            <a:endParaRPr lang="zh-CN" altLang="en-US" sz="2400" dirty="0">
              <a:latin typeface="Arial MT"/>
              <a:cs typeface="Arial MT"/>
            </a:endParaRPr>
          </a:p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sz="2400" dirty="0">
                <a:latin typeface="Arial MT"/>
                <a:cs typeface="Arial MT"/>
              </a:rPr>
              <a:t>细节模糊</a:t>
            </a:r>
            <a:endParaRPr lang="zh-CN" sz="24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129317" y="1549337"/>
            <a:ext cx="2616116" cy="18245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3203" y="3532123"/>
            <a:ext cx="2616116" cy="18245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9556" y="3534836"/>
            <a:ext cx="2616116" cy="182452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3203" y="1549337"/>
            <a:ext cx="2616116" cy="18245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</a:t>
            </a:r>
            <a:r>
              <a:rPr lang="zh-CN" altLang="en-US"/>
              <a:t>引言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</a:t>
            </a:r>
            <a:r>
              <a:rPr lang="zh-CN" altLang="en-US"/>
              <a:t>引言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7535" y="1882140"/>
            <a:ext cx="2458085" cy="43694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330" y="1882140"/>
            <a:ext cx="3209290" cy="213931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330" y="4104640"/>
            <a:ext cx="3218815" cy="2146935"/>
          </a:xfrm>
          <a:prstGeom prst="rect">
            <a:avLst/>
          </a:prstGeom>
        </p:spPr>
      </p:pic>
      <p:sp>
        <p:nvSpPr>
          <p:cNvPr id="15" name="object 3"/>
          <p:cNvSpPr txBox="1">
            <a:spLocks noGrp="1"/>
          </p:cNvSpPr>
          <p:nvPr>
            <p:ph type="title"/>
          </p:nvPr>
        </p:nvSpPr>
        <p:spPr>
          <a:xfrm>
            <a:off x="668020" y="1306830"/>
            <a:ext cx="4388485" cy="501650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/>
              <a:t>典型图像去雾应用场景</a:t>
            </a:r>
            <a:endParaRPr sz="3200" b="1" dirty="0"/>
          </a:p>
        </p:txBody>
      </p:sp>
      <p:sp>
        <p:nvSpPr>
          <p:cNvPr id="16" name="object 4"/>
          <p:cNvSpPr txBox="1"/>
          <p:nvPr/>
        </p:nvSpPr>
        <p:spPr>
          <a:xfrm>
            <a:off x="742208" y="1963442"/>
            <a:ext cx="1709233" cy="1955165"/>
          </a:xfrm>
          <a:prstGeom prst="rect">
            <a:avLst/>
          </a:prstGeom>
        </p:spPr>
        <p:txBody>
          <a:bodyPr vert="horz" wrap="square" lIns="0" tIns="118438" rIns="0" bIns="0" rtlCol="0">
            <a:spAutoFit/>
          </a:bodyPr>
          <a:lstStyle/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dirty="0">
                <a:latin typeface="Arial MT"/>
                <a:cs typeface="Arial MT"/>
              </a:rPr>
              <a:t>自动驾驶</a:t>
            </a:r>
            <a:endParaRPr lang="zh-CN" altLang="en-US" sz="2400" dirty="0">
              <a:latin typeface="Arial MT"/>
              <a:cs typeface="Arial MT"/>
            </a:endParaRPr>
          </a:p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dirty="0">
                <a:latin typeface="Arial MT"/>
                <a:cs typeface="Arial MT"/>
              </a:rPr>
              <a:t>安防监控</a:t>
            </a:r>
            <a:endParaRPr lang="zh-CN" altLang="en-US" sz="2400" dirty="0">
              <a:latin typeface="Arial MT"/>
              <a:cs typeface="Arial MT"/>
            </a:endParaRPr>
          </a:p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dirty="0">
                <a:latin typeface="Arial MT"/>
                <a:cs typeface="Arial MT"/>
              </a:rPr>
              <a:t>遥感成像</a:t>
            </a:r>
            <a:endParaRPr lang="zh-CN" altLang="en-US" sz="2400" dirty="0">
              <a:latin typeface="Arial MT"/>
              <a:cs typeface="Arial MT"/>
            </a:endParaRPr>
          </a:p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dirty="0">
                <a:latin typeface="Arial MT"/>
                <a:cs typeface="Arial MT"/>
              </a:rPr>
              <a:t>航拍摄影</a:t>
            </a:r>
            <a:endParaRPr lang="zh-CN" altLang="en-US"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0997" y="1472403"/>
            <a:ext cx="3928993" cy="502087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/>
              <a:t>去雾的目标</a:t>
            </a:r>
            <a:endParaRPr sz="32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1437170" y="5102434"/>
            <a:ext cx="2297126" cy="999323"/>
          </a:xfrm>
          <a:prstGeom prst="rect">
            <a:avLst/>
          </a:prstGeom>
        </p:spPr>
        <p:txBody>
          <a:bodyPr vert="horz" wrap="square" lIns="0" tIns="118438" rIns="0" bIns="0" rtlCol="0">
            <a:spAutoFit/>
          </a:bodyPr>
          <a:lstStyle/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场景恢复</a:t>
            </a:r>
            <a:endParaRPr sz="2400" dirty="0">
              <a:latin typeface="Arial MT"/>
              <a:cs typeface="Arial MT"/>
            </a:endParaRPr>
          </a:p>
          <a:p>
            <a:pPr marL="267335" indent="-257810">
              <a:spcBef>
                <a:spcPts val="114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dirty="0">
                <a:latin typeface="Arial MT"/>
                <a:cs typeface="Arial MT"/>
              </a:rPr>
              <a:t>深度估计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24671" y="2241892"/>
            <a:ext cx="1970445" cy="26528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8854" y="2249461"/>
            <a:ext cx="1949690" cy="26313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714405" y="4873408"/>
            <a:ext cx="789451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400" b="1" spc="-4" dirty="0">
                <a:latin typeface="Arial MT"/>
                <a:cs typeface="Arial MT"/>
              </a:rPr>
              <a:t>深度</a:t>
            </a:r>
            <a:endParaRPr sz="2400" b="1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1957" y="2241892"/>
            <a:ext cx="1970445" cy="265282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3240348" y="3512254"/>
            <a:ext cx="669124" cy="285876"/>
            <a:chOff x="3003423" y="2977260"/>
            <a:chExt cx="667385" cy="524510"/>
          </a:xfrm>
        </p:grpSpPr>
        <p:sp>
          <p:nvSpPr>
            <p:cNvPr id="10" name="object 10"/>
            <p:cNvSpPr/>
            <p:nvPr/>
          </p:nvSpPr>
          <p:spPr>
            <a:xfrm>
              <a:off x="3016123" y="2989960"/>
              <a:ext cx="641985" cy="499109"/>
            </a:xfrm>
            <a:custGeom>
              <a:avLst/>
              <a:gdLst/>
              <a:ahLst/>
              <a:cxnLst/>
              <a:rect l="l" t="t" r="r" b="b"/>
              <a:pathLst>
                <a:path w="641985" h="499110">
                  <a:moveTo>
                    <a:pt x="392175" y="0"/>
                  </a:moveTo>
                  <a:lnTo>
                    <a:pt x="392175" y="124713"/>
                  </a:lnTo>
                  <a:lnTo>
                    <a:pt x="0" y="124713"/>
                  </a:lnTo>
                  <a:lnTo>
                    <a:pt x="0" y="374014"/>
                  </a:lnTo>
                  <a:lnTo>
                    <a:pt x="392175" y="374014"/>
                  </a:lnTo>
                  <a:lnTo>
                    <a:pt x="392175" y="498601"/>
                  </a:lnTo>
                  <a:lnTo>
                    <a:pt x="641476" y="249300"/>
                  </a:lnTo>
                  <a:lnTo>
                    <a:pt x="392175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1" name="object 11"/>
            <p:cNvSpPr/>
            <p:nvPr/>
          </p:nvSpPr>
          <p:spPr>
            <a:xfrm>
              <a:off x="3016123" y="2989960"/>
              <a:ext cx="641985" cy="499109"/>
            </a:xfrm>
            <a:custGeom>
              <a:avLst/>
              <a:gdLst/>
              <a:ahLst/>
              <a:cxnLst/>
              <a:rect l="l" t="t" r="r" b="b"/>
              <a:pathLst>
                <a:path w="641985" h="499110">
                  <a:moveTo>
                    <a:pt x="0" y="124713"/>
                  </a:moveTo>
                  <a:lnTo>
                    <a:pt x="392175" y="124713"/>
                  </a:lnTo>
                  <a:lnTo>
                    <a:pt x="392175" y="0"/>
                  </a:lnTo>
                  <a:lnTo>
                    <a:pt x="641476" y="249300"/>
                  </a:lnTo>
                  <a:lnTo>
                    <a:pt x="392175" y="498601"/>
                  </a:lnTo>
                  <a:lnTo>
                    <a:pt x="392175" y="374014"/>
                  </a:lnTo>
                  <a:lnTo>
                    <a:pt x="0" y="374014"/>
                  </a:lnTo>
                  <a:lnTo>
                    <a:pt x="0" y="124713"/>
                  </a:lnTo>
                  <a:close/>
                </a:path>
              </a:pathLst>
            </a:custGeom>
            <a:ln w="25399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</a:t>
            </a:r>
            <a:r>
              <a:rPr lang="zh-CN" altLang="en-US"/>
              <a:t>引言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2619" y="1364116"/>
            <a:ext cx="3418467" cy="502087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>
                <a:solidFill>
                  <a:srgbClr val="333333"/>
                </a:solidFill>
                <a:latin typeface="Arial" panose="020B0604020202020204" pitchFamily="34" charset="0"/>
              </a:rPr>
              <a:t>雾图成像模型</a:t>
            </a:r>
            <a:endParaRPr sz="32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3348268" y="2103164"/>
            <a:ext cx="2475739" cy="446985"/>
          </a:xfrm>
          <a:prstGeom prst="rect">
            <a:avLst/>
          </a:prstGeom>
        </p:spPr>
        <p:txBody>
          <a:bodyPr vert="horz" wrap="square" lIns="0" tIns="12894" rIns="0" bIns="0" rtlCol="0">
            <a:spAutoFit/>
          </a:bodyPr>
          <a:lstStyle/>
          <a:p>
            <a:pPr marL="9525">
              <a:spcBef>
                <a:spcPts val="100"/>
              </a:spcBef>
            </a:pPr>
            <a:r>
              <a:rPr sz="2820" b="1" spc="-1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82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19" dirty="0">
                <a:latin typeface="Symbol" panose="05050102010706020507"/>
                <a:cs typeface="Symbol" panose="05050102010706020507"/>
              </a:rPr>
              <a:t></a:t>
            </a:r>
            <a:r>
              <a:rPr sz="2820" spc="-1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b="1" spc="-19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20" b="1" spc="-3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11" dirty="0">
                <a:latin typeface="Symbol" panose="05050102010706020507"/>
                <a:cs typeface="Symbol" panose="05050102010706020507"/>
              </a:rPr>
              <a:t></a:t>
            </a:r>
            <a:r>
              <a:rPr sz="2820" spc="-46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i="1" spc="-1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20" i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19" dirty="0">
                <a:latin typeface="Symbol" panose="05050102010706020507"/>
                <a:cs typeface="Symbol" panose="05050102010706020507"/>
              </a:rPr>
              <a:t></a:t>
            </a:r>
            <a:r>
              <a:rPr sz="2820" spc="-18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b="1" spc="-26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20" b="1" spc="-37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11" dirty="0">
                <a:latin typeface="Symbol" panose="05050102010706020507"/>
                <a:cs typeface="Symbol" panose="05050102010706020507"/>
              </a:rPr>
              <a:t></a:t>
            </a:r>
            <a:r>
              <a:rPr sz="2820" spc="-4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259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20" spc="16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20" spc="-19" dirty="0">
                <a:latin typeface="Symbol" panose="05050102010706020507"/>
                <a:cs typeface="Symbol" panose="05050102010706020507"/>
              </a:rPr>
              <a:t></a:t>
            </a:r>
            <a:r>
              <a:rPr sz="2820" spc="-36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i="1" spc="1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20" spc="-11" dirty="0">
                <a:latin typeface="Times New Roman" panose="02020603050405020304"/>
                <a:cs typeface="Times New Roman" panose="02020603050405020304"/>
              </a:rPr>
              <a:t>)</a:t>
            </a:r>
            <a:endParaRPr sz="282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03077" y="2596782"/>
            <a:ext cx="495243" cy="482349"/>
          </a:xfrm>
          <a:custGeom>
            <a:avLst/>
            <a:gdLst/>
            <a:ahLst/>
            <a:cxnLst/>
            <a:rect l="l" t="t" r="r" b="b"/>
            <a:pathLst>
              <a:path w="658495" h="641350">
                <a:moveTo>
                  <a:pt x="70826" y="51198"/>
                </a:moveTo>
                <a:lnTo>
                  <a:pt x="54682" y="53204"/>
                </a:lnTo>
                <a:lnTo>
                  <a:pt x="53038" y="69355"/>
                </a:lnTo>
                <a:lnTo>
                  <a:pt x="640460" y="640968"/>
                </a:lnTo>
                <a:lnTo>
                  <a:pt x="658241" y="622808"/>
                </a:lnTo>
                <a:lnTo>
                  <a:pt x="70826" y="51198"/>
                </a:lnTo>
                <a:close/>
              </a:path>
              <a:path w="658495" h="641350">
                <a:moveTo>
                  <a:pt x="0" y="0"/>
                </a:moveTo>
                <a:lnTo>
                  <a:pt x="46736" y="134112"/>
                </a:lnTo>
                <a:lnTo>
                  <a:pt x="53038" y="69355"/>
                </a:lnTo>
                <a:lnTo>
                  <a:pt x="45847" y="62356"/>
                </a:lnTo>
                <a:lnTo>
                  <a:pt x="63500" y="44068"/>
                </a:lnTo>
                <a:lnTo>
                  <a:pt x="128224" y="44068"/>
                </a:lnTo>
                <a:lnTo>
                  <a:pt x="135381" y="43179"/>
                </a:lnTo>
                <a:lnTo>
                  <a:pt x="0" y="0"/>
                </a:lnTo>
                <a:close/>
              </a:path>
              <a:path w="658495" h="641350">
                <a:moveTo>
                  <a:pt x="54602" y="53286"/>
                </a:moveTo>
                <a:lnTo>
                  <a:pt x="45847" y="62356"/>
                </a:lnTo>
                <a:lnTo>
                  <a:pt x="53038" y="69355"/>
                </a:lnTo>
                <a:lnTo>
                  <a:pt x="54602" y="53286"/>
                </a:lnTo>
                <a:close/>
              </a:path>
              <a:path w="658495" h="641350">
                <a:moveTo>
                  <a:pt x="63500" y="44068"/>
                </a:moveTo>
                <a:lnTo>
                  <a:pt x="54682" y="53204"/>
                </a:lnTo>
                <a:lnTo>
                  <a:pt x="70826" y="51198"/>
                </a:lnTo>
                <a:lnTo>
                  <a:pt x="63500" y="44068"/>
                </a:lnTo>
                <a:close/>
              </a:path>
              <a:path w="658495" h="641350">
                <a:moveTo>
                  <a:pt x="128224" y="44068"/>
                </a:moveTo>
                <a:lnTo>
                  <a:pt x="63500" y="44068"/>
                </a:lnTo>
                <a:lnTo>
                  <a:pt x="70826" y="51198"/>
                </a:lnTo>
                <a:lnTo>
                  <a:pt x="128224" y="4406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355"/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47880" y="3180663"/>
            <a:ext cx="1198707" cy="17992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816076" y="5091337"/>
            <a:ext cx="1262702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400" spc="-8" dirty="0">
                <a:latin typeface="Arial MT"/>
                <a:cs typeface="Arial MT"/>
              </a:rPr>
              <a:t>透射率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5690" y="3180663"/>
            <a:ext cx="1209407" cy="181239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922021" y="2630213"/>
            <a:ext cx="257889" cy="403071"/>
          </a:xfrm>
          <a:custGeom>
            <a:avLst/>
            <a:gdLst/>
            <a:ahLst/>
            <a:cxnLst/>
            <a:rect l="l" t="t" r="r" b="b"/>
            <a:pathLst>
              <a:path w="342900" h="535939">
                <a:moveTo>
                  <a:pt x="40566" y="64649"/>
                </a:moveTo>
                <a:lnTo>
                  <a:pt x="35203" y="79913"/>
                </a:lnTo>
                <a:lnTo>
                  <a:pt x="321055" y="535431"/>
                </a:lnTo>
                <a:lnTo>
                  <a:pt x="342646" y="521970"/>
                </a:lnTo>
                <a:lnTo>
                  <a:pt x="56698" y="66497"/>
                </a:lnTo>
                <a:lnTo>
                  <a:pt x="40566" y="64649"/>
                </a:lnTo>
                <a:close/>
              </a:path>
              <a:path w="342900" h="535939">
                <a:moveTo>
                  <a:pt x="0" y="0"/>
                </a:moveTo>
                <a:lnTo>
                  <a:pt x="13842" y="141350"/>
                </a:lnTo>
                <a:lnTo>
                  <a:pt x="35203" y="79913"/>
                </a:lnTo>
                <a:lnTo>
                  <a:pt x="29845" y="71374"/>
                </a:lnTo>
                <a:lnTo>
                  <a:pt x="51308" y="57912"/>
                </a:lnTo>
                <a:lnTo>
                  <a:pt x="95126" y="57912"/>
                </a:lnTo>
                <a:lnTo>
                  <a:pt x="0" y="0"/>
                </a:lnTo>
                <a:close/>
              </a:path>
              <a:path w="342900" h="535939">
                <a:moveTo>
                  <a:pt x="40495" y="64693"/>
                </a:moveTo>
                <a:lnTo>
                  <a:pt x="29845" y="71374"/>
                </a:lnTo>
                <a:lnTo>
                  <a:pt x="35203" y="79913"/>
                </a:lnTo>
                <a:lnTo>
                  <a:pt x="40495" y="64693"/>
                </a:lnTo>
                <a:close/>
              </a:path>
              <a:path w="342900" h="535939">
                <a:moveTo>
                  <a:pt x="95126" y="57912"/>
                </a:moveTo>
                <a:lnTo>
                  <a:pt x="51308" y="57912"/>
                </a:lnTo>
                <a:lnTo>
                  <a:pt x="56698" y="66497"/>
                </a:lnTo>
                <a:lnTo>
                  <a:pt x="121412" y="73913"/>
                </a:lnTo>
                <a:lnTo>
                  <a:pt x="95126" y="57912"/>
                </a:lnTo>
                <a:close/>
              </a:path>
              <a:path w="342900" h="535939">
                <a:moveTo>
                  <a:pt x="51308" y="57912"/>
                </a:moveTo>
                <a:lnTo>
                  <a:pt x="40566" y="64649"/>
                </a:lnTo>
                <a:lnTo>
                  <a:pt x="56698" y="66497"/>
                </a:lnTo>
                <a:lnTo>
                  <a:pt x="51308" y="57912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10" name="object 10"/>
          <p:cNvSpPr txBox="1"/>
          <p:nvPr/>
        </p:nvSpPr>
        <p:spPr>
          <a:xfrm>
            <a:off x="3869870" y="5091337"/>
            <a:ext cx="1479998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400" dirty="0">
                <a:latin typeface="Arial MT"/>
                <a:cs typeface="Arial MT"/>
              </a:rPr>
              <a:t>无雾图像</a:t>
            </a:r>
            <a:endParaRPr lang="zh-CN" altLang="en-US" sz="2400" dirty="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4001" y="3180663"/>
            <a:ext cx="1209501" cy="181239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852830" y="2624289"/>
            <a:ext cx="425995" cy="416444"/>
          </a:xfrm>
          <a:custGeom>
            <a:avLst/>
            <a:gdLst/>
            <a:ahLst/>
            <a:cxnLst/>
            <a:rect l="l" t="t" r="r" b="b"/>
            <a:pathLst>
              <a:path w="566419" h="553719">
                <a:moveTo>
                  <a:pt x="495459" y="51238"/>
                </a:moveTo>
                <a:lnTo>
                  <a:pt x="0" y="535432"/>
                </a:lnTo>
                <a:lnTo>
                  <a:pt x="17652" y="553592"/>
                </a:lnTo>
                <a:lnTo>
                  <a:pt x="513161" y="69473"/>
                </a:lnTo>
                <a:lnTo>
                  <a:pt x="511562" y="53283"/>
                </a:lnTo>
                <a:lnTo>
                  <a:pt x="495459" y="51238"/>
                </a:lnTo>
                <a:close/>
              </a:path>
              <a:path w="566419" h="553719">
                <a:moveTo>
                  <a:pt x="550735" y="44196"/>
                </a:moveTo>
                <a:lnTo>
                  <a:pt x="502665" y="44196"/>
                </a:lnTo>
                <a:lnTo>
                  <a:pt x="520445" y="62357"/>
                </a:lnTo>
                <a:lnTo>
                  <a:pt x="513161" y="69473"/>
                </a:lnTo>
                <a:lnTo>
                  <a:pt x="519556" y="134238"/>
                </a:lnTo>
                <a:lnTo>
                  <a:pt x="550735" y="44196"/>
                </a:lnTo>
                <a:close/>
              </a:path>
              <a:path w="566419" h="553719">
                <a:moveTo>
                  <a:pt x="511562" y="53283"/>
                </a:moveTo>
                <a:lnTo>
                  <a:pt x="513161" y="69473"/>
                </a:lnTo>
                <a:lnTo>
                  <a:pt x="520445" y="62357"/>
                </a:lnTo>
                <a:lnTo>
                  <a:pt x="511562" y="53283"/>
                </a:lnTo>
                <a:close/>
              </a:path>
              <a:path w="566419" h="553719">
                <a:moveTo>
                  <a:pt x="502665" y="44196"/>
                </a:moveTo>
                <a:lnTo>
                  <a:pt x="495459" y="51238"/>
                </a:lnTo>
                <a:lnTo>
                  <a:pt x="511485" y="53204"/>
                </a:lnTo>
                <a:lnTo>
                  <a:pt x="502665" y="44196"/>
                </a:lnTo>
                <a:close/>
              </a:path>
              <a:path w="566419" h="553719">
                <a:moveTo>
                  <a:pt x="566038" y="0"/>
                </a:moveTo>
                <a:lnTo>
                  <a:pt x="430783" y="43307"/>
                </a:lnTo>
                <a:lnTo>
                  <a:pt x="495459" y="51238"/>
                </a:lnTo>
                <a:lnTo>
                  <a:pt x="502665" y="44196"/>
                </a:lnTo>
                <a:lnTo>
                  <a:pt x="550735" y="44196"/>
                </a:lnTo>
                <a:lnTo>
                  <a:pt x="566038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13" name="object 13"/>
          <p:cNvSpPr txBox="1"/>
          <p:nvPr/>
        </p:nvSpPr>
        <p:spPr>
          <a:xfrm>
            <a:off x="2057399" y="5091337"/>
            <a:ext cx="1450731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400" dirty="0">
                <a:latin typeface="Arial MT"/>
                <a:cs typeface="Arial MT"/>
              </a:rPr>
              <a:t>有雾图像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28392" y="1690634"/>
            <a:ext cx="1632344" cy="31742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000" dirty="0">
                <a:latin typeface="Arial MT"/>
                <a:cs typeface="Arial MT"/>
              </a:rPr>
              <a:t>大气光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76022" y="1866574"/>
            <a:ext cx="783697" cy="268874"/>
          </a:xfrm>
          <a:custGeom>
            <a:avLst/>
            <a:gdLst/>
            <a:ahLst/>
            <a:cxnLst/>
            <a:rect l="l" t="t" r="r" b="b"/>
            <a:pathLst>
              <a:path w="1042035" h="357505">
                <a:moveTo>
                  <a:pt x="102488" y="236092"/>
                </a:moveTo>
                <a:lnTo>
                  <a:pt x="0" y="334390"/>
                </a:lnTo>
                <a:lnTo>
                  <a:pt x="140080" y="357377"/>
                </a:lnTo>
                <a:lnTo>
                  <a:pt x="90770" y="323976"/>
                </a:lnTo>
                <a:lnTo>
                  <a:pt x="76580" y="323976"/>
                </a:lnTo>
                <a:lnTo>
                  <a:pt x="68961" y="299719"/>
                </a:lnTo>
                <a:lnTo>
                  <a:pt x="78694" y="296698"/>
                </a:lnTo>
                <a:lnTo>
                  <a:pt x="102488" y="236092"/>
                </a:lnTo>
                <a:close/>
              </a:path>
              <a:path w="1042035" h="357505">
                <a:moveTo>
                  <a:pt x="78694" y="296698"/>
                </a:moveTo>
                <a:lnTo>
                  <a:pt x="68961" y="299719"/>
                </a:lnTo>
                <a:lnTo>
                  <a:pt x="76580" y="323976"/>
                </a:lnTo>
                <a:lnTo>
                  <a:pt x="86310" y="320956"/>
                </a:lnTo>
                <a:lnTo>
                  <a:pt x="72771" y="311785"/>
                </a:lnTo>
                <a:lnTo>
                  <a:pt x="78694" y="296698"/>
                </a:lnTo>
                <a:close/>
              </a:path>
              <a:path w="1042035" h="357505">
                <a:moveTo>
                  <a:pt x="86310" y="320956"/>
                </a:moveTo>
                <a:lnTo>
                  <a:pt x="76580" y="323976"/>
                </a:lnTo>
                <a:lnTo>
                  <a:pt x="90770" y="323976"/>
                </a:lnTo>
                <a:lnTo>
                  <a:pt x="86310" y="320956"/>
                </a:lnTo>
                <a:close/>
              </a:path>
              <a:path w="1042035" h="357505">
                <a:moveTo>
                  <a:pt x="1034414" y="0"/>
                </a:moveTo>
                <a:lnTo>
                  <a:pt x="78694" y="296698"/>
                </a:lnTo>
                <a:lnTo>
                  <a:pt x="72771" y="311785"/>
                </a:lnTo>
                <a:lnTo>
                  <a:pt x="86310" y="320956"/>
                </a:lnTo>
                <a:lnTo>
                  <a:pt x="1042035" y="24256"/>
                </a:lnTo>
                <a:lnTo>
                  <a:pt x="1034414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</a:t>
            </a:r>
            <a:r>
              <a:rPr lang="zh-CN" altLang="en-US"/>
              <a:t>引言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70442" y="2924670"/>
            <a:ext cx="495243" cy="482349"/>
          </a:xfrm>
          <a:custGeom>
            <a:avLst/>
            <a:gdLst/>
            <a:ahLst/>
            <a:cxnLst/>
            <a:rect l="l" t="t" r="r" b="b"/>
            <a:pathLst>
              <a:path w="658495" h="641350">
                <a:moveTo>
                  <a:pt x="70826" y="51198"/>
                </a:moveTo>
                <a:lnTo>
                  <a:pt x="54682" y="53204"/>
                </a:lnTo>
                <a:lnTo>
                  <a:pt x="53038" y="69355"/>
                </a:lnTo>
                <a:lnTo>
                  <a:pt x="640460" y="640968"/>
                </a:lnTo>
                <a:lnTo>
                  <a:pt x="658241" y="622808"/>
                </a:lnTo>
                <a:lnTo>
                  <a:pt x="70826" y="51198"/>
                </a:lnTo>
                <a:close/>
              </a:path>
              <a:path w="658495" h="641350">
                <a:moveTo>
                  <a:pt x="0" y="0"/>
                </a:moveTo>
                <a:lnTo>
                  <a:pt x="46736" y="134112"/>
                </a:lnTo>
                <a:lnTo>
                  <a:pt x="53038" y="69355"/>
                </a:lnTo>
                <a:lnTo>
                  <a:pt x="45847" y="62356"/>
                </a:lnTo>
                <a:lnTo>
                  <a:pt x="63500" y="44068"/>
                </a:lnTo>
                <a:lnTo>
                  <a:pt x="128224" y="44068"/>
                </a:lnTo>
                <a:lnTo>
                  <a:pt x="135381" y="43179"/>
                </a:lnTo>
                <a:lnTo>
                  <a:pt x="0" y="0"/>
                </a:lnTo>
                <a:close/>
              </a:path>
              <a:path w="658495" h="641350">
                <a:moveTo>
                  <a:pt x="54602" y="53286"/>
                </a:moveTo>
                <a:lnTo>
                  <a:pt x="45847" y="62356"/>
                </a:lnTo>
                <a:lnTo>
                  <a:pt x="53038" y="69355"/>
                </a:lnTo>
                <a:lnTo>
                  <a:pt x="54602" y="53286"/>
                </a:lnTo>
                <a:close/>
              </a:path>
              <a:path w="658495" h="641350">
                <a:moveTo>
                  <a:pt x="63500" y="44068"/>
                </a:moveTo>
                <a:lnTo>
                  <a:pt x="54682" y="53204"/>
                </a:lnTo>
                <a:lnTo>
                  <a:pt x="70826" y="51198"/>
                </a:lnTo>
                <a:lnTo>
                  <a:pt x="63500" y="44068"/>
                </a:lnTo>
                <a:close/>
              </a:path>
              <a:path w="658495" h="641350">
                <a:moveTo>
                  <a:pt x="128224" y="44068"/>
                </a:moveTo>
                <a:lnTo>
                  <a:pt x="63500" y="44068"/>
                </a:lnTo>
                <a:lnTo>
                  <a:pt x="70826" y="51198"/>
                </a:lnTo>
                <a:lnTo>
                  <a:pt x="128224" y="4406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355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53950" y="3407019"/>
            <a:ext cx="1511282" cy="22015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02530" y="5608521"/>
            <a:ext cx="1262702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400" spc="-8" dirty="0">
                <a:latin typeface="Arial MT"/>
                <a:cs typeface="Arial MT"/>
              </a:rPr>
              <a:t>透射率</a:t>
            </a:r>
            <a:endParaRPr lang="zh-CN" altLang="en-US"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2325" y="2366351"/>
            <a:ext cx="2475739" cy="446985"/>
          </a:xfrm>
          <a:prstGeom prst="rect">
            <a:avLst/>
          </a:prstGeom>
        </p:spPr>
        <p:txBody>
          <a:bodyPr vert="horz" wrap="square" lIns="0" tIns="12894" rIns="0" bIns="0" rtlCol="0">
            <a:spAutoFit/>
          </a:bodyPr>
          <a:lstStyle/>
          <a:p>
            <a:pPr marL="9525">
              <a:spcBef>
                <a:spcPts val="100"/>
              </a:spcBef>
            </a:pPr>
            <a:r>
              <a:rPr sz="2820" b="1" spc="-1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82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19" dirty="0">
                <a:latin typeface="Symbol" panose="05050102010706020507"/>
                <a:cs typeface="Symbol" panose="05050102010706020507"/>
              </a:rPr>
              <a:t></a:t>
            </a:r>
            <a:r>
              <a:rPr sz="2820" spc="-1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b="1" spc="-19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20" b="1" spc="-3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11" dirty="0">
                <a:latin typeface="Symbol" panose="05050102010706020507"/>
                <a:cs typeface="Symbol" panose="05050102010706020507"/>
              </a:rPr>
              <a:t></a:t>
            </a:r>
            <a:r>
              <a:rPr sz="2820" spc="-46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i="1" spc="-1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20" i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19" dirty="0">
                <a:latin typeface="Symbol" panose="05050102010706020507"/>
                <a:cs typeface="Symbol" panose="05050102010706020507"/>
              </a:rPr>
              <a:t></a:t>
            </a:r>
            <a:r>
              <a:rPr sz="2820" spc="-18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b="1" spc="-26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20" b="1" spc="-37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11" dirty="0">
                <a:latin typeface="Symbol" panose="05050102010706020507"/>
                <a:cs typeface="Symbol" panose="05050102010706020507"/>
              </a:rPr>
              <a:t></a:t>
            </a:r>
            <a:r>
              <a:rPr sz="2820" spc="-4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spc="-259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20" spc="16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20" spc="-19" dirty="0">
                <a:latin typeface="Symbol" panose="05050102010706020507"/>
                <a:cs typeface="Symbol" panose="05050102010706020507"/>
              </a:rPr>
              <a:t></a:t>
            </a:r>
            <a:r>
              <a:rPr sz="2820" spc="-36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20" i="1" spc="1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20" spc="-11" dirty="0">
                <a:latin typeface="Times New Roman" panose="02020603050405020304"/>
                <a:cs typeface="Times New Roman" panose="02020603050405020304"/>
              </a:rPr>
              <a:t>)</a:t>
            </a:r>
            <a:endParaRPr sz="282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7460" y="5702403"/>
            <a:ext cx="1038326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400" dirty="0">
                <a:latin typeface="Arial MT"/>
                <a:cs typeface="Arial MT"/>
              </a:rPr>
              <a:t>深度图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539" y="3407019"/>
            <a:ext cx="1732168" cy="220274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26280" y="4069956"/>
            <a:ext cx="1235481" cy="393538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370" i="1" spc="-15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370" i="1" spc="12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19" dirty="0">
                <a:latin typeface="Symbol" panose="05050102010706020507"/>
                <a:cs typeface="Symbol" panose="05050102010706020507"/>
              </a:rPr>
              <a:t></a:t>
            </a:r>
            <a:r>
              <a:rPr sz="2370" spc="-9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53" dirty="0">
                <a:latin typeface="Symbol" panose="05050102010706020507"/>
                <a:cs typeface="Symbol" panose="05050102010706020507"/>
              </a:rPr>
              <a:t></a:t>
            </a:r>
            <a:r>
              <a:rPr sz="2480" spc="-80" dirty="0">
                <a:latin typeface="Symbol" panose="05050102010706020507"/>
                <a:cs typeface="Symbol" panose="05050102010706020507"/>
              </a:rPr>
              <a:t></a:t>
            </a:r>
            <a:r>
              <a:rPr sz="2480" spc="-8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233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370" spc="-1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37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i="1" spc="-11" dirty="0">
                <a:latin typeface="Times New Roman" panose="02020603050405020304"/>
                <a:cs typeface="Times New Roman" panose="02020603050405020304"/>
              </a:rPr>
              <a:t>t</a:t>
            </a:r>
            <a:endParaRPr sz="237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64963" y="4854978"/>
            <a:ext cx="1682012" cy="429816"/>
            <a:chOff x="3385565" y="4559300"/>
            <a:chExt cx="2236470" cy="571500"/>
          </a:xfrm>
        </p:grpSpPr>
        <p:sp>
          <p:nvSpPr>
            <p:cNvPr id="12" name="object 12"/>
            <p:cNvSpPr/>
            <p:nvPr/>
          </p:nvSpPr>
          <p:spPr>
            <a:xfrm>
              <a:off x="3398265" y="4572000"/>
              <a:ext cx="2211070" cy="546100"/>
            </a:xfrm>
            <a:custGeom>
              <a:avLst/>
              <a:gdLst/>
              <a:ahLst/>
              <a:cxnLst/>
              <a:rect l="l" t="t" r="r" b="b"/>
              <a:pathLst>
                <a:path w="2211070" h="546100">
                  <a:moveTo>
                    <a:pt x="1938020" y="0"/>
                  </a:moveTo>
                  <a:lnTo>
                    <a:pt x="1938020" y="136525"/>
                  </a:lnTo>
                  <a:lnTo>
                    <a:pt x="272923" y="136525"/>
                  </a:lnTo>
                  <a:lnTo>
                    <a:pt x="272923" y="0"/>
                  </a:lnTo>
                  <a:lnTo>
                    <a:pt x="0" y="272923"/>
                  </a:lnTo>
                  <a:lnTo>
                    <a:pt x="272923" y="545973"/>
                  </a:lnTo>
                  <a:lnTo>
                    <a:pt x="272923" y="409448"/>
                  </a:lnTo>
                  <a:lnTo>
                    <a:pt x="1938020" y="409448"/>
                  </a:lnTo>
                  <a:lnTo>
                    <a:pt x="1938020" y="545973"/>
                  </a:lnTo>
                  <a:lnTo>
                    <a:pt x="2210943" y="272923"/>
                  </a:lnTo>
                  <a:lnTo>
                    <a:pt x="1938020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8265" y="4572000"/>
              <a:ext cx="2211070" cy="546100"/>
            </a:xfrm>
            <a:custGeom>
              <a:avLst/>
              <a:gdLst/>
              <a:ahLst/>
              <a:cxnLst/>
              <a:rect l="l" t="t" r="r" b="b"/>
              <a:pathLst>
                <a:path w="2211070" h="546100">
                  <a:moveTo>
                    <a:pt x="0" y="272923"/>
                  </a:moveTo>
                  <a:lnTo>
                    <a:pt x="272923" y="0"/>
                  </a:lnTo>
                  <a:lnTo>
                    <a:pt x="272923" y="136525"/>
                  </a:lnTo>
                  <a:lnTo>
                    <a:pt x="1938020" y="136525"/>
                  </a:lnTo>
                  <a:lnTo>
                    <a:pt x="1938020" y="0"/>
                  </a:lnTo>
                  <a:lnTo>
                    <a:pt x="2210943" y="272923"/>
                  </a:lnTo>
                  <a:lnTo>
                    <a:pt x="1938020" y="545973"/>
                  </a:lnTo>
                  <a:lnTo>
                    <a:pt x="1938020" y="409448"/>
                  </a:lnTo>
                  <a:lnTo>
                    <a:pt x="272923" y="409448"/>
                  </a:lnTo>
                  <a:lnTo>
                    <a:pt x="272923" y="545973"/>
                  </a:lnTo>
                  <a:lnTo>
                    <a:pt x="0" y="272923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14" name="object 3"/>
          <p:cNvSpPr txBox="1"/>
          <p:nvPr/>
        </p:nvSpPr>
        <p:spPr>
          <a:xfrm>
            <a:off x="1356594" y="1402216"/>
            <a:ext cx="3418467" cy="502087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>
                <a:solidFill>
                  <a:srgbClr val="333333"/>
                </a:solidFill>
                <a:latin typeface="Arial" panose="020B0604020202020204" pitchFamily="34" charset="0"/>
              </a:rPr>
              <a:t>雾图成像模型</a:t>
            </a:r>
            <a:endParaRPr lang="zh-CN" altLang="en-US" sz="3200" b="1" dirty="0"/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</a:t>
            </a:r>
            <a:r>
              <a:rPr lang="zh-CN" altLang="en-US"/>
              <a:t>引言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10" y="1389541"/>
            <a:ext cx="4654903" cy="502087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/>
              <a:t>去雾的不确定性</a:t>
            </a:r>
            <a:endParaRPr sz="32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914550" y="4875192"/>
            <a:ext cx="1362659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400" dirty="0">
                <a:latin typeface="Arial MT"/>
                <a:cs typeface="Arial MT"/>
              </a:rPr>
              <a:t>输入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62870" y="3723192"/>
            <a:ext cx="762550" cy="10920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46385" y="3107982"/>
            <a:ext cx="1538653" cy="379459"/>
          </a:xfrm>
          <a:prstGeom prst="rect">
            <a:avLst/>
          </a:prstGeom>
        </p:spPr>
        <p:txBody>
          <a:bodyPr vert="horz" wrap="square" lIns="0" tIns="10029" rIns="0" bIns="0" rtlCol="0">
            <a:spAutoFit/>
          </a:bodyPr>
          <a:lstStyle/>
          <a:p>
            <a:pPr marL="9525" marR="3810" indent="122555">
              <a:spcBef>
                <a:spcPts val="80"/>
              </a:spcBef>
            </a:pPr>
            <a:r>
              <a:rPr lang="zh-CN" altLang="en-US" sz="2400" dirty="0"/>
              <a:t>场景图像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6906" y="4614726"/>
            <a:ext cx="1002616" cy="14351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6906" y="2754865"/>
            <a:ext cx="1002616" cy="14351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35095" y="4614726"/>
            <a:ext cx="1002617" cy="14351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35095" y="2754865"/>
            <a:ext cx="1002617" cy="14351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5999" y="4614696"/>
            <a:ext cx="1002520" cy="143501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35999" y="2754865"/>
            <a:ext cx="1002616" cy="143510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10123" y="5049985"/>
            <a:ext cx="744919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400" spc="-4" dirty="0">
                <a:latin typeface="Arial MT"/>
                <a:cs typeface="Arial MT"/>
              </a:rPr>
              <a:t>深度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50043" y="3995695"/>
            <a:ext cx="914552" cy="462768"/>
            <a:chOff x="1600708" y="3225038"/>
            <a:chExt cx="1216025" cy="615315"/>
          </a:xfrm>
        </p:grpSpPr>
        <p:sp>
          <p:nvSpPr>
            <p:cNvPr id="15" name="object 15"/>
            <p:cNvSpPr/>
            <p:nvPr/>
          </p:nvSpPr>
          <p:spPr>
            <a:xfrm>
              <a:off x="1613408" y="3237738"/>
              <a:ext cx="1190625" cy="589915"/>
            </a:xfrm>
            <a:custGeom>
              <a:avLst/>
              <a:gdLst/>
              <a:ahLst/>
              <a:cxnLst/>
              <a:rect l="l" t="t" r="r" b="b"/>
              <a:pathLst>
                <a:path w="1190625" h="589914">
                  <a:moveTo>
                    <a:pt x="895604" y="0"/>
                  </a:moveTo>
                  <a:lnTo>
                    <a:pt x="895604" y="147447"/>
                  </a:lnTo>
                  <a:lnTo>
                    <a:pt x="0" y="147447"/>
                  </a:lnTo>
                  <a:lnTo>
                    <a:pt x="0" y="442341"/>
                  </a:lnTo>
                  <a:lnTo>
                    <a:pt x="895604" y="442341"/>
                  </a:lnTo>
                  <a:lnTo>
                    <a:pt x="895604" y="589661"/>
                  </a:lnTo>
                  <a:lnTo>
                    <a:pt x="1190498" y="294894"/>
                  </a:lnTo>
                  <a:lnTo>
                    <a:pt x="895604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6" name="object 16"/>
            <p:cNvSpPr/>
            <p:nvPr/>
          </p:nvSpPr>
          <p:spPr>
            <a:xfrm>
              <a:off x="1613408" y="3237738"/>
              <a:ext cx="1190625" cy="589915"/>
            </a:xfrm>
            <a:custGeom>
              <a:avLst/>
              <a:gdLst/>
              <a:ahLst/>
              <a:cxnLst/>
              <a:rect l="l" t="t" r="r" b="b"/>
              <a:pathLst>
                <a:path w="1190625" h="589914">
                  <a:moveTo>
                    <a:pt x="0" y="147447"/>
                  </a:moveTo>
                  <a:lnTo>
                    <a:pt x="895604" y="147447"/>
                  </a:lnTo>
                  <a:lnTo>
                    <a:pt x="895604" y="0"/>
                  </a:lnTo>
                  <a:lnTo>
                    <a:pt x="1190498" y="294894"/>
                  </a:lnTo>
                  <a:lnTo>
                    <a:pt x="895604" y="589661"/>
                  </a:lnTo>
                  <a:lnTo>
                    <a:pt x="895604" y="442341"/>
                  </a:lnTo>
                  <a:lnTo>
                    <a:pt x="0" y="442341"/>
                  </a:lnTo>
                  <a:lnTo>
                    <a:pt x="0" y="147447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1650" y="4233525"/>
            <a:ext cx="287975" cy="51927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655" dirty="0">
                <a:solidFill>
                  <a:srgbClr val="FFFFFF"/>
                </a:solidFill>
                <a:latin typeface="Arial MT"/>
                <a:cs typeface="Arial MT"/>
              </a:rPr>
              <a:t>….</a:t>
            </a:r>
            <a:endParaRPr sz="1655">
              <a:latin typeface="Arial MT"/>
              <a:cs typeface="Arial MT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1</a:t>
            </a:r>
            <a:r>
              <a:rPr lang="zh-CN" altLang="en-US"/>
              <a:t>引言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9664" y="1489148"/>
            <a:ext cx="4378866" cy="502087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/>
              <a:t>计算机中的先验信息</a:t>
            </a:r>
            <a:endParaRPr sz="3200" b="1" dirty="0"/>
          </a:p>
        </p:txBody>
      </p:sp>
      <p:sp>
        <p:nvSpPr>
          <p:cNvPr id="5" name="object 5"/>
          <p:cNvSpPr txBox="1"/>
          <p:nvPr/>
        </p:nvSpPr>
        <p:spPr>
          <a:xfrm>
            <a:off x="1470190" y="5131251"/>
            <a:ext cx="2996693" cy="976630"/>
          </a:xfrm>
          <a:prstGeom prst="rect">
            <a:avLst/>
          </a:prstGeom>
        </p:spPr>
        <p:txBody>
          <a:bodyPr vert="horz" wrap="square" lIns="0" tIns="118438" rIns="0" bIns="0" rtlCol="0">
            <a:spAutoFit/>
          </a:bodyPr>
          <a:lstStyle/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FontTx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dirty="0"/>
              <a:t>光滑先验</a:t>
            </a:r>
            <a:endParaRPr lang="en-US" altLang="zh-CN" sz="2400" spc="-4" dirty="0">
              <a:latin typeface="Arial MT"/>
              <a:cs typeface="Arial MT"/>
            </a:endParaRPr>
          </a:p>
          <a:p>
            <a:pPr marL="267335" indent="-257810">
              <a:spcBef>
                <a:spcPts val="93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基于例子的先验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54837" y="3531190"/>
            <a:ext cx="1650492" cy="94559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15783" y="3814499"/>
            <a:ext cx="1475793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28575" marR="3810" indent="-19685">
              <a:spcBef>
                <a:spcPts val="75"/>
              </a:spcBef>
            </a:pPr>
            <a:r>
              <a:rPr lang="zh-CN" altLang="en-US" sz="2400" spc="-4" dirty="0">
                <a:latin typeface="Arial MT"/>
                <a:cs typeface="Arial MT"/>
              </a:rPr>
              <a:t>病态问题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8695" y="3562139"/>
            <a:ext cx="1612668" cy="883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857541" y="3806225"/>
            <a:ext cx="1413823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143510" marR="3810" indent="-133985">
              <a:spcBef>
                <a:spcPts val="75"/>
              </a:spcBef>
            </a:pPr>
            <a:r>
              <a:rPr lang="zh-CN" altLang="en-US" sz="2400" dirty="0"/>
              <a:t>适定问题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8550" y="3194215"/>
            <a:ext cx="979980" cy="72896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211459" y="3390401"/>
            <a:ext cx="897072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400" spc="-4" dirty="0">
                <a:latin typeface="Arial MT"/>
                <a:cs typeface="Arial MT"/>
              </a:rPr>
              <a:t>先验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03901" y="3902551"/>
            <a:ext cx="1623748" cy="318064"/>
          </a:xfrm>
          <a:custGeom>
            <a:avLst/>
            <a:gdLst/>
            <a:ahLst/>
            <a:cxnLst/>
            <a:rect l="l" t="t" r="r" b="b"/>
            <a:pathLst>
              <a:path w="2159000" h="422910">
                <a:moveTo>
                  <a:pt x="0" y="105663"/>
                </a:moveTo>
                <a:lnTo>
                  <a:pt x="1757299" y="105663"/>
                </a:lnTo>
                <a:lnTo>
                  <a:pt x="1757299" y="0"/>
                </a:lnTo>
                <a:lnTo>
                  <a:pt x="2159000" y="211200"/>
                </a:lnTo>
                <a:lnTo>
                  <a:pt x="1757299" y="422401"/>
                </a:lnTo>
                <a:lnTo>
                  <a:pt x="1757299" y="316864"/>
                </a:lnTo>
                <a:lnTo>
                  <a:pt x="0" y="316864"/>
                </a:lnTo>
                <a:lnTo>
                  <a:pt x="0" y="105663"/>
                </a:lnTo>
                <a:close/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1355" dirty="0"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7306" y="5116060"/>
            <a:ext cx="2685488" cy="90089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011487" y="5385319"/>
            <a:ext cx="2297126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400" dirty="0"/>
              <a:t>暗通道先验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26115" y="2196523"/>
            <a:ext cx="326243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-apple-system"/>
              </a:rPr>
              <a:t>解存在</a:t>
            </a:r>
            <a:endParaRPr lang="en-US" altLang="zh-CN" sz="2000" dirty="0">
              <a:latin typeface="-apple-system"/>
            </a:endParaRPr>
          </a:p>
          <a:p>
            <a:r>
              <a:rPr lang="zh-CN" altLang="en-US" sz="2000" dirty="0"/>
              <a:t>解唯一</a:t>
            </a:r>
            <a:endParaRPr lang="en-US" altLang="zh-CN" sz="2000" dirty="0"/>
          </a:p>
          <a:p>
            <a:r>
              <a:rPr lang="zh-CN" altLang="en-US" sz="2000" dirty="0"/>
              <a:t>解能根据初始条件连续变化</a:t>
            </a:r>
            <a:endParaRPr lang="zh-CN" altLang="en-US" sz="2000" dirty="0"/>
          </a:p>
        </p:txBody>
      </p:sp>
      <p:sp>
        <p:nvSpPr>
          <p:cNvPr id="15" name="上箭头 14"/>
          <p:cNvSpPr/>
          <p:nvPr/>
        </p:nvSpPr>
        <p:spPr>
          <a:xfrm>
            <a:off x="6564452" y="3194216"/>
            <a:ext cx="135678" cy="33697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4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70426" y="3989020"/>
            <a:ext cx="3719824" cy="1009647"/>
          </a:xfrm>
          <a:prstGeom prst="rect">
            <a:avLst/>
          </a:prstGeom>
        </p:spPr>
        <p:txBody>
          <a:bodyPr vert="horz" wrap="square" lIns="0" tIns="141363" rIns="0" bIns="0" rtlCol="0">
            <a:spAutoFit/>
          </a:bodyPr>
          <a:lstStyle/>
          <a:p>
            <a:pPr marL="267335" indent="-257810">
              <a:spcBef>
                <a:spcPts val="111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sz="2400" dirty="0">
                <a:latin typeface="Arial MT"/>
                <a:cs typeface="Arial MT"/>
              </a:rPr>
              <a:t>min(</a:t>
            </a:r>
            <a:r>
              <a:rPr sz="2400" dirty="0" err="1">
                <a:latin typeface="Arial MT"/>
                <a:cs typeface="Arial MT"/>
              </a:rPr>
              <a:t>rgb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patch)</a:t>
            </a:r>
            <a:endParaRPr sz="2400" dirty="0">
              <a:latin typeface="Arial MT"/>
              <a:cs typeface="Arial MT"/>
            </a:endParaRPr>
          </a:p>
          <a:p>
            <a:pPr marL="353695">
              <a:spcBef>
                <a:spcPts val="970"/>
              </a:spcBef>
            </a:pPr>
            <a:r>
              <a:rPr sz="1995" spc="-8" dirty="0">
                <a:latin typeface="Arial MT"/>
                <a:cs typeface="Arial MT"/>
              </a:rPr>
              <a:t>–</a:t>
            </a:r>
            <a:r>
              <a:rPr sz="1995" spc="19" dirty="0">
                <a:latin typeface="Arial MT"/>
                <a:cs typeface="Arial MT"/>
              </a:rPr>
              <a:t> </a:t>
            </a:r>
            <a:r>
              <a:rPr sz="2400" spc="-4" dirty="0">
                <a:latin typeface="Arial MT"/>
                <a:cs typeface="Arial MT"/>
              </a:rPr>
              <a:t>min</a:t>
            </a:r>
            <a:r>
              <a:rPr sz="2400" spc="-8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(r,</a:t>
            </a:r>
            <a:r>
              <a:rPr sz="2400" spc="-1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g,</a:t>
            </a:r>
            <a:r>
              <a:rPr sz="2400" spc="-8" dirty="0">
                <a:latin typeface="Arial MT"/>
                <a:cs typeface="Arial MT"/>
              </a:rPr>
              <a:t> b)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73205" y="3050713"/>
            <a:ext cx="2018702" cy="2924178"/>
            <a:chOff x="5217033" y="342391"/>
            <a:chExt cx="2684145" cy="3888104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17033" y="2381758"/>
              <a:ext cx="2684017" cy="18486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7033" y="342391"/>
              <a:ext cx="2684017" cy="18486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06134" y="2089658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76453" y="0"/>
                  </a:lnTo>
                  <a:lnTo>
                    <a:pt x="76453" y="240411"/>
                  </a:lnTo>
                  <a:lnTo>
                    <a:pt x="0" y="240411"/>
                  </a:lnTo>
                  <a:lnTo>
                    <a:pt x="152908" y="393318"/>
                  </a:lnTo>
                  <a:lnTo>
                    <a:pt x="305942" y="240411"/>
                  </a:lnTo>
                  <a:lnTo>
                    <a:pt x="229488" y="240411"/>
                  </a:lnTo>
                  <a:lnTo>
                    <a:pt x="229488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9" name="object 9"/>
            <p:cNvSpPr/>
            <p:nvPr/>
          </p:nvSpPr>
          <p:spPr>
            <a:xfrm>
              <a:off x="6406134" y="2089658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229488" y="240411"/>
                  </a:lnTo>
                  <a:lnTo>
                    <a:pt x="305942" y="240411"/>
                  </a:lnTo>
                  <a:lnTo>
                    <a:pt x="152908" y="393318"/>
                  </a:lnTo>
                  <a:lnTo>
                    <a:pt x="0" y="240411"/>
                  </a:lnTo>
                  <a:lnTo>
                    <a:pt x="76453" y="240411"/>
                  </a:lnTo>
                  <a:lnTo>
                    <a:pt x="76453" y="0"/>
                  </a:lnTo>
                  <a:lnTo>
                    <a:pt x="229488" y="0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943599" y="6049108"/>
            <a:ext cx="1785743" cy="31742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000" dirty="0">
                <a:latin typeface="Arial MT"/>
                <a:cs typeface="Arial MT"/>
              </a:rPr>
              <a:t>min</a:t>
            </a:r>
            <a:r>
              <a:rPr sz="2000" spc="-23" dirty="0">
                <a:latin typeface="Arial MT"/>
                <a:cs typeface="Arial MT"/>
              </a:rPr>
              <a:t> </a:t>
            </a:r>
            <a:r>
              <a:rPr sz="2000" spc="-34" dirty="0">
                <a:latin typeface="Arial MT"/>
                <a:cs typeface="Arial MT"/>
              </a:rPr>
              <a:t>(r,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g,</a:t>
            </a:r>
            <a:r>
              <a:rPr sz="2000" spc="-1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b)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5245" y="1270145"/>
            <a:ext cx="84106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一张无雾的户外图像，大多数局部区域中（不包括天空），存在至少一个颜色通道（</a:t>
            </a:r>
            <a:r>
              <a:rPr lang="en-US" altLang="zh-CN" sz="2400" dirty="0"/>
              <a:t>R</a:t>
            </a:r>
            <a:r>
              <a:rPr lang="zh-CN" altLang="en-US" sz="2400" dirty="0"/>
              <a:t>、</a:t>
            </a:r>
            <a:r>
              <a:rPr lang="en-US" altLang="zh-CN" sz="2400" dirty="0"/>
              <a:t>G </a:t>
            </a:r>
            <a:r>
              <a:rPr lang="zh-CN" altLang="en-US" sz="2400" dirty="0"/>
              <a:t>或 </a:t>
            </a:r>
            <a:r>
              <a:rPr lang="en-US" altLang="zh-CN" sz="2400" dirty="0"/>
              <a:t>B</a:t>
            </a:r>
            <a:r>
              <a:rPr lang="zh-CN" altLang="en-US" sz="2400" dirty="0"/>
              <a:t>）具有非常小的像素值。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暗通道图像</a:t>
            </a:r>
            <a:r>
              <a:rPr lang="zh-CN" altLang="en-US" sz="2400" dirty="0"/>
              <a:t>通过取每个像素邻域中最小的颜色通道值计算而得。</a:t>
            </a:r>
            <a:endParaRPr lang="zh-CN" altLang="en-US" sz="2400" dirty="0"/>
          </a:p>
        </p:txBody>
      </p:sp>
      <p:sp>
        <p:nvSpPr>
          <p:cNvPr id="1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04014" y="1687535"/>
            <a:ext cx="5668187" cy="1494396"/>
          </a:xfrm>
          <a:prstGeom prst="rect">
            <a:avLst/>
          </a:prstGeom>
        </p:spPr>
        <p:txBody>
          <a:bodyPr vert="horz" wrap="square" lIns="0" tIns="141363" rIns="0" bIns="0" rtlCol="0">
            <a:spAutoFit/>
          </a:bodyPr>
          <a:lstStyle/>
          <a:p>
            <a:pPr marL="267335" indent="-257810">
              <a:spcBef>
                <a:spcPts val="111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sz="2400" dirty="0">
                <a:latin typeface="Arial MT"/>
                <a:cs typeface="Arial MT"/>
              </a:rPr>
              <a:t>min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(rgb,</a:t>
            </a:r>
            <a:r>
              <a:rPr sz="2400" spc="-11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patch)</a:t>
            </a:r>
            <a:endParaRPr sz="2400" dirty="0">
              <a:latin typeface="Arial MT"/>
              <a:cs typeface="Arial MT"/>
            </a:endParaRPr>
          </a:p>
          <a:p>
            <a:pPr marL="568325" lvl="1" indent="-214630">
              <a:spcBef>
                <a:spcPts val="970"/>
              </a:spcBef>
              <a:buClr>
                <a:srgbClr val="F89D1C"/>
              </a:buClr>
              <a:buSzPct val="110000"/>
              <a:buChar char="–"/>
              <a:tabLst>
                <a:tab pos="567690" algn="l"/>
              </a:tabLst>
            </a:pPr>
            <a:r>
              <a:rPr sz="2400" spc="-4" dirty="0">
                <a:latin typeface="Arial MT"/>
                <a:cs typeface="Arial MT"/>
              </a:rPr>
              <a:t>min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(r,</a:t>
            </a:r>
            <a:r>
              <a:rPr sz="2400" spc="-2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g,</a:t>
            </a:r>
            <a:r>
              <a:rPr sz="2400" spc="-11" dirty="0">
                <a:latin typeface="Arial MT"/>
                <a:cs typeface="Arial MT"/>
              </a:rPr>
              <a:t> </a:t>
            </a:r>
            <a:r>
              <a:rPr sz="2400" spc="-8" dirty="0">
                <a:latin typeface="Arial MT"/>
                <a:cs typeface="Arial MT"/>
              </a:rPr>
              <a:t>b)</a:t>
            </a:r>
            <a:endParaRPr sz="2400" dirty="0">
              <a:latin typeface="Arial MT"/>
              <a:cs typeface="Arial MT"/>
            </a:endParaRPr>
          </a:p>
          <a:p>
            <a:pPr marL="568325" lvl="1" indent="-214630">
              <a:spcBef>
                <a:spcPts val="895"/>
              </a:spcBef>
              <a:buClr>
                <a:srgbClr val="F89D1C"/>
              </a:buClr>
              <a:buSzPct val="110000"/>
              <a:buChar char="–"/>
              <a:tabLst>
                <a:tab pos="567690" algn="l"/>
              </a:tabLst>
            </a:pPr>
            <a:r>
              <a:rPr sz="2400" spc="-4" dirty="0">
                <a:latin typeface="Arial MT"/>
                <a:cs typeface="Arial MT"/>
              </a:rPr>
              <a:t>min</a:t>
            </a:r>
            <a:r>
              <a:rPr sz="2400" spc="-8" dirty="0">
                <a:latin typeface="Arial MT"/>
                <a:cs typeface="Arial MT"/>
              </a:rPr>
              <a:t> </a:t>
            </a:r>
            <a:r>
              <a:rPr sz="2400" spc="-4" dirty="0">
                <a:latin typeface="Arial MT"/>
                <a:cs typeface="Arial MT"/>
              </a:rPr>
              <a:t>(local</a:t>
            </a:r>
            <a:r>
              <a:rPr sz="2400" spc="4" dirty="0">
                <a:latin typeface="Arial MT"/>
                <a:cs typeface="Arial MT"/>
              </a:rPr>
              <a:t> </a:t>
            </a:r>
            <a:r>
              <a:rPr sz="2400" spc="-4" dirty="0">
                <a:latin typeface="Arial MT"/>
                <a:cs typeface="Arial MT"/>
              </a:rPr>
              <a:t>patch)</a:t>
            </a:r>
            <a:r>
              <a:rPr sz="2400" dirty="0">
                <a:latin typeface="Arial MT"/>
                <a:cs typeface="Arial MT"/>
              </a:rPr>
              <a:t> =</a:t>
            </a:r>
            <a:r>
              <a:rPr sz="2400" spc="-8" dirty="0">
                <a:latin typeface="Arial MT"/>
                <a:cs typeface="Arial MT"/>
              </a:rPr>
              <a:t> </a:t>
            </a:r>
            <a:r>
              <a:rPr sz="2400" spc="-4" dirty="0">
                <a:latin typeface="Arial MT"/>
                <a:cs typeface="Arial MT"/>
              </a:rPr>
              <a:t>min</a:t>
            </a:r>
            <a:r>
              <a:rPr sz="2400" spc="-11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filter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99481" y="1107614"/>
            <a:ext cx="4530257" cy="4466262"/>
            <a:chOff x="1888299" y="342391"/>
            <a:chExt cx="6023610" cy="5938520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17033" y="342391"/>
              <a:ext cx="2684017" cy="18486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7033" y="2381758"/>
              <a:ext cx="2684017" cy="18486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06133" y="2089658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76453" y="0"/>
                  </a:lnTo>
                  <a:lnTo>
                    <a:pt x="76453" y="240411"/>
                  </a:lnTo>
                  <a:lnTo>
                    <a:pt x="0" y="240411"/>
                  </a:lnTo>
                  <a:lnTo>
                    <a:pt x="152908" y="393318"/>
                  </a:lnTo>
                  <a:lnTo>
                    <a:pt x="305942" y="240411"/>
                  </a:lnTo>
                  <a:lnTo>
                    <a:pt x="229488" y="240411"/>
                  </a:lnTo>
                  <a:lnTo>
                    <a:pt x="229488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9" name="object 9"/>
            <p:cNvSpPr/>
            <p:nvPr/>
          </p:nvSpPr>
          <p:spPr>
            <a:xfrm>
              <a:off x="6406133" y="2089658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229488" y="240411"/>
                  </a:lnTo>
                  <a:lnTo>
                    <a:pt x="305942" y="240411"/>
                  </a:lnTo>
                  <a:lnTo>
                    <a:pt x="152908" y="393318"/>
                  </a:lnTo>
                  <a:lnTo>
                    <a:pt x="0" y="240411"/>
                  </a:lnTo>
                  <a:lnTo>
                    <a:pt x="76453" y="240411"/>
                  </a:lnTo>
                  <a:lnTo>
                    <a:pt x="76453" y="0"/>
                  </a:lnTo>
                  <a:lnTo>
                    <a:pt x="229488" y="0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0" name="object 10"/>
            <p:cNvSpPr/>
            <p:nvPr/>
          </p:nvSpPr>
          <p:spPr>
            <a:xfrm>
              <a:off x="6533007" y="3575697"/>
              <a:ext cx="205104" cy="205104"/>
            </a:xfrm>
            <a:custGeom>
              <a:avLst/>
              <a:gdLst/>
              <a:ahLst/>
              <a:cxnLst/>
              <a:rect l="l" t="t" r="r" b="b"/>
              <a:pathLst>
                <a:path w="205104" h="205104">
                  <a:moveTo>
                    <a:pt x="0" y="204711"/>
                  </a:moveTo>
                  <a:lnTo>
                    <a:pt x="204711" y="204711"/>
                  </a:lnTo>
                  <a:lnTo>
                    <a:pt x="204711" y="0"/>
                  </a:lnTo>
                  <a:lnTo>
                    <a:pt x="0" y="0"/>
                  </a:lnTo>
                  <a:lnTo>
                    <a:pt x="0" y="204711"/>
                  </a:lnTo>
                  <a:close/>
                </a:path>
              </a:pathLst>
            </a:custGeom>
            <a:ln w="25400">
              <a:solidFill>
                <a:srgbClr val="F89D1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1" name="object 11"/>
            <p:cNvSpPr/>
            <p:nvPr/>
          </p:nvSpPr>
          <p:spPr>
            <a:xfrm>
              <a:off x="6609079" y="365181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52650" y="0"/>
                  </a:moveTo>
                  <a:lnTo>
                    <a:pt x="0" y="0"/>
                  </a:lnTo>
                  <a:lnTo>
                    <a:pt x="0" y="52650"/>
                  </a:lnTo>
                  <a:lnTo>
                    <a:pt x="52650" y="52650"/>
                  </a:lnTo>
                  <a:lnTo>
                    <a:pt x="526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810" y="3730751"/>
              <a:ext cx="2095627" cy="20956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02586" y="3716464"/>
              <a:ext cx="2124710" cy="2124710"/>
            </a:xfrm>
            <a:custGeom>
              <a:avLst/>
              <a:gdLst/>
              <a:ahLst/>
              <a:cxnLst/>
              <a:rect l="l" t="t" r="r" b="b"/>
              <a:pathLst>
                <a:path w="2124710" h="2124710">
                  <a:moveTo>
                    <a:pt x="0" y="2124202"/>
                  </a:moveTo>
                  <a:lnTo>
                    <a:pt x="2124202" y="2124202"/>
                  </a:lnTo>
                  <a:lnTo>
                    <a:pt x="2124202" y="0"/>
                  </a:lnTo>
                  <a:lnTo>
                    <a:pt x="0" y="0"/>
                  </a:lnTo>
                  <a:lnTo>
                    <a:pt x="0" y="2124202"/>
                  </a:lnTo>
                  <a:close/>
                </a:path>
              </a:pathLst>
            </a:custGeom>
            <a:ln w="28575">
              <a:solidFill>
                <a:srgbClr val="F89D1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4" name="object 14"/>
            <p:cNvSpPr/>
            <p:nvPr/>
          </p:nvSpPr>
          <p:spPr>
            <a:xfrm>
              <a:off x="4039742" y="3679951"/>
              <a:ext cx="2447290" cy="615950"/>
            </a:xfrm>
            <a:custGeom>
              <a:avLst/>
              <a:gdLst/>
              <a:ahLst/>
              <a:cxnLst/>
              <a:rect l="l" t="t" r="r" b="b"/>
              <a:pathLst>
                <a:path w="2447290" h="615950">
                  <a:moveTo>
                    <a:pt x="165100" y="430022"/>
                  </a:moveTo>
                  <a:lnTo>
                    <a:pt x="0" y="564515"/>
                  </a:lnTo>
                  <a:lnTo>
                    <a:pt x="206629" y="615950"/>
                  </a:lnTo>
                  <a:lnTo>
                    <a:pt x="134614" y="558165"/>
                  </a:lnTo>
                  <a:lnTo>
                    <a:pt x="115697" y="558165"/>
                  </a:lnTo>
                  <a:lnTo>
                    <a:pt x="107442" y="520954"/>
                  </a:lnTo>
                  <a:lnTo>
                    <a:pt x="122253" y="517644"/>
                  </a:lnTo>
                  <a:lnTo>
                    <a:pt x="165100" y="430022"/>
                  </a:lnTo>
                  <a:close/>
                </a:path>
                <a:path w="2447290" h="615950">
                  <a:moveTo>
                    <a:pt x="111600" y="539698"/>
                  </a:moveTo>
                  <a:lnTo>
                    <a:pt x="115697" y="558165"/>
                  </a:lnTo>
                  <a:lnTo>
                    <a:pt x="130493" y="554858"/>
                  </a:lnTo>
                  <a:lnTo>
                    <a:pt x="111600" y="539698"/>
                  </a:lnTo>
                  <a:close/>
                </a:path>
                <a:path w="2447290" h="615950">
                  <a:moveTo>
                    <a:pt x="130493" y="554858"/>
                  </a:moveTo>
                  <a:lnTo>
                    <a:pt x="115697" y="558165"/>
                  </a:lnTo>
                  <a:lnTo>
                    <a:pt x="134614" y="558165"/>
                  </a:lnTo>
                  <a:lnTo>
                    <a:pt x="130493" y="554858"/>
                  </a:lnTo>
                  <a:close/>
                </a:path>
                <a:path w="2447290" h="615950">
                  <a:moveTo>
                    <a:pt x="2438781" y="0"/>
                  </a:moveTo>
                  <a:lnTo>
                    <a:pt x="122253" y="517644"/>
                  </a:lnTo>
                  <a:lnTo>
                    <a:pt x="111559" y="539513"/>
                  </a:lnTo>
                  <a:lnTo>
                    <a:pt x="111600" y="539698"/>
                  </a:lnTo>
                  <a:lnTo>
                    <a:pt x="130493" y="554858"/>
                  </a:lnTo>
                  <a:lnTo>
                    <a:pt x="2447036" y="37211"/>
                  </a:lnTo>
                  <a:lnTo>
                    <a:pt x="2438781" y="0"/>
                  </a:lnTo>
                  <a:close/>
                </a:path>
                <a:path w="2447290" h="615950">
                  <a:moveTo>
                    <a:pt x="122253" y="517644"/>
                  </a:moveTo>
                  <a:lnTo>
                    <a:pt x="107442" y="520954"/>
                  </a:lnTo>
                  <a:lnTo>
                    <a:pt x="111559" y="539513"/>
                  </a:lnTo>
                  <a:lnTo>
                    <a:pt x="122253" y="517644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 sz="1355"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440937" y="5619826"/>
              <a:ext cx="205104" cy="205104"/>
            </a:xfrm>
            <a:custGeom>
              <a:avLst/>
              <a:gdLst/>
              <a:ahLst/>
              <a:cxnLst/>
              <a:rect l="l" t="t" r="r" b="b"/>
              <a:pathLst>
                <a:path w="205104" h="205104">
                  <a:moveTo>
                    <a:pt x="0" y="204711"/>
                  </a:moveTo>
                  <a:lnTo>
                    <a:pt x="204711" y="204711"/>
                  </a:lnTo>
                  <a:lnTo>
                    <a:pt x="204711" y="0"/>
                  </a:lnTo>
                  <a:lnTo>
                    <a:pt x="0" y="0"/>
                  </a:lnTo>
                  <a:lnTo>
                    <a:pt x="0" y="20471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6144" y="4421199"/>
              <a:ext cx="2685923" cy="184988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11445" y="4416437"/>
              <a:ext cx="2695575" cy="1859914"/>
            </a:xfrm>
            <a:custGeom>
              <a:avLst/>
              <a:gdLst/>
              <a:ahLst/>
              <a:cxnLst/>
              <a:rect l="l" t="t" r="r" b="b"/>
              <a:pathLst>
                <a:path w="2695575" h="1859914">
                  <a:moveTo>
                    <a:pt x="0" y="1859407"/>
                  </a:moveTo>
                  <a:lnTo>
                    <a:pt x="2695448" y="1859407"/>
                  </a:lnTo>
                  <a:lnTo>
                    <a:pt x="2695448" y="0"/>
                  </a:lnTo>
                  <a:lnTo>
                    <a:pt x="0" y="0"/>
                  </a:lnTo>
                  <a:lnTo>
                    <a:pt x="0" y="1859407"/>
                  </a:lnTo>
                  <a:close/>
                </a:path>
              </a:pathLst>
            </a:custGeom>
            <a:ln w="9525">
              <a:solidFill>
                <a:srgbClr val="A37E33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6133" y="4129151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76453" y="0"/>
                  </a:lnTo>
                  <a:lnTo>
                    <a:pt x="76453" y="240284"/>
                  </a:lnTo>
                  <a:lnTo>
                    <a:pt x="0" y="240284"/>
                  </a:lnTo>
                  <a:lnTo>
                    <a:pt x="152908" y="393319"/>
                  </a:lnTo>
                  <a:lnTo>
                    <a:pt x="305942" y="240284"/>
                  </a:lnTo>
                  <a:lnTo>
                    <a:pt x="229488" y="240284"/>
                  </a:lnTo>
                  <a:lnTo>
                    <a:pt x="229488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9" name="object 19"/>
            <p:cNvSpPr/>
            <p:nvPr/>
          </p:nvSpPr>
          <p:spPr>
            <a:xfrm>
              <a:off x="6406133" y="4129151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229488" y="240284"/>
                  </a:lnTo>
                  <a:lnTo>
                    <a:pt x="305942" y="240284"/>
                  </a:lnTo>
                  <a:lnTo>
                    <a:pt x="152908" y="393319"/>
                  </a:lnTo>
                  <a:lnTo>
                    <a:pt x="0" y="240284"/>
                  </a:lnTo>
                  <a:lnTo>
                    <a:pt x="76453" y="240284"/>
                  </a:lnTo>
                  <a:lnTo>
                    <a:pt x="76453" y="0"/>
                  </a:lnTo>
                  <a:lnTo>
                    <a:pt x="229488" y="0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192907" y="4965639"/>
            <a:ext cx="816554" cy="316939"/>
          </a:xfrm>
          <a:prstGeom prst="rect">
            <a:avLst/>
          </a:prstGeom>
        </p:spPr>
        <p:txBody>
          <a:bodyPr vert="horz" wrap="square" lIns="0" tIns="9074" rIns="0" bIns="0" rtlCol="0">
            <a:spAutoFit/>
          </a:bodyPr>
          <a:lstStyle/>
          <a:p>
            <a:pPr marL="9525">
              <a:spcBef>
                <a:spcPts val="70"/>
              </a:spcBef>
            </a:pPr>
            <a:r>
              <a:rPr sz="2000" spc="-4" dirty="0">
                <a:latin typeface="Arial MT"/>
                <a:cs typeface="Arial MT"/>
              </a:rPr>
              <a:t>15x15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83359" y="5253901"/>
            <a:ext cx="1224826" cy="31742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000" spc="-4" dirty="0">
                <a:latin typeface="Arial MT"/>
                <a:cs typeface="Arial MT"/>
              </a:rPr>
              <a:t>dark</a:t>
            </a:r>
            <a:r>
              <a:rPr sz="2000" spc="-11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st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20351" y="5238238"/>
            <a:ext cx="2001220" cy="31742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sz="2000" spc="-4" dirty="0">
                <a:solidFill>
                  <a:srgbClr val="FFFFFF"/>
                </a:solidFill>
                <a:latin typeface="Arial MT"/>
                <a:cs typeface="Arial MT"/>
              </a:rPr>
              <a:t>dark</a:t>
            </a:r>
            <a:r>
              <a:rPr sz="2000" spc="-4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359944" y="4945391"/>
            <a:ext cx="2229788" cy="220161"/>
            <a:chOff x="3697223" y="5445252"/>
            <a:chExt cx="2964815" cy="292735"/>
          </a:xfrm>
        </p:grpSpPr>
        <p:sp>
          <p:nvSpPr>
            <p:cNvPr id="24" name="object 24"/>
            <p:cNvSpPr/>
            <p:nvPr/>
          </p:nvSpPr>
          <p:spPr>
            <a:xfrm>
              <a:off x="3697223" y="5445252"/>
              <a:ext cx="2813050" cy="292735"/>
            </a:xfrm>
            <a:custGeom>
              <a:avLst/>
              <a:gdLst/>
              <a:ahLst/>
              <a:cxnLst/>
              <a:rect l="l" t="t" r="r" b="b"/>
              <a:pathLst>
                <a:path w="2813050" h="292735">
                  <a:moveTo>
                    <a:pt x="2682300" y="71897"/>
                  </a:moveTo>
                  <a:lnTo>
                    <a:pt x="0" y="254152"/>
                  </a:lnTo>
                  <a:lnTo>
                    <a:pt x="2666" y="292163"/>
                  </a:lnTo>
                  <a:lnTo>
                    <a:pt x="2684805" y="109873"/>
                  </a:lnTo>
                  <a:lnTo>
                    <a:pt x="2698745" y="89784"/>
                  </a:lnTo>
                  <a:lnTo>
                    <a:pt x="2682300" y="71897"/>
                  </a:lnTo>
                  <a:close/>
                </a:path>
                <a:path w="2813050" h="292735">
                  <a:moveTo>
                    <a:pt x="2786015" y="70866"/>
                  </a:moveTo>
                  <a:lnTo>
                    <a:pt x="2697479" y="70866"/>
                  </a:lnTo>
                  <a:lnTo>
                    <a:pt x="2700020" y="108839"/>
                  </a:lnTo>
                  <a:lnTo>
                    <a:pt x="2684805" y="109873"/>
                  </a:lnTo>
                  <a:lnTo>
                    <a:pt x="2629154" y="190030"/>
                  </a:lnTo>
                  <a:lnTo>
                    <a:pt x="2812796" y="82042"/>
                  </a:lnTo>
                  <a:lnTo>
                    <a:pt x="2786015" y="70866"/>
                  </a:lnTo>
                  <a:close/>
                </a:path>
                <a:path w="2813050" h="292735">
                  <a:moveTo>
                    <a:pt x="2698746" y="89794"/>
                  </a:moveTo>
                  <a:lnTo>
                    <a:pt x="2684805" y="109873"/>
                  </a:lnTo>
                  <a:lnTo>
                    <a:pt x="2700020" y="108839"/>
                  </a:lnTo>
                  <a:lnTo>
                    <a:pt x="2698746" y="89794"/>
                  </a:lnTo>
                  <a:close/>
                </a:path>
                <a:path w="2813050" h="292735">
                  <a:moveTo>
                    <a:pt x="2697479" y="70866"/>
                  </a:moveTo>
                  <a:lnTo>
                    <a:pt x="2682300" y="71897"/>
                  </a:lnTo>
                  <a:lnTo>
                    <a:pt x="2698745" y="89784"/>
                  </a:lnTo>
                  <a:lnTo>
                    <a:pt x="2697479" y="70866"/>
                  </a:lnTo>
                  <a:close/>
                </a:path>
                <a:path w="2813050" h="292735">
                  <a:moveTo>
                    <a:pt x="2616200" y="0"/>
                  </a:moveTo>
                  <a:lnTo>
                    <a:pt x="2682300" y="71897"/>
                  </a:lnTo>
                  <a:lnTo>
                    <a:pt x="2697479" y="70866"/>
                  </a:lnTo>
                  <a:lnTo>
                    <a:pt x="2786015" y="70866"/>
                  </a:lnTo>
                  <a:lnTo>
                    <a:pt x="2616200" y="0"/>
                  </a:lnTo>
                  <a:close/>
                </a:path>
              </a:pathLst>
            </a:custGeom>
            <a:solidFill>
              <a:srgbClr val="7030A0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25" name="object 25"/>
            <p:cNvSpPr/>
            <p:nvPr/>
          </p:nvSpPr>
          <p:spPr>
            <a:xfrm>
              <a:off x="6609079" y="5509949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52650" y="0"/>
                  </a:moveTo>
                  <a:lnTo>
                    <a:pt x="0" y="0"/>
                  </a:lnTo>
                  <a:lnTo>
                    <a:pt x="0" y="52650"/>
                  </a:lnTo>
                  <a:lnTo>
                    <a:pt x="52650" y="52650"/>
                  </a:lnTo>
                  <a:lnTo>
                    <a:pt x="526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3" name="标题 1"/>
          <p:cNvSpPr>
            <a:spLocks noGrp="1"/>
          </p:cNvSpPr>
          <p:nvPr/>
        </p:nvSpPr>
        <p:spPr>
          <a:xfrm>
            <a:off x="504032" y="75568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6152281" y="1125199"/>
            <a:ext cx="2034461" cy="4466262"/>
            <a:chOff x="5206682" y="342391"/>
            <a:chExt cx="2705100" cy="593852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17033" y="342391"/>
              <a:ext cx="2684017" cy="18486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7033" y="2381758"/>
              <a:ext cx="2684017" cy="18486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6134" y="2089658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76453" y="0"/>
                  </a:lnTo>
                  <a:lnTo>
                    <a:pt x="76453" y="240411"/>
                  </a:lnTo>
                  <a:lnTo>
                    <a:pt x="0" y="240411"/>
                  </a:lnTo>
                  <a:lnTo>
                    <a:pt x="152908" y="393318"/>
                  </a:lnTo>
                  <a:lnTo>
                    <a:pt x="305942" y="240411"/>
                  </a:lnTo>
                  <a:lnTo>
                    <a:pt x="229488" y="240411"/>
                  </a:lnTo>
                  <a:lnTo>
                    <a:pt x="229488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8" name="object 8"/>
            <p:cNvSpPr/>
            <p:nvPr/>
          </p:nvSpPr>
          <p:spPr>
            <a:xfrm>
              <a:off x="6406134" y="2089658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229488" y="240411"/>
                  </a:lnTo>
                  <a:lnTo>
                    <a:pt x="305942" y="240411"/>
                  </a:lnTo>
                  <a:lnTo>
                    <a:pt x="152908" y="393318"/>
                  </a:lnTo>
                  <a:lnTo>
                    <a:pt x="0" y="240411"/>
                  </a:lnTo>
                  <a:lnTo>
                    <a:pt x="76453" y="240411"/>
                  </a:lnTo>
                  <a:lnTo>
                    <a:pt x="76453" y="0"/>
                  </a:lnTo>
                  <a:lnTo>
                    <a:pt x="229488" y="0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6144" y="4421199"/>
              <a:ext cx="2685923" cy="18498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11445" y="4416437"/>
              <a:ext cx="2695575" cy="1859914"/>
            </a:xfrm>
            <a:custGeom>
              <a:avLst/>
              <a:gdLst/>
              <a:ahLst/>
              <a:cxnLst/>
              <a:rect l="l" t="t" r="r" b="b"/>
              <a:pathLst>
                <a:path w="2695575" h="1859914">
                  <a:moveTo>
                    <a:pt x="0" y="1859407"/>
                  </a:moveTo>
                  <a:lnTo>
                    <a:pt x="2695448" y="1859407"/>
                  </a:lnTo>
                  <a:lnTo>
                    <a:pt x="2695448" y="0"/>
                  </a:lnTo>
                  <a:lnTo>
                    <a:pt x="0" y="0"/>
                  </a:lnTo>
                  <a:lnTo>
                    <a:pt x="0" y="1859407"/>
                  </a:lnTo>
                  <a:close/>
                </a:path>
              </a:pathLst>
            </a:custGeom>
            <a:ln w="9525">
              <a:solidFill>
                <a:srgbClr val="A37E33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1" name="object 11"/>
            <p:cNvSpPr/>
            <p:nvPr/>
          </p:nvSpPr>
          <p:spPr>
            <a:xfrm>
              <a:off x="6406134" y="4129151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76453" y="0"/>
                  </a:lnTo>
                  <a:lnTo>
                    <a:pt x="76453" y="240284"/>
                  </a:lnTo>
                  <a:lnTo>
                    <a:pt x="0" y="240284"/>
                  </a:lnTo>
                  <a:lnTo>
                    <a:pt x="152908" y="393319"/>
                  </a:lnTo>
                  <a:lnTo>
                    <a:pt x="305942" y="240284"/>
                  </a:lnTo>
                  <a:lnTo>
                    <a:pt x="229488" y="240284"/>
                  </a:lnTo>
                  <a:lnTo>
                    <a:pt x="229488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6134" y="4129151"/>
              <a:ext cx="306070" cy="393700"/>
            </a:xfrm>
            <a:custGeom>
              <a:avLst/>
              <a:gdLst/>
              <a:ahLst/>
              <a:cxnLst/>
              <a:rect l="l" t="t" r="r" b="b"/>
              <a:pathLst>
                <a:path w="306070" h="393700">
                  <a:moveTo>
                    <a:pt x="229488" y="0"/>
                  </a:moveTo>
                  <a:lnTo>
                    <a:pt x="229488" y="240284"/>
                  </a:lnTo>
                  <a:lnTo>
                    <a:pt x="305942" y="240284"/>
                  </a:lnTo>
                  <a:lnTo>
                    <a:pt x="152908" y="393319"/>
                  </a:lnTo>
                  <a:lnTo>
                    <a:pt x="0" y="240284"/>
                  </a:lnTo>
                  <a:lnTo>
                    <a:pt x="76453" y="240284"/>
                  </a:lnTo>
                  <a:lnTo>
                    <a:pt x="76453" y="0"/>
                  </a:lnTo>
                  <a:lnTo>
                    <a:pt x="229488" y="0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34261" y="5266647"/>
            <a:ext cx="1820007" cy="31742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sz="2000" spc="-4" dirty="0">
                <a:solidFill>
                  <a:srgbClr val="FFFFFF"/>
                </a:solidFill>
                <a:latin typeface="Arial MT"/>
                <a:cs typeface="Arial MT"/>
              </a:rPr>
              <a:t>dark</a:t>
            </a:r>
            <a:r>
              <a:rPr sz="2000" spc="-4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4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7877" y="2093196"/>
            <a:ext cx="5554260" cy="2402336"/>
          </a:xfrm>
          <a:prstGeom prst="rect">
            <a:avLst/>
          </a:prstGeom>
        </p:spPr>
        <p:txBody>
          <a:bodyPr vert="horz" wrap="square" lIns="0" tIns="141363" rIns="0" bIns="0" rtlCol="0">
            <a:spAutoFit/>
          </a:bodyPr>
          <a:lstStyle/>
          <a:p>
            <a:pPr marL="286385" indent="-257810">
              <a:spcBef>
                <a:spcPts val="1115"/>
              </a:spcBef>
              <a:buClr>
                <a:srgbClr val="F89D1C"/>
              </a:buClr>
              <a:buSzPct val="109000"/>
              <a:buChar char="•"/>
              <a:tabLst>
                <a:tab pos="285750" algn="l"/>
                <a:tab pos="286385" algn="l"/>
              </a:tabLst>
            </a:pPr>
            <a:r>
              <a:rPr sz="2400" dirty="0">
                <a:latin typeface="Arial MT"/>
                <a:cs typeface="Arial MT"/>
              </a:rPr>
              <a:t>min(</a:t>
            </a:r>
            <a:r>
              <a:rPr sz="2400" dirty="0" err="1">
                <a:latin typeface="Arial MT"/>
                <a:cs typeface="Arial MT"/>
              </a:rPr>
              <a:t>rgb,local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patch)</a:t>
            </a:r>
            <a:endParaRPr sz="2400" dirty="0">
              <a:latin typeface="Arial MT"/>
              <a:cs typeface="Arial MT"/>
            </a:endParaRPr>
          </a:p>
          <a:p>
            <a:pPr marL="587375" lvl="1" indent="-214630">
              <a:spcBef>
                <a:spcPts val="970"/>
              </a:spcBef>
              <a:buClr>
                <a:srgbClr val="F89D1C"/>
              </a:buClr>
              <a:buSzPct val="110000"/>
              <a:buChar char="–"/>
              <a:tabLst>
                <a:tab pos="587375" algn="l"/>
              </a:tabLst>
            </a:pPr>
            <a:r>
              <a:rPr sz="2400" spc="-4" dirty="0">
                <a:latin typeface="Arial MT"/>
                <a:cs typeface="Arial MT"/>
              </a:rPr>
              <a:t>min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(r,</a:t>
            </a:r>
            <a:r>
              <a:rPr sz="2400" spc="-2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g,</a:t>
            </a:r>
            <a:r>
              <a:rPr sz="2400" spc="-11" dirty="0">
                <a:latin typeface="Arial MT"/>
                <a:cs typeface="Arial MT"/>
              </a:rPr>
              <a:t> </a:t>
            </a:r>
            <a:r>
              <a:rPr sz="2400" spc="-8" dirty="0">
                <a:latin typeface="Arial MT"/>
                <a:cs typeface="Arial MT"/>
              </a:rPr>
              <a:t>b)</a:t>
            </a:r>
            <a:endParaRPr sz="2400" dirty="0">
              <a:latin typeface="Arial MT"/>
              <a:cs typeface="Arial MT"/>
            </a:endParaRPr>
          </a:p>
          <a:p>
            <a:pPr marL="587375" lvl="1" indent="-214630">
              <a:spcBef>
                <a:spcPts val="895"/>
              </a:spcBef>
              <a:buClr>
                <a:srgbClr val="F89D1C"/>
              </a:buClr>
              <a:buSzPct val="110000"/>
              <a:buChar char="–"/>
              <a:tabLst>
                <a:tab pos="587375" algn="l"/>
              </a:tabLst>
            </a:pPr>
            <a:r>
              <a:rPr sz="2400" spc="-4" dirty="0">
                <a:latin typeface="Arial MT"/>
                <a:cs typeface="Arial MT"/>
              </a:rPr>
              <a:t>min</a:t>
            </a:r>
            <a:r>
              <a:rPr sz="2400" spc="-8" dirty="0">
                <a:latin typeface="Arial MT"/>
                <a:cs typeface="Arial MT"/>
              </a:rPr>
              <a:t> </a:t>
            </a:r>
            <a:r>
              <a:rPr sz="2400" spc="-4" dirty="0">
                <a:latin typeface="Arial MT"/>
                <a:cs typeface="Arial MT"/>
              </a:rPr>
              <a:t>(local</a:t>
            </a:r>
            <a:r>
              <a:rPr sz="2400" spc="4" dirty="0">
                <a:latin typeface="Arial MT"/>
                <a:cs typeface="Arial MT"/>
              </a:rPr>
              <a:t> </a:t>
            </a:r>
            <a:r>
              <a:rPr sz="2400" spc="-4" dirty="0">
                <a:latin typeface="Arial MT"/>
                <a:cs typeface="Arial MT"/>
              </a:rPr>
              <a:t>patch)</a:t>
            </a:r>
            <a:r>
              <a:rPr sz="2400" dirty="0">
                <a:latin typeface="Arial MT"/>
                <a:cs typeface="Arial MT"/>
              </a:rPr>
              <a:t> =</a:t>
            </a:r>
            <a:r>
              <a:rPr sz="2400" spc="-4" dirty="0">
                <a:latin typeface="Arial MT"/>
                <a:cs typeface="Arial MT"/>
              </a:rPr>
              <a:t> min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filter</a:t>
            </a:r>
            <a:endParaRPr sz="2400" dirty="0">
              <a:latin typeface="Arial MT"/>
              <a:cs typeface="Arial MT"/>
            </a:endParaRPr>
          </a:p>
          <a:p>
            <a:pPr>
              <a:spcBef>
                <a:spcPts val="25"/>
              </a:spcBef>
            </a:pPr>
            <a:endParaRPr sz="2400" dirty="0">
              <a:latin typeface="Arial MT"/>
              <a:cs typeface="Arial MT"/>
            </a:endParaRPr>
          </a:p>
          <a:p>
            <a:pPr marL="93345">
              <a:lnSpc>
                <a:spcPts val="2685"/>
              </a:lnSpc>
              <a:tabLst>
                <a:tab pos="1326515" algn="l"/>
                <a:tab pos="2625090" algn="l"/>
              </a:tabLst>
            </a:pPr>
            <a:r>
              <a:rPr sz="2400" spc="142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400" i="1" spc="33" baseline="42000" dirty="0">
                <a:latin typeface="Times New Roman" panose="02020603050405020304"/>
                <a:cs typeface="Times New Roman" panose="02020603050405020304"/>
              </a:rPr>
              <a:t>da</a:t>
            </a:r>
            <a:r>
              <a:rPr sz="2400" i="1" spc="56" baseline="420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i="1" spc="-5" baseline="42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400" i="1" spc="-220" baseline="4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38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400" b="1" spc="-4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spc="-4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4" dirty="0">
                <a:latin typeface="Symbol" panose="05050102010706020507"/>
                <a:cs typeface="Symbol" panose="05050102010706020507"/>
              </a:rPr>
              <a:t>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271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400" spc="-233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spc="-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spc="28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4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400" spc="1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71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400" spc="-233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spc="-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113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400" spc="-5" baseline="420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400" spc="-141" baseline="4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34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400" b="1" spc="7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))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80795">
              <a:lnSpc>
                <a:spcPts val="1465"/>
              </a:lnSpc>
              <a:tabLst>
                <a:tab pos="1968500" algn="l"/>
              </a:tabLst>
            </a:pPr>
            <a:r>
              <a:rPr sz="143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430" dirty="0">
                <a:latin typeface="Symbol" panose="05050102010706020507"/>
                <a:cs typeface="Symbol" panose="05050102010706020507"/>
              </a:rPr>
              <a:t></a:t>
            </a:r>
            <a:r>
              <a:rPr sz="143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430" b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430" dirty="0">
                <a:latin typeface="Times New Roman" panose="02020603050405020304"/>
                <a:cs typeface="Times New Roman" panose="02020603050405020304"/>
              </a:rPr>
              <a:t>)	</a:t>
            </a:r>
            <a:r>
              <a:rPr sz="1430" spc="-34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430" spc="-34" dirty="0">
                <a:latin typeface="Symbol" panose="05050102010706020507"/>
                <a:cs typeface="Symbol" panose="05050102010706020507"/>
              </a:rPr>
              <a:t></a:t>
            </a:r>
            <a:r>
              <a:rPr sz="1430" spc="-34" dirty="0">
                <a:latin typeface="Times New Roman" panose="02020603050405020304"/>
                <a:cs typeface="Times New Roman" panose="02020603050405020304"/>
              </a:rPr>
              <a:t>{r,g,b}</a:t>
            </a:r>
            <a:endParaRPr sz="143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0586" y="4520773"/>
            <a:ext cx="4220307" cy="1050243"/>
          </a:xfrm>
          <a:prstGeom prst="rect">
            <a:avLst/>
          </a:prstGeom>
        </p:spPr>
        <p:txBody>
          <a:bodyPr vert="horz" wrap="square" lIns="0" tIns="156166" rIns="0" bIns="0" rtlCol="0">
            <a:spAutoFit/>
          </a:bodyPr>
          <a:lstStyle/>
          <a:p>
            <a:pPr marL="295910" indent="-267335">
              <a:spcBef>
                <a:spcPts val="1230"/>
              </a:spcBef>
              <a:buClr>
                <a:srgbClr val="F89D1C"/>
              </a:buClr>
              <a:buSzPct val="86000"/>
              <a:buFont typeface="Arial MT"/>
              <a:buChar char="–"/>
              <a:tabLst>
                <a:tab pos="295275" algn="l"/>
                <a:tab pos="29591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400" baseline="260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400" spc="-1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Arial MT"/>
                <a:cs typeface="Arial MT"/>
              </a:rPr>
              <a:t>color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channel</a:t>
            </a:r>
            <a:r>
              <a:rPr sz="2400" spc="-11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3" dirty="0">
                <a:latin typeface="Arial MT"/>
                <a:cs typeface="Arial MT"/>
              </a:rPr>
              <a:t> 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J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95910" indent="-267335">
              <a:spcBef>
                <a:spcPts val="1155"/>
              </a:spcBef>
              <a:buClr>
                <a:srgbClr val="F89D1C"/>
              </a:buClr>
              <a:buSzPct val="86000"/>
              <a:buFont typeface="Arial MT"/>
              <a:buChar char="–"/>
              <a:tabLst>
                <a:tab pos="295275" algn="l"/>
                <a:tab pos="295910" algn="l"/>
              </a:tabLst>
            </a:pPr>
            <a:r>
              <a:rPr sz="2400" spc="4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400" spc="5" baseline="26000" dirty="0">
                <a:latin typeface="Times New Roman" panose="02020603050405020304"/>
                <a:cs typeface="Times New Roman" panose="02020603050405020304"/>
              </a:rPr>
              <a:t>dark</a:t>
            </a:r>
            <a:r>
              <a:rPr sz="2400" spc="4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400" spc="-1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Arial MT"/>
                <a:cs typeface="Arial MT"/>
              </a:rPr>
              <a:t>dark</a:t>
            </a:r>
            <a:r>
              <a:rPr sz="2400" spc="-8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channel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J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5994" y="3565396"/>
            <a:ext cx="4415148" cy="984278"/>
          </a:xfrm>
          <a:custGeom>
            <a:avLst/>
            <a:gdLst/>
            <a:ahLst/>
            <a:cxnLst/>
            <a:rect l="l" t="t" r="r" b="b"/>
            <a:pathLst>
              <a:path w="4666615" h="1308735">
                <a:moveTo>
                  <a:pt x="0" y="1308481"/>
                </a:moveTo>
                <a:lnTo>
                  <a:pt x="4666615" y="1308481"/>
                </a:lnTo>
                <a:lnTo>
                  <a:pt x="4666615" y="0"/>
                </a:lnTo>
                <a:lnTo>
                  <a:pt x="0" y="0"/>
                </a:lnTo>
                <a:lnTo>
                  <a:pt x="0" y="1308481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5">
              <a:solidFill>
                <a:srgbClr val="FF0000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86699" y="1569935"/>
            <a:ext cx="4300067" cy="437903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785" b="1" dirty="0">
                <a:latin typeface="Arial" panose="020B0604020202020204"/>
                <a:cs typeface="Arial" panose="020B0604020202020204"/>
              </a:rPr>
              <a:t>一个令人吃惊的观察</a:t>
            </a:r>
            <a:endParaRPr sz="2785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27402" y="2481305"/>
            <a:ext cx="2702107" cy="18952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904" y="2481305"/>
            <a:ext cx="2707456" cy="189529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144838" y="1702004"/>
            <a:ext cx="1468058" cy="636605"/>
          </a:xfrm>
          <a:custGeom>
            <a:avLst/>
            <a:gdLst/>
            <a:ahLst/>
            <a:cxnLst/>
            <a:rect l="l" t="t" r="r" b="b"/>
            <a:pathLst>
              <a:path w="1951990" h="846455">
                <a:moveTo>
                  <a:pt x="0" y="141097"/>
                </a:moveTo>
                <a:lnTo>
                  <a:pt x="7200" y="96528"/>
                </a:lnTo>
                <a:lnTo>
                  <a:pt x="27245" y="57799"/>
                </a:lnTo>
                <a:lnTo>
                  <a:pt x="57799" y="27245"/>
                </a:lnTo>
                <a:lnTo>
                  <a:pt x="96528" y="7200"/>
                </a:lnTo>
                <a:lnTo>
                  <a:pt x="141097" y="0"/>
                </a:lnTo>
                <a:lnTo>
                  <a:pt x="1810638" y="0"/>
                </a:lnTo>
                <a:lnTo>
                  <a:pt x="1855194" y="7200"/>
                </a:lnTo>
                <a:lnTo>
                  <a:pt x="1893892" y="27245"/>
                </a:lnTo>
                <a:lnTo>
                  <a:pt x="1924408" y="57799"/>
                </a:lnTo>
                <a:lnTo>
                  <a:pt x="1944421" y="96528"/>
                </a:lnTo>
                <a:lnTo>
                  <a:pt x="1951608" y="141097"/>
                </a:lnTo>
                <a:lnTo>
                  <a:pt x="1951608" y="705231"/>
                </a:lnTo>
                <a:lnTo>
                  <a:pt x="1944421" y="749786"/>
                </a:lnTo>
                <a:lnTo>
                  <a:pt x="1924408" y="788484"/>
                </a:lnTo>
                <a:lnTo>
                  <a:pt x="1893892" y="819000"/>
                </a:lnTo>
                <a:lnTo>
                  <a:pt x="1855194" y="839013"/>
                </a:lnTo>
                <a:lnTo>
                  <a:pt x="1810638" y="846201"/>
                </a:lnTo>
                <a:lnTo>
                  <a:pt x="141097" y="846201"/>
                </a:lnTo>
                <a:lnTo>
                  <a:pt x="96528" y="839013"/>
                </a:lnTo>
                <a:lnTo>
                  <a:pt x="57799" y="819000"/>
                </a:lnTo>
                <a:lnTo>
                  <a:pt x="27245" y="788484"/>
                </a:lnTo>
                <a:lnTo>
                  <a:pt x="7200" y="749786"/>
                </a:lnTo>
                <a:lnTo>
                  <a:pt x="0" y="705231"/>
                </a:lnTo>
                <a:lnTo>
                  <a:pt x="0" y="141097"/>
                </a:lnTo>
                <a:close/>
              </a:path>
            </a:pathLst>
          </a:custGeom>
          <a:ln w="254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7" name="object 7"/>
          <p:cNvSpPr txBox="1"/>
          <p:nvPr/>
        </p:nvSpPr>
        <p:spPr>
          <a:xfrm>
            <a:off x="6270160" y="1841491"/>
            <a:ext cx="1342736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400" spc="-4" dirty="0">
                <a:latin typeface="Arial MT"/>
                <a:cs typeface="Arial MT"/>
              </a:rPr>
              <a:t>无雾图像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8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7402" y="4647144"/>
            <a:ext cx="2702107" cy="1895296"/>
          </a:xfrm>
          <a:prstGeom prst="rect">
            <a:avLst/>
          </a:prstGeom>
        </p:spPr>
      </p:pic>
      <p:pic>
        <p:nvPicPr>
          <p:cNvPr id="9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9904" y="4647144"/>
            <a:ext cx="2707456" cy="18952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39904" y="2481305"/>
            <a:ext cx="2701535" cy="18952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7974" y="2481305"/>
            <a:ext cx="2701535" cy="1895296"/>
          </a:xfrm>
          <a:prstGeom prst="rect">
            <a:avLst/>
          </a:prstGeom>
        </p:spPr>
      </p:pic>
      <p:sp>
        <p:nvSpPr>
          <p:cNvPr id="8" name="object 3"/>
          <p:cNvSpPr txBox="1"/>
          <p:nvPr/>
        </p:nvSpPr>
        <p:spPr>
          <a:xfrm>
            <a:off x="1205114" y="1538820"/>
            <a:ext cx="4300067" cy="437903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785" b="1" dirty="0">
                <a:latin typeface="Arial" panose="020B0604020202020204"/>
                <a:cs typeface="Arial" panose="020B0604020202020204"/>
              </a:rPr>
              <a:t>一个令人吃惊的观察</a:t>
            </a:r>
            <a:endParaRPr sz="278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6"/>
          <p:cNvSpPr/>
          <p:nvPr/>
        </p:nvSpPr>
        <p:spPr>
          <a:xfrm>
            <a:off x="6144838" y="1702004"/>
            <a:ext cx="1468058" cy="636605"/>
          </a:xfrm>
          <a:custGeom>
            <a:avLst/>
            <a:gdLst/>
            <a:ahLst/>
            <a:cxnLst/>
            <a:rect l="l" t="t" r="r" b="b"/>
            <a:pathLst>
              <a:path w="1951990" h="846455">
                <a:moveTo>
                  <a:pt x="0" y="141097"/>
                </a:moveTo>
                <a:lnTo>
                  <a:pt x="7200" y="96528"/>
                </a:lnTo>
                <a:lnTo>
                  <a:pt x="27245" y="57799"/>
                </a:lnTo>
                <a:lnTo>
                  <a:pt x="57799" y="27245"/>
                </a:lnTo>
                <a:lnTo>
                  <a:pt x="96528" y="7200"/>
                </a:lnTo>
                <a:lnTo>
                  <a:pt x="141097" y="0"/>
                </a:lnTo>
                <a:lnTo>
                  <a:pt x="1810638" y="0"/>
                </a:lnTo>
                <a:lnTo>
                  <a:pt x="1855194" y="7200"/>
                </a:lnTo>
                <a:lnTo>
                  <a:pt x="1893892" y="27245"/>
                </a:lnTo>
                <a:lnTo>
                  <a:pt x="1924408" y="57799"/>
                </a:lnTo>
                <a:lnTo>
                  <a:pt x="1944421" y="96528"/>
                </a:lnTo>
                <a:lnTo>
                  <a:pt x="1951608" y="141097"/>
                </a:lnTo>
                <a:lnTo>
                  <a:pt x="1951608" y="705231"/>
                </a:lnTo>
                <a:lnTo>
                  <a:pt x="1944421" y="749786"/>
                </a:lnTo>
                <a:lnTo>
                  <a:pt x="1924408" y="788484"/>
                </a:lnTo>
                <a:lnTo>
                  <a:pt x="1893892" y="819000"/>
                </a:lnTo>
                <a:lnTo>
                  <a:pt x="1855194" y="839013"/>
                </a:lnTo>
                <a:lnTo>
                  <a:pt x="1810638" y="846201"/>
                </a:lnTo>
                <a:lnTo>
                  <a:pt x="141097" y="846201"/>
                </a:lnTo>
                <a:lnTo>
                  <a:pt x="96528" y="839013"/>
                </a:lnTo>
                <a:lnTo>
                  <a:pt x="57799" y="819000"/>
                </a:lnTo>
                <a:lnTo>
                  <a:pt x="27245" y="788484"/>
                </a:lnTo>
                <a:lnTo>
                  <a:pt x="7200" y="749786"/>
                </a:lnTo>
                <a:lnTo>
                  <a:pt x="0" y="705231"/>
                </a:lnTo>
                <a:lnTo>
                  <a:pt x="0" y="141097"/>
                </a:lnTo>
                <a:close/>
              </a:path>
            </a:pathLst>
          </a:custGeom>
          <a:ln w="254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10" name="object 7"/>
          <p:cNvSpPr txBox="1"/>
          <p:nvPr/>
        </p:nvSpPr>
        <p:spPr>
          <a:xfrm>
            <a:off x="6270160" y="1841491"/>
            <a:ext cx="1342736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400" spc="-4" dirty="0">
                <a:latin typeface="Arial MT"/>
                <a:cs typeface="Arial MT"/>
              </a:rPr>
              <a:t>无雾图像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11" name="object 3"/>
          <p:cNvGrpSpPr/>
          <p:nvPr/>
        </p:nvGrpSpPr>
        <p:grpSpPr>
          <a:xfrm>
            <a:off x="1725482" y="4672267"/>
            <a:ext cx="2715957" cy="1909814"/>
            <a:chOff x="779919" y="2159444"/>
            <a:chExt cx="3611245" cy="2539365"/>
          </a:xfrm>
        </p:grpSpPr>
        <p:pic>
          <p:nvPicPr>
            <p:cNvPr id="12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444" y="2168906"/>
              <a:ext cx="3592067" cy="2520061"/>
            </a:xfrm>
            <a:prstGeom prst="rect">
              <a:avLst/>
            </a:prstGeom>
          </p:spPr>
        </p:pic>
        <p:sp>
          <p:nvSpPr>
            <p:cNvPr id="13" name="object 5"/>
            <p:cNvSpPr/>
            <p:nvPr/>
          </p:nvSpPr>
          <p:spPr>
            <a:xfrm>
              <a:off x="784682" y="2164207"/>
              <a:ext cx="3601720" cy="2529840"/>
            </a:xfrm>
            <a:custGeom>
              <a:avLst/>
              <a:gdLst/>
              <a:ahLst/>
              <a:cxnLst/>
              <a:rect l="l" t="t" r="r" b="b"/>
              <a:pathLst>
                <a:path w="3601720" h="2529840">
                  <a:moveTo>
                    <a:pt x="0" y="2529586"/>
                  </a:moveTo>
                  <a:lnTo>
                    <a:pt x="3601592" y="2529586"/>
                  </a:lnTo>
                  <a:lnTo>
                    <a:pt x="3601592" y="0"/>
                  </a:lnTo>
                  <a:lnTo>
                    <a:pt x="0" y="0"/>
                  </a:lnTo>
                  <a:lnTo>
                    <a:pt x="0" y="2529586"/>
                  </a:lnTo>
                  <a:close/>
                </a:path>
              </a:pathLst>
            </a:custGeom>
            <a:ln w="9525">
              <a:solidFill>
                <a:srgbClr val="473124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grpSp>
        <p:nvGrpSpPr>
          <p:cNvPr id="14" name="object 6"/>
          <p:cNvGrpSpPr/>
          <p:nvPr/>
        </p:nvGrpSpPr>
        <p:grpSpPr>
          <a:xfrm>
            <a:off x="4713599" y="4672267"/>
            <a:ext cx="2715957" cy="1909814"/>
            <a:chOff x="4753038" y="2159444"/>
            <a:chExt cx="3611245" cy="2539365"/>
          </a:xfrm>
        </p:grpSpPr>
        <p:pic>
          <p:nvPicPr>
            <p:cNvPr id="15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00" y="2168906"/>
              <a:ext cx="3592067" cy="2520061"/>
            </a:xfrm>
            <a:prstGeom prst="rect">
              <a:avLst/>
            </a:prstGeom>
          </p:spPr>
        </p:pic>
        <p:sp>
          <p:nvSpPr>
            <p:cNvPr id="16" name="object 8"/>
            <p:cNvSpPr/>
            <p:nvPr/>
          </p:nvSpPr>
          <p:spPr>
            <a:xfrm>
              <a:off x="4757801" y="2164207"/>
              <a:ext cx="3601720" cy="2529840"/>
            </a:xfrm>
            <a:custGeom>
              <a:avLst/>
              <a:gdLst/>
              <a:ahLst/>
              <a:cxnLst/>
              <a:rect l="l" t="t" r="r" b="b"/>
              <a:pathLst>
                <a:path w="3601720" h="2529840">
                  <a:moveTo>
                    <a:pt x="0" y="2529586"/>
                  </a:moveTo>
                  <a:lnTo>
                    <a:pt x="3601593" y="2529586"/>
                  </a:lnTo>
                  <a:lnTo>
                    <a:pt x="3601593" y="0"/>
                  </a:lnTo>
                  <a:lnTo>
                    <a:pt x="0" y="0"/>
                  </a:lnTo>
                  <a:lnTo>
                    <a:pt x="0" y="2529586"/>
                  </a:lnTo>
                  <a:close/>
                </a:path>
              </a:pathLst>
            </a:custGeom>
            <a:ln w="9525">
              <a:solidFill>
                <a:srgbClr val="473124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39904" y="2481305"/>
            <a:ext cx="2699338" cy="18952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7974" y="2481305"/>
            <a:ext cx="2701535" cy="1895296"/>
          </a:xfrm>
          <a:prstGeom prst="rect">
            <a:avLst/>
          </a:prstGeom>
        </p:spPr>
      </p:pic>
      <p:grpSp>
        <p:nvGrpSpPr>
          <p:cNvPr id="8" name="object 3"/>
          <p:cNvGrpSpPr/>
          <p:nvPr/>
        </p:nvGrpSpPr>
        <p:grpSpPr>
          <a:xfrm>
            <a:off x="1739905" y="4584344"/>
            <a:ext cx="2714046" cy="1909814"/>
            <a:chOff x="779919" y="2159444"/>
            <a:chExt cx="3608704" cy="2539365"/>
          </a:xfrm>
        </p:grpSpPr>
        <p:pic>
          <p:nvPicPr>
            <p:cNvPr id="9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444" y="2168906"/>
              <a:ext cx="3589147" cy="2520061"/>
            </a:xfrm>
            <a:prstGeom prst="rect">
              <a:avLst/>
            </a:prstGeom>
          </p:spPr>
        </p:pic>
        <p:sp>
          <p:nvSpPr>
            <p:cNvPr id="10" name="object 5"/>
            <p:cNvSpPr/>
            <p:nvPr/>
          </p:nvSpPr>
          <p:spPr>
            <a:xfrm>
              <a:off x="784682" y="2164207"/>
              <a:ext cx="3599179" cy="2529840"/>
            </a:xfrm>
            <a:custGeom>
              <a:avLst/>
              <a:gdLst/>
              <a:ahLst/>
              <a:cxnLst/>
              <a:rect l="l" t="t" r="r" b="b"/>
              <a:pathLst>
                <a:path w="3599179" h="2529840">
                  <a:moveTo>
                    <a:pt x="0" y="2529586"/>
                  </a:moveTo>
                  <a:lnTo>
                    <a:pt x="3598672" y="2529586"/>
                  </a:lnTo>
                  <a:lnTo>
                    <a:pt x="3598672" y="0"/>
                  </a:lnTo>
                  <a:lnTo>
                    <a:pt x="0" y="0"/>
                  </a:lnTo>
                  <a:lnTo>
                    <a:pt x="0" y="2529586"/>
                  </a:lnTo>
                  <a:close/>
                </a:path>
              </a:pathLst>
            </a:custGeom>
            <a:ln w="9525">
              <a:solidFill>
                <a:srgbClr val="473124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grpSp>
        <p:nvGrpSpPr>
          <p:cNvPr id="11" name="object 6"/>
          <p:cNvGrpSpPr/>
          <p:nvPr/>
        </p:nvGrpSpPr>
        <p:grpSpPr>
          <a:xfrm>
            <a:off x="4728024" y="4584344"/>
            <a:ext cx="2715957" cy="1909814"/>
            <a:chOff x="4753038" y="2159444"/>
            <a:chExt cx="3611245" cy="2539365"/>
          </a:xfrm>
        </p:grpSpPr>
        <p:pic>
          <p:nvPicPr>
            <p:cNvPr id="12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00" y="2168906"/>
              <a:ext cx="3592067" cy="2520061"/>
            </a:xfrm>
            <a:prstGeom prst="rect">
              <a:avLst/>
            </a:prstGeom>
          </p:spPr>
        </p:pic>
        <p:sp>
          <p:nvSpPr>
            <p:cNvPr id="13" name="object 8"/>
            <p:cNvSpPr/>
            <p:nvPr/>
          </p:nvSpPr>
          <p:spPr>
            <a:xfrm>
              <a:off x="4757801" y="2164207"/>
              <a:ext cx="3601720" cy="2529840"/>
            </a:xfrm>
            <a:custGeom>
              <a:avLst/>
              <a:gdLst/>
              <a:ahLst/>
              <a:cxnLst/>
              <a:rect l="l" t="t" r="r" b="b"/>
              <a:pathLst>
                <a:path w="3601720" h="2529840">
                  <a:moveTo>
                    <a:pt x="0" y="2529586"/>
                  </a:moveTo>
                  <a:lnTo>
                    <a:pt x="3601593" y="2529586"/>
                  </a:lnTo>
                  <a:lnTo>
                    <a:pt x="3601593" y="0"/>
                  </a:lnTo>
                  <a:lnTo>
                    <a:pt x="0" y="0"/>
                  </a:lnTo>
                  <a:lnTo>
                    <a:pt x="0" y="2529586"/>
                  </a:lnTo>
                  <a:close/>
                </a:path>
              </a:pathLst>
            </a:custGeom>
            <a:ln w="9525">
              <a:solidFill>
                <a:srgbClr val="473124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14" name="object 3"/>
          <p:cNvSpPr txBox="1"/>
          <p:nvPr/>
        </p:nvSpPr>
        <p:spPr>
          <a:xfrm>
            <a:off x="1199399" y="1521040"/>
            <a:ext cx="4300067" cy="437903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785" b="1" dirty="0">
                <a:latin typeface="Arial" panose="020B0604020202020204"/>
                <a:cs typeface="Arial" panose="020B0604020202020204"/>
              </a:rPr>
              <a:t>一个令人吃惊的观察</a:t>
            </a:r>
            <a:endParaRPr sz="278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6"/>
          <p:cNvSpPr/>
          <p:nvPr/>
        </p:nvSpPr>
        <p:spPr>
          <a:xfrm>
            <a:off x="6144838" y="1702004"/>
            <a:ext cx="1468058" cy="636605"/>
          </a:xfrm>
          <a:custGeom>
            <a:avLst/>
            <a:gdLst/>
            <a:ahLst/>
            <a:cxnLst/>
            <a:rect l="l" t="t" r="r" b="b"/>
            <a:pathLst>
              <a:path w="1951990" h="846455">
                <a:moveTo>
                  <a:pt x="0" y="141097"/>
                </a:moveTo>
                <a:lnTo>
                  <a:pt x="7200" y="96528"/>
                </a:lnTo>
                <a:lnTo>
                  <a:pt x="27245" y="57799"/>
                </a:lnTo>
                <a:lnTo>
                  <a:pt x="57799" y="27245"/>
                </a:lnTo>
                <a:lnTo>
                  <a:pt x="96528" y="7200"/>
                </a:lnTo>
                <a:lnTo>
                  <a:pt x="141097" y="0"/>
                </a:lnTo>
                <a:lnTo>
                  <a:pt x="1810638" y="0"/>
                </a:lnTo>
                <a:lnTo>
                  <a:pt x="1855194" y="7200"/>
                </a:lnTo>
                <a:lnTo>
                  <a:pt x="1893892" y="27245"/>
                </a:lnTo>
                <a:lnTo>
                  <a:pt x="1924408" y="57799"/>
                </a:lnTo>
                <a:lnTo>
                  <a:pt x="1944421" y="96528"/>
                </a:lnTo>
                <a:lnTo>
                  <a:pt x="1951608" y="141097"/>
                </a:lnTo>
                <a:lnTo>
                  <a:pt x="1951608" y="705231"/>
                </a:lnTo>
                <a:lnTo>
                  <a:pt x="1944421" y="749786"/>
                </a:lnTo>
                <a:lnTo>
                  <a:pt x="1924408" y="788484"/>
                </a:lnTo>
                <a:lnTo>
                  <a:pt x="1893892" y="819000"/>
                </a:lnTo>
                <a:lnTo>
                  <a:pt x="1855194" y="839013"/>
                </a:lnTo>
                <a:lnTo>
                  <a:pt x="1810638" y="846201"/>
                </a:lnTo>
                <a:lnTo>
                  <a:pt x="141097" y="846201"/>
                </a:lnTo>
                <a:lnTo>
                  <a:pt x="96528" y="839013"/>
                </a:lnTo>
                <a:lnTo>
                  <a:pt x="57799" y="819000"/>
                </a:lnTo>
                <a:lnTo>
                  <a:pt x="27245" y="788484"/>
                </a:lnTo>
                <a:lnTo>
                  <a:pt x="7200" y="749786"/>
                </a:lnTo>
                <a:lnTo>
                  <a:pt x="0" y="705231"/>
                </a:lnTo>
                <a:lnTo>
                  <a:pt x="0" y="141097"/>
                </a:lnTo>
                <a:close/>
              </a:path>
            </a:pathLst>
          </a:custGeom>
          <a:ln w="254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16" name="object 7"/>
          <p:cNvSpPr txBox="1"/>
          <p:nvPr/>
        </p:nvSpPr>
        <p:spPr>
          <a:xfrm>
            <a:off x="6270160" y="1841491"/>
            <a:ext cx="1342736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400" spc="-4" dirty="0">
                <a:latin typeface="Arial MT"/>
                <a:cs typeface="Arial MT"/>
              </a:rPr>
              <a:t>无雾图像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2387909" y="2217015"/>
            <a:ext cx="3405572" cy="2914150"/>
            <a:chOff x="1651057" y="1688314"/>
            <a:chExt cx="4528185" cy="3874770"/>
          </a:xfrm>
        </p:grpSpPr>
        <p:sp>
          <p:nvSpPr>
            <p:cNvPr id="5" name="object 5"/>
            <p:cNvSpPr/>
            <p:nvPr/>
          </p:nvSpPr>
          <p:spPr>
            <a:xfrm>
              <a:off x="1777437" y="2220008"/>
              <a:ext cx="138430" cy="3342004"/>
            </a:xfrm>
            <a:custGeom>
              <a:avLst/>
              <a:gdLst/>
              <a:ahLst/>
              <a:cxnLst/>
              <a:rect l="l" t="t" r="r" b="b"/>
              <a:pathLst>
                <a:path w="138430" h="3342004">
                  <a:moveTo>
                    <a:pt x="138265" y="0"/>
                  </a:moveTo>
                  <a:lnTo>
                    <a:pt x="0" y="0"/>
                  </a:lnTo>
                  <a:lnTo>
                    <a:pt x="0" y="3341843"/>
                  </a:lnTo>
                  <a:lnTo>
                    <a:pt x="138265" y="3341843"/>
                  </a:lnTo>
                  <a:lnTo>
                    <a:pt x="138265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6" name="object 6"/>
            <p:cNvSpPr/>
            <p:nvPr/>
          </p:nvSpPr>
          <p:spPr>
            <a:xfrm>
              <a:off x="1656455" y="1694347"/>
              <a:ext cx="92710" cy="3862704"/>
            </a:xfrm>
            <a:custGeom>
              <a:avLst/>
              <a:gdLst/>
              <a:ahLst/>
              <a:cxnLst/>
              <a:rect l="l" t="t" r="r" b="b"/>
              <a:pathLst>
                <a:path w="92710" h="3862704">
                  <a:moveTo>
                    <a:pt x="46088" y="3862299"/>
                  </a:moveTo>
                  <a:lnTo>
                    <a:pt x="46088" y="0"/>
                  </a:lnTo>
                </a:path>
                <a:path w="92710" h="3862704">
                  <a:moveTo>
                    <a:pt x="0" y="3862299"/>
                  </a:moveTo>
                  <a:lnTo>
                    <a:pt x="92177" y="3862299"/>
                  </a:lnTo>
                </a:path>
                <a:path w="92710" h="3862704">
                  <a:moveTo>
                    <a:pt x="0" y="3091921"/>
                  </a:moveTo>
                  <a:lnTo>
                    <a:pt x="92177" y="3091921"/>
                  </a:lnTo>
                </a:path>
                <a:path w="92710" h="3862704">
                  <a:moveTo>
                    <a:pt x="0" y="2321543"/>
                  </a:moveTo>
                  <a:lnTo>
                    <a:pt x="92177" y="2321543"/>
                  </a:lnTo>
                </a:path>
                <a:path w="92710" h="3862704">
                  <a:moveTo>
                    <a:pt x="0" y="1540755"/>
                  </a:moveTo>
                  <a:lnTo>
                    <a:pt x="92177" y="1540755"/>
                  </a:lnTo>
                </a:path>
                <a:path w="92710" h="3862704">
                  <a:moveTo>
                    <a:pt x="0" y="770377"/>
                  </a:moveTo>
                  <a:lnTo>
                    <a:pt x="92177" y="770377"/>
                  </a:lnTo>
                </a:path>
                <a:path w="92710" h="3862704">
                  <a:moveTo>
                    <a:pt x="0" y="0"/>
                  </a:moveTo>
                  <a:lnTo>
                    <a:pt x="92177" y="0"/>
                  </a:lnTo>
                </a:path>
              </a:pathLst>
            </a:custGeom>
            <a:ln w="1096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7" name="object 7"/>
            <p:cNvSpPr/>
            <p:nvPr/>
          </p:nvSpPr>
          <p:spPr>
            <a:xfrm>
              <a:off x="2053958" y="5343232"/>
              <a:ext cx="4056379" cy="219075"/>
            </a:xfrm>
            <a:custGeom>
              <a:avLst/>
              <a:gdLst/>
              <a:ahLst/>
              <a:cxnLst/>
              <a:rect l="l" t="t" r="r" b="b"/>
              <a:pathLst>
                <a:path w="4056379" h="219075">
                  <a:moveTo>
                    <a:pt x="138264" y="0"/>
                  </a:moveTo>
                  <a:lnTo>
                    <a:pt x="0" y="0"/>
                  </a:lnTo>
                  <a:lnTo>
                    <a:pt x="0" y="218630"/>
                  </a:lnTo>
                  <a:lnTo>
                    <a:pt x="138264" y="218630"/>
                  </a:lnTo>
                  <a:lnTo>
                    <a:pt x="138264" y="0"/>
                  </a:lnTo>
                  <a:close/>
                </a:path>
                <a:path w="4056379" h="219075">
                  <a:moveTo>
                    <a:pt x="414794" y="104114"/>
                  </a:moveTo>
                  <a:lnTo>
                    <a:pt x="276529" y="104114"/>
                  </a:lnTo>
                  <a:lnTo>
                    <a:pt x="276529" y="218630"/>
                  </a:lnTo>
                  <a:lnTo>
                    <a:pt x="414794" y="218630"/>
                  </a:lnTo>
                  <a:lnTo>
                    <a:pt x="414794" y="104114"/>
                  </a:lnTo>
                  <a:close/>
                </a:path>
                <a:path w="4056379" h="219075">
                  <a:moveTo>
                    <a:pt x="702856" y="156159"/>
                  </a:moveTo>
                  <a:lnTo>
                    <a:pt x="553072" y="156159"/>
                  </a:lnTo>
                  <a:lnTo>
                    <a:pt x="553072" y="218630"/>
                  </a:lnTo>
                  <a:lnTo>
                    <a:pt x="702856" y="218630"/>
                  </a:lnTo>
                  <a:lnTo>
                    <a:pt x="702856" y="156159"/>
                  </a:lnTo>
                  <a:close/>
                </a:path>
                <a:path w="4056379" h="219075">
                  <a:moveTo>
                    <a:pt x="979385" y="176987"/>
                  </a:moveTo>
                  <a:lnTo>
                    <a:pt x="841121" y="176987"/>
                  </a:lnTo>
                  <a:lnTo>
                    <a:pt x="841121" y="218630"/>
                  </a:lnTo>
                  <a:lnTo>
                    <a:pt x="979385" y="218630"/>
                  </a:lnTo>
                  <a:lnTo>
                    <a:pt x="979385" y="176987"/>
                  </a:lnTo>
                  <a:close/>
                </a:path>
                <a:path w="4056379" h="219075">
                  <a:moveTo>
                    <a:pt x="1255915" y="187388"/>
                  </a:moveTo>
                  <a:lnTo>
                    <a:pt x="1117650" y="187388"/>
                  </a:lnTo>
                  <a:lnTo>
                    <a:pt x="1117650" y="218630"/>
                  </a:lnTo>
                  <a:lnTo>
                    <a:pt x="1255915" y="218630"/>
                  </a:lnTo>
                  <a:lnTo>
                    <a:pt x="1255915" y="187388"/>
                  </a:lnTo>
                  <a:close/>
                </a:path>
                <a:path w="4056379" h="219075">
                  <a:moveTo>
                    <a:pt x="1532445" y="197802"/>
                  </a:moveTo>
                  <a:lnTo>
                    <a:pt x="1394180" y="197802"/>
                  </a:lnTo>
                  <a:lnTo>
                    <a:pt x="1394180" y="218630"/>
                  </a:lnTo>
                  <a:lnTo>
                    <a:pt x="1532445" y="218630"/>
                  </a:lnTo>
                  <a:lnTo>
                    <a:pt x="1532445" y="197802"/>
                  </a:lnTo>
                  <a:close/>
                </a:path>
                <a:path w="4056379" h="219075">
                  <a:moveTo>
                    <a:pt x="1820506" y="197802"/>
                  </a:moveTo>
                  <a:lnTo>
                    <a:pt x="1682229" y="197802"/>
                  </a:lnTo>
                  <a:lnTo>
                    <a:pt x="1682229" y="218630"/>
                  </a:lnTo>
                  <a:lnTo>
                    <a:pt x="1820506" y="218630"/>
                  </a:lnTo>
                  <a:lnTo>
                    <a:pt x="1820506" y="197802"/>
                  </a:lnTo>
                  <a:close/>
                </a:path>
                <a:path w="4056379" h="219075">
                  <a:moveTo>
                    <a:pt x="2097036" y="208216"/>
                  </a:moveTo>
                  <a:lnTo>
                    <a:pt x="1958771" y="208216"/>
                  </a:lnTo>
                  <a:lnTo>
                    <a:pt x="1958771" y="218630"/>
                  </a:lnTo>
                  <a:lnTo>
                    <a:pt x="2097036" y="218630"/>
                  </a:lnTo>
                  <a:lnTo>
                    <a:pt x="2097036" y="208216"/>
                  </a:lnTo>
                  <a:close/>
                </a:path>
                <a:path w="4056379" h="219075">
                  <a:moveTo>
                    <a:pt x="2373566" y="208216"/>
                  </a:moveTo>
                  <a:lnTo>
                    <a:pt x="2235301" y="208216"/>
                  </a:lnTo>
                  <a:lnTo>
                    <a:pt x="2235301" y="218630"/>
                  </a:lnTo>
                  <a:lnTo>
                    <a:pt x="2373566" y="218630"/>
                  </a:lnTo>
                  <a:lnTo>
                    <a:pt x="2373566" y="208216"/>
                  </a:lnTo>
                  <a:close/>
                </a:path>
                <a:path w="4056379" h="219075">
                  <a:moveTo>
                    <a:pt x="2661615" y="208216"/>
                  </a:moveTo>
                  <a:lnTo>
                    <a:pt x="2511831" y="208216"/>
                  </a:lnTo>
                  <a:lnTo>
                    <a:pt x="2511831" y="218630"/>
                  </a:lnTo>
                  <a:lnTo>
                    <a:pt x="2661615" y="218630"/>
                  </a:lnTo>
                  <a:lnTo>
                    <a:pt x="2661615" y="208216"/>
                  </a:lnTo>
                  <a:close/>
                </a:path>
                <a:path w="4056379" h="219075">
                  <a:moveTo>
                    <a:pt x="2938145" y="208216"/>
                  </a:moveTo>
                  <a:lnTo>
                    <a:pt x="2799880" y="208216"/>
                  </a:lnTo>
                  <a:lnTo>
                    <a:pt x="2799880" y="218630"/>
                  </a:lnTo>
                  <a:lnTo>
                    <a:pt x="2938145" y="218630"/>
                  </a:lnTo>
                  <a:lnTo>
                    <a:pt x="2938145" y="208216"/>
                  </a:lnTo>
                  <a:close/>
                </a:path>
                <a:path w="4056379" h="219075">
                  <a:moveTo>
                    <a:pt x="3214674" y="208216"/>
                  </a:moveTo>
                  <a:lnTo>
                    <a:pt x="3076410" y="208216"/>
                  </a:lnTo>
                  <a:lnTo>
                    <a:pt x="3076410" y="218630"/>
                  </a:lnTo>
                  <a:lnTo>
                    <a:pt x="3214674" y="218630"/>
                  </a:lnTo>
                  <a:lnTo>
                    <a:pt x="3214674" y="208216"/>
                  </a:lnTo>
                  <a:close/>
                </a:path>
                <a:path w="4056379" h="219075">
                  <a:moveTo>
                    <a:pt x="3491204" y="208216"/>
                  </a:moveTo>
                  <a:lnTo>
                    <a:pt x="3352939" y="208216"/>
                  </a:lnTo>
                  <a:lnTo>
                    <a:pt x="3352939" y="218630"/>
                  </a:lnTo>
                  <a:lnTo>
                    <a:pt x="3491204" y="218630"/>
                  </a:lnTo>
                  <a:lnTo>
                    <a:pt x="3491204" y="208216"/>
                  </a:lnTo>
                  <a:close/>
                </a:path>
                <a:path w="4056379" h="219075">
                  <a:moveTo>
                    <a:pt x="3779266" y="208216"/>
                  </a:moveTo>
                  <a:lnTo>
                    <a:pt x="3629469" y="208216"/>
                  </a:lnTo>
                  <a:lnTo>
                    <a:pt x="3629469" y="218630"/>
                  </a:lnTo>
                  <a:lnTo>
                    <a:pt x="3779266" y="218630"/>
                  </a:lnTo>
                  <a:lnTo>
                    <a:pt x="3779266" y="208216"/>
                  </a:lnTo>
                  <a:close/>
                </a:path>
                <a:path w="4056379" h="219075">
                  <a:moveTo>
                    <a:pt x="4055795" y="208216"/>
                  </a:moveTo>
                  <a:lnTo>
                    <a:pt x="3917531" y="208216"/>
                  </a:lnTo>
                  <a:lnTo>
                    <a:pt x="3917531" y="218630"/>
                  </a:lnTo>
                  <a:lnTo>
                    <a:pt x="4055795" y="218630"/>
                  </a:lnTo>
                  <a:lnTo>
                    <a:pt x="4055795" y="208216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8" name="object 8"/>
            <p:cNvSpPr/>
            <p:nvPr/>
          </p:nvSpPr>
          <p:spPr>
            <a:xfrm>
              <a:off x="1702543" y="5515004"/>
              <a:ext cx="4471035" cy="41910"/>
            </a:xfrm>
            <a:custGeom>
              <a:avLst/>
              <a:gdLst/>
              <a:ahLst/>
              <a:cxnLst/>
              <a:rect l="l" t="t" r="r" b="b"/>
              <a:pathLst>
                <a:path w="4471035" h="41910">
                  <a:moveTo>
                    <a:pt x="0" y="41642"/>
                  </a:moveTo>
                  <a:lnTo>
                    <a:pt x="4470663" y="41642"/>
                  </a:lnTo>
                </a:path>
                <a:path w="4471035" h="41910">
                  <a:moveTo>
                    <a:pt x="0" y="0"/>
                  </a:moveTo>
                  <a:lnTo>
                    <a:pt x="0" y="41642"/>
                  </a:lnTo>
                </a:path>
                <a:path w="4471035" h="41910">
                  <a:moveTo>
                    <a:pt x="276531" y="0"/>
                  </a:moveTo>
                  <a:lnTo>
                    <a:pt x="276531" y="41642"/>
                  </a:lnTo>
                </a:path>
                <a:path w="4471035" h="41910">
                  <a:moveTo>
                    <a:pt x="564584" y="0"/>
                  </a:moveTo>
                  <a:lnTo>
                    <a:pt x="564584" y="41642"/>
                  </a:lnTo>
                </a:path>
                <a:path w="4471035" h="41910">
                  <a:moveTo>
                    <a:pt x="841115" y="0"/>
                  </a:moveTo>
                  <a:lnTo>
                    <a:pt x="841115" y="41642"/>
                  </a:lnTo>
                </a:path>
                <a:path w="4471035" h="41910">
                  <a:moveTo>
                    <a:pt x="1117569" y="0"/>
                  </a:moveTo>
                  <a:lnTo>
                    <a:pt x="1117569" y="41642"/>
                  </a:lnTo>
                </a:path>
                <a:path w="4471035" h="41910">
                  <a:moveTo>
                    <a:pt x="1394101" y="0"/>
                  </a:moveTo>
                  <a:lnTo>
                    <a:pt x="1394101" y="41642"/>
                  </a:lnTo>
                </a:path>
                <a:path w="4471035" h="41910">
                  <a:moveTo>
                    <a:pt x="1682307" y="0"/>
                  </a:moveTo>
                  <a:lnTo>
                    <a:pt x="1682307" y="41642"/>
                  </a:lnTo>
                </a:path>
                <a:path w="4471035" h="41910">
                  <a:moveTo>
                    <a:pt x="1958839" y="0"/>
                  </a:moveTo>
                  <a:lnTo>
                    <a:pt x="1958839" y="41642"/>
                  </a:lnTo>
                </a:path>
                <a:path w="4471035" h="41910">
                  <a:moveTo>
                    <a:pt x="2235370" y="0"/>
                  </a:moveTo>
                  <a:lnTo>
                    <a:pt x="2235370" y="41642"/>
                  </a:lnTo>
                </a:path>
                <a:path w="4471035" h="41910">
                  <a:moveTo>
                    <a:pt x="2523423" y="0"/>
                  </a:moveTo>
                  <a:lnTo>
                    <a:pt x="2523423" y="41642"/>
                  </a:lnTo>
                </a:path>
                <a:path w="4471035" h="41910">
                  <a:moveTo>
                    <a:pt x="2799954" y="0"/>
                  </a:moveTo>
                  <a:lnTo>
                    <a:pt x="2799954" y="41642"/>
                  </a:lnTo>
                </a:path>
                <a:path w="4471035" h="41910">
                  <a:moveTo>
                    <a:pt x="3076485" y="0"/>
                  </a:moveTo>
                  <a:lnTo>
                    <a:pt x="3076485" y="41642"/>
                  </a:lnTo>
                </a:path>
                <a:path w="4471035" h="41910">
                  <a:moveTo>
                    <a:pt x="3353017" y="0"/>
                  </a:moveTo>
                  <a:lnTo>
                    <a:pt x="3353017" y="41642"/>
                  </a:lnTo>
                </a:path>
                <a:path w="4471035" h="41910">
                  <a:moveTo>
                    <a:pt x="3641070" y="0"/>
                  </a:moveTo>
                  <a:lnTo>
                    <a:pt x="3641070" y="41642"/>
                  </a:lnTo>
                </a:path>
                <a:path w="4471035" h="41910">
                  <a:moveTo>
                    <a:pt x="3917601" y="0"/>
                  </a:moveTo>
                  <a:lnTo>
                    <a:pt x="3917601" y="41642"/>
                  </a:lnTo>
                </a:path>
                <a:path w="4471035" h="41910">
                  <a:moveTo>
                    <a:pt x="4194132" y="0"/>
                  </a:moveTo>
                  <a:lnTo>
                    <a:pt x="4194132" y="41642"/>
                  </a:lnTo>
                </a:path>
                <a:path w="4471035" h="41910">
                  <a:moveTo>
                    <a:pt x="4470663" y="0"/>
                  </a:moveTo>
                  <a:lnTo>
                    <a:pt x="4470663" y="41642"/>
                  </a:lnTo>
                </a:path>
              </a:pathLst>
            </a:custGeom>
            <a:ln w="1096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9" name="object 9"/>
            <p:cNvSpPr/>
            <p:nvPr/>
          </p:nvSpPr>
          <p:spPr>
            <a:xfrm>
              <a:off x="2033650" y="2300097"/>
              <a:ext cx="2456815" cy="1248410"/>
            </a:xfrm>
            <a:custGeom>
              <a:avLst/>
              <a:gdLst/>
              <a:ahLst/>
              <a:cxnLst/>
              <a:rect l="l" t="t" r="r" b="b"/>
              <a:pathLst>
                <a:path w="2456815" h="1248410">
                  <a:moveTo>
                    <a:pt x="689482" y="418973"/>
                  </a:moveTo>
                  <a:lnTo>
                    <a:pt x="695410" y="374892"/>
                  </a:lnTo>
                  <a:lnTo>
                    <a:pt x="712136" y="335275"/>
                  </a:lnTo>
                  <a:lnTo>
                    <a:pt x="738076" y="301704"/>
                  </a:lnTo>
                  <a:lnTo>
                    <a:pt x="771647" y="275764"/>
                  </a:lnTo>
                  <a:lnTo>
                    <a:pt x="811264" y="259038"/>
                  </a:lnTo>
                  <a:lnTo>
                    <a:pt x="855344" y="253111"/>
                  </a:lnTo>
                  <a:lnTo>
                    <a:pt x="983996" y="253111"/>
                  </a:lnTo>
                  <a:lnTo>
                    <a:pt x="1425702" y="253111"/>
                  </a:lnTo>
                  <a:lnTo>
                    <a:pt x="2290572" y="253111"/>
                  </a:lnTo>
                  <a:lnTo>
                    <a:pt x="2334696" y="259038"/>
                  </a:lnTo>
                  <a:lnTo>
                    <a:pt x="2374326" y="275764"/>
                  </a:lnTo>
                  <a:lnTo>
                    <a:pt x="2407888" y="301704"/>
                  </a:lnTo>
                  <a:lnTo>
                    <a:pt x="2433809" y="335275"/>
                  </a:lnTo>
                  <a:lnTo>
                    <a:pt x="2450515" y="374892"/>
                  </a:lnTo>
                  <a:lnTo>
                    <a:pt x="2456434" y="418973"/>
                  </a:lnTo>
                  <a:lnTo>
                    <a:pt x="2456434" y="667765"/>
                  </a:lnTo>
                  <a:lnTo>
                    <a:pt x="2456434" y="1082420"/>
                  </a:lnTo>
                  <a:lnTo>
                    <a:pt x="2450515" y="1126545"/>
                  </a:lnTo>
                  <a:lnTo>
                    <a:pt x="2433809" y="1166175"/>
                  </a:lnTo>
                  <a:lnTo>
                    <a:pt x="2407888" y="1199737"/>
                  </a:lnTo>
                  <a:lnTo>
                    <a:pt x="2374326" y="1225658"/>
                  </a:lnTo>
                  <a:lnTo>
                    <a:pt x="2334696" y="1242364"/>
                  </a:lnTo>
                  <a:lnTo>
                    <a:pt x="2290572" y="1248282"/>
                  </a:lnTo>
                  <a:lnTo>
                    <a:pt x="1425702" y="1248282"/>
                  </a:lnTo>
                  <a:lnTo>
                    <a:pt x="983996" y="1248282"/>
                  </a:lnTo>
                  <a:lnTo>
                    <a:pt x="855344" y="1248282"/>
                  </a:lnTo>
                  <a:lnTo>
                    <a:pt x="811264" y="1242364"/>
                  </a:lnTo>
                  <a:lnTo>
                    <a:pt x="771647" y="1225658"/>
                  </a:lnTo>
                  <a:lnTo>
                    <a:pt x="738076" y="1199737"/>
                  </a:lnTo>
                  <a:lnTo>
                    <a:pt x="712136" y="1166175"/>
                  </a:lnTo>
                  <a:lnTo>
                    <a:pt x="695410" y="1126545"/>
                  </a:lnTo>
                  <a:lnTo>
                    <a:pt x="689482" y="1082420"/>
                  </a:lnTo>
                  <a:lnTo>
                    <a:pt x="689482" y="667765"/>
                  </a:lnTo>
                  <a:lnTo>
                    <a:pt x="0" y="0"/>
                  </a:lnTo>
                  <a:lnTo>
                    <a:pt x="689482" y="418973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47233" y="5070316"/>
            <a:ext cx="82143" cy="196240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200" b="1" spc="56" dirty="0">
                <a:latin typeface="Arial" panose="020B0604020202020204"/>
                <a:cs typeface="Arial" panose="020B0604020202020204"/>
              </a:rPr>
              <a:t>0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9522" y="4485446"/>
            <a:ext cx="293514" cy="195756"/>
          </a:xfrm>
          <a:prstGeom prst="rect">
            <a:avLst/>
          </a:prstGeom>
        </p:spPr>
        <p:txBody>
          <a:bodyPr vert="horz" wrap="square" lIns="0" tIns="10983" rIns="0" bIns="0" rtlCol="0">
            <a:spAutoFit/>
          </a:bodyPr>
          <a:lstStyle/>
          <a:p>
            <a:pPr marL="9525">
              <a:spcBef>
                <a:spcPts val="85"/>
              </a:spcBef>
            </a:pPr>
            <a:r>
              <a:rPr sz="1200" b="1" spc="38" dirty="0">
                <a:latin typeface="Arial" panose="020B0604020202020204"/>
                <a:cs typeface="Arial" panose="020B0604020202020204"/>
              </a:rPr>
              <a:t>0</a:t>
            </a:r>
            <a:r>
              <a:rPr sz="1200" b="1" spc="49" dirty="0">
                <a:latin typeface="Arial" panose="020B0604020202020204"/>
                <a:cs typeface="Arial" panose="020B0604020202020204"/>
              </a:rPr>
              <a:t>.</a:t>
            </a:r>
            <a:r>
              <a:rPr sz="1200" b="1" spc="53" dirty="0">
                <a:latin typeface="Arial" panose="020B0604020202020204"/>
                <a:cs typeface="Arial" panose="020B0604020202020204"/>
              </a:rPr>
              <a:t>2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9522" y="3900265"/>
            <a:ext cx="293514" cy="196240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200" b="1" spc="38" dirty="0">
                <a:latin typeface="Arial" panose="020B0604020202020204"/>
                <a:cs typeface="Arial" panose="020B0604020202020204"/>
              </a:rPr>
              <a:t>0</a:t>
            </a:r>
            <a:r>
              <a:rPr sz="1200" b="1" spc="49" dirty="0">
                <a:latin typeface="Arial" panose="020B0604020202020204"/>
                <a:cs typeface="Arial" panose="020B0604020202020204"/>
              </a:rPr>
              <a:t>.</a:t>
            </a:r>
            <a:r>
              <a:rPr sz="1200" b="1" spc="56" dirty="0">
                <a:latin typeface="Arial" panose="020B0604020202020204"/>
                <a:cs typeface="Arial" panose="020B0604020202020204"/>
              </a:rPr>
              <a:t>4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39522" y="3315448"/>
            <a:ext cx="293514" cy="196240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200" b="1" spc="38" dirty="0">
                <a:latin typeface="Arial" panose="020B0604020202020204"/>
                <a:cs typeface="Arial" panose="020B0604020202020204"/>
              </a:rPr>
              <a:t>0</a:t>
            </a:r>
            <a:r>
              <a:rPr sz="1200" b="1" spc="49" dirty="0">
                <a:latin typeface="Arial" panose="020B0604020202020204"/>
                <a:cs typeface="Arial" panose="020B0604020202020204"/>
              </a:rPr>
              <a:t>.</a:t>
            </a:r>
            <a:r>
              <a:rPr sz="1200" b="1" spc="56" dirty="0">
                <a:latin typeface="Arial" panose="020B0604020202020204"/>
                <a:cs typeface="Arial" panose="020B0604020202020204"/>
              </a:rPr>
              <a:t>6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9522" y="2730526"/>
            <a:ext cx="293514" cy="196240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200" b="1" spc="38" dirty="0">
                <a:latin typeface="Arial" panose="020B0604020202020204"/>
                <a:cs typeface="Arial" panose="020B0604020202020204"/>
              </a:rPr>
              <a:t>0</a:t>
            </a:r>
            <a:r>
              <a:rPr sz="1200" b="1" spc="49" dirty="0">
                <a:latin typeface="Arial" panose="020B0604020202020204"/>
                <a:cs typeface="Arial" panose="020B0604020202020204"/>
              </a:rPr>
              <a:t>.</a:t>
            </a:r>
            <a:r>
              <a:rPr sz="1200" b="1" spc="56" dirty="0">
                <a:latin typeface="Arial" panose="020B0604020202020204"/>
                <a:cs typeface="Arial" panose="020B0604020202020204"/>
              </a:rPr>
              <a:t>8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93664" y="2145397"/>
            <a:ext cx="135712" cy="196240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200" b="1" spc="56" dirty="0">
                <a:latin typeface="Arial" panose="020B0604020202020204"/>
                <a:cs typeface="Arial" panose="020B0604020202020204"/>
              </a:rPr>
              <a:t>1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5305" y="5228212"/>
            <a:ext cx="82143" cy="196240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200" b="1" spc="56" dirty="0">
                <a:latin typeface="Arial" panose="020B0604020202020204"/>
                <a:cs typeface="Arial" panose="020B0604020202020204"/>
              </a:rPr>
              <a:t>0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4751" y="5228212"/>
            <a:ext cx="431534" cy="196240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1200" b="1" spc="38" dirty="0">
                <a:latin typeface="Arial" panose="020B0604020202020204"/>
                <a:cs typeface="Arial" panose="020B0604020202020204"/>
              </a:rPr>
              <a:t>256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5403" y="2246452"/>
            <a:ext cx="521987" cy="286385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dirty="0">
                <a:latin typeface="Arial MT"/>
                <a:cs typeface="Arial MT"/>
              </a:rPr>
              <a:t>概率</a:t>
            </a:r>
            <a:endParaRPr lang="zh-CN" altLang="en-US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87069" y="5228213"/>
            <a:ext cx="2906509" cy="609600"/>
          </a:xfrm>
          <a:prstGeom prst="rect">
            <a:avLst/>
          </a:prstGeom>
        </p:spPr>
        <p:txBody>
          <a:bodyPr vert="horz" wrap="square" lIns="0" tIns="25789" rIns="0" bIns="0" rtlCol="0">
            <a:spAutoFit/>
          </a:bodyPr>
          <a:lstStyle/>
          <a:p>
            <a:pPr marL="613410">
              <a:spcBef>
                <a:spcPts val="205"/>
              </a:spcBef>
              <a:tabLst>
                <a:tab pos="1423670" algn="l"/>
                <a:tab pos="2268855" algn="l"/>
              </a:tabLst>
            </a:pPr>
            <a:r>
              <a:rPr b="1" spc="45" dirty="0">
                <a:latin typeface="Arial" panose="020B0604020202020204"/>
                <a:cs typeface="Arial" panose="020B0604020202020204"/>
              </a:rPr>
              <a:t>64	</a:t>
            </a:r>
            <a:r>
              <a:rPr b="1" spc="42" dirty="0">
                <a:latin typeface="Arial" panose="020B0604020202020204"/>
                <a:cs typeface="Arial" panose="020B0604020202020204"/>
              </a:rPr>
              <a:t>128	</a:t>
            </a:r>
            <a:r>
              <a:rPr b="1" spc="38" dirty="0">
                <a:latin typeface="Arial" panose="020B0604020202020204"/>
                <a:cs typeface="Arial" panose="020B0604020202020204"/>
              </a:rPr>
              <a:t>192</a:t>
            </a:r>
            <a:endParaRPr dirty="0"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240"/>
              </a:spcBef>
            </a:pPr>
            <a:r>
              <a:rPr lang="zh-CN" altLang="en-US" dirty="0">
                <a:latin typeface="Arial MT"/>
                <a:cs typeface="Arial MT"/>
              </a:rPr>
              <a:t>暗通道像素灰度值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53155" y="2950967"/>
            <a:ext cx="1358809" cy="502087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600" spc="-4" dirty="0">
                <a:latin typeface="Arial MT"/>
                <a:cs typeface="Arial MT"/>
              </a:rPr>
              <a:t>86%</a:t>
            </a:r>
            <a:r>
              <a:rPr sz="1600" spc="-38" dirty="0">
                <a:latin typeface="Arial MT"/>
                <a:cs typeface="Arial MT"/>
              </a:rPr>
              <a:t> </a:t>
            </a:r>
            <a:r>
              <a:rPr lang="zh-CN" altLang="en-US" sz="1600" spc="-4" dirty="0">
                <a:latin typeface="Arial MT"/>
                <a:cs typeface="Arial MT"/>
              </a:rPr>
              <a:t>像素灰度值在</a:t>
            </a:r>
            <a:r>
              <a:rPr sz="1600" dirty="0">
                <a:latin typeface="Arial MT"/>
                <a:cs typeface="Arial MT"/>
              </a:rPr>
              <a:t>[0,</a:t>
            </a:r>
            <a:r>
              <a:rPr sz="1600" spc="-26" dirty="0">
                <a:latin typeface="Arial MT"/>
                <a:cs typeface="Arial MT"/>
              </a:rPr>
              <a:t> </a:t>
            </a:r>
            <a:r>
              <a:rPr sz="1600" spc="-4" dirty="0">
                <a:latin typeface="Arial MT"/>
                <a:cs typeface="Arial MT"/>
              </a:rPr>
              <a:t>16]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06287" y="1285273"/>
            <a:ext cx="2600385" cy="2206864"/>
          </a:xfrm>
          <a:custGeom>
            <a:avLst/>
            <a:gdLst/>
            <a:ahLst/>
            <a:cxnLst/>
            <a:rect l="l" t="t" r="r" b="b"/>
            <a:pathLst>
              <a:path w="3457575" h="2934335">
                <a:moveTo>
                  <a:pt x="0" y="488950"/>
                </a:moveTo>
                <a:lnTo>
                  <a:pt x="2238" y="441866"/>
                </a:lnTo>
                <a:lnTo>
                  <a:pt x="8817" y="396048"/>
                </a:lnTo>
                <a:lnTo>
                  <a:pt x="19532" y="351700"/>
                </a:lnTo>
                <a:lnTo>
                  <a:pt x="34177" y="309027"/>
                </a:lnTo>
                <a:lnTo>
                  <a:pt x="52548" y="268233"/>
                </a:lnTo>
                <a:lnTo>
                  <a:pt x="74439" y="229525"/>
                </a:lnTo>
                <a:lnTo>
                  <a:pt x="99646" y="193108"/>
                </a:lnTo>
                <a:lnTo>
                  <a:pt x="127963" y="159185"/>
                </a:lnTo>
                <a:lnTo>
                  <a:pt x="159185" y="127963"/>
                </a:lnTo>
                <a:lnTo>
                  <a:pt x="193108" y="99646"/>
                </a:lnTo>
                <a:lnTo>
                  <a:pt x="229525" y="74439"/>
                </a:lnTo>
                <a:lnTo>
                  <a:pt x="268233" y="52548"/>
                </a:lnTo>
                <a:lnTo>
                  <a:pt x="309027" y="34177"/>
                </a:lnTo>
                <a:lnTo>
                  <a:pt x="351700" y="19532"/>
                </a:lnTo>
                <a:lnTo>
                  <a:pt x="396048" y="8817"/>
                </a:lnTo>
                <a:lnTo>
                  <a:pt x="441866" y="2238"/>
                </a:lnTo>
                <a:lnTo>
                  <a:pt x="488950" y="0"/>
                </a:lnTo>
                <a:lnTo>
                  <a:pt x="2968370" y="0"/>
                </a:lnTo>
                <a:lnTo>
                  <a:pt x="3015475" y="2238"/>
                </a:lnTo>
                <a:lnTo>
                  <a:pt x="3061312" y="8817"/>
                </a:lnTo>
                <a:lnTo>
                  <a:pt x="3105676" y="19532"/>
                </a:lnTo>
                <a:lnTo>
                  <a:pt x="3148364" y="34177"/>
                </a:lnTo>
                <a:lnTo>
                  <a:pt x="3189169" y="52548"/>
                </a:lnTo>
                <a:lnTo>
                  <a:pt x="3227887" y="74439"/>
                </a:lnTo>
                <a:lnTo>
                  <a:pt x="3264313" y="99646"/>
                </a:lnTo>
                <a:lnTo>
                  <a:pt x="3298243" y="127963"/>
                </a:lnTo>
                <a:lnTo>
                  <a:pt x="3329471" y="159185"/>
                </a:lnTo>
                <a:lnTo>
                  <a:pt x="3357792" y="193108"/>
                </a:lnTo>
                <a:lnTo>
                  <a:pt x="3383002" y="229525"/>
                </a:lnTo>
                <a:lnTo>
                  <a:pt x="3404896" y="268233"/>
                </a:lnTo>
                <a:lnTo>
                  <a:pt x="3423268" y="309027"/>
                </a:lnTo>
                <a:lnTo>
                  <a:pt x="3437914" y="351700"/>
                </a:lnTo>
                <a:lnTo>
                  <a:pt x="3448629" y="396048"/>
                </a:lnTo>
                <a:lnTo>
                  <a:pt x="3455209" y="441866"/>
                </a:lnTo>
                <a:lnTo>
                  <a:pt x="3457447" y="488950"/>
                </a:lnTo>
                <a:lnTo>
                  <a:pt x="3457447" y="2445130"/>
                </a:lnTo>
                <a:lnTo>
                  <a:pt x="3455209" y="2492235"/>
                </a:lnTo>
                <a:lnTo>
                  <a:pt x="3448629" y="2538072"/>
                </a:lnTo>
                <a:lnTo>
                  <a:pt x="3437914" y="2582436"/>
                </a:lnTo>
                <a:lnTo>
                  <a:pt x="3423268" y="2625124"/>
                </a:lnTo>
                <a:lnTo>
                  <a:pt x="3404896" y="2665929"/>
                </a:lnTo>
                <a:lnTo>
                  <a:pt x="3383002" y="2704647"/>
                </a:lnTo>
                <a:lnTo>
                  <a:pt x="3357792" y="2741073"/>
                </a:lnTo>
                <a:lnTo>
                  <a:pt x="3329471" y="2775003"/>
                </a:lnTo>
                <a:lnTo>
                  <a:pt x="3298243" y="2806231"/>
                </a:lnTo>
                <a:lnTo>
                  <a:pt x="3264313" y="2834552"/>
                </a:lnTo>
                <a:lnTo>
                  <a:pt x="3227887" y="2859762"/>
                </a:lnTo>
                <a:lnTo>
                  <a:pt x="3189169" y="2881656"/>
                </a:lnTo>
                <a:lnTo>
                  <a:pt x="3148364" y="2900028"/>
                </a:lnTo>
                <a:lnTo>
                  <a:pt x="3105676" y="2914674"/>
                </a:lnTo>
                <a:lnTo>
                  <a:pt x="3061312" y="2925389"/>
                </a:lnTo>
                <a:lnTo>
                  <a:pt x="3015475" y="2931969"/>
                </a:lnTo>
                <a:lnTo>
                  <a:pt x="2968370" y="2934207"/>
                </a:lnTo>
                <a:lnTo>
                  <a:pt x="488950" y="2934207"/>
                </a:lnTo>
                <a:lnTo>
                  <a:pt x="441866" y="2931969"/>
                </a:lnTo>
                <a:lnTo>
                  <a:pt x="396048" y="2925389"/>
                </a:lnTo>
                <a:lnTo>
                  <a:pt x="351700" y="2914674"/>
                </a:lnTo>
                <a:lnTo>
                  <a:pt x="309027" y="2900028"/>
                </a:lnTo>
                <a:lnTo>
                  <a:pt x="268233" y="2881656"/>
                </a:lnTo>
                <a:lnTo>
                  <a:pt x="229525" y="2859762"/>
                </a:lnTo>
                <a:lnTo>
                  <a:pt x="193108" y="2834552"/>
                </a:lnTo>
                <a:lnTo>
                  <a:pt x="159185" y="2806231"/>
                </a:lnTo>
                <a:lnTo>
                  <a:pt x="127963" y="2775003"/>
                </a:lnTo>
                <a:lnTo>
                  <a:pt x="99646" y="2741073"/>
                </a:lnTo>
                <a:lnTo>
                  <a:pt x="74439" y="2704647"/>
                </a:lnTo>
                <a:lnTo>
                  <a:pt x="52548" y="2665929"/>
                </a:lnTo>
                <a:lnTo>
                  <a:pt x="34177" y="2625124"/>
                </a:lnTo>
                <a:lnTo>
                  <a:pt x="19532" y="2582436"/>
                </a:lnTo>
                <a:lnTo>
                  <a:pt x="8817" y="2538072"/>
                </a:lnTo>
                <a:lnTo>
                  <a:pt x="2238" y="2492235"/>
                </a:lnTo>
                <a:lnTo>
                  <a:pt x="0" y="2445130"/>
                </a:lnTo>
                <a:lnTo>
                  <a:pt x="0" y="48895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22" name="object 22"/>
          <p:cNvSpPr txBox="1"/>
          <p:nvPr/>
        </p:nvSpPr>
        <p:spPr>
          <a:xfrm>
            <a:off x="6258736" y="2691248"/>
            <a:ext cx="1895487" cy="333900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516255" marR="3810" indent="-507365">
              <a:spcBef>
                <a:spcPts val="75"/>
              </a:spcBef>
            </a:pPr>
            <a:r>
              <a:rPr sz="2105" dirty="0">
                <a:latin typeface="Arial MT"/>
                <a:cs typeface="Arial MT"/>
              </a:rPr>
              <a:t>5,000</a:t>
            </a:r>
            <a:r>
              <a:rPr sz="2105" spc="-56" dirty="0">
                <a:latin typeface="Arial MT"/>
                <a:cs typeface="Arial MT"/>
              </a:rPr>
              <a:t> </a:t>
            </a:r>
            <a:r>
              <a:rPr lang="zh-CN" altLang="en-US" sz="2105" dirty="0">
                <a:latin typeface="Arial MT"/>
                <a:cs typeface="Arial MT"/>
              </a:rPr>
              <a:t>无雾图像</a:t>
            </a:r>
            <a:endParaRPr sz="2105" dirty="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36284" y="1490494"/>
            <a:ext cx="2140482" cy="1108924"/>
            <a:chOff x="5341873" y="1856054"/>
            <a:chExt cx="2846070" cy="1474470"/>
          </a:xfrm>
        </p:grpSpPr>
        <p:pic>
          <p:nvPicPr>
            <p:cNvPr id="24" name="object 2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842634" y="1856587"/>
              <a:ext cx="454050" cy="4540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2634" y="2363673"/>
              <a:ext cx="454583" cy="45458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2634" y="2871292"/>
              <a:ext cx="454583" cy="45458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3903" y="2363165"/>
              <a:ext cx="454583" cy="45458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3903" y="1856054"/>
              <a:ext cx="454583" cy="45458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3903" y="2870657"/>
              <a:ext cx="454583" cy="45458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45045" y="2363673"/>
              <a:ext cx="647433" cy="45458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45045" y="2871292"/>
              <a:ext cx="647966" cy="45458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45045" y="1856689"/>
              <a:ext cx="647433" cy="45458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39608" y="2367864"/>
              <a:ext cx="647966" cy="45458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39608" y="1860880"/>
              <a:ext cx="647966" cy="45458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39608" y="2875483"/>
              <a:ext cx="647966" cy="45458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41873" y="1856600"/>
              <a:ext cx="454164" cy="4541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41873" y="2363711"/>
              <a:ext cx="454164" cy="4541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41873" y="2871203"/>
              <a:ext cx="454164" cy="454164"/>
            </a:xfrm>
            <a:prstGeom prst="rect">
              <a:avLst/>
            </a:prstGeom>
          </p:spPr>
        </p:pic>
      </p:grpSp>
      <p:sp>
        <p:nvSpPr>
          <p:cNvPr id="40" name="object 3"/>
          <p:cNvSpPr txBox="1"/>
          <p:nvPr/>
        </p:nvSpPr>
        <p:spPr>
          <a:xfrm>
            <a:off x="1193049" y="1514055"/>
            <a:ext cx="4300067" cy="437903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785" b="1" dirty="0">
                <a:latin typeface="Arial" panose="020B0604020202020204"/>
                <a:cs typeface="Arial" panose="020B0604020202020204"/>
              </a:rPr>
              <a:t>一个令人吃惊的观察</a:t>
            </a:r>
            <a:endParaRPr sz="278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28179" y="3157356"/>
            <a:ext cx="3909604" cy="11553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21791" y="2616859"/>
            <a:ext cx="4596162" cy="1415157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276860" indent="-257810">
              <a:spcBef>
                <a:spcPts val="75"/>
              </a:spcBef>
              <a:buClr>
                <a:srgbClr val="F89D1C"/>
              </a:buClr>
              <a:buSzPct val="109000"/>
              <a:buChar char="•"/>
              <a:tabLst>
                <a:tab pos="276225" algn="l"/>
                <a:tab pos="276860" algn="l"/>
              </a:tabLst>
            </a:pPr>
            <a:r>
              <a:rPr lang="zh-CN" altLang="en-US" sz="2800" dirty="0">
                <a:latin typeface="Arial MT"/>
                <a:cs typeface="Arial MT"/>
              </a:rPr>
              <a:t>室外无雾图像</a:t>
            </a:r>
            <a:endParaRPr sz="2800" dirty="0">
              <a:latin typeface="Arial MT"/>
              <a:cs typeface="Arial MT"/>
            </a:endParaRPr>
          </a:p>
          <a:p>
            <a:pPr marL="1811655">
              <a:lnSpc>
                <a:spcPts val="3680"/>
              </a:lnSpc>
              <a:spcBef>
                <a:spcPts val="1915"/>
              </a:spcBef>
            </a:pPr>
            <a:r>
              <a:rPr sz="3345" spc="-3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345" spc="-316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345" spc="26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345" spc="-188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45" spc="6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345" spc="-3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345" spc="-316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345" spc="26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345" spc="-399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45" spc="177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935" spc="17" baseline="430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935" spc="-203" baseline="430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45" spc="19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345" spc="-177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45" spc="56" dirty="0">
                <a:solidFill>
                  <a:srgbClr val="FFFFFF"/>
                </a:solidFill>
                <a:latin typeface="Symbol" panose="05050102010706020507"/>
                <a:cs typeface="Symbol" panose="05050102010706020507"/>
              </a:rPr>
              <a:t></a:t>
            </a:r>
            <a:r>
              <a:rPr sz="3345" spc="-30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45" spc="26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3345" dirty="0">
              <a:latin typeface="Times New Roman" panose="02020603050405020304"/>
              <a:cs typeface="Times New Roman" panose="02020603050405020304"/>
            </a:endParaRPr>
          </a:p>
          <a:p>
            <a:pPr marL="457835" algn="ctr">
              <a:lnSpc>
                <a:spcPts val="2010"/>
              </a:lnSpc>
              <a:tabLst>
                <a:tab pos="1311275" algn="l"/>
              </a:tabLst>
            </a:pPr>
            <a:r>
              <a:rPr sz="1955" spc="23" dirty="0">
                <a:solidFill>
                  <a:srgbClr val="FFFFFF"/>
                </a:solidFill>
                <a:latin typeface="Symbol" panose="05050102010706020507"/>
                <a:cs typeface="Symbol" panose="05050102010706020507"/>
              </a:rPr>
              <a:t></a:t>
            </a:r>
            <a:r>
              <a:rPr sz="1955" spc="23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55" spc="1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195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80291" y="1476307"/>
            <a:ext cx="3458105" cy="502087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/>
              <a:t>暗通道如何引起的</a:t>
            </a:r>
            <a:endParaRPr sz="32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1585160" y="4662857"/>
            <a:ext cx="1666730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267335" indent="-257810">
              <a:spcBef>
                <a:spcPts val="7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黑色物体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5159" y="3562146"/>
            <a:ext cx="1924619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267335" indent="-257810">
              <a:spcBef>
                <a:spcPts val="7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dirty="0">
                <a:latin typeface="Arial MT"/>
                <a:cs typeface="Arial MT"/>
              </a:rPr>
              <a:t>彩色物体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5160" y="2460673"/>
            <a:ext cx="1208259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267335" indent="-257810">
              <a:spcBef>
                <a:spcPts val="75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8" dirty="0">
                <a:latin typeface="Arial MT"/>
                <a:cs typeface="Arial MT"/>
              </a:rPr>
              <a:t>阴影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954494" y="3330199"/>
            <a:ext cx="1118274" cy="10291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8465" y="3330199"/>
            <a:ext cx="1118274" cy="102912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2434" y="3330199"/>
            <a:ext cx="1118274" cy="102912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54495" y="4430901"/>
            <a:ext cx="1116360" cy="102883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28465" y="4430900"/>
            <a:ext cx="1118274" cy="10291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02434" y="4430900"/>
            <a:ext cx="1118274" cy="102912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51196" y="2229497"/>
            <a:ext cx="1118274" cy="102912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28464" y="2229586"/>
            <a:ext cx="1118274" cy="102912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02433" y="2223525"/>
            <a:ext cx="1118274" cy="102912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292" y="1358284"/>
            <a:ext cx="4774295" cy="502087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>
                <a:latin typeface="Arial MT"/>
                <a:cs typeface="Arial MT"/>
              </a:rPr>
              <a:t>有雾图像的暗通道</a:t>
            </a:r>
            <a:endParaRPr sz="3200" b="1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23582" y="2056361"/>
            <a:ext cx="1599392" cy="21751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34631" y="4267810"/>
            <a:ext cx="5678347" cy="1081797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1149350">
              <a:spcBef>
                <a:spcPts val="75"/>
              </a:spcBef>
              <a:tabLst>
                <a:tab pos="3945890" algn="l"/>
              </a:tabLst>
            </a:pPr>
            <a:r>
              <a:rPr lang="zh-CN" altLang="en-US" sz="2400" dirty="0">
                <a:latin typeface="Arial MT"/>
                <a:cs typeface="Arial MT"/>
              </a:rPr>
              <a:t>有雾图像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lang="zh-CN" altLang="en-US" sz="2400" spc="-4" dirty="0">
                <a:latin typeface="Arial MT"/>
                <a:cs typeface="Arial MT"/>
              </a:rPr>
              <a:t>暗通道</a:t>
            </a:r>
            <a:endParaRPr sz="2400" dirty="0">
              <a:latin typeface="Arial MT"/>
              <a:cs typeface="Arial MT"/>
            </a:endParaRPr>
          </a:p>
          <a:p>
            <a:pPr>
              <a:spcBef>
                <a:spcPts val="20"/>
              </a:spcBef>
            </a:pPr>
            <a:endParaRPr sz="1765" dirty="0">
              <a:latin typeface="Arial MT"/>
              <a:cs typeface="Arial MT"/>
            </a:endParaRPr>
          </a:p>
          <a:p>
            <a:pPr marL="267335" indent="-257810"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800" dirty="0">
                <a:latin typeface="Arial MT"/>
                <a:cs typeface="Arial MT"/>
              </a:rPr>
              <a:t>有雾图像的暗通道不再是暗的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4245" y="2056361"/>
            <a:ext cx="1599392" cy="217515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185928" y="2942642"/>
            <a:ext cx="758863" cy="385401"/>
            <a:chOff x="4041775" y="2782316"/>
            <a:chExt cx="1009015" cy="512445"/>
          </a:xfrm>
        </p:grpSpPr>
        <p:sp>
          <p:nvSpPr>
            <p:cNvPr id="8" name="object 8"/>
            <p:cNvSpPr/>
            <p:nvPr/>
          </p:nvSpPr>
          <p:spPr>
            <a:xfrm>
              <a:off x="4054475" y="2795016"/>
              <a:ext cx="983615" cy="487045"/>
            </a:xfrm>
            <a:custGeom>
              <a:avLst/>
              <a:gdLst/>
              <a:ahLst/>
              <a:cxnLst/>
              <a:rect l="l" t="t" r="r" b="b"/>
              <a:pathLst>
                <a:path w="983614" h="487045">
                  <a:moveTo>
                    <a:pt x="739775" y="0"/>
                  </a:moveTo>
                  <a:lnTo>
                    <a:pt x="739775" y="121666"/>
                  </a:lnTo>
                  <a:lnTo>
                    <a:pt x="0" y="121666"/>
                  </a:lnTo>
                  <a:lnTo>
                    <a:pt x="0" y="365251"/>
                  </a:lnTo>
                  <a:lnTo>
                    <a:pt x="739775" y="365251"/>
                  </a:lnTo>
                  <a:lnTo>
                    <a:pt x="739775" y="487045"/>
                  </a:lnTo>
                  <a:lnTo>
                    <a:pt x="983361" y="243459"/>
                  </a:lnTo>
                  <a:lnTo>
                    <a:pt x="739775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9" name="object 9"/>
            <p:cNvSpPr/>
            <p:nvPr/>
          </p:nvSpPr>
          <p:spPr>
            <a:xfrm>
              <a:off x="4054475" y="2795016"/>
              <a:ext cx="983615" cy="487045"/>
            </a:xfrm>
            <a:custGeom>
              <a:avLst/>
              <a:gdLst/>
              <a:ahLst/>
              <a:cxnLst/>
              <a:rect l="l" t="t" r="r" b="b"/>
              <a:pathLst>
                <a:path w="983614" h="487045">
                  <a:moveTo>
                    <a:pt x="0" y="121666"/>
                  </a:moveTo>
                  <a:lnTo>
                    <a:pt x="739775" y="121666"/>
                  </a:lnTo>
                  <a:lnTo>
                    <a:pt x="739775" y="0"/>
                  </a:lnTo>
                  <a:lnTo>
                    <a:pt x="983361" y="243459"/>
                  </a:lnTo>
                  <a:lnTo>
                    <a:pt x="739775" y="487045"/>
                  </a:lnTo>
                  <a:lnTo>
                    <a:pt x="739775" y="365251"/>
                  </a:lnTo>
                  <a:lnTo>
                    <a:pt x="0" y="365251"/>
                  </a:lnTo>
                  <a:lnTo>
                    <a:pt x="0" y="121666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2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/>
              <a:t>暗通道先验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0555" y="1825625"/>
            <a:ext cx="8376285" cy="435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雾气通过散射与吸收，使图像对比度下降、颜色偏灰、细节模糊。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图像去雾的目标：恢复真实辐射亮度与颜色，估计场景深度。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暗通道先验：无雾图像中局部区域至少有一个通道像素极暗。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方法物理可解释、鲁棒性强、实现简单、效果突出。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0555" y="1253490"/>
            <a:ext cx="4912995" cy="4351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作者何恺明：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MIT</a:t>
            </a:r>
            <a:r>
              <a:rPr lang="zh-CN" altLang="en-US">
                <a:sym typeface="+mn-ea"/>
              </a:rPr>
              <a:t>终身教职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广东省高考状元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2009</a:t>
            </a:r>
            <a:r>
              <a:rPr lang="zh-CN" altLang="en-US">
                <a:sym typeface="+mn-ea"/>
              </a:rPr>
              <a:t>年成为</a:t>
            </a:r>
            <a:r>
              <a:rPr lang="en-US" altLang="zh-CN">
                <a:sym typeface="+mn-ea"/>
              </a:rPr>
              <a:t>CVPR</a:t>
            </a:r>
            <a:r>
              <a:rPr lang="zh-CN" altLang="en-US">
                <a:sym typeface="+mn-ea"/>
              </a:rPr>
              <a:t>最佳论文首位华人得主。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2017</a:t>
            </a:r>
            <a:r>
              <a:rPr lang="zh-CN" altLang="en-US">
                <a:sym typeface="+mn-ea"/>
              </a:rPr>
              <a:t>年获得</a:t>
            </a:r>
            <a:r>
              <a:rPr lang="en-US" altLang="zh-CN">
                <a:sym typeface="+mn-ea"/>
              </a:rPr>
              <a:t>ICCV</a:t>
            </a:r>
            <a:r>
              <a:rPr lang="zh-CN" altLang="en-US">
                <a:sym typeface="+mn-ea"/>
              </a:rPr>
              <a:t>最佳论文奖（马尔奖）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2022</a:t>
            </a:r>
            <a:r>
              <a:rPr lang="zh-CN" altLang="en-US">
                <a:sym typeface="+mn-ea"/>
              </a:rPr>
              <a:t>年入选</a:t>
            </a:r>
            <a:r>
              <a:rPr lang="en-US" altLang="zh-CN">
                <a:sym typeface="+mn-ea"/>
              </a:rPr>
              <a:t>AI 2000</a:t>
            </a:r>
            <a:r>
              <a:rPr lang="zh-CN" altLang="en-US">
                <a:sym typeface="+mn-ea"/>
              </a:rPr>
              <a:t>人工智能全球最具影响力学者榜单，综合排名第一。</a:t>
            </a:r>
            <a:endParaRPr lang="zh-CN" altLang="en-US">
              <a:sym typeface="+mn-ea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629762" y="5715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 </a:t>
            </a:r>
            <a:r>
              <a:rPr lang="zh-CN" altLang="en-US">
                <a:sym typeface="+mn-ea"/>
              </a:rPr>
              <a:t>基于暗通道先验的图像去雾</a:t>
            </a:r>
            <a:endParaRPr lang="zh-CN" altLang="en-US"/>
          </a:p>
        </p:txBody>
      </p:sp>
      <p:graphicFrame>
        <p:nvGraphicFramePr>
          <p:cNvPr id="6" name="对象 5"/>
          <p:cNvGraphicFramePr/>
          <p:nvPr/>
        </p:nvGraphicFramePr>
        <p:xfrm>
          <a:off x="5627370" y="998220"/>
          <a:ext cx="3227070" cy="3199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1" imgW="4502150" imgH="4419600" progId="Paint.Picture">
                  <p:embed/>
                </p:oleObj>
              </mc:Choice>
              <mc:Fallback>
                <p:oleObj name="" r:id="rId1" imgW="4502150" imgH="44196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27370" y="998220"/>
                        <a:ext cx="3227070" cy="3199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07972" y="2053837"/>
            <a:ext cx="3298360" cy="44053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雾图成像模型</a:t>
            </a:r>
            <a:endParaRPr lang="zh-CN" altLang="en-US" sz="2800" dirty="0"/>
          </a:p>
        </p:txBody>
      </p:sp>
      <p:sp>
        <p:nvSpPr>
          <p:cNvPr id="10" name="object 10"/>
          <p:cNvSpPr txBox="1"/>
          <p:nvPr/>
        </p:nvSpPr>
        <p:spPr>
          <a:xfrm>
            <a:off x="1607972" y="3041975"/>
            <a:ext cx="1643205" cy="44053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800" spc="-4" dirty="0">
                <a:latin typeface="Arial MT"/>
                <a:cs typeface="Arial MT"/>
              </a:rPr>
              <a:t>归一化</a:t>
            </a:r>
            <a:endParaRPr sz="2800" dirty="0">
              <a:latin typeface="Arial MT"/>
              <a:cs typeface="Arial M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883638" y="2143183"/>
            <a:ext cx="4465467" cy="3043346"/>
            <a:chOff x="4340838" y="2143183"/>
            <a:chExt cx="4465466" cy="3043346"/>
          </a:xfrm>
        </p:grpSpPr>
        <p:sp>
          <p:nvSpPr>
            <p:cNvPr id="4" name="object 4"/>
            <p:cNvSpPr txBox="1"/>
            <p:nvPr/>
          </p:nvSpPr>
          <p:spPr>
            <a:xfrm>
              <a:off x="5226984" y="2143183"/>
              <a:ext cx="2070279" cy="373750"/>
            </a:xfrm>
            <a:prstGeom prst="rect">
              <a:avLst/>
            </a:prstGeom>
          </p:spPr>
          <p:txBody>
            <a:bodyPr vert="horz" wrap="square" lIns="0" tIns="9074" rIns="0" bIns="0" rtlCol="0">
              <a:spAutoFit/>
            </a:bodyPr>
            <a:lstStyle/>
            <a:p>
              <a:pPr marL="9525">
                <a:spcBef>
                  <a:spcPts val="70"/>
                </a:spcBef>
              </a:pPr>
              <a:r>
                <a:rPr sz="2370" b="1" spc="-19" dirty="0">
                  <a:latin typeface="Times New Roman" panose="02020603050405020304"/>
                  <a:cs typeface="Times New Roman" panose="02020603050405020304"/>
                </a:rPr>
                <a:t>I</a:t>
              </a:r>
              <a:r>
                <a:rPr sz="2370" b="1" spc="-42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370" spc="-23" dirty="0">
                  <a:latin typeface="Symbol" panose="05050102010706020507"/>
                  <a:cs typeface="Symbol" panose="05050102010706020507"/>
                </a:rPr>
                <a:t></a:t>
              </a:r>
              <a:r>
                <a:rPr sz="2370" spc="-94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370" b="1" spc="-23" dirty="0">
                  <a:latin typeface="Times New Roman" panose="02020603050405020304"/>
                  <a:cs typeface="Times New Roman" panose="02020603050405020304"/>
                </a:rPr>
                <a:t>J</a:t>
              </a:r>
              <a:r>
                <a:rPr sz="2370" b="1" spc="-263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370" spc="-11" dirty="0">
                  <a:latin typeface="Symbol" panose="05050102010706020507"/>
                  <a:cs typeface="Symbol" panose="05050102010706020507"/>
                </a:rPr>
                <a:t></a:t>
              </a:r>
              <a:r>
                <a:rPr sz="2370" spc="-39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370" i="1" spc="-15" dirty="0">
                  <a:latin typeface="Times New Roman" panose="02020603050405020304"/>
                  <a:cs typeface="Times New Roman" panose="02020603050405020304"/>
                </a:rPr>
                <a:t>t</a:t>
              </a:r>
              <a:r>
                <a:rPr sz="2370" i="1" spc="-104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370" spc="-23" dirty="0">
                  <a:latin typeface="Symbol" panose="05050102010706020507"/>
                  <a:cs typeface="Symbol" panose="05050102010706020507"/>
                </a:rPr>
                <a:t></a:t>
              </a:r>
              <a:r>
                <a:rPr sz="2370" spc="-163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370" b="1" spc="-30" dirty="0">
                  <a:latin typeface="Times New Roman" panose="02020603050405020304"/>
                  <a:cs typeface="Times New Roman" panose="02020603050405020304"/>
                </a:rPr>
                <a:t>A</a:t>
              </a:r>
              <a:r>
                <a:rPr sz="2370" b="1" spc="-316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370" spc="-11" dirty="0">
                  <a:latin typeface="Symbol" panose="05050102010706020507"/>
                  <a:cs typeface="Symbol" panose="05050102010706020507"/>
                </a:rPr>
                <a:t></a:t>
              </a:r>
              <a:r>
                <a:rPr sz="2370" spc="-357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370" spc="-222" dirty="0">
                  <a:latin typeface="Times New Roman" panose="02020603050405020304"/>
                  <a:cs typeface="Times New Roman" panose="02020603050405020304"/>
                </a:rPr>
                <a:t>(</a:t>
              </a:r>
              <a:r>
                <a:rPr sz="2370" spc="132" dirty="0">
                  <a:latin typeface="Times New Roman" panose="02020603050405020304"/>
                  <a:cs typeface="Times New Roman" panose="02020603050405020304"/>
                </a:rPr>
                <a:t>1</a:t>
              </a:r>
              <a:r>
                <a:rPr sz="2370" spc="-26" dirty="0">
                  <a:latin typeface="Symbol" panose="05050102010706020507"/>
                  <a:cs typeface="Symbol" panose="05050102010706020507"/>
                </a:rPr>
                <a:t></a:t>
              </a:r>
              <a:r>
                <a:rPr sz="2370" spc="-305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370" i="1" spc="117" dirty="0">
                  <a:latin typeface="Times New Roman" panose="02020603050405020304"/>
                  <a:cs typeface="Times New Roman" panose="02020603050405020304"/>
                </a:rPr>
                <a:t>t</a:t>
              </a:r>
              <a:r>
                <a:rPr sz="2370" spc="-15" dirty="0">
                  <a:latin typeface="Times New Roman" panose="02020603050405020304"/>
                  <a:cs typeface="Times New Roman" panose="02020603050405020304"/>
                </a:rPr>
                <a:t>)</a:t>
              </a:r>
              <a:endParaRPr sz="237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255924" y="3282747"/>
              <a:ext cx="363911" cy="0"/>
            </a:xfrm>
            <a:custGeom>
              <a:avLst/>
              <a:gdLst/>
              <a:ahLst/>
              <a:cxnLst/>
              <a:rect l="l" t="t" r="r" b="b"/>
              <a:pathLst>
                <a:path w="483870">
                  <a:moveTo>
                    <a:pt x="0" y="0"/>
                  </a:moveTo>
                  <a:lnTo>
                    <a:pt x="483817" y="0"/>
                  </a:lnTo>
                </a:path>
              </a:pathLst>
            </a:custGeom>
            <a:ln w="1623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7" name="object 7"/>
            <p:cNvSpPr/>
            <p:nvPr/>
          </p:nvSpPr>
          <p:spPr>
            <a:xfrm>
              <a:off x="5926595" y="3282747"/>
              <a:ext cx="363911" cy="0"/>
            </a:xfrm>
            <a:custGeom>
              <a:avLst/>
              <a:gdLst/>
              <a:ahLst/>
              <a:cxnLst/>
              <a:rect l="l" t="t" r="r" b="b"/>
              <a:pathLst>
                <a:path w="483870">
                  <a:moveTo>
                    <a:pt x="0" y="0"/>
                  </a:moveTo>
                  <a:lnTo>
                    <a:pt x="483262" y="0"/>
                  </a:lnTo>
                </a:path>
              </a:pathLst>
            </a:custGeom>
            <a:ln w="16239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5260643" y="3043504"/>
              <a:ext cx="1902651" cy="364137"/>
            </a:xfrm>
            <a:prstGeom prst="rect">
              <a:avLst/>
            </a:prstGeom>
          </p:spPr>
          <p:txBody>
            <a:bodyPr vert="horz" wrap="square" lIns="0" tIns="10984" rIns="0" bIns="0" rtlCol="0">
              <a:spAutoFit/>
            </a:bodyPr>
            <a:lstStyle/>
            <a:p>
              <a:pPr marL="38100">
                <a:spcBef>
                  <a:spcPts val="85"/>
                </a:spcBef>
                <a:tabLst>
                  <a:tab pos="458470" algn="l"/>
                </a:tabLst>
              </a:pPr>
              <a:r>
                <a:rPr sz="3440" spc="163" baseline="-44000" dirty="0">
                  <a:latin typeface="Times New Roman" panose="02020603050405020304"/>
                  <a:cs typeface="Times New Roman" panose="02020603050405020304"/>
                </a:rPr>
                <a:t>A</a:t>
              </a:r>
              <a:r>
                <a:rPr sz="2030" spc="-11" baseline="-31000" dirty="0">
                  <a:latin typeface="Times New Roman" panose="02020603050405020304"/>
                  <a:cs typeface="Times New Roman" panose="02020603050405020304"/>
                </a:rPr>
                <a:t>c</a:t>
              </a:r>
              <a:r>
                <a:rPr sz="2030" baseline="-31000" dirty="0">
                  <a:latin typeface="Times New Roman" panose="02020603050405020304"/>
                  <a:cs typeface="Times New Roman" panose="02020603050405020304"/>
                </a:rPr>
                <a:t>	</a:t>
              </a:r>
              <a:r>
                <a:rPr sz="2295" spc="4" dirty="0">
                  <a:latin typeface="Symbol" panose="05050102010706020507"/>
                  <a:cs typeface="Symbol" panose="05050102010706020507"/>
                </a:rPr>
                <a:t></a:t>
              </a:r>
              <a:r>
                <a:rPr sz="2295" spc="123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3440" spc="163" baseline="-44000" dirty="0">
                  <a:latin typeface="Times New Roman" panose="02020603050405020304"/>
                  <a:cs typeface="Times New Roman" panose="02020603050405020304"/>
                </a:rPr>
                <a:t>A</a:t>
              </a:r>
              <a:r>
                <a:rPr sz="2030" spc="-11" baseline="-31000" dirty="0">
                  <a:latin typeface="Times New Roman" panose="02020603050405020304"/>
                  <a:cs typeface="Times New Roman" panose="02020603050405020304"/>
                </a:rPr>
                <a:t>c</a:t>
              </a:r>
              <a:r>
                <a:rPr sz="2030" baseline="-31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030" spc="-23" baseline="-31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i="1" dirty="0">
                  <a:latin typeface="Times New Roman" panose="02020603050405020304"/>
                  <a:cs typeface="Times New Roman" panose="02020603050405020304"/>
                </a:rPr>
                <a:t>t</a:t>
              </a:r>
              <a:r>
                <a:rPr sz="2295" i="1" spc="-75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spc="153" dirty="0">
                  <a:latin typeface="Symbol" panose="05050102010706020507"/>
                  <a:cs typeface="Symbol" panose="05050102010706020507"/>
                </a:rPr>
                <a:t></a:t>
              </a:r>
              <a:r>
                <a:rPr sz="2295" spc="165" dirty="0">
                  <a:latin typeface="Times New Roman" panose="02020603050405020304"/>
                  <a:cs typeface="Times New Roman" panose="02020603050405020304"/>
                </a:rPr>
                <a:t>1</a:t>
              </a:r>
              <a:r>
                <a:rPr sz="2295" spc="4" dirty="0">
                  <a:latin typeface="Symbol" panose="05050102010706020507"/>
                  <a:cs typeface="Symbol" panose="05050102010706020507"/>
                </a:rPr>
                <a:t></a:t>
              </a:r>
              <a:r>
                <a:rPr sz="2295" spc="-278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i="1" dirty="0">
                  <a:latin typeface="Times New Roman" panose="02020603050405020304"/>
                  <a:cs typeface="Times New Roman" panose="02020603050405020304"/>
                </a:rPr>
                <a:t>t</a:t>
              </a:r>
              <a:endParaRPr sz="2295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5296160" y="2876206"/>
              <a:ext cx="941296" cy="364137"/>
            </a:xfrm>
            <a:prstGeom prst="rect">
              <a:avLst/>
            </a:prstGeom>
          </p:spPr>
          <p:txBody>
            <a:bodyPr vert="horz" wrap="square" lIns="0" tIns="10984" rIns="0" bIns="0" rtlCol="0">
              <a:spAutoFit/>
            </a:bodyPr>
            <a:lstStyle/>
            <a:p>
              <a:pPr marL="38100">
                <a:spcBef>
                  <a:spcPts val="85"/>
                </a:spcBef>
                <a:tabLst>
                  <a:tab pos="696595" algn="l"/>
                </a:tabLst>
              </a:pPr>
              <a:r>
                <a:rPr sz="3440" spc="50" baseline="-25000" dirty="0">
                  <a:latin typeface="Times New Roman" panose="02020603050405020304"/>
                  <a:cs typeface="Times New Roman" panose="02020603050405020304"/>
                </a:rPr>
                <a:t>I</a:t>
              </a:r>
              <a:r>
                <a:rPr sz="1355" spc="34" dirty="0">
                  <a:latin typeface="Times New Roman" panose="02020603050405020304"/>
                  <a:cs typeface="Times New Roman" panose="02020603050405020304"/>
                </a:rPr>
                <a:t>c	</a:t>
              </a:r>
              <a:r>
                <a:rPr sz="3440" spc="90" baseline="-25000" dirty="0">
                  <a:latin typeface="Times New Roman" panose="02020603050405020304"/>
                  <a:cs typeface="Times New Roman" panose="02020603050405020304"/>
                </a:rPr>
                <a:t>J</a:t>
              </a:r>
              <a:r>
                <a:rPr sz="1355" spc="61" dirty="0">
                  <a:latin typeface="Times New Roman" panose="02020603050405020304"/>
                  <a:cs typeface="Times New Roman" panose="02020603050405020304"/>
                </a:rPr>
                <a:t>c</a:t>
              </a:r>
              <a:endParaRPr sz="1355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414948" y="4750216"/>
              <a:ext cx="363911" cy="0"/>
            </a:xfrm>
            <a:custGeom>
              <a:avLst/>
              <a:gdLst/>
              <a:ahLst/>
              <a:cxnLst/>
              <a:rect l="l" t="t" r="r" b="b"/>
              <a:pathLst>
                <a:path w="483870">
                  <a:moveTo>
                    <a:pt x="0" y="0"/>
                  </a:moveTo>
                  <a:lnTo>
                    <a:pt x="483654" y="0"/>
                  </a:lnTo>
                </a:path>
              </a:pathLst>
            </a:custGeom>
            <a:ln w="15643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2" name="object 12"/>
            <p:cNvSpPr/>
            <p:nvPr/>
          </p:nvSpPr>
          <p:spPr>
            <a:xfrm>
              <a:off x="7389189" y="4750216"/>
              <a:ext cx="363911" cy="0"/>
            </a:xfrm>
            <a:custGeom>
              <a:avLst/>
              <a:gdLst/>
              <a:ahLst/>
              <a:cxnLst/>
              <a:rect l="l" t="t" r="r" b="b"/>
              <a:pathLst>
                <a:path w="483870">
                  <a:moveTo>
                    <a:pt x="0" y="0"/>
                  </a:moveTo>
                  <a:lnTo>
                    <a:pt x="483463" y="0"/>
                  </a:lnTo>
                </a:path>
              </a:pathLst>
            </a:custGeom>
            <a:ln w="15643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7860680" y="4821909"/>
              <a:ext cx="164763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9525">
                <a:spcBef>
                  <a:spcPts val="90"/>
                </a:spcBef>
              </a:pPr>
              <a:r>
                <a:rPr sz="2295" spc="11" dirty="0">
                  <a:latin typeface="Symbol" panose="05050102010706020507"/>
                  <a:cs typeface="Symbol" panose="05050102010706020507"/>
                </a:rPr>
                <a:t></a:t>
              </a:r>
              <a:endParaRPr sz="2295">
                <a:latin typeface="Symbol" panose="05050102010706020507"/>
                <a:cs typeface="Symbol" panose="05050102010706020507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7860680" y="4319958"/>
              <a:ext cx="164763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9525">
                <a:spcBef>
                  <a:spcPts val="90"/>
                </a:spcBef>
              </a:pPr>
              <a:r>
                <a:rPr sz="2295" spc="11" dirty="0">
                  <a:latin typeface="Symbol" panose="05050102010706020507"/>
                  <a:cs typeface="Symbol" panose="05050102010706020507"/>
                </a:rPr>
                <a:t></a:t>
              </a:r>
              <a:endParaRPr sz="2295">
                <a:latin typeface="Symbol" panose="05050102010706020507"/>
                <a:cs typeface="Symbol" panose="05050102010706020507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6170491" y="4821910"/>
              <a:ext cx="164763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9525">
                <a:spcBef>
                  <a:spcPts val="90"/>
                </a:spcBef>
              </a:pPr>
              <a:r>
                <a:rPr sz="2295" spc="11" dirty="0">
                  <a:latin typeface="Symbol" panose="05050102010706020507"/>
                  <a:cs typeface="Symbol" panose="05050102010706020507"/>
                </a:rPr>
                <a:t></a:t>
              </a:r>
              <a:endParaRPr sz="2295">
                <a:latin typeface="Symbol" panose="05050102010706020507"/>
                <a:cs typeface="Symbol" panose="05050102010706020507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6170491" y="4319958"/>
              <a:ext cx="164763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9525">
                <a:spcBef>
                  <a:spcPts val="90"/>
                </a:spcBef>
              </a:pPr>
              <a:r>
                <a:rPr sz="2295" spc="11" dirty="0">
                  <a:latin typeface="Symbol" panose="05050102010706020507"/>
                  <a:cs typeface="Symbol" panose="05050102010706020507"/>
                </a:rPr>
                <a:t></a:t>
              </a:r>
              <a:endParaRPr sz="2295">
                <a:latin typeface="Symbol" panose="05050102010706020507"/>
                <a:cs typeface="Symbol" panose="05050102010706020507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7398822" y="4749267"/>
              <a:ext cx="232100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9525">
                <a:spcBef>
                  <a:spcPts val="90"/>
                </a:spcBef>
              </a:pPr>
              <a:r>
                <a:rPr sz="2295" spc="15" dirty="0">
                  <a:latin typeface="Times New Roman" panose="02020603050405020304"/>
                  <a:cs typeface="Times New Roman" panose="02020603050405020304"/>
                </a:rPr>
                <a:t>A</a:t>
              </a:r>
              <a:endParaRPr sz="2295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5424652" y="4749267"/>
              <a:ext cx="232100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9525">
                <a:spcBef>
                  <a:spcPts val="90"/>
                </a:spcBef>
              </a:pPr>
              <a:r>
                <a:rPr sz="2295" spc="15" dirty="0">
                  <a:latin typeface="Times New Roman" panose="02020603050405020304"/>
                  <a:cs typeface="Times New Roman" panose="02020603050405020304"/>
                </a:rPr>
                <a:t>A</a:t>
              </a:r>
              <a:endParaRPr sz="2295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7604731" y="4520477"/>
              <a:ext cx="1201573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28575">
                <a:spcBef>
                  <a:spcPts val="90"/>
                </a:spcBef>
              </a:pPr>
              <a:r>
                <a:rPr sz="2030" baseline="-31000" dirty="0">
                  <a:latin typeface="Times New Roman" panose="02020603050405020304"/>
                  <a:cs typeface="Times New Roman" panose="02020603050405020304"/>
                </a:rPr>
                <a:t>c</a:t>
              </a:r>
              <a:r>
                <a:rPr sz="2030" spc="157" baseline="-31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spc="49" dirty="0">
                  <a:latin typeface="Times New Roman" panose="02020603050405020304"/>
                  <a:cs typeface="Times New Roman" panose="02020603050405020304"/>
                </a:rPr>
                <a:t>)</a:t>
              </a:r>
              <a:r>
                <a:rPr sz="3440" spc="-107" baseline="-10000" dirty="0">
                  <a:latin typeface="Symbol" panose="05050102010706020507"/>
                  <a:cs typeface="Symbol" panose="05050102010706020507"/>
                </a:rPr>
                <a:t></a:t>
              </a:r>
              <a:r>
                <a:rPr sz="2295" i="1" spc="4" dirty="0">
                  <a:latin typeface="Times New Roman" panose="02020603050405020304"/>
                  <a:cs typeface="Times New Roman" panose="02020603050405020304"/>
                </a:rPr>
                <a:t>t</a:t>
              </a:r>
              <a:r>
                <a:rPr sz="2295" i="1" spc="-83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spc="158" dirty="0">
                  <a:latin typeface="Symbol" panose="05050102010706020507"/>
                  <a:cs typeface="Symbol" panose="05050102010706020507"/>
                </a:rPr>
                <a:t></a:t>
              </a:r>
              <a:r>
                <a:rPr sz="2295" spc="163" dirty="0">
                  <a:latin typeface="Times New Roman" panose="02020603050405020304"/>
                  <a:cs typeface="Times New Roman" panose="02020603050405020304"/>
                </a:rPr>
                <a:t>1</a:t>
              </a:r>
              <a:r>
                <a:rPr sz="2295" spc="11" dirty="0">
                  <a:latin typeface="Symbol" panose="05050102010706020507"/>
                  <a:cs typeface="Symbol" panose="05050102010706020507"/>
                </a:rPr>
                <a:t></a:t>
              </a:r>
              <a:r>
                <a:rPr sz="2295" spc="-286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i="1" spc="4" dirty="0">
                  <a:latin typeface="Times New Roman" panose="02020603050405020304"/>
                  <a:cs typeface="Times New Roman" panose="02020603050405020304"/>
                </a:rPr>
                <a:t>t</a:t>
              </a:r>
              <a:endParaRPr sz="2295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7427053" y="4325139"/>
              <a:ext cx="264098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28575">
                <a:spcBef>
                  <a:spcPts val="90"/>
                </a:spcBef>
              </a:pPr>
              <a:r>
                <a:rPr sz="3440" spc="96" baseline="-25000" dirty="0">
                  <a:latin typeface="Times New Roman" panose="02020603050405020304"/>
                  <a:cs typeface="Times New Roman" panose="02020603050405020304"/>
                </a:rPr>
                <a:t>J</a:t>
              </a:r>
              <a:r>
                <a:rPr sz="1355" spc="64" dirty="0">
                  <a:latin typeface="Times New Roman" panose="02020603050405020304"/>
                  <a:cs typeface="Times New Roman" panose="02020603050405020304"/>
                </a:rPr>
                <a:t>c</a:t>
              </a:r>
              <a:endParaRPr sz="1355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6476543" y="4813435"/>
              <a:ext cx="686751" cy="217070"/>
            </a:xfrm>
            <a:prstGeom prst="rect">
              <a:avLst/>
            </a:prstGeom>
          </p:spPr>
          <p:txBody>
            <a:bodyPr vert="horz" wrap="square" lIns="0" tIns="8596" rIns="0" bIns="0" rtlCol="0">
              <a:spAutoFit/>
            </a:bodyPr>
            <a:lstStyle/>
            <a:p>
              <a:pPr marL="9525">
                <a:spcBef>
                  <a:spcPts val="70"/>
                </a:spcBef>
                <a:tabLst>
                  <a:tab pos="600075" algn="l"/>
                </a:tabLst>
              </a:pPr>
              <a:r>
                <a:rPr sz="1355" dirty="0">
                  <a:latin typeface="Symbol" panose="05050102010706020507"/>
                  <a:cs typeface="Symbol" panose="05050102010706020507"/>
                </a:rPr>
                <a:t></a:t>
              </a:r>
              <a:r>
                <a:rPr sz="1355" dirty="0">
                  <a:latin typeface="Times New Roman" panose="02020603050405020304"/>
                  <a:cs typeface="Times New Roman" panose="02020603050405020304"/>
                </a:rPr>
                <a:t>	c</a:t>
              </a:r>
              <a:endParaRPr sz="1355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5630544" y="4520477"/>
              <a:ext cx="1686309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28575">
                <a:spcBef>
                  <a:spcPts val="90"/>
                </a:spcBef>
              </a:pPr>
              <a:r>
                <a:rPr sz="2030" baseline="-31000" dirty="0">
                  <a:latin typeface="Times New Roman" panose="02020603050405020304"/>
                  <a:cs typeface="Times New Roman" panose="02020603050405020304"/>
                </a:rPr>
                <a:t>c</a:t>
              </a:r>
              <a:r>
                <a:rPr sz="2030" spc="157" baseline="-31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spc="8" dirty="0">
                  <a:latin typeface="Times New Roman" panose="02020603050405020304"/>
                  <a:cs typeface="Times New Roman" panose="02020603050405020304"/>
                </a:rPr>
                <a:t>)</a:t>
              </a:r>
              <a:r>
                <a:rPr sz="2295" spc="-68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spc="11" dirty="0">
                  <a:latin typeface="Symbol" panose="05050102010706020507"/>
                  <a:cs typeface="Symbol" panose="05050102010706020507"/>
                </a:rPr>
                <a:t></a:t>
              </a:r>
              <a:r>
                <a:rPr sz="2295" spc="-75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3440" baseline="-10000" dirty="0">
                  <a:latin typeface="Symbol" panose="05050102010706020507"/>
                  <a:cs typeface="Symbol" panose="05050102010706020507"/>
                </a:rPr>
                <a:t></a:t>
              </a:r>
              <a:r>
                <a:rPr sz="2295" spc="-225" dirty="0">
                  <a:latin typeface="Times New Roman" panose="02020603050405020304"/>
                  <a:cs typeface="Times New Roman" panose="02020603050405020304"/>
                </a:rPr>
                <a:t>m</a:t>
              </a:r>
              <a:r>
                <a:rPr sz="2295" spc="-214" dirty="0">
                  <a:latin typeface="Times New Roman" panose="02020603050405020304"/>
                  <a:cs typeface="Times New Roman" panose="02020603050405020304"/>
                </a:rPr>
                <a:t>i</a:t>
              </a:r>
              <a:r>
                <a:rPr sz="2295" spc="11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sz="2295" spc="-102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spc="49" dirty="0">
                  <a:latin typeface="Times New Roman" panose="02020603050405020304"/>
                  <a:cs typeface="Times New Roman" panose="02020603050405020304"/>
                </a:rPr>
                <a:t>(</a:t>
              </a:r>
              <a:r>
                <a:rPr sz="2295" spc="-225" dirty="0">
                  <a:latin typeface="Times New Roman" panose="02020603050405020304"/>
                  <a:cs typeface="Times New Roman" panose="02020603050405020304"/>
                </a:rPr>
                <a:t>m</a:t>
              </a:r>
              <a:r>
                <a:rPr sz="2295" spc="-214" dirty="0">
                  <a:latin typeface="Times New Roman" panose="02020603050405020304"/>
                  <a:cs typeface="Times New Roman" panose="02020603050405020304"/>
                </a:rPr>
                <a:t>i</a:t>
              </a:r>
              <a:r>
                <a:rPr sz="2295" spc="11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 sz="2295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464214" y="4342284"/>
              <a:ext cx="241652" cy="364619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marL="28575">
                <a:spcBef>
                  <a:spcPts val="90"/>
                </a:spcBef>
              </a:pPr>
              <a:r>
                <a:rPr sz="3440" spc="62" baseline="-25000" dirty="0">
                  <a:latin typeface="Times New Roman" panose="02020603050405020304"/>
                  <a:cs typeface="Times New Roman" panose="02020603050405020304"/>
                </a:rPr>
                <a:t>I</a:t>
              </a:r>
              <a:r>
                <a:rPr sz="1355" spc="42" dirty="0">
                  <a:latin typeface="Times New Roman" panose="02020603050405020304"/>
                  <a:cs typeface="Times New Roman" panose="02020603050405020304"/>
                </a:rPr>
                <a:t>c</a:t>
              </a:r>
              <a:endParaRPr sz="1355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4340838" y="4520477"/>
              <a:ext cx="982845" cy="511711"/>
            </a:xfrm>
            <a:prstGeom prst="rect">
              <a:avLst/>
            </a:prstGeom>
          </p:spPr>
          <p:txBody>
            <a:bodyPr vert="horz" wrap="square" lIns="0" tIns="11462" rIns="0" bIns="0" rtlCol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ts val="90"/>
                </a:spcBef>
              </a:pPr>
              <a:r>
                <a:rPr sz="2295" spc="-225" dirty="0">
                  <a:latin typeface="Times New Roman" panose="02020603050405020304"/>
                  <a:cs typeface="Times New Roman" panose="02020603050405020304"/>
                </a:rPr>
                <a:t>m</a:t>
              </a:r>
              <a:r>
                <a:rPr sz="2295" spc="-214" dirty="0">
                  <a:latin typeface="Times New Roman" panose="02020603050405020304"/>
                  <a:cs typeface="Times New Roman" panose="02020603050405020304"/>
                </a:rPr>
                <a:t>i</a:t>
              </a:r>
              <a:r>
                <a:rPr sz="2295" spc="11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sz="2295" spc="-102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sz="2295" spc="49" dirty="0">
                  <a:latin typeface="Times New Roman" panose="02020603050405020304"/>
                  <a:cs typeface="Times New Roman" panose="02020603050405020304"/>
                </a:rPr>
                <a:t>(</a:t>
              </a:r>
              <a:r>
                <a:rPr sz="2295" spc="-225" dirty="0">
                  <a:latin typeface="Times New Roman" panose="02020603050405020304"/>
                  <a:cs typeface="Times New Roman" panose="02020603050405020304"/>
                </a:rPr>
                <a:t>m</a:t>
              </a:r>
              <a:r>
                <a:rPr sz="2295" spc="-214" dirty="0">
                  <a:latin typeface="Times New Roman" panose="02020603050405020304"/>
                  <a:cs typeface="Times New Roman" panose="02020603050405020304"/>
                </a:rPr>
                <a:t>i</a:t>
              </a:r>
              <a:r>
                <a:rPr sz="2295" spc="11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 sz="2295" dirty="0">
                <a:latin typeface="Times New Roman" panose="02020603050405020304"/>
                <a:cs typeface="Times New Roman" panose="02020603050405020304"/>
              </a:endParaRPr>
            </a:p>
            <a:p>
              <a:pPr marL="26670" algn="ctr">
                <a:lnSpc>
                  <a:spcPts val="1390"/>
                </a:lnSpc>
                <a:tabLst>
                  <a:tab pos="617220" algn="l"/>
                </a:tabLst>
              </a:pPr>
              <a:r>
                <a:rPr sz="1355" dirty="0">
                  <a:latin typeface="Symbol" panose="05050102010706020507"/>
                  <a:cs typeface="Symbol" panose="05050102010706020507"/>
                </a:rPr>
                <a:t></a:t>
              </a:r>
              <a:r>
                <a:rPr sz="1355" dirty="0">
                  <a:latin typeface="Times New Roman" panose="02020603050405020304"/>
                  <a:cs typeface="Times New Roman" panose="02020603050405020304"/>
                </a:rPr>
                <a:t>	c</a:t>
              </a:r>
              <a:endParaRPr sz="1355" dirty="0"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07973" y="3809847"/>
            <a:ext cx="3636712" cy="44053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800" spc="-4" dirty="0">
                <a:latin typeface="Arial MT"/>
                <a:cs typeface="Arial MT"/>
              </a:rPr>
              <a:t>暗通道计算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4218" y="4710532"/>
            <a:ext cx="363911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0" y="0"/>
                </a:moveTo>
                <a:lnTo>
                  <a:pt x="483654" y="0"/>
                </a:lnTo>
              </a:path>
            </a:pathLst>
          </a:custGeom>
          <a:ln w="15643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3" name="object 3"/>
          <p:cNvSpPr/>
          <p:nvPr/>
        </p:nvSpPr>
        <p:spPr>
          <a:xfrm>
            <a:off x="5938459" y="4710532"/>
            <a:ext cx="363911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0" y="0"/>
                </a:moveTo>
                <a:lnTo>
                  <a:pt x="483463" y="0"/>
                </a:lnTo>
              </a:path>
            </a:pathLst>
          </a:custGeom>
          <a:ln w="15643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4" name="object 4"/>
          <p:cNvSpPr txBox="1"/>
          <p:nvPr/>
        </p:nvSpPr>
        <p:spPr>
          <a:xfrm>
            <a:off x="6409950" y="4782224"/>
            <a:ext cx="164763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spc="11" dirty="0">
                <a:latin typeface="Symbol" panose="05050102010706020507"/>
                <a:cs typeface="Symbol" panose="05050102010706020507"/>
              </a:rPr>
              <a:t></a:t>
            </a:r>
            <a:endParaRPr sz="229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9950" y="4280272"/>
            <a:ext cx="164763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spc="11" dirty="0">
                <a:latin typeface="Symbol" panose="05050102010706020507"/>
                <a:cs typeface="Symbol" panose="05050102010706020507"/>
              </a:rPr>
              <a:t></a:t>
            </a:r>
            <a:endParaRPr sz="229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19760" y="4782224"/>
            <a:ext cx="164763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spc="11" dirty="0">
                <a:latin typeface="Symbol" panose="05050102010706020507"/>
                <a:cs typeface="Symbol" panose="05050102010706020507"/>
              </a:rPr>
              <a:t></a:t>
            </a:r>
            <a:endParaRPr sz="229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9760" y="4280272"/>
            <a:ext cx="164763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spc="11" dirty="0">
                <a:latin typeface="Symbol" panose="05050102010706020507"/>
                <a:cs typeface="Symbol" panose="05050102010706020507"/>
              </a:rPr>
              <a:t></a:t>
            </a:r>
            <a:endParaRPr sz="229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8091" y="4709584"/>
            <a:ext cx="232100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spc="15" dirty="0">
                <a:latin typeface="Times New Roman" panose="02020603050405020304"/>
                <a:cs typeface="Times New Roman" panose="02020603050405020304"/>
              </a:rPr>
              <a:t>A</a:t>
            </a:r>
            <a:endParaRPr sz="22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73921" y="4709584"/>
            <a:ext cx="232100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spc="15" dirty="0">
                <a:latin typeface="Times New Roman" panose="02020603050405020304"/>
                <a:cs typeface="Times New Roman" panose="02020603050405020304"/>
              </a:rPr>
              <a:t>A</a:t>
            </a:r>
            <a:endParaRPr sz="229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4001" y="4480792"/>
            <a:ext cx="1201574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28575">
              <a:spcBef>
                <a:spcPts val="90"/>
              </a:spcBef>
            </a:pPr>
            <a:r>
              <a:rPr sz="2030" baseline="-310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30" spc="157" baseline="-3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49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440" spc="-107" baseline="-10000" dirty="0">
                <a:latin typeface="Symbol" panose="05050102010706020507"/>
                <a:cs typeface="Symbol" panose="05050102010706020507"/>
              </a:rPr>
              <a:t></a:t>
            </a:r>
            <a:r>
              <a:rPr sz="2295" i="1" spc="4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95" i="1" spc="-8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158" dirty="0">
                <a:latin typeface="Symbol" panose="05050102010706020507"/>
                <a:cs typeface="Symbol" panose="05050102010706020507"/>
              </a:rPr>
              <a:t></a:t>
            </a:r>
            <a:r>
              <a:rPr sz="2295" spc="163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295" spc="11" dirty="0">
                <a:latin typeface="Symbol" panose="05050102010706020507"/>
                <a:cs typeface="Symbol" panose="05050102010706020507"/>
              </a:rPr>
              <a:t></a:t>
            </a:r>
            <a:r>
              <a:rPr sz="2295" spc="-28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i="1" spc="4" dirty="0">
                <a:latin typeface="Times New Roman" panose="02020603050405020304"/>
                <a:cs typeface="Times New Roman" panose="02020603050405020304"/>
              </a:rPr>
              <a:t>t</a:t>
            </a:r>
            <a:endParaRPr sz="22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6322" y="4165439"/>
            <a:ext cx="264098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28575">
              <a:spcBef>
                <a:spcPts val="90"/>
              </a:spcBef>
            </a:pPr>
            <a:r>
              <a:rPr sz="3440" spc="96" baseline="-25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1355" spc="64" dirty="0">
                <a:latin typeface="Times New Roman" panose="02020603050405020304"/>
                <a:cs typeface="Times New Roman" panose="02020603050405020304"/>
              </a:rPr>
              <a:t>c</a:t>
            </a:r>
            <a:endParaRPr sz="135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5811" y="4773751"/>
            <a:ext cx="686749" cy="217070"/>
          </a:xfrm>
          <a:prstGeom prst="rect">
            <a:avLst/>
          </a:prstGeom>
        </p:spPr>
        <p:txBody>
          <a:bodyPr vert="horz" wrap="square" lIns="0" tIns="8596" rIns="0" bIns="0" rtlCol="0">
            <a:spAutoFit/>
          </a:bodyPr>
          <a:lstStyle/>
          <a:p>
            <a:pPr marL="9525">
              <a:spcBef>
                <a:spcPts val="70"/>
              </a:spcBef>
              <a:tabLst>
                <a:tab pos="600075" algn="l"/>
              </a:tabLst>
            </a:pPr>
            <a:r>
              <a:rPr sz="1355" dirty="0">
                <a:latin typeface="Symbol" panose="05050102010706020507"/>
                <a:cs typeface="Symbol" panose="05050102010706020507"/>
              </a:rPr>
              <a:t></a:t>
            </a:r>
            <a:r>
              <a:rPr sz="1355" dirty="0">
                <a:latin typeface="Times New Roman" panose="02020603050405020304"/>
                <a:cs typeface="Times New Roman" panose="02020603050405020304"/>
              </a:rPr>
              <a:t>	c</a:t>
            </a:r>
            <a:endParaRPr sz="135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9813" y="4480792"/>
            <a:ext cx="1686310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28575">
              <a:spcBef>
                <a:spcPts val="90"/>
              </a:spcBef>
            </a:pPr>
            <a:r>
              <a:rPr sz="2030" baseline="-310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30" spc="157" baseline="-3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8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295" spc="-6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11" dirty="0">
                <a:latin typeface="Symbol" panose="05050102010706020507"/>
                <a:cs typeface="Symbol" panose="05050102010706020507"/>
              </a:rPr>
              <a:t></a:t>
            </a:r>
            <a:r>
              <a:rPr sz="2295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40" baseline="-10000" dirty="0">
                <a:latin typeface="Symbol" panose="05050102010706020507"/>
                <a:cs typeface="Symbol" panose="05050102010706020507"/>
              </a:rPr>
              <a:t></a:t>
            </a:r>
            <a:r>
              <a:rPr sz="2295" spc="-22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spc="1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295" spc="-10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49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295" spc="-22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spc="11" dirty="0">
                <a:latin typeface="Times New Roman" panose="02020603050405020304"/>
                <a:cs typeface="Times New Roman" panose="02020603050405020304"/>
              </a:rPr>
              <a:t>n</a:t>
            </a:r>
            <a:endParaRPr sz="22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13483" y="4165439"/>
            <a:ext cx="241652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28575">
              <a:spcBef>
                <a:spcPts val="90"/>
              </a:spcBef>
            </a:pPr>
            <a:r>
              <a:rPr sz="3440" spc="62" baseline="-25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55" spc="42" dirty="0">
                <a:latin typeface="Times New Roman" panose="02020603050405020304"/>
                <a:cs typeface="Times New Roman" panose="02020603050405020304"/>
              </a:rPr>
              <a:t>c</a:t>
            </a:r>
            <a:endParaRPr sz="135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90108" y="4480792"/>
            <a:ext cx="982845" cy="511711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0"/>
              </a:spcBef>
            </a:pPr>
            <a:r>
              <a:rPr sz="2295" spc="-22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spc="1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295" spc="-10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49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295" spc="-22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spc="11" dirty="0">
                <a:latin typeface="Times New Roman" panose="02020603050405020304"/>
                <a:cs typeface="Times New Roman" panose="02020603050405020304"/>
              </a:rPr>
              <a:t>n</a:t>
            </a:r>
            <a:endParaRPr sz="2295" dirty="0">
              <a:latin typeface="Times New Roman" panose="02020603050405020304"/>
              <a:cs typeface="Times New Roman" panose="02020603050405020304"/>
            </a:endParaRPr>
          </a:p>
          <a:p>
            <a:pPr marL="26670" algn="ctr">
              <a:lnSpc>
                <a:spcPts val="1390"/>
              </a:lnSpc>
              <a:tabLst>
                <a:tab pos="617220" algn="l"/>
              </a:tabLst>
            </a:pPr>
            <a:r>
              <a:rPr sz="1355" dirty="0">
                <a:latin typeface="Symbol" panose="05050102010706020507"/>
                <a:cs typeface="Symbol" panose="05050102010706020507"/>
              </a:rPr>
              <a:t></a:t>
            </a:r>
            <a:r>
              <a:rPr sz="1355" dirty="0">
                <a:latin typeface="Times New Roman" panose="02020603050405020304"/>
                <a:cs typeface="Times New Roman" panose="02020603050405020304"/>
              </a:rPr>
              <a:t>	c</a:t>
            </a:r>
            <a:endParaRPr sz="135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6043" y="3495476"/>
            <a:ext cx="2325303" cy="58307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19050">
              <a:lnSpc>
                <a:spcPct val="150000"/>
              </a:lnSpc>
              <a:spcBef>
                <a:spcPts val="75"/>
              </a:spcBef>
            </a:pPr>
            <a:r>
              <a:rPr lang="zh-CN" altLang="en-US" sz="2800" spc="-4" dirty="0">
                <a:latin typeface="Arial MT"/>
                <a:cs typeface="Arial MT"/>
              </a:rPr>
              <a:t>计算暗通道</a:t>
            </a:r>
            <a:endParaRPr lang="zh-CN" altLang="en-US" sz="2800" dirty="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68594" y="2541861"/>
            <a:ext cx="3228775" cy="96278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281102" y="1688260"/>
            <a:ext cx="5128848" cy="1586999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19050">
              <a:lnSpc>
                <a:spcPct val="250000"/>
              </a:lnSpc>
            </a:pPr>
            <a:r>
              <a:rPr lang="zh-CN" altLang="en-US" sz="2800" spc="-4" dirty="0">
                <a:latin typeface="Arial MT"/>
                <a:cs typeface="Arial MT"/>
              </a:rPr>
              <a:t>暗通道先验</a:t>
            </a:r>
            <a:endParaRPr sz="2800" dirty="0">
              <a:latin typeface="Arial MT"/>
              <a:cs typeface="Arial MT"/>
            </a:endParaRPr>
          </a:p>
          <a:p>
            <a:pPr marL="2224405">
              <a:lnSpc>
                <a:spcPts val="2525"/>
              </a:lnSpc>
            </a:pPr>
            <a:r>
              <a:rPr sz="2800" spc="-222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spc="-12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49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spc="-222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800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spc="-27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28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00" spc="11" baseline="430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00" spc="-141" baseline="4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9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spc="-11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64" dirty="0">
                <a:latin typeface="Symbol" panose="05050102010706020507"/>
                <a:cs typeface="Symbol" panose="05050102010706020507"/>
              </a:rPr>
              <a:t></a:t>
            </a:r>
            <a:r>
              <a:rPr sz="2800" spc="-20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0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2385695">
              <a:lnSpc>
                <a:spcPts val="1395"/>
              </a:lnSpc>
              <a:tabLst>
                <a:tab pos="2976245" algn="l"/>
              </a:tabLst>
            </a:pPr>
            <a:r>
              <a:rPr sz="2800" spc="15" dirty="0">
                <a:latin typeface="Symbol" panose="05050102010706020507"/>
                <a:cs typeface="Symbol" panose="05050102010706020507"/>
              </a:rPr>
              <a:t>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8" dirty="0">
                <a:latin typeface="Times New Roman" panose="02020603050405020304"/>
                <a:cs typeface="Times New Roman" panose="02020603050405020304"/>
              </a:rPr>
              <a:t>c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29139" y="3813555"/>
            <a:ext cx="764117" cy="549735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3495" spc="71" dirty="0">
                <a:latin typeface="Symbol" panose="05050102010706020507"/>
                <a:cs typeface="Symbol" panose="05050102010706020507"/>
              </a:rPr>
              <a:t></a:t>
            </a:r>
            <a:r>
              <a:rPr sz="3495" spc="-323" dirty="0">
                <a:solidFill>
                  <a:srgbClr val="F89D1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95" spc="34" dirty="0">
                <a:latin typeface="Times New Roman" panose="02020603050405020304"/>
                <a:cs typeface="Times New Roman" panose="02020603050405020304"/>
              </a:rPr>
              <a:t>0</a:t>
            </a:r>
            <a:endParaRPr sz="34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04286" y="4205821"/>
            <a:ext cx="1850595" cy="964220"/>
          </a:xfrm>
          <a:custGeom>
            <a:avLst/>
            <a:gdLst/>
            <a:ahLst/>
            <a:cxnLst/>
            <a:rect l="l" t="t" r="r" b="b"/>
            <a:pathLst>
              <a:path w="2460625" h="1282064">
                <a:moveTo>
                  <a:pt x="0" y="1281684"/>
                </a:moveTo>
                <a:lnTo>
                  <a:pt x="2460371" y="1281684"/>
                </a:lnTo>
                <a:lnTo>
                  <a:pt x="2460371" y="0"/>
                </a:lnTo>
                <a:lnTo>
                  <a:pt x="0" y="0"/>
                </a:lnTo>
                <a:lnTo>
                  <a:pt x="0" y="1281684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grpSp>
        <p:nvGrpSpPr>
          <p:cNvPr id="23" name="object 23"/>
          <p:cNvGrpSpPr/>
          <p:nvPr/>
        </p:nvGrpSpPr>
        <p:grpSpPr>
          <a:xfrm>
            <a:off x="4848797" y="3503885"/>
            <a:ext cx="614636" cy="599354"/>
            <a:chOff x="4923154" y="3528567"/>
            <a:chExt cx="817244" cy="796925"/>
          </a:xfrm>
        </p:grpSpPr>
        <p:sp>
          <p:nvSpPr>
            <p:cNvPr id="24" name="object 24"/>
            <p:cNvSpPr/>
            <p:nvPr/>
          </p:nvSpPr>
          <p:spPr>
            <a:xfrm>
              <a:off x="4935854" y="3541267"/>
              <a:ext cx="791845" cy="771525"/>
            </a:xfrm>
            <a:custGeom>
              <a:avLst/>
              <a:gdLst/>
              <a:ahLst/>
              <a:cxnLst/>
              <a:rect l="l" t="t" r="r" b="b"/>
              <a:pathLst>
                <a:path w="791845" h="771525">
                  <a:moveTo>
                    <a:pt x="593598" y="0"/>
                  </a:moveTo>
                  <a:lnTo>
                    <a:pt x="197866" y="0"/>
                  </a:lnTo>
                  <a:lnTo>
                    <a:pt x="197866" y="385699"/>
                  </a:lnTo>
                  <a:lnTo>
                    <a:pt x="0" y="385699"/>
                  </a:lnTo>
                  <a:lnTo>
                    <a:pt x="395732" y="771398"/>
                  </a:lnTo>
                  <a:lnTo>
                    <a:pt x="791591" y="385699"/>
                  </a:lnTo>
                  <a:lnTo>
                    <a:pt x="593598" y="385699"/>
                  </a:lnTo>
                  <a:lnTo>
                    <a:pt x="593598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25" name="object 25"/>
            <p:cNvSpPr/>
            <p:nvPr/>
          </p:nvSpPr>
          <p:spPr>
            <a:xfrm>
              <a:off x="4935854" y="3541267"/>
              <a:ext cx="791845" cy="771525"/>
            </a:xfrm>
            <a:custGeom>
              <a:avLst/>
              <a:gdLst/>
              <a:ahLst/>
              <a:cxnLst/>
              <a:rect l="l" t="t" r="r" b="b"/>
              <a:pathLst>
                <a:path w="791845" h="771525">
                  <a:moveTo>
                    <a:pt x="0" y="385699"/>
                  </a:moveTo>
                  <a:lnTo>
                    <a:pt x="197866" y="385699"/>
                  </a:lnTo>
                  <a:lnTo>
                    <a:pt x="197866" y="0"/>
                  </a:lnTo>
                  <a:lnTo>
                    <a:pt x="593598" y="0"/>
                  </a:lnTo>
                  <a:lnTo>
                    <a:pt x="593598" y="385699"/>
                  </a:lnTo>
                  <a:lnTo>
                    <a:pt x="791591" y="385699"/>
                  </a:lnTo>
                  <a:lnTo>
                    <a:pt x="395732" y="771398"/>
                  </a:lnTo>
                  <a:lnTo>
                    <a:pt x="0" y="385699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4218" y="4710532"/>
            <a:ext cx="363911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0" y="0"/>
                </a:moveTo>
                <a:lnTo>
                  <a:pt x="483654" y="0"/>
                </a:lnTo>
              </a:path>
            </a:pathLst>
          </a:custGeom>
          <a:ln w="15643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3" name="object 3"/>
          <p:cNvSpPr/>
          <p:nvPr/>
        </p:nvSpPr>
        <p:spPr>
          <a:xfrm>
            <a:off x="5938459" y="4710532"/>
            <a:ext cx="363911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0" y="0"/>
                </a:moveTo>
                <a:lnTo>
                  <a:pt x="483463" y="0"/>
                </a:lnTo>
              </a:path>
            </a:pathLst>
          </a:custGeom>
          <a:ln w="15643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4" name="object 4"/>
          <p:cNvSpPr txBox="1"/>
          <p:nvPr/>
        </p:nvSpPr>
        <p:spPr>
          <a:xfrm>
            <a:off x="6870013" y="4480792"/>
            <a:ext cx="466588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spc="163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295" spc="11" dirty="0">
                <a:latin typeface="Symbol" panose="05050102010706020507"/>
                <a:cs typeface="Symbol" panose="05050102010706020507"/>
              </a:rPr>
              <a:t></a:t>
            </a:r>
            <a:r>
              <a:rPr sz="2295" spc="-28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i="1" spc="4" dirty="0">
                <a:latin typeface="Times New Roman" panose="02020603050405020304"/>
                <a:cs typeface="Times New Roman" panose="02020603050405020304"/>
              </a:rPr>
              <a:t>t</a:t>
            </a:r>
            <a:endParaRPr sz="229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1988" y="4480792"/>
            <a:ext cx="343375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spc="8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295" spc="-13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11" dirty="0">
                <a:latin typeface="Symbol" panose="05050102010706020507"/>
                <a:cs typeface="Symbol" panose="05050102010706020507"/>
              </a:rPr>
              <a:t></a:t>
            </a:r>
            <a:endParaRPr sz="2295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38127" y="4369474"/>
            <a:ext cx="2131886" cy="734345"/>
          </a:xfrm>
          <a:prstGeom prst="rect">
            <a:avLst/>
          </a:prstGeom>
        </p:spPr>
        <p:txBody>
          <a:bodyPr vert="horz" wrap="square" lIns="0" tIns="3343" rIns="0" bIns="0" rtlCol="0">
            <a:spAutoFit/>
          </a:bodyPr>
          <a:lstStyle/>
          <a:p>
            <a:pPr>
              <a:lnSpc>
                <a:spcPts val="2165"/>
              </a:lnSpc>
              <a:spcBef>
                <a:spcPts val="25"/>
              </a:spcBef>
              <a:tabLst>
                <a:tab pos="1275080" algn="l"/>
                <a:tab pos="1689735" algn="l"/>
              </a:tabLst>
            </a:pPr>
            <a:r>
              <a:rPr sz="2295" spc="11" dirty="0">
                <a:latin typeface="Symbol" panose="05050102010706020507"/>
                <a:cs typeface="Symbol" panose="05050102010706020507"/>
              </a:rPr>
              <a:t></a:t>
            </a:r>
            <a:r>
              <a:rPr sz="2295" spc="1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440" spc="96" baseline="-30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030" spc="96" baseline="37000" dirty="0">
                <a:latin typeface="Times New Roman" panose="02020603050405020304"/>
                <a:cs typeface="Times New Roman" panose="02020603050405020304"/>
              </a:rPr>
              <a:t>c	</a:t>
            </a:r>
            <a:r>
              <a:rPr sz="2295" spc="11" dirty="0">
                <a:latin typeface="Symbol" panose="05050102010706020507"/>
                <a:cs typeface="Symbol" panose="05050102010706020507"/>
              </a:rPr>
              <a:t></a:t>
            </a:r>
            <a:endParaRPr sz="2295" dirty="0">
              <a:latin typeface="Symbol" panose="05050102010706020507"/>
              <a:cs typeface="Symbol" panose="05050102010706020507"/>
            </a:endParaRPr>
          </a:p>
          <a:p>
            <a:pPr>
              <a:lnSpc>
                <a:spcPts val="1465"/>
              </a:lnSpc>
              <a:tabLst>
                <a:tab pos="1227455" algn="l"/>
              </a:tabLst>
            </a:pPr>
            <a:r>
              <a:rPr sz="3440" spc="-157" baseline="-10000" dirty="0">
                <a:latin typeface="Symbol" panose="05050102010706020507"/>
                <a:cs typeface="Symbol" panose="05050102010706020507"/>
              </a:rPr>
              <a:t></a:t>
            </a:r>
            <a:r>
              <a:rPr sz="2295" spc="-104" dirty="0">
                <a:latin typeface="Times New Roman" panose="02020603050405020304"/>
                <a:cs typeface="Times New Roman" panose="02020603050405020304"/>
              </a:rPr>
              <a:t>min</a:t>
            </a:r>
            <a:r>
              <a:rPr sz="2295" spc="-10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-94" dirty="0">
                <a:latin typeface="Times New Roman" panose="02020603050405020304"/>
                <a:cs typeface="Times New Roman" panose="02020603050405020304"/>
              </a:rPr>
              <a:t>(min	</a:t>
            </a:r>
            <a:r>
              <a:rPr sz="3440" spc="78" baseline="-44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30" spc="78" baseline="-310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30" spc="129" baseline="-3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-8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440" spc="-11" baseline="-10000" dirty="0">
                <a:latin typeface="Symbol" panose="05050102010706020507"/>
                <a:cs typeface="Symbol" panose="05050102010706020507"/>
              </a:rPr>
              <a:t></a:t>
            </a:r>
            <a:r>
              <a:rPr sz="2295" i="1" spc="-8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95" i="1" spc="-10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11" dirty="0">
                <a:latin typeface="Symbol" panose="05050102010706020507"/>
                <a:cs typeface="Symbol" panose="05050102010706020507"/>
              </a:rPr>
              <a:t></a:t>
            </a:r>
            <a:endParaRPr sz="2295" dirty="0">
              <a:latin typeface="Symbol" panose="05050102010706020507"/>
              <a:cs typeface="Symbol" panose="05050102010706020507"/>
            </a:endParaRPr>
          </a:p>
          <a:p>
            <a:pPr>
              <a:lnSpc>
                <a:spcPts val="2050"/>
              </a:lnSpc>
              <a:tabLst>
                <a:tab pos="305435" algn="l"/>
                <a:tab pos="896620" algn="l"/>
                <a:tab pos="1689735" algn="l"/>
              </a:tabLst>
            </a:pPr>
            <a:r>
              <a:rPr sz="3440" spc="17" baseline="-25000" dirty="0">
                <a:latin typeface="Symbol" panose="05050102010706020507"/>
                <a:cs typeface="Symbol" panose="05050102010706020507"/>
              </a:rPr>
              <a:t></a:t>
            </a:r>
            <a:r>
              <a:rPr sz="3440" spc="17" baseline="-25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355" dirty="0">
                <a:latin typeface="Symbol" panose="05050102010706020507"/>
                <a:cs typeface="Symbol" panose="05050102010706020507"/>
              </a:rPr>
              <a:t></a:t>
            </a:r>
            <a:r>
              <a:rPr sz="1355" dirty="0">
                <a:latin typeface="Times New Roman" panose="02020603050405020304"/>
                <a:cs typeface="Times New Roman" panose="02020603050405020304"/>
              </a:rPr>
              <a:t>	c	</a:t>
            </a:r>
            <a:r>
              <a:rPr sz="3440" spc="17" baseline="-25000" dirty="0">
                <a:latin typeface="Symbol" panose="05050102010706020507"/>
                <a:cs typeface="Symbol" panose="05050102010706020507"/>
              </a:rPr>
              <a:t></a:t>
            </a:r>
            <a:endParaRPr sz="3440" baseline="-25000" dirty="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8668" y="4568739"/>
            <a:ext cx="358657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28575">
              <a:spcBef>
                <a:spcPts val="90"/>
              </a:spcBef>
            </a:pPr>
            <a:r>
              <a:rPr sz="3440" spc="78" baseline="-25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55" spc="53" dirty="0">
                <a:latin typeface="Times New Roman" panose="02020603050405020304"/>
                <a:cs typeface="Times New Roman" panose="02020603050405020304"/>
              </a:rPr>
              <a:t>c</a:t>
            </a:r>
            <a:endParaRPr sz="135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443" y="3726637"/>
            <a:ext cx="2838693" cy="917955"/>
          </a:xfrm>
          <a:prstGeom prst="rect">
            <a:avLst/>
          </a:prstGeom>
        </p:spPr>
        <p:txBody>
          <a:bodyPr vert="horz" wrap="square" lIns="0" tIns="95515" rIns="0" bIns="0" rtlCol="0">
            <a:spAutoFit/>
          </a:bodyPr>
          <a:lstStyle/>
          <a:p>
            <a:pPr marR="32385" algn="r">
              <a:spcBef>
                <a:spcPts val="885"/>
              </a:spcBef>
            </a:pPr>
            <a:endParaRPr lang="en-US" sz="3440" spc="62" baseline="-25000" dirty="0">
              <a:latin typeface="Times New Roman" panose="02020603050405020304"/>
              <a:cs typeface="Times New Roman" panose="02020603050405020304"/>
            </a:endParaRPr>
          </a:p>
          <a:p>
            <a:pPr marR="32385" algn="r">
              <a:spcBef>
                <a:spcPts val="885"/>
              </a:spcBef>
            </a:pPr>
            <a:r>
              <a:rPr sz="3440" spc="62" baseline="-25000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55" spc="42" dirty="0" err="1">
                <a:latin typeface="Times New Roman" panose="02020603050405020304"/>
                <a:cs typeface="Times New Roman" panose="02020603050405020304"/>
              </a:rPr>
              <a:t>c</a:t>
            </a:r>
            <a:endParaRPr sz="135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108" y="4480792"/>
            <a:ext cx="982845" cy="511711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0"/>
              </a:spcBef>
            </a:pPr>
            <a:r>
              <a:rPr sz="2295" spc="-22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spc="1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295" spc="-10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49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295" spc="-22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spc="11" dirty="0">
                <a:latin typeface="Times New Roman" panose="02020603050405020304"/>
                <a:cs typeface="Times New Roman" panose="02020603050405020304"/>
              </a:rPr>
              <a:t>n</a:t>
            </a:r>
            <a:endParaRPr sz="2295">
              <a:latin typeface="Times New Roman" panose="02020603050405020304"/>
              <a:cs typeface="Times New Roman" panose="02020603050405020304"/>
            </a:endParaRPr>
          </a:p>
          <a:p>
            <a:pPr marL="26670" algn="ctr">
              <a:lnSpc>
                <a:spcPts val="1390"/>
              </a:lnSpc>
              <a:tabLst>
                <a:tab pos="617220" algn="l"/>
              </a:tabLst>
            </a:pPr>
            <a:r>
              <a:rPr sz="1355" dirty="0">
                <a:latin typeface="Symbol" panose="05050102010706020507"/>
                <a:cs typeface="Symbol" panose="05050102010706020507"/>
              </a:rPr>
              <a:t></a:t>
            </a:r>
            <a:r>
              <a:rPr sz="1355" dirty="0">
                <a:latin typeface="Times New Roman" panose="02020603050405020304"/>
                <a:cs typeface="Times New Roman" panose="02020603050405020304"/>
              </a:rPr>
              <a:t>	c</a:t>
            </a:r>
            <a:endParaRPr sz="135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81449" y="4238367"/>
            <a:ext cx="2036349" cy="990964"/>
          </a:xfrm>
          <a:custGeom>
            <a:avLst/>
            <a:gdLst/>
            <a:ahLst/>
            <a:cxnLst/>
            <a:rect l="l" t="t" r="r" b="b"/>
            <a:pathLst>
              <a:path w="2890520" h="1317625">
                <a:moveTo>
                  <a:pt x="2890138" y="0"/>
                </a:moveTo>
                <a:lnTo>
                  <a:pt x="0" y="0"/>
                </a:lnTo>
                <a:lnTo>
                  <a:pt x="0" y="1317117"/>
                </a:lnTo>
                <a:lnTo>
                  <a:pt x="2890138" y="1317117"/>
                </a:lnTo>
                <a:lnTo>
                  <a:pt x="2890138" y="0"/>
                </a:ln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14" name="object 14"/>
          <p:cNvSpPr/>
          <p:nvPr/>
        </p:nvSpPr>
        <p:spPr>
          <a:xfrm>
            <a:off x="5243678" y="2801420"/>
            <a:ext cx="363911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0" y="0"/>
                </a:moveTo>
                <a:lnTo>
                  <a:pt x="483762" y="0"/>
                </a:lnTo>
              </a:path>
            </a:pathLst>
          </a:custGeom>
          <a:ln w="16288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15" name="object 15"/>
          <p:cNvSpPr txBox="1"/>
          <p:nvPr/>
        </p:nvSpPr>
        <p:spPr>
          <a:xfrm>
            <a:off x="5253732" y="2800524"/>
            <a:ext cx="230190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dirty="0">
                <a:latin typeface="Times New Roman" panose="02020603050405020304"/>
                <a:cs typeface="Times New Roman" panose="02020603050405020304"/>
              </a:rPr>
              <a:t>A</a:t>
            </a:r>
            <a:endParaRPr sz="22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98940" y="2765280"/>
            <a:ext cx="95036" cy="217553"/>
          </a:xfrm>
          <a:prstGeom prst="rect">
            <a:avLst/>
          </a:prstGeom>
        </p:spPr>
        <p:txBody>
          <a:bodyPr vert="horz" wrap="square" lIns="0" tIns="9074" rIns="0" bIns="0" rtlCol="0">
            <a:spAutoFit/>
          </a:bodyPr>
          <a:lstStyle/>
          <a:p>
            <a:pPr marL="9525">
              <a:spcBef>
                <a:spcPts val="70"/>
              </a:spcBef>
            </a:pPr>
            <a:r>
              <a:rPr sz="1355" spc="-8" dirty="0">
                <a:latin typeface="Times New Roman" panose="02020603050405020304"/>
                <a:cs typeface="Times New Roman" panose="02020603050405020304"/>
              </a:rPr>
              <a:t>c</a:t>
            </a:r>
            <a:endParaRPr sz="135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93278" y="2255494"/>
            <a:ext cx="240698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28575">
              <a:spcBef>
                <a:spcPts val="90"/>
              </a:spcBef>
            </a:pPr>
            <a:r>
              <a:rPr sz="3440" spc="56" baseline="-26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55" spc="38" dirty="0">
                <a:latin typeface="Times New Roman" panose="02020603050405020304"/>
                <a:cs typeface="Times New Roman" panose="02020603050405020304"/>
              </a:rPr>
              <a:t>c</a:t>
            </a:r>
            <a:endParaRPr sz="135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32377" y="2864504"/>
            <a:ext cx="685317" cy="217553"/>
          </a:xfrm>
          <a:prstGeom prst="rect">
            <a:avLst/>
          </a:prstGeom>
        </p:spPr>
        <p:txBody>
          <a:bodyPr vert="horz" wrap="square" lIns="0" tIns="9074" rIns="0" bIns="0" rtlCol="0">
            <a:spAutoFit/>
          </a:bodyPr>
          <a:lstStyle/>
          <a:p>
            <a:pPr marL="9525">
              <a:spcBef>
                <a:spcPts val="70"/>
              </a:spcBef>
              <a:tabLst>
                <a:tab pos="598805" algn="l"/>
              </a:tabLst>
            </a:pPr>
            <a:r>
              <a:rPr sz="1355" spc="-11" dirty="0">
                <a:latin typeface="Symbol" panose="05050102010706020507"/>
                <a:cs typeface="Symbol" panose="05050102010706020507"/>
              </a:rPr>
              <a:t></a:t>
            </a:r>
            <a:r>
              <a:rPr sz="1355" spc="-1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355" spc="-8" dirty="0">
                <a:latin typeface="Times New Roman" panose="02020603050405020304"/>
                <a:cs typeface="Times New Roman" panose="02020603050405020304"/>
              </a:rPr>
              <a:t>c</a:t>
            </a:r>
            <a:endParaRPr sz="135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20366" y="2569682"/>
            <a:ext cx="2287574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  <a:tabLst>
                <a:tab pos="2179955" algn="l"/>
              </a:tabLst>
            </a:pPr>
            <a:r>
              <a:rPr sz="2295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95" i="1" spc="6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dirty="0">
                <a:latin typeface="Symbol" panose="05050102010706020507"/>
                <a:cs typeface="Symbol" panose="05050102010706020507"/>
              </a:rPr>
              <a:t></a:t>
            </a:r>
            <a:r>
              <a:rPr sz="2295" spc="-3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163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295" dirty="0">
                <a:latin typeface="Symbol" panose="05050102010706020507"/>
                <a:cs typeface="Symbol" panose="05050102010706020507"/>
              </a:rPr>
              <a:t></a:t>
            </a:r>
            <a:r>
              <a:rPr sz="2295" spc="-20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-229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295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49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295" spc="-229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dirty="0">
                <a:latin typeface="Times New Roman" panose="02020603050405020304"/>
                <a:cs typeface="Times New Roman" panose="02020603050405020304"/>
              </a:rPr>
              <a:t>n	)</a:t>
            </a:r>
            <a:endParaRPr sz="2295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18199" y="3165095"/>
            <a:ext cx="614636" cy="599354"/>
            <a:chOff x="3685794" y="3078098"/>
            <a:chExt cx="817244" cy="796925"/>
          </a:xfrm>
        </p:grpSpPr>
        <p:sp>
          <p:nvSpPr>
            <p:cNvPr id="21" name="object 21"/>
            <p:cNvSpPr/>
            <p:nvPr/>
          </p:nvSpPr>
          <p:spPr>
            <a:xfrm>
              <a:off x="3698494" y="3090798"/>
              <a:ext cx="791845" cy="771525"/>
            </a:xfrm>
            <a:custGeom>
              <a:avLst/>
              <a:gdLst/>
              <a:ahLst/>
              <a:cxnLst/>
              <a:rect l="l" t="t" r="r" b="b"/>
              <a:pathLst>
                <a:path w="791845" h="771525">
                  <a:moveTo>
                    <a:pt x="395858" y="0"/>
                  </a:moveTo>
                  <a:lnTo>
                    <a:pt x="0" y="385825"/>
                  </a:lnTo>
                  <a:lnTo>
                    <a:pt x="197992" y="385825"/>
                  </a:lnTo>
                  <a:lnTo>
                    <a:pt x="197992" y="771525"/>
                  </a:lnTo>
                  <a:lnTo>
                    <a:pt x="593725" y="771525"/>
                  </a:lnTo>
                  <a:lnTo>
                    <a:pt x="593725" y="385825"/>
                  </a:lnTo>
                  <a:lnTo>
                    <a:pt x="791590" y="385825"/>
                  </a:lnTo>
                  <a:lnTo>
                    <a:pt x="395858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22" name="object 22"/>
            <p:cNvSpPr/>
            <p:nvPr/>
          </p:nvSpPr>
          <p:spPr>
            <a:xfrm>
              <a:off x="3698494" y="3090798"/>
              <a:ext cx="791845" cy="771525"/>
            </a:xfrm>
            <a:custGeom>
              <a:avLst/>
              <a:gdLst/>
              <a:ahLst/>
              <a:cxnLst/>
              <a:rect l="l" t="t" r="r" b="b"/>
              <a:pathLst>
                <a:path w="791845" h="771525">
                  <a:moveTo>
                    <a:pt x="791590" y="385825"/>
                  </a:moveTo>
                  <a:lnTo>
                    <a:pt x="593725" y="385825"/>
                  </a:lnTo>
                  <a:lnTo>
                    <a:pt x="593725" y="771525"/>
                  </a:lnTo>
                  <a:lnTo>
                    <a:pt x="197992" y="771525"/>
                  </a:lnTo>
                  <a:lnTo>
                    <a:pt x="197992" y="385825"/>
                  </a:lnTo>
                  <a:lnTo>
                    <a:pt x="0" y="385825"/>
                  </a:lnTo>
                  <a:lnTo>
                    <a:pt x="395858" y="0"/>
                  </a:lnTo>
                  <a:lnTo>
                    <a:pt x="791590" y="385825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25" name="object 16"/>
          <p:cNvSpPr txBox="1"/>
          <p:nvPr/>
        </p:nvSpPr>
        <p:spPr>
          <a:xfrm>
            <a:off x="1302204" y="3660697"/>
            <a:ext cx="2325303" cy="58307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19050">
              <a:lnSpc>
                <a:spcPct val="150000"/>
              </a:lnSpc>
              <a:spcBef>
                <a:spcPts val="75"/>
              </a:spcBef>
            </a:pPr>
            <a:r>
              <a:rPr lang="zh-CN" altLang="en-US" sz="2800" spc="-4" dirty="0">
                <a:latin typeface="Arial MT"/>
                <a:cs typeface="Arial MT"/>
              </a:rPr>
              <a:t>计算暗通道</a:t>
            </a:r>
            <a:endParaRPr lang="zh-CN" altLang="en-US" sz="2800" dirty="0">
              <a:latin typeface="Arial MT"/>
              <a:cs typeface="Arial MT"/>
            </a:endParaRPr>
          </a:p>
        </p:txBody>
      </p:sp>
      <p:sp>
        <p:nvSpPr>
          <p:cNvPr id="26" name="object 3"/>
          <p:cNvSpPr txBox="1"/>
          <p:nvPr/>
        </p:nvSpPr>
        <p:spPr>
          <a:xfrm>
            <a:off x="1302205" y="2562279"/>
            <a:ext cx="2179550" cy="397443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>
              <a:spcBef>
                <a:spcPts val="75"/>
              </a:spcBef>
            </a:pPr>
            <a:r>
              <a:rPr lang="zh-CN" altLang="en-US" sz="2800" b="1" spc="-8" dirty="0">
                <a:latin typeface="Arial MT"/>
                <a:cs typeface="Arial MT"/>
              </a:rPr>
              <a:t>透射率估计</a:t>
            </a:r>
            <a:endParaRPr lang="zh-CN" altLang="en-US" sz="2800" b="1" dirty="0">
              <a:latin typeface="Arial MT"/>
              <a:cs typeface="Arial MT"/>
            </a:endParaRPr>
          </a:p>
        </p:txBody>
      </p:sp>
      <p:sp>
        <p:nvSpPr>
          <p:cNvPr id="23" name="object 21"/>
          <p:cNvSpPr txBox="1"/>
          <p:nvPr/>
        </p:nvSpPr>
        <p:spPr>
          <a:xfrm>
            <a:off x="6730052" y="3910746"/>
            <a:ext cx="764117" cy="549735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3495" spc="71" dirty="0">
                <a:latin typeface="Symbol" panose="05050102010706020507"/>
                <a:cs typeface="Symbol" panose="05050102010706020507"/>
              </a:rPr>
              <a:t></a:t>
            </a:r>
            <a:r>
              <a:rPr sz="3495" spc="-323" dirty="0">
                <a:solidFill>
                  <a:srgbClr val="F89D1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95" spc="34" dirty="0">
                <a:latin typeface="Times New Roman" panose="02020603050405020304"/>
                <a:cs typeface="Times New Roman" panose="02020603050405020304"/>
              </a:rPr>
              <a:t>0</a:t>
            </a:r>
            <a:endParaRPr sz="3495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/>
              <a:t>(1)</a:t>
            </a:r>
            <a:r>
              <a:rPr lang="zh-CN" altLang="en-US" sz="4400" b="1" dirty="0"/>
              <a:t>估计大气光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借助暗通道图从有雾图像中来获取该值：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1) </a:t>
            </a:r>
            <a:r>
              <a:rPr lang="zh-CN" altLang="en-US" dirty="0"/>
              <a:t>从暗通道图中按照亮度大小取前</a:t>
            </a:r>
            <a:r>
              <a:rPr lang="en-US" altLang="zh-CN" dirty="0"/>
              <a:t>0.1%</a:t>
            </a:r>
            <a:r>
              <a:rPr lang="zh-CN" altLang="en-US" dirty="0"/>
              <a:t>的像素。</a:t>
            </a:r>
            <a:br>
              <a:rPr lang="zh-CN" altLang="en-US" dirty="0"/>
            </a:br>
            <a:r>
              <a:rPr lang="en-US" altLang="zh-CN" dirty="0"/>
              <a:t>2) </a:t>
            </a:r>
            <a:r>
              <a:rPr lang="zh-CN" altLang="en-US" dirty="0"/>
              <a:t>在这些位置中，在原始图像中寻找对应具有最高亮度点的值，作为</a:t>
            </a:r>
            <a:r>
              <a:rPr lang="en-US" altLang="zh-CN" dirty="0"/>
              <a:t>A</a:t>
            </a:r>
            <a:r>
              <a:rPr lang="zh-CN" altLang="en-US" dirty="0"/>
              <a:t>值。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30589" y="2477819"/>
            <a:ext cx="3336850" cy="2566618"/>
            <a:chOff x="1042987" y="2164270"/>
            <a:chExt cx="4436808" cy="341268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84347" y="2335275"/>
              <a:ext cx="2159000" cy="32416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47770" y="2347975"/>
              <a:ext cx="2232025" cy="431800"/>
            </a:xfrm>
            <a:custGeom>
              <a:avLst/>
              <a:gdLst/>
              <a:ahLst/>
              <a:cxnLst/>
              <a:rect l="l" t="t" r="r" b="b"/>
              <a:pathLst>
                <a:path w="2232025" h="431800">
                  <a:moveTo>
                    <a:pt x="0" y="215900"/>
                  </a:moveTo>
                  <a:lnTo>
                    <a:pt x="22677" y="172384"/>
                  </a:lnTo>
                  <a:lnTo>
                    <a:pt x="61606" y="144979"/>
                  </a:lnTo>
                  <a:lnTo>
                    <a:pt x="118032" y="119159"/>
                  </a:lnTo>
                  <a:lnTo>
                    <a:pt x="190624" y="95181"/>
                  </a:lnTo>
                  <a:lnTo>
                    <a:pt x="232566" y="83963"/>
                  </a:lnTo>
                  <a:lnTo>
                    <a:pt x="278052" y="73302"/>
                  </a:lnTo>
                  <a:lnTo>
                    <a:pt x="326913" y="63230"/>
                  </a:lnTo>
                  <a:lnTo>
                    <a:pt x="378985" y="53778"/>
                  </a:lnTo>
                  <a:lnTo>
                    <a:pt x="434101" y="44981"/>
                  </a:lnTo>
                  <a:lnTo>
                    <a:pt x="492093" y="36868"/>
                  </a:lnTo>
                  <a:lnTo>
                    <a:pt x="552798" y="29473"/>
                  </a:lnTo>
                  <a:lnTo>
                    <a:pt x="616047" y="22828"/>
                  </a:lnTo>
                  <a:lnTo>
                    <a:pt x="681674" y="16964"/>
                  </a:lnTo>
                  <a:lnTo>
                    <a:pt x="749514" y="11914"/>
                  </a:lnTo>
                  <a:lnTo>
                    <a:pt x="819399" y="7711"/>
                  </a:lnTo>
                  <a:lnTo>
                    <a:pt x="891165" y="4385"/>
                  </a:lnTo>
                  <a:lnTo>
                    <a:pt x="964643" y="1970"/>
                  </a:lnTo>
                  <a:lnTo>
                    <a:pt x="1039669" y="498"/>
                  </a:lnTo>
                  <a:lnTo>
                    <a:pt x="1116076" y="0"/>
                  </a:lnTo>
                  <a:lnTo>
                    <a:pt x="1192481" y="498"/>
                  </a:lnTo>
                  <a:lnTo>
                    <a:pt x="1267505" y="1970"/>
                  </a:lnTo>
                  <a:lnTo>
                    <a:pt x="1340981" y="4385"/>
                  </a:lnTo>
                  <a:lnTo>
                    <a:pt x="1412742" y="7711"/>
                  </a:lnTo>
                  <a:lnTo>
                    <a:pt x="1482623" y="11914"/>
                  </a:lnTo>
                  <a:lnTo>
                    <a:pt x="1550457" y="16964"/>
                  </a:lnTo>
                  <a:lnTo>
                    <a:pt x="1616078" y="22828"/>
                  </a:lnTo>
                  <a:lnTo>
                    <a:pt x="1679321" y="29473"/>
                  </a:lnTo>
                  <a:lnTo>
                    <a:pt x="1740017" y="36868"/>
                  </a:lnTo>
                  <a:lnTo>
                    <a:pt x="1798003" y="44981"/>
                  </a:lnTo>
                  <a:lnTo>
                    <a:pt x="1853110" y="53778"/>
                  </a:lnTo>
                  <a:lnTo>
                    <a:pt x="1905174" y="63230"/>
                  </a:lnTo>
                  <a:lnTo>
                    <a:pt x="1954028" y="73302"/>
                  </a:lnTo>
                  <a:lnTo>
                    <a:pt x="1999505" y="83963"/>
                  </a:lnTo>
                  <a:lnTo>
                    <a:pt x="2041440" y="95181"/>
                  </a:lnTo>
                  <a:lnTo>
                    <a:pt x="2079667" y="106924"/>
                  </a:lnTo>
                  <a:lnTo>
                    <a:pt x="2144329" y="131855"/>
                  </a:lnTo>
                  <a:lnTo>
                    <a:pt x="2192162" y="158500"/>
                  </a:lnTo>
                  <a:lnTo>
                    <a:pt x="2221837" y="186600"/>
                  </a:lnTo>
                  <a:lnTo>
                    <a:pt x="2232025" y="215900"/>
                  </a:lnTo>
                  <a:lnTo>
                    <a:pt x="2229450" y="230668"/>
                  </a:lnTo>
                  <a:lnTo>
                    <a:pt x="2221837" y="245172"/>
                  </a:lnTo>
                  <a:lnTo>
                    <a:pt x="2192162" y="273255"/>
                  </a:lnTo>
                  <a:lnTo>
                    <a:pt x="2144329" y="299890"/>
                  </a:lnTo>
                  <a:lnTo>
                    <a:pt x="2079667" y="324818"/>
                  </a:lnTo>
                  <a:lnTo>
                    <a:pt x="2041440" y="336562"/>
                  </a:lnTo>
                  <a:lnTo>
                    <a:pt x="1999505" y="347782"/>
                  </a:lnTo>
                  <a:lnTo>
                    <a:pt x="1954028" y="358446"/>
                  </a:lnTo>
                  <a:lnTo>
                    <a:pt x="1905174" y="368522"/>
                  </a:lnTo>
                  <a:lnTo>
                    <a:pt x="1853110" y="377977"/>
                  </a:lnTo>
                  <a:lnTo>
                    <a:pt x="1798003" y="386780"/>
                  </a:lnTo>
                  <a:lnTo>
                    <a:pt x="1740017" y="394898"/>
                  </a:lnTo>
                  <a:lnTo>
                    <a:pt x="1679320" y="402298"/>
                  </a:lnTo>
                  <a:lnTo>
                    <a:pt x="1616078" y="408949"/>
                  </a:lnTo>
                  <a:lnTo>
                    <a:pt x="1550457" y="414817"/>
                  </a:lnTo>
                  <a:lnTo>
                    <a:pt x="1482623" y="419872"/>
                  </a:lnTo>
                  <a:lnTo>
                    <a:pt x="1412742" y="424080"/>
                  </a:lnTo>
                  <a:lnTo>
                    <a:pt x="1340981" y="427409"/>
                  </a:lnTo>
                  <a:lnTo>
                    <a:pt x="1267505" y="429826"/>
                  </a:lnTo>
                  <a:lnTo>
                    <a:pt x="1192481" y="431301"/>
                  </a:lnTo>
                  <a:lnTo>
                    <a:pt x="1116076" y="431800"/>
                  </a:lnTo>
                  <a:lnTo>
                    <a:pt x="1039669" y="431301"/>
                  </a:lnTo>
                  <a:lnTo>
                    <a:pt x="964643" y="429826"/>
                  </a:lnTo>
                  <a:lnTo>
                    <a:pt x="891165" y="427409"/>
                  </a:lnTo>
                  <a:lnTo>
                    <a:pt x="819399" y="424080"/>
                  </a:lnTo>
                  <a:lnTo>
                    <a:pt x="749514" y="419872"/>
                  </a:lnTo>
                  <a:lnTo>
                    <a:pt x="681674" y="414817"/>
                  </a:lnTo>
                  <a:lnTo>
                    <a:pt x="616047" y="408949"/>
                  </a:lnTo>
                  <a:lnTo>
                    <a:pt x="552798" y="402298"/>
                  </a:lnTo>
                  <a:lnTo>
                    <a:pt x="492093" y="394898"/>
                  </a:lnTo>
                  <a:lnTo>
                    <a:pt x="434101" y="386780"/>
                  </a:lnTo>
                  <a:lnTo>
                    <a:pt x="378985" y="377977"/>
                  </a:lnTo>
                  <a:lnTo>
                    <a:pt x="326913" y="368522"/>
                  </a:lnTo>
                  <a:lnTo>
                    <a:pt x="278052" y="358446"/>
                  </a:lnTo>
                  <a:lnTo>
                    <a:pt x="232566" y="347782"/>
                  </a:lnTo>
                  <a:lnTo>
                    <a:pt x="190624" y="336562"/>
                  </a:lnTo>
                  <a:lnTo>
                    <a:pt x="152390" y="324818"/>
                  </a:lnTo>
                  <a:lnTo>
                    <a:pt x="87715" y="299890"/>
                  </a:lnTo>
                  <a:lnTo>
                    <a:pt x="39871" y="273255"/>
                  </a:lnTo>
                  <a:lnTo>
                    <a:pt x="10189" y="245172"/>
                  </a:lnTo>
                  <a:lnTo>
                    <a:pt x="0" y="215900"/>
                  </a:lnTo>
                  <a:close/>
                </a:path>
              </a:pathLst>
            </a:custGeom>
            <a:ln w="3810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7" name="object 7"/>
            <p:cNvSpPr/>
            <p:nvPr/>
          </p:nvSpPr>
          <p:spPr>
            <a:xfrm>
              <a:off x="2051050" y="2527172"/>
              <a:ext cx="2325370" cy="226695"/>
            </a:xfrm>
            <a:custGeom>
              <a:avLst/>
              <a:gdLst/>
              <a:ahLst/>
              <a:cxnLst/>
              <a:rect l="l" t="t" r="r" b="b"/>
              <a:pathLst>
                <a:path w="2325370" h="226694">
                  <a:moveTo>
                    <a:pt x="185293" y="35940"/>
                  </a:moveTo>
                  <a:lnTo>
                    <a:pt x="0" y="141097"/>
                  </a:lnTo>
                  <a:lnTo>
                    <a:pt x="195199" y="226187"/>
                  </a:lnTo>
                  <a:lnTo>
                    <a:pt x="131124" y="154177"/>
                  </a:lnTo>
                  <a:lnTo>
                    <a:pt x="115188" y="154177"/>
                  </a:lnTo>
                  <a:lnTo>
                    <a:pt x="113156" y="116077"/>
                  </a:lnTo>
                  <a:lnTo>
                    <a:pt x="128406" y="115276"/>
                  </a:lnTo>
                  <a:lnTo>
                    <a:pt x="185293" y="35940"/>
                  </a:lnTo>
                  <a:close/>
                </a:path>
                <a:path w="2325370" h="226694">
                  <a:moveTo>
                    <a:pt x="114173" y="135127"/>
                  </a:moveTo>
                  <a:lnTo>
                    <a:pt x="115188" y="154177"/>
                  </a:lnTo>
                  <a:lnTo>
                    <a:pt x="130412" y="153378"/>
                  </a:lnTo>
                  <a:lnTo>
                    <a:pt x="114173" y="135127"/>
                  </a:lnTo>
                  <a:close/>
                </a:path>
                <a:path w="2325370" h="226694">
                  <a:moveTo>
                    <a:pt x="130412" y="153378"/>
                  </a:moveTo>
                  <a:lnTo>
                    <a:pt x="115188" y="154177"/>
                  </a:lnTo>
                  <a:lnTo>
                    <a:pt x="131124" y="154177"/>
                  </a:lnTo>
                  <a:lnTo>
                    <a:pt x="130412" y="153378"/>
                  </a:lnTo>
                  <a:close/>
                </a:path>
                <a:path w="2325370" h="226694">
                  <a:moveTo>
                    <a:pt x="2322957" y="0"/>
                  </a:moveTo>
                  <a:lnTo>
                    <a:pt x="128406" y="115276"/>
                  </a:lnTo>
                  <a:lnTo>
                    <a:pt x="114173" y="135127"/>
                  </a:lnTo>
                  <a:lnTo>
                    <a:pt x="130412" y="153378"/>
                  </a:lnTo>
                  <a:lnTo>
                    <a:pt x="2324989" y="38100"/>
                  </a:lnTo>
                  <a:lnTo>
                    <a:pt x="2322957" y="0"/>
                  </a:lnTo>
                  <a:close/>
                </a:path>
                <a:path w="2325370" h="226694">
                  <a:moveTo>
                    <a:pt x="128406" y="115276"/>
                  </a:moveTo>
                  <a:lnTo>
                    <a:pt x="113156" y="116077"/>
                  </a:lnTo>
                  <a:lnTo>
                    <a:pt x="114172" y="135127"/>
                  </a:lnTo>
                  <a:lnTo>
                    <a:pt x="128406" y="115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2987" y="2164270"/>
              <a:ext cx="1008062" cy="100806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588770" y="5110441"/>
            <a:ext cx="1653284" cy="31742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000" dirty="0">
                <a:latin typeface="Arial MT"/>
                <a:cs typeface="Arial MT"/>
              </a:rPr>
              <a:t>有雾图像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52368" y="2601655"/>
            <a:ext cx="1707323" cy="2442786"/>
            <a:chOff x="6124575" y="2328926"/>
            <a:chExt cx="2270125" cy="32480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69025" y="2335276"/>
              <a:ext cx="2159000" cy="32416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43625" y="2347976"/>
              <a:ext cx="2232025" cy="431800"/>
            </a:xfrm>
            <a:custGeom>
              <a:avLst/>
              <a:gdLst/>
              <a:ahLst/>
              <a:cxnLst/>
              <a:rect l="l" t="t" r="r" b="b"/>
              <a:pathLst>
                <a:path w="2232025" h="431800">
                  <a:moveTo>
                    <a:pt x="0" y="215900"/>
                  </a:moveTo>
                  <a:lnTo>
                    <a:pt x="22671" y="172384"/>
                  </a:lnTo>
                  <a:lnTo>
                    <a:pt x="61593" y="144979"/>
                  </a:lnTo>
                  <a:lnTo>
                    <a:pt x="118009" y="119159"/>
                  </a:lnTo>
                  <a:lnTo>
                    <a:pt x="190590" y="95181"/>
                  </a:lnTo>
                  <a:lnTo>
                    <a:pt x="232528" y="83963"/>
                  </a:lnTo>
                  <a:lnTo>
                    <a:pt x="278008" y="73302"/>
                  </a:lnTo>
                  <a:lnTo>
                    <a:pt x="326866" y="63230"/>
                  </a:lnTo>
                  <a:lnTo>
                    <a:pt x="378934" y="53778"/>
                  </a:lnTo>
                  <a:lnTo>
                    <a:pt x="434047" y="44981"/>
                  </a:lnTo>
                  <a:lnTo>
                    <a:pt x="492038" y="36868"/>
                  </a:lnTo>
                  <a:lnTo>
                    <a:pt x="552741" y="29473"/>
                  </a:lnTo>
                  <a:lnTo>
                    <a:pt x="615991" y="22828"/>
                  </a:lnTo>
                  <a:lnTo>
                    <a:pt x="681620" y="16964"/>
                  </a:lnTo>
                  <a:lnTo>
                    <a:pt x="749464" y="11914"/>
                  </a:lnTo>
                  <a:lnTo>
                    <a:pt x="819355" y="7711"/>
                  </a:lnTo>
                  <a:lnTo>
                    <a:pt x="891128" y="4385"/>
                  </a:lnTo>
                  <a:lnTo>
                    <a:pt x="964617" y="1970"/>
                  </a:lnTo>
                  <a:lnTo>
                    <a:pt x="1039654" y="498"/>
                  </a:lnTo>
                  <a:lnTo>
                    <a:pt x="1116076" y="0"/>
                  </a:lnTo>
                  <a:lnTo>
                    <a:pt x="1192481" y="498"/>
                  </a:lnTo>
                  <a:lnTo>
                    <a:pt x="1267505" y="1970"/>
                  </a:lnTo>
                  <a:lnTo>
                    <a:pt x="1340981" y="4385"/>
                  </a:lnTo>
                  <a:lnTo>
                    <a:pt x="1412742" y="7711"/>
                  </a:lnTo>
                  <a:lnTo>
                    <a:pt x="1482623" y="11914"/>
                  </a:lnTo>
                  <a:lnTo>
                    <a:pt x="1550457" y="16964"/>
                  </a:lnTo>
                  <a:lnTo>
                    <a:pt x="1616078" y="22828"/>
                  </a:lnTo>
                  <a:lnTo>
                    <a:pt x="1679320" y="29473"/>
                  </a:lnTo>
                  <a:lnTo>
                    <a:pt x="1740017" y="36868"/>
                  </a:lnTo>
                  <a:lnTo>
                    <a:pt x="1798003" y="44981"/>
                  </a:lnTo>
                  <a:lnTo>
                    <a:pt x="1853110" y="53778"/>
                  </a:lnTo>
                  <a:lnTo>
                    <a:pt x="1905174" y="63230"/>
                  </a:lnTo>
                  <a:lnTo>
                    <a:pt x="1954028" y="73302"/>
                  </a:lnTo>
                  <a:lnTo>
                    <a:pt x="1999505" y="83963"/>
                  </a:lnTo>
                  <a:lnTo>
                    <a:pt x="2041440" y="95181"/>
                  </a:lnTo>
                  <a:lnTo>
                    <a:pt x="2079667" y="106924"/>
                  </a:lnTo>
                  <a:lnTo>
                    <a:pt x="2144329" y="131855"/>
                  </a:lnTo>
                  <a:lnTo>
                    <a:pt x="2192162" y="158500"/>
                  </a:lnTo>
                  <a:lnTo>
                    <a:pt x="2221837" y="186600"/>
                  </a:lnTo>
                  <a:lnTo>
                    <a:pt x="2232025" y="215900"/>
                  </a:lnTo>
                  <a:lnTo>
                    <a:pt x="2229450" y="230668"/>
                  </a:lnTo>
                  <a:lnTo>
                    <a:pt x="2221837" y="245172"/>
                  </a:lnTo>
                  <a:lnTo>
                    <a:pt x="2192162" y="273255"/>
                  </a:lnTo>
                  <a:lnTo>
                    <a:pt x="2144329" y="299890"/>
                  </a:lnTo>
                  <a:lnTo>
                    <a:pt x="2079667" y="324818"/>
                  </a:lnTo>
                  <a:lnTo>
                    <a:pt x="2041440" y="336562"/>
                  </a:lnTo>
                  <a:lnTo>
                    <a:pt x="1999505" y="347782"/>
                  </a:lnTo>
                  <a:lnTo>
                    <a:pt x="1954028" y="358446"/>
                  </a:lnTo>
                  <a:lnTo>
                    <a:pt x="1905174" y="368522"/>
                  </a:lnTo>
                  <a:lnTo>
                    <a:pt x="1853110" y="377977"/>
                  </a:lnTo>
                  <a:lnTo>
                    <a:pt x="1798003" y="386780"/>
                  </a:lnTo>
                  <a:lnTo>
                    <a:pt x="1740017" y="394898"/>
                  </a:lnTo>
                  <a:lnTo>
                    <a:pt x="1679320" y="402298"/>
                  </a:lnTo>
                  <a:lnTo>
                    <a:pt x="1616078" y="408949"/>
                  </a:lnTo>
                  <a:lnTo>
                    <a:pt x="1550457" y="414817"/>
                  </a:lnTo>
                  <a:lnTo>
                    <a:pt x="1482623" y="419872"/>
                  </a:lnTo>
                  <a:lnTo>
                    <a:pt x="1412742" y="424080"/>
                  </a:lnTo>
                  <a:lnTo>
                    <a:pt x="1340981" y="427409"/>
                  </a:lnTo>
                  <a:lnTo>
                    <a:pt x="1267505" y="429826"/>
                  </a:lnTo>
                  <a:lnTo>
                    <a:pt x="1192481" y="431301"/>
                  </a:lnTo>
                  <a:lnTo>
                    <a:pt x="1116076" y="431800"/>
                  </a:lnTo>
                  <a:lnTo>
                    <a:pt x="1039654" y="431301"/>
                  </a:lnTo>
                  <a:lnTo>
                    <a:pt x="964617" y="429826"/>
                  </a:lnTo>
                  <a:lnTo>
                    <a:pt x="891128" y="427409"/>
                  </a:lnTo>
                  <a:lnTo>
                    <a:pt x="819355" y="424080"/>
                  </a:lnTo>
                  <a:lnTo>
                    <a:pt x="749464" y="419872"/>
                  </a:lnTo>
                  <a:lnTo>
                    <a:pt x="681620" y="414817"/>
                  </a:lnTo>
                  <a:lnTo>
                    <a:pt x="615991" y="408949"/>
                  </a:lnTo>
                  <a:lnTo>
                    <a:pt x="552741" y="402298"/>
                  </a:lnTo>
                  <a:lnTo>
                    <a:pt x="492038" y="394898"/>
                  </a:lnTo>
                  <a:lnTo>
                    <a:pt x="434047" y="386780"/>
                  </a:lnTo>
                  <a:lnTo>
                    <a:pt x="378934" y="377977"/>
                  </a:lnTo>
                  <a:lnTo>
                    <a:pt x="326866" y="368522"/>
                  </a:lnTo>
                  <a:lnTo>
                    <a:pt x="278008" y="358446"/>
                  </a:lnTo>
                  <a:lnTo>
                    <a:pt x="232528" y="347782"/>
                  </a:lnTo>
                  <a:lnTo>
                    <a:pt x="190590" y="336562"/>
                  </a:lnTo>
                  <a:lnTo>
                    <a:pt x="152362" y="324818"/>
                  </a:lnTo>
                  <a:lnTo>
                    <a:pt x="87697" y="299890"/>
                  </a:lnTo>
                  <a:lnTo>
                    <a:pt x="39862" y="273255"/>
                  </a:lnTo>
                  <a:lnTo>
                    <a:pt x="10187" y="245172"/>
                  </a:lnTo>
                  <a:lnTo>
                    <a:pt x="0" y="215900"/>
                  </a:lnTo>
                  <a:close/>
                </a:path>
              </a:pathLst>
            </a:custGeom>
            <a:ln w="3810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66695" y="5111586"/>
            <a:ext cx="1642852" cy="31742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000" spc="-4" dirty="0">
                <a:latin typeface="Arial MT"/>
                <a:cs typeface="Arial MT"/>
              </a:rPr>
              <a:t>暗通道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85799" y="2190472"/>
            <a:ext cx="1623748" cy="31742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000" dirty="0">
                <a:latin typeface="Arial MT"/>
                <a:cs typeface="Arial MT"/>
              </a:rPr>
              <a:t>亮的像素</a:t>
            </a:r>
            <a:endParaRPr lang="zh-CN" altLang="en-US" sz="200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30588" y="2032003"/>
            <a:ext cx="757097" cy="316939"/>
          </a:xfrm>
          <a:prstGeom prst="rect">
            <a:avLst/>
          </a:prstGeom>
        </p:spPr>
        <p:txBody>
          <a:bodyPr vert="horz" wrap="square" lIns="0" tIns="9074" rIns="0" bIns="0" rtlCol="0">
            <a:spAutoFit/>
          </a:bodyPr>
          <a:lstStyle/>
          <a:p>
            <a:pPr marL="9525" algn="ctr">
              <a:spcBef>
                <a:spcPts val="70"/>
              </a:spcBef>
            </a:pPr>
            <a:r>
              <a:rPr sz="2000" b="1" spc="-4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4" dirty="0">
                <a:latin typeface="Arial" panose="020B0604020202020204"/>
                <a:cs typeface="Arial" panose="020B0604020202020204"/>
              </a:rPr>
              <a:t>:</a:t>
            </a:r>
            <a:r>
              <a:rPr sz="2000" spc="-34" dirty="0"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2000" dirty="0">
                <a:latin typeface="Arial" panose="020B0604020202020204"/>
                <a:cs typeface="Arial" panose="020B0604020202020204"/>
              </a:rPr>
              <a:t>雾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/>
              <a:t>(1)</a:t>
            </a:r>
            <a:r>
              <a:rPr lang="zh-CN" altLang="en-US" sz="4400" b="1" dirty="0"/>
              <a:t>估计大气光</a:t>
            </a:r>
            <a:r>
              <a:rPr lang="en-US" altLang="zh-CN" dirty="0"/>
              <a:t>A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47076" y="3346371"/>
            <a:ext cx="2660271" cy="1772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0761" y="3346371"/>
            <a:ext cx="2660271" cy="17727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35470" y="5119122"/>
            <a:ext cx="1543222" cy="320796"/>
          </a:xfrm>
          <a:prstGeom prst="rect">
            <a:avLst/>
          </a:prstGeom>
        </p:spPr>
        <p:txBody>
          <a:bodyPr vert="horz" wrap="square" lIns="0" tIns="12894" rIns="0" bIns="0" rtlCol="0">
            <a:spAutoFit/>
          </a:bodyPr>
          <a:lstStyle/>
          <a:p>
            <a:pPr marL="9525">
              <a:spcBef>
                <a:spcPts val="100"/>
              </a:spcBef>
              <a:tabLst>
                <a:tab pos="612140" algn="l"/>
              </a:tabLst>
            </a:pPr>
            <a:r>
              <a:rPr lang="zh-CN" altLang="en-US" sz="2000" spc="-4" dirty="0">
                <a:latin typeface="Arial MT"/>
                <a:cs typeface="Arial MT"/>
              </a:rPr>
              <a:t>输入图像</a:t>
            </a:r>
            <a:r>
              <a:rPr sz="2400" spc="-45" baseline="-5000" dirty="0">
                <a:latin typeface="Times New Roman" panose="02020603050405020304"/>
                <a:cs typeface="Times New Roman" panose="02020603050405020304"/>
              </a:rPr>
              <a:t>I</a:t>
            </a:r>
            <a:endParaRPr sz="2400" baseline="-5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9486" y="5097984"/>
            <a:ext cx="1197275" cy="317904"/>
          </a:xfrm>
          <a:prstGeom prst="rect">
            <a:avLst/>
          </a:prstGeom>
        </p:spPr>
        <p:txBody>
          <a:bodyPr vert="horz" wrap="square" lIns="0" tIns="10029" rIns="0" bIns="0" rtlCol="0">
            <a:spAutoFit/>
          </a:bodyPr>
          <a:lstStyle/>
          <a:p>
            <a:pPr marL="9525">
              <a:spcBef>
                <a:spcPts val="80"/>
              </a:spcBef>
            </a:pPr>
            <a:r>
              <a:rPr lang="zh-CN" altLang="en-US" sz="2000" spc="-4" dirty="0">
                <a:latin typeface="Arial MT"/>
                <a:cs typeface="Arial MT"/>
              </a:rPr>
              <a:t>估计</a:t>
            </a:r>
            <a:r>
              <a:rPr sz="2800" i="1" spc="39" baseline="-3000" dirty="0">
                <a:latin typeface="Times New Roman" panose="02020603050405020304"/>
                <a:cs typeface="Times New Roman" panose="02020603050405020304"/>
              </a:rPr>
              <a:t>t</a:t>
            </a:r>
            <a:endParaRPr sz="2800" baseline="-3000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17583" y="1704343"/>
            <a:ext cx="1246943" cy="1246943"/>
            <a:chOff x="7142035" y="1135824"/>
            <a:chExt cx="1657985" cy="165798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0673" y="1164462"/>
              <a:ext cx="1600707" cy="160070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56322" y="1150111"/>
              <a:ext cx="1629410" cy="1629410"/>
            </a:xfrm>
            <a:custGeom>
              <a:avLst/>
              <a:gdLst/>
              <a:ahLst/>
              <a:cxnLst/>
              <a:rect l="l" t="t" r="r" b="b"/>
              <a:pathLst>
                <a:path w="1629409" h="1629410">
                  <a:moveTo>
                    <a:pt x="0" y="1629282"/>
                  </a:moveTo>
                  <a:lnTo>
                    <a:pt x="1629282" y="1629282"/>
                  </a:lnTo>
                  <a:lnTo>
                    <a:pt x="1629282" y="0"/>
                  </a:lnTo>
                  <a:lnTo>
                    <a:pt x="0" y="0"/>
                  </a:lnTo>
                  <a:lnTo>
                    <a:pt x="0" y="1629282"/>
                  </a:lnTo>
                  <a:close/>
                </a:path>
              </a:pathLst>
            </a:custGeom>
            <a:ln w="28575">
              <a:solidFill>
                <a:srgbClr val="F89D1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678915" y="2987246"/>
            <a:ext cx="820948" cy="1223541"/>
            <a:chOff x="6026911" y="2841625"/>
            <a:chExt cx="1091565" cy="1626870"/>
          </a:xfrm>
        </p:grpSpPr>
        <p:sp>
          <p:nvSpPr>
            <p:cNvPr id="19" name="object 19"/>
            <p:cNvSpPr/>
            <p:nvPr/>
          </p:nvSpPr>
          <p:spPr>
            <a:xfrm>
              <a:off x="6045961" y="3971518"/>
              <a:ext cx="478155" cy="478155"/>
            </a:xfrm>
            <a:custGeom>
              <a:avLst/>
              <a:gdLst/>
              <a:ahLst/>
              <a:cxnLst/>
              <a:rect l="l" t="t" r="r" b="b"/>
              <a:pathLst>
                <a:path w="478154" h="478154">
                  <a:moveTo>
                    <a:pt x="0" y="477672"/>
                  </a:moveTo>
                  <a:lnTo>
                    <a:pt x="477672" y="477672"/>
                  </a:lnTo>
                  <a:lnTo>
                    <a:pt x="477672" y="0"/>
                  </a:lnTo>
                  <a:lnTo>
                    <a:pt x="0" y="0"/>
                  </a:lnTo>
                  <a:lnTo>
                    <a:pt x="0" y="477672"/>
                  </a:lnTo>
                  <a:close/>
                </a:path>
              </a:pathLst>
            </a:custGeom>
            <a:ln w="38100">
              <a:solidFill>
                <a:srgbClr val="F89D1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20" name="object 20"/>
            <p:cNvSpPr/>
            <p:nvPr/>
          </p:nvSpPr>
          <p:spPr>
            <a:xfrm>
              <a:off x="6510781" y="2841625"/>
              <a:ext cx="607695" cy="1078865"/>
            </a:xfrm>
            <a:custGeom>
              <a:avLst/>
              <a:gdLst/>
              <a:ahLst/>
              <a:cxnLst/>
              <a:rect l="l" t="t" r="r" b="b"/>
              <a:pathLst>
                <a:path w="607695" h="1078864">
                  <a:moveTo>
                    <a:pt x="552108" y="100090"/>
                  </a:moveTo>
                  <a:lnTo>
                    <a:pt x="528240" y="104174"/>
                  </a:lnTo>
                  <a:lnTo>
                    <a:pt x="0" y="1059942"/>
                  </a:lnTo>
                  <a:lnTo>
                    <a:pt x="33274" y="1078357"/>
                  </a:lnTo>
                  <a:lnTo>
                    <a:pt x="561491" y="122629"/>
                  </a:lnTo>
                  <a:lnTo>
                    <a:pt x="552229" y="100158"/>
                  </a:lnTo>
                  <a:close/>
                </a:path>
                <a:path w="607695" h="1078864">
                  <a:moveTo>
                    <a:pt x="603320" y="100075"/>
                  </a:moveTo>
                  <a:lnTo>
                    <a:pt x="552196" y="100075"/>
                  </a:lnTo>
                  <a:lnTo>
                    <a:pt x="568833" y="109347"/>
                  </a:lnTo>
                  <a:lnTo>
                    <a:pt x="561491" y="122629"/>
                  </a:lnTo>
                  <a:lnTo>
                    <a:pt x="598677" y="212851"/>
                  </a:lnTo>
                  <a:lnTo>
                    <a:pt x="603320" y="100075"/>
                  </a:lnTo>
                  <a:close/>
                </a:path>
                <a:path w="607695" h="1078864">
                  <a:moveTo>
                    <a:pt x="552229" y="100158"/>
                  </a:moveTo>
                  <a:lnTo>
                    <a:pt x="561491" y="122629"/>
                  </a:lnTo>
                  <a:lnTo>
                    <a:pt x="568833" y="109347"/>
                  </a:lnTo>
                  <a:lnTo>
                    <a:pt x="552229" y="100158"/>
                  </a:lnTo>
                  <a:close/>
                </a:path>
                <a:path w="607695" h="1078864">
                  <a:moveTo>
                    <a:pt x="607441" y="0"/>
                  </a:moveTo>
                  <a:lnTo>
                    <a:pt x="431926" y="120650"/>
                  </a:lnTo>
                  <a:lnTo>
                    <a:pt x="528240" y="104174"/>
                  </a:lnTo>
                  <a:lnTo>
                    <a:pt x="535559" y="90932"/>
                  </a:lnTo>
                  <a:lnTo>
                    <a:pt x="603697" y="90932"/>
                  </a:lnTo>
                  <a:lnTo>
                    <a:pt x="607441" y="0"/>
                  </a:lnTo>
                  <a:close/>
                </a:path>
                <a:path w="607695" h="1078864">
                  <a:moveTo>
                    <a:pt x="535559" y="90932"/>
                  </a:moveTo>
                  <a:lnTo>
                    <a:pt x="528240" y="104174"/>
                  </a:lnTo>
                  <a:lnTo>
                    <a:pt x="552108" y="100090"/>
                  </a:lnTo>
                  <a:lnTo>
                    <a:pt x="535559" y="90932"/>
                  </a:lnTo>
                  <a:close/>
                </a:path>
                <a:path w="607695" h="1078864">
                  <a:moveTo>
                    <a:pt x="603697" y="90932"/>
                  </a:moveTo>
                  <a:lnTo>
                    <a:pt x="535559" y="90932"/>
                  </a:lnTo>
                  <a:lnTo>
                    <a:pt x="552108" y="100090"/>
                  </a:lnTo>
                  <a:lnTo>
                    <a:pt x="603320" y="100075"/>
                  </a:lnTo>
                  <a:lnTo>
                    <a:pt x="603697" y="909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23" name="object 14"/>
          <p:cNvSpPr/>
          <p:nvPr/>
        </p:nvSpPr>
        <p:spPr>
          <a:xfrm>
            <a:off x="5411061" y="2530329"/>
            <a:ext cx="363911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0" y="0"/>
                </a:moveTo>
                <a:lnTo>
                  <a:pt x="483762" y="0"/>
                </a:lnTo>
              </a:path>
            </a:pathLst>
          </a:custGeom>
          <a:ln w="16288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24" name="object 15"/>
          <p:cNvSpPr txBox="1"/>
          <p:nvPr/>
        </p:nvSpPr>
        <p:spPr>
          <a:xfrm>
            <a:off x="5421115" y="2529433"/>
            <a:ext cx="230190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</a:pPr>
            <a:r>
              <a:rPr sz="2295" dirty="0">
                <a:latin typeface="Times New Roman" panose="02020603050405020304"/>
                <a:cs typeface="Times New Roman" panose="02020603050405020304"/>
              </a:rPr>
              <a:t>A</a:t>
            </a:r>
            <a:endParaRPr sz="229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16"/>
          <p:cNvSpPr txBox="1"/>
          <p:nvPr/>
        </p:nvSpPr>
        <p:spPr>
          <a:xfrm>
            <a:off x="5645724" y="2520044"/>
            <a:ext cx="95036" cy="217553"/>
          </a:xfrm>
          <a:prstGeom prst="rect">
            <a:avLst/>
          </a:prstGeom>
        </p:spPr>
        <p:txBody>
          <a:bodyPr vert="horz" wrap="square" lIns="0" tIns="9074" rIns="0" bIns="0" rtlCol="0">
            <a:spAutoFit/>
          </a:bodyPr>
          <a:lstStyle/>
          <a:p>
            <a:pPr marL="9525">
              <a:spcBef>
                <a:spcPts val="70"/>
              </a:spcBef>
            </a:pPr>
            <a:r>
              <a:rPr sz="1355" spc="-8" dirty="0">
                <a:latin typeface="Times New Roman" panose="02020603050405020304"/>
                <a:cs typeface="Times New Roman" panose="02020603050405020304"/>
              </a:rPr>
              <a:t>c</a:t>
            </a:r>
            <a:endParaRPr sz="135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17"/>
          <p:cNvSpPr txBox="1"/>
          <p:nvPr/>
        </p:nvSpPr>
        <p:spPr>
          <a:xfrm>
            <a:off x="5460661" y="1984403"/>
            <a:ext cx="240698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28575">
              <a:spcBef>
                <a:spcPts val="90"/>
              </a:spcBef>
            </a:pPr>
            <a:r>
              <a:rPr sz="3440" spc="56" baseline="-26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55" spc="38" dirty="0">
                <a:latin typeface="Times New Roman" panose="02020603050405020304"/>
                <a:cs typeface="Times New Roman" panose="02020603050405020304"/>
              </a:rPr>
              <a:t>c</a:t>
            </a:r>
            <a:endParaRPr sz="135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18"/>
          <p:cNvSpPr txBox="1"/>
          <p:nvPr/>
        </p:nvSpPr>
        <p:spPr>
          <a:xfrm>
            <a:off x="4499760" y="2593413"/>
            <a:ext cx="685317" cy="217553"/>
          </a:xfrm>
          <a:prstGeom prst="rect">
            <a:avLst/>
          </a:prstGeom>
        </p:spPr>
        <p:txBody>
          <a:bodyPr vert="horz" wrap="square" lIns="0" tIns="9074" rIns="0" bIns="0" rtlCol="0">
            <a:spAutoFit/>
          </a:bodyPr>
          <a:lstStyle/>
          <a:p>
            <a:pPr marL="9525">
              <a:spcBef>
                <a:spcPts val="70"/>
              </a:spcBef>
              <a:tabLst>
                <a:tab pos="598805" algn="l"/>
              </a:tabLst>
            </a:pPr>
            <a:r>
              <a:rPr sz="1355" spc="-11" dirty="0">
                <a:latin typeface="Symbol" panose="05050102010706020507"/>
                <a:cs typeface="Symbol" panose="05050102010706020507"/>
              </a:rPr>
              <a:t></a:t>
            </a:r>
            <a:r>
              <a:rPr sz="1355" spc="-1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355" spc="-8" dirty="0">
                <a:latin typeface="Times New Roman" panose="02020603050405020304"/>
                <a:cs typeface="Times New Roman" panose="02020603050405020304"/>
              </a:rPr>
              <a:t>c</a:t>
            </a:r>
            <a:endParaRPr sz="135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19"/>
          <p:cNvSpPr txBox="1"/>
          <p:nvPr/>
        </p:nvSpPr>
        <p:spPr>
          <a:xfrm>
            <a:off x="3637540" y="2307599"/>
            <a:ext cx="2287574" cy="364619"/>
          </a:xfrm>
          <a:prstGeom prst="rect">
            <a:avLst/>
          </a:prstGeom>
        </p:spPr>
        <p:txBody>
          <a:bodyPr vert="horz" wrap="square" lIns="0" tIns="11462" rIns="0" bIns="0" rtlCol="0">
            <a:spAutoFit/>
          </a:bodyPr>
          <a:lstStyle/>
          <a:p>
            <a:pPr marL="9525">
              <a:spcBef>
                <a:spcPts val="90"/>
              </a:spcBef>
              <a:tabLst>
                <a:tab pos="2179955" algn="l"/>
              </a:tabLst>
            </a:pPr>
            <a:r>
              <a:rPr sz="2295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95" i="1" spc="6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dirty="0">
                <a:latin typeface="Symbol" panose="05050102010706020507"/>
                <a:cs typeface="Symbol" panose="05050102010706020507"/>
              </a:rPr>
              <a:t></a:t>
            </a:r>
            <a:r>
              <a:rPr sz="2295" spc="-3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163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295" dirty="0">
                <a:latin typeface="Symbol" panose="05050102010706020507"/>
                <a:cs typeface="Symbol" panose="05050102010706020507"/>
              </a:rPr>
              <a:t></a:t>
            </a:r>
            <a:r>
              <a:rPr sz="2295" spc="-20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-229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295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95" spc="49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295" spc="-229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95" spc="-214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95" dirty="0">
                <a:latin typeface="Times New Roman" panose="02020603050405020304"/>
                <a:cs typeface="Times New Roman" panose="02020603050405020304"/>
              </a:rPr>
              <a:t>n	)</a:t>
            </a:r>
            <a:endParaRPr sz="22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3"/>
          <p:cNvSpPr txBox="1"/>
          <p:nvPr/>
        </p:nvSpPr>
        <p:spPr>
          <a:xfrm>
            <a:off x="1469588" y="2291188"/>
            <a:ext cx="2153150" cy="397443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>
              <a:spcBef>
                <a:spcPts val="75"/>
              </a:spcBef>
            </a:pPr>
            <a:r>
              <a:rPr lang="zh-CN" altLang="en-US" sz="2800" b="1" spc="-8" dirty="0">
                <a:latin typeface="Arial MT"/>
                <a:cs typeface="Arial MT"/>
              </a:rPr>
              <a:t>透射率估计</a:t>
            </a:r>
            <a:endParaRPr lang="zh-CN" altLang="en-US" sz="2800" b="1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07" y="728714"/>
            <a:ext cx="4223655" cy="507365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3600" b="1" dirty="0"/>
              <a:t>(</a:t>
            </a:r>
            <a:r>
              <a:rPr lang="en-US" altLang="zh-CN" sz="3600" b="1" dirty="0"/>
              <a:t>2</a:t>
            </a:r>
            <a:r>
              <a:rPr lang="zh-CN" altLang="en-US" sz="3600" b="1" dirty="0"/>
              <a:t>) 透射率t估计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空气中也会存在一些颗粒</a:t>
            </a:r>
            <a:endParaRPr lang="en-US" altLang="zh-CN" dirty="0"/>
          </a:p>
          <a:p>
            <a:r>
              <a:rPr lang="zh-CN" altLang="en-US" dirty="0"/>
              <a:t>雾的存在可以让人们感觉到景深的存在</a:t>
            </a:r>
            <a:endParaRPr lang="en-US" altLang="zh-CN" dirty="0"/>
          </a:p>
          <a:p>
            <a:r>
              <a:rPr lang="zh-CN" altLang="en-US" dirty="0"/>
              <a:t>保留一部分的雾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其中</a:t>
            </a:r>
            <a:r>
              <a:rPr lang="en-US" altLang="zh-CN" dirty="0"/>
              <a:t>w</a:t>
            </a:r>
            <a:r>
              <a:rPr lang="zh-CN" altLang="en-US" dirty="0"/>
              <a:t>是</a:t>
            </a:r>
            <a:r>
              <a:rPr lang="en-US" altLang="zh-CN" dirty="0"/>
              <a:t>[0-1]</a:t>
            </a:r>
            <a:r>
              <a:rPr lang="zh-CN" altLang="en-US" dirty="0"/>
              <a:t>之间的一个值，一般取</a:t>
            </a:r>
            <a:r>
              <a:rPr lang="en-US" altLang="zh-CN" dirty="0"/>
              <a:t>0.95</a:t>
            </a:r>
            <a:endParaRPr lang="zh-CN" altLang="en-US" dirty="0"/>
          </a:p>
        </p:txBody>
      </p:sp>
      <p:pic>
        <p:nvPicPr>
          <p:cNvPr id="2050" name="Picture 2" descr="https://img-blog.csdnimg.cn/d52adb4cc7354d11a1102db7557f2082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191" y="3418132"/>
            <a:ext cx="3209925" cy="81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241307" y="728714"/>
            <a:ext cx="4223655" cy="507365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3600" b="1" dirty="0"/>
              <a:t>(</a:t>
            </a:r>
            <a:r>
              <a:rPr lang="en-US" altLang="zh-CN" sz="3600" b="1" dirty="0"/>
              <a:t>2</a:t>
            </a:r>
            <a:r>
              <a:rPr lang="zh-CN" altLang="en-US" sz="3600" b="1" dirty="0"/>
              <a:t>) 透射率t估计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(3) </a:t>
            </a:r>
            <a:r>
              <a:rPr lang="zh-CN" altLang="en-US" dirty="0"/>
              <a:t>恢复无雾图像</a:t>
            </a:r>
            <a:endParaRPr lang="zh-CN" altLang="en-US" dirty="0"/>
          </a:p>
        </p:txBody>
      </p:sp>
      <p:pic>
        <p:nvPicPr>
          <p:cNvPr id="3074" name="Picture 2" descr="https://img-blog.csdnimg.cn/7fab7b75d2444fd8ac23cacb887618e7.png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1949023"/>
            <a:ext cx="4383178" cy="47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954178" y="2609284"/>
            <a:ext cx="790846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当透射图</a:t>
            </a:r>
            <a:r>
              <a:rPr lang="en-US" altLang="zh-CN" sz="2400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zh-CN" altLang="en-US" sz="2400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很小时，会导致</a:t>
            </a:r>
            <a:r>
              <a:rPr lang="en-US" altLang="zh-CN" sz="2400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zh-CN" altLang="en-US" sz="2400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的值偏大，图片某些地方过爆，一般设置一个较小的阈值限制，如</a:t>
            </a:r>
            <a:r>
              <a:rPr lang="en-US" altLang="zh-CN" sz="2400" dirty="0">
                <a:solidFill>
                  <a:srgbClr val="4D4D4D"/>
                </a:solidFill>
                <a:latin typeface="Times New Roman" panose="02020603050405020304" charset="0"/>
                <a:cs typeface="Times New Roman" panose="02020603050405020304" charset="0"/>
              </a:rPr>
              <a:t>0.1</a:t>
            </a:r>
            <a:endParaRPr lang="en-US" altLang="zh-CN" sz="2400" dirty="0">
              <a:solidFill>
                <a:srgbClr val="4D4D4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076" name="Picture 4" descr="https://img-blog.csdnimg.cn/55f1b986409c4db9910aeb51f6b17cf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3622888"/>
            <a:ext cx="3908669" cy="104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(4) </a:t>
            </a:r>
            <a:r>
              <a:rPr lang="zh-CN" altLang="en-US" dirty="0"/>
              <a:t>图像去雾步骤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3" y="1761025"/>
            <a:ext cx="9138751" cy="254720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463857" y="2024700"/>
            <a:ext cx="4382687" cy="378494"/>
          </a:xfrm>
          <a:prstGeom prst="rect">
            <a:avLst/>
          </a:prstGeom>
        </p:spPr>
        <p:txBody>
          <a:bodyPr vert="horz" wrap="square" lIns="0" tIns="9074" rIns="0" bIns="0" rtlCol="0">
            <a:spAutoFit/>
          </a:bodyPr>
          <a:lstStyle/>
          <a:p>
            <a:pPr marL="9525">
              <a:spcBef>
                <a:spcPts val="70"/>
              </a:spcBef>
              <a:tabLst>
                <a:tab pos="2320925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雾图成像模型</a:t>
            </a:r>
            <a:r>
              <a:rPr sz="1805" dirty="0">
                <a:latin typeface="Arial MT"/>
                <a:cs typeface="Arial MT"/>
              </a:rPr>
              <a:t>	</a:t>
            </a:r>
            <a:r>
              <a:rPr sz="2370" b="1" spc="-19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370" b="1" spc="-4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23" dirty="0">
                <a:latin typeface="Symbol" panose="05050102010706020507"/>
                <a:cs typeface="Symbol" panose="05050102010706020507"/>
              </a:rPr>
              <a:t></a:t>
            </a:r>
            <a:r>
              <a:rPr sz="2370" spc="-9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b="1" spc="-23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370" b="1" spc="-26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11" dirty="0">
                <a:latin typeface="Symbol" panose="05050102010706020507"/>
                <a:cs typeface="Symbol" panose="05050102010706020507"/>
              </a:rPr>
              <a:t></a:t>
            </a:r>
            <a:r>
              <a:rPr sz="2370" spc="-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i="1" spc="-1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370" i="1" spc="-1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23" dirty="0">
                <a:latin typeface="Symbol" panose="05050102010706020507"/>
                <a:cs typeface="Symbol" panose="05050102010706020507"/>
              </a:rPr>
              <a:t></a:t>
            </a:r>
            <a:r>
              <a:rPr sz="2370" spc="-16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b="1" spc="-3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370" b="1" spc="-31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11" dirty="0">
                <a:latin typeface="Symbol" panose="05050102010706020507"/>
                <a:cs typeface="Symbol" panose="05050102010706020507"/>
              </a:rPr>
              <a:t></a:t>
            </a:r>
            <a:r>
              <a:rPr sz="2370" spc="-35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222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370" spc="132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370" spc="-26" dirty="0">
                <a:latin typeface="Symbol" panose="05050102010706020507"/>
                <a:cs typeface="Symbol" panose="05050102010706020507"/>
              </a:rPr>
              <a:t></a:t>
            </a:r>
            <a:r>
              <a:rPr sz="2370" spc="-3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i="1" spc="117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370" spc="-15" dirty="0">
                <a:latin typeface="Times New Roman" panose="02020603050405020304"/>
                <a:cs typeface="Times New Roman" panose="02020603050405020304"/>
              </a:rPr>
              <a:t>)</a:t>
            </a:r>
            <a:endParaRPr sz="237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0510" y="2585029"/>
            <a:ext cx="2272770" cy="392574"/>
          </a:xfrm>
          <a:prstGeom prst="rect">
            <a:avLst/>
          </a:prstGeom>
        </p:spPr>
        <p:txBody>
          <a:bodyPr vert="horz" wrap="square" lIns="0" tIns="10507" rIns="0" bIns="0" rtlCol="0">
            <a:spAutoFit/>
          </a:bodyPr>
          <a:lstStyle/>
          <a:p>
            <a:pPr marL="9525">
              <a:spcBef>
                <a:spcPts val="85"/>
              </a:spcBef>
            </a:pPr>
            <a:r>
              <a:rPr sz="2370" b="1" spc="-1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37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19" dirty="0">
                <a:latin typeface="Symbol" panose="05050102010706020507"/>
                <a:cs typeface="Symbol" panose="05050102010706020507"/>
              </a:rPr>
              <a:t></a:t>
            </a:r>
            <a:r>
              <a:rPr sz="237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b="1" spc="-19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370" b="1" spc="-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83" dirty="0">
                <a:latin typeface="Symbol" panose="05050102010706020507"/>
                <a:cs typeface="Symbol" panose="05050102010706020507"/>
              </a:rPr>
              <a:t></a:t>
            </a:r>
            <a:r>
              <a:rPr sz="2480" spc="-90" dirty="0">
                <a:latin typeface="Symbol" panose="05050102010706020507"/>
                <a:cs typeface="Symbol" panose="05050102010706020507"/>
              </a:rPr>
              <a:t></a:t>
            </a:r>
            <a:r>
              <a:rPr sz="2480" spc="-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19" dirty="0">
                <a:latin typeface="Symbol" panose="05050102010706020507"/>
                <a:cs typeface="Symbol" panose="05050102010706020507"/>
              </a:rPr>
              <a:t></a:t>
            </a:r>
            <a:r>
              <a:rPr sz="2370" spc="-24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b="1" spc="-23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370" b="1" spc="-33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8" dirty="0">
                <a:latin typeface="Symbol" panose="05050102010706020507"/>
                <a:cs typeface="Symbol" panose="05050102010706020507"/>
              </a:rPr>
              <a:t></a:t>
            </a:r>
            <a:r>
              <a:rPr sz="2370" spc="-36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222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370" spc="128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370" spc="150" dirty="0">
                <a:latin typeface="Symbol" panose="05050102010706020507"/>
                <a:cs typeface="Symbol" panose="05050102010706020507"/>
              </a:rPr>
              <a:t></a:t>
            </a:r>
            <a:r>
              <a:rPr sz="2480" spc="-90" dirty="0">
                <a:latin typeface="Symbol" panose="05050102010706020507"/>
                <a:cs typeface="Symbol" panose="05050102010706020507"/>
              </a:rPr>
              <a:t></a:t>
            </a:r>
            <a:r>
              <a:rPr sz="2480" spc="-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70" spc="-11" dirty="0">
                <a:latin typeface="Times New Roman" panose="02020603050405020304"/>
                <a:cs typeface="Times New Roman" panose="02020603050405020304"/>
              </a:rPr>
              <a:t>)</a:t>
            </a:r>
            <a:endParaRPr sz="237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345" y="2669840"/>
            <a:ext cx="1937920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400" dirty="0"/>
              <a:t>抠图</a:t>
            </a:r>
            <a:r>
              <a:rPr lang="zh-CN" altLang="en-US" sz="2400" spc="-4" dirty="0">
                <a:latin typeface="Arial MT"/>
                <a:cs typeface="Arial MT"/>
              </a:rPr>
              <a:t>模型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07778" y="4688599"/>
            <a:ext cx="1340738" cy="8934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4989" y="4688599"/>
            <a:ext cx="1340738" cy="89347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201246" y="5017981"/>
            <a:ext cx="358180" cy="234966"/>
            <a:chOff x="5391784" y="5541771"/>
            <a:chExt cx="476250" cy="312420"/>
          </a:xfrm>
        </p:grpSpPr>
        <p:sp>
          <p:nvSpPr>
            <p:cNvPr id="10" name="object 10"/>
            <p:cNvSpPr/>
            <p:nvPr/>
          </p:nvSpPr>
          <p:spPr>
            <a:xfrm>
              <a:off x="5404484" y="5554471"/>
              <a:ext cx="450850" cy="287020"/>
            </a:xfrm>
            <a:custGeom>
              <a:avLst/>
              <a:gdLst/>
              <a:ahLst/>
              <a:cxnLst/>
              <a:rect l="l" t="t" r="r" b="b"/>
              <a:pathLst>
                <a:path w="450850" h="287020">
                  <a:moveTo>
                    <a:pt x="307086" y="0"/>
                  </a:moveTo>
                  <a:lnTo>
                    <a:pt x="307086" y="71691"/>
                  </a:lnTo>
                  <a:lnTo>
                    <a:pt x="0" y="71691"/>
                  </a:lnTo>
                  <a:lnTo>
                    <a:pt x="0" y="214998"/>
                  </a:lnTo>
                  <a:lnTo>
                    <a:pt x="307086" y="214998"/>
                  </a:lnTo>
                  <a:lnTo>
                    <a:pt x="307086" y="286638"/>
                  </a:lnTo>
                  <a:lnTo>
                    <a:pt x="450341" y="143344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11" name="object 11"/>
            <p:cNvSpPr/>
            <p:nvPr/>
          </p:nvSpPr>
          <p:spPr>
            <a:xfrm>
              <a:off x="5404484" y="5554471"/>
              <a:ext cx="450850" cy="287020"/>
            </a:xfrm>
            <a:custGeom>
              <a:avLst/>
              <a:gdLst/>
              <a:ahLst/>
              <a:cxnLst/>
              <a:rect l="l" t="t" r="r" b="b"/>
              <a:pathLst>
                <a:path w="450850" h="287020">
                  <a:moveTo>
                    <a:pt x="0" y="71691"/>
                  </a:moveTo>
                  <a:lnTo>
                    <a:pt x="307086" y="71691"/>
                  </a:lnTo>
                  <a:lnTo>
                    <a:pt x="307086" y="0"/>
                  </a:lnTo>
                  <a:lnTo>
                    <a:pt x="450341" y="143344"/>
                  </a:lnTo>
                  <a:lnTo>
                    <a:pt x="307086" y="286638"/>
                  </a:lnTo>
                  <a:lnTo>
                    <a:pt x="307086" y="214998"/>
                  </a:lnTo>
                  <a:lnTo>
                    <a:pt x="0" y="214998"/>
                  </a:lnTo>
                  <a:lnTo>
                    <a:pt x="0" y="71691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09964" y="4980542"/>
            <a:ext cx="153301" cy="287413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5" b="1" dirty="0">
                <a:latin typeface="Arial" panose="020B0604020202020204"/>
                <a:cs typeface="Arial" panose="020B0604020202020204"/>
              </a:rPr>
              <a:t>+</a:t>
            </a:r>
            <a:endParaRPr sz="1805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996548" y="3181761"/>
            <a:ext cx="1097463" cy="1097463"/>
            <a:chOff x="6449250" y="3100260"/>
            <a:chExt cx="1459230" cy="145923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8712" y="3109722"/>
              <a:ext cx="1440053" cy="1440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54013" y="3105023"/>
              <a:ext cx="1449705" cy="1449705"/>
            </a:xfrm>
            <a:custGeom>
              <a:avLst/>
              <a:gdLst/>
              <a:ahLst/>
              <a:cxnLst/>
              <a:rect l="l" t="t" r="r" b="b"/>
              <a:pathLst>
                <a:path w="1449704" h="1449704">
                  <a:moveTo>
                    <a:pt x="0" y="1449577"/>
                  </a:moveTo>
                  <a:lnTo>
                    <a:pt x="1449578" y="1449577"/>
                  </a:lnTo>
                  <a:lnTo>
                    <a:pt x="1449578" y="0"/>
                  </a:lnTo>
                  <a:lnTo>
                    <a:pt x="0" y="0"/>
                  </a:lnTo>
                  <a:lnTo>
                    <a:pt x="0" y="1449577"/>
                  </a:lnTo>
                  <a:close/>
                </a:path>
              </a:pathLst>
            </a:custGeom>
            <a:ln w="9525">
              <a:solidFill>
                <a:srgbClr val="473124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3877" y="3188878"/>
            <a:ext cx="1083039" cy="108303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309964" y="3575521"/>
            <a:ext cx="153301" cy="287413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5" b="1" dirty="0">
                <a:latin typeface="Arial" panose="020B0604020202020204"/>
                <a:cs typeface="Arial" panose="020B0604020202020204"/>
              </a:rPr>
              <a:t>+</a:t>
            </a:r>
            <a:endParaRPr sz="1805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01246" y="3613152"/>
            <a:ext cx="358180" cy="234966"/>
            <a:chOff x="5391784" y="3673855"/>
            <a:chExt cx="476250" cy="312420"/>
          </a:xfrm>
        </p:grpSpPr>
        <p:sp>
          <p:nvSpPr>
            <p:cNvPr id="20" name="object 20"/>
            <p:cNvSpPr/>
            <p:nvPr/>
          </p:nvSpPr>
          <p:spPr>
            <a:xfrm>
              <a:off x="5404484" y="3686555"/>
              <a:ext cx="450850" cy="287020"/>
            </a:xfrm>
            <a:custGeom>
              <a:avLst/>
              <a:gdLst/>
              <a:ahLst/>
              <a:cxnLst/>
              <a:rect l="l" t="t" r="r" b="b"/>
              <a:pathLst>
                <a:path w="450850" h="287020">
                  <a:moveTo>
                    <a:pt x="307086" y="0"/>
                  </a:moveTo>
                  <a:lnTo>
                    <a:pt x="307086" y="71628"/>
                  </a:lnTo>
                  <a:lnTo>
                    <a:pt x="0" y="71628"/>
                  </a:lnTo>
                  <a:lnTo>
                    <a:pt x="0" y="214884"/>
                  </a:lnTo>
                  <a:lnTo>
                    <a:pt x="307086" y="214884"/>
                  </a:lnTo>
                  <a:lnTo>
                    <a:pt x="307086" y="286512"/>
                  </a:lnTo>
                  <a:lnTo>
                    <a:pt x="450341" y="143256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92BEEB"/>
            </a:solidFill>
          </p:spPr>
          <p:txBody>
            <a:bodyPr wrap="square" lIns="0" tIns="0" rIns="0" bIns="0" rtlCol="0"/>
            <a:lstStyle/>
            <a:p>
              <a:endParaRPr sz="1355"/>
            </a:p>
          </p:txBody>
        </p:sp>
        <p:sp>
          <p:nvSpPr>
            <p:cNvPr id="21" name="object 21"/>
            <p:cNvSpPr/>
            <p:nvPr/>
          </p:nvSpPr>
          <p:spPr>
            <a:xfrm>
              <a:off x="5404484" y="3686555"/>
              <a:ext cx="450850" cy="287020"/>
            </a:xfrm>
            <a:custGeom>
              <a:avLst/>
              <a:gdLst/>
              <a:ahLst/>
              <a:cxnLst/>
              <a:rect l="l" t="t" r="r" b="b"/>
              <a:pathLst>
                <a:path w="450850" h="287020">
                  <a:moveTo>
                    <a:pt x="0" y="71628"/>
                  </a:moveTo>
                  <a:lnTo>
                    <a:pt x="307086" y="71628"/>
                  </a:lnTo>
                  <a:lnTo>
                    <a:pt x="307086" y="0"/>
                  </a:lnTo>
                  <a:lnTo>
                    <a:pt x="450341" y="143256"/>
                  </a:lnTo>
                  <a:lnTo>
                    <a:pt x="307086" y="286512"/>
                  </a:lnTo>
                  <a:lnTo>
                    <a:pt x="307086" y="214884"/>
                  </a:lnTo>
                  <a:lnTo>
                    <a:pt x="0" y="214884"/>
                  </a:lnTo>
                  <a:lnTo>
                    <a:pt x="0" y="71628"/>
                  </a:lnTo>
                  <a:close/>
                </a:path>
              </a:pathLst>
            </a:custGeom>
            <a:ln w="25400">
              <a:solidFill>
                <a:srgbClr val="6A8BAC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29511" y="3181761"/>
            <a:ext cx="1097463" cy="1097463"/>
            <a:chOff x="3434905" y="3100260"/>
            <a:chExt cx="1459230" cy="145923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44366" y="3109722"/>
              <a:ext cx="1440052" cy="144005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439667" y="3105023"/>
              <a:ext cx="1449705" cy="1449705"/>
            </a:xfrm>
            <a:custGeom>
              <a:avLst/>
              <a:gdLst/>
              <a:ahLst/>
              <a:cxnLst/>
              <a:rect l="l" t="t" r="r" b="b"/>
              <a:pathLst>
                <a:path w="1449704" h="1449704">
                  <a:moveTo>
                    <a:pt x="0" y="1449577"/>
                  </a:moveTo>
                  <a:lnTo>
                    <a:pt x="1449577" y="1449577"/>
                  </a:lnTo>
                  <a:lnTo>
                    <a:pt x="1449577" y="0"/>
                  </a:lnTo>
                  <a:lnTo>
                    <a:pt x="0" y="0"/>
                  </a:lnTo>
                  <a:lnTo>
                    <a:pt x="0" y="1449577"/>
                  </a:lnTo>
                  <a:close/>
                </a:path>
              </a:pathLst>
            </a:custGeom>
            <a:ln w="9525">
              <a:solidFill>
                <a:srgbClr val="473124"/>
              </a:solidFill>
            </a:ln>
          </p:spPr>
          <p:txBody>
            <a:bodyPr wrap="square" lIns="0" tIns="0" rIns="0" bIns="0" rtlCol="0"/>
            <a:lstStyle/>
            <a:p>
              <a:endParaRPr sz="1355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941507" y="4287296"/>
            <a:ext cx="1007009" cy="286515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b="1" dirty="0"/>
              <a:t>三分图</a:t>
            </a:r>
            <a:endParaRPr sz="1655" b="1" dirty="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14578" y="4210621"/>
            <a:ext cx="217296" cy="400336"/>
          </a:xfrm>
          <a:prstGeom prst="rect">
            <a:avLst/>
          </a:prstGeom>
        </p:spPr>
        <p:txBody>
          <a:bodyPr vert="horz" wrap="square" lIns="0" tIns="12416" rIns="0" bIns="0" rtlCol="0">
            <a:spAutoFit/>
          </a:bodyPr>
          <a:lstStyle/>
          <a:p>
            <a:pPr marL="9525">
              <a:spcBef>
                <a:spcPts val="100"/>
              </a:spcBef>
            </a:pPr>
            <a:r>
              <a:rPr sz="2520" spc="-34" dirty="0">
                <a:latin typeface="Symbol" panose="05050102010706020507"/>
                <a:cs typeface="Symbol" panose="05050102010706020507"/>
              </a:rPr>
              <a:t></a:t>
            </a:r>
            <a:endParaRPr sz="2520">
              <a:latin typeface="Symbol" panose="05050102010706020507"/>
              <a:cs typeface="Symbol" panose="05050102010706020507"/>
            </a:endParaRPr>
          </a:p>
        </p:txBody>
      </p:sp>
      <p:pic>
        <p:nvPicPr>
          <p:cNvPr id="29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12155" y="4677512"/>
            <a:ext cx="1340738" cy="893472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5503751" y="5563944"/>
            <a:ext cx="1821653" cy="4609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635" marR="122555" indent="228600">
              <a:lnSpc>
                <a:spcPct val="150000"/>
              </a:lnSpc>
              <a:spcBef>
                <a:spcPts val="230"/>
              </a:spcBef>
              <a:spcAft>
                <a:spcPts val="600"/>
              </a:spcAft>
            </a:pPr>
            <a:r>
              <a:rPr lang="zh-CN" altLang="en-US" sz="1800" b="1" dirty="0">
                <a:latin typeface="Arial MT"/>
                <a:cs typeface="Arial MT"/>
              </a:rPr>
              <a:t>加细透视率</a:t>
            </a:r>
            <a:endParaRPr lang="zh-CN" altLang="en-US" sz="1800" b="1" dirty="0">
              <a:latin typeface="Arial MT"/>
              <a:cs typeface="Arial MT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757397" y="492128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(5) </a:t>
            </a:r>
            <a:r>
              <a:rPr lang="zh-CN" altLang="en-US" b="1" spc="-8" dirty="0">
                <a:latin typeface="Arial MT"/>
                <a:cs typeface="Arial MT"/>
                <a:sym typeface="+mn-ea"/>
              </a:rPr>
              <a:t>透射率优化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4910473" y="3068753"/>
            <a:ext cx="1077882" cy="0"/>
          </a:xfrm>
          <a:custGeom>
            <a:avLst/>
            <a:gdLst/>
            <a:ahLst/>
            <a:cxnLst/>
            <a:rect l="l" t="t" r="r" b="b"/>
            <a:pathLst>
              <a:path w="1433195">
                <a:moveTo>
                  <a:pt x="0" y="0"/>
                </a:moveTo>
                <a:lnTo>
                  <a:pt x="1433067" y="0"/>
                </a:lnTo>
              </a:path>
            </a:pathLst>
          </a:custGeom>
          <a:ln w="38100">
            <a:solidFill>
              <a:srgbClr val="1E5FA0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12" name="object 12"/>
          <p:cNvSpPr/>
          <p:nvPr/>
        </p:nvSpPr>
        <p:spPr>
          <a:xfrm>
            <a:off x="3704186" y="3068753"/>
            <a:ext cx="614159" cy="0"/>
          </a:xfrm>
          <a:custGeom>
            <a:avLst/>
            <a:gdLst/>
            <a:ahLst/>
            <a:cxnLst/>
            <a:rect l="l" t="t" r="r" b="b"/>
            <a:pathLst>
              <a:path w="816610">
                <a:moveTo>
                  <a:pt x="0" y="0"/>
                </a:moveTo>
                <a:lnTo>
                  <a:pt x="816483" y="0"/>
                </a:lnTo>
              </a:path>
            </a:pathLst>
          </a:custGeom>
          <a:ln w="38100">
            <a:solidFill>
              <a:srgbClr val="1E5FA0"/>
            </a:solidFill>
          </a:ln>
        </p:spPr>
        <p:txBody>
          <a:bodyPr wrap="square" lIns="0" tIns="0" rIns="0" bIns="0" rtlCol="0"/>
          <a:lstStyle/>
          <a:p>
            <a:endParaRPr sz="1355"/>
          </a:p>
        </p:txBody>
      </p:sp>
      <p:sp>
        <p:nvSpPr>
          <p:cNvPr id="13" name="object 13"/>
          <p:cNvSpPr txBox="1"/>
          <p:nvPr/>
        </p:nvSpPr>
        <p:spPr>
          <a:xfrm>
            <a:off x="1469799" y="3336984"/>
            <a:ext cx="6575162" cy="916111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1882775">
              <a:spcBef>
                <a:spcPts val="75"/>
              </a:spcBef>
              <a:tabLst>
                <a:tab pos="3648710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  光滑项  数据项 </a:t>
            </a:r>
            <a:r>
              <a:rPr sz="2400" spc="-4" dirty="0">
                <a:latin typeface="Arial MT"/>
                <a:cs typeface="Arial MT"/>
              </a:rPr>
              <a:t>	</a:t>
            </a:r>
            <a:endParaRPr sz="2030" dirty="0">
              <a:latin typeface="Arial MT"/>
              <a:cs typeface="Arial MT"/>
            </a:endParaRPr>
          </a:p>
          <a:p>
            <a:pPr marL="267335" indent="-257810">
              <a:spcBef>
                <a:spcPts val="1320"/>
              </a:spcBef>
              <a:buClr>
                <a:srgbClr val="F89D1C"/>
              </a:buClr>
              <a:buSzPct val="109000"/>
              <a:buFont typeface="Times New Roman" panose="02020603050405020304"/>
              <a:buChar char="•"/>
              <a:tabLst>
                <a:tab pos="266700" algn="l"/>
                <a:tab pos="267335" algn="l"/>
              </a:tabLst>
            </a:pPr>
            <a:r>
              <a:rPr sz="2405" b="1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405" b="1" spc="-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5" dirty="0">
                <a:latin typeface="Arial MT"/>
                <a:cs typeface="Arial MT"/>
              </a:rPr>
              <a:t>-</a:t>
            </a:r>
            <a:r>
              <a:rPr sz="2105" spc="-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matting</a:t>
            </a:r>
            <a:r>
              <a:rPr sz="2000" spc="-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Laplacian</a:t>
            </a:r>
            <a:r>
              <a:rPr sz="2000" spc="1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[Levin</a:t>
            </a:r>
            <a:r>
              <a:rPr sz="2000" spc="-8" dirty="0">
                <a:latin typeface="Arial MT"/>
                <a:cs typeface="Arial MT"/>
              </a:rPr>
              <a:t> </a:t>
            </a:r>
            <a:r>
              <a:rPr sz="2000" spc="-4" dirty="0">
                <a:latin typeface="Arial MT"/>
                <a:cs typeface="Arial MT"/>
              </a:rPr>
              <a:t>et</a:t>
            </a:r>
            <a:r>
              <a:rPr sz="2000" spc="-11" dirty="0">
                <a:latin typeface="Arial MT"/>
                <a:cs typeface="Arial MT"/>
              </a:rPr>
              <a:t> </a:t>
            </a:r>
            <a:r>
              <a:rPr sz="2000" spc="-4" dirty="0">
                <a:latin typeface="Arial MT"/>
                <a:cs typeface="Arial MT"/>
              </a:rPr>
              <a:t>al.,</a:t>
            </a:r>
            <a:r>
              <a:rPr sz="2000" spc="-8" dirty="0">
                <a:latin typeface="Arial MT"/>
                <a:cs typeface="Arial MT"/>
              </a:rPr>
              <a:t> </a:t>
            </a:r>
            <a:r>
              <a:rPr sz="2000" spc="-4" dirty="0">
                <a:latin typeface="Arial MT"/>
                <a:cs typeface="Arial MT"/>
              </a:rPr>
              <a:t>CVPR</a:t>
            </a:r>
            <a:r>
              <a:rPr sz="2000" spc="-8" dirty="0">
                <a:latin typeface="Arial MT"/>
                <a:cs typeface="Arial MT"/>
              </a:rPr>
              <a:t> </a:t>
            </a:r>
            <a:r>
              <a:rPr sz="2000" spc="-4" dirty="0">
                <a:latin typeface="Arial MT"/>
                <a:cs typeface="Arial MT"/>
              </a:rPr>
              <a:t>‘06]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098" name="Picture 2" descr="https://www.guyuehome.com/Uploads/Editor/202209/20220906_30309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80"/>
          <a:stretch>
            <a:fillRect/>
          </a:stretch>
        </p:blipFill>
        <p:spPr bwMode="auto">
          <a:xfrm>
            <a:off x="2740515" y="2207042"/>
            <a:ext cx="3589948" cy="74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guyuehome.com/Uploads/Editor/202209/20220906_90438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323"/>
          <a:stretch>
            <a:fillRect/>
          </a:stretch>
        </p:blipFill>
        <p:spPr bwMode="auto">
          <a:xfrm>
            <a:off x="3081599" y="4640086"/>
            <a:ext cx="2281709" cy="68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/>
        </p:nvSpPr>
        <p:spPr>
          <a:xfrm>
            <a:off x="757397" y="492128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(5) </a:t>
            </a:r>
            <a:r>
              <a:rPr lang="zh-CN" altLang="en-US" b="1" spc="-8" dirty="0">
                <a:latin typeface="Arial MT"/>
                <a:cs typeface="Arial MT"/>
                <a:sym typeface="+mn-ea"/>
              </a:rPr>
              <a:t>透射率优化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26408" y="2178463"/>
            <a:ext cx="4025940" cy="26839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61688" y="5026041"/>
            <a:ext cx="1955185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400" spc="-4" dirty="0">
                <a:latin typeface="Arial MT"/>
                <a:cs typeface="Arial MT"/>
              </a:rPr>
              <a:t>优化前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8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7054" y="2178463"/>
            <a:ext cx="4025940" cy="26839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6007067" y="5026041"/>
            <a:ext cx="1763199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400" spc="-4" dirty="0">
                <a:latin typeface="Arial MT"/>
                <a:cs typeface="Arial MT"/>
              </a:rPr>
              <a:t>优化后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757397" y="492128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(5) </a:t>
            </a:r>
            <a:r>
              <a:rPr lang="zh-CN" altLang="en-US" b="1" spc="-8" dirty="0">
                <a:latin typeface="Arial MT"/>
                <a:cs typeface="Arial MT"/>
                <a:sym typeface="+mn-ea"/>
              </a:rPr>
              <a:t>透射率优化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168069" y="1398071"/>
            <a:ext cx="2816822" cy="24793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68069" y="3941014"/>
            <a:ext cx="2816822" cy="333900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105" dirty="0">
                <a:latin typeface="Arial MT"/>
                <a:cs typeface="Arial MT"/>
              </a:rPr>
              <a:t>去雾图</a:t>
            </a:r>
            <a:endParaRPr sz="2105" dirty="0">
              <a:latin typeface="Arial MT"/>
              <a:cs typeface="Arial MT"/>
            </a:endParaRPr>
          </a:p>
        </p:txBody>
      </p:sp>
      <p:pic>
        <p:nvPicPr>
          <p:cNvPr id="6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626" y="1398074"/>
            <a:ext cx="2816822" cy="2479333"/>
          </a:xfrm>
          <a:prstGeom prst="rect">
            <a:avLst/>
          </a:prstGeom>
        </p:spPr>
      </p:pic>
      <p:pic>
        <p:nvPicPr>
          <p:cNvPr id="7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1512" y="1398073"/>
            <a:ext cx="2994953" cy="2479331"/>
          </a:xfrm>
          <a:prstGeom prst="rect">
            <a:avLst/>
          </a:prstGeom>
        </p:spPr>
      </p:pic>
      <p:sp>
        <p:nvSpPr>
          <p:cNvPr id="8" name="object 5"/>
          <p:cNvSpPr txBox="1"/>
          <p:nvPr/>
        </p:nvSpPr>
        <p:spPr>
          <a:xfrm>
            <a:off x="254626" y="3942970"/>
            <a:ext cx="2816822" cy="333900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105" dirty="0">
                <a:latin typeface="Arial MT"/>
                <a:cs typeface="Arial MT"/>
              </a:rPr>
              <a:t>有雾图</a:t>
            </a:r>
            <a:endParaRPr sz="2105" dirty="0">
              <a:latin typeface="Arial MT"/>
              <a:cs typeface="Arial MT"/>
            </a:endParaRPr>
          </a:p>
        </p:txBody>
      </p:sp>
      <p:sp>
        <p:nvSpPr>
          <p:cNvPr id="9" name="object 5"/>
          <p:cNvSpPr txBox="1"/>
          <p:nvPr/>
        </p:nvSpPr>
        <p:spPr>
          <a:xfrm>
            <a:off x="6081512" y="3914530"/>
            <a:ext cx="2994953" cy="333900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105" dirty="0">
                <a:latin typeface="Arial MT"/>
                <a:cs typeface="Arial MT"/>
              </a:rPr>
              <a:t>深度图</a:t>
            </a:r>
            <a:endParaRPr sz="2105" dirty="0">
              <a:latin typeface="Arial MT"/>
              <a:cs typeface="Arial MT"/>
            </a:endParaRPr>
          </a:p>
        </p:txBody>
      </p:sp>
      <p:sp>
        <p:nvSpPr>
          <p:cNvPr id="10" name="标题 1"/>
          <p:cNvSpPr>
            <a:spLocks noGrp="1"/>
          </p:cNvSpPr>
          <p:nvPr/>
        </p:nvSpPr>
        <p:spPr>
          <a:xfrm>
            <a:off x="630397" y="7239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(6) </a:t>
            </a:r>
            <a:r>
              <a:rPr lang="zh-CN" altLang="en-US" b="1" spc="-8" dirty="0">
                <a:latin typeface="Arial MT"/>
                <a:cs typeface="Arial MT"/>
                <a:sym typeface="+mn-ea"/>
              </a:rPr>
              <a:t>结果</a:t>
            </a:r>
            <a:endParaRPr lang="zh-CN" altLang="en-US" b="1" spc="-8" dirty="0">
              <a:latin typeface="Arial MT"/>
              <a:cs typeface="Arial MT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5"/>
          <p:cNvSpPr txBox="1"/>
          <p:nvPr>
            <p:custDataLst>
              <p:tags r:id="rId1"/>
            </p:custDataLst>
          </p:nvPr>
        </p:nvSpPr>
        <p:spPr>
          <a:xfrm>
            <a:off x="7408545" y="1246505"/>
            <a:ext cx="1024890" cy="333375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105" dirty="0">
                <a:latin typeface="Arial MT"/>
                <a:cs typeface="Arial MT"/>
              </a:rPr>
              <a:t>有雾图</a:t>
            </a:r>
            <a:endParaRPr sz="2105" dirty="0">
              <a:latin typeface="Arial MT"/>
              <a:cs typeface="Arial MT"/>
            </a:endParaRPr>
          </a:p>
        </p:txBody>
      </p:sp>
      <p:pic>
        <p:nvPicPr>
          <p:cNvPr id="10" name="object 2"/>
          <p:cNvPicPr/>
          <p:nvPr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056890" y="72390"/>
            <a:ext cx="4246245" cy="2160000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0397" y="7239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(6) </a:t>
            </a:r>
            <a:r>
              <a:rPr lang="zh-CN" altLang="en-US" b="1" spc="-8" dirty="0">
                <a:latin typeface="Arial MT"/>
                <a:cs typeface="Arial MT"/>
                <a:sym typeface="+mn-ea"/>
              </a:rPr>
              <a:t>结果</a:t>
            </a:r>
            <a:endParaRPr lang="zh-CN" altLang="en-US" b="1" spc="-8" dirty="0">
              <a:latin typeface="Arial MT"/>
              <a:cs typeface="Arial MT"/>
              <a:sym typeface="+mn-ea"/>
            </a:endParaRPr>
          </a:p>
        </p:txBody>
      </p:sp>
      <p:sp>
        <p:nvSpPr>
          <p:cNvPr id="5" name="object 5"/>
          <p:cNvSpPr txBox="1"/>
          <p:nvPr>
            <p:custDataLst>
              <p:tags r:id="rId5"/>
            </p:custDataLst>
          </p:nvPr>
        </p:nvSpPr>
        <p:spPr>
          <a:xfrm>
            <a:off x="7408545" y="3242310"/>
            <a:ext cx="1360805" cy="333375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105" dirty="0">
                <a:latin typeface="Arial MT"/>
                <a:cs typeface="Arial MT"/>
              </a:rPr>
              <a:t>去雾图</a:t>
            </a:r>
            <a:endParaRPr sz="2105" dirty="0">
              <a:latin typeface="Arial MT"/>
              <a:cs typeface="Arial MT"/>
            </a:endParaRPr>
          </a:p>
        </p:txBody>
      </p:sp>
      <p:pic>
        <p:nvPicPr>
          <p:cNvPr id="11" name="object 3"/>
          <p:cNvPicPr/>
          <p:nvPr>
            <p:custDataLst>
              <p:tags r:id="rId6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3056890" y="2329180"/>
            <a:ext cx="4283075" cy="2160000"/>
          </a:xfrm>
          <a:prstGeom prst="rect">
            <a:avLst/>
          </a:prstGeom>
        </p:spPr>
      </p:pic>
      <p:pic>
        <p:nvPicPr>
          <p:cNvPr id="6" name="object 2"/>
          <p:cNvPicPr/>
          <p:nvPr>
            <p:custDataLst>
              <p:tags r:id="rId8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3056890" y="4585970"/>
            <a:ext cx="4283710" cy="2160000"/>
          </a:xfrm>
          <a:prstGeom prst="rect">
            <a:avLst/>
          </a:prstGeom>
        </p:spPr>
      </p:pic>
      <p:sp>
        <p:nvSpPr>
          <p:cNvPr id="7" name="object 5"/>
          <p:cNvSpPr txBox="1"/>
          <p:nvPr>
            <p:custDataLst>
              <p:tags r:id="rId10"/>
            </p:custDataLst>
          </p:nvPr>
        </p:nvSpPr>
        <p:spPr>
          <a:xfrm>
            <a:off x="7478395" y="5499100"/>
            <a:ext cx="1436370" cy="333375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105" dirty="0">
                <a:latin typeface="Arial MT"/>
                <a:cs typeface="Arial MT"/>
              </a:rPr>
              <a:t>深度图</a:t>
            </a:r>
            <a:endParaRPr sz="2105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95750" y="70618"/>
            <a:ext cx="4583759" cy="2160000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8432" y="15240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(6) </a:t>
            </a:r>
            <a:r>
              <a:rPr lang="zh-CN" altLang="en-US" b="1" spc="-8" dirty="0">
                <a:latin typeface="Arial MT"/>
                <a:cs typeface="Arial MT"/>
                <a:sym typeface="+mn-ea"/>
              </a:rPr>
              <a:t>结果</a:t>
            </a:r>
            <a:endParaRPr lang="zh-CN" altLang="en-US" b="1" spc="-8" dirty="0">
              <a:latin typeface="Arial MT"/>
              <a:cs typeface="Arial MT"/>
              <a:sym typeface="+mn-ea"/>
            </a:endParaRPr>
          </a:p>
        </p:txBody>
      </p:sp>
      <p:pic>
        <p:nvPicPr>
          <p:cNvPr id="5" name="object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5360" y="2310088"/>
            <a:ext cx="4583759" cy="2160000"/>
          </a:xfrm>
          <a:prstGeom prst="rect">
            <a:avLst/>
          </a:prstGeom>
        </p:spPr>
      </p:pic>
      <p:pic>
        <p:nvPicPr>
          <p:cNvPr id="7" name="object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95116" y="4549636"/>
            <a:ext cx="4583759" cy="2160000"/>
          </a:xfrm>
          <a:prstGeom prst="rect">
            <a:avLst/>
          </a:prstGeom>
        </p:spPr>
      </p:pic>
      <p:sp>
        <p:nvSpPr>
          <p:cNvPr id="9" name="object 5"/>
          <p:cNvSpPr txBox="1"/>
          <p:nvPr>
            <p:custDataLst>
              <p:tags r:id="rId5"/>
            </p:custDataLst>
          </p:nvPr>
        </p:nvSpPr>
        <p:spPr>
          <a:xfrm>
            <a:off x="7408545" y="1246505"/>
            <a:ext cx="1024890" cy="333375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105" dirty="0">
                <a:latin typeface="Arial MT"/>
                <a:cs typeface="Arial MT"/>
              </a:rPr>
              <a:t>有雾图</a:t>
            </a:r>
            <a:endParaRPr sz="2105" dirty="0">
              <a:latin typeface="Arial MT"/>
              <a:cs typeface="Arial MT"/>
            </a:endParaRPr>
          </a:p>
        </p:txBody>
      </p:sp>
      <p:sp>
        <p:nvSpPr>
          <p:cNvPr id="10" name="object 5"/>
          <p:cNvSpPr txBox="1"/>
          <p:nvPr>
            <p:custDataLst>
              <p:tags r:id="rId6"/>
            </p:custDataLst>
          </p:nvPr>
        </p:nvSpPr>
        <p:spPr>
          <a:xfrm>
            <a:off x="7408545" y="3242310"/>
            <a:ext cx="1360805" cy="333375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105" dirty="0">
                <a:latin typeface="Arial MT"/>
                <a:cs typeface="Arial MT"/>
              </a:rPr>
              <a:t>去雾图</a:t>
            </a:r>
            <a:endParaRPr sz="2105" dirty="0">
              <a:latin typeface="Arial MT"/>
              <a:cs typeface="Arial MT"/>
            </a:endParaRPr>
          </a:p>
        </p:txBody>
      </p:sp>
      <p:sp>
        <p:nvSpPr>
          <p:cNvPr id="11" name="object 5"/>
          <p:cNvSpPr txBox="1"/>
          <p:nvPr>
            <p:custDataLst>
              <p:tags r:id="rId7"/>
            </p:custDataLst>
          </p:nvPr>
        </p:nvSpPr>
        <p:spPr>
          <a:xfrm>
            <a:off x="7478395" y="5499100"/>
            <a:ext cx="1436370" cy="333375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2105" dirty="0">
                <a:latin typeface="Arial MT"/>
                <a:cs typeface="Arial MT"/>
              </a:rPr>
              <a:t>深度图</a:t>
            </a:r>
            <a:endParaRPr sz="2105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4324" y="1931657"/>
            <a:ext cx="4851870" cy="1130892"/>
          </a:xfrm>
          <a:prstGeom prst="rect">
            <a:avLst/>
          </a:prstGeom>
        </p:spPr>
        <p:txBody>
          <a:bodyPr vert="horz" wrap="square" lIns="0" tIns="162375" rIns="0" bIns="0" rtlCol="0">
            <a:spAutoFit/>
          </a:bodyPr>
          <a:lstStyle/>
          <a:p>
            <a:pPr marL="267335" indent="-257810">
              <a:spcBef>
                <a:spcPts val="1280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800" dirty="0">
                <a:latin typeface="Arial MT"/>
                <a:cs typeface="Arial MT"/>
              </a:rPr>
              <a:t>雾图成像模型无效</a:t>
            </a:r>
            <a:endParaRPr lang="en-US" altLang="zh-CN" sz="2800" dirty="0">
              <a:latin typeface="Arial MT"/>
              <a:cs typeface="Arial MT"/>
            </a:endParaRPr>
          </a:p>
          <a:p>
            <a:pPr marL="267335" indent="-257810">
              <a:spcBef>
                <a:spcPts val="1280"/>
              </a:spcBef>
              <a:buClr>
                <a:srgbClr val="F89D1C"/>
              </a:buClr>
              <a:buSzPct val="109000"/>
              <a:buChar char="•"/>
              <a:tabLst>
                <a:tab pos="266700" algn="l"/>
                <a:tab pos="267335" algn="l"/>
              </a:tabLst>
            </a:pPr>
            <a:r>
              <a:rPr sz="2400" spc="11" dirty="0">
                <a:latin typeface="Arial MT"/>
                <a:cs typeface="Arial MT"/>
              </a:rPr>
              <a:t>–</a:t>
            </a:r>
            <a:r>
              <a:rPr sz="2400" spc="102" dirty="0">
                <a:latin typeface="Arial MT"/>
                <a:cs typeface="Arial MT"/>
              </a:rPr>
              <a:t> </a:t>
            </a:r>
            <a:r>
              <a:rPr sz="2400" spc="-4" dirty="0">
                <a:latin typeface="Arial MT"/>
                <a:cs typeface="Arial MT"/>
              </a:rPr>
              <a:t>e.g.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lang="zh-CN" altLang="en-US" sz="2400" spc="-4" dirty="0">
                <a:latin typeface="Arial MT"/>
                <a:cs typeface="Arial MT"/>
              </a:rPr>
              <a:t>非常数</a:t>
            </a:r>
            <a:r>
              <a:rPr sz="2400" spc="-34" dirty="0">
                <a:latin typeface="Arial MT"/>
                <a:cs typeface="Arial MT"/>
              </a:rPr>
              <a:t> </a:t>
            </a:r>
            <a:r>
              <a:rPr sz="2400" b="1" spc="-4" dirty="0">
                <a:latin typeface="Times New Roman" panose="02020603050405020304"/>
                <a:cs typeface="Times New Roman" panose="02020603050405020304"/>
              </a:rPr>
              <a:t>A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81049" y="3242606"/>
            <a:ext cx="2707456" cy="20339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0888" y="3242606"/>
            <a:ext cx="2707456" cy="20339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63640" y="5354192"/>
            <a:ext cx="942273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400" dirty="0">
                <a:latin typeface="Arial MT"/>
                <a:cs typeface="Arial MT"/>
              </a:rPr>
              <a:t>输入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6763" y="5354192"/>
            <a:ext cx="2880083" cy="378976"/>
          </a:xfrm>
          <a:prstGeom prst="rect">
            <a:avLst/>
          </a:prstGeom>
        </p:spPr>
        <p:txBody>
          <a:bodyPr vert="horz" wrap="square" lIns="0" tIns="9551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zh-CN" altLang="en-US" sz="2400" dirty="0">
                <a:latin typeface="Arial MT"/>
                <a:cs typeface="Arial MT"/>
              </a:rPr>
              <a:t>我们的结果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8432" y="15240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(7) </a:t>
            </a:r>
            <a:r>
              <a:rPr lang="zh-CN" altLang="en-US" b="1" spc="-8" dirty="0">
                <a:latin typeface="Arial MT"/>
                <a:cs typeface="Arial MT"/>
                <a:sym typeface="+mn-ea"/>
              </a:rPr>
              <a:t>局限性</a:t>
            </a:r>
            <a:endParaRPr lang="zh-CN" altLang="en-US" b="1" spc="-8" dirty="0">
              <a:latin typeface="Arial MT"/>
              <a:cs typeface="Arial MT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09" y="787567"/>
            <a:ext cx="1630434" cy="502087"/>
          </a:xfrm>
          <a:prstGeom prst="rect">
            <a:avLst/>
          </a:prstGeom>
        </p:spPr>
        <p:txBody>
          <a:bodyPr vert="horz" wrap="square" lIns="0" tIns="955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zh-CN" altLang="en-US" sz="3200" b="1" dirty="0"/>
              <a:t>总结</a:t>
            </a:r>
            <a:endParaRPr sz="32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1434632" y="2089161"/>
            <a:ext cx="5300276" cy="1546983"/>
          </a:xfrm>
          <a:prstGeom prst="rect">
            <a:avLst/>
          </a:prstGeom>
        </p:spPr>
        <p:txBody>
          <a:bodyPr vert="horz" wrap="square" lIns="0" tIns="145182" rIns="0" bIns="0" rtlCol="0">
            <a:spAutoFit/>
          </a:bodyPr>
          <a:lstStyle/>
          <a:p>
            <a:pPr marL="267335" indent="-257810">
              <a:spcBef>
                <a:spcPts val="1145"/>
              </a:spcBef>
              <a:buClr>
                <a:srgbClr val="F89D1C"/>
              </a:buClr>
              <a:buSzPct val="110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800" dirty="0">
                <a:latin typeface="Arial MT"/>
                <a:cs typeface="Arial MT"/>
              </a:rPr>
              <a:t>暗通道先验</a:t>
            </a:r>
            <a:endParaRPr lang="en-US" altLang="zh-CN" sz="2800" dirty="0">
              <a:latin typeface="Arial MT"/>
              <a:cs typeface="Arial MT"/>
            </a:endParaRPr>
          </a:p>
          <a:p>
            <a:pPr marL="568325" lvl="1" indent="-214630">
              <a:spcBef>
                <a:spcPts val="915"/>
              </a:spcBef>
              <a:buClr>
                <a:srgbClr val="F89D1C"/>
              </a:buClr>
              <a:buSzPct val="110000"/>
              <a:buChar char="–"/>
              <a:tabLst>
                <a:tab pos="567690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一种自然现象</a:t>
            </a:r>
            <a:endParaRPr lang="en-US" sz="2400" spc="-4" dirty="0">
              <a:latin typeface="Arial MT"/>
              <a:cs typeface="Arial MT"/>
            </a:endParaRPr>
          </a:p>
          <a:p>
            <a:pPr marL="568325" lvl="1" indent="-214630">
              <a:spcBef>
                <a:spcPts val="915"/>
              </a:spcBef>
              <a:buClr>
                <a:srgbClr val="F89D1C"/>
              </a:buClr>
              <a:buSzPct val="110000"/>
              <a:buChar char="–"/>
              <a:tabLst>
                <a:tab pos="567690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简单有效</a:t>
            </a:r>
            <a:endParaRPr lang="en-US" altLang="zh-CN" sz="2400" spc="-4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6890" y="1398905"/>
            <a:ext cx="8714740" cy="4055745"/>
          </a:xfrm>
          <a:prstGeom prst="rect">
            <a:avLst/>
          </a:prstGeom>
        </p:spPr>
        <p:txBody>
          <a:bodyPr vert="horz" wrap="square" lIns="0" tIns="145182" rIns="0" bIns="0" rtlCol="0">
            <a:spAutoFit/>
          </a:bodyPr>
          <a:lstStyle/>
          <a:p>
            <a:pPr marL="267335" indent="-257810">
              <a:lnSpc>
                <a:spcPct val="150000"/>
              </a:lnSpc>
              <a:spcBef>
                <a:spcPts val="1145"/>
              </a:spcBef>
              <a:buClr>
                <a:srgbClr val="F89D1C"/>
              </a:buClr>
              <a:buSzPct val="110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介绍了基于暗通道先验的图像去雾算法。</a:t>
            </a:r>
            <a:endParaRPr lang="zh-CN" altLang="en-US" sz="2400" spc="-4" dirty="0">
              <a:latin typeface="Arial MT"/>
              <a:cs typeface="Arial MT"/>
            </a:endParaRPr>
          </a:p>
          <a:p>
            <a:pPr marL="267335" indent="-257810">
              <a:lnSpc>
                <a:spcPct val="150000"/>
              </a:lnSpc>
              <a:spcBef>
                <a:spcPts val="1145"/>
              </a:spcBef>
              <a:buClr>
                <a:srgbClr val="F89D1C"/>
              </a:buClr>
              <a:buSzPct val="110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分析雾图成像模型，结合暗通道统计规律，实现了从单张图像估计透射率与大气光。</a:t>
            </a:r>
            <a:endParaRPr lang="zh-CN" altLang="en-US" sz="2400" spc="-4" dirty="0">
              <a:latin typeface="Arial MT"/>
              <a:cs typeface="Arial MT"/>
            </a:endParaRPr>
          </a:p>
          <a:p>
            <a:pPr marL="267335" indent="-257810">
              <a:lnSpc>
                <a:spcPct val="150000"/>
              </a:lnSpc>
              <a:spcBef>
                <a:spcPts val="1145"/>
              </a:spcBef>
              <a:buClr>
                <a:srgbClr val="F89D1C"/>
              </a:buClr>
              <a:buSzPct val="110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利用大气散射模型恢复无雾图像。</a:t>
            </a:r>
            <a:endParaRPr lang="zh-CN" altLang="en-US" sz="2400" spc="-4" dirty="0">
              <a:latin typeface="Arial MT"/>
              <a:cs typeface="Arial MT"/>
            </a:endParaRPr>
          </a:p>
          <a:p>
            <a:pPr marL="267335" indent="-257810">
              <a:lnSpc>
                <a:spcPct val="150000"/>
              </a:lnSpc>
              <a:spcBef>
                <a:spcPts val="1145"/>
              </a:spcBef>
              <a:buClr>
                <a:srgbClr val="F89D1C"/>
              </a:buClr>
              <a:buSzPct val="110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透射率图在一定程度上反映了场景深度信息。</a:t>
            </a:r>
            <a:endParaRPr lang="zh-CN" altLang="en-US" sz="2400" spc="-4" dirty="0">
              <a:latin typeface="Arial MT"/>
              <a:cs typeface="Arial MT"/>
            </a:endParaRPr>
          </a:p>
          <a:p>
            <a:pPr marL="267335" indent="-257810">
              <a:lnSpc>
                <a:spcPct val="150000"/>
              </a:lnSpc>
              <a:spcBef>
                <a:spcPts val="1145"/>
              </a:spcBef>
              <a:buClr>
                <a:srgbClr val="F89D1C"/>
              </a:buClr>
              <a:buSzPct val="110000"/>
              <a:buChar char="•"/>
              <a:tabLst>
                <a:tab pos="266700" algn="l"/>
                <a:tab pos="267335" algn="l"/>
              </a:tabLst>
            </a:pPr>
            <a:r>
              <a:rPr lang="zh-CN" altLang="en-US" sz="2400" spc="-4" dirty="0">
                <a:latin typeface="Arial MT"/>
                <a:cs typeface="Arial MT"/>
              </a:rPr>
              <a:t>图像去雾领域的里程碑性工作。</a:t>
            </a:r>
            <a:endParaRPr lang="zh-CN" altLang="en-US" sz="2400" spc="-4" dirty="0">
              <a:latin typeface="Arial MT"/>
              <a:cs typeface="Arial MT"/>
            </a:endParaRPr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8432" y="152403"/>
            <a:ext cx="7908608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总结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29" y="0"/>
            <a:ext cx="7908608" cy="1325564"/>
          </a:xfrm>
        </p:spPr>
        <p:txBody>
          <a:bodyPr/>
          <a:lstStyle/>
          <a:p>
            <a:r>
              <a:rPr lang="zh-CN" altLang="en-US" dirty="0"/>
              <a:t>作业（做）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4" y="1582234"/>
            <a:ext cx="9082454" cy="313791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29" y="0"/>
            <a:ext cx="7908608" cy="1325564"/>
          </a:xfrm>
        </p:spPr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555" y="1239520"/>
            <a:ext cx="7886700" cy="48825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29" y="0"/>
            <a:ext cx="7908608" cy="1325564"/>
          </a:xfrm>
        </p:spPr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27705"/>
          <a:stretch>
            <a:fillRect/>
          </a:stretch>
        </p:blipFill>
        <p:spPr>
          <a:xfrm>
            <a:off x="568325" y="1403985"/>
            <a:ext cx="7680325" cy="260477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29" y="0"/>
            <a:ext cx="7908608" cy="1325564"/>
          </a:xfrm>
        </p:spPr>
        <p:txBody>
          <a:bodyPr/>
          <a:lstStyle/>
          <a:p>
            <a:r>
              <a:rPr lang="zh-CN" altLang="en-US" dirty="0"/>
              <a:t>作业（做）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165" y="1105535"/>
            <a:ext cx="8173720" cy="350329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29" y="0"/>
            <a:ext cx="7908608" cy="1325564"/>
          </a:xfrm>
        </p:spPr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0397" y="1019908"/>
            <a:ext cx="7908608" cy="5157055"/>
          </a:xfrm>
        </p:spPr>
        <p:txBody>
          <a:bodyPr/>
          <a:lstStyle/>
          <a:p>
            <a:r>
              <a:rPr lang="zh-CN" altLang="en-US" dirty="0"/>
              <a:t>简答题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请简要说明“暗通道先验”是什么？它在图像去雾中的作用是什么？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b="1" dirty="0"/>
              <a:t>参考答案要点：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暗通道先验是一种图像统计规律：在无雾的自然图像中，除天空区域外，大多数局部区域至少存在一个像素，其某个颜色通道值非常接近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通过该先验可以估计图像中雾的浓度（透射率）和大气光，从而反推出原始的无雾图像。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29" y="0"/>
            <a:ext cx="7908608" cy="1325564"/>
          </a:xfrm>
        </p:spPr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0397" y="1019908"/>
            <a:ext cx="7908608" cy="5157055"/>
          </a:xfrm>
        </p:spPr>
        <p:txBody>
          <a:bodyPr/>
          <a:lstStyle/>
          <a:p>
            <a:r>
              <a:rPr lang="zh-CN" altLang="en-US" dirty="0"/>
              <a:t>简答题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7" y="1531938"/>
            <a:ext cx="7054463" cy="237184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29" y="0"/>
            <a:ext cx="7908608" cy="1325564"/>
          </a:xfrm>
        </p:spPr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0397" y="1019908"/>
            <a:ext cx="7908608" cy="5157055"/>
          </a:xfrm>
        </p:spPr>
        <p:txBody>
          <a:bodyPr/>
          <a:lstStyle/>
          <a:p>
            <a:r>
              <a:rPr lang="zh-CN" altLang="en-US" dirty="0"/>
              <a:t>简答题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75" y="1671320"/>
            <a:ext cx="8802370" cy="31216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9085" y="1825625"/>
            <a:ext cx="8647430" cy="435165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编程实现基于暗通道先验的单图像去雾算法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25.4787353515625,&quot;left&quot;:10.95,&quot;top&quot;:5.7,&quot;width&quot;:812.25}"/>
</p:tagLst>
</file>

<file path=ppt/tags/tag2.xml><?xml version="1.0" encoding="utf-8"?>
<p:tagLst xmlns:p="http://schemas.openxmlformats.org/presentationml/2006/main">
  <p:tag name="KSO_WM_DIAGRAM_VIRTUALLY_FRAME" val="{&quot;height&quot;:525.4787353515625,&quot;left&quot;:10.95,&quot;top&quot;:5.7,&quot;width&quot;:812.25}"/>
</p:tagLst>
</file>

<file path=ppt/tags/tag3.xml><?xml version="1.0" encoding="utf-8"?>
<p:tagLst xmlns:p="http://schemas.openxmlformats.org/presentationml/2006/main">
  <p:tag name="KSO_WM_DIAGRAM_VIRTUALLY_FRAME" val="{&quot;height&quot;:347.7787353515625,&quot;left&quot;:10.95,&quot;top&quot;:5.7,&quot;width&quot;:812.25}"/>
</p:tagLst>
</file>

<file path=ppt/tags/tag4.xml><?xml version="1.0" encoding="utf-8"?>
<p:tagLst xmlns:p="http://schemas.openxmlformats.org/presentationml/2006/main">
  <p:tag name="KSO_WM_DIAGRAM_VIRTUALLY_FRAME" val="{&quot;height&quot;:525.4787353515625,&quot;left&quot;:10.95,&quot;top&quot;:5.7,&quot;width&quot;:812.25}"/>
</p:tagLst>
</file>

<file path=ppt/tags/tag5.xml><?xml version="1.0" encoding="utf-8"?>
<p:tagLst xmlns:p="http://schemas.openxmlformats.org/presentationml/2006/main">
  <p:tag name="KSO_WM_DIAGRAM_VIRTUALLY_FRAME" val="{&quot;height&quot;:525.4787353515625,&quot;left&quot;:10.95,&quot;top&quot;:5.7,&quot;width&quot;:812.25}"/>
</p:tagLst>
</file>

<file path=ppt/tags/tag6.xml><?xml version="1.0" encoding="utf-8"?>
<p:tagLst xmlns:p="http://schemas.openxmlformats.org/presentationml/2006/main">
  <p:tag name="KSO_WM_DIAGRAM_VIRTUALLY_FRAME" val="{&quot;height&quot;:525.4787353515625,&quot;left&quot;:10.95,&quot;top&quot;:5.7,&quot;width&quot;:812.25}"/>
</p:tagLst>
</file>

<file path=ppt/tags/tag7.xml><?xml version="1.0" encoding="utf-8"?>
<p:tagLst xmlns:p="http://schemas.openxmlformats.org/presentationml/2006/main">
  <p:tag name="KSO_WM_DIAGRAM_VIRTUALLY_FRAME" val="{&quot;height&quot;:525.4787353515625,&quot;left&quot;:10.95,&quot;top&quot;:5.7,&quot;width&quot;:812.25}"/>
</p:tagLst>
</file>

<file path=ppt/tags/tag8.xml><?xml version="1.0" encoding="utf-8"?>
<p:tagLst xmlns:p="http://schemas.openxmlformats.org/presentationml/2006/main">
  <p:tag name="KSO_WM_DIAGRAM_VIRTUALLY_FRAME" val="{&quot;height&quot;:347.7787353515625,&quot;left&quot;:10.95,&quot;top&quot;:5.7,&quot;width&quot;:812.25}"/>
</p:tagLst>
</file>

<file path=ppt/tags/tag9.xml><?xml version="1.0" encoding="utf-8"?>
<p:tagLst xmlns:p="http://schemas.openxmlformats.org/presentationml/2006/main">
  <p:tag name="KSO_WM_DIAGRAM_VIRTUALLY_FRAME" val="{&quot;height&quot;:525.4787353515625,&quot;left&quot;:10.95,&quot;top&quot;:5.7,&quot;width&quot;:812.25}"/>
</p:tagLst>
</file>

<file path=ppt/tags/tag10.xml><?xml version="1.0" encoding="utf-8"?>
<p:tagLst xmlns:p="http://schemas.openxmlformats.org/presentationml/2006/main">
  <p:tag name="KSO_WM_DIAGRAM_VIRTUALLY_FRAME" val="{&quot;height&quot;:525.4787353515625,&quot;left&quot;:10.95,&quot;top&quot;:5.7,&quot;width&quot;:812.25}"/>
</p:tagLst>
</file>

<file path=ppt/tags/tag11.xml><?xml version="1.0" encoding="utf-8"?>
<p:tagLst xmlns:p="http://schemas.openxmlformats.org/presentationml/2006/main">
  <p:tag name="KSO_WM_DIAGRAM_VIRTUALLY_FRAME" val="{&quot;height&quot;:525.4787353515625,&quot;left&quot;:10.95,&quot;top&quot;:5.7,&quot;width&quot;:812.25}"/>
</p:tagLst>
</file>

<file path=ppt/tags/tag12.xml><?xml version="1.0" encoding="utf-8"?>
<p:tagLst xmlns:p="http://schemas.openxmlformats.org/presentationml/2006/main">
  <p:tag name="KSO_WM_DIAGRAM_VIRTUALLY_FRAME" val="{&quot;height&quot;:347.7787353515625,&quot;left&quot;:10.95,&quot;top&quot;:5.7,&quot;width&quot;:812.25}"/>
</p:tagLst>
</file>

<file path=ppt/tags/tag13.xml><?xml version="1.0" encoding="utf-8"?>
<p:tagLst xmlns:p="http://schemas.openxmlformats.org/presentationml/2006/main">
  <p:tag name="KSO_WM_DIAGRAM_VIRTUALLY_FRAME" val="{&quot;height&quot;:347.7787353515625,&quot;left&quot;:10.95,&quot;top&quot;:5.7,&quot;width&quot;:812.25}"/>
</p:tagLst>
</file>

<file path=ppt/tags/tag14.xml><?xml version="1.0" encoding="utf-8"?>
<p:tagLst xmlns:p="http://schemas.openxmlformats.org/presentationml/2006/main">
  <p:tag name="COMMONDATA" val="eyJoZGlkIjoiYjQ4Y2I1Y2RlNWNmZmJlZjE1MTIzNGJlYTJiNGZhMTc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2259</Words>
  <Application>WPS 演示</Application>
  <PresentationFormat>自定义</PresentationFormat>
  <Paragraphs>470</Paragraphs>
  <Slides>47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71" baseType="lpstr">
      <vt:lpstr>Arial</vt:lpstr>
      <vt:lpstr>宋体</vt:lpstr>
      <vt:lpstr>Wingdings</vt:lpstr>
      <vt:lpstr>Arial MT</vt:lpstr>
      <vt:lpstr>Times New Roman</vt:lpstr>
      <vt:lpstr>Symbol</vt:lpstr>
      <vt:lpstr>-apple-system</vt:lpstr>
      <vt:lpstr>等线 Light</vt:lpstr>
      <vt:lpstr>微软雅黑</vt:lpstr>
      <vt:lpstr>Arial Unicode MS</vt:lpstr>
      <vt:lpstr>Calibri Light</vt:lpstr>
      <vt:lpstr>等线</vt:lpstr>
      <vt:lpstr>Calibri</vt:lpstr>
      <vt:lpstr>Arial</vt:lpstr>
      <vt:lpstr>Times New Roman</vt:lpstr>
      <vt:lpstr>ZWSimpleStroke</vt:lpstr>
      <vt:lpstr>-apple-system</vt:lpstr>
      <vt:lpstr>Arial MT</vt:lpstr>
      <vt:lpstr>Symbol</vt:lpstr>
      <vt:lpstr>Wingdings</vt:lpstr>
      <vt:lpstr>Wonder Arial</vt:lpstr>
      <vt:lpstr>Be Happy</vt:lpstr>
      <vt:lpstr>Office 主题​​</vt:lpstr>
      <vt:lpstr>Paint.Picture</vt:lpstr>
      <vt:lpstr>图像增强—图像去雾</vt:lpstr>
      <vt:lpstr>目录</vt:lpstr>
      <vt:lpstr>有雾图像</vt:lpstr>
      <vt:lpstr>典型图像去雾应用场景</vt:lpstr>
      <vt:lpstr>去雾的目标</vt:lpstr>
      <vt:lpstr>雾图成像模型</vt:lpstr>
      <vt:lpstr>PowerPoint 演示文稿</vt:lpstr>
      <vt:lpstr>去雾的不确定性</vt:lpstr>
      <vt:lpstr>计算机中的先验信息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暗通道如何引起的</vt:lpstr>
      <vt:lpstr>有雾图像的暗通道</vt:lpstr>
      <vt:lpstr>总结</vt:lpstr>
      <vt:lpstr>PowerPoint 演示文稿</vt:lpstr>
      <vt:lpstr>PowerPoint 演示文稿</vt:lpstr>
      <vt:lpstr>PowerPoint 演示文稿</vt:lpstr>
      <vt:lpstr>PowerPoint 演示文稿</vt:lpstr>
      <vt:lpstr>(1)估计大气光A</vt:lpstr>
      <vt:lpstr>(1)估计大气光A</vt:lpstr>
      <vt:lpstr>(2) 透射率t估计</vt:lpstr>
      <vt:lpstr>(2) 透射率t估计</vt:lpstr>
      <vt:lpstr>(3) 恢复无雾图像</vt:lpstr>
      <vt:lpstr>(4) 图像去雾步骤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PowerPoint 演示文稿</vt:lpstr>
      <vt:lpstr>作业（做）</vt:lpstr>
      <vt:lpstr>作业</vt:lpstr>
      <vt:lpstr>作业</vt:lpstr>
      <vt:lpstr>作业（做）</vt:lpstr>
      <vt:lpstr>作业</vt:lpstr>
      <vt:lpstr>作业</vt:lpstr>
      <vt:lpstr>作业</vt:lpstr>
      <vt:lpstr>实验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图像增强—图像去雾</dc:title>
  <dc:creator>Administrator</dc:creator>
  <cp:lastModifiedBy>WD</cp:lastModifiedBy>
  <cp:revision>79</cp:revision>
  <dcterms:created xsi:type="dcterms:W3CDTF">2023-09-04T01:56:00Z</dcterms:created>
  <dcterms:modified xsi:type="dcterms:W3CDTF">2026-05-12T12:54:43Z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B82C6FF5B7AA4E65807D28CC65C86188_13</vt:lpwstr>
  </property>
  <property fmtid="{D5CDD505-2E9C-101B-9397-08002B2CF9AE}" pid="3" name="KSOProductBuildVer">
    <vt:lpwstr>2052-12.1.0.25865</vt:lpwstr>
  </property>
</Properties>
</file>